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2" r:id="rId16"/>
    <p:sldId id="273" r:id="rId17"/>
    <p:sldId id="274" r:id="rId18"/>
    <p:sldId id="275" r:id="rId19"/>
    <p:sldId id="276" r:id="rId20"/>
    <p:sldId id="277" r:id="rId21"/>
    <p:sldId id="279" r:id="rId22"/>
    <p:sldId id="280" r:id="rId23"/>
    <p:sldId id="281" r:id="rId24"/>
    <p:sldId id="282" r:id="rId25"/>
    <p:sldId id="283" r:id="rId26"/>
    <p:sldId id="285" r:id="rId27"/>
    <p:sldId id="286" r:id="rId28"/>
    <p:sldId id="287" r:id="rId29"/>
    <p:sldId id="288" r:id="rId30"/>
    <p:sldId id="289" r:id="rId31"/>
    <p:sldId id="290" r:id="rId32"/>
    <p:sldId id="291" r:id="rId33"/>
    <p:sldId id="292" r:id="rId3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1" d="100"/>
          <a:sy n="161" d="100"/>
        </p:scale>
        <p:origin x="260" y="1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544716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curves are the whole unit: five modes in the world, one in the model. Point at them in the first minute and say that by 2:30 the room will be able to write the equation that permits the second picture, and by 4:30 will have argued about whether the picture is a metaphor worth trusting. The double task — take the metaphor seriously, then be suspicious of it — is the instructor’s demand and it structures the whole day.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aloud with its name. “Kay-el of p given q,” “jay-ess-dee,” “H of p.” Being unable to pronounce a symbol is a real barrier to thinking with it, and naming them costs a minute.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instruction to name what stopped coming out, rather than the feeling, is the same discipline as last week’s ban on naming the emotion. It also makes the warm-up structurally identical to the exercise — both ask what is absent from a set of outputs — which is what lets the 4:30 comparison be sharp.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this. The last line is the hinge into the 4:30 block: the question is phrased so that it applies equally to a generator and to a person, and whether that is an insight or a sleight of hand is precisely what the day has to decide.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two jobs as jobs. Students in a humanities course are usually given permission to run with a metaphor or told to distrust it; being asked to do both, in that order, with a deadline for each, is unfamiliar and productive.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minutes. No vocabulary is permitted in this block — not mode, not collapse, not distribution. Students describe what is on their pages in ordinary language and you record it on the board. The list becomes evidence to test the theory against at 3:10.</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 the answers to question three on the board and leave them up all day — that list is the evidence the afternoon has to explain. Question four usually produces the most uncomfortable and most valuable material, and it is where Benjamin’s argument will land at 3:55.</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takeaway is the seed of the suspicion block and should be planted now rather than sprung later. Students who have already noticed their own contribution to the narrowness will be much better positioned to argue about the metaphor at 4:30.</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Fifty minutes. Build the game before the equation, the equation before the theory. The room should be able to say what each of the two players wants before any symbol appears.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crucial and often-missed fact is in the second card: G never sees the real data. Its entire knowledge of the world arrives through a single scalar produced by D. Say that plainly — it is what makes collapse possible, and it is also the sharpest point of contact with the afternoon’s argument about approval.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room hunt for the diversity term themselves before you say there is not one. Thirty seconds of looking, then the absence lands as a discovery. This is the direct continuation of last week: what is not in the objective is not merely ignored, it is available to be spent.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technical slide in the block and the one most likely to be skipped by a reader who skims §3. The non-saturating objective is the version everyone actually uses, and it is the version under which one perfect output is a complete solution.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this is outside the assigned range and that you are adding it because the collapse argument is unintelligible without it. The honest shape of the story is: the theory guarantees a good optimum, the procedure does not reach it, and nothing in the objective penalises the place it stops instead.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takeaway is a genuinely good critical observation and students can make it themselves if prompted. Ask what would change if the grey curve had five bumps, and let someone in the room describe the next slide before you show it.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Fifty minutes. Three things to establish: what collapse looks like, why the objective permits it, and why the asymmetry of KL makes it the expected outcome rather than an accident.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mode here, concretely, against the picture, and keep pointing at the bumps. Students often arrive thinking collapse means degraded output; the single most important correction of the day is that collapsed output is typically excellent, one sample at a time.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this as a sequence, on the board if you can, with a drawing that moves. The mode-hopping step is the one students find most striking — the model does not gradually spread out, it jumps, because spreading out is never locally rewarded.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best technical idea of the session and it is worth twelve minutes. The asymmetry explains a whole taxonomy of generative behaviour from one line of algebra: zero-avoiding versus zero-forcing. Point at the exploding ratio in the forward case and the vanishing term in the reverse case — both are visible in the formula on screen.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belabour JSD; students need to know it exists, that it is well behaved, and that the guarantee attached to it is conditional on a critic nobody has. The last line is the one to write down.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relocation point is the one that connects this week to last. It is also the honest technical position: mode collapse is much better understood and much better mitigated than it was in 2016, and it has not been dissolved, because the underlying difficulty is specification rather than optimisation.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minutes. The point of this block is that students leave able to compute a real diversity measure rather than gesture at one. Do the worked example together, then set them loose on their own data.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the categories are theirs to define and that the definition is itself a judgement — which is the week’s argument arriving inside the measurement instrument. Two students with the same forty outputs and different category rules will get different H, and that is not a flaw in the statistic, it is the thing to notice.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first row on the board — 22 over 40 is 0.55, natural log of 0.55 is about minus 0.6, product is 0.33 — and the rest becomes mechanical. The gap between “five kinds” and “three and a third effective modes” is the moment the statistic earns its keep.</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Thirty-five minutes: twenty working, fifteen reporting. Circulate and push groups to be specific about their category rule, because that is where the argument is.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three is the one that makes the afternoon possible. Students will name the training data first; push until they also name their own prompt and their own stopping rule. A room that has located itself inside the critic is ready for the suspicion block.</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Thirty-five minutes. Present both arguments on their own terms first. The comparison to mode collapse comes in the next block and must not be pre-empted here, or the suspicion block has nothing to work on.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the distinction in the takeaway. The temptation to fold Bender into the GAN story is exactly what the suspicion block exists to examine, and pre-collapsing them here would hand students the conclusion instead of the argument.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bottom-left card is the guardrail for the whole afternoon. Benjamin’s argument is about power and history, and the resemblance to a technical failure mode is a resemblance, not an identity. Say so before students say it for you, so that the next block is an inquiry rather than a correction.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minutes. This is the intellectual heart of the unit and the reason the mathematics was necessary. Do not rush it and do not resolve it.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both columns from the room if you can. The right-hand column is harder and students will need prompting; the second item — that the real distribution is undefined for a culture — is the most important and the least obvious, because it means the measurement instrument we built at 2:40 has no denominator outside the exercise.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middle card is the one worth ten minutes. “Optimises for approval” is grammatically agentless and that is precisely what makes it attractive and what makes it evasive. Ask the room to rewrite the key question with a named subject and watch what happens to it.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line is the assessable claim of the unit. A student who can distinguish the three mechanisms and name which one a given argument is invoking has done the work; a student who uses “mode collapse” as a general term for narrowing has not, however elegantly they write.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item for next week is the best essay prompt this unit produces — published uses of the phrase are easy to find, frequently sloppy, and auditing one forces a student to hold the mechanism and the figure in view at once, which is the whole objective of the week.</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31B"/>
        </a:solidFill>
        <a:effectLst/>
      </p:bgPr>
    </p:bg>
    <p:spTree>
      <p:nvGrpSpPr>
        <p:cNvPr id="1" name=""/>
        <p:cNvGrpSpPr/>
        <p:nvPr/>
      </p:nvGrpSpPr>
      <p:grpSpPr>
        <a:xfrm>
          <a:off x="0" y="0"/>
          <a:ext cx="0" cy="0"/>
          <a:chOff x="0" y="0"/>
          <a:chExt cx="0" cy="0"/>
        </a:xfrm>
      </p:grpSpPr>
      <p:sp>
        <p:nvSpPr>
          <p:cNvPr id="2" name="Shape 0"/>
          <p:cNvSpPr/>
          <p:nvPr/>
        </p:nvSpPr>
        <p:spPr>
          <a:xfrm>
            <a:off x="7388352" y="2905177"/>
            <a:ext cx="36576" cy="36576"/>
          </a:xfrm>
          <a:prstGeom prst="ellipse">
            <a:avLst/>
          </a:prstGeom>
          <a:solidFill>
            <a:srgbClr val="84CCBD"/>
          </a:solidFill>
          <a:ln/>
        </p:spPr>
        <p:txBody>
          <a:bodyPr/>
          <a:lstStyle/>
          <a:p>
            <a:endParaRPr lang="en-US"/>
          </a:p>
        </p:txBody>
      </p:sp>
      <p:sp>
        <p:nvSpPr>
          <p:cNvPr id="3" name="Shape 1"/>
          <p:cNvSpPr/>
          <p:nvPr/>
        </p:nvSpPr>
        <p:spPr>
          <a:xfrm>
            <a:off x="7424928" y="2854858"/>
            <a:ext cx="36576" cy="36576"/>
          </a:xfrm>
          <a:prstGeom prst="ellipse">
            <a:avLst/>
          </a:prstGeom>
          <a:solidFill>
            <a:srgbClr val="84CCBD"/>
          </a:solidFill>
          <a:ln/>
        </p:spPr>
        <p:txBody>
          <a:bodyPr/>
          <a:lstStyle/>
          <a:p>
            <a:endParaRPr lang="en-US"/>
          </a:p>
        </p:txBody>
      </p:sp>
      <p:sp>
        <p:nvSpPr>
          <p:cNvPr id="4" name="Shape 2"/>
          <p:cNvSpPr/>
          <p:nvPr/>
        </p:nvSpPr>
        <p:spPr>
          <a:xfrm>
            <a:off x="7461504" y="2786482"/>
            <a:ext cx="36576" cy="36576"/>
          </a:xfrm>
          <a:prstGeom prst="ellipse">
            <a:avLst/>
          </a:prstGeom>
          <a:solidFill>
            <a:srgbClr val="84CCBD"/>
          </a:solidFill>
          <a:ln/>
        </p:spPr>
        <p:txBody>
          <a:bodyPr/>
          <a:lstStyle/>
          <a:p>
            <a:endParaRPr lang="en-US"/>
          </a:p>
        </p:txBody>
      </p:sp>
      <p:sp>
        <p:nvSpPr>
          <p:cNvPr id="5" name="Shape 3"/>
          <p:cNvSpPr/>
          <p:nvPr/>
        </p:nvSpPr>
        <p:spPr>
          <a:xfrm>
            <a:off x="7498080" y="2698258"/>
            <a:ext cx="36576" cy="36576"/>
          </a:xfrm>
          <a:prstGeom prst="ellipse">
            <a:avLst/>
          </a:prstGeom>
          <a:solidFill>
            <a:srgbClr val="84CCBD"/>
          </a:solidFill>
          <a:ln/>
        </p:spPr>
        <p:txBody>
          <a:bodyPr/>
          <a:lstStyle/>
          <a:p>
            <a:endParaRPr lang="en-US"/>
          </a:p>
        </p:txBody>
      </p:sp>
      <p:sp>
        <p:nvSpPr>
          <p:cNvPr id="6" name="Shape 4"/>
          <p:cNvSpPr/>
          <p:nvPr/>
        </p:nvSpPr>
        <p:spPr>
          <a:xfrm>
            <a:off x="7534656" y="2590478"/>
            <a:ext cx="36576" cy="36576"/>
          </a:xfrm>
          <a:prstGeom prst="ellipse">
            <a:avLst/>
          </a:prstGeom>
          <a:solidFill>
            <a:srgbClr val="84CCBD"/>
          </a:solidFill>
          <a:ln/>
        </p:spPr>
        <p:txBody>
          <a:bodyPr/>
          <a:lstStyle/>
          <a:p>
            <a:endParaRPr lang="en-US"/>
          </a:p>
        </p:txBody>
      </p:sp>
      <p:sp>
        <p:nvSpPr>
          <p:cNvPr id="7" name="Shape 5"/>
          <p:cNvSpPr/>
          <p:nvPr/>
        </p:nvSpPr>
        <p:spPr>
          <a:xfrm>
            <a:off x="7571232" y="2466300"/>
            <a:ext cx="36576" cy="36576"/>
          </a:xfrm>
          <a:prstGeom prst="ellipse">
            <a:avLst/>
          </a:prstGeom>
          <a:solidFill>
            <a:srgbClr val="84CCBD"/>
          </a:solidFill>
          <a:ln/>
        </p:spPr>
        <p:txBody>
          <a:bodyPr/>
          <a:lstStyle/>
          <a:p>
            <a:endParaRPr lang="en-US"/>
          </a:p>
        </p:txBody>
      </p:sp>
      <p:sp>
        <p:nvSpPr>
          <p:cNvPr id="8" name="Shape 6"/>
          <p:cNvSpPr/>
          <p:nvPr/>
        </p:nvSpPr>
        <p:spPr>
          <a:xfrm>
            <a:off x="7607808" y="2332185"/>
            <a:ext cx="36576" cy="36576"/>
          </a:xfrm>
          <a:prstGeom prst="ellipse">
            <a:avLst/>
          </a:prstGeom>
          <a:solidFill>
            <a:srgbClr val="84CCBD"/>
          </a:solidFill>
          <a:ln/>
        </p:spPr>
        <p:txBody>
          <a:bodyPr/>
          <a:lstStyle/>
          <a:p>
            <a:endParaRPr lang="en-US"/>
          </a:p>
        </p:txBody>
      </p:sp>
      <p:sp>
        <p:nvSpPr>
          <p:cNvPr id="9" name="Shape 7"/>
          <p:cNvSpPr/>
          <p:nvPr/>
        </p:nvSpPr>
        <p:spPr>
          <a:xfrm>
            <a:off x="7644384" y="2197707"/>
            <a:ext cx="36576" cy="36576"/>
          </a:xfrm>
          <a:prstGeom prst="ellipse">
            <a:avLst/>
          </a:prstGeom>
          <a:solidFill>
            <a:srgbClr val="84CCBD"/>
          </a:solidFill>
          <a:ln/>
        </p:spPr>
        <p:txBody>
          <a:bodyPr/>
          <a:lstStyle/>
          <a:p>
            <a:endParaRPr lang="en-US"/>
          </a:p>
        </p:txBody>
      </p:sp>
      <p:sp>
        <p:nvSpPr>
          <p:cNvPr id="10" name="Shape 8"/>
          <p:cNvSpPr/>
          <p:nvPr/>
        </p:nvSpPr>
        <p:spPr>
          <a:xfrm>
            <a:off x="7680960" y="2074632"/>
            <a:ext cx="36576" cy="36576"/>
          </a:xfrm>
          <a:prstGeom prst="ellipse">
            <a:avLst/>
          </a:prstGeom>
          <a:solidFill>
            <a:srgbClr val="84CCBD"/>
          </a:solidFill>
          <a:ln/>
        </p:spPr>
        <p:txBody>
          <a:bodyPr/>
          <a:lstStyle/>
          <a:p>
            <a:endParaRPr lang="en-US"/>
          </a:p>
        </p:txBody>
      </p:sp>
      <p:sp>
        <p:nvSpPr>
          <p:cNvPr id="11" name="Shape 9"/>
          <p:cNvSpPr/>
          <p:nvPr/>
        </p:nvSpPr>
        <p:spPr>
          <a:xfrm>
            <a:off x="7717536" y="1975309"/>
            <a:ext cx="36576" cy="36576"/>
          </a:xfrm>
          <a:prstGeom prst="ellipse">
            <a:avLst/>
          </a:prstGeom>
          <a:solidFill>
            <a:srgbClr val="84CCBD"/>
          </a:solidFill>
          <a:ln/>
        </p:spPr>
        <p:txBody>
          <a:bodyPr/>
          <a:lstStyle/>
          <a:p>
            <a:endParaRPr lang="en-US"/>
          </a:p>
        </p:txBody>
      </p:sp>
      <p:sp>
        <p:nvSpPr>
          <p:cNvPr id="12" name="Shape 10"/>
          <p:cNvSpPr/>
          <p:nvPr/>
        </p:nvSpPr>
        <p:spPr>
          <a:xfrm>
            <a:off x="7754112" y="1910655"/>
            <a:ext cx="36576" cy="36576"/>
          </a:xfrm>
          <a:prstGeom prst="ellipse">
            <a:avLst/>
          </a:prstGeom>
          <a:solidFill>
            <a:srgbClr val="84CCBD"/>
          </a:solidFill>
          <a:ln/>
        </p:spPr>
        <p:txBody>
          <a:bodyPr/>
          <a:lstStyle/>
          <a:p>
            <a:endParaRPr lang="en-US"/>
          </a:p>
        </p:txBody>
      </p:sp>
      <p:sp>
        <p:nvSpPr>
          <p:cNvPr id="13" name="Shape 11"/>
          <p:cNvSpPr/>
          <p:nvPr/>
        </p:nvSpPr>
        <p:spPr>
          <a:xfrm>
            <a:off x="7790688" y="1888179"/>
            <a:ext cx="36576" cy="36576"/>
          </a:xfrm>
          <a:prstGeom prst="ellipse">
            <a:avLst/>
          </a:prstGeom>
          <a:solidFill>
            <a:srgbClr val="84CCBD"/>
          </a:solidFill>
          <a:ln/>
        </p:spPr>
        <p:txBody>
          <a:bodyPr/>
          <a:lstStyle/>
          <a:p>
            <a:endParaRPr lang="en-US"/>
          </a:p>
        </p:txBody>
      </p:sp>
      <p:sp>
        <p:nvSpPr>
          <p:cNvPr id="14" name="Shape 12"/>
          <p:cNvSpPr/>
          <p:nvPr/>
        </p:nvSpPr>
        <p:spPr>
          <a:xfrm>
            <a:off x="7827264" y="1910540"/>
            <a:ext cx="36576" cy="36576"/>
          </a:xfrm>
          <a:prstGeom prst="ellipse">
            <a:avLst/>
          </a:prstGeom>
          <a:solidFill>
            <a:srgbClr val="84CCBD"/>
          </a:solidFill>
          <a:ln/>
        </p:spPr>
        <p:txBody>
          <a:bodyPr/>
          <a:lstStyle/>
          <a:p>
            <a:endParaRPr lang="en-US"/>
          </a:p>
        </p:txBody>
      </p:sp>
      <p:sp>
        <p:nvSpPr>
          <p:cNvPr id="15" name="Shape 13"/>
          <p:cNvSpPr/>
          <p:nvPr/>
        </p:nvSpPr>
        <p:spPr>
          <a:xfrm>
            <a:off x="7863840" y="1975001"/>
            <a:ext cx="36576" cy="36576"/>
          </a:xfrm>
          <a:prstGeom prst="ellipse">
            <a:avLst/>
          </a:prstGeom>
          <a:solidFill>
            <a:srgbClr val="84CCBD"/>
          </a:solidFill>
          <a:ln/>
        </p:spPr>
        <p:txBody>
          <a:bodyPr/>
          <a:lstStyle/>
          <a:p>
            <a:endParaRPr lang="en-US"/>
          </a:p>
        </p:txBody>
      </p:sp>
      <p:sp>
        <p:nvSpPr>
          <p:cNvPr id="16" name="Shape 14"/>
          <p:cNvSpPr/>
          <p:nvPr/>
        </p:nvSpPr>
        <p:spPr>
          <a:xfrm>
            <a:off x="7900416" y="2073933"/>
            <a:ext cx="36576" cy="36576"/>
          </a:xfrm>
          <a:prstGeom prst="ellipse">
            <a:avLst/>
          </a:prstGeom>
          <a:solidFill>
            <a:srgbClr val="84CCBD"/>
          </a:solidFill>
          <a:ln/>
        </p:spPr>
        <p:txBody>
          <a:bodyPr/>
          <a:lstStyle/>
          <a:p>
            <a:endParaRPr lang="en-US"/>
          </a:p>
        </p:txBody>
      </p:sp>
      <p:sp>
        <p:nvSpPr>
          <p:cNvPr id="17" name="Shape 15"/>
          <p:cNvSpPr/>
          <p:nvPr/>
        </p:nvSpPr>
        <p:spPr>
          <a:xfrm>
            <a:off x="7936992" y="2196214"/>
            <a:ext cx="36576" cy="36576"/>
          </a:xfrm>
          <a:prstGeom prst="ellipse">
            <a:avLst/>
          </a:prstGeom>
          <a:solidFill>
            <a:srgbClr val="84CCBD"/>
          </a:solidFill>
          <a:ln/>
        </p:spPr>
        <p:txBody>
          <a:bodyPr/>
          <a:lstStyle/>
          <a:p>
            <a:endParaRPr lang="en-US"/>
          </a:p>
        </p:txBody>
      </p:sp>
      <p:sp>
        <p:nvSpPr>
          <p:cNvPr id="18" name="Shape 16"/>
          <p:cNvSpPr/>
          <p:nvPr/>
        </p:nvSpPr>
        <p:spPr>
          <a:xfrm>
            <a:off x="7973568" y="2329134"/>
            <a:ext cx="36576" cy="36576"/>
          </a:xfrm>
          <a:prstGeom prst="ellipse">
            <a:avLst/>
          </a:prstGeom>
          <a:solidFill>
            <a:srgbClr val="84CCBD"/>
          </a:solidFill>
          <a:ln/>
        </p:spPr>
        <p:txBody>
          <a:bodyPr/>
          <a:lstStyle/>
          <a:p>
            <a:endParaRPr lang="en-US"/>
          </a:p>
        </p:txBody>
      </p:sp>
      <p:sp>
        <p:nvSpPr>
          <p:cNvPr id="19" name="Shape 17"/>
          <p:cNvSpPr/>
          <p:nvPr/>
        </p:nvSpPr>
        <p:spPr>
          <a:xfrm>
            <a:off x="8010144" y="2460317"/>
            <a:ext cx="36576" cy="36576"/>
          </a:xfrm>
          <a:prstGeom prst="ellipse">
            <a:avLst/>
          </a:prstGeom>
          <a:solidFill>
            <a:srgbClr val="84CCBD"/>
          </a:solidFill>
          <a:ln/>
        </p:spPr>
        <p:txBody>
          <a:bodyPr/>
          <a:lstStyle/>
          <a:p>
            <a:endParaRPr lang="en-US"/>
          </a:p>
        </p:txBody>
      </p:sp>
      <p:sp>
        <p:nvSpPr>
          <p:cNvPr id="20" name="Shape 18"/>
          <p:cNvSpPr/>
          <p:nvPr/>
        </p:nvSpPr>
        <p:spPr>
          <a:xfrm>
            <a:off x="8046720" y="2579213"/>
            <a:ext cx="36576" cy="36576"/>
          </a:xfrm>
          <a:prstGeom prst="ellipse">
            <a:avLst/>
          </a:prstGeom>
          <a:solidFill>
            <a:srgbClr val="84CCBD"/>
          </a:solidFill>
          <a:ln/>
        </p:spPr>
        <p:txBody>
          <a:bodyPr/>
          <a:lstStyle/>
          <a:p>
            <a:endParaRPr lang="en-US"/>
          </a:p>
        </p:txBody>
      </p:sp>
      <p:sp>
        <p:nvSpPr>
          <p:cNvPr id="21" name="Shape 19"/>
          <p:cNvSpPr/>
          <p:nvPr/>
        </p:nvSpPr>
        <p:spPr>
          <a:xfrm>
            <a:off x="8083296" y="2677901"/>
            <a:ext cx="36576" cy="36576"/>
          </a:xfrm>
          <a:prstGeom prst="ellipse">
            <a:avLst/>
          </a:prstGeom>
          <a:solidFill>
            <a:srgbClr val="84CCBD"/>
          </a:solidFill>
          <a:ln/>
        </p:spPr>
        <p:txBody>
          <a:bodyPr/>
          <a:lstStyle/>
          <a:p>
            <a:endParaRPr lang="en-US"/>
          </a:p>
        </p:txBody>
      </p:sp>
      <p:sp>
        <p:nvSpPr>
          <p:cNvPr id="22" name="Shape 20"/>
          <p:cNvSpPr/>
          <p:nvPr/>
        </p:nvSpPr>
        <p:spPr>
          <a:xfrm>
            <a:off x="8119872" y="2751164"/>
            <a:ext cx="36576" cy="36576"/>
          </a:xfrm>
          <a:prstGeom prst="ellipse">
            <a:avLst/>
          </a:prstGeom>
          <a:solidFill>
            <a:srgbClr val="84CCBD"/>
          </a:solidFill>
          <a:ln/>
        </p:spPr>
        <p:txBody>
          <a:bodyPr/>
          <a:lstStyle/>
          <a:p>
            <a:endParaRPr lang="en-US"/>
          </a:p>
        </p:txBody>
      </p:sp>
      <p:sp>
        <p:nvSpPr>
          <p:cNvPr id="23" name="Shape 21"/>
          <p:cNvSpPr/>
          <p:nvPr/>
        </p:nvSpPr>
        <p:spPr>
          <a:xfrm>
            <a:off x="8156448" y="2796035"/>
            <a:ext cx="36576" cy="36576"/>
          </a:xfrm>
          <a:prstGeom prst="ellipse">
            <a:avLst/>
          </a:prstGeom>
          <a:solidFill>
            <a:srgbClr val="84CCBD"/>
          </a:solidFill>
          <a:ln/>
        </p:spPr>
        <p:txBody>
          <a:bodyPr/>
          <a:lstStyle/>
          <a:p>
            <a:endParaRPr lang="en-US"/>
          </a:p>
        </p:txBody>
      </p:sp>
      <p:sp>
        <p:nvSpPr>
          <p:cNvPr id="24" name="Shape 22"/>
          <p:cNvSpPr/>
          <p:nvPr/>
        </p:nvSpPr>
        <p:spPr>
          <a:xfrm>
            <a:off x="8193024" y="2811123"/>
            <a:ext cx="36576" cy="36576"/>
          </a:xfrm>
          <a:prstGeom prst="ellipse">
            <a:avLst/>
          </a:prstGeom>
          <a:solidFill>
            <a:srgbClr val="84CCBD"/>
          </a:solidFill>
          <a:ln/>
        </p:spPr>
        <p:txBody>
          <a:bodyPr/>
          <a:lstStyle/>
          <a:p>
            <a:endParaRPr lang="en-US"/>
          </a:p>
        </p:txBody>
      </p:sp>
      <p:sp>
        <p:nvSpPr>
          <p:cNvPr id="25" name="Shape 23"/>
          <p:cNvSpPr/>
          <p:nvPr/>
        </p:nvSpPr>
        <p:spPr>
          <a:xfrm>
            <a:off x="8229600" y="2796035"/>
            <a:ext cx="36576" cy="36576"/>
          </a:xfrm>
          <a:prstGeom prst="ellipse">
            <a:avLst/>
          </a:prstGeom>
          <a:solidFill>
            <a:srgbClr val="84CCBD"/>
          </a:solidFill>
          <a:ln/>
        </p:spPr>
        <p:txBody>
          <a:bodyPr/>
          <a:lstStyle/>
          <a:p>
            <a:endParaRPr lang="en-US"/>
          </a:p>
        </p:txBody>
      </p:sp>
      <p:sp>
        <p:nvSpPr>
          <p:cNvPr id="26" name="Shape 24"/>
          <p:cNvSpPr/>
          <p:nvPr/>
        </p:nvSpPr>
        <p:spPr>
          <a:xfrm>
            <a:off x="8266176" y="2751164"/>
            <a:ext cx="36576" cy="36576"/>
          </a:xfrm>
          <a:prstGeom prst="ellipse">
            <a:avLst/>
          </a:prstGeom>
          <a:solidFill>
            <a:srgbClr val="84CCBD"/>
          </a:solidFill>
          <a:ln/>
        </p:spPr>
        <p:txBody>
          <a:bodyPr/>
          <a:lstStyle/>
          <a:p>
            <a:endParaRPr lang="en-US"/>
          </a:p>
        </p:txBody>
      </p:sp>
      <p:sp>
        <p:nvSpPr>
          <p:cNvPr id="27" name="Shape 25"/>
          <p:cNvSpPr/>
          <p:nvPr/>
        </p:nvSpPr>
        <p:spPr>
          <a:xfrm>
            <a:off x="8302752" y="2677901"/>
            <a:ext cx="36576" cy="36576"/>
          </a:xfrm>
          <a:prstGeom prst="ellipse">
            <a:avLst/>
          </a:prstGeom>
          <a:solidFill>
            <a:srgbClr val="84CCBD"/>
          </a:solidFill>
          <a:ln/>
        </p:spPr>
        <p:txBody>
          <a:bodyPr/>
          <a:lstStyle/>
          <a:p>
            <a:endParaRPr lang="en-US"/>
          </a:p>
        </p:txBody>
      </p:sp>
      <p:sp>
        <p:nvSpPr>
          <p:cNvPr id="28" name="Shape 26"/>
          <p:cNvSpPr/>
          <p:nvPr/>
        </p:nvSpPr>
        <p:spPr>
          <a:xfrm>
            <a:off x="8339328" y="2579213"/>
            <a:ext cx="36576" cy="36576"/>
          </a:xfrm>
          <a:prstGeom prst="ellipse">
            <a:avLst/>
          </a:prstGeom>
          <a:solidFill>
            <a:srgbClr val="84CCBD"/>
          </a:solidFill>
          <a:ln/>
        </p:spPr>
        <p:txBody>
          <a:bodyPr/>
          <a:lstStyle/>
          <a:p>
            <a:endParaRPr lang="en-US"/>
          </a:p>
        </p:txBody>
      </p:sp>
      <p:sp>
        <p:nvSpPr>
          <p:cNvPr id="29" name="Shape 27"/>
          <p:cNvSpPr/>
          <p:nvPr/>
        </p:nvSpPr>
        <p:spPr>
          <a:xfrm>
            <a:off x="8375904" y="2460316"/>
            <a:ext cx="36576" cy="36576"/>
          </a:xfrm>
          <a:prstGeom prst="ellipse">
            <a:avLst/>
          </a:prstGeom>
          <a:solidFill>
            <a:srgbClr val="84CCBD"/>
          </a:solidFill>
          <a:ln/>
        </p:spPr>
        <p:txBody>
          <a:bodyPr/>
          <a:lstStyle/>
          <a:p>
            <a:endParaRPr lang="en-US"/>
          </a:p>
        </p:txBody>
      </p:sp>
      <p:sp>
        <p:nvSpPr>
          <p:cNvPr id="30" name="Shape 28"/>
          <p:cNvSpPr/>
          <p:nvPr/>
        </p:nvSpPr>
        <p:spPr>
          <a:xfrm>
            <a:off x="8412480" y="2329133"/>
            <a:ext cx="36576" cy="36576"/>
          </a:xfrm>
          <a:prstGeom prst="ellipse">
            <a:avLst/>
          </a:prstGeom>
          <a:solidFill>
            <a:srgbClr val="84CCBD"/>
          </a:solidFill>
          <a:ln/>
        </p:spPr>
        <p:txBody>
          <a:bodyPr/>
          <a:lstStyle/>
          <a:p>
            <a:endParaRPr lang="en-US"/>
          </a:p>
        </p:txBody>
      </p:sp>
      <p:sp>
        <p:nvSpPr>
          <p:cNvPr id="31" name="Shape 29"/>
          <p:cNvSpPr/>
          <p:nvPr/>
        </p:nvSpPr>
        <p:spPr>
          <a:xfrm>
            <a:off x="8449056" y="2196213"/>
            <a:ext cx="36576" cy="36576"/>
          </a:xfrm>
          <a:prstGeom prst="ellipse">
            <a:avLst/>
          </a:prstGeom>
          <a:solidFill>
            <a:srgbClr val="84CCBD"/>
          </a:solidFill>
          <a:ln/>
        </p:spPr>
        <p:txBody>
          <a:bodyPr/>
          <a:lstStyle/>
          <a:p>
            <a:endParaRPr lang="en-US"/>
          </a:p>
        </p:txBody>
      </p:sp>
      <p:sp>
        <p:nvSpPr>
          <p:cNvPr id="32" name="Shape 30"/>
          <p:cNvSpPr/>
          <p:nvPr/>
        </p:nvSpPr>
        <p:spPr>
          <a:xfrm>
            <a:off x="8485632" y="2073930"/>
            <a:ext cx="36576" cy="36576"/>
          </a:xfrm>
          <a:prstGeom prst="ellipse">
            <a:avLst/>
          </a:prstGeom>
          <a:solidFill>
            <a:srgbClr val="84CCBD"/>
          </a:solidFill>
          <a:ln/>
        </p:spPr>
        <p:txBody>
          <a:bodyPr/>
          <a:lstStyle/>
          <a:p>
            <a:endParaRPr lang="en-US"/>
          </a:p>
        </p:txBody>
      </p:sp>
      <p:sp>
        <p:nvSpPr>
          <p:cNvPr id="33" name="Shape 31"/>
          <p:cNvSpPr/>
          <p:nvPr/>
        </p:nvSpPr>
        <p:spPr>
          <a:xfrm>
            <a:off x="8522208" y="1974992"/>
            <a:ext cx="36576" cy="36576"/>
          </a:xfrm>
          <a:prstGeom prst="ellipse">
            <a:avLst/>
          </a:prstGeom>
          <a:solidFill>
            <a:srgbClr val="84CCBD"/>
          </a:solidFill>
          <a:ln/>
        </p:spPr>
        <p:txBody>
          <a:bodyPr/>
          <a:lstStyle/>
          <a:p>
            <a:endParaRPr lang="en-US"/>
          </a:p>
        </p:txBody>
      </p:sp>
      <p:sp>
        <p:nvSpPr>
          <p:cNvPr id="34" name="Shape 32"/>
          <p:cNvSpPr/>
          <p:nvPr/>
        </p:nvSpPr>
        <p:spPr>
          <a:xfrm>
            <a:off x="8558784" y="1910517"/>
            <a:ext cx="36576" cy="36576"/>
          </a:xfrm>
          <a:prstGeom prst="ellipse">
            <a:avLst/>
          </a:prstGeom>
          <a:solidFill>
            <a:srgbClr val="84CCBD"/>
          </a:solidFill>
          <a:ln/>
        </p:spPr>
        <p:txBody>
          <a:bodyPr/>
          <a:lstStyle/>
          <a:p>
            <a:endParaRPr lang="en-US"/>
          </a:p>
        </p:txBody>
      </p:sp>
      <p:sp>
        <p:nvSpPr>
          <p:cNvPr id="35" name="Shape 33"/>
          <p:cNvSpPr/>
          <p:nvPr/>
        </p:nvSpPr>
        <p:spPr>
          <a:xfrm>
            <a:off x="8595360" y="1888122"/>
            <a:ext cx="36576" cy="36576"/>
          </a:xfrm>
          <a:prstGeom prst="ellipse">
            <a:avLst/>
          </a:prstGeom>
          <a:solidFill>
            <a:srgbClr val="84CCBD"/>
          </a:solidFill>
          <a:ln/>
        </p:spPr>
        <p:txBody>
          <a:bodyPr/>
          <a:lstStyle/>
          <a:p>
            <a:endParaRPr lang="en-US"/>
          </a:p>
        </p:txBody>
      </p:sp>
      <p:sp>
        <p:nvSpPr>
          <p:cNvPr id="36" name="Shape 34"/>
          <p:cNvSpPr/>
          <p:nvPr/>
        </p:nvSpPr>
        <p:spPr>
          <a:xfrm>
            <a:off x="8631936" y="1910517"/>
            <a:ext cx="36576" cy="36576"/>
          </a:xfrm>
          <a:prstGeom prst="ellipse">
            <a:avLst/>
          </a:prstGeom>
          <a:solidFill>
            <a:srgbClr val="84CCBD"/>
          </a:solidFill>
          <a:ln/>
        </p:spPr>
        <p:txBody>
          <a:bodyPr/>
          <a:lstStyle/>
          <a:p>
            <a:endParaRPr lang="en-US"/>
          </a:p>
        </p:txBody>
      </p:sp>
      <p:sp>
        <p:nvSpPr>
          <p:cNvPr id="37" name="Shape 35"/>
          <p:cNvSpPr/>
          <p:nvPr/>
        </p:nvSpPr>
        <p:spPr>
          <a:xfrm>
            <a:off x="8668512" y="1974992"/>
            <a:ext cx="36576" cy="36576"/>
          </a:xfrm>
          <a:prstGeom prst="ellipse">
            <a:avLst/>
          </a:prstGeom>
          <a:solidFill>
            <a:srgbClr val="84CCBD"/>
          </a:solidFill>
          <a:ln/>
        </p:spPr>
        <p:txBody>
          <a:bodyPr/>
          <a:lstStyle/>
          <a:p>
            <a:endParaRPr lang="en-US"/>
          </a:p>
        </p:txBody>
      </p:sp>
      <p:sp>
        <p:nvSpPr>
          <p:cNvPr id="38" name="Shape 36"/>
          <p:cNvSpPr/>
          <p:nvPr/>
        </p:nvSpPr>
        <p:spPr>
          <a:xfrm>
            <a:off x="8705088" y="2073930"/>
            <a:ext cx="36576" cy="36576"/>
          </a:xfrm>
          <a:prstGeom prst="ellipse">
            <a:avLst/>
          </a:prstGeom>
          <a:solidFill>
            <a:srgbClr val="84CCBD"/>
          </a:solidFill>
          <a:ln/>
        </p:spPr>
        <p:txBody>
          <a:bodyPr/>
          <a:lstStyle/>
          <a:p>
            <a:endParaRPr lang="en-US"/>
          </a:p>
        </p:txBody>
      </p:sp>
      <p:sp>
        <p:nvSpPr>
          <p:cNvPr id="39" name="Shape 37"/>
          <p:cNvSpPr/>
          <p:nvPr/>
        </p:nvSpPr>
        <p:spPr>
          <a:xfrm>
            <a:off x="8741664" y="2196213"/>
            <a:ext cx="36576" cy="36576"/>
          </a:xfrm>
          <a:prstGeom prst="ellipse">
            <a:avLst/>
          </a:prstGeom>
          <a:solidFill>
            <a:srgbClr val="84CCBD"/>
          </a:solidFill>
          <a:ln/>
        </p:spPr>
        <p:txBody>
          <a:bodyPr/>
          <a:lstStyle/>
          <a:p>
            <a:endParaRPr lang="en-US"/>
          </a:p>
        </p:txBody>
      </p:sp>
      <p:sp>
        <p:nvSpPr>
          <p:cNvPr id="40" name="Shape 38"/>
          <p:cNvSpPr/>
          <p:nvPr/>
        </p:nvSpPr>
        <p:spPr>
          <a:xfrm>
            <a:off x="8778240" y="2329133"/>
            <a:ext cx="36576" cy="36576"/>
          </a:xfrm>
          <a:prstGeom prst="ellipse">
            <a:avLst/>
          </a:prstGeom>
          <a:solidFill>
            <a:srgbClr val="84CCBD"/>
          </a:solidFill>
          <a:ln/>
        </p:spPr>
        <p:txBody>
          <a:bodyPr/>
          <a:lstStyle/>
          <a:p>
            <a:endParaRPr lang="en-US"/>
          </a:p>
        </p:txBody>
      </p:sp>
      <p:sp>
        <p:nvSpPr>
          <p:cNvPr id="41" name="Shape 39"/>
          <p:cNvSpPr/>
          <p:nvPr/>
        </p:nvSpPr>
        <p:spPr>
          <a:xfrm>
            <a:off x="8814816" y="2460316"/>
            <a:ext cx="36576" cy="36576"/>
          </a:xfrm>
          <a:prstGeom prst="ellipse">
            <a:avLst/>
          </a:prstGeom>
          <a:solidFill>
            <a:srgbClr val="84CCBD"/>
          </a:solidFill>
          <a:ln/>
        </p:spPr>
        <p:txBody>
          <a:bodyPr/>
          <a:lstStyle/>
          <a:p>
            <a:endParaRPr lang="en-US"/>
          </a:p>
        </p:txBody>
      </p:sp>
      <p:sp>
        <p:nvSpPr>
          <p:cNvPr id="42" name="Shape 40"/>
          <p:cNvSpPr/>
          <p:nvPr/>
        </p:nvSpPr>
        <p:spPr>
          <a:xfrm>
            <a:off x="8851392" y="2579213"/>
            <a:ext cx="36576" cy="36576"/>
          </a:xfrm>
          <a:prstGeom prst="ellipse">
            <a:avLst/>
          </a:prstGeom>
          <a:solidFill>
            <a:srgbClr val="84CCBD"/>
          </a:solidFill>
          <a:ln/>
        </p:spPr>
        <p:txBody>
          <a:bodyPr/>
          <a:lstStyle/>
          <a:p>
            <a:endParaRPr lang="en-US"/>
          </a:p>
        </p:txBody>
      </p:sp>
      <p:sp>
        <p:nvSpPr>
          <p:cNvPr id="43" name="Shape 41"/>
          <p:cNvSpPr/>
          <p:nvPr/>
        </p:nvSpPr>
        <p:spPr>
          <a:xfrm>
            <a:off x="8887968" y="2677901"/>
            <a:ext cx="36576" cy="36576"/>
          </a:xfrm>
          <a:prstGeom prst="ellipse">
            <a:avLst/>
          </a:prstGeom>
          <a:solidFill>
            <a:srgbClr val="84CCBD"/>
          </a:solidFill>
          <a:ln/>
        </p:spPr>
        <p:txBody>
          <a:bodyPr/>
          <a:lstStyle/>
          <a:p>
            <a:endParaRPr lang="en-US"/>
          </a:p>
        </p:txBody>
      </p:sp>
      <p:sp>
        <p:nvSpPr>
          <p:cNvPr id="44" name="Shape 42"/>
          <p:cNvSpPr/>
          <p:nvPr/>
        </p:nvSpPr>
        <p:spPr>
          <a:xfrm>
            <a:off x="8924544" y="2751164"/>
            <a:ext cx="36576" cy="36576"/>
          </a:xfrm>
          <a:prstGeom prst="ellipse">
            <a:avLst/>
          </a:prstGeom>
          <a:solidFill>
            <a:srgbClr val="84CCBD"/>
          </a:solidFill>
          <a:ln/>
        </p:spPr>
        <p:txBody>
          <a:bodyPr/>
          <a:lstStyle/>
          <a:p>
            <a:endParaRPr lang="en-US"/>
          </a:p>
        </p:txBody>
      </p:sp>
      <p:sp>
        <p:nvSpPr>
          <p:cNvPr id="45" name="Shape 43"/>
          <p:cNvSpPr/>
          <p:nvPr/>
        </p:nvSpPr>
        <p:spPr>
          <a:xfrm>
            <a:off x="8961120" y="2796035"/>
            <a:ext cx="36576" cy="36576"/>
          </a:xfrm>
          <a:prstGeom prst="ellipse">
            <a:avLst/>
          </a:prstGeom>
          <a:solidFill>
            <a:srgbClr val="84CCBD"/>
          </a:solidFill>
          <a:ln/>
        </p:spPr>
        <p:txBody>
          <a:bodyPr/>
          <a:lstStyle/>
          <a:p>
            <a:endParaRPr lang="en-US"/>
          </a:p>
        </p:txBody>
      </p:sp>
      <p:sp>
        <p:nvSpPr>
          <p:cNvPr id="46" name="Shape 44"/>
          <p:cNvSpPr/>
          <p:nvPr/>
        </p:nvSpPr>
        <p:spPr>
          <a:xfrm>
            <a:off x="8997696" y="2811123"/>
            <a:ext cx="36576" cy="36576"/>
          </a:xfrm>
          <a:prstGeom prst="ellipse">
            <a:avLst/>
          </a:prstGeom>
          <a:solidFill>
            <a:srgbClr val="84CCBD"/>
          </a:solidFill>
          <a:ln/>
        </p:spPr>
        <p:txBody>
          <a:bodyPr/>
          <a:lstStyle/>
          <a:p>
            <a:endParaRPr lang="en-US"/>
          </a:p>
        </p:txBody>
      </p:sp>
      <p:sp>
        <p:nvSpPr>
          <p:cNvPr id="47" name="Shape 45"/>
          <p:cNvSpPr/>
          <p:nvPr/>
        </p:nvSpPr>
        <p:spPr>
          <a:xfrm>
            <a:off x="9034272" y="2796035"/>
            <a:ext cx="36576" cy="36576"/>
          </a:xfrm>
          <a:prstGeom prst="ellipse">
            <a:avLst/>
          </a:prstGeom>
          <a:solidFill>
            <a:srgbClr val="84CCBD"/>
          </a:solidFill>
          <a:ln/>
        </p:spPr>
        <p:txBody>
          <a:bodyPr/>
          <a:lstStyle/>
          <a:p>
            <a:endParaRPr lang="en-US"/>
          </a:p>
        </p:txBody>
      </p:sp>
      <p:sp>
        <p:nvSpPr>
          <p:cNvPr id="48" name="Shape 46"/>
          <p:cNvSpPr/>
          <p:nvPr/>
        </p:nvSpPr>
        <p:spPr>
          <a:xfrm>
            <a:off x="9070848" y="2751164"/>
            <a:ext cx="36576" cy="36576"/>
          </a:xfrm>
          <a:prstGeom prst="ellipse">
            <a:avLst/>
          </a:prstGeom>
          <a:solidFill>
            <a:srgbClr val="84CCBD"/>
          </a:solidFill>
          <a:ln/>
        </p:spPr>
        <p:txBody>
          <a:bodyPr/>
          <a:lstStyle/>
          <a:p>
            <a:endParaRPr lang="en-US"/>
          </a:p>
        </p:txBody>
      </p:sp>
      <p:sp>
        <p:nvSpPr>
          <p:cNvPr id="49" name="Shape 47"/>
          <p:cNvSpPr/>
          <p:nvPr/>
        </p:nvSpPr>
        <p:spPr>
          <a:xfrm>
            <a:off x="9107424" y="2677901"/>
            <a:ext cx="36576" cy="36576"/>
          </a:xfrm>
          <a:prstGeom prst="ellipse">
            <a:avLst/>
          </a:prstGeom>
          <a:solidFill>
            <a:srgbClr val="84CCBD"/>
          </a:solidFill>
          <a:ln/>
        </p:spPr>
        <p:txBody>
          <a:bodyPr/>
          <a:lstStyle/>
          <a:p>
            <a:endParaRPr lang="en-US"/>
          </a:p>
        </p:txBody>
      </p:sp>
      <p:sp>
        <p:nvSpPr>
          <p:cNvPr id="50" name="Shape 48"/>
          <p:cNvSpPr/>
          <p:nvPr/>
        </p:nvSpPr>
        <p:spPr>
          <a:xfrm>
            <a:off x="9144000" y="2579213"/>
            <a:ext cx="36576" cy="36576"/>
          </a:xfrm>
          <a:prstGeom prst="ellipse">
            <a:avLst/>
          </a:prstGeom>
          <a:solidFill>
            <a:srgbClr val="84CCBD"/>
          </a:solidFill>
          <a:ln/>
        </p:spPr>
        <p:txBody>
          <a:bodyPr/>
          <a:lstStyle/>
          <a:p>
            <a:endParaRPr lang="en-US"/>
          </a:p>
        </p:txBody>
      </p:sp>
      <p:sp>
        <p:nvSpPr>
          <p:cNvPr id="51" name="Shape 49"/>
          <p:cNvSpPr/>
          <p:nvPr/>
        </p:nvSpPr>
        <p:spPr>
          <a:xfrm>
            <a:off x="9180576" y="2460316"/>
            <a:ext cx="36576" cy="36576"/>
          </a:xfrm>
          <a:prstGeom prst="ellipse">
            <a:avLst/>
          </a:prstGeom>
          <a:solidFill>
            <a:srgbClr val="84CCBD"/>
          </a:solidFill>
          <a:ln/>
        </p:spPr>
        <p:txBody>
          <a:bodyPr/>
          <a:lstStyle/>
          <a:p>
            <a:endParaRPr lang="en-US"/>
          </a:p>
        </p:txBody>
      </p:sp>
      <p:sp>
        <p:nvSpPr>
          <p:cNvPr id="52" name="Shape 50"/>
          <p:cNvSpPr/>
          <p:nvPr/>
        </p:nvSpPr>
        <p:spPr>
          <a:xfrm>
            <a:off x="9217152" y="2329133"/>
            <a:ext cx="36576" cy="36576"/>
          </a:xfrm>
          <a:prstGeom prst="ellipse">
            <a:avLst/>
          </a:prstGeom>
          <a:solidFill>
            <a:srgbClr val="84CCBD"/>
          </a:solidFill>
          <a:ln/>
        </p:spPr>
        <p:txBody>
          <a:bodyPr/>
          <a:lstStyle/>
          <a:p>
            <a:endParaRPr lang="en-US"/>
          </a:p>
        </p:txBody>
      </p:sp>
      <p:sp>
        <p:nvSpPr>
          <p:cNvPr id="53" name="Shape 51"/>
          <p:cNvSpPr/>
          <p:nvPr/>
        </p:nvSpPr>
        <p:spPr>
          <a:xfrm>
            <a:off x="9253728" y="2196213"/>
            <a:ext cx="36576" cy="36576"/>
          </a:xfrm>
          <a:prstGeom prst="ellipse">
            <a:avLst/>
          </a:prstGeom>
          <a:solidFill>
            <a:srgbClr val="84CCBD"/>
          </a:solidFill>
          <a:ln/>
        </p:spPr>
        <p:txBody>
          <a:bodyPr/>
          <a:lstStyle/>
          <a:p>
            <a:endParaRPr lang="en-US"/>
          </a:p>
        </p:txBody>
      </p:sp>
      <p:sp>
        <p:nvSpPr>
          <p:cNvPr id="54" name="Shape 52"/>
          <p:cNvSpPr/>
          <p:nvPr/>
        </p:nvSpPr>
        <p:spPr>
          <a:xfrm>
            <a:off x="9290304" y="2073930"/>
            <a:ext cx="36576" cy="36576"/>
          </a:xfrm>
          <a:prstGeom prst="ellipse">
            <a:avLst/>
          </a:prstGeom>
          <a:solidFill>
            <a:srgbClr val="84CCBD"/>
          </a:solidFill>
          <a:ln/>
        </p:spPr>
        <p:txBody>
          <a:bodyPr/>
          <a:lstStyle/>
          <a:p>
            <a:endParaRPr lang="en-US"/>
          </a:p>
        </p:txBody>
      </p:sp>
      <p:sp>
        <p:nvSpPr>
          <p:cNvPr id="55" name="Shape 53"/>
          <p:cNvSpPr/>
          <p:nvPr/>
        </p:nvSpPr>
        <p:spPr>
          <a:xfrm>
            <a:off x="9326880" y="1974992"/>
            <a:ext cx="36576" cy="36576"/>
          </a:xfrm>
          <a:prstGeom prst="ellipse">
            <a:avLst/>
          </a:prstGeom>
          <a:solidFill>
            <a:srgbClr val="84CCBD"/>
          </a:solidFill>
          <a:ln/>
        </p:spPr>
        <p:txBody>
          <a:bodyPr/>
          <a:lstStyle/>
          <a:p>
            <a:endParaRPr lang="en-US"/>
          </a:p>
        </p:txBody>
      </p:sp>
      <p:sp>
        <p:nvSpPr>
          <p:cNvPr id="56" name="Shape 54"/>
          <p:cNvSpPr/>
          <p:nvPr/>
        </p:nvSpPr>
        <p:spPr>
          <a:xfrm>
            <a:off x="9363456" y="1910517"/>
            <a:ext cx="36576" cy="36576"/>
          </a:xfrm>
          <a:prstGeom prst="ellipse">
            <a:avLst/>
          </a:prstGeom>
          <a:solidFill>
            <a:srgbClr val="84CCBD"/>
          </a:solidFill>
          <a:ln/>
        </p:spPr>
        <p:txBody>
          <a:bodyPr/>
          <a:lstStyle/>
          <a:p>
            <a:endParaRPr lang="en-US"/>
          </a:p>
        </p:txBody>
      </p:sp>
      <p:sp>
        <p:nvSpPr>
          <p:cNvPr id="57" name="Shape 55"/>
          <p:cNvSpPr/>
          <p:nvPr/>
        </p:nvSpPr>
        <p:spPr>
          <a:xfrm>
            <a:off x="9400032" y="1888122"/>
            <a:ext cx="36576" cy="36576"/>
          </a:xfrm>
          <a:prstGeom prst="ellipse">
            <a:avLst/>
          </a:prstGeom>
          <a:solidFill>
            <a:srgbClr val="84CCBD"/>
          </a:solidFill>
          <a:ln/>
        </p:spPr>
        <p:txBody>
          <a:bodyPr/>
          <a:lstStyle/>
          <a:p>
            <a:endParaRPr lang="en-US"/>
          </a:p>
        </p:txBody>
      </p:sp>
      <p:sp>
        <p:nvSpPr>
          <p:cNvPr id="58" name="Shape 56"/>
          <p:cNvSpPr/>
          <p:nvPr/>
        </p:nvSpPr>
        <p:spPr>
          <a:xfrm>
            <a:off x="9436608" y="1910517"/>
            <a:ext cx="36576" cy="36576"/>
          </a:xfrm>
          <a:prstGeom prst="ellipse">
            <a:avLst/>
          </a:prstGeom>
          <a:solidFill>
            <a:srgbClr val="84CCBD"/>
          </a:solidFill>
          <a:ln/>
        </p:spPr>
        <p:txBody>
          <a:bodyPr/>
          <a:lstStyle/>
          <a:p>
            <a:endParaRPr lang="en-US"/>
          </a:p>
        </p:txBody>
      </p:sp>
      <p:sp>
        <p:nvSpPr>
          <p:cNvPr id="59" name="Shape 57"/>
          <p:cNvSpPr/>
          <p:nvPr/>
        </p:nvSpPr>
        <p:spPr>
          <a:xfrm>
            <a:off x="9473184" y="1974992"/>
            <a:ext cx="36576" cy="36576"/>
          </a:xfrm>
          <a:prstGeom prst="ellipse">
            <a:avLst/>
          </a:prstGeom>
          <a:solidFill>
            <a:srgbClr val="84CCBD"/>
          </a:solidFill>
          <a:ln/>
        </p:spPr>
        <p:txBody>
          <a:bodyPr/>
          <a:lstStyle/>
          <a:p>
            <a:endParaRPr lang="en-US"/>
          </a:p>
        </p:txBody>
      </p:sp>
      <p:sp>
        <p:nvSpPr>
          <p:cNvPr id="60" name="Shape 58"/>
          <p:cNvSpPr/>
          <p:nvPr/>
        </p:nvSpPr>
        <p:spPr>
          <a:xfrm>
            <a:off x="9509760" y="2073930"/>
            <a:ext cx="36576" cy="36576"/>
          </a:xfrm>
          <a:prstGeom prst="ellipse">
            <a:avLst/>
          </a:prstGeom>
          <a:solidFill>
            <a:srgbClr val="84CCBD"/>
          </a:solidFill>
          <a:ln/>
        </p:spPr>
        <p:txBody>
          <a:bodyPr/>
          <a:lstStyle/>
          <a:p>
            <a:endParaRPr lang="en-US"/>
          </a:p>
        </p:txBody>
      </p:sp>
      <p:sp>
        <p:nvSpPr>
          <p:cNvPr id="61" name="Shape 59"/>
          <p:cNvSpPr/>
          <p:nvPr/>
        </p:nvSpPr>
        <p:spPr>
          <a:xfrm>
            <a:off x="9546336" y="2196213"/>
            <a:ext cx="36576" cy="36576"/>
          </a:xfrm>
          <a:prstGeom prst="ellipse">
            <a:avLst/>
          </a:prstGeom>
          <a:solidFill>
            <a:srgbClr val="84CCBD"/>
          </a:solidFill>
          <a:ln/>
        </p:spPr>
        <p:txBody>
          <a:bodyPr/>
          <a:lstStyle/>
          <a:p>
            <a:endParaRPr lang="en-US"/>
          </a:p>
        </p:txBody>
      </p:sp>
      <p:sp>
        <p:nvSpPr>
          <p:cNvPr id="62" name="Shape 60"/>
          <p:cNvSpPr/>
          <p:nvPr/>
        </p:nvSpPr>
        <p:spPr>
          <a:xfrm>
            <a:off x="9582912" y="2329133"/>
            <a:ext cx="36576" cy="36576"/>
          </a:xfrm>
          <a:prstGeom prst="ellipse">
            <a:avLst/>
          </a:prstGeom>
          <a:solidFill>
            <a:srgbClr val="84CCBD"/>
          </a:solidFill>
          <a:ln/>
        </p:spPr>
        <p:txBody>
          <a:bodyPr/>
          <a:lstStyle/>
          <a:p>
            <a:endParaRPr lang="en-US"/>
          </a:p>
        </p:txBody>
      </p:sp>
      <p:sp>
        <p:nvSpPr>
          <p:cNvPr id="63" name="Shape 61"/>
          <p:cNvSpPr/>
          <p:nvPr/>
        </p:nvSpPr>
        <p:spPr>
          <a:xfrm>
            <a:off x="9619488" y="2460316"/>
            <a:ext cx="36576" cy="36576"/>
          </a:xfrm>
          <a:prstGeom prst="ellipse">
            <a:avLst/>
          </a:prstGeom>
          <a:solidFill>
            <a:srgbClr val="84CCBD"/>
          </a:solidFill>
          <a:ln/>
        </p:spPr>
        <p:txBody>
          <a:bodyPr/>
          <a:lstStyle/>
          <a:p>
            <a:endParaRPr lang="en-US"/>
          </a:p>
        </p:txBody>
      </p:sp>
      <p:sp>
        <p:nvSpPr>
          <p:cNvPr id="64" name="Shape 62"/>
          <p:cNvSpPr/>
          <p:nvPr/>
        </p:nvSpPr>
        <p:spPr>
          <a:xfrm>
            <a:off x="9656064" y="2579213"/>
            <a:ext cx="36576" cy="36576"/>
          </a:xfrm>
          <a:prstGeom prst="ellipse">
            <a:avLst/>
          </a:prstGeom>
          <a:solidFill>
            <a:srgbClr val="84CCBD"/>
          </a:solidFill>
          <a:ln/>
        </p:spPr>
        <p:txBody>
          <a:bodyPr/>
          <a:lstStyle/>
          <a:p>
            <a:endParaRPr lang="en-US"/>
          </a:p>
        </p:txBody>
      </p:sp>
      <p:sp>
        <p:nvSpPr>
          <p:cNvPr id="65" name="Shape 63"/>
          <p:cNvSpPr/>
          <p:nvPr/>
        </p:nvSpPr>
        <p:spPr>
          <a:xfrm>
            <a:off x="9692640" y="2677901"/>
            <a:ext cx="36576" cy="36576"/>
          </a:xfrm>
          <a:prstGeom prst="ellipse">
            <a:avLst/>
          </a:prstGeom>
          <a:solidFill>
            <a:srgbClr val="84CCBD"/>
          </a:solidFill>
          <a:ln/>
        </p:spPr>
        <p:txBody>
          <a:bodyPr/>
          <a:lstStyle/>
          <a:p>
            <a:endParaRPr lang="en-US"/>
          </a:p>
        </p:txBody>
      </p:sp>
      <p:sp>
        <p:nvSpPr>
          <p:cNvPr id="66" name="Shape 64"/>
          <p:cNvSpPr/>
          <p:nvPr/>
        </p:nvSpPr>
        <p:spPr>
          <a:xfrm>
            <a:off x="9729216" y="2751164"/>
            <a:ext cx="36576" cy="36576"/>
          </a:xfrm>
          <a:prstGeom prst="ellipse">
            <a:avLst/>
          </a:prstGeom>
          <a:solidFill>
            <a:srgbClr val="84CCBD"/>
          </a:solidFill>
          <a:ln/>
        </p:spPr>
        <p:txBody>
          <a:bodyPr/>
          <a:lstStyle/>
          <a:p>
            <a:endParaRPr lang="en-US"/>
          </a:p>
        </p:txBody>
      </p:sp>
      <p:sp>
        <p:nvSpPr>
          <p:cNvPr id="67" name="Shape 65"/>
          <p:cNvSpPr/>
          <p:nvPr/>
        </p:nvSpPr>
        <p:spPr>
          <a:xfrm>
            <a:off x="9765792" y="2796035"/>
            <a:ext cx="36576" cy="36576"/>
          </a:xfrm>
          <a:prstGeom prst="ellipse">
            <a:avLst/>
          </a:prstGeom>
          <a:solidFill>
            <a:srgbClr val="84CCBD"/>
          </a:solidFill>
          <a:ln/>
        </p:spPr>
        <p:txBody>
          <a:bodyPr/>
          <a:lstStyle/>
          <a:p>
            <a:endParaRPr lang="en-US"/>
          </a:p>
        </p:txBody>
      </p:sp>
      <p:sp>
        <p:nvSpPr>
          <p:cNvPr id="68" name="Shape 66"/>
          <p:cNvSpPr/>
          <p:nvPr/>
        </p:nvSpPr>
        <p:spPr>
          <a:xfrm>
            <a:off x="9802368" y="2811123"/>
            <a:ext cx="36576" cy="36576"/>
          </a:xfrm>
          <a:prstGeom prst="ellipse">
            <a:avLst/>
          </a:prstGeom>
          <a:solidFill>
            <a:srgbClr val="84CCBD"/>
          </a:solidFill>
          <a:ln/>
        </p:spPr>
        <p:txBody>
          <a:bodyPr/>
          <a:lstStyle/>
          <a:p>
            <a:endParaRPr lang="en-US"/>
          </a:p>
        </p:txBody>
      </p:sp>
      <p:sp>
        <p:nvSpPr>
          <p:cNvPr id="69" name="Shape 67"/>
          <p:cNvSpPr/>
          <p:nvPr/>
        </p:nvSpPr>
        <p:spPr>
          <a:xfrm>
            <a:off x="9838944" y="2796035"/>
            <a:ext cx="36576" cy="36576"/>
          </a:xfrm>
          <a:prstGeom prst="ellipse">
            <a:avLst/>
          </a:prstGeom>
          <a:solidFill>
            <a:srgbClr val="84CCBD"/>
          </a:solidFill>
          <a:ln/>
        </p:spPr>
        <p:txBody>
          <a:bodyPr/>
          <a:lstStyle/>
          <a:p>
            <a:endParaRPr lang="en-US"/>
          </a:p>
        </p:txBody>
      </p:sp>
      <p:sp>
        <p:nvSpPr>
          <p:cNvPr id="70" name="Shape 68"/>
          <p:cNvSpPr/>
          <p:nvPr/>
        </p:nvSpPr>
        <p:spPr>
          <a:xfrm>
            <a:off x="9875520" y="2751164"/>
            <a:ext cx="36576" cy="36576"/>
          </a:xfrm>
          <a:prstGeom prst="ellipse">
            <a:avLst/>
          </a:prstGeom>
          <a:solidFill>
            <a:srgbClr val="84CCBD"/>
          </a:solidFill>
          <a:ln/>
        </p:spPr>
        <p:txBody>
          <a:bodyPr/>
          <a:lstStyle/>
          <a:p>
            <a:endParaRPr lang="en-US"/>
          </a:p>
        </p:txBody>
      </p:sp>
      <p:sp>
        <p:nvSpPr>
          <p:cNvPr id="71" name="Shape 69"/>
          <p:cNvSpPr/>
          <p:nvPr/>
        </p:nvSpPr>
        <p:spPr>
          <a:xfrm>
            <a:off x="9912096" y="2677901"/>
            <a:ext cx="36576" cy="36576"/>
          </a:xfrm>
          <a:prstGeom prst="ellipse">
            <a:avLst/>
          </a:prstGeom>
          <a:solidFill>
            <a:srgbClr val="84CCBD"/>
          </a:solidFill>
          <a:ln/>
        </p:spPr>
        <p:txBody>
          <a:bodyPr/>
          <a:lstStyle/>
          <a:p>
            <a:endParaRPr lang="en-US"/>
          </a:p>
        </p:txBody>
      </p:sp>
      <p:sp>
        <p:nvSpPr>
          <p:cNvPr id="72" name="Shape 70"/>
          <p:cNvSpPr/>
          <p:nvPr/>
        </p:nvSpPr>
        <p:spPr>
          <a:xfrm>
            <a:off x="9948672" y="2579213"/>
            <a:ext cx="36576" cy="36576"/>
          </a:xfrm>
          <a:prstGeom prst="ellipse">
            <a:avLst/>
          </a:prstGeom>
          <a:solidFill>
            <a:srgbClr val="84CCBD"/>
          </a:solidFill>
          <a:ln/>
        </p:spPr>
        <p:txBody>
          <a:bodyPr/>
          <a:lstStyle/>
          <a:p>
            <a:endParaRPr lang="en-US"/>
          </a:p>
        </p:txBody>
      </p:sp>
      <p:sp>
        <p:nvSpPr>
          <p:cNvPr id="73" name="Shape 71"/>
          <p:cNvSpPr/>
          <p:nvPr/>
        </p:nvSpPr>
        <p:spPr>
          <a:xfrm>
            <a:off x="9985248" y="2460316"/>
            <a:ext cx="36576" cy="36576"/>
          </a:xfrm>
          <a:prstGeom prst="ellipse">
            <a:avLst/>
          </a:prstGeom>
          <a:solidFill>
            <a:srgbClr val="84CCBD"/>
          </a:solidFill>
          <a:ln/>
        </p:spPr>
        <p:txBody>
          <a:bodyPr/>
          <a:lstStyle/>
          <a:p>
            <a:endParaRPr lang="en-US"/>
          </a:p>
        </p:txBody>
      </p:sp>
      <p:sp>
        <p:nvSpPr>
          <p:cNvPr id="74" name="Shape 72"/>
          <p:cNvSpPr/>
          <p:nvPr/>
        </p:nvSpPr>
        <p:spPr>
          <a:xfrm>
            <a:off x="10021824" y="2329133"/>
            <a:ext cx="36576" cy="36576"/>
          </a:xfrm>
          <a:prstGeom prst="ellipse">
            <a:avLst/>
          </a:prstGeom>
          <a:solidFill>
            <a:srgbClr val="84CCBD"/>
          </a:solidFill>
          <a:ln/>
        </p:spPr>
        <p:txBody>
          <a:bodyPr/>
          <a:lstStyle/>
          <a:p>
            <a:endParaRPr lang="en-US"/>
          </a:p>
        </p:txBody>
      </p:sp>
      <p:sp>
        <p:nvSpPr>
          <p:cNvPr id="75" name="Shape 73"/>
          <p:cNvSpPr/>
          <p:nvPr/>
        </p:nvSpPr>
        <p:spPr>
          <a:xfrm>
            <a:off x="10058400" y="2196213"/>
            <a:ext cx="36576" cy="36576"/>
          </a:xfrm>
          <a:prstGeom prst="ellipse">
            <a:avLst/>
          </a:prstGeom>
          <a:solidFill>
            <a:srgbClr val="84CCBD"/>
          </a:solidFill>
          <a:ln/>
        </p:spPr>
        <p:txBody>
          <a:bodyPr/>
          <a:lstStyle/>
          <a:p>
            <a:endParaRPr lang="en-US"/>
          </a:p>
        </p:txBody>
      </p:sp>
      <p:sp>
        <p:nvSpPr>
          <p:cNvPr id="76" name="Shape 74"/>
          <p:cNvSpPr/>
          <p:nvPr/>
        </p:nvSpPr>
        <p:spPr>
          <a:xfrm>
            <a:off x="10094976" y="2073930"/>
            <a:ext cx="36576" cy="36576"/>
          </a:xfrm>
          <a:prstGeom prst="ellipse">
            <a:avLst/>
          </a:prstGeom>
          <a:solidFill>
            <a:srgbClr val="84CCBD"/>
          </a:solidFill>
          <a:ln/>
        </p:spPr>
        <p:txBody>
          <a:bodyPr/>
          <a:lstStyle/>
          <a:p>
            <a:endParaRPr lang="en-US"/>
          </a:p>
        </p:txBody>
      </p:sp>
      <p:sp>
        <p:nvSpPr>
          <p:cNvPr id="77" name="Shape 75"/>
          <p:cNvSpPr/>
          <p:nvPr/>
        </p:nvSpPr>
        <p:spPr>
          <a:xfrm>
            <a:off x="10131552" y="1974992"/>
            <a:ext cx="36576" cy="36576"/>
          </a:xfrm>
          <a:prstGeom prst="ellipse">
            <a:avLst/>
          </a:prstGeom>
          <a:solidFill>
            <a:srgbClr val="84CCBD"/>
          </a:solidFill>
          <a:ln/>
        </p:spPr>
        <p:txBody>
          <a:bodyPr/>
          <a:lstStyle/>
          <a:p>
            <a:endParaRPr lang="en-US"/>
          </a:p>
        </p:txBody>
      </p:sp>
      <p:sp>
        <p:nvSpPr>
          <p:cNvPr id="78" name="Shape 76"/>
          <p:cNvSpPr/>
          <p:nvPr/>
        </p:nvSpPr>
        <p:spPr>
          <a:xfrm>
            <a:off x="10168128" y="1910517"/>
            <a:ext cx="36576" cy="36576"/>
          </a:xfrm>
          <a:prstGeom prst="ellipse">
            <a:avLst/>
          </a:prstGeom>
          <a:solidFill>
            <a:srgbClr val="84CCBD"/>
          </a:solidFill>
          <a:ln/>
        </p:spPr>
        <p:txBody>
          <a:bodyPr/>
          <a:lstStyle/>
          <a:p>
            <a:endParaRPr lang="en-US"/>
          </a:p>
        </p:txBody>
      </p:sp>
      <p:sp>
        <p:nvSpPr>
          <p:cNvPr id="79" name="Shape 77"/>
          <p:cNvSpPr/>
          <p:nvPr/>
        </p:nvSpPr>
        <p:spPr>
          <a:xfrm>
            <a:off x="10204704" y="1888122"/>
            <a:ext cx="36576" cy="36576"/>
          </a:xfrm>
          <a:prstGeom prst="ellipse">
            <a:avLst/>
          </a:prstGeom>
          <a:solidFill>
            <a:srgbClr val="84CCBD"/>
          </a:solidFill>
          <a:ln/>
        </p:spPr>
        <p:txBody>
          <a:bodyPr/>
          <a:lstStyle/>
          <a:p>
            <a:endParaRPr lang="en-US"/>
          </a:p>
        </p:txBody>
      </p:sp>
      <p:sp>
        <p:nvSpPr>
          <p:cNvPr id="80" name="Shape 78"/>
          <p:cNvSpPr/>
          <p:nvPr/>
        </p:nvSpPr>
        <p:spPr>
          <a:xfrm>
            <a:off x="10241280" y="1910517"/>
            <a:ext cx="36576" cy="36576"/>
          </a:xfrm>
          <a:prstGeom prst="ellipse">
            <a:avLst/>
          </a:prstGeom>
          <a:solidFill>
            <a:srgbClr val="84CCBD"/>
          </a:solidFill>
          <a:ln/>
        </p:spPr>
        <p:txBody>
          <a:bodyPr/>
          <a:lstStyle/>
          <a:p>
            <a:endParaRPr lang="en-US"/>
          </a:p>
        </p:txBody>
      </p:sp>
      <p:sp>
        <p:nvSpPr>
          <p:cNvPr id="81" name="Shape 79"/>
          <p:cNvSpPr/>
          <p:nvPr/>
        </p:nvSpPr>
        <p:spPr>
          <a:xfrm>
            <a:off x="10277856" y="1974992"/>
            <a:ext cx="36576" cy="36576"/>
          </a:xfrm>
          <a:prstGeom prst="ellipse">
            <a:avLst/>
          </a:prstGeom>
          <a:solidFill>
            <a:srgbClr val="84CCBD"/>
          </a:solidFill>
          <a:ln/>
        </p:spPr>
        <p:txBody>
          <a:bodyPr/>
          <a:lstStyle/>
          <a:p>
            <a:endParaRPr lang="en-US"/>
          </a:p>
        </p:txBody>
      </p:sp>
      <p:sp>
        <p:nvSpPr>
          <p:cNvPr id="82" name="Shape 80"/>
          <p:cNvSpPr/>
          <p:nvPr/>
        </p:nvSpPr>
        <p:spPr>
          <a:xfrm>
            <a:off x="10314432" y="2073930"/>
            <a:ext cx="36576" cy="36576"/>
          </a:xfrm>
          <a:prstGeom prst="ellipse">
            <a:avLst/>
          </a:prstGeom>
          <a:solidFill>
            <a:srgbClr val="84CCBD"/>
          </a:solidFill>
          <a:ln/>
        </p:spPr>
        <p:txBody>
          <a:bodyPr/>
          <a:lstStyle/>
          <a:p>
            <a:endParaRPr lang="en-US"/>
          </a:p>
        </p:txBody>
      </p:sp>
      <p:sp>
        <p:nvSpPr>
          <p:cNvPr id="83" name="Shape 81"/>
          <p:cNvSpPr/>
          <p:nvPr/>
        </p:nvSpPr>
        <p:spPr>
          <a:xfrm>
            <a:off x="10351008" y="2196213"/>
            <a:ext cx="36576" cy="36576"/>
          </a:xfrm>
          <a:prstGeom prst="ellipse">
            <a:avLst/>
          </a:prstGeom>
          <a:solidFill>
            <a:srgbClr val="84CCBD"/>
          </a:solidFill>
          <a:ln/>
        </p:spPr>
        <p:txBody>
          <a:bodyPr/>
          <a:lstStyle/>
          <a:p>
            <a:endParaRPr lang="en-US"/>
          </a:p>
        </p:txBody>
      </p:sp>
      <p:sp>
        <p:nvSpPr>
          <p:cNvPr id="84" name="Shape 82"/>
          <p:cNvSpPr/>
          <p:nvPr/>
        </p:nvSpPr>
        <p:spPr>
          <a:xfrm>
            <a:off x="10387584" y="2329133"/>
            <a:ext cx="36576" cy="36576"/>
          </a:xfrm>
          <a:prstGeom prst="ellipse">
            <a:avLst/>
          </a:prstGeom>
          <a:solidFill>
            <a:srgbClr val="84CCBD"/>
          </a:solidFill>
          <a:ln/>
        </p:spPr>
        <p:txBody>
          <a:bodyPr/>
          <a:lstStyle/>
          <a:p>
            <a:endParaRPr lang="en-US"/>
          </a:p>
        </p:txBody>
      </p:sp>
      <p:sp>
        <p:nvSpPr>
          <p:cNvPr id="85" name="Shape 83"/>
          <p:cNvSpPr/>
          <p:nvPr/>
        </p:nvSpPr>
        <p:spPr>
          <a:xfrm>
            <a:off x="10424160" y="2460316"/>
            <a:ext cx="36576" cy="36576"/>
          </a:xfrm>
          <a:prstGeom prst="ellipse">
            <a:avLst/>
          </a:prstGeom>
          <a:solidFill>
            <a:srgbClr val="84CCBD"/>
          </a:solidFill>
          <a:ln/>
        </p:spPr>
        <p:txBody>
          <a:bodyPr/>
          <a:lstStyle/>
          <a:p>
            <a:endParaRPr lang="en-US"/>
          </a:p>
        </p:txBody>
      </p:sp>
      <p:sp>
        <p:nvSpPr>
          <p:cNvPr id="86" name="Shape 84"/>
          <p:cNvSpPr/>
          <p:nvPr/>
        </p:nvSpPr>
        <p:spPr>
          <a:xfrm>
            <a:off x="10460736" y="2579213"/>
            <a:ext cx="36576" cy="36576"/>
          </a:xfrm>
          <a:prstGeom prst="ellipse">
            <a:avLst/>
          </a:prstGeom>
          <a:solidFill>
            <a:srgbClr val="84CCBD"/>
          </a:solidFill>
          <a:ln/>
        </p:spPr>
        <p:txBody>
          <a:bodyPr/>
          <a:lstStyle/>
          <a:p>
            <a:endParaRPr lang="en-US"/>
          </a:p>
        </p:txBody>
      </p:sp>
      <p:sp>
        <p:nvSpPr>
          <p:cNvPr id="87" name="Shape 85"/>
          <p:cNvSpPr/>
          <p:nvPr/>
        </p:nvSpPr>
        <p:spPr>
          <a:xfrm>
            <a:off x="10497312" y="2677901"/>
            <a:ext cx="36576" cy="36576"/>
          </a:xfrm>
          <a:prstGeom prst="ellipse">
            <a:avLst/>
          </a:prstGeom>
          <a:solidFill>
            <a:srgbClr val="84CCBD"/>
          </a:solidFill>
          <a:ln/>
        </p:spPr>
        <p:txBody>
          <a:bodyPr/>
          <a:lstStyle/>
          <a:p>
            <a:endParaRPr lang="en-US"/>
          </a:p>
        </p:txBody>
      </p:sp>
      <p:sp>
        <p:nvSpPr>
          <p:cNvPr id="88" name="Shape 86"/>
          <p:cNvSpPr/>
          <p:nvPr/>
        </p:nvSpPr>
        <p:spPr>
          <a:xfrm>
            <a:off x="10533888" y="2751164"/>
            <a:ext cx="36576" cy="36576"/>
          </a:xfrm>
          <a:prstGeom prst="ellipse">
            <a:avLst/>
          </a:prstGeom>
          <a:solidFill>
            <a:srgbClr val="84CCBD"/>
          </a:solidFill>
          <a:ln/>
        </p:spPr>
        <p:txBody>
          <a:bodyPr/>
          <a:lstStyle/>
          <a:p>
            <a:endParaRPr lang="en-US"/>
          </a:p>
        </p:txBody>
      </p:sp>
      <p:sp>
        <p:nvSpPr>
          <p:cNvPr id="89" name="Shape 87"/>
          <p:cNvSpPr/>
          <p:nvPr/>
        </p:nvSpPr>
        <p:spPr>
          <a:xfrm>
            <a:off x="10570464" y="2796035"/>
            <a:ext cx="36576" cy="36576"/>
          </a:xfrm>
          <a:prstGeom prst="ellipse">
            <a:avLst/>
          </a:prstGeom>
          <a:solidFill>
            <a:srgbClr val="84CCBD"/>
          </a:solidFill>
          <a:ln/>
        </p:spPr>
        <p:txBody>
          <a:bodyPr/>
          <a:lstStyle/>
          <a:p>
            <a:endParaRPr lang="en-US"/>
          </a:p>
        </p:txBody>
      </p:sp>
      <p:sp>
        <p:nvSpPr>
          <p:cNvPr id="90" name="Shape 88"/>
          <p:cNvSpPr/>
          <p:nvPr/>
        </p:nvSpPr>
        <p:spPr>
          <a:xfrm>
            <a:off x="10607040" y="2811123"/>
            <a:ext cx="36576" cy="36576"/>
          </a:xfrm>
          <a:prstGeom prst="ellipse">
            <a:avLst/>
          </a:prstGeom>
          <a:solidFill>
            <a:srgbClr val="84CCBD"/>
          </a:solidFill>
          <a:ln/>
        </p:spPr>
        <p:txBody>
          <a:bodyPr/>
          <a:lstStyle/>
          <a:p>
            <a:endParaRPr lang="en-US"/>
          </a:p>
        </p:txBody>
      </p:sp>
      <p:sp>
        <p:nvSpPr>
          <p:cNvPr id="91" name="Shape 89"/>
          <p:cNvSpPr/>
          <p:nvPr/>
        </p:nvSpPr>
        <p:spPr>
          <a:xfrm>
            <a:off x="10643616" y="2796035"/>
            <a:ext cx="36576" cy="36576"/>
          </a:xfrm>
          <a:prstGeom prst="ellipse">
            <a:avLst/>
          </a:prstGeom>
          <a:solidFill>
            <a:srgbClr val="84CCBD"/>
          </a:solidFill>
          <a:ln/>
        </p:spPr>
        <p:txBody>
          <a:bodyPr/>
          <a:lstStyle/>
          <a:p>
            <a:endParaRPr lang="en-US"/>
          </a:p>
        </p:txBody>
      </p:sp>
      <p:sp>
        <p:nvSpPr>
          <p:cNvPr id="92" name="Shape 90"/>
          <p:cNvSpPr/>
          <p:nvPr/>
        </p:nvSpPr>
        <p:spPr>
          <a:xfrm>
            <a:off x="10680192" y="2751164"/>
            <a:ext cx="36576" cy="36576"/>
          </a:xfrm>
          <a:prstGeom prst="ellipse">
            <a:avLst/>
          </a:prstGeom>
          <a:solidFill>
            <a:srgbClr val="84CCBD"/>
          </a:solidFill>
          <a:ln/>
        </p:spPr>
        <p:txBody>
          <a:bodyPr/>
          <a:lstStyle/>
          <a:p>
            <a:endParaRPr lang="en-US"/>
          </a:p>
        </p:txBody>
      </p:sp>
      <p:sp>
        <p:nvSpPr>
          <p:cNvPr id="93" name="Shape 91"/>
          <p:cNvSpPr/>
          <p:nvPr/>
        </p:nvSpPr>
        <p:spPr>
          <a:xfrm>
            <a:off x="10716768" y="2677901"/>
            <a:ext cx="36576" cy="36576"/>
          </a:xfrm>
          <a:prstGeom prst="ellipse">
            <a:avLst/>
          </a:prstGeom>
          <a:solidFill>
            <a:srgbClr val="84CCBD"/>
          </a:solidFill>
          <a:ln/>
        </p:spPr>
        <p:txBody>
          <a:bodyPr/>
          <a:lstStyle/>
          <a:p>
            <a:endParaRPr lang="en-US"/>
          </a:p>
        </p:txBody>
      </p:sp>
      <p:sp>
        <p:nvSpPr>
          <p:cNvPr id="94" name="Shape 92"/>
          <p:cNvSpPr/>
          <p:nvPr/>
        </p:nvSpPr>
        <p:spPr>
          <a:xfrm>
            <a:off x="10753344" y="2579213"/>
            <a:ext cx="36576" cy="36576"/>
          </a:xfrm>
          <a:prstGeom prst="ellipse">
            <a:avLst/>
          </a:prstGeom>
          <a:solidFill>
            <a:srgbClr val="84CCBD"/>
          </a:solidFill>
          <a:ln/>
        </p:spPr>
        <p:txBody>
          <a:bodyPr/>
          <a:lstStyle/>
          <a:p>
            <a:endParaRPr lang="en-US"/>
          </a:p>
        </p:txBody>
      </p:sp>
      <p:sp>
        <p:nvSpPr>
          <p:cNvPr id="95" name="Shape 93"/>
          <p:cNvSpPr/>
          <p:nvPr/>
        </p:nvSpPr>
        <p:spPr>
          <a:xfrm>
            <a:off x="10789920" y="2460317"/>
            <a:ext cx="36576" cy="36576"/>
          </a:xfrm>
          <a:prstGeom prst="ellipse">
            <a:avLst/>
          </a:prstGeom>
          <a:solidFill>
            <a:srgbClr val="84CCBD"/>
          </a:solidFill>
          <a:ln/>
        </p:spPr>
        <p:txBody>
          <a:bodyPr/>
          <a:lstStyle/>
          <a:p>
            <a:endParaRPr lang="en-US"/>
          </a:p>
        </p:txBody>
      </p:sp>
      <p:sp>
        <p:nvSpPr>
          <p:cNvPr id="96" name="Shape 94"/>
          <p:cNvSpPr/>
          <p:nvPr/>
        </p:nvSpPr>
        <p:spPr>
          <a:xfrm>
            <a:off x="10826496" y="2329134"/>
            <a:ext cx="36576" cy="36576"/>
          </a:xfrm>
          <a:prstGeom prst="ellipse">
            <a:avLst/>
          </a:prstGeom>
          <a:solidFill>
            <a:srgbClr val="84CCBD"/>
          </a:solidFill>
          <a:ln/>
        </p:spPr>
        <p:txBody>
          <a:bodyPr/>
          <a:lstStyle/>
          <a:p>
            <a:endParaRPr lang="en-US"/>
          </a:p>
        </p:txBody>
      </p:sp>
      <p:sp>
        <p:nvSpPr>
          <p:cNvPr id="97" name="Shape 95"/>
          <p:cNvSpPr/>
          <p:nvPr/>
        </p:nvSpPr>
        <p:spPr>
          <a:xfrm>
            <a:off x="10863072" y="2196214"/>
            <a:ext cx="36576" cy="36576"/>
          </a:xfrm>
          <a:prstGeom prst="ellipse">
            <a:avLst/>
          </a:prstGeom>
          <a:solidFill>
            <a:srgbClr val="84CCBD"/>
          </a:solidFill>
          <a:ln/>
        </p:spPr>
        <p:txBody>
          <a:bodyPr/>
          <a:lstStyle/>
          <a:p>
            <a:endParaRPr lang="en-US"/>
          </a:p>
        </p:txBody>
      </p:sp>
      <p:sp>
        <p:nvSpPr>
          <p:cNvPr id="98" name="Shape 96"/>
          <p:cNvSpPr/>
          <p:nvPr/>
        </p:nvSpPr>
        <p:spPr>
          <a:xfrm>
            <a:off x="10899648" y="2073933"/>
            <a:ext cx="36576" cy="36576"/>
          </a:xfrm>
          <a:prstGeom prst="ellipse">
            <a:avLst/>
          </a:prstGeom>
          <a:solidFill>
            <a:srgbClr val="84CCBD"/>
          </a:solidFill>
          <a:ln/>
        </p:spPr>
        <p:txBody>
          <a:bodyPr/>
          <a:lstStyle/>
          <a:p>
            <a:endParaRPr lang="en-US"/>
          </a:p>
        </p:txBody>
      </p:sp>
      <p:sp>
        <p:nvSpPr>
          <p:cNvPr id="99" name="Shape 97"/>
          <p:cNvSpPr/>
          <p:nvPr/>
        </p:nvSpPr>
        <p:spPr>
          <a:xfrm>
            <a:off x="10936224" y="1975001"/>
            <a:ext cx="36576" cy="36576"/>
          </a:xfrm>
          <a:prstGeom prst="ellipse">
            <a:avLst/>
          </a:prstGeom>
          <a:solidFill>
            <a:srgbClr val="84CCBD"/>
          </a:solidFill>
          <a:ln/>
        </p:spPr>
        <p:txBody>
          <a:bodyPr/>
          <a:lstStyle/>
          <a:p>
            <a:endParaRPr lang="en-US"/>
          </a:p>
        </p:txBody>
      </p:sp>
      <p:sp>
        <p:nvSpPr>
          <p:cNvPr id="100" name="Shape 98"/>
          <p:cNvSpPr/>
          <p:nvPr/>
        </p:nvSpPr>
        <p:spPr>
          <a:xfrm>
            <a:off x="10972800" y="1910540"/>
            <a:ext cx="36576" cy="36576"/>
          </a:xfrm>
          <a:prstGeom prst="ellipse">
            <a:avLst/>
          </a:prstGeom>
          <a:solidFill>
            <a:srgbClr val="84CCBD"/>
          </a:solidFill>
          <a:ln/>
        </p:spPr>
        <p:txBody>
          <a:bodyPr/>
          <a:lstStyle/>
          <a:p>
            <a:endParaRPr lang="en-US"/>
          </a:p>
        </p:txBody>
      </p:sp>
      <p:sp>
        <p:nvSpPr>
          <p:cNvPr id="101" name="Shape 99"/>
          <p:cNvSpPr/>
          <p:nvPr/>
        </p:nvSpPr>
        <p:spPr>
          <a:xfrm>
            <a:off x="11009376" y="1888179"/>
            <a:ext cx="36576" cy="36576"/>
          </a:xfrm>
          <a:prstGeom prst="ellipse">
            <a:avLst/>
          </a:prstGeom>
          <a:solidFill>
            <a:srgbClr val="84CCBD"/>
          </a:solidFill>
          <a:ln/>
        </p:spPr>
        <p:txBody>
          <a:bodyPr/>
          <a:lstStyle/>
          <a:p>
            <a:endParaRPr lang="en-US"/>
          </a:p>
        </p:txBody>
      </p:sp>
      <p:sp>
        <p:nvSpPr>
          <p:cNvPr id="102" name="Shape 100"/>
          <p:cNvSpPr/>
          <p:nvPr/>
        </p:nvSpPr>
        <p:spPr>
          <a:xfrm>
            <a:off x="11045952" y="1910655"/>
            <a:ext cx="36576" cy="36576"/>
          </a:xfrm>
          <a:prstGeom prst="ellipse">
            <a:avLst/>
          </a:prstGeom>
          <a:solidFill>
            <a:srgbClr val="84CCBD"/>
          </a:solidFill>
          <a:ln/>
        </p:spPr>
        <p:txBody>
          <a:bodyPr/>
          <a:lstStyle/>
          <a:p>
            <a:endParaRPr lang="en-US"/>
          </a:p>
        </p:txBody>
      </p:sp>
      <p:sp>
        <p:nvSpPr>
          <p:cNvPr id="103" name="Shape 101"/>
          <p:cNvSpPr/>
          <p:nvPr/>
        </p:nvSpPr>
        <p:spPr>
          <a:xfrm>
            <a:off x="11082528" y="1975309"/>
            <a:ext cx="36576" cy="36576"/>
          </a:xfrm>
          <a:prstGeom prst="ellipse">
            <a:avLst/>
          </a:prstGeom>
          <a:solidFill>
            <a:srgbClr val="84CCBD"/>
          </a:solidFill>
          <a:ln/>
        </p:spPr>
        <p:txBody>
          <a:bodyPr/>
          <a:lstStyle/>
          <a:p>
            <a:endParaRPr lang="en-US"/>
          </a:p>
        </p:txBody>
      </p:sp>
      <p:sp>
        <p:nvSpPr>
          <p:cNvPr id="104" name="Shape 102"/>
          <p:cNvSpPr/>
          <p:nvPr/>
        </p:nvSpPr>
        <p:spPr>
          <a:xfrm>
            <a:off x="11119104" y="2074632"/>
            <a:ext cx="36576" cy="36576"/>
          </a:xfrm>
          <a:prstGeom prst="ellipse">
            <a:avLst/>
          </a:prstGeom>
          <a:solidFill>
            <a:srgbClr val="84CCBD"/>
          </a:solidFill>
          <a:ln/>
        </p:spPr>
        <p:txBody>
          <a:bodyPr/>
          <a:lstStyle/>
          <a:p>
            <a:endParaRPr lang="en-US"/>
          </a:p>
        </p:txBody>
      </p:sp>
      <p:sp>
        <p:nvSpPr>
          <p:cNvPr id="105" name="Shape 103"/>
          <p:cNvSpPr/>
          <p:nvPr/>
        </p:nvSpPr>
        <p:spPr>
          <a:xfrm>
            <a:off x="11155680" y="2197707"/>
            <a:ext cx="36576" cy="36576"/>
          </a:xfrm>
          <a:prstGeom prst="ellipse">
            <a:avLst/>
          </a:prstGeom>
          <a:solidFill>
            <a:srgbClr val="84CCBD"/>
          </a:solidFill>
          <a:ln/>
        </p:spPr>
        <p:txBody>
          <a:bodyPr/>
          <a:lstStyle/>
          <a:p>
            <a:endParaRPr lang="en-US"/>
          </a:p>
        </p:txBody>
      </p:sp>
      <p:sp>
        <p:nvSpPr>
          <p:cNvPr id="106" name="Shape 104"/>
          <p:cNvSpPr/>
          <p:nvPr/>
        </p:nvSpPr>
        <p:spPr>
          <a:xfrm>
            <a:off x="11192256" y="2332185"/>
            <a:ext cx="36576" cy="36576"/>
          </a:xfrm>
          <a:prstGeom prst="ellipse">
            <a:avLst/>
          </a:prstGeom>
          <a:solidFill>
            <a:srgbClr val="84CCBD"/>
          </a:solidFill>
          <a:ln/>
        </p:spPr>
        <p:txBody>
          <a:bodyPr/>
          <a:lstStyle/>
          <a:p>
            <a:endParaRPr lang="en-US"/>
          </a:p>
        </p:txBody>
      </p:sp>
      <p:sp>
        <p:nvSpPr>
          <p:cNvPr id="107" name="Shape 105"/>
          <p:cNvSpPr/>
          <p:nvPr/>
        </p:nvSpPr>
        <p:spPr>
          <a:xfrm>
            <a:off x="11228832" y="2466300"/>
            <a:ext cx="36576" cy="36576"/>
          </a:xfrm>
          <a:prstGeom prst="ellipse">
            <a:avLst/>
          </a:prstGeom>
          <a:solidFill>
            <a:srgbClr val="84CCBD"/>
          </a:solidFill>
          <a:ln/>
        </p:spPr>
        <p:txBody>
          <a:bodyPr/>
          <a:lstStyle/>
          <a:p>
            <a:endParaRPr lang="en-US"/>
          </a:p>
        </p:txBody>
      </p:sp>
      <p:sp>
        <p:nvSpPr>
          <p:cNvPr id="108" name="Shape 106"/>
          <p:cNvSpPr/>
          <p:nvPr/>
        </p:nvSpPr>
        <p:spPr>
          <a:xfrm>
            <a:off x="11265408" y="2590478"/>
            <a:ext cx="36576" cy="36576"/>
          </a:xfrm>
          <a:prstGeom prst="ellipse">
            <a:avLst/>
          </a:prstGeom>
          <a:solidFill>
            <a:srgbClr val="84CCBD"/>
          </a:solidFill>
          <a:ln/>
        </p:spPr>
        <p:txBody>
          <a:bodyPr/>
          <a:lstStyle/>
          <a:p>
            <a:endParaRPr lang="en-US"/>
          </a:p>
        </p:txBody>
      </p:sp>
      <p:sp>
        <p:nvSpPr>
          <p:cNvPr id="109" name="Shape 107"/>
          <p:cNvSpPr/>
          <p:nvPr/>
        </p:nvSpPr>
        <p:spPr>
          <a:xfrm>
            <a:off x="11301984" y="2698258"/>
            <a:ext cx="36576" cy="36576"/>
          </a:xfrm>
          <a:prstGeom prst="ellipse">
            <a:avLst/>
          </a:prstGeom>
          <a:solidFill>
            <a:srgbClr val="84CCBD"/>
          </a:solidFill>
          <a:ln/>
        </p:spPr>
        <p:txBody>
          <a:bodyPr/>
          <a:lstStyle/>
          <a:p>
            <a:endParaRPr lang="en-US"/>
          </a:p>
        </p:txBody>
      </p:sp>
      <p:sp>
        <p:nvSpPr>
          <p:cNvPr id="110" name="Shape 108"/>
          <p:cNvSpPr/>
          <p:nvPr/>
        </p:nvSpPr>
        <p:spPr>
          <a:xfrm>
            <a:off x="11338560" y="2786482"/>
            <a:ext cx="36576" cy="36576"/>
          </a:xfrm>
          <a:prstGeom prst="ellipse">
            <a:avLst/>
          </a:prstGeom>
          <a:solidFill>
            <a:srgbClr val="84CCBD"/>
          </a:solidFill>
          <a:ln/>
        </p:spPr>
        <p:txBody>
          <a:bodyPr/>
          <a:lstStyle/>
          <a:p>
            <a:endParaRPr lang="en-US"/>
          </a:p>
        </p:txBody>
      </p:sp>
      <p:sp>
        <p:nvSpPr>
          <p:cNvPr id="111" name="Shape 109"/>
          <p:cNvSpPr/>
          <p:nvPr/>
        </p:nvSpPr>
        <p:spPr>
          <a:xfrm>
            <a:off x="11375136" y="2854858"/>
            <a:ext cx="36576" cy="36576"/>
          </a:xfrm>
          <a:prstGeom prst="ellipse">
            <a:avLst/>
          </a:prstGeom>
          <a:solidFill>
            <a:srgbClr val="84CCBD"/>
          </a:solidFill>
          <a:ln/>
        </p:spPr>
        <p:txBody>
          <a:bodyPr/>
          <a:lstStyle/>
          <a:p>
            <a:endParaRPr lang="en-US"/>
          </a:p>
        </p:txBody>
      </p:sp>
      <p:sp>
        <p:nvSpPr>
          <p:cNvPr id="112" name="Shape 110"/>
          <p:cNvSpPr/>
          <p:nvPr/>
        </p:nvSpPr>
        <p:spPr>
          <a:xfrm>
            <a:off x="11411712" y="2905177"/>
            <a:ext cx="36576" cy="36576"/>
          </a:xfrm>
          <a:prstGeom prst="ellipse">
            <a:avLst/>
          </a:prstGeom>
          <a:solidFill>
            <a:srgbClr val="84CCBD"/>
          </a:solidFill>
          <a:ln/>
        </p:spPr>
        <p:txBody>
          <a:bodyPr/>
          <a:lstStyle/>
          <a:p>
            <a:endParaRPr lang="en-US"/>
          </a:p>
        </p:txBody>
      </p:sp>
      <p:sp>
        <p:nvSpPr>
          <p:cNvPr id="113" name="Text 111"/>
          <p:cNvSpPr txBox="1"/>
          <p:nvPr/>
        </p:nvSpPr>
        <p:spPr>
          <a:xfrm>
            <a:off x="7406640" y="3063240"/>
            <a:ext cx="4023360" cy="256032"/>
          </a:xfrm>
          <a:prstGeom prst="rect">
            <a:avLst/>
          </a:prstGeom>
          <a:noFill/>
          <a:ln/>
        </p:spPr>
        <p:txBody>
          <a:bodyPr wrap="square" lIns="0" tIns="0" rIns="0" bIns="0" rtlCol="0" anchor="ctr"/>
          <a:lstStyle/>
          <a:p>
            <a:pPr marL="0" indent="0" algn="ctr">
              <a:buNone/>
            </a:pPr>
            <a:r>
              <a:rPr lang="en-US" sz="1100" i="1" dirty="0">
                <a:solidFill>
                  <a:srgbClr val="84CCBD"/>
                </a:solidFill>
                <a:latin typeface="Calibri" pitchFamily="34" charset="0"/>
                <a:ea typeface="Calibri" pitchFamily="34" charset="-122"/>
                <a:cs typeface="Calibri" pitchFamily="34" charset="-120"/>
              </a:rPr>
              <a:t>the world</a:t>
            </a:r>
            <a:endParaRPr lang="en-US" sz="1100" dirty="0"/>
          </a:p>
        </p:txBody>
      </p:sp>
      <p:sp>
        <p:nvSpPr>
          <p:cNvPr id="114" name="Shape 112"/>
          <p:cNvSpPr/>
          <p:nvPr/>
        </p:nvSpPr>
        <p:spPr>
          <a:xfrm>
            <a:off x="7388352" y="4690872"/>
            <a:ext cx="36576" cy="36576"/>
          </a:xfrm>
          <a:prstGeom prst="ellipse">
            <a:avLst/>
          </a:prstGeom>
          <a:solidFill>
            <a:srgbClr val="DFA9C4"/>
          </a:solidFill>
          <a:ln/>
        </p:spPr>
        <p:txBody>
          <a:bodyPr/>
          <a:lstStyle/>
          <a:p>
            <a:endParaRPr lang="en-US"/>
          </a:p>
        </p:txBody>
      </p:sp>
      <p:sp>
        <p:nvSpPr>
          <p:cNvPr id="115" name="Shape 113"/>
          <p:cNvSpPr/>
          <p:nvPr/>
        </p:nvSpPr>
        <p:spPr>
          <a:xfrm>
            <a:off x="7424928" y="4690872"/>
            <a:ext cx="36576" cy="36576"/>
          </a:xfrm>
          <a:prstGeom prst="ellipse">
            <a:avLst/>
          </a:prstGeom>
          <a:solidFill>
            <a:srgbClr val="DFA9C4"/>
          </a:solidFill>
          <a:ln/>
        </p:spPr>
        <p:txBody>
          <a:bodyPr/>
          <a:lstStyle/>
          <a:p>
            <a:endParaRPr lang="en-US"/>
          </a:p>
        </p:txBody>
      </p:sp>
      <p:sp>
        <p:nvSpPr>
          <p:cNvPr id="116" name="Shape 114"/>
          <p:cNvSpPr/>
          <p:nvPr/>
        </p:nvSpPr>
        <p:spPr>
          <a:xfrm>
            <a:off x="7461504" y="4690872"/>
            <a:ext cx="36576" cy="36576"/>
          </a:xfrm>
          <a:prstGeom prst="ellipse">
            <a:avLst/>
          </a:prstGeom>
          <a:solidFill>
            <a:srgbClr val="DFA9C4"/>
          </a:solidFill>
          <a:ln/>
        </p:spPr>
        <p:txBody>
          <a:bodyPr/>
          <a:lstStyle/>
          <a:p>
            <a:endParaRPr lang="en-US"/>
          </a:p>
        </p:txBody>
      </p:sp>
      <p:sp>
        <p:nvSpPr>
          <p:cNvPr id="117" name="Shape 115"/>
          <p:cNvSpPr/>
          <p:nvPr/>
        </p:nvSpPr>
        <p:spPr>
          <a:xfrm>
            <a:off x="7498080" y="4690872"/>
            <a:ext cx="36576" cy="36576"/>
          </a:xfrm>
          <a:prstGeom prst="ellipse">
            <a:avLst/>
          </a:prstGeom>
          <a:solidFill>
            <a:srgbClr val="DFA9C4"/>
          </a:solidFill>
          <a:ln/>
        </p:spPr>
        <p:txBody>
          <a:bodyPr/>
          <a:lstStyle/>
          <a:p>
            <a:endParaRPr lang="en-US"/>
          </a:p>
        </p:txBody>
      </p:sp>
      <p:sp>
        <p:nvSpPr>
          <p:cNvPr id="118" name="Shape 116"/>
          <p:cNvSpPr/>
          <p:nvPr/>
        </p:nvSpPr>
        <p:spPr>
          <a:xfrm>
            <a:off x="7534656" y="4690872"/>
            <a:ext cx="36576" cy="36576"/>
          </a:xfrm>
          <a:prstGeom prst="ellipse">
            <a:avLst/>
          </a:prstGeom>
          <a:solidFill>
            <a:srgbClr val="DFA9C4"/>
          </a:solidFill>
          <a:ln/>
        </p:spPr>
        <p:txBody>
          <a:bodyPr/>
          <a:lstStyle/>
          <a:p>
            <a:endParaRPr lang="en-US"/>
          </a:p>
        </p:txBody>
      </p:sp>
      <p:sp>
        <p:nvSpPr>
          <p:cNvPr id="119" name="Shape 117"/>
          <p:cNvSpPr/>
          <p:nvPr/>
        </p:nvSpPr>
        <p:spPr>
          <a:xfrm>
            <a:off x="7571232" y="4690872"/>
            <a:ext cx="36576" cy="36576"/>
          </a:xfrm>
          <a:prstGeom prst="ellipse">
            <a:avLst/>
          </a:prstGeom>
          <a:solidFill>
            <a:srgbClr val="DFA9C4"/>
          </a:solidFill>
          <a:ln/>
        </p:spPr>
        <p:txBody>
          <a:bodyPr/>
          <a:lstStyle/>
          <a:p>
            <a:endParaRPr lang="en-US"/>
          </a:p>
        </p:txBody>
      </p:sp>
      <p:sp>
        <p:nvSpPr>
          <p:cNvPr id="120" name="Shape 118"/>
          <p:cNvSpPr/>
          <p:nvPr/>
        </p:nvSpPr>
        <p:spPr>
          <a:xfrm>
            <a:off x="7607808" y="4690872"/>
            <a:ext cx="36576" cy="36576"/>
          </a:xfrm>
          <a:prstGeom prst="ellipse">
            <a:avLst/>
          </a:prstGeom>
          <a:solidFill>
            <a:srgbClr val="DFA9C4"/>
          </a:solidFill>
          <a:ln/>
        </p:spPr>
        <p:txBody>
          <a:bodyPr/>
          <a:lstStyle/>
          <a:p>
            <a:endParaRPr lang="en-US"/>
          </a:p>
        </p:txBody>
      </p:sp>
      <p:sp>
        <p:nvSpPr>
          <p:cNvPr id="121" name="Shape 119"/>
          <p:cNvSpPr/>
          <p:nvPr/>
        </p:nvSpPr>
        <p:spPr>
          <a:xfrm>
            <a:off x="7644384" y="4690872"/>
            <a:ext cx="36576" cy="36576"/>
          </a:xfrm>
          <a:prstGeom prst="ellipse">
            <a:avLst/>
          </a:prstGeom>
          <a:solidFill>
            <a:srgbClr val="DFA9C4"/>
          </a:solidFill>
          <a:ln/>
        </p:spPr>
        <p:txBody>
          <a:bodyPr/>
          <a:lstStyle/>
          <a:p>
            <a:endParaRPr lang="en-US"/>
          </a:p>
        </p:txBody>
      </p:sp>
      <p:sp>
        <p:nvSpPr>
          <p:cNvPr id="122" name="Shape 120"/>
          <p:cNvSpPr/>
          <p:nvPr/>
        </p:nvSpPr>
        <p:spPr>
          <a:xfrm>
            <a:off x="7680960" y="4690872"/>
            <a:ext cx="36576" cy="36576"/>
          </a:xfrm>
          <a:prstGeom prst="ellipse">
            <a:avLst/>
          </a:prstGeom>
          <a:solidFill>
            <a:srgbClr val="DFA9C4"/>
          </a:solidFill>
          <a:ln/>
        </p:spPr>
        <p:txBody>
          <a:bodyPr/>
          <a:lstStyle/>
          <a:p>
            <a:endParaRPr lang="en-US"/>
          </a:p>
        </p:txBody>
      </p:sp>
      <p:sp>
        <p:nvSpPr>
          <p:cNvPr id="123" name="Shape 121"/>
          <p:cNvSpPr/>
          <p:nvPr/>
        </p:nvSpPr>
        <p:spPr>
          <a:xfrm>
            <a:off x="7717536" y="4690872"/>
            <a:ext cx="36576" cy="36576"/>
          </a:xfrm>
          <a:prstGeom prst="ellipse">
            <a:avLst/>
          </a:prstGeom>
          <a:solidFill>
            <a:srgbClr val="DFA9C4"/>
          </a:solidFill>
          <a:ln/>
        </p:spPr>
        <p:txBody>
          <a:bodyPr/>
          <a:lstStyle/>
          <a:p>
            <a:endParaRPr lang="en-US"/>
          </a:p>
        </p:txBody>
      </p:sp>
      <p:sp>
        <p:nvSpPr>
          <p:cNvPr id="124" name="Shape 122"/>
          <p:cNvSpPr/>
          <p:nvPr/>
        </p:nvSpPr>
        <p:spPr>
          <a:xfrm>
            <a:off x="7754112" y="4690872"/>
            <a:ext cx="36576" cy="36576"/>
          </a:xfrm>
          <a:prstGeom prst="ellipse">
            <a:avLst/>
          </a:prstGeom>
          <a:solidFill>
            <a:srgbClr val="DFA9C4"/>
          </a:solidFill>
          <a:ln/>
        </p:spPr>
        <p:txBody>
          <a:bodyPr/>
          <a:lstStyle/>
          <a:p>
            <a:endParaRPr lang="en-US"/>
          </a:p>
        </p:txBody>
      </p:sp>
      <p:sp>
        <p:nvSpPr>
          <p:cNvPr id="125" name="Shape 123"/>
          <p:cNvSpPr/>
          <p:nvPr/>
        </p:nvSpPr>
        <p:spPr>
          <a:xfrm>
            <a:off x="7790688" y="4690872"/>
            <a:ext cx="36576" cy="36576"/>
          </a:xfrm>
          <a:prstGeom prst="ellipse">
            <a:avLst/>
          </a:prstGeom>
          <a:solidFill>
            <a:srgbClr val="DFA9C4"/>
          </a:solidFill>
          <a:ln/>
        </p:spPr>
        <p:txBody>
          <a:bodyPr/>
          <a:lstStyle/>
          <a:p>
            <a:endParaRPr lang="en-US"/>
          </a:p>
        </p:txBody>
      </p:sp>
      <p:sp>
        <p:nvSpPr>
          <p:cNvPr id="126" name="Shape 124"/>
          <p:cNvSpPr/>
          <p:nvPr/>
        </p:nvSpPr>
        <p:spPr>
          <a:xfrm>
            <a:off x="7827264" y="4690872"/>
            <a:ext cx="36576" cy="36576"/>
          </a:xfrm>
          <a:prstGeom prst="ellipse">
            <a:avLst/>
          </a:prstGeom>
          <a:solidFill>
            <a:srgbClr val="DFA9C4"/>
          </a:solidFill>
          <a:ln/>
        </p:spPr>
        <p:txBody>
          <a:bodyPr/>
          <a:lstStyle/>
          <a:p>
            <a:endParaRPr lang="en-US"/>
          </a:p>
        </p:txBody>
      </p:sp>
      <p:sp>
        <p:nvSpPr>
          <p:cNvPr id="127" name="Shape 125"/>
          <p:cNvSpPr/>
          <p:nvPr/>
        </p:nvSpPr>
        <p:spPr>
          <a:xfrm>
            <a:off x="7863840" y="4690872"/>
            <a:ext cx="36576" cy="36576"/>
          </a:xfrm>
          <a:prstGeom prst="ellipse">
            <a:avLst/>
          </a:prstGeom>
          <a:solidFill>
            <a:srgbClr val="DFA9C4"/>
          </a:solidFill>
          <a:ln/>
        </p:spPr>
        <p:txBody>
          <a:bodyPr/>
          <a:lstStyle/>
          <a:p>
            <a:endParaRPr lang="en-US"/>
          </a:p>
        </p:txBody>
      </p:sp>
      <p:sp>
        <p:nvSpPr>
          <p:cNvPr id="128" name="Shape 126"/>
          <p:cNvSpPr/>
          <p:nvPr/>
        </p:nvSpPr>
        <p:spPr>
          <a:xfrm>
            <a:off x="7900416" y="4690872"/>
            <a:ext cx="36576" cy="36576"/>
          </a:xfrm>
          <a:prstGeom prst="ellipse">
            <a:avLst/>
          </a:prstGeom>
          <a:solidFill>
            <a:srgbClr val="DFA9C4"/>
          </a:solidFill>
          <a:ln/>
        </p:spPr>
        <p:txBody>
          <a:bodyPr/>
          <a:lstStyle/>
          <a:p>
            <a:endParaRPr lang="en-US"/>
          </a:p>
        </p:txBody>
      </p:sp>
      <p:sp>
        <p:nvSpPr>
          <p:cNvPr id="129" name="Shape 127"/>
          <p:cNvSpPr/>
          <p:nvPr/>
        </p:nvSpPr>
        <p:spPr>
          <a:xfrm>
            <a:off x="7936992" y="4690872"/>
            <a:ext cx="36576" cy="36576"/>
          </a:xfrm>
          <a:prstGeom prst="ellipse">
            <a:avLst/>
          </a:prstGeom>
          <a:solidFill>
            <a:srgbClr val="DFA9C4"/>
          </a:solidFill>
          <a:ln/>
        </p:spPr>
        <p:txBody>
          <a:bodyPr/>
          <a:lstStyle/>
          <a:p>
            <a:endParaRPr lang="en-US"/>
          </a:p>
        </p:txBody>
      </p:sp>
      <p:sp>
        <p:nvSpPr>
          <p:cNvPr id="130" name="Shape 128"/>
          <p:cNvSpPr/>
          <p:nvPr/>
        </p:nvSpPr>
        <p:spPr>
          <a:xfrm>
            <a:off x="7973568" y="4690872"/>
            <a:ext cx="36576" cy="36576"/>
          </a:xfrm>
          <a:prstGeom prst="ellipse">
            <a:avLst/>
          </a:prstGeom>
          <a:solidFill>
            <a:srgbClr val="DFA9C4"/>
          </a:solidFill>
          <a:ln/>
        </p:spPr>
        <p:txBody>
          <a:bodyPr/>
          <a:lstStyle/>
          <a:p>
            <a:endParaRPr lang="en-US"/>
          </a:p>
        </p:txBody>
      </p:sp>
      <p:sp>
        <p:nvSpPr>
          <p:cNvPr id="131" name="Shape 129"/>
          <p:cNvSpPr/>
          <p:nvPr/>
        </p:nvSpPr>
        <p:spPr>
          <a:xfrm>
            <a:off x="8010144" y="4690872"/>
            <a:ext cx="36576" cy="36576"/>
          </a:xfrm>
          <a:prstGeom prst="ellipse">
            <a:avLst/>
          </a:prstGeom>
          <a:solidFill>
            <a:srgbClr val="DFA9C4"/>
          </a:solidFill>
          <a:ln/>
        </p:spPr>
        <p:txBody>
          <a:bodyPr/>
          <a:lstStyle/>
          <a:p>
            <a:endParaRPr lang="en-US"/>
          </a:p>
        </p:txBody>
      </p:sp>
      <p:sp>
        <p:nvSpPr>
          <p:cNvPr id="132" name="Shape 130"/>
          <p:cNvSpPr/>
          <p:nvPr/>
        </p:nvSpPr>
        <p:spPr>
          <a:xfrm>
            <a:off x="8046720" y="4690872"/>
            <a:ext cx="36576" cy="36576"/>
          </a:xfrm>
          <a:prstGeom prst="ellipse">
            <a:avLst/>
          </a:prstGeom>
          <a:solidFill>
            <a:srgbClr val="DFA9C4"/>
          </a:solidFill>
          <a:ln/>
        </p:spPr>
        <p:txBody>
          <a:bodyPr/>
          <a:lstStyle/>
          <a:p>
            <a:endParaRPr lang="en-US"/>
          </a:p>
        </p:txBody>
      </p:sp>
      <p:sp>
        <p:nvSpPr>
          <p:cNvPr id="133" name="Shape 131"/>
          <p:cNvSpPr/>
          <p:nvPr/>
        </p:nvSpPr>
        <p:spPr>
          <a:xfrm>
            <a:off x="8083296" y="4690872"/>
            <a:ext cx="36576" cy="36576"/>
          </a:xfrm>
          <a:prstGeom prst="ellipse">
            <a:avLst/>
          </a:prstGeom>
          <a:solidFill>
            <a:srgbClr val="DFA9C4"/>
          </a:solidFill>
          <a:ln/>
        </p:spPr>
        <p:txBody>
          <a:bodyPr/>
          <a:lstStyle/>
          <a:p>
            <a:endParaRPr lang="en-US"/>
          </a:p>
        </p:txBody>
      </p:sp>
      <p:sp>
        <p:nvSpPr>
          <p:cNvPr id="134" name="Shape 132"/>
          <p:cNvSpPr/>
          <p:nvPr/>
        </p:nvSpPr>
        <p:spPr>
          <a:xfrm>
            <a:off x="8119872" y="4690872"/>
            <a:ext cx="36576" cy="36576"/>
          </a:xfrm>
          <a:prstGeom prst="ellipse">
            <a:avLst/>
          </a:prstGeom>
          <a:solidFill>
            <a:srgbClr val="DFA9C4"/>
          </a:solidFill>
          <a:ln/>
        </p:spPr>
        <p:txBody>
          <a:bodyPr/>
          <a:lstStyle/>
          <a:p>
            <a:endParaRPr lang="en-US"/>
          </a:p>
        </p:txBody>
      </p:sp>
      <p:sp>
        <p:nvSpPr>
          <p:cNvPr id="135" name="Shape 133"/>
          <p:cNvSpPr/>
          <p:nvPr/>
        </p:nvSpPr>
        <p:spPr>
          <a:xfrm>
            <a:off x="8156448" y="4690872"/>
            <a:ext cx="36576" cy="36576"/>
          </a:xfrm>
          <a:prstGeom prst="ellipse">
            <a:avLst/>
          </a:prstGeom>
          <a:solidFill>
            <a:srgbClr val="DFA9C4"/>
          </a:solidFill>
          <a:ln/>
        </p:spPr>
        <p:txBody>
          <a:bodyPr/>
          <a:lstStyle/>
          <a:p>
            <a:endParaRPr lang="en-US"/>
          </a:p>
        </p:txBody>
      </p:sp>
      <p:sp>
        <p:nvSpPr>
          <p:cNvPr id="136" name="Shape 134"/>
          <p:cNvSpPr/>
          <p:nvPr/>
        </p:nvSpPr>
        <p:spPr>
          <a:xfrm>
            <a:off x="8193024" y="4690872"/>
            <a:ext cx="36576" cy="36576"/>
          </a:xfrm>
          <a:prstGeom prst="ellipse">
            <a:avLst/>
          </a:prstGeom>
          <a:solidFill>
            <a:srgbClr val="DFA9C4"/>
          </a:solidFill>
          <a:ln/>
        </p:spPr>
        <p:txBody>
          <a:bodyPr/>
          <a:lstStyle/>
          <a:p>
            <a:endParaRPr lang="en-US"/>
          </a:p>
        </p:txBody>
      </p:sp>
      <p:sp>
        <p:nvSpPr>
          <p:cNvPr id="137" name="Shape 135"/>
          <p:cNvSpPr/>
          <p:nvPr/>
        </p:nvSpPr>
        <p:spPr>
          <a:xfrm>
            <a:off x="8229600" y="4690872"/>
            <a:ext cx="36576" cy="36576"/>
          </a:xfrm>
          <a:prstGeom prst="ellipse">
            <a:avLst/>
          </a:prstGeom>
          <a:solidFill>
            <a:srgbClr val="DFA9C4"/>
          </a:solidFill>
          <a:ln/>
        </p:spPr>
        <p:txBody>
          <a:bodyPr/>
          <a:lstStyle/>
          <a:p>
            <a:endParaRPr lang="en-US"/>
          </a:p>
        </p:txBody>
      </p:sp>
      <p:sp>
        <p:nvSpPr>
          <p:cNvPr id="138" name="Shape 136"/>
          <p:cNvSpPr/>
          <p:nvPr/>
        </p:nvSpPr>
        <p:spPr>
          <a:xfrm>
            <a:off x="8266176" y="4690872"/>
            <a:ext cx="36576" cy="36576"/>
          </a:xfrm>
          <a:prstGeom prst="ellipse">
            <a:avLst/>
          </a:prstGeom>
          <a:solidFill>
            <a:srgbClr val="DFA9C4"/>
          </a:solidFill>
          <a:ln/>
        </p:spPr>
        <p:txBody>
          <a:bodyPr/>
          <a:lstStyle/>
          <a:p>
            <a:endParaRPr lang="en-US"/>
          </a:p>
        </p:txBody>
      </p:sp>
      <p:sp>
        <p:nvSpPr>
          <p:cNvPr id="139" name="Shape 137"/>
          <p:cNvSpPr/>
          <p:nvPr/>
        </p:nvSpPr>
        <p:spPr>
          <a:xfrm>
            <a:off x="8302752" y="4690872"/>
            <a:ext cx="36576" cy="36576"/>
          </a:xfrm>
          <a:prstGeom prst="ellipse">
            <a:avLst/>
          </a:prstGeom>
          <a:solidFill>
            <a:srgbClr val="DFA9C4"/>
          </a:solidFill>
          <a:ln/>
        </p:spPr>
        <p:txBody>
          <a:bodyPr/>
          <a:lstStyle/>
          <a:p>
            <a:endParaRPr lang="en-US"/>
          </a:p>
        </p:txBody>
      </p:sp>
      <p:sp>
        <p:nvSpPr>
          <p:cNvPr id="140" name="Shape 138"/>
          <p:cNvSpPr/>
          <p:nvPr/>
        </p:nvSpPr>
        <p:spPr>
          <a:xfrm>
            <a:off x="8339328" y="4690872"/>
            <a:ext cx="36576" cy="36576"/>
          </a:xfrm>
          <a:prstGeom prst="ellipse">
            <a:avLst/>
          </a:prstGeom>
          <a:solidFill>
            <a:srgbClr val="DFA9C4"/>
          </a:solidFill>
          <a:ln/>
        </p:spPr>
        <p:txBody>
          <a:bodyPr/>
          <a:lstStyle/>
          <a:p>
            <a:endParaRPr lang="en-US"/>
          </a:p>
        </p:txBody>
      </p:sp>
      <p:sp>
        <p:nvSpPr>
          <p:cNvPr id="141" name="Shape 139"/>
          <p:cNvSpPr/>
          <p:nvPr/>
        </p:nvSpPr>
        <p:spPr>
          <a:xfrm>
            <a:off x="8375904" y="4690872"/>
            <a:ext cx="36576" cy="36576"/>
          </a:xfrm>
          <a:prstGeom prst="ellipse">
            <a:avLst/>
          </a:prstGeom>
          <a:solidFill>
            <a:srgbClr val="DFA9C4"/>
          </a:solidFill>
          <a:ln/>
        </p:spPr>
        <p:txBody>
          <a:bodyPr/>
          <a:lstStyle/>
          <a:p>
            <a:endParaRPr lang="en-US"/>
          </a:p>
        </p:txBody>
      </p:sp>
      <p:sp>
        <p:nvSpPr>
          <p:cNvPr id="142" name="Shape 140"/>
          <p:cNvSpPr/>
          <p:nvPr/>
        </p:nvSpPr>
        <p:spPr>
          <a:xfrm>
            <a:off x="8412480" y="4690872"/>
            <a:ext cx="36576" cy="36576"/>
          </a:xfrm>
          <a:prstGeom prst="ellipse">
            <a:avLst/>
          </a:prstGeom>
          <a:solidFill>
            <a:srgbClr val="DFA9C4"/>
          </a:solidFill>
          <a:ln/>
        </p:spPr>
        <p:txBody>
          <a:bodyPr/>
          <a:lstStyle/>
          <a:p>
            <a:endParaRPr lang="en-US"/>
          </a:p>
        </p:txBody>
      </p:sp>
      <p:sp>
        <p:nvSpPr>
          <p:cNvPr id="143" name="Shape 141"/>
          <p:cNvSpPr/>
          <p:nvPr/>
        </p:nvSpPr>
        <p:spPr>
          <a:xfrm>
            <a:off x="8449056" y="4690872"/>
            <a:ext cx="36576" cy="36576"/>
          </a:xfrm>
          <a:prstGeom prst="ellipse">
            <a:avLst/>
          </a:prstGeom>
          <a:solidFill>
            <a:srgbClr val="DFA9C4"/>
          </a:solidFill>
          <a:ln/>
        </p:spPr>
        <p:txBody>
          <a:bodyPr/>
          <a:lstStyle/>
          <a:p>
            <a:endParaRPr lang="en-US"/>
          </a:p>
        </p:txBody>
      </p:sp>
      <p:sp>
        <p:nvSpPr>
          <p:cNvPr id="144" name="Shape 142"/>
          <p:cNvSpPr/>
          <p:nvPr/>
        </p:nvSpPr>
        <p:spPr>
          <a:xfrm>
            <a:off x="8485632" y="4690872"/>
            <a:ext cx="36576" cy="36576"/>
          </a:xfrm>
          <a:prstGeom prst="ellipse">
            <a:avLst/>
          </a:prstGeom>
          <a:solidFill>
            <a:srgbClr val="DFA9C4"/>
          </a:solidFill>
          <a:ln/>
        </p:spPr>
        <p:txBody>
          <a:bodyPr/>
          <a:lstStyle/>
          <a:p>
            <a:endParaRPr lang="en-US"/>
          </a:p>
        </p:txBody>
      </p:sp>
      <p:sp>
        <p:nvSpPr>
          <p:cNvPr id="145" name="Shape 143"/>
          <p:cNvSpPr/>
          <p:nvPr/>
        </p:nvSpPr>
        <p:spPr>
          <a:xfrm>
            <a:off x="8522208" y="4690872"/>
            <a:ext cx="36576" cy="36576"/>
          </a:xfrm>
          <a:prstGeom prst="ellipse">
            <a:avLst/>
          </a:prstGeom>
          <a:solidFill>
            <a:srgbClr val="DFA9C4"/>
          </a:solidFill>
          <a:ln/>
        </p:spPr>
        <p:txBody>
          <a:bodyPr/>
          <a:lstStyle/>
          <a:p>
            <a:endParaRPr lang="en-US"/>
          </a:p>
        </p:txBody>
      </p:sp>
      <p:sp>
        <p:nvSpPr>
          <p:cNvPr id="146" name="Shape 144"/>
          <p:cNvSpPr/>
          <p:nvPr/>
        </p:nvSpPr>
        <p:spPr>
          <a:xfrm>
            <a:off x="8558784" y="4690872"/>
            <a:ext cx="36576" cy="36576"/>
          </a:xfrm>
          <a:prstGeom prst="ellipse">
            <a:avLst/>
          </a:prstGeom>
          <a:solidFill>
            <a:srgbClr val="DFA9C4"/>
          </a:solidFill>
          <a:ln/>
        </p:spPr>
        <p:txBody>
          <a:bodyPr/>
          <a:lstStyle/>
          <a:p>
            <a:endParaRPr lang="en-US"/>
          </a:p>
        </p:txBody>
      </p:sp>
      <p:sp>
        <p:nvSpPr>
          <p:cNvPr id="147" name="Shape 145"/>
          <p:cNvSpPr/>
          <p:nvPr/>
        </p:nvSpPr>
        <p:spPr>
          <a:xfrm>
            <a:off x="8595360" y="4690872"/>
            <a:ext cx="36576" cy="36576"/>
          </a:xfrm>
          <a:prstGeom prst="ellipse">
            <a:avLst/>
          </a:prstGeom>
          <a:solidFill>
            <a:srgbClr val="DFA9C4"/>
          </a:solidFill>
          <a:ln/>
        </p:spPr>
        <p:txBody>
          <a:bodyPr/>
          <a:lstStyle/>
          <a:p>
            <a:endParaRPr lang="en-US"/>
          </a:p>
        </p:txBody>
      </p:sp>
      <p:sp>
        <p:nvSpPr>
          <p:cNvPr id="148" name="Shape 146"/>
          <p:cNvSpPr/>
          <p:nvPr/>
        </p:nvSpPr>
        <p:spPr>
          <a:xfrm>
            <a:off x="8631936" y="4690872"/>
            <a:ext cx="36576" cy="36576"/>
          </a:xfrm>
          <a:prstGeom prst="ellipse">
            <a:avLst/>
          </a:prstGeom>
          <a:solidFill>
            <a:srgbClr val="DFA9C4"/>
          </a:solidFill>
          <a:ln/>
        </p:spPr>
        <p:txBody>
          <a:bodyPr/>
          <a:lstStyle/>
          <a:p>
            <a:endParaRPr lang="en-US"/>
          </a:p>
        </p:txBody>
      </p:sp>
      <p:sp>
        <p:nvSpPr>
          <p:cNvPr id="149" name="Shape 147"/>
          <p:cNvSpPr/>
          <p:nvPr/>
        </p:nvSpPr>
        <p:spPr>
          <a:xfrm>
            <a:off x="8668512" y="4690872"/>
            <a:ext cx="36576" cy="36576"/>
          </a:xfrm>
          <a:prstGeom prst="ellipse">
            <a:avLst/>
          </a:prstGeom>
          <a:solidFill>
            <a:srgbClr val="DFA9C4"/>
          </a:solidFill>
          <a:ln/>
        </p:spPr>
        <p:txBody>
          <a:bodyPr/>
          <a:lstStyle/>
          <a:p>
            <a:endParaRPr lang="en-US"/>
          </a:p>
        </p:txBody>
      </p:sp>
      <p:sp>
        <p:nvSpPr>
          <p:cNvPr id="150" name="Shape 148"/>
          <p:cNvSpPr/>
          <p:nvPr/>
        </p:nvSpPr>
        <p:spPr>
          <a:xfrm>
            <a:off x="8705088" y="4690871"/>
            <a:ext cx="36576" cy="36576"/>
          </a:xfrm>
          <a:prstGeom prst="ellipse">
            <a:avLst/>
          </a:prstGeom>
          <a:solidFill>
            <a:srgbClr val="DFA9C4"/>
          </a:solidFill>
          <a:ln/>
        </p:spPr>
        <p:txBody>
          <a:bodyPr/>
          <a:lstStyle/>
          <a:p>
            <a:endParaRPr lang="en-US"/>
          </a:p>
        </p:txBody>
      </p:sp>
      <p:sp>
        <p:nvSpPr>
          <p:cNvPr id="151" name="Shape 149"/>
          <p:cNvSpPr/>
          <p:nvPr/>
        </p:nvSpPr>
        <p:spPr>
          <a:xfrm>
            <a:off x="8741664" y="4690869"/>
            <a:ext cx="36576" cy="36576"/>
          </a:xfrm>
          <a:prstGeom prst="ellipse">
            <a:avLst/>
          </a:prstGeom>
          <a:solidFill>
            <a:srgbClr val="DFA9C4"/>
          </a:solidFill>
          <a:ln/>
        </p:spPr>
        <p:txBody>
          <a:bodyPr/>
          <a:lstStyle/>
          <a:p>
            <a:endParaRPr lang="en-US"/>
          </a:p>
        </p:txBody>
      </p:sp>
      <p:sp>
        <p:nvSpPr>
          <p:cNvPr id="152" name="Shape 150"/>
          <p:cNvSpPr/>
          <p:nvPr/>
        </p:nvSpPr>
        <p:spPr>
          <a:xfrm>
            <a:off x="8778240" y="4690861"/>
            <a:ext cx="36576" cy="36576"/>
          </a:xfrm>
          <a:prstGeom prst="ellipse">
            <a:avLst/>
          </a:prstGeom>
          <a:solidFill>
            <a:srgbClr val="DFA9C4"/>
          </a:solidFill>
          <a:ln/>
        </p:spPr>
        <p:txBody>
          <a:bodyPr/>
          <a:lstStyle/>
          <a:p>
            <a:endParaRPr lang="en-US"/>
          </a:p>
        </p:txBody>
      </p:sp>
      <p:sp>
        <p:nvSpPr>
          <p:cNvPr id="153" name="Shape 151"/>
          <p:cNvSpPr/>
          <p:nvPr/>
        </p:nvSpPr>
        <p:spPr>
          <a:xfrm>
            <a:off x="8814816" y="4690832"/>
            <a:ext cx="36576" cy="36576"/>
          </a:xfrm>
          <a:prstGeom prst="ellipse">
            <a:avLst/>
          </a:prstGeom>
          <a:solidFill>
            <a:srgbClr val="DFA9C4"/>
          </a:solidFill>
          <a:ln/>
        </p:spPr>
        <p:txBody>
          <a:bodyPr/>
          <a:lstStyle/>
          <a:p>
            <a:endParaRPr lang="en-US"/>
          </a:p>
        </p:txBody>
      </p:sp>
      <p:sp>
        <p:nvSpPr>
          <p:cNvPr id="154" name="Shape 152"/>
          <p:cNvSpPr/>
          <p:nvPr/>
        </p:nvSpPr>
        <p:spPr>
          <a:xfrm>
            <a:off x="8851392" y="4690731"/>
            <a:ext cx="36576" cy="36576"/>
          </a:xfrm>
          <a:prstGeom prst="ellipse">
            <a:avLst/>
          </a:prstGeom>
          <a:solidFill>
            <a:srgbClr val="DFA9C4"/>
          </a:solidFill>
          <a:ln/>
        </p:spPr>
        <p:txBody>
          <a:bodyPr/>
          <a:lstStyle/>
          <a:p>
            <a:endParaRPr lang="en-US"/>
          </a:p>
        </p:txBody>
      </p:sp>
      <p:sp>
        <p:nvSpPr>
          <p:cNvPr id="155" name="Shape 153"/>
          <p:cNvSpPr/>
          <p:nvPr/>
        </p:nvSpPr>
        <p:spPr>
          <a:xfrm>
            <a:off x="8887968" y="4690419"/>
            <a:ext cx="36576" cy="36576"/>
          </a:xfrm>
          <a:prstGeom prst="ellipse">
            <a:avLst/>
          </a:prstGeom>
          <a:solidFill>
            <a:srgbClr val="DFA9C4"/>
          </a:solidFill>
          <a:ln/>
        </p:spPr>
        <p:txBody>
          <a:bodyPr/>
          <a:lstStyle/>
          <a:p>
            <a:endParaRPr lang="en-US"/>
          </a:p>
        </p:txBody>
      </p:sp>
      <p:sp>
        <p:nvSpPr>
          <p:cNvPr id="156" name="Shape 154"/>
          <p:cNvSpPr/>
          <p:nvPr/>
        </p:nvSpPr>
        <p:spPr>
          <a:xfrm>
            <a:off x="8924544" y="4689524"/>
            <a:ext cx="36576" cy="36576"/>
          </a:xfrm>
          <a:prstGeom prst="ellipse">
            <a:avLst/>
          </a:prstGeom>
          <a:solidFill>
            <a:srgbClr val="DFA9C4"/>
          </a:solidFill>
          <a:ln/>
        </p:spPr>
        <p:txBody>
          <a:bodyPr/>
          <a:lstStyle/>
          <a:p>
            <a:endParaRPr lang="en-US"/>
          </a:p>
        </p:txBody>
      </p:sp>
      <p:sp>
        <p:nvSpPr>
          <p:cNvPr id="157" name="Shape 155"/>
          <p:cNvSpPr/>
          <p:nvPr/>
        </p:nvSpPr>
        <p:spPr>
          <a:xfrm>
            <a:off x="8961120" y="4687175"/>
            <a:ext cx="36576" cy="36576"/>
          </a:xfrm>
          <a:prstGeom prst="ellipse">
            <a:avLst/>
          </a:prstGeom>
          <a:solidFill>
            <a:srgbClr val="DFA9C4"/>
          </a:solidFill>
          <a:ln/>
        </p:spPr>
        <p:txBody>
          <a:bodyPr/>
          <a:lstStyle/>
          <a:p>
            <a:endParaRPr lang="en-US"/>
          </a:p>
        </p:txBody>
      </p:sp>
      <p:sp>
        <p:nvSpPr>
          <p:cNvPr id="158" name="Shape 156"/>
          <p:cNvSpPr/>
          <p:nvPr/>
        </p:nvSpPr>
        <p:spPr>
          <a:xfrm>
            <a:off x="8997696" y="4681520"/>
            <a:ext cx="36576" cy="36576"/>
          </a:xfrm>
          <a:prstGeom prst="ellipse">
            <a:avLst/>
          </a:prstGeom>
          <a:solidFill>
            <a:srgbClr val="DFA9C4"/>
          </a:solidFill>
          <a:ln/>
        </p:spPr>
        <p:txBody>
          <a:bodyPr/>
          <a:lstStyle/>
          <a:p>
            <a:endParaRPr lang="en-US"/>
          </a:p>
        </p:txBody>
      </p:sp>
      <p:sp>
        <p:nvSpPr>
          <p:cNvPr id="159" name="Shape 157"/>
          <p:cNvSpPr/>
          <p:nvPr/>
        </p:nvSpPr>
        <p:spPr>
          <a:xfrm>
            <a:off x="9034272" y="4669048"/>
            <a:ext cx="36576" cy="36576"/>
          </a:xfrm>
          <a:prstGeom prst="ellipse">
            <a:avLst/>
          </a:prstGeom>
          <a:solidFill>
            <a:srgbClr val="DFA9C4"/>
          </a:solidFill>
          <a:ln/>
        </p:spPr>
        <p:txBody>
          <a:bodyPr/>
          <a:lstStyle/>
          <a:p>
            <a:endParaRPr lang="en-US"/>
          </a:p>
        </p:txBody>
      </p:sp>
      <p:sp>
        <p:nvSpPr>
          <p:cNvPr id="160" name="Shape 158"/>
          <p:cNvSpPr/>
          <p:nvPr/>
        </p:nvSpPr>
        <p:spPr>
          <a:xfrm>
            <a:off x="9070848" y="4643892"/>
            <a:ext cx="36576" cy="36576"/>
          </a:xfrm>
          <a:prstGeom prst="ellipse">
            <a:avLst/>
          </a:prstGeom>
          <a:solidFill>
            <a:srgbClr val="DFA9C4"/>
          </a:solidFill>
          <a:ln/>
        </p:spPr>
        <p:txBody>
          <a:bodyPr/>
          <a:lstStyle/>
          <a:p>
            <a:endParaRPr lang="en-US"/>
          </a:p>
        </p:txBody>
      </p:sp>
      <p:sp>
        <p:nvSpPr>
          <p:cNvPr id="161" name="Shape 159"/>
          <p:cNvSpPr/>
          <p:nvPr/>
        </p:nvSpPr>
        <p:spPr>
          <a:xfrm>
            <a:off x="9107424" y="4597581"/>
            <a:ext cx="36576" cy="36576"/>
          </a:xfrm>
          <a:prstGeom prst="ellipse">
            <a:avLst/>
          </a:prstGeom>
          <a:solidFill>
            <a:srgbClr val="DFA9C4"/>
          </a:solidFill>
          <a:ln/>
        </p:spPr>
        <p:txBody>
          <a:bodyPr/>
          <a:lstStyle/>
          <a:p>
            <a:endParaRPr lang="en-US"/>
          </a:p>
        </p:txBody>
      </p:sp>
      <p:sp>
        <p:nvSpPr>
          <p:cNvPr id="162" name="Shape 160"/>
          <p:cNvSpPr/>
          <p:nvPr/>
        </p:nvSpPr>
        <p:spPr>
          <a:xfrm>
            <a:off x="9144000" y="4519979"/>
            <a:ext cx="36576" cy="36576"/>
          </a:xfrm>
          <a:prstGeom prst="ellipse">
            <a:avLst/>
          </a:prstGeom>
          <a:solidFill>
            <a:srgbClr val="DFA9C4"/>
          </a:solidFill>
          <a:ln/>
        </p:spPr>
        <p:txBody>
          <a:bodyPr/>
          <a:lstStyle/>
          <a:p>
            <a:endParaRPr lang="en-US"/>
          </a:p>
        </p:txBody>
      </p:sp>
      <p:sp>
        <p:nvSpPr>
          <p:cNvPr id="163" name="Shape 161"/>
          <p:cNvSpPr/>
          <p:nvPr/>
        </p:nvSpPr>
        <p:spPr>
          <a:xfrm>
            <a:off x="9180576" y="4402101"/>
            <a:ext cx="36576" cy="36576"/>
          </a:xfrm>
          <a:prstGeom prst="ellipse">
            <a:avLst/>
          </a:prstGeom>
          <a:solidFill>
            <a:srgbClr val="DFA9C4"/>
          </a:solidFill>
          <a:ln/>
        </p:spPr>
        <p:txBody>
          <a:bodyPr/>
          <a:lstStyle/>
          <a:p>
            <a:endParaRPr lang="en-US"/>
          </a:p>
        </p:txBody>
      </p:sp>
      <p:sp>
        <p:nvSpPr>
          <p:cNvPr id="164" name="Shape 162"/>
          <p:cNvSpPr/>
          <p:nvPr/>
        </p:nvSpPr>
        <p:spPr>
          <a:xfrm>
            <a:off x="9217152" y="4240746"/>
            <a:ext cx="36576" cy="36576"/>
          </a:xfrm>
          <a:prstGeom prst="ellipse">
            <a:avLst/>
          </a:prstGeom>
          <a:solidFill>
            <a:srgbClr val="DFA9C4"/>
          </a:solidFill>
          <a:ln/>
        </p:spPr>
        <p:txBody>
          <a:bodyPr/>
          <a:lstStyle/>
          <a:p>
            <a:endParaRPr lang="en-US"/>
          </a:p>
        </p:txBody>
      </p:sp>
      <p:sp>
        <p:nvSpPr>
          <p:cNvPr id="165" name="Shape 163"/>
          <p:cNvSpPr/>
          <p:nvPr/>
        </p:nvSpPr>
        <p:spPr>
          <a:xfrm>
            <a:off x="9253728" y="4043636"/>
            <a:ext cx="36576" cy="36576"/>
          </a:xfrm>
          <a:prstGeom prst="ellipse">
            <a:avLst/>
          </a:prstGeom>
          <a:solidFill>
            <a:srgbClr val="DFA9C4"/>
          </a:solidFill>
          <a:ln/>
        </p:spPr>
        <p:txBody>
          <a:bodyPr/>
          <a:lstStyle/>
          <a:p>
            <a:endParaRPr lang="en-US"/>
          </a:p>
        </p:txBody>
      </p:sp>
      <p:sp>
        <p:nvSpPr>
          <p:cNvPr id="166" name="Shape 164"/>
          <p:cNvSpPr/>
          <p:nvPr/>
        </p:nvSpPr>
        <p:spPr>
          <a:xfrm>
            <a:off x="9290304" y="3832371"/>
            <a:ext cx="36576" cy="36576"/>
          </a:xfrm>
          <a:prstGeom prst="ellipse">
            <a:avLst/>
          </a:prstGeom>
          <a:solidFill>
            <a:srgbClr val="DFA9C4"/>
          </a:solidFill>
          <a:ln/>
        </p:spPr>
        <p:txBody>
          <a:bodyPr/>
          <a:lstStyle/>
          <a:p>
            <a:endParaRPr lang="en-US"/>
          </a:p>
        </p:txBody>
      </p:sp>
      <p:sp>
        <p:nvSpPr>
          <p:cNvPr id="167" name="Shape 165"/>
          <p:cNvSpPr/>
          <p:nvPr/>
        </p:nvSpPr>
        <p:spPr>
          <a:xfrm>
            <a:off x="9326880" y="3640439"/>
            <a:ext cx="36576" cy="36576"/>
          </a:xfrm>
          <a:prstGeom prst="ellipse">
            <a:avLst/>
          </a:prstGeom>
          <a:solidFill>
            <a:srgbClr val="DFA9C4"/>
          </a:solidFill>
          <a:ln/>
        </p:spPr>
        <p:txBody>
          <a:bodyPr/>
          <a:lstStyle/>
          <a:p>
            <a:endParaRPr lang="en-US"/>
          </a:p>
        </p:txBody>
      </p:sp>
      <p:sp>
        <p:nvSpPr>
          <p:cNvPr id="168" name="Shape 166"/>
          <p:cNvSpPr/>
          <p:nvPr/>
        </p:nvSpPr>
        <p:spPr>
          <a:xfrm>
            <a:off x="9363456" y="3505255"/>
            <a:ext cx="36576" cy="36576"/>
          </a:xfrm>
          <a:prstGeom prst="ellipse">
            <a:avLst/>
          </a:prstGeom>
          <a:solidFill>
            <a:srgbClr val="DFA9C4"/>
          </a:solidFill>
          <a:ln/>
        </p:spPr>
        <p:txBody>
          <a:bodyPr/>
          <a:lstStyle/>
          <a:p>
            <a:endParaRPr lang="en-US"/>
          </a:p>
        </p:txBody>
      </p:sp>
      <p:sp>
        <p:nvSpPr>
          <p:cNvPr id="169" name="Shape 167"/>
          <p:cNvSpPr/>
          <p:nvPr/>
        </p:nvSpPr>
        <p:spPr>
          <a:xfrm>
            <a:off x="9400032" y="3456432"/>
            <a:ext cx="36576" cy="36576"/>
          </a:xfrm>
          <a:prstGeom prst="ellipse">
            <a:avLst/>
          </a:prstGeom>
          <a:solidFill>
            <a:srgbClr val="DFA9C4"/>
          </a:solidFill>
          <a:ln/>
        </p:spPr>
        <p:txBody>
          <a:bodyPr/>
          <a:lstStyle/>
          <a:p>
            <a:endParaRPr lang="en-US"/>
          </a:p>
        </p:txBody>
      </p:sp>
      <p:sp>
        <p:nvSpPr>
          <p:cNvPr id="170" name="Shape 168"/>
          <p:cNvSpPr/>
          <p:nvPr/>
        </p:nvSpPr>
        <p:spPr>
          <a:xfrm>
            <a:off x="9436608" y="3505255"/>
            <a:ext cx="36576" cy="36576"/>
          </a:xfrm>
          <a:prstGeom prst="ellipse">
            <a:avLst/>
          </a:prstGeom>
          <a:solidFill>
            <a:srgbClr val="DFA9C4"/>
          </a:solidFill>
          <a:ln/>
        </p:spPr>
        <p:txBody>
          <a:bodyPr/>
          <a:lstStyle/>
          <a:p>
            <a:endParaRPr lang="en-US"/>
          </a:p>
        </p:txBody>
      </p:sp>
      <p:sp>
        <p:nvSpPr>
          <p:cNvPr id="171" name="Shape 169"/>
          <p:cNvSpPr/>
          <p:nvPr/>
        </p:nvSpPr>
        <p:spPr>
          <a:xfrm>
            <a:off x="9473184" y="3640439"/>
            <a:ext cx="36576" cy="36576"/>
          </a:xfrm>
          <a:prstGeom prst="ellipse">
            <a:avLst/>
          </a:prstGeom>
          <a:solidFill>
            <a:srgbClr val="DFA9C4"/>
          </a:solidFill>
          <a:ln/>
        </p:spPr>
        <p:txBody>
          <a:bodyPr/>
          <a:lstStyle/>
          <a:p>
            <a:endParaRPr lang="en-US"/>
          </a:p>
        </p:txBody>
      </p:sp>
      <p:sp>
        <p:nvSpPr>
          <p:cNvPr id="172" name="Shape 170"/>
          <p:cNvSpPr/>
          <p:nvPr/>
        </p:nvSpPr>
        <p:spPr>
          <a:xfrm>
            <a:off x="9509760" y="3832371"/>
            <a:ext cx="36576" cy="36576"/>
          </a:xfrm>
          <a:prstGeom prst="ellipse">
            <a:avLst/>
          </a:prstGeom>
          <a:solidFill>
            <a:srgbClr val="DFA9C4"/>
          </a:solidFill>
          <a:ln/>
        </p:spPr>
        <p:txBody>
          <a:bodyPr/>
          <a:lstStyle/>
          <a:p>
            <a:endParaRPr lang="en-US"/>
          </a:p>
        </p:txBody>
      </p:sp>
      <p:sp>
        <p:nvSpPr>
          <p:cNvPr id="173" name="Shape 171"/>
          <p:cNvSpPr/>
          <p:nvPr/>
        </p:nvSpPr>
        <p:spPr>
          <a:xfrm>
            <a:off x="9546336" y="4043636"/>
            <a:ext cx="36576" cy="36576"/>
          </a:xfrm>
          <a:prstGeom prst="ellipse">
            <a:avLst/>
          </a:prstGeom>
          <a:solidFill>
            <a:srgbClr val="DFA9C4"/>
          </a:solidFill>
          <a:ln/>
        </p:spPr>
        <p:txBody>
          <a:bodyPr/>
          <a:lstStyle/>
          <a:p>
            <a:endParaRPr lang="en-US"/>
          </a:p>
        </p:txBody>
      </p:sp>
      <p:sp>
        <p:nvSpPr>
          <p:cNvPr id="174" name="Shape 172"/>
          <p:cNvSpPr/>
          <p:nvPr/>
        </p:nvSpPr>
        <p:spPr>
          <a:xfrm>
            <a:off x="9582912" y="4240746"/>
            <a:ext cx="36576" cy="36576"/>
          </a:xfrm>
          <a:prstGeom prst="ellipse">
            <a:avLst/>
          </a:prstGeom>
          <a:solidFill>
            <a:srgbClr val="DFA9C4"/>
          </a:solidFill>
          <a:ln/>
        </p:spPr>
        <p:txBody>
          <a:bodyPr/>
          <a:lstStyle/>
          <a:p>
            <a:endParaRPr lang="en-US"/>
          </a:p>
        </p:txBody>
      </p:sp>
      <p:sp>
        <p:nvSpPr>
          <p:cNvPr id="175" name="Shape 173"/>
          <p:cNvSpPr/>
          <p:nvPr/>
        </p:nvSpPr>
        <p:spPr>
          <a:xfrm>
            <a:off x="9619488" y="4402101"/>
            <a:ext cx="36576" cy="36576"/>
          </a:xfrm>
          <a:prstGeom prst="ellipse">
            <a:avLst/>
          </a:prstGeom>
          <a:solidFill>
            <a:srgbClr val="DFA9C4"/>
          </a:solidFill>
          <a:ln/>
        </p:spPr>
        <p:txBody>
          <a:bodyPr/>
          <a:lstStyle/>
          <a:p>
            <a:endParaRPr lang="en-US"/>
          </a:p>
        </p:txBody>
      </p:sp>
      <p:sp>
        <p:nvSpPr>
          <p:cNvPr id="176" name="Shape 174"/>
          <p:cNvSpPr/>
          <p:nvPr/>
        </p:nvSpPr>
        <p:spPr>
          <a:xfrm>
            <a:off x="9656064" y="4519979"/>
            <a:ext cx="36576" cy="36576"/>
          </a:xfrm>
          <a:prstGeom prst="ellipse">
            <a:avLst/>
          </a:prstGeom>
          <a:solidFill>
            <a:srgbClr val="DFA9C4"/>
          </a:solidFill>
          <a:ln/>
        </p:spPr>
        <p:txBody>
          <a:bodyPr/>
          <a:lstStyle/>
          <a:p>
            <a:endParaRPr lang="en-US"/>
          </a:p>
        </p:txBody>
      </p:sp>
      <p:sp>
        <p:nvSpPr>
          <p:cNvPr id="177" name="Shape 175"/>
          <p:cNvSpPr/>
          <p:nvPr/>
        </p:nvSpPr>
        <p:spPr>
          <a:xfrm>
            <a:off x="9692640" y="4597581"/>
            <a:ext cx="36576" cy="36576"/>
          </a:xfrm>
          <a:prstGeom prst="ellipse">
            <a:avLst/>
          </a:prstGeom>
          <a:solidFill>
            <a:srgbClr val="DFA9C4"/>
          </a:solidFill>
          <a:ln/>
        </p:spPr>
        <p:txBody>
          <a:bodyPr/>
          <a:lstStyle/>
          <a:p>
            <a:endParaRPr lang="en-US"/>
          </a:p>
        </p:txBody>
      </p:sp>
      <p:sp>
        <p:nvSpPr>
          <p:cNvPr id="178" name="Shape 176"/>
          <p:cNvSpPr/>
          <p:nvPr/>
        </p:nvSpPr>
        <p:spPr>
          <a:xfrm>
            <a:off x="9729216" y="4643892"/>
            <a:ext cx="36576" cy="36576"/>
          </a:xfrm>
          <a:prstGeom prst="ellipse">
            <a:avLst/>
          </a:prstGeom>
          <a:solidFill>
            <a:srgbClr val="DFA9C4"/>
          </a:solidFill>
          <a:ln/>
        </p:spPr>
        <p:txBody>
          <a:bodyPr/>
          <a:lstStyle/>
          <a:p>
            <a:endParaRPr lang="en-US"/>
          </a:p>
        </p:txBody>
      </p:sp>
      <p:sp>
        <p:nvSpPr>
          <p:cNvPr id="179" name="Shape 177"/>
          <p:cNvSpPr/>
          <p:nvPr/>
        </p:nvSpPr>
        <p:spPr>
          <a:xfrm>
            <a:off x="9765792" y="4669048"/>
            <a:ext cx="36576" cy="36576"/>
          </a:xfrm>
          <a:prstGeom prst="ellipse">
            <a:avLst/>
          </a:prstGeom>
          <a:solidFill>
            <a:srgbClr val="DFA9C4"/>
          </a:solidFill>
          <a:ln/>
        </p:spPr>
        <p:txBody>
          <a:bodyPr/>
          <a:lstStyle/>
          <a:p>
            <a:endParaRPr lang="en-US"/>
          </a:p>
        </p:txBody>
      </p:sp>
      <p:sp>
        <p:nvSpPr>
          <p:cNvPr id="180" name="Shape 178"/>
          <p:cNvSpPr/>
          <p:nvPr/>
        </p:nvSpPr>
        <p:spPr>
          <a:xfrm>
            <a:off x="9802368" y="4681520"/>
            <a:ext cx="36576" cy="36576"/>
          </a:xfrm>
          <a:prstGeom prst="ellipse">
            <a:avLst/>
          </a:prstGeom>
          <a:solidFill>
            <a:srgbClr val="DFA9C4"/>
          </a:solidFill>
          <a:ln/>
        </p:spPr>
        <p:txBody>
          <a:bodyPr/>
          <a:lstStyle/>
          <a:p>
            <a:endParaRPr lang="en-US"/>
          </a:p>
        </p:txBody>
      </p:sp>
      <p:sp>
        <p:nvSpPr>
          <p:cNvPr id="181" name="Shape 179"/>
          <p:cNvSpPr/>
          <p:nvPr/>
        </p:nvSpPr>
        <p:spPr>
          <a:xfrm>
            <a:off x="9838944" y="4687175"/>
            <a:ext cx="36576" cy="36576"/>
          </a:xfrm>
          <a:prstGeom prst="ellipse">
            <a:avLst/>
          </a:prstGeom>
          <a:solidFill>
            <a:srgbClr val="DFA9C4"/>
          </a:solidFill>
          <a:ln/>
        </p:spPr>
        <p:txBody>
          <a:bodyPr/>
          <a:lstStyle/>
          <a:p>
            <a:endParaRPr lang="en-US"/>
          </a:p>
        </p:txBody>
      </p:sp>
      <p:sp>
        <p:nvSpPr>
          <p:cNvPr id="182" name="Shape 180"/>
          <p:cNvSpPr/>
          <p:nvPr/>
        </p:nvSpPr>
        <p:spPr>
          <a:xfrm>
            <a:off x="9875520" y="4689524"/>
            <a:ext cx="36576" cy="36576"/>
          </a:xfrm>
          <a:prstGeom prst="ellipse">
            <a:avLst/>
          </a:prstGeom>
          <a:solidFill>
            <a:srgbClr val="DFA9C4"/>
          </a:solidFill>
          <a:ln/>
        </p:spPr>
        <p:txBody>
          <a:bodyPr/>
          <a:lstStyle/>
          <a:p>
            <a:endParaRPr lang="en-US"/>
          </a:p>
        </p:txBody>
      </p:sp>
      <p:sp>
        <p:nvSpPr>
          <p:cNvPr id="183" name="Shape 181"/>
          <p:cNvSpPr/>
          <p:nvPr/>
        </p:nvSpPr>
        <p:spPr>
          <a:xfrm>
            <a:off x="9912096" y="4690419"/>
            <a:ext cx="36576" cy="36576"/>
          </a:xfrm>
          <a:prstGeom prst="ellipse">
            <a:avLst/>
          </a:prstGeom>
          <a:solidFill>
            <a:srgbClr val="DFA9C4"/>
          </a:solidFill>
          <a:ln/>
        </p:spPr>
        <p:txBody>
          <a:bodyPr/>
          <a:lstStyle/>
          <a:p>
            <a:endParaRPr lang="en-US"/>
          </a:p>
        </p:txBody>
      </p:sp>
      <p:sp>
        <p:nvSpPr>
          <p:cNvPr id="184" name="Shape 182"/>
          <p:cNvSpPr/>
          <p:nvPr/>
        </p:nvSpPr>
        <p:spPr>
          <a:xfrm>
            <a:off x="9948672" y="4690731"/>
            <a:ext cx="36576" cy="36576"/>
          </a:xfrm>
          <a:prstGeom prst="ellipse">
            <a:avLst/>
          </a:prstGeom>
          <a:solidFill>
            <a:srgbClr val="DFA9C4"/>
          </a:solidFill>
          <a:ln/>
        </p:spPr>
        <p:txBody>
          <a:bodyPr/>
          <a:lstStyle/>
          <a:p>
            <a:endParaRPr lang="en-US"/>
          </a:p>
        </p:txBody>
      </p:sp>
      <p:sp>
        <p:nvSpPr>
          <p:cNvPr id="185" name="Shape 183"/>
          <p:cNvSpPr/>
          <p:nvPr/>
        </p:nvSpPr>
        <p:spPr>
          <a:xfrm>
            <a:off x="9985248" y="4690832"/>
            <a:ext cx="36576" cy="36576"/>
          </a:xfrm>
          <a:prstGeom prst="ellipse">
            <a:avLst/>
          </a:prstGeom>
          <a:solidFill>
            <a:srgbClr val="DFA9C4"/>
          </a:solidFill>
          <a:ln/>
        </p:spPr>
        <p:txBody>
          <a:bodyPr/>
          <a:lstStyle/>
          <a:p>
            <a:endParaRPr lang="en-US"/>
          </a:p>
        </p:txBody>
      </p:sp>
      <p:sp>
        <p:nvSpPr>
          <p:cNvPr id="186" name="Shape 184"/>
          <p:cNvSpPr/>
          <p:nvPr/>
        </p:nvSpPr>
        <p:spPr>
          <a:xfrm>
            <a:off x="10021824" y="4690861"/>
            <a:ext cx="36576" cy="36576"/>
          </a:xfrm>
          <a:prstGeom prst="ellipse">
            <a:avLst/>
          </a:prstGeom>
          <a:solidFill>
            <a:srgbClr val="DFA9C4"/>
          </a:solidFill>
          <a:ln/>
        </p:spPr>
        <p:txBody>
          <a:bodyPr/>
          <a:lstStyle/>
          <a:p>
            <a:endParaRPr lang="en-US"/>
          </a:p>
        </p:txBody>
      </p:sp>
      <p:sp>
        <p:nvSpPr>
          <p:cNvPr id="187" name="Shape 185"/>
          <p:cNvSpPr/>
          <p:nvPr/>
        </p:nvSpPr>
        <p:spPr>
          <a:xfrm>
            <a:off x="10058400" y="4690869"/>
            <a:ext cx="36576" cy="36576"/>
          </a:xfrm>
          <a:prstGeom prst="ellipse">
            <a:avLst/>
          </a:prstGeom>
          <a:solidFill>
            <a:srgbClr val="DFA9C4"/>
          </a:solidFill>
          <a:ln/>
        </p:spPr>
        <p:txBody>
          <a:bodyPr/>
          <a:lstStyle/>
          <a:p>
            <a:endParaRPr lang="en-US"/>
          </a:p>
        </p:txBody>
      </p:sp>
      <p:sp>
        <p:nvSpPr>
          <p:cNvPr id="188" name="Shape 186"/>
          <p:cNvSpPr/>
          <p:nvPr/>
        </p:nvSpPr>
        <p:spPr>
          <a:xfrm>
            <a:off x="10094976" y="4690871"/>
            <a:ext cx="36576" cy="36576"/>
          </a:xfrm>
          <a:prstGeom prst="ellipse">
            <a:avLst/>
          </a:prstGeom>
          <a:solidFill>
            <a:srgbClr val="DFA9C4"/>
          </a:solidFill>
          <a:ln/>
        </p:spPr>
        <p:txBody>
          <a:bodyPr/>
          <a:lstStyle/>
          <a:p>
            <a:endParaRPr lang="en-US"/>
          </a:p>
        </p:txBody>
      </p:sp>
      <p:sp>
        <p:nvSpPr>
          <p:cNvPr id="189" name="Shape 187"/>
          <p:cNvSpPr/>
          <p:nvPr/>
        </p:nvSpPr>
        <p:spPr>
          <a:xfrm>
            <a:off x="10131552" y="4690872"/>
            <a:ext cx="36576" cy="36576"/>
          </a:xfrm>
          <a:prstGeom prst="ellipse">
            <a:avLst/>
          </a:prstGeom>
          <a:solidFill>
            <a:srgbClr val="DFA9C4"/>
          </a:solidFill>
          <a:ln/>
        </p:spPr>
        <p:txBody>
          <a:bodyPr/>
          <a:lstStyle/>
          <a:p>
            <a:endParaRPr lang="en-US"/>
          </a:p>
        </p:txBody>
      </p:sp>
      <p:sp>
        <p:nvSpPr>
          <p:cNvPr id="190" name="Shape 188"/>
          <p:cNvSpPr/>
          <p:nvPr/>
        </p:nvSpPr>
        <p:spPr>
          <a:xfrm>
            <a:off x="10168128" y="4690872"/>
            <a:ext cx="36576" cy="36576"/>
          </a:xfrm>
          <a:prstGeom prst="ellipse">
            <a:avLst/>
          </a:prstGeom>
          <a:solidFill>
            <a:srgbClr val="DFA9C4"/>
          </a:solidFill>
          <a:ln/>
        </p:spPr>
        <p:txBody>
          <a:bodyPr/>
          <a:lstStyle/>
          <a:p>
            <a:endParaRPr lang="en-US"/>
          </a:p>
        </p:txBody>
      </p:sp>
      <p:sp>
        <p:nvSpPr>
          <p:cNvPr id="191" name="Shape 189"/>
          <p:cNvSpPr/>
          <p:nvPr/>
        </p:nvSpPr>
        <p:spPr>
          <a:xfrm>
            <a:off x="10204704" y="4690872"/>
            <a:ext cx="36576" cy="36576"/>
          </a:xfrm>
          <a:prstGeom prst="ellipse">
            <a:avLst/>
          </a:prstGeom>
          <a:solidFill>
            <a:srgbClr val="DFA9C4"/>
          </a:solidFill>
          <a:ln/>
        </p:spPr>
        <p:txBody>
          <a:bodyPr/>
          <a:lstStyle/>
          <a:p>
            <a:endParaRPr lang="en-US"/>
          </a:p>
        </p:txBody>
      </p:sp>
      <p:sp>
        <p:nvSpPr>
          <p:cNvPr id="192" name="Shape 190"/>
          <p:cNvSpPr/>
          <p:nvPr/>
        </p:nvSpPr>
        <p:spPr>
          <a:xfrm>
            <a:off x="10241280" y="4690872"/>
            <a:ext cx="36576" cy="36576"/>
          </a:xfrm>
          <a:prstGeom prst="ellipse">
            <a:avLst/>
          </a:prstGeom>
          <a:solidFill>
            <a:srgbClr val="DFA9C4"/>
          </a:solidFill>
          <a:ln/>
        </p:spPr>
        <p:txBody>
          <a:bodyPr/>
          <a:lstStyle/>
          <a:p>
            <a:endParaRPr lang="en-US"/>
          </a:p>
        </p:txBody>
      </p:sp>
      <p:sp>
        <p:nvSpPr>
          <p:cNvPr id="193" name="Shape 191"/>
          <p:cNvSpPr/>
          <p:nvPr/>
        </p:nvSpPr>
        <p:spPr>
          <a:xfrm>
            <a:off x="10277856" y="4690872"/>
            <a:ext cx="36576" cy="36576"/>
          </a:xfrm>
          <a:prstGeom prst="ellipse">
            <a:avLst/>
          </a:prstGeom>
          <a:solidFill>
            <a:srgbClr val="DFA9C4"/>
          </a:solidFill>
          <a:ln/>
        </p:spPr>
        <p:txBody>
          <a:bodyPr/>
          <a:lstStyle/>
          <a:p>
            <a:endParaRPr lang="en-US"/>
          </a:p>
        </p:txBody>
      </p:sp>
      <p:sp>
        <p:nvSpPr>
          <p:cNvPr id="194" name="Shape 192"/>
          <p:cNvSpPr/>
          <p:nvPr/>
        </p:nvSpPr>
        <p:spPr>
          <a:xfrm>
            <a:off x="10314432" y="4690872"/>
            <a:ext cx="36576" cy="36576"/>
          </a:xfrm>
          <a:prstGeom prst="ellipse">
            <a:avLst/>
          </a:prstGeom>
          <a:solidFill>
            <a:srgbClr val="DFA9C4"/>
          </a:solidFill>
          <a:ln/>
        </p:spPr>
        <p:txBody>
          <a:bodyPr/>
          <a:lstStyle/>
          <a:p>
            <a:endParaRPr lang="en-US"/>
          </a:p>
        </p:txBody>
      </p:sp>
      <p:sp>
        <p:nvSpPr>
          <p:cNvPr id="195" name="Shape 193"/>
          <p:cNvSpPr/>
          <p:nvPr/>
        </p:nvSpPr>
        <p:spPr>
          <a:xfrm>
            <a:off x="10351008" y="4690872"/>
            <a:ext cx="36576" cy="36576"/>
          </a:xfrm>
          <a:prstGeom prst="ellipse">
            <a:avLst/>
          </a:prstGeom>
          <a:solidFill>
            <a:srgbClr val="DFA9C4"/>
          </a:solidFill>
          <a:ln/>
        </p:spPr>
        <p:txBody>
          <a:bodyPr/>
          <a:lstStyle/>
          <a:p>
            <a:endParaRPr lang="en-US"/>
          </a:p>
        </p:txBody>
      </p:sp>
      <p:sp>
        <p:nvSpPr>
          <p:cNvPr id="196" name="Shape 194"/>
          <p:cNvSpPr/>
          <p:nvPr/>
        </p:nvSpPr>
        <p:spPr>
          <a:xfrm>
            <a:off x="10387584" y="4690872"/>
            <a:ext cx="36576" cy="36576"/>
          </a:xfrm>
          <a:prstGeom prst="ellipse">
            <a:avLst/>
          </a:prstGeom>
          <a:solidFill>
            <a:srgbClr val="DFA9C4"/>
          </a:solidFill>
          <a:ln/>
        </p:spPr>
        <p:txBody>
          <a:bodyPr/>
          <a:lstStyle/>
          <a:p>
            <a:endParaRPr lang="en-US"/>
          </a:p>
        </p:txBody>
      </p:sp>
      <p:sp>
        <p:nvSpPr>
          <p:cNvPr id="197" name="Shape 195"/>
          <p:cNvSpPr/>
          <p:nvPr/>
        </p:nvSpPr>
        <p:spPr>
          <a:xfrm>
            <a:off x="10424160" y="4690872"/>
            <a:ext cx="36576" cy="36576"/>
          </a:xfrm>
          <a:prstGeom prst="ellipse">
            <a:avLst/>
          </a:prstGeom>
          <a:solidFill>
            <a:srgbClr val="DFA9C4"/>
          </a:solidFill>
          <a:ln/>
        </p:spPr>
        <p:txBody>
          <a:bodyPr/>
          <a:lstStyle/>
          <a:p>
            <a:endParaRPr lang="en-US"/>
          </a:p>
        </p:txBody>
      </p:sp>
      <p:sp>
        <p:nvSpPr>
          <p:cNvPr id="198" name="Shape 196"/>
          <p:cNvSpPr/>
          <p:nvPr/>
        </p:nvSpPr>
        <p:spPr>
          <a:xfrm>
            <a:off x="10460736" y="4690872"/>
            <a:ext cx="36576" cy="36576"/>
          </a:xfrm>
          <a:prstGeom prst="ellipse">
            <a:avLst/>
          </a:prstGeom>
          <a:solidFill>
            <a:srgbClr val="DFA9C4"/>
          </a:solidFill>
          <a:ln/>
        </p:spPr>
        <p:txBody>
          <a:bodyPr/>
          <a:lstStyle/>
          <a:p>
            <a:endParaRPr lang="en-US"/>
          </a:p>
        </p:txBody>
      </p:sp>
      <p:sp>
        <p:nvSpPr>
          <p:cNvPr id="199" name="Shape 197"/>
          <p:cNvSpPr/>
          <p:nvPr/>
        </p:nvSpPr>
        <p:spPr>
          <a:xfrm>
            <a:off x="10497312" y="4690872"/>
            <a:ext cx="36576" cy="36576"/>
          </a:xfrm>
          <a:prstGeom prst="ellipse">
            <a:avLst/>
          </a:prstGeom>
          <a:solidFill>
            <a:srgbClr val="DFA9C4"/>
          </a:solidFill>
          <a:ln/>
        </p:spPr>
        <p:txBody>
          <a:bodyPr/>
          <a:lstStyle/>
          <a:p>
            <a:endParaRPr lang="en-US"/>
          </a:p>
        </p:txBody>
      </p:sp>
      <p:sp>
        <p:nvSpPr>
          <p:cNvPr id="200" name="Shape 198"/>
          <p:cNvSpPr/>
          <p:nvPr/>
        </p:nvSpPr>
        <p:spPr>
          <a:xfrm>
            <a:off x="10533888" y="4690872"/>
            <a:ext cx="36576" cy="36576"/>
          </a:xfrm>
          <a:prstGeom prst="ellipse">
            <a:avLst/>
          </a:prstGeom>
          <a:solidFill>
            <a:srgbClr val="DFA9C4"/>
          </a:solidFill>
          <a:ln/>
        </p:spPr>
        <p:txBody>
          <a:bodyPr/>
          <a:lstStyle/>
          <a:p>
            <a:endParaRPr lang="en-US"/>
          </a:p>
        </p:txBody>
      </p:sp>
      <p:sp>
        <p:nvSpPr>
          <p:cNvPr id="201" name="Shape 199"/>
          <p:cNvSpPr/>
          <p:nvPr/>
        </p:nvSpPr>
        <p:spPr>
          <a:xfrm>
            <a:off x="10570464" y="4690872"/>
            <a:ext cx="36576" cy="36576"/>
          </a:xfrm>
          <a:prstGeom prst="ellipse">
            <a:avLst/>
          </a:prstGeom>
          <a:solidFill>
            <a:srgbClr val="DFA9C4"/>
          </a:solidFill>
          <a:ln/>
        </p:spPr>
        <p:txBody>
          <a:bodyPr/>
          <a:lstStyle/>
          <a:p>
            <a:endParaRPr lang="en-US"/>
          </a:p>
        </p:txBody>
      </p:sp>
      <p:sp>
        <p:nvSpPr>
          <p:cNvPr id="202" name="Shape 200"/>
          <p:cNvSpPr/>
          <p:nvPr/>
        </p:nvSpPr>
        <p:spPr>
          <a:xfrm>
            <a:off x="10607040" y="4690872"/>
            <a:ext cx="36576" cy="36576"/>
          </a:xfrm>
          <a:prstGeom prst="ellipse">
            <a:avLst/>
          </a:prstGeom>
          <a:solidFill>
            <a:srgbClr val="DFA9C4"/>
          </a:solidFill>
          <a:ln/>
        </p:spPr>
        <p:txBody>
          <a:bodyPr/>
          <a:lstStyle/>
          <a:p>
            <a:endParaRPr lang="en-US"/>
          </a:p>
        </p:txBody>
      </p:sp>
      <p:sp>
        <p:nvSpPr>
          <p:cNvPr id="203" name="Shape 201"/>
          <p:cNvSpPr/>
          <p:nvPr/>
        </p:nvSpPr>
        <p:spPr>
          <a:xfrm>
            <a:off x="10643616" y="4690872"/>
            <a:ext cx="36576" cy="36576"/>
          </a:xfrm>
          <a:prstGeom prst="ellipse">
            <a:avLst/>
          </a:prstGeom>
          <a:solidFill>
            <a:srgbClr val="DFA9C4"/>
          </a:solidFill>
          <a:ln/>
        </p:spPr>
        <p:txBody>
          <a:bodyPr/>
          <a:lstStyle/>
          <a:p>
            <a:endParaRPr lang="en-US"/>
          </a:p>
        </p:txBody>
      </p:sp>
      <p:sp>
        <p:nvSpPr>
          <p:cNvPr id="204" name="Shape 202"/>
          <p:cNvSpPr/>
          <p:nvPr/>
        </p:nvSpPr>
        <p:spPr>
          <a:xfrm>
            <a:off x="10680192" y="4690872"/>
            <a:ext cx="36576" cy="36576"/>
          </a:xfrm>
          <a:prstGeom prst="ellipse">
            <a:avLst/>
          </a:prstGeom>
          <a:solidFill>
            <a:srgbClr val="DFA9C4"/>
          </a:solidFill>
          <a:ln/>
        </p:spPr>
        <p:txBody>
          <a:bodyPr/>
          <a:lstStyle/>
          <a:p>
            <a:endParaRPr lang="en-US"/>
          </a:p>
        </p:txBody>
      </p:sp>
      <p:sp>
        <p:nvSpPr>
          <p:cNvPr id="205" name="Shape 203"/>
          <p:cNvSpPr/>
          <p:nvPr/>
        </p:nvSpPr>
        <p:spPr>
          <a:xfrm>
            <a:off x="10716768" y="4690872"/>
            <a:ext cx="36576" cy="36576"/>
          </a:xfrm>
          <a:prstGeom prst="ellipse">
            <a:avLst/>
          </a:prstGeom>
          <a:solidFill>
            <a:srgbClr val="DFA9C4"/>
          </a:solidFill>
          <a:ln/>
        </p:spPr>
        <p:txBody>
          <a:bodyPr/>
          <a:lstStyle/>
          <a:p>
            <a:endParaRPr lang="en-US"/>
          </a:p>
        </p:txBody>
      </p:sp>
      <p:sp>
        <p:nvSpPr>
          <p:cNvPr id="206" name="Shape 204"/>
          <p:cNvSpPr/>
          <p:nvPr/>
        </p:nvSpPr>
        <p:spPr>
          <a:xfrm>
            <a:off x="10753344" y="4690872"/>
            <a:ext cx="36576" cy="36576"/>
          </a:xfrm>
          <a:prstGeom prst="ellipse">
            <a:avLst/>
          </a:prstGeom>
          <a:solidFill>
            <a:srgbClr val="DFA9C4"/>
          </a:solidFill>
          <a:ln/>
        </p:spPr>
        <p:txBody>
          <a:bodyPr/>
          <a:lstStyle/>
          <a:p>
            <a:endParaRPr lang="en-US"/>
          </a:p>
        </p:txBody>
      </p:sp>
      <p:sp>
        <p:nvSpPr>
          <p:cNvPr id="207" name="Shape 205"/>
          <p:cNvSpPr/>
          <p:nvPr/>
        </p:nvSpPr>
        <p:spPr>
          <a:xfrm>
            <a:off x="10789920" y="4690872"/>
            <a:ext cx="36576" cy="36576"/>
          </a:xfrm>
          <a:prstGeom prst="ellipse">
            <a:avLst/>
          </a:prstGeom>
          <a:solidFill>
            <a:srgbClr val="DFA9C4"/>
          </a:solidFill>
          <a:ln/>
        </p:spPr>
        <p:txBody>
          <a:bodyPr/>
          <a:lstStyle/>
          <a:p>
            <a:endParaRPr lang="en-US"/>
          </a:p>
        </p:txBody>
      </p:sp>
      <p:sp>
        <p:nvSpPr>
          <p:cNvPr id="208" name="Shape 206"/>
          <p:cNvSpPr/>
          <p:nvPr/>
        </p:nvSpPr>
        <p:spPr>
          <a:xfrm>
            <a:off x="10826496" y="4690872"/>
            <a:ext cx="36576" cy="36576"/>
          </a:xfrm>
          <a:prstGeom prst="ellipse">
            <a:avLst/>
          </a:prstGeom>
          <a:solidFill>
            <a:srgbClr val="DFA9C4"/>
          </a:solidFill>
          <a:ln/>
        </p:spPr>
        <p:txBody>
          <a:bodyPr/>
          <a:lstStyle/>
          <a:p>
            <a:endParaRPr lang="en-US"/>
          </a:p>
        </p:txBody>
      </p:sp>
      <p:sp>
        <p:nvSpPr>
          <p:cNvPr id="209" name="Shape 207"/>
          <p:cNvSpPr/>
          <p:nvPr/>
        </p:nvSpPr>
        <p:spPr>
          <a:xfrm>
            <a:off x="10863072" y="4690872"/>
            <a:ext cx="36576" cy="36576"/>
          </a:xfrm>
          <a:prstGeom prst="ellipse">
            <a:avLst/>
          </a:prstGeom>
          <a:solidFill>
            <a:srgbClr val="DFA9C4"/>
          </a:solidFill>
          <a:ln/>
        </p:spPr>
        <p:txBody>
          <a:bodyPr/>
          <a:lstStyle/>
          <a:p>
            <a:endParaRPr lang="en-US"/>
          </a:p>
        </p:txBody>
      </p:sp>
      <p:sp>
        <p:nvSpPr>
          <p:cNvPr id="210" name="Shape 208"/>
          <p:cNvSpPr/>
          <p:nvPr/>
        </p:nvSpPr>
        <p:spPr>
          <a:xfrm>
            <a:off x="10899648" y="4690872"/>
            <a:ext cx="36576" cy="36576"/>
          </a:xfrm>
          <a:prstGeom prst="ellipse">
            <a:avLst/>
          </a:prstGeom>
          <a:solidFill>
            <a:srgbClr val="DFA9C4"/>
          </a:solidFill>
          <a:ln/>
        </p:spPr>
        <p:txBody>
          <a:bodyPr/>
          <a:lstStyle/>
          <a:p>
            <a:endParaRPr lang="en-US"/>
          </a:p>
        </p:txBody>
      </p:sp>
      <p:sp>
        <p:nvSpPr>
          <p:cNvPr id="211" name="Shape 209"/>
          <p:cNvSpPr/>
          <p:nvPr/>
        </p:nvSpPr>
        <p:spPr>
          <a:xfrm>
            <a:off x="10936224" y="4690872"/>
            <a:ext cx="36576" cy="36576"/>
          </a:xfrm>
          <a:prstGeom prst="ellipse">
            <a:avLst/>
          </a:prstGeom>
          <a:solidFill>
            <a:srgbClr val="DFA9C4"/>
          </a:solidFill>
          <a:ln/>
        </p:spPr>
        <p:txBody>
          <a:bodyPr/>
          <a:lstStyle/>
          <a:p>
            <a:endParaRPr lang="en-US"/>
          </a:p>
        </p:txBody>
      </p:sp>
      <p:sp>
        <p:nvSpPr>
          <p:cNvPr id="212" name="Shape 210"/>
          <p:cNvSpPr/>
          <p:nvPr/>
        </p:nvSpPr>
        <p:spPr>
          <a:xfrm>
            <a:off x="10972800" y="4690872"/>
            <a:ext cx="36576" cy="36576"/>
          </a:xfrm>
          <a:prstGeom prst="ellipse">
            <a:avLst/>
          </a:prstGeom>
          <a:solidFill>
            <a:srgbClr val="DFA9C4"/>
          </a:solidFill>
          <a:ln/>
        </p:spPr>
        <p:txBody>
          <a:bodyPr/>
          <a:lstStyle/>
          <a:p>
            <a:endParaRPr lang="en-US"/>
          </a:p>
        </p:txBody>
      </p:sp>
      <p:sp>
        <p:nvSpPr>
          <p:cNvPr id="213" name="Shape 211"/>
          <p:cNvSpPr/>
          <p:nvPr/>
        </p:nvSpPr>
        <p:spPr>
          <a:xfrm>
            <a:off x="11009376" y="4690872"/>
            <a:ext cx="36576" cy="36576"/>
          </a:xfrm>
          <a:prstGeom prst="ellipse">
            <a:avLst/>
          </a:prstGeom>
          <a:solidFill>
            <a:srgbClr val="DFA9C4"/>
          </a:solidFill>
          <a:ln/>
        </p:spPr>
        <p:txBody>
          <a:bodyPr/>
          <a:lstStyle/>
          <a:p>
            <a:endParaRPr lang="en-US"/>
          </a:p>
        </p:txBody>
      </p:sp>
      <p:sp>
        <p:nvSpPr>
          <p:cNvPr id="214" name="Shape 212"/>
          <p:cNvSpPr/>
          <p:nvPr/>
        </p:nvSpPr>
        <p:spPr>
          <a:xfrm>
            <a:off x="11045952" y="4690872"/>
            <a:ext cx="36576" cy="36576"/>
          </a:xfrm>
          <a:prstGeom prst="ellipse">
            <a:avLst/>
          </a:prstGeom>
          <a:solidFill>
            <a:srgbClr val="DFA9C4"/>
          </a:solidFill>
          <a:ln/>
        </p:spPr>
        <p:txBody>
          <a:bodyPr/>
          <a:lstStyle/>
          <a:p>
            <a:endParaRPr lang="en-US"/>
          </a:p>
        </p:txBody>
      </p:sp>
      <p:sp>
        <p:nvSpPr>
          <p:cNvPr id="215" name="Shape 213"/>
          <p:cNvSpPr/>
          <p:nvPr/>
        </p:nvSpPr>
        <p:spPr>
          <a:xfrm>
            <a:off x="11082528" y="4690872"/>
            <a:ext cx="36576" cy="36576"/>
          </a:xfrm>
          <a:prstGeom prst="ellipse">
            <a:avLst/>
          </a:prstGeom>
          <a:solidFill>
            <a:srgbClr val="DFA9C4"/>
          </a:solidFill>
          <a:ln/>
        </p:spPr>
        <p:txBody>
          <a:bodyPr/>
          <a:lstStyle/>
          <a:p>
            <a:endParaRPr lang="en-US"/>
          </a:p>
        </p:txBody>
      </p:sp>
      <p:sp>
        <p:nvSpPr>
          <p:cNvPr id="216" name="Shape 214"/>
          <p:cNvSpPr/>
          <p:nvPr/>
        </p:nvSpPr>
        <p:spPr>
          <a:xfrm>
            <a:off x="11119104" y="4690872"/>
            <a:ext cx="36576" cy="36576"/>
          </a:xfrm>
          <a:prstGeom prst="ellipse">
            <a:avLst/>
          </a:prstGeom>
          <a:solidFill>
            <a:srgbClr val="DFA9C4"/>
          </a:solidFill>
          <a:ln/>
        </p:spPr>
        <p:txBody>
          <a:bodyPr/>
          <a:lstStyle/>
          <a:p>
            <a:endParaRPr lang="en-US"/>
          </a:p>
        </p:txBody>
      </p:sp>
      <p:sp>
        <p:nvSpPr>
          <p:cNvPr id="217" name="Shape 215"/>
          <p:cNvSpPr/>
          <p:nvPr/>
        </p:nvSpPr>
        <p:spPr>
          <a:xfrm>
            <a:off x="11155680" y="4690872"/>
            <a:ext cx="36576" cy="36576"/>
          </a:xfrm>
          <a:prstGeom prst="ellipse">
            <a:avLst/>
          </a:prstGeom>
          <a:solidFill>
            <a:srgbClr val="DFA9C4"/>
          </a:solidFill>
          <a:ln/>
        </p:spPr>
        <p:txBody>
          <a:bodyPr/>
          <a:lstStyle/>
          <a:p>
            <a:endParaRPr lang="en-US"/>
          </a:p>
        </p:txBody>
      </p:sp>
      <p:sp>
        <p:nvSpPr>
          <p:cNvPr id="218" name="Shape 216"/>
          <p:cNvSpPr/>
          <p:nvPr/>
        </p:nvSpPr>
        <p:spPr>
          <a:xfrm>
            <a:off x="11192256" y="4690872"/>
            <a:ext cx="36576" cy="36576"/>
          </a:xfrm>
          <a:prstGeom prst="ellipse">
            <a:avLst/>
          </a:prstGeom>
          <a:solidFill>
            <a:srgbClr val="DFA9C4"/>
          </a:solidFill>
          <a:ln/>
        </p:spPr>
        <p:txBody>
          <a:bodyPr/>
          <a:lstStyle/>
          <a:p>
            <a:endParaRPr lang="en-US"/>
          </a:p>
        </p:txBody>
      </p:sp>
      <p:sp>
        <p:nvSpPr>
          <p:cNvPr id="219" name="Shape 217"/>
          <p:cNvSpPr/>
          <p:nvPr/>
        </p:nvSpPr>
        <p:spPr>
          <a:xfrm>
            <a:off x="11228832" y="4690872"/>
            <a:ext cx="36576" cy="36576"/>
          </a:xfrm>
          <a:prstGeom prst="ellipse">
            <a:avLst/>
          </a:prstGeom>
          <a:solidFill>
            <a:srgbClr val="DFA9C4"/>
          </a:solidFill>
          <a:ln/>
        </p:spPr>
        <p:txBody>
          <a:bodyPr/>
          <a:lstStyle/>
          <a:p>
            <a:endParaRPr lang="en-US"/>
          </a:p>
        </p:txBody>
      </p:sp>
      <p:sp>
        <p:nvSpPr>
          <p:cNvPr id="220" name="Shape 218"/>
          <p:cNvSpPr/>
          <p:nvPr/>
        </p:nvSpPr>
        <p:spPr>
          <a:xfrm>
            <a:off x="11265408" y="4690872"/>
            <a:ext cx="36576" cy="36576"/>
          </a:xfrm>
          <a:prstGeom prst="ellipse">
            <a:avLst/>
          </a:prstGeom>
          <a:solidFill>
            <a:srgbClr val="DFA9C4"/>
          </a:solidFill>
          <a:ln/>
        </p:spPr>
        <p:txBody>
          <a:bodyPr/>
          <a:lstStyle/>
          <a:p>
            <a:endParaRPr lang="en-US"/>
          </a:p>
        </p:txBody>
      </p:sp>
      <p:sp>
        <p:nvSpPr>
          <p:cNvPr id="221" name="Shape 219"/>
          <p:cNvSpPr/>
          <p:nvPr/>
        </p:nvSpPr>
        <p:spPr>
          <a:xfrm>
            <a:off x="11301984" y="4690872"/>
            <a:ext cx="36576" cy="36576"/>
          </a:xfrm>
          <a:prstGeom prst="ellipse">
            <a:avLst/>
          </a:prstGeom>
          <a:solidFill>
            <a:srgbClr val="DFA9C4"/>
          </a:solidFill>
          <a:ln/>
        </p:spPr>
        <p:txBody>
          <a:bodyPr/>
          <a:lstStyle/>
          <a:p>
            <a:endParaRPr lang="en-US"/>
          </a:p>
        </p:txBody>
      </p:sp>
      <p:sp>
        <p:nvSpPr>
          <p:cNvPr id="222" name="Shape 220"/>
          <p:cNvSpPr/>
          <p:nvPr/>
        </p:nvSpPr>
        <p:spPr>
          <a:xfrm>
            <a:off x="11338560" y="4690872"/>
            <a:ext cx="36576" cy="36576"/>
          </a:xfrm>
          <a:prstGeom prst="ellipse">
            <a:avLst/>
          </a:prstGeom>
          <a:solidFill>
            <a:srgbClr val="DFA9C4"/>
          </a:solidFill>
          <a:ln/>
        </p:spPr>
        <p:txBody>
          <a:bodyPr/>
          <a:lstStyle/>
          <a:p>
            <a:endParaRPr lang="en-US"/>
          </a:p>
        </p:txBody>
      </p:sp>
      <p:sp>
        <p:nvSpPr>
          <p:cNvPr id="223" name="Shape 221"/>
          <p:cNvSpPr/>
          <p:nvPr/>
        </p:nvSpPr>
        <p:spPr>
          <a:xfrm>
            <a:off x="11375136" y="4690872"/>
            <a:ext cx="36576" cy="36576"/>
          </a:xfrm>
          <a:prstGeom prst="ellipse">
            <a:avLst/>
          </a:prstGeom>
          <a:solidFill>
            <a:srgbClr val="DFA9C4"/>
          </a:solidFill>
          <a:ln/>
        </p:spPr>
        <p:txBody>
          <a:bodyPr/>
          <a:lstStyle/>
          <a:p>
            <a:endParaRPr lang="en-US"/>
          </a:p>
        </p:txBody>
      </p:sp>
      <p:sp>
        <p:nvSpPr>
          <p:cNvPr id="224" name="Shape 222"/>
          <p:cNvSpPr/>
          <p:nvPr/>
        </p:nvSpPr>
        <p:spPr>
          <a:xfrm>
            <a:off x="11411712" y="4690872"/>
            <a:ext cx="36576" cy="36576"/>
          </a:xfrm>
          <a:prstGeom prst="ellipse">
            <a:avLst/>
          </a:prstGeom>
          <a:solidFill>
            <a:srgbClr val="DFA9C4"/>
          </a:solidFill>
          <a:ln/>
        </p:spPr>
        <p:txBody>
          <a:bodyPr/>
          <a:lstStyle/>
          <a:p>
            <a:endParaRPr lang="en-US"/>
          </a:p>
        </p:txBody>
      </p:sp>
      <p:sp>
        <p:nvSpPr>
          <p:cNvPr id="225" name="Text 223"/>
          <p:cNvSpPr txBox="1"/>
          <p:nvPr/>
        </p:nvSpPr>
        <p:spPr>
          <a:xfrm>
            <a:off x="7406640" y="4754880"/>
            <a:ext cx="4023360" cy="256032"/>
          </a:xfrm>
          <a:prstGeom prst="rect">
            <a:avLst/>
          </a:prstGeom>
          <a:noFill/>
          <a:ln/>
        </p:spPr>
        <p:txBody>
          <a:bodyPr wrap="square" lIns="0" tIns="0" rIns="0" bIns="0" rtlCol="0" anchor="ctr"/>
          <a:lstStyle/>
          <a:p>
            <a:pPr marL="0" indent="0" algn="ctr">
              <a:buNone/>
            </a:pPr>
            <a:r>
              <a:rPr lang="en-US" sz="1100" i="1" dirty="0">
                <a:solidFill>
                  <a:srgbClr val="DFA9C4"/>
                </a:solidFill>
                <a:latin typeface="Calibri" pitchFamily="34" charset="0"/>
                <a:ea typeface="Calibri" pitchFamily="34" charset="-122"/>
                <a:cs typeface="Calibri" pitchFamily="34" charset="-120"/>
              </a:rPr>
              <a:t>the model</a:t>
            </a:r>
            <a:endParaRPr lang="en-US" sz="1100" dirty="0"/>
          </a:p>
        </p:txBody>
      </p:sp>
      <p:sp>
        <p:nvSpPr>
          <p:cNvPr id="226" name="Text 224"/>
          <p:cNvSpPr txBox="1"/>
          <p:nvPr/>
        </p:nvSpPr>
        <p:spPr>
          <a:xfrm>
            <a:off x="640080" y="1371600"/>
            <a:ext cx="6583680" cy="292608"/>
          </a:xfrm>
          <a:prstGeom prst="rect">
            <a:avLst/>
          </a:prstGeom>
          <a:noFill/>
          <a:ln/>
        </p:spPr>
        <p:txBody>
          <a:bodyPr wrap="square" lIns="0" tIns="0" rIns="0" bIns="0" rtlCol="0" anchor="ctr"/>
          <a:lstStyle/>
          <a:p>
            <a:pPr marL="0" indent="0">
              <a:buNone/>
            </a:pPr>
            <a:r>
              <a:rPr lang="en-US" sz="1200" b="1" kern="0" spc="180" dirty="0">
                <a:solidFill>
                  <a:srgbClr val="DFA9C4"/>
                </a:solidFill>
                <a:latin typeface="Calibri" pitchFamily="34" charset="0"/>
                <a:ea typeface="Calibri" pitchFamily="34" charset="-122"/>
                <a:cs typeface="Calibri" pitchFamily="34" charset="-120"/>
              </a:rPr>
              <a:t>AI IN SPECULATIVE MEDIA AND LITERATURES · WEEK 6</a:t>
            </a:r>
            <a:endParaRPr lang="en-US" sz="1200" dirty="0"/>
          </a:p>
        </p:txBody>
      </p:sp>
      <p:sp>
        <p:nvSpPr>
          <p:cNvPr id="227" name="Text 225"/>
          <p:cNvSpPr txBox="1"/>
          <p:nvPr/>
        </p:nvSpPr>
        <p:spPr>
          <a:xfrm>
            <a:off x="640080" y="1801368"/>
            <a:ext cx="6583680" cy="868680"/>
          </a:xfrm>
          <a:prstGeom prst="rect">
            <a:avLst/>
          </a:prstGeom>
          <a:noFill/>
          <a:ln/>
        </p:spPr>
        <p:txBody>
          <a:bodyPr wrap="square" lIns="0" tIns="0" rIns="0" bIns="0" rtlCol="0" anchor="ctr"/>
          <a:lstStyle/>
          <a:p>
            <a:pPr marL="0" indent="0">
              <a:buNone/>
            </a:pPr>
            <a:r>
              <a:rPr lang="en-US" sz="4600" b="1" dirty="0">
                <a:solidFill>
                  <a:srgbClr val="F2F4F8"/>
                </a:solidFill>
                <a:latin typeface="Cambria" pitchFamily="34" charset="0"/>
                <a:ea typeface="Cambria" pitchFamily="34" charset="-122"/>
                <a:cs typeface="Cambria" pitchFamily="34" charset="-120"/>
              </a:rPr>
              <a:t>Mode Collapse</a:t>
            </a:r>
            <a:endParaRPr lang="en-US" sz="4600" dirty="0"/>
          </a:p>
        </p:txBody>
      </p:sp>
      <p:sp>
        <p:nvSpPr>
          <p:cNvPr id="228" name="Shape 226"/>
          <p:cNvSpPr/>
          <p:nvPr/>
        </p:nvSpPr>
        <p:spPr>
          <a:xfrm>
            <a:off x="640080" y="2798064"/>
            <a:ext cx="2834640" cy="18288"/>
          </a:xfrm>
          <a:prstGeom prst="rect">
            <a:avLst/>
          </a:prstGeom>
          <a:solidFill>
            <a:srgbClr val="9C3D6E"/>
          </a:solidFill>
          <a:ln/>
        </p:spPr>
        <p:txBody>
          <a:bodyPr/>
          <a:lstStyle/>
          <a:p>
            <a:endParaRPr lang="en-US"/>
          </a:p>
        </p:txBody>
      </p:sp>
      <p:sp>
        <p:nvSpPr>
          <p:cNvPr id="229" name="Text 227"/>
          <p:cNvSpPr txBox="1"/>
          <p:nvPr/>
        </p:nvSpPr>
        <p:spPr>
          <a:xfrm>
            <a:off x="640080" y="3108960"/>
            <a:ext cx="6583680" cy="1828800"/>
          </a:xfrm>
          <a:prstGeom prst="rect">
            <a:avLst/>
          </a:prstGeom>
          <a:noFill/>
          <a:ln/>
        </p:spPr>
        <p:txBody>
          <a:bodyPr wrap="square" lIns="0" tIns="0" rIns="0" bIns="0" rtlCol="0" anchor="ctr"/>
          <a:lstStyle/>
          <a:p>
            <a:pPr marL="0" indent="0">
              <a:lnSpc>
                <a:spcPts val="2200"/>
              </a:lnSpc>
              <a:buNone/>
            </a:pPr>
            <a:r>
              <a:rPr lang="en-US" sz="1300" dirty="0">
                <a:solidFill>
                  <a:srgbClr val="F2F4F8"/>
                </a:solidFill>
                <a:latin typeface="Calibri" pitchFamily="34" charset="0"/>
                <a:ea typeface="Calibri" pitchFamily="34" charset="-122"/>
                <a:cs typeface="Calibri" pitchFamily="34" charset="-120"/>
              </a:rPr>
              <a:t>Goodfellow et al., “Generative Adversarial Networks” — abstract, Figure 1, §3</a:t>
            </a:r>
            <a:endParaRPr lang="en-US" sz="1300" dirty="0"/>
          </a:p>
          <a:p>
            <a:pPr marL="0" indent="0">
              <a:lnSpc>
                <a:spcPts val="2200"/>
              </a:lnSpc>
              <a:buNone/>
            </a:pPr>
            <a:r>
              <a:rPr lang="en-US" sz="1300" dirty="0">
                <a:solidFill>
                  <a:srgbClr val="F2F4F8"/>
                </a:solidFill>
                <a:latin typeface="Calibri" pitchFamily="34" charset="0"/>
                <a:ea typeface="Calibri" pitchFamily="34" charset="-122"/>
                <a:cs typeface="Calibri" pitchFamily="34" charset="-120"/>
              </a:rPr>
              <a:t>Bender et al., “On the Dangers of Stochastic Parrots”</a:t>
            </a:r>
            <a:endParaRPr lang="en-US" sz="1300" dirty="0"/>
          </a:p>
          <a:p>
            <a:pPr marL="0" indent="0">
              <a:lnSpc>
                <a:spcPts val="2200"/>
              </a:lnSpc>
              <a:buNone/>
            </a:pPr>
            <a:r>
              <a:rPr lang="en-US" sz="1300" dirty="0">
                <a:solidFill>
                  <a:srgbClr val="F2F4F8"/>
                </a:solidFill>
                <a:latin typeface="Calibri" pitchFamily="34" charset="0"/>
                <a:ea typeface="Calibri" pitchFamily="34" charset="-122"/>
                <a:cs typeface="Calibri" pitchFamily="34" charset="-120"/>
              </a:rPr>
              <a:t>Ruha Benjamin, Race After Technology — excerpt</a:t>
            </a:r>
            <a:endParaRPr lang="en-US" sz="1300" dirty="0"/>
          </a:p>
          <a:p>
            <a:pPr marL="0" indent="0">
              <a:lnSpc>
                <a:spcPts val="2200"/>
              </a:lnSpc>
              <a:buNone/>
            </a:pPr>
            <a:r>
              <a:rPr lang="en-US" sz="1300" dirty="0">
                <a:solidFill>
                  <a:srgbClr val="F2F4F8"/>
                </a:solidFill>
                <a:latin typeface="Calibri" pitchFamily="34" charset="0"/>
                <a:ea typeface="Calibri" pitchFamily="34" charset="-122"/>
                <a:cs typeface="Calibri" pitchFamily="34" charset="-120"/>
              </a:rPr>
              <a:t>Tier 2 exercise: forty variations on one prompt. Bring the results.</a:t>
            </a:r>
            <a:endParaRPr lang="en-US" sz="1300" dirty="0"/>
          </a:p>
          <a:p>
            <a:pPr marL="0" indent="0">
              <a:lnSpc>
                <a:spcPts val="2200"/>
              </a:lnSpc>
              <a:buNone/>
            </a:pPr>
            <a:r>
              <a:rPr lang="en-US" sz="1300" dirty="0">
                <a:solidFill>
                  <a:srgbClr val="F2F4F8"/>
                </a:solidFill>
                <a:latin typeface="Calibri" pitchFamily="34" charset="0"/>
                <a:ea typeface="Calibri" pitchFamily="34" charset="-122"/>
                <a:cs typeface="Calibri" pitchFamily="34" charset="-120"/>
              </a:rPr>
              <a:t>Session length: 5 hours, with four breaks</a:t>
            </a:r>
            <a:endParaRPr lang="en-US" sz="1300" dirty="0"/>
          </a:p>
        </p:txBody>
      </p:sp>
      <p:sp>
        <p:nvSpPr>
          <p:cNvPr id="230" name="Text 228"/>
          <p:cNvSpPr txBox="1"/>
          <p:nvPr/>
        </p:nvSpPr>
        <p:spPr>
          <a:xfrm>
            <a:off x="640080" y="5138928"/>
            <a:ext cx="6583680" cy="457200"/>
          </a:xfrm>
          <a:prstGeom prst="rect">
            <a:avLst/>
          </a:prstGeom>
          <a:noFill/>
          <a:ln/>
        </p:spPr>
        <p:txBody>
          <a:bodyPr wrap="square" lIns="0" tIns="0" rIns="0" bIns="0" rtlCol="0" anchor="ctr"/>
          <a:lstStyle/>
          <a:p>
            <a:pPr marL="0" indent="0">
              <a:buNone/>
            </a:pPr>
            <a:r>
              <a:rPr lang="en-US" sz="1250" i="1" dirty="0">
                <a:solidFill>
                  <a:srgbClr val="84CCBD"/>
                </a:solidFill>
                <a:latin typeface="Calibri" pitchFamily="34" charset="0"/>
                <a:ea typeface="Calibri" pitchFamily="34" charset="-122"/>
                <a:cs typeface="Calibri" pitchFamily="34" charset="-120"/>
              </a:rPr>
              <a:t>Key question: what disappears when a system optimises for approval?</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9C3D6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THE DECODER</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0E131B"/>
                </a:solidFill>
                <a:latin typeface="Cambria" pitchFamily="34" charset="0"/>
                <a:ea typeface="Cambria" pitchFamily="34" charset="-122"/>
                <a:cs typeface="Cambria" pitchFamily="34" charset="-120"/>
              </a:rPr>
              <a:t>New symbols this week — last week’s all still apply</a:t>
            </a:r>
            <a:endParaRPr lang="en-US" sz="2900" dirty="0"/>
          </a:p>
        </p:txBody>
      </p:sp>
      <p:sp>
        <p:nvSpPr>
          <p:cNvPr id="5" name="Shape 3"/>
          <p:cNvSpPr/>
          <p:nvPr/>
        </p:nvSpPr>
        <p:spPr>
          <a:xfrm>
            <a:off x="640080" y="1371600"/>
            <a:ext cx="2036003" cy="1847088"/>
          </a:xfrm>
          <a:prstGeom prst="roundRect">
            <a:avLst>
              <a:gd name="adj" fmla="val 3960"/>
            </a:avLst>
          </a:prstGeom>
          <a:solidFill>
            <a:srgbClr val="E6F2EF"/>
          </a:solidFill>
          <a:ln w="12700">
            <a:solidFill>
              <a:srgbClr val="E6F2EF"/>
            </a:solidFill>
            <a:prstDash val="solid"/>
          </a:ln>
        </p:spPr>
        <p:txBody>
          <a:bodyPr/>
          <a:lstStyle/>
          <a:p>
            <a:endParaRPr lang="en-US"/>
          </a:p>
        </p:txBody>
      </p:sp>
      <p:sp>
        <p:nvSpPr>
          <p:cNvPr id="6" name="Text 4"/>
          <p:cNvSpPr txBox="1"/>
          <p:nvPr/>
        </p:nvSpPr>
        <p:spPr>
          <a:xfrm>
            <a:off x="768096" y="1536192"/>
            <a:ext cx="1779971" cy="457200"/>
          </a:xfrm>
          <a:prstGeom prst="rect">
            <a:avLst/>
          </a:prstGeom>
          <a:noFill/>
          <a:ln/>
        </p:spPr>
        <p:txBody>
          <a:bodyPr wrap="square" lIns="0" tIns="0" rIns="0" bIns="0" rtlCol="0" anchor="ctr"/>
          <a:lstStyle/>
          <a:p>
            <a:pPr marL="0" indent="0" algn="ctr">
              <a:buNone/>
            </a:pPr>
            <a:r>
              <a:rPr lang="en-US" sz="1900" b="1" dirty="0">
                <a:solidFill>
                  <a:srgbClr val="1F7A6B"/>
                </a:solidFill>
                <a:latin typeface="Cambria Math" pitchFamily="34" charset="0"/>
                <a:ea typeface="Cambria Math" pitchFamily="34" charset="-122"/>
                <a:cs typeface="Cambria Math" pitchFamily="34" charset="-120"/>
              </a:rPr>
              <a:t>p</a:t>
            </a:r>
            <a:endParaRPr lang="en-US" sz="1900" dirty="0"/>
          </a:p>
        </p:txBody>
      </p:sp>
      <p:sp>
        <p:nvSpPr>
          <p:cNvPr id="7" name="Text 5"/>
          <p:cNvSpPr txBox="1"/>
          <p:nvPr/>
        </p:nvSpPr>
        <p:spPr>
          <a:xfrm>
            <a:off x="822960" y="2084832"/>
            <a:ext cx="1670243" cy="1005840"/>
          </a:xfrm>
          <a:prstGeom prst="rect">
            <a:avLst/>
          </a:prstGeom>
          <a:noFill/>
          <a:ln/>
        </p:spPr>
        <p:txBody>
          <a:bodyPr wrap="square" lIns="0" tIns="0" rIns="0" bIns="0" rtlCol="0" anchor="ctr"/>
          <a:lstStyle/>
          <a:p>
            <a:pPr marL="0" indent="0" algn="ctr">
              <a:lnSpc>
                <a:spcPts val="1400"/>
              </a:lnSpc>
              <a:buNone/>
            </a:pPr>
            <a:r>
              <a:rPr lang="en-US" sz="1050" dirty="0">
                <a:solidFill>
                  <a:srgbClr val="5B6474"/>
                </a:solidFill>
                <a:latin typeface="Calibri" pitchFamily="34" charset="0"/>
                <a:ea typeface="Calibri" pitchFamily="34" charset="-122"/>
                <a:cs typeface="Calibri" pitchFamily="34" charset="-120"/>
              </a:rPr>
              <a:t>a distribution: how often each possible thing happens. p(x) is how common x is.</a:t>
            </a:r>
            <a:endParaRPr lang="en-US" sz="1050" dirty="0"/>
          </a:p>
        </p:txBody>
      </p:sp>
      <p:sp>
        <p:nvSpPr>
          <p:cNvPr id="8" name="Shape 6"/>
          <p:cNvSpPr/>
          <p:nvPr/>
        </p:nvSpPr>
        <p:spPr>
          <a:xfrm>
            <a:off x="2858963" y="1371600"/>
            <a:ext cx="2036003" cy="1847088"/>
          </a:xfrm>
          <a:prstGeom prst="roundRect">
            <a:avLst>
              <a:gd name="adj" fmla="val 3960"/>
            </a:avLst>
          </a:prstGeom>
          <a:solidFill>
            <a:srgbClr val="F8EBF2"/>
          </a:solidFill>
          <a:ln w="12700">
            <a:solidFill>
              <a:srgbClr val="F8EBF2"/>
            </a:solidFill>
            <a:prstDash val="solid"/>
          </a:ln>
        </p:spPr>
        <p:txBody>
          <a:bodyPr/>
          <a:lstStyle/>
          <a:p>
            <a:endParaRPr lang="en-US"/>
          </a:p>
        </p:txBody>
      </p:sp>
      <p:sp>
        <p:nvSpPr>
          <p:cNvPr id="9" name="Text 7"/>
          <p:cNvSpPr txBox="1"/>
          <p:nvPr/>
        </p:nvSpPr>
        <p:spPr>
          <a:xfrm>
            <a:off x="2986979" y="1536192"/>
            <a:ext cx="1779971" cy="457200"/>
          </a:xfrm>
          <a:prstGeom prst="rect">
            <a:avLst/>
          </a:prstGeom>
          <a:noFill/>
          <a:ln/>
        </p:spPr>
        <p:txBody>
          <a:bodyPr wrap="square" lIns="0" tIns="0" rIns="0" bIns="0" rtlCol="0" anchor="ctr"/>
          <a:lstStyle/>
          <a:p>
            <a:pPr marL="0" indent="0" algn="ctr">
              <a:buNone/>
            </a:pPr>
            <a:r>
              <a:rPr lang="en-US" sz="1900" b="1" dirty="0">
                <a:solidFill>
                  <a:srgbClr val="9C3D6E"/>
                </a:solidFill>
                <a:latin typeface="Cambria Math" pitchFamily="34" charset="0"/>
                <a:ea typeface="Cambria Math" pitchFamily="34" charset="-122"/>
                <a:cs typeface="Cambria Math" pitchFamily="34" charset="-120"/>
              </a:rPr>
              <a:t>p_data vs p_g</a:t>
            </a:r>
            <a:endParaRPr lang="en-US" sz="1900" dirty="0"/>
          </a:p>
        </p:txBody>
      </p:sp>
      <p:sp>
        <p:nvSpPr>
          <p:cNvPr id="10" name="Text 8"/>
          <p:cNvSpPr txBox="1"/>
          <p:nvPr/>
        </p:nvSpPr>
        <p:spPr>
          <a:xfrm>
            <a:off x="3041843" y="2084832"/>
            <a:ext cx="1670243" cy="1005840"/>
          </a:xfrm>
          <a:prstGeom prst="rect">
            <a:avLst/>
          </a:prstGeom>
          <a:noFill/>
          <a:ln/>
        </p:spPr>
        <p:txBody>
          <a:bodyPr wrap="square" lIns="0" tIns="0" rIns="0" bIns="0" rtlCol="0" anchor="ctr"/>
          <a:lstStyle/>
          <a:p>
            <a:pPr marL="0" indent="0" algn="ctr">
              <a:lnSpc>
                <a:spcPts val="1400"/>
              </a:lnSpc>
              <a:buNone/>
            </a:pPr>
            <a:r>
              <a:rPr lang="en-US" sz="1050" dirty="0">
                <a:solidFill>
                  <a:srgbClr val="5B6474"/>
                </a:solidFill>
                <a:latin typeface="Calibri" pitchFamily="34" charset="0"/>
                <a:ea typeface="Calibri" pitchFamily="34" charset="-122"/>
                <a:cs typeface="Calibri" pitchFamily="34" charset="-120"/>
              </a:rPr>
              <a:t>the real distribution of the world (data) versus the model’s distribution (generated).</a:t>
            </a:r>
            <a:endParaRPr lang="en-US" sz="1050" dirty="0"/>
          </a:p>
        </p:txBody>
      </p:sp>
      <p:sp>
        <p:nvSpPr>
          <p:cNvPr id="11" name="Shape 9"/>
          <p:cNvSpPr/>
          <p:nvPr/>
        </p:nvSpPr>
        <p:spPr>
          <a:xfrm>
            <a:off x="5077846" y="1371600"/>
            <a:ext cx="2036003" cy="1847088"/>
          </a:xfrm>
          <a:prstGeom prst="roundRect">
            <a:avLst>
              <a:gd name="adj" fmla="val 3960"/>
            </a:avLst>
          </a:prstGeom>
          <a:solidFill>
            <a:srgbClr val="E6F2EF"/>
          </a:solidFill>
          <a:ln w="12700">
            <a:solidFill>
              <a:srgbClr val="E6F2EF"/>
            </a:solidFill>
            <a:prstDash val="solid"/>
          </a:ln>
        </p:spPr>
        <p:txBody>
          <a:bodyPr/>
          <a:lstStyle/>
          <a:p>
            <a:endParaRPr lang="en-US"/>
          </a:p>
        </p:txBody>
      </p:sp>
      <p:sp>
        <p:nvSpPr>
          <p:cNvPr id="12" name="Text 10"/>
          <p:cNvSpPr txBox="1"/>
          <p:nvPr/>
        </p:nvSpPr>
        <p:spPr>
          <a:xfrm>
            <a:off x="5205862" y="1536192"/>
            <a:ext cx="1779971" cy="457200"/>
          </a:xfrm>
          <a:prstGeom prst="rect">
            <a:avLst/>
          </a:prstGeom>
          <a:noFill/>
          <a:ln/>
        </p:spPr>
        <p:txBody>
          <a:bodyPr wrap="square" lIns="0" tIns="0" rIns="0" bIns="0" rtlCol="0" anchor="ctr"/>
          <a:lstStyle/>
          <a:p>
            <a:pPr marL="0" indent="0" algn="ctr">
              <a:buNone/>
            </a:pPr>
            <a:r>
              <a:rPr lang="en-US" sz="1900" b="1" dirty="0">
                <a:solidFill>
                  <a:srgbClr val="1F7A6B"/>
                </a:solidFill>
                <a:latin typeface="Cambria Math" pitchFamily="34" charset="0"/>
                <a:ea typeface="Cambria Math" pitchFamily="34" charset="-122"/>
                <a:cs typeface="Cambria Math" pitchFamily="34" charset="-120"/>
              </a:rPr>
              <a:t>G</a:t>
            </a:r>
            <a:endParaRPr lang="en-US" sz="1900" dirty="0"/>
          </a:p>
        </p:txBody>
      </p:sp>
      <p:sp>
        <p:nvSpPr>
          <p:cNvPr id="13" name="Text 11"/>
          <p:cNvSpPr txBox="1"/>
          <p:nvPr/>
        </p:nvSpPr>
        <p:spPr>
          <a:xfrm>
            <a:off x="5260726" y="2084832"/>
            <a:ext cx="1670243" cy="1005840"/>
          </a:xfrm>
          <a:prstGeom prst="rect">
            <a:avLst/>
          </a:prstGeom>
          <a:noFill/>
          <a:ln/>
        </p:spPr>
        <p:txBody>
          <a:bodyPr wrap="square" lIns="0" tIns="0" rIns="0" bIns="0" rtlCol="0" anchor="ctr"/>
          <a:lstStyle/>
          <a:p>
            <a:pPr marL="0" indent="0" algn="ctr">
              <a:lnSpc>
                <a:spcPts val="1400"/>
              </a:lnSpc>
              <a:buNone/>
            </a:pPr>
            <a:r>
              <a:rPr lang="en-US" sz="1050" dirty="0">
                <a:solidFill>
                  <a:srgbClr val="5B6474"/>
                </a:solidFill>
                <a:latin typeface="Calibri" pitchFamily="34" charset="0"/>
                <a:ea typeface="Calibri" pitchFamily="34" charset="-122"/>
                <a:cs typeface="Calibri" pitchFamily="34" charset="-120"/>
              </a:rPr>
              <a:t>the generator. A function that turns random noise into an output.</a:t>
            </a:r>
            <a:endParaRPr lang="en-US" sz="1050" dirty="0"/>
          </a:p>
        </p:txBody>
      </p:sp>
      <p:sp>
        <p:nvSpPr>
          <p:cNvPr id="14" name="Shape 12"/>
          <p:cNvSpPr/>
          <p:nvPr/>
        </p:nvSpPr>
        <p:spPr>
          <a:xfrm>
            <a:off x="7296729" y="1371600"/>
            <a:ext cx="2036003" cy="1847088"/>
          </a:xfrm>
          <a:prstGeom prst="roundRect">
            <a:avLst>
              <a:gd name="adj" fmla="val 3960"/>
            </a:avLst>
          </a:prstGeom>
          <a:solidFill>
            <a:srgbClr val="F8EBF2"/>
          </a:solidFill>
          <a:ln w="12700">
            <a:solidFill>
              <a:srgbClr val="F8EBF2"/>
            </a:solidFill>
            <a:prstDash val="solid"/>
          </a:ln>
        </p:spPr>
        <p:txBody>
          <a:bodyPr/>
          <a:lstStyle/>
          <a:p>
            <a:endParaRPr lang="en-US"/>
          </a:p>
        </p:txBody>
      </p:sp>
      <p:sp>
        <p:nvSpPr>
          <p:cNvPr id="15" name="Text 13"/>
          <p:cNvSpPr txBox="1"/>
          <p:nvPr/>
        </p:nvSpPr>
        <p:spPr>
          <a:xfrm>
            <a:off x="7424745" y="1536192"/>
            <a:ext cx="1779971" cy="457200"/>
          </a:xfrm>
          <a:prstGeom prst="rect">
            <a:avLst/>
          </a:prstGeom>
          <a:noFill/>
          <a:ln/>
        </p:spPr>
        <p:txBody>
          <a:bodyPr wrap="square" lIns="0" tIns="0" rIns="0" bIns="0" rtlCol="0" anchor="ctr"/>
          <a:lstStyle/>
          <a:p>
            <a:pPr marL="0" indent="0" algn="ctr">
              <a:buNone/>
            </a:pPr>
            <a:r>
              <a:rPr lang="en-US" sz="1900" b="1" dirty="0">
                <a:solidFill>
                  <a:srgbClr val="9C3D6E"/>
                </a:solidFill>
                <a:latin typeface="Cambria Math" pitchFamily="34" charset="0"/>
                <a:ea typeface="Cambria Math" pitchFamily="34" charset="-122"/>
                <a:cs typeface="Cambria Math" pitchFamily="34" charset="-120"/>
              </a:rPr>
              <a:t>D</a:t>
            </a:r>
            <a:endParaRPr lang="en-US" sz="1900" dirty="0"/>
          </a:p>
        </p:txBody>
      </p:sp>
      <p:sp>
        <p:nvSpPr>
          <p:cNvPr id="16" name="Text 14"/>
          <p:cNvSpPr txBox="1"/>
          <p:nvPr/>
        </p:nvSpPr>
        <p:spPr>
          <a:xfrm>
            <a:off x="7479609" y="2084832"/>
            <a:ext cx="1670243" cy="1005840"/>
          </a:xfrm>
          <a:prstGeom prst="rect">
            <a:avLst/>
          </a:prstGeom>
          <a:noFill/>
          <a:ln/>
        </p:spPr>
        <p:txBody>
          <a:bodyPr wrap="square" lIns="0" tIns="0" rIns="0" bIns="0" rtlCol="0" anchor="ctr"/>
          <a:lstStyle/>
          <a:p>
            <a:pPr marL="0" indent="0" algn="ctr">
              <a:lnSpc>
                <a:spcPts val="1400"/>
              </a:lnSpc>
              <a:buNone/>
            </a:pPr>
            <a:r>
              <a:rPr lang="en-US" sz="1050" dirty="0">
                <a:solidFill>
                  <a:srgbClr val="5B6474"/>
                </a:solidFill>
                <a:latin typeface="Calibri" pitchFamily="34" charset="0"/>
                <a:ea typeface="Calibri" pitchFamily="34" charset="-122"/>
                <a:cs typeface="Calibri" pitchFamily="34" charset="-120"/>
              </a:rPr>
              <a:t>the discriminator, or critic. A function that scores how real something looks, 0 to 1.</a:t>
            </a:r>
            <a:endParaRPr lang="en-US" sz="1050" dirty="0"/>
          </a:p>
        </p:txBody>
      </p:sp>
      <p:sp>
        <p:nvSpPr>
          <p:cNvPr id="17" name="Shape 15"/>
          <p:cNvSpPr/>
          <p:nvPr/>
        </p:nvSpPr>
        <p:spPr>
          <a:xfrm>
            <a:off x="9515612" y="1371600"/>
            <a:ext cx="2036003" cy="1847088"/>
          </a:xfrm>
          <a:prstGeom prst="roundRect">
            <a:avLst>
              <a:gd name="adj" fmla="val 3960"/>
            </a:avLst>
          </a:prstGeom>
          <a:solidFill>
            <a:srgbClr val="E6F2EF"/>
          </a:solidFill>
          <a:ln w="12700">
            <a:solidFill>
              <a:srgbClr val="E6F2EF"/>
            </a:solidFill>
            <a:prstDash val="solid"/>
          </a:ln>
        </p:spPr>
        <p:txBody>
          <a:bodyPr/>
          <a:lstStyle/>
          <a:p>
            <a:endParaRPr lang="en-US"/>
          </a:p>
        </p:txBody>
      </p:sp>
      <p:sp>
        <p:nvSpPr>
          <p:cNvPr id="18" name="Text 16"/>
          <p:cNvSpPr txBox="1"/>
          <p:nvPr/>
        </p:nvSpPr>
        <p:spPr>
          <a:xfrm>
            <a:off x="9643628" y="1536192"/>
            <a:ext cx="1779971" cy="457200"/>
          </a:xfrm>
          <a:prstGeom prst="rect">
            <a:avLst/>
          </a:prstGeom>
          <a:noFill/>
          <a:ln/>
        </p:spPr>
        <p:txBody>
          <a:bodyPr wrap="square" lIns="0" tIns="0" rIns="0" bIns="0" rtlCol="0" anchor="ctr"/>
          <a:lstStyle/>
          <a:p>
            <a:pPr marL="0" indent="0" algn="ctr">
              <a:buNone/>
            </a:pPr>
            <a:r>
              <a:rPr lang="en-US" sz="1900" b="1" dirty="0">
                <a:solidFill>
                  <a:srgbClr val="1F7A6B"/>
                </a:solidFill>
                <a:latin typeface="Cambria Math" pitchFamily="34" charset="0"/>
                <a:ea typeface="Cambria Math" pitchFamily="34" charset="-122"/>
                <a:cs typeface="Cambria Math" pitchFamily="34" charset="-120"/>
              </a:rPr>
              <a:t>z</a:t>
            </a:r>
            <a:endParaRPr lang="en-US" sz="1900" dirty="0"/>
          </a:p>
        </p:txBody>
      </p:sp>
      <p:sp>
        <p:nvSpPr>
          <p:cNvPr id="19" name="Text 17"/>
          <p:cNvSpPr txBox="1"/>
          <p:nvPr/>
        </p:nvSpPr>
        <p:spPr>
          <a:xfrm>
            <a:off x="9698492" y="2084832"/>
            <a:ext cx="1670243" cy="1005840"/>
          </a:xfrm>
          <a:prstGeom prst="rect">
            <a:avLst/>
          </a:prstGeom>
          <a:noFill/>
          <a:ln/>
        </p:spPr>
        <p:txBody>
          <a:bodyPr wrap="square" lIns="0" tIns="0" rIns="0" bIns="0" rtlCol="0" anchor="ctr"/>
          <a:lstStyle/>
          <a:p>
            <a:pPr marL="0" indent="0" algn="ctr">
              <a:lnSpc>
                <a:spcPts val="1400"/>
              </a:lnSpc>
              <a:buNone/>
            </a:pPr>
            <a:r>
              <a:rPr lang="en-US" sz="1050" dirty="0">
                <a:solidFill>
                  <a:srgbClr val="5B6474"/>
                </a:solidFill>
                <a:latin typeface="Calibri" pitchFamily="34" charset="0"/>
                <a:ea typeface="Calibri" pitchFamily="34" charset="-122"/>
                <a:cs typeface="Calibri" pitchFamily="34" charset="-120"/>
              </a:rPr>
              <a:t>random noise fed into G. The only source of variety the generator has.</a:t>
            </a:r>
            <a:endParaRPr lang="en-US" sz="1050" dirty="0"/>
          </a:p>
        </p:txBody>
      </p:sp>
      <p:sp>
        <p:nvSpPr>
          <p:cNvPr id="20" name="Shape 18"/>
          <p:cNvSpPr/>
          <p:nvPr/>
        </p:nvSpPr>
        <p:spPr>
          <a:xfrm>
            <a:off x="640080" y="3383280"/>
            <a:ext cx="2036003" cy="1847088"/>
          </a:xfrm>
          <a:prstGeom prst="roundRect">
            <a:avLst>
              <a:gd name="adj" fmla="val 3960"/>
            </a:avLst>
          </a:prstGeom>
          <a:solidFill>
            <a:srgbClr val="F8EBF2"/>
          </a:solidFill>
          <a:ln w="12700">
            <a:solidFill>
              <a:srgbClr val="F8EBF2"/>
            </a:solidFill>
            <a:prstDash val="solid"/>
          </a:ln>
        </p:spPr>
        <p:txBody>
          <a:bodyPr/>
          <a:lstStyle/>
          <a:p>
            <a:endParaRPr lang="en-US"/>
          </a:p>
        </p:txBody>
      </p:sp>
      <p:sp>
        <p:nvSpPr>
          <p:cNvPr id="21" name="Text 19"/>
          <p:cNvSpPr txBox="1"/>
          <p:nvPr/>
        </p:nvSpPr>
        <p:spPr>
          <a:xfrm>
            <a:off x="768096" y="3547872"/>
            <a:ext cx="1779971" cy="457200"/>
          </a:xfrm>
          <a:prstGeom prst="rect">
            <a:avLst/>
          </a:prstGeom>
          <a:noFill/>
          <a:ln/>
        </p:spPr>
        <p:txBody>
          <a:bodyPr wrap="square" lIns="0" tIns="0" rIns="0" bIns="0" rtlCol="0" anchor="ctr"/>
          <a:lstStyle/>
          <a:p>
            <a:pPr marL="0" indent="0" algn="ctr">
              <a:buNone/>
            </a:pPr>
            <a:r>
              <a:rPr lang="en-US" sz="1900" b="1" dirty="0">
                <a:solidFill>
                  <a:srgbClr val="9C3D6E"/>
                </a:solidFill>
                <a:latin typeface="Cambria Math" pitchFamily="34" charset="0"/>
                <a:ea typeface="Cambria Math" pitchFamily="34" charset="-122"/>
                <a:cs typeface="Cambria Math" pitchFamily="34" charset="-120"/>
              </a:rPr>
              <a:t>E[·]</a:t>
            </a:r>
            <a:endParaRPr lang="en-US" sz="1900" dirty="0"/>
          </a:p>
        </p:txBody>
      </p:sp>
      <p:sp>
        <p:nvSpPr>
          <p:cNvPr id="22" name="Text 20"/>
          <p:cNvSpPr txBox="1"/>
          <p:nvPr/>
        </p:nvSpPr>
        <p:spPr>
          <a:xfrm>
            <a:off x="822960" y="4096512"/>
            <a:ext cx="1670243" cy="1005840"/>
          </a:xfrm>
          <a:prstGeom prst="rect">
            <a:avLst/>
          </a:prstGeom>
          <a:noFill/>
          <a:ln/>
        </p:spPr>
        <p:txBody>
          <a:bodyPr wrap="square" lIns="0" tIns="0" rIns="0" bIns="0" rtlCol="0" anchor="ctr"/>
          <a:lstStyle/>
          <a:p>
            <a:pPr marL="0" indent="0" algn="ctr">
              <a:lnSpc>
                <a:spcPts val="1400"/>
              </a:lnSpc>
              <a:buNone/>
            </a:pPr>
            <a:r>
              <a:rPr lang="en-US" sz="1050" dirty="0">
                <a:solidFill>
                  <a:srgbClr val="5B6474"/>
                </a:solidFill>
                <a:latin typeface="Calibri" pitchFamily="34" charset="0"/>
                <a:ea typeface="Calibri" pitchFamily="34" charset="-122"/>
                <a:cs typeface="Calibri" pitchFamily="34" charset="-120"/>
              </a:rPr>
              <a:t>the average of the thing in brackets, taken over many samples.</a:t>
            </a:r>
            <a:endParaRPr lang="en-US" sz="1050" dirty="0"/>
          </a:p>
        </p:txBody>
      </p:sp>
      <p:sp>
        <p:nvSpPr>
          <p:cNvPr id="23" name="Shape 21"/>
          <p:cNvSpPr/>
          <p:nvPr/>
        </p:nvSpPr>
        <p:spPr>
          <a:xfrm>
            <a:off x="2858963" y="3383280"/>
            <a:ext cx="2036003" cy="1847088"/>
          </a:xfrm>
          <a:prstGeom prst="roundRect">
            <a:avLst>
              <a:gd name="adj" fmla="val 3960"/>
            </a:avLst>
          </a:prstGeom>
          <a:solidFill>
            <a:srgbClr val="E6F2EF"/>
          </a:solidFill>
          <a:ln w="12700">
            <a:solidFill>
              <a:srgbClr val="E6F2EF"/>
            </a:solidFill>
            <a:prstDash val="solid"/>
          </a:ln>
        </p:spPr>
        <p:txBody>
          <a:bodyPr/>
          <a:lstStyle/>
          <a:p>
            <a:endParaRPr lang="en-US"/>
          </a:p>
        </p:txBody>
      </p:sp>
      <p:sp>
        <p:nvSpPr>
          <p:cNvPr id="24" name="Text 22"/>
          <p:cNvSpPr txBox="1"/>
          <p:nvPr/>
        </p:nvSpPr>
        <p:spPr>
          <a:xfrm>
            <a:off x="2986979" y="3547872"/>
            <a:ext cx="1779971" cy="457200"/>
          </a:xfrm>
          <a:prstGeom prst="rect">
            <a:avLst/>
          </a:prstGeom>
          <a:noFill/>
          <a:ln/>
        </p:spPr>
        <p:txBody>
          <a:bodyPr wrap="square" lIns="0" tIns="0" rIns="0" bIns="0" rtlCol="0" anchor="ctr"/>
          <a:lstStyle/>
          <a:p>
            <a:pPr marL="0" indent="0" algn="ctr">
              <a:buNone/>
            </a:pPr>
            <a:r>
              <a:rPr lang="en-US" sz="1900" b="1" dirty="0">
                <a:solidFill>
                  <a:srgbClr val="1F7A6B"/>
                </a:solidFill>
                <a:latin typeface="Cambria Math" pitchFamily="34" charset="0"/>
                <a:ea typeface="Cambria Math" pitchFamily="34" charset="-122"/>
                <a:cs typeface="Cambria Math" pitchFamily="34" charset="-120"/>
              </a:rPr>
              <a:t>KL(p‖q)</a:t>
            </a:r>
            <a:endParaRPr lang="en-US" sz="1900" dirty="0"/>
          </a:p>
        </p:txBody>
      </p:sp>
      <p:sp>
        <p:nvSpPr>
          <p:cNvPr id="25" name="Text 23"/>
          <p:cNvSpPr txBox="1"/>
          <p:nvPr/>
        </p:nvSpPr>
        <p:spPr>
          <a:xfrm>
            <a:off x="3041843" y="4096512"/>
            <a:ext cx="1670243" cy="1005840"/>
          </a:xfrm>
          <a:prstGeom prst="rect">
            <a:avLst/>
          </a:prstGeom>
          <a:noFill/>
          <a:ln/>
        </p:spPr>
        <p:txBody>
          <a:bodyPr wrap="square" lIns="0" tIns="0" rIns="0" bIns="0" rtlCol="0" anchor="ctr"/>
          <a:lstStyle/>
          <a:p>
            <a:pPr marL="0" indent="0" algn="ctr">
              <a:lnSpc>
                <a:spcPts val="1400"/>
              </a:lnSpc>
              <a:buNone/>
            </a:pPr>
            <a:r>
              <a:rPr lang="en-US" sz="1050" dirty="0">
                <a:solidFill>
                  <a:srgbClr val="5B6474"/>
                </a:solidFill>
                <a:latin typeface="Calibri" pitchFamily="34" charset="0"/>
                <a:ea typeface="Calibri" pitchFamily="34" charset="-122"/>
                <a:cs typeface="Calibri" pitchFamily="34" charset="-120"/>
              </a:rPr>
              <a:t>how badly q fails as a stand-in for p. Zero only if they are identical.</a:t>
            </a:r>
            <a:endParaRPr lang="en-US" sz="1050" dirty="0"/>
          </a:p>
        </p:txBody>
      </p:sp>
      <p:sp>
        <p:nvSpPr>
          <p:cNvPr id="26" name="Shape 24"/>
          <p:cNvSpPr/>
          <p:nvPr/>
        </p:nvSpPr>
        <p:spPr>
          <a:xfrm>
            <a:off x="5077846" y="3383280"/>
            <a:ext cx="2036003" cy="1847088"/>
          </a:xfrm>
          <a:prstGeom prst="roundRect">
            <a:avLst>
              <a:gd name="adj" fmla="val 3960"/>
            </a:avLst>
          </a:prstGeom>
          <a:solidFill>
            <a:srgbClr val="F8EBF2"/>
          </a:solidFill>
          <a:ln w="12700">
            <a:solidFill>
              <a:srgbClr val="F8EBF2"/>
            </a:solidFill>
            <a:prstDash val="solid"/>
          </a:ln>
        </p:spPr>
        <p:txBody>
          <a:bodyPr/>
          <a:lstStyle/>
          <a:p>
            <a:endParaRPr lang="en-US"/>
          </a:p>
        </p:txBody>
      </p:sp>
      <p:sp>
        <p:nvSpPr>
          <p:cNvPr id="27" name="Text 25"/>
          <p:cNvSpPr txBox="1"/>
          <p:nvPr/>
        </p:nvSpPr>
        <p:spPr>
          <a:xfrm>
            <a:off x="5205862" y="3547872"/>
            <a:ext cx="1779971" cy="457200"/>
          </a:xfrm>
          <a:prstGeom prst="rect">
            <a:avLst/>
          </a:prstGeom>
          <a:noFill/>
          <a:ln/>
        </p:spPr>
        <p:txBody>
          <a:bodyPr wrap="square" lIns="0" tIns="0" rIns="0" bIns="0" rtlCol="0" anchor="ctr"/>
          <a:lstStyle/>
          <a:p>
            <a:pPr marL="0" indent="0" algn="ctr">
              <a:buNone/>
            </a:pPr>
            <a:r>
              <a:rPr lang="en-US" sz="1900" b="1" dirty="0">
                <a:solidFill>
                  <a:srgbClr val="9C3D6E"/>
                </a:solidFill>
                <a:latin typeface="Cambria Math" pitchFamily="34" charset="0"/>
                <a:ea typeface="Cambria Math" pitchFamily="34" charset="-122"/>
                <a:cs typeface="Cambria Math" pitchFamily="34" charset="-120"/>
              </a:rPr>
              <a:t>JSD(p‖q)</a:t>
            </a:r>
            <a:endParaRPr lang="en-US" sz="1900" dirty="0"/>
          </a:p>
        </p:txBody>
      </p:sp>
      <p:sp>
        <p:nvSpPr>
          <p:cNvPr id="28" name="Text 26"/>
          <p:cNvSpPr txBox="1"/>
          <p:nvPr/>
        </p:nvSpPr>
        <p:spPr>
          <a:xfrm>
            <a:off x="5260726" y="4096512"/>
            <a:ext cx="1670243" cy="1005840"/>
          </a:xfrm>
          <a:prstGeom prst="rect">
            <a:avLst/>
          </a:prstGeom>
          <a:noFill/>
          <a:ln/>
        </p:spPr>
        <p:txBody>
          <a:bodyPr wrap="square" lIns="0" tIns="0" rIns="0" bIns="0" rtlCol="0" anchor="ctr"/>
          <a:lstStyle/>
          <a:p>
            <a:pPr marL="0" indent="0" algn="ctr">
              <a:lnSpc>
                <a:spcPts val="1400"/>
              </a:lnSpc>
              <a:buNone/>
            </a:pPr>
            <a:r>
              <a:rPr lang="en-US" sz="1050" dirty="0">
                <a:solidFill>
                  <a:srgbClr val="5B6474"/>
                </a:solidFill>
                <a:latin typeface="Calibri" pitchFamily="34" charset="0"/>
                <a:ea typeface="Calibri" pitchFamily="34" charset="-122"/>
                <a:cs typeface="Calibri" pitchFamily="34" charset="-120"/>
              </a:rPr>
              <a:t>a symmetric, well-behaved cousin of KL. Also zero only if identical.</a:t>
            </a:r>
            <a:endParaRPr lang="en-US" sz="1050" dirty="0"/>
          </a:p>
        </p:txBody>
      </p:sp>
      <p:sp>
        <p:nvSpPr>
          <p:cNvPr id="29" name="Shape 27"/>
          <p:cNvSpPr/>
          <p:nvPr/>
        </p:nvSpPr>
        <p:spPr>
          <a:xfrm>
            <a:off x="7296729" y="3383280"/>
            <a:ext cx="2036003" cy="1847088"/>
          </a:xfrm>
          <a:prstGeom prst="roundRect">
            <a:avLst>
              <a:gd name="adj" fmla="val 3960"/>
            </a:avLst>
          </a:prstGeom>
          <a:solidFill>
            <a:srgbClr val="E6F2EF"/>
          </a:solidFill>
          <a:ln w="12700">
            <a:solidFill>
              <a:srgbClr val="E6F2EF"/>
            </a:solidFill>
            <a:prstDash val="solid"/>
          </a:ln>
        </p:spPr>
        <p:txBody>
          <a:bodyPr/>
          <a:lstStyle/>
          <a:p>
            <a:endParaRPr lang="en-US"/>
          </a:p>
        </p:txBody>
      </p:sp>
      <p:sp>
        <p:nvSpPr>
          <p:cNvPr id="30" name="Text 28"/>
          <p:cNvSpPr txBox="1"/>
          <p:nvPr/>
        </p:nvSpPr>
        <p:spPr>
          <a:xfrm>
            <a:off x="7424745" y="3547872"/>
            <a:ext cx="1779971" cy="457200"/>
          </a:xfrm>
          <a:prstGeom prst="rect">
            <a:avLst/>
          </a:prstGeom>
          <a:noFill/>
          <a:ln/>
        </p:spPr>
        <p:txBody>
          <a:bodyPr wrap="square" lIns="0" tIns="0" rIns="0" bIns="0" rtlCol="0" anchor="ctr"/>
          <a:lstStyle/>
          <a:p>
            <a:pPr marL="0" indent="0" algn="ctr">
              <a:buNone/>
            </a:pPr>
            <a:r>
              <a:rPr lang="en-US" sz="1900" b="1" dirty="0">
                <a:solidFill>
                  <a:srgbClr val="1F7A6B"/>
                </a:solidFill>
                <a:latin typeface="Cambria Math" pitchFamily="34" charset="0"/>
                <a:ea typeface="Cambria Math" pitchFamily="34" charset="-122"/>
                <a:cs typeface="Cambria Math" pitchFamily="34" charset="-120"/>
              </a:rPr>
              <a:t>H(p)</a:t>
            </a:r>
            <a:endParaRPr lang="en-US" sz="1900" dirty="0"/>
          </a:p>
        </p:txBody>
      </p:sp>
      <p:sp>
        <p:nvSpPr>
          <p:cNvPr id="31" name="Text 29"/>
          <p:cNvSpPr txBox="1"/>
          <p:nvPr/>
        </p:nvSpPr>
        <p:spPr>
          <a:xfrm>
            <a:off x="7479609" y="4096512"/>
            <a:ext cx="1670243" cy="1005840"/>
          </a:xfrm>
          <a:prstGeom prst="rect">
            <a:avLst/>
          </a:prstGeom>
          <a:noFill/>
          <a:ln/>
        </p:spPr>
        <p:txBody>
          <a:bodyPr wrap="square" lIns="0" tIns="0" rIns="0" bIns="0" rtlCol="0" anchor="ctr"/>
          <a:lstStyle/>
          <a:p>
            <a:pPr marL="0" indent="0" algn="ctr">
              <a:lnSpc>
                <a:spcPts val="1400"/>
              </a:lnSpc>
              <a:buNone/>
            </a:pPr>
            <a:r>
              <a:rPr lang="en-US" sz="1050" dirty="0">
                <a:solidFill>
                  <a:srgbClr val="5B6474"/>
                </a:solidFill>
                <a:latin typeface="Calibri" pitchFamily="34" charset="0"/>
                <a:ea typeface="Calibri" pitchFamily="34" charset="-122"/>
                <a:cs typeface="Calibri" pitchFamily="34" charset="-120"/>
              </a:rPr>
              <a:t>entropy: how spread out a distribution is. High means varied, low means concentrated.</a:t>
            </a:r>
            <a:endParaRPr lang="en-US" sz="1050" dirty="0"/>
          </a:p>
        </p:txBody>
      </p:sp>
      <p:sp>
        <p:nvSpPr>
          <p:cNvPr id="32" name="Shape 30"/>
          <p:cNvSpPr/>
          <p:nvPr/>
        </p:nvSpPr>
        <p:spPr>
          <a:xfrm>
            <a:off x="9515612" y="3383280"/>
            <a:ext cx="2036003" cy="1847088"/>
          </a:xfrm>
          <a:prstGeom prst="roundRect">
            <a:avLst>
              <a:gd name="adj" fmla="val 3960"/>
            </a:avLst>
          </a:prstGeom>
          <a:solidFill>
            <a:srgbClr val="F8EBF2"/>
          </a:solidFill>
          <a:ln w="12700">
            <a:solidFill>
              <a:srgbClr val="F8EBF2"/>
            </a:solidFill>
            <a:prstDash val="solid"/>
          </a:ln>
        </p:spPr>
        <p:txBody>
          <a:bodyPr/>
          <a:lstStyle/>
          <a:p>
            <a:endParaRPr lang="en-US"/>
          </a:p>
        </p:txBody>
      </p:sp>
      <p:sp>
        <p:nvSpPr>
          <p:cNvPr id="33" name="Text 31"/>
          <p:cNvSpPr txBox="1"/>
          <p:nvPr/>
        </p:nvSpPr>
        <p:spPr>
          <a:xfrm>
            <a:off x="9643628" y="3547872"/>
            <a:ext cx="1779971" cy="457200"/>
          </a:xfrm>
          <a:prstGeom prst="rect">
            <a:avLst/>
          </a:prstGeom>
          <a:noFill/>
          <a:ln/>
        </p:spPr>
        <p:txBody>
          <a:bodyPr wrap="square" lIns="0" tIns="0" rIns="0" bIns="0" rtlCol="0" anchor="ctr"/>
          <a:lstStyle/>
          <a:p>
            <a:pPr marL="0" indent="0" algn="ctr">
              <a:buNone/>
            </a:pPr>
            <a:r>
              <a:rPr lang="en-US" sz="1900" b="1" dirty="0">
                <a:solidFill>
                  <a:srgbClr val="9C3D6E"/>
                </a:solidFill>
                <a:latin typeface="Cambria Math" pitchFamily="34" charset="0"/>
                <a:ea typeface="Cambria Math" pitchFamily="34" charset="-122"/>
                <a:cs typeface="Cambria Math" pitchFamily="34" charset="-120"/>
              </a:rPr>
              <a:t>min max</a:t>
            </a:r>
            <a:endParaRPr lang="en-US" sz="1900" dirty="0"/>
          </a:p>
        </p:txBody>
      </p:sp>
      <p:sp>
        <p:nvSpPr>
          <p:cNvPr id="34" name="Text 32"/>
          <p:cNvSpPr txBox="1"/>
          <p:nvPr/>
        </p:nvSpPr>
        <p:spPr>
          <a:xfrm>
            <a:off x="9698492" y="4096512"/>
            <a:ext cx="1670243" cy="1005840"/>
          </a:xfrm>
          <a:prstGeom prst="rect">
            <a:avLst/>
          </a:prstGeom>
          <a:noFill/>
          <a:ln/>
        </p:spPr>
        <p:txBody>
          <a:bodyPr wrap="square" lIns="0" tIns="0" rIns="0" bIns="0" rtlCol="0" anchor="ctr"/>
          <a:lstStyle/>
          <a:p>
            <a:pPr marL="0" indent="0" algn="ctr">
              <a:lnSpc>
                <a:spcPts val="1400"/>
              </a:lnSpc>
              <a:buNone/>
            </a:pPr>
            <a:r>
              <a:rPr lang="en-US" sz="1050" dirty="0">
                <a:solidFill>
                  <a:srgbClr val="5B6474"/>
                </a:solidFill>
                <a:latin typeface="Calibri" pitchFamily="34" charset="0"/>
                <a:ea typeface="Calibri" pitchFamily="34" charset="-122"/>
                <a:cs typeface="Calibri" pitchFamily="34" charset="-120"/>
              </a:rPr>
              <a:t>a game: one player is trying to make the number small, the other large.</a:t>
            </a:r>
            <a:endParaRPr lang="en-US" sz="1050" dirty="0"/>
          </a:p>
        </p:txBody>
      </p:sp>
      <p:sp>
        <p:nvSpPr>
          <p:cNvPr id="35" name="Text 33"/>
          <p:cNvSpPr txBox="1"/>
          <p:nvPr/>
        </p:nvSpPr>
        <p:spPr>
          <a:xfrm>
            <a:off x="640080" y="5486400"/>
            <a:ext cx="10881360" cy="411480"/>
          </a:xfrm>
          <a:prstGeom prst="rect">
            <a:avLst/>
          </a:prstGeom>
          <a:noFill/>
          <a:ln/>
        </p:spPr>
        <p:txBody>
          <a:bodyPr wrap="square" lIns="0" tIns="0" rIns="0" bIns="0" rtlCol="0" anchor="ctr"/>
          <a:lstStyle/>
          <a:p>
            <a:pPr marL="0" indent="0">
              <a:buNone/>
            </a:pPr>
            <a:r>
              <a:rPr lang="en-US" sz="1400" i="1" dirty="0">
                <a:solidFill>
                  <a:srgbClr val="1F7A6B"/>
                </a:solidFill>
                <a:latin typeface="Cambria" pitchFamily="34" charset="0"/>
                <a:ea typeface="Cambria" pitchFamily="34" charset="-122"/>
                <a:cs typeface="Cambria" pitchFamily="34" charset="-120"/>
              </a:rPr>
              <a:t>In the papers these carry subscripts — E is written with the distribution underneath it. The subscript only says which pile of samples you are averaging over.</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0E131B"/>
        </a:solidFill>
        <a:effectLst/>
      </p:bgPr>
    </p:bg>
    <p:spTree>
      <p:nvGrpSpPr>
        <p:cNvPr id="1" name=""/>
        <p:cNvGrpSpPr/>
        <p:nvPr/>
      </p:nvGrpSpPr>
      <p:grpSpPr>
        <a:xfrm>
          <a:off x="0" y="0"/>
          <a:ext cx="0" cy="0"/>
          <a:chOff x="0" y="0"/>
          <a:chExt cx="0" cy="0"/>
        </a:xfrm>
      </p:grpSpPr>
      <p:sp>
        <p:nvSpPr>
          <p:cNvPr id="2" name="Shape 0"/>
          <p:cNvSpPr/>
          <p:nvPr/>
        </p:nvSpPr>
        <p:spPr>
          <a:xfrm>
            <a:off x="640080" y="502920"/>
            <a:ext cx="137160" cy="137160"/>
          </a:xfrm>
          <a:prstGeom prst="ellipse">
            <a:avLst/>
          </a:prstGeom>
          <a:solidFill>
            <a:srgbClr val="DFA9C4"/>
          </a:solidFill>
          <a:ln/>
        </p:spPr>
        <p:txBody>
          <a:bodyPr/>
          <a:lstStyle/>
          <a:p>
            <a:endParaRPr lang="en-US"/>
          </a:p>
        </p:txBody>
      </p:sp>
      <p:sp>
        <p:nvSpPr>
          <p:cNvPr id="3" name="Text 1"/>
          <p:cNvSpPr txBox="1"/>
          <p:nvPr/>
        </p:nvSpPr>
        <p:spPr>
          <a:xfrm>
            <a:off x="886968" y="438912"/>
            <a:ext cx="10515600" cy="274320"/>
          </a:xfrm>
          <a:prstGeom prst="rect">
            <a:avLst/>
          </a:prstGeom>
          <a:noFill/>
          <a:ln/>
        </p:spPr>
        <p:txBody>
          <a:bodyPr wrap="square" lIns="0" tIns="0" rIns="0" bIns="0" rtlCol="0" anchor="ctr"/>
          <a:lstStyle/>
          <a:p>
            <a:pPr marL="0" indent="0">
              <a:buNone/>
            </a:pPr>
            <a:r>
              <a:rPr lang="en-US" sz="1100" b="1" kern="0" spc="160" dirty="0">
                <a:solidFill>
                  <a:srgbClr val="DFA9C4"/>
                </a:solidFill>
                <a:latin typeface="Calibri" pitchFamily="34" charset="0"/>
                <a:ea typeface="Calibri" pitchFamily="34" charset="-122"/>
                <a:cs typeface="Calibri" pitchFamily="34" charset="-120"/>
              </a:rPr>
              <a:t>WARM-UP · SIX MINUTES · NO TALKING</a:t>
            </a:r>
            <a:endParaRPr lang="en-US" sz="1100" dirty="0"/>
          </a:p>
        </p:txBody>
      </p:sp>
      <p:sp>
        <p:nvSpPr>
          <p:cNvPr id="4" name="Text 2"/>
          <p:cNvSpPr txBox="1"/>
          <p:nvPr/>
        </p:nvSpPr>
        <p:spPr>
          <a:xfrm>
            <a:off x="640080" y="868680"/>
            <a:ext cx="10911535" cy="640080"/>
          </a:xfrm>
          <a:prstGeom prst="rect">
            <a:avLst/>
          </a:prstGeom>
          <a:noFill/>
          <a:ln/>
        </p:spPr>
        <p:txBody>
          <a:bodyPr wrap="square" lIns="0" tIns="0" rIns="0" bIns="0" rtlCol="0" anchor="ctr"/>
          <a:lstStyle/>
          <a:p>
            <a:pPr marL="0" indent="0">
              <a:buNone/>
            </a:pPr>
            <a:r>
              <a:rPr lang="en-US" sz="3300" b="1" dirty="0">
                <a:solidFill>
                  <a:srgbClr val="F2F4F8"/>
                </a:solidFill>
                <a:latin typeface="Cambria" pitchFamily="34" charset="0"/>
                <a:ea typeface="Cambria" pitchFamily="34" charset="-122"/>
                <a:cs typeface="Cambria" pitchFamily="34" charset="-120"/>
              </a:rPr>
              <a:t>Write before we begin</a:t>
            </a:r>
            <a:endParaRPr lang="en-US" sz="3300" dirty="0"/>
          </a:p>
        </p:txBody>
      </p:sp>
      <p:sp>
        <p:nvSpPr>
          <p:cNvPr id="5" name="Shape 3"/>
          <p:cNvSpPr/>
          <p:nvPr/>
        </p:nvSpPr>
        <p:spPr>
          <a:xfrm>
            <a:off x="640080" y="1783080"/>
            <a:ext cx="10911535" cy="2788920"/>
          </a:xfrm>
          <a:prstGeom prst="roundRect">
            <a:avLst>
              <a:gd name="adj" fmla="val 2623"/>
            </a:avLst>
          </a:prstGeom>
          <a:solidFill>
            <a:srgbClr val="1C2430"/>
          </a:solidFill>
          <a:ln w="12700">
            <a:solidFill>
              <a:srgbClr val="1C2430"/>
            </a:solidFill>
            <a:prstDash val="solid"/>
          </a:ln>
        </p:spPr>
        <p:txBody>
          <a:bodyPr/>
          <a:lstStyle/>
          <a:p>
            <a:endParaRPr lang="en-US"/>
          </a:p>
        </p:txBody>
      </p:sp>
      <p:sp>
        <p:nvSpPr>
          <p:cNvPr id="6" name="Text 4"/>
          <p:cNvSpPr txBox="1"/>
          <p:nvPr/>
        </p:nvSpPr>
        <p:spPr>
          <a:xfrm>
            <a:off x="1097280" y="2057400"/>
            <a:ext cx="10058400" cy="2286000"/>
          </a:xfrm>
          <a:prstGeom prst="rect">
            <a:avLst/>
          </a:prstGeom>
          <a:noFill/>
          <a:ln/>
        </p:spPr>
        <p:txBody>
          <a:bodyPr wrap="square" lIns="0" tIns="0" rIns="0" bIns="0" rtlCol="0" anchor="ctr"/>
          <a:lstStyle/>
          <a:p>
            <a:pPr marL="0" indent="0">
              <a:lnSpc>
                <a:spcPts val="3000"/>
              </a:lnSpc>
              <a:buNone/>
            </a:pPr>
            <a:r>
              <a:rPr lang="en-US" sz="1900" dirty="0">
                <a:solidFill>
                  <a:srgbClr val="FFFFFF"/>
                </a:solidFill>
                <a:latin typeface="Cambria" pitchFamily="34" charset="0"/>
                <a:ea typeface="Cambria" pitchFamily="34" charset="-122"/>
                <a:cs typeface="Cambria" pitchFamily="34" charset="-120"/>
              </a:rPr>
              <a:t>Describe a time you learned what a particular audience approved of — a teacher, a workshop, an editor, a platform, a family — and began producing that thing.</a:t>
            </a:r>
            <a:endParaRPr lang="en-US" sz="1900" dirty="0"/>
          </a:p>
          <a:p>
            <a:pPr marL="0" indent="0">
              <a:lnSpc>
                <a:spcPts val="3000"/>
              </a:lnSpc>
              <a:buNone/>
            </a:pPr>
            <a:endParaRPr lang="en-US" sz="1900" dirty="0"/>
          </a:p>
          <a:p>
            <a:pPr marL="0" indent="0">
              <a:lnSpc>
                <a:spcPts val="3000"/>
              </a:lnSpc>
              <a:buNone/>
            </a:pPr>
            <a:r>
              <a:rPr lang="en-US" sz="1900" dirty="0">
                <a:solidFill>
                  <a:srgbClr val="FFFFFF"/>
                </a:solidFill>
                <a:latin typeface="Cambria" pitchFamily="34" charset="0"/>
                <a:ea typeface="Cambria" pitchFamily="34" charset="-122"/>
                <a:cs typeface="Cambria" pitchFamily="34" charset="-120"/>
              </a:rPr>
              <a:t>Then write down what you stopped making. Not what you felt about it. What specifically stopped coming out.</a:t>
            </a:r>
            <a:endParaRPr lang="en-US" sz="1900" dirty="0"/>
          </a:p>
        </p:txBody>
      </p:sp>
      <p:sp>
        <p:nvSpPr>
          <p:cNvPr id="7" name="Text 5"/>
          <p:cNvSpPr txBox="1"/>
          <p:nvPr/>
        </p:nvSpPr>
        <p:spPr>
          <a:xfrm>
            <a:off x="640080" y="4828032"/>
            <a:ext cx="10881360" cy="457200"/>
          </a:xfrm>
          <a:prstGeom prst="rect">
            <a:avLst/>
          </a:prstGeom>
          <a:noFill/>
          <a:ln/>
        </p:spPr>
        <p:txBody>
          <a:bodyPr wrap="square" lIns="0" tIns="0" rIns="0" bIns="0" rtlCol="0" anchor="ctr"/>
          <a:lstStyle/>
          <a:p>
            <a:pPr marL="0" indent="0">
              <a:buNone/>
            </a:pPr>
            <a:r>
              <a:rPr lang="en-US" sz="1450" i="1" dirty="0">
                <a:solidFill>
                  <a:srgbClr val="84CCBD"/>
                </a:solidFill>
                <a:latin typeface="Calibri" pitchFamily="34" charset="0"/>
                <a:ea typeface="Calibri" pitchFamily="34" charset="-122"/>
                <a:cs typeface="Calibri" pitchFamily="34" charset="-120"/>
              </a:rPr>
              <a:t>Keep the page. </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0E131B"/>
        </a:solidFill>
        <a:effectLst/>
      </p:bgPr>
    </p:bg>
    <p:spTree>
      <p:nvGrpSpPr>
        <p:cNvPr id="1" name=""/>
        <p:cNvGrpSpPr/>
        <p:nvPr/>
      </p:nvGrpSpPr>
      <p:grpSpPr>
        <a:xfrm>
          <a:off x="0" y="0"/>
          <a:ext cx="0" cy="0"/>
          <a:chOff x="0" y="0"/>
          <a:chExt cx="0" cy="0"/>
        </a:xfrm>
      </p:grpSpPr>
      <p:sp>
        <p:nvSpPr>
          <p:cNvPr id="2" name="Shape 0"/>
          <p:cNvSpPr/>
          <p:nvPr/>
        </p:nvSpPr>
        <p:spPr>
          <a:xfrm>
            <a:off x="640080" y="1234440"/>
            <a:ext cx="137160" cy="137160"/>
          </a:xfrm>
          <a:prstGeom prst="ellipse">
            <a:avLst/>
          </a:prstGeom>
          <a:solidFill>
            <a:srgbClr val="DFA9C4"/>
          </a:solidFill>
          <a:ln/>
        </p:spPr>
        <p:txBody>
          <a:bodyPr/>
          <a:lstStyle/>
          <a:p>
            <a:endParaRPr lang="en-US"/>
          </a:p>
        </p:txBody>
      </p:sp>
      <p:sp>
        <p:nvSpPr>
          <p:cNvPr id="3" name="Text 1"/>
          <p:cNvSpPr txBox="1"/>
          <p:nvPr/>
        </p:nvSpPr>
        <p:spPr>
          <a:xfrm>
            <a:off x="886968" y="1170432"/>
            <a:ext cx="9144000" cy="274320"/>
          </a:xfrm>
          <a:prstGeom prst="rect">
            <a:avLst/>
          </a:prstGeom>
          <a:noFill/>
          <a:ln/>
        </p:spPr>
        <p:txBody>
          <a:bodyPr wrap="square" lIns="0" tIns="0" rIns="0" bIns="0" rtlCol="0" anchor="ctr"/>
          <a:lstStyle/>
          <a:p>
            <a:pPr marL="0" indent="0">
              <a:buNone/>
            </a:pPr>
            <a:r>
              <a:rPr lang="en-US" sz="1200" b="1" kern="0" spc="200" dirty="0">
                <a:solidFill>
                  <a:srgbClr val="DFA9C4"/>
                </a:solidFill>
                <a:latin typeface="Calibri" pitchFamily="34" charset="0"/>
                <a:ea typeface="Calibri" pitchFamily="34" charset="-122"/>
                <a:cs typeface="Calibri" pitchFamily="34" charset="-120"/>
              </a:rPr>
              <a:t>KEY QUESTION FOR THE WEEK</a:t>
            </a:r>
            <a:endParaRPr lang="en-US" sz="1200" dirty="0"/>
          </a:p>
        </p:txBody>
      </p:sp>
      <p:sp>
        <p:nvSpPr>
          <p:cNvPr id="4" name="Text 2"/>
          <p:cNvSpPr txBox="1"/>
          <p:nvPr/>
        </p:nvSpPr>
        <p:spPr>
          <a:xfrm>
            <a:off x="640080" y="1691640"/>
            <a:ext cx="10881360" cy="1737360"/>
          </a:xfrm>
          <a:prstGeom prst="rect">
            <a:avLst/>
          </a:prstGeom>
          <a:noFill/>
          <a:ln/>
        </p:spPr>
        <p:txBody>
          <a:bodyPr wrap="square" lIns="0" tIns="0" rIns="0" bIns="0" rtlCol="0" anchor="ctr"/>
          <a:lstStyle/>
          <a:p>
            <a:pPr marL="0" indent="0">
              <a:lnSpc>
                <a:spcPts val="5200"/>
              </a:lnSpc>
              <a:buNone/>
            </a:pPr>
            <a:r>
              <a:rPr lang="en-US" sz="4000" b="1" dirty="0">
                <a:solidFill>
                  <a:srgbClr val="F2F4F8"/>
                </a:solidFill>
                <a:latin typeface="Cambria" pitchFamily="34" charset="0"/>
                <a:ea typeface="Cambria" pitchFamily="34" charset="-122"/>
                <a:cs typeface="Cambria" pitchFamily="34" charset="-120"/>
              </a:rPr>
              <a:t>What disappears when a system</a:t>
            </a:r>
            <a:endParaRPr lang="en-US" sz="4000" dirty="0"/>
          </a:p>
          <a:p>
            <a:pPr marL="0" indent="0">
              <a:lnSpc>
                <a:spcPts val="5200"/>
              </a:lnSpc>
              <a:buNone/>
            </a:pPr>
            <a:r>
              <a:rPr lang="en-US" sz="4000" b="1" dirty="0">
                <a:solidFill>
                  <a:srgbClr val="F2F4F8"/>
                </a:solidFill>
                <a:latin typeface="Cambria" pitchFamily="34" charset="0"/>
                <a:ea typeface="Cambria" pitchFamily="34" charset="-122"/>
                <a:cs typeface="Cambria" pitchFamily="34" charset="-120"/>
              </a:rPr>
              <a:t>optimises for approval?</a:t>
            </a:r>
            <a:endParaRPr lang="en-US" sz="4000" dirty="0"/>
          </a:p>
        </p:txBody>
      </p:sp>
      <p:sp>
        <p:nvSpPr>
          <p:cNvPr id="5" name="Shape 3"/>
          <p:cNvSpPr/>
          <p:nvPr/>
        </p:nvSpPr>
        <p:spPr>
          <a:xfrm>
            <a:off x="640080" y="3703320"/>
            <a:ext cx="3108960" cy="18288"/>
          </a:xfrm>
          <a:prstGeom prst="rect">
            <a:avLst/>
          </a:prstGeom>
          <a:solidFill>
            <a:srgbClr val="84CCBD"/>
          </a:solidFill>
          <a:ln/>
        </p:spPr>
        <p:txBody>
          <a:bodyPr/>
          <a:lstStyle/>
          <a:p>
            <a:endParaRPr lang="en-US"/>
          </a:p>
        </p:txBody>
      </p:sp>
      <p:sp>
        <p:nvSpPr>
          <p:cNvPr id="6" name="Text 4"/>
          <p:cNvSpPr txBox="1"/>
          <p:nvPr/>
        </p:nvSpPr>
        <p:spPr>
          <a:xfrm>
            <a:off x="640080" y="4023360"/>
            <a:ext cx="9875520" cy="1188720"/>
          </a:xfrm>
          <a:prstGeom prst="rect">
            <a:avLst/>
          </a:prstGeom>
          <a:noFill/>
          <a:ln/>
        </p:spPr>
        <p:txBody>
          <a:bodyPr wrap="square" lIns="0" tIns="0" rIns="0" bIns="0" rtlCol="0" anchor="ctr"/>
          <a:lstStyle/>
          <a:p>
            <a:pPr marL="0" indent="0">
              <a:lnSpc>
                <a:spcPts val="2500"/>
              </a:lnSpc>
              <a:buNone/>
            </a:pPr>
            <a:r>
              <a:rPr lang="en-US" sz="1700" dirty="0">
                <a:solidFill>
                  <a:srgbClr val="84CCBD"/>
                </a:solidFill>
                <a:latin typeface="Cambria" pitchFamily="34" charset="0"/>
                <a:ea typeface="Cambria" pitchFamily="34" charset="-122"/>
                <a:cs typeface="Cambria" pitchFamily="34" charset="-120"/>
              </a:rPr>
              <a:t>Note that the question does not ask what goes wrong. A collapsed generator has not broken. It is succeeding — narrowly and perfectly — at the thing it was asked to do. The diversity of the world was never part of the objective, so the diversity of the world quietly disappears.</a:t>
            </a:r>
            <a:endParaRPr lang="en-US" sz="1700" dirty="0"/>
          </a:p>
        </p:txBody>
      </p:sp>
      <p:sp>
        <p:nvSpPr>
          <p:cNvPr id="7" name="Text 5"/>
          <p:cNvSpPr txBox="1"/>
          <p:nvPr/>
        </p:nvSpPr>
        <p:spPr>
          <a:xfrm>
            <a:off x="640080" y="5349240"/>
            <a:ext cx="9875520" cy="365760"/>
          </a:xfrm>
          <a:prstGeom prst="rect">
            <a:avLst/>
          </a:prstGeom>
          <a:noFill/>
          <a:ln/>
        </p:spPr>
        <p:txBody>
          <a:bodyPr wrap="square" lIns="0" tIns="0" rIns="0" bIns="0" rtlCol="0" anchor="ctr"/>
          <a:lstStyle/>
          <a:p>
            <a:pPr marL="0" indent="0">
              <a:buNone/>
            </a:pPr>
            <a:r>
              <a:rPr lang="en-US" sz="1300" i="1" dirty="0">
                <a:solidFill>
                  <a:srgbClr val="DFA9C4"/>
                </a:solidFill>
                <a:latin typeface="Calibri" pitchFamily="34" charset="0"/>
                <a:ea typeface="Calibri" pitchFamily="34" charset="-122"/>
                <a:cs typeface="Calibri" pitchFamily="34" charset="-120"/>
              </a:rPr>
              <a:t>The word “system” is doing a lot of work in that sentence. Holding it open is this week’s discipline.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9C3D6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ORIENTATION</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0E131B"/>
                </a:solidFill>
                <a:latin typeface="Cambria" pitchFamily="34" charset="0"/>
                <a:ea typeface="Cambria" pitchFamily="34" charset="-122"/>
                <a:cs typeface="Cambria" pitchFamily="34" charset="-120"/>
              </a:rPr>
              <a:t>The unit has two jobs, and they pull against each other</a:t>
            </a:r>
            <a:endParaRPr lang="en-US" sz="2900" dirty="0"/>
          </a:p>
        </p:txBody>
      </p:sp>
      <p:sp>
        <p:nvSpPr>
          <p:cNvPr id="5" name="Shape 3"/>
          <p:cNvSpPr/>
          <p:nvPr/>
        </p:nvSpPr>
        <p:spPr>
          <a:xfrm>
            <a:off x="640080" y="1371600"/>
            <a:ext cx="5349240" cy="2286000"/>
          </a:xfrm>
          <a:prstGeom prst="roundRect">
            <a:avLst>
              <a:gd name="adj" fmla="val 3200"/>
            </a:avLst>
          </a:prstGeom>
          <a:solidFill>
            <a:srgbClr val="E6F2EF"/>
          </a:solidFill>
          <a:ln w="12700">
            <a:solidFill>
              <a:srgbClr val="E6F2EF"/>
            </a:solidFill>
            <a:prstDash val="solid"/>
          </a:ln>
        </p:spPr>
        <p:txBody>
          <a:bodyPr/>
          <a:lstStyle/>
          <a:p>
            <a:endParaRPr lang="en-US"/>
          </a:p>
        </p:txBody>
      </p:sp>
      <p:sp>
        <p:nvSpPr>
          <p:cNvPr id="6" name="Shape 4"/>
          <p:cNvSpPr/>
          <p:nvPr/>
        </p:nvSpPr>
        <p:spPr>
          <a:xfrm>
            <a:off x="960120" y="1572768"/>
            <a:ext cx="384048" cy="384048"/>
          </a:xfrm>
          <a:prstGeom prst="ellipse">
            <a:avLst/>
          </a:prstGeom>
          <a:solidFill>
            <a:srgbClr val="1F7A6B"/>
          </a:solidFill>
          <a:ln/>
        </p:spPr>
        <p:txBody>
          <a:bodyPr/>
          <a:lstStyle/>
          <a:p>
            <a:endParaRPr lang="en-US"/>
          </a:p>
        </p:txBody>
      </p:sp>
      <p:sp>
        <p:nvSpPr>
          <p:cNvPr id="7" name="Text 5"/>
          <p:cNvSpPr txBox="1"/>
          <p:nvPr/>
        </p:nvSpPr>
        <p:spPr>
          <a:xfrm>
            <a:off x="960120" y="157276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554480" y="1591056"/>
            <a:ext cx="4206240" cy="365760"/>
          </a:xfrm>
          <a:prstGeom prst="rect">
            <a:avLst/>
          </a:prstGeom>
          <a:noFill/>
          <a:ln/>
        </p:spPr>
        <p:txBody>
          <a:bodyPr wrap="square" lIns="0" tIns="0" rIns="0" bIns="0" rtlCol="0" anchor="ctr"/>
          <a:lstStyle/>
          <a:p>
            <a:pPr marL="0" indent="0">
              <a:buNone/>
            </a:pPr>
            <a:r>
              <a:rPr lang="en-US" sz="1800" b="1" dirty="0">
                <a:solidFill>
                  <a:srgbClr val="0E131B"/>
                </a:solidFill>
                <a:latin typeface="Cambria" pitchFamily="34" charset="0"/>
                <a:ea typeface="Cambria" pitchFamily="34" charset="-122"/>
                <a:cs typeface="Cambria" pitchFamily="34" charset="-120"/>
              </a:rPr>
              <a:t>Take the metaphor seriously</a:t>
            </a:r>
            <a:endParaRPr lang="en-US" sz="1800" dirty="0"/>
          </a:p>
        </p:txBody>
      </p:sp>
      <p:sp>
        <p:nvSpPr>
          <p:cNvPr id="9" name="Text 7"/>
          <p:cNvSpPr txBox="1"/>
          <p:nvPr/>
        </p:nvSpPr>
        <p:spPr>
          <a:xfrm>
            <a:off x="960120" y="2103120"/>
            <a:ext cx="4709160" cy="1417320"/>
          </a:xfrm>
          <a:prstGeom prst="rect">
            <a:avLst/>
          </a:prstGeom>
          <a:noFill/>
          <a:ln/>
        </p:spPr>
        <p:txBody>
          <a:bodyPr wrap="square" lIns="0" tIns="0" rIns="0" bIns="0" rtlCol="0" anchor="ctr"/>
          <a:lstStyle/>
          <a:p>
            <a:pPr marL="0" indent="0">
              <a:lnSpc>
                <a:spcPts val="1700"/>
              </a:lnSpc>
              <a:buNone/>
            </a:pPr>
            <a:r>
              <a:rPr lang="en-US" sz="1250" dirty="0">
                <a:solidFill>
                  <a:srgbClr val="5B6474"/>
                </a:solidFill>
                <a:latin typeface="Calibri" pitchFamily="34" charset="0"/>
                <a:ea typeface="Calibri" pitchFamily="34" charset="-122"/>
                <a:cs typeface="Calibri" pitchFamily="34" charset="-120"/>
              </a:rPr>
              <a:t>A generative model that has found the small set of outputs which reliably satisfy its critic, and produces those and only those, forever, is an extraordinarily precise description of something that also happens to writers, to institutions, and to cultures. Sit with how good it is.</a:t>
            </a:r>
            <a:endParaRPr lang="en-US" sz="1250" dirty="0"/>
          </a:p>
        </p:txBody>
      </p:sp>
      <p:sp>
        <p:nvSpPr>
          <p:cNvPr id="10" name="Shape 8"/>
          <p:cNvSpPr/>
          <p:nvPr/>
        </p:nvSpPr>
        <p:spPr>
          <a:xfrm>
            <a:off x="6217920" y="1371600"/>
            <a:ext cx="5312664" cy="2286000"/>
          </a:xfrm>
          <a:prstGeom prst="roundRect">
            <a:avLst>
              <a:gd name="adj" fmla="val 3200"/>
            </a:avLst>
          </a:prstGeom>
          <a:solidFill>
            <a:srgbClr val="F8EBF2"/>
          </a:solidFill>
          <a:ln w="12700">
            <a:solidFill>
              <a:srgbClr val="F8EBF2"/>
            </a:solidFill>
            <a:prstDash val="solid"/>
          </a:ln>
        </p:spPr>
        <p:txBody>
          <a:bodyPr/>
          <a:lstStyle/>
          <a:p>
            <a:endParaRPr lang="en-US"/>
          </a:p>
        </p:txBody>
      </p:sp>
      <p:sp>
        <p:nvSpPr>
          <p:cNvPr id="11" name="Shape 9"/>
          <p:cNvSpPr/>
          <p:nvPr/>
        </p:nvSpPr>
        <p:spPr>
          <a:xfrm>
            <a:off x="6537960" y="1572768"/>
            <a:ext cx="384048" cy="384048"/>
          </a:xfrm>
          <a:prstGeom prst="ellipse">
            <a:avLst/>
          </a:prstGeom>
          <a:solidFill>
            <a:srgbClr val="9C3D6E"/>
          </a:solidFill>
          <a:ln/>
        </p:spPr>
        <p:txBody>
          <a:bodyPr/>
          <a:lstStyle/>
          <a:p>
            <a:endParaRPr lang="en-US"/>
          </a:p>
        </p:txBody>
      </p:sp>
      <p:sp>
        <p:nvSpPr>
          <p:cNvPr id="12" name="Text 10"/>
          <p:cNvSpPr txBox="1"/>
          <p:nvPr/>
        </p:nvSpPr>
        <p:spPr>
          <a:xfrm>
            <a:off x="6537960" y="157276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7132320" y="1591056"/>
            <a:ext cx="4206240" cy="365760"/>
          </a:xfrm>
          <a:prstGeom prst="rect">
            <a:avLst/>
          </a:prstGeom>
          <a:noFill/>
          <a:ln/>
        </p:spPr>
        <p:txBody>
          <a:bodyPr wrap="square" lIns="0" tIns="0" rIns="0" bIns="0" rtlCol="0" anchor="ctr"/>
          <a:lstStyle/>
          <a:p>
            <a:pPr marL="0" indent="0">
              <a:buNone/>
            </a:pPr>
            <a:r>
              <a:rPr lang="en-US" sz="1800" b="1" dirty="0">
                <a:solidFill>
                  <a:srgbClr val="0E131B"/>
                </a:solidFill>
                <a:latin typeface="Cambria" pitchFamily="34" charset="0"/>
                <a:ea typeface="Cambria" pitchFamily="34" charset="-122"/>
                <a:cs typeface="Cambria" pitchFamily="34" charset="-120"/>
              </a:rPr>
              <a:t>Then be suspicious of it</a:t>
            </a:r>
            <a:endParaRPr lang="en-US" sz="1800" dirty="0"/>
          </a:p>
        </p:txBody>
      </p:sp>
      <p:sp>
        <p:nvSpPr>
          <p:cNvPr id="14" name="Text 12"/>
          <p:cNvSpPr txBox="1"/>
          <p:nvPr/>
        </p:nvSpPr>
        <p:spPr>
          <a:xfrm>
            <a:off x="6537960" y="2103120"/>
            <a:ext cx="4672584" cy="1417320"/>
          </a:xfrm>
          <a:prstGeom prst="rect">
            <a:avLst/>
          </a:prstGeom>
          <a:noFill/>
          <a:ln/>
        </p:spPr>
        <p:txBody>
          <a:bodyPr wrap="square" lIns="0" tIns="0" rIns="0" bIns="0" rtlCol="0" anchor="ctr"/>
          <a:lstStyle/>
          <a:p>
            <a:pPr marL="0" indent="0">
              <a:lnSpc>
                <a:spcPts val="1700"/>
              </a:lnSpc>
              <a:buNone/>
            </a:pPr>
            <a:r>
              <a:rPr lang="en-US" sz="1250" dirty="0">
                <a:solidFill>
                  <a:srgbClr val="5B6474"/>
                </a:solidFill>
                <a:latin typeface="Calibri" pitchFamily="34" charset="0"/>
                <a:ea typeface="Calibri" pitchFamily="34" charset="-122"/>
                <a:cs typeface="Calibri" pitchFamily="34" charset="-120"/>
              </a:rPr>
              <a:t>The temptation to reach for a technical term as a poetic figure is exactly the intellectual move this course is training you to make carefully, with the mechanism in hand. A metaphor that fits too well is usually doing less work than it appears to.</a:t>
            </a:r>
            <a:endParaRPr lang="en-US" sz="1250" dirty="0"/>
          </a:p>
        </p:txBody>
      </p:sp>
      <p:sp>
        <p:nvSpPr>
          <p:cNvPr id="15" name="Shape 13"/>
          <p:cNvSpPr/>
          <p:nvPr/>
        </p:nvSpPr>
        <p:spPr>
          <a:xfrm>
            <a:off x="640080" y="3886200"/>
            <a:ext cx="10911535" cy="1828800"/>
          </a:xfrm>
          <a:prstGeom prst="roundRect">
            <a:avLst>
              <a:gd name="adj" fmla="val 4000"/>
            </a:avLst>
          </a:prstGeom>
          <a:solidFill>
            <a:srgbClr val="0E131B"/>
          </a:solidFill>
          <a:ln w="12700">
            <a:solidFill>
              <a:srgbClr val="0E131B"/>
            </a:solidFill>
            <a:prstDash val="solid"/>
          </a:ln>
        </p:spPr>
        <p:txBody>
          <a:bodyPr/>
          <a:lstStyle/>
          <a:p>
            <a:endParaRPr lang="en-US"/>
          </a:p>
        </p:txBody>
      </p:sp>
      <p:sp>
        <p:nvSpPr>
          <p:cNvPr id="16" name="Text 14"/>
          <p:cNvSpPr txBox="1"/>
          <p:nvPr/>
        </p:nvSpPr>
        <p:spPr>
          <a:xfrm>
            <a:off x="1005840" y="4050792"/>
            <a:ext cx="10424160" cy="274320"/>
          </a:xfrm>
          <a:prstGeom prst="rect">
            <a:avLst/>
          </a:prstGeom>
          <a:noFill/>
          <a:ln/>
        </p:spPr>
        <p:txBody>
          <a:bodyPr wrap="square" lIns="0" tIns="0" rIns="0" bIns="0" rtlCol="0" anchor="ctr"/>
          <a:lstStyle/>
          <a:p>
            <a:pPr marL="0" indent="0">
              <a:buNone/>
            </a:pPr>
            <a:r>
              <a:rPr lang="en-US" sz="1150" b="1" kern="0" spc="140" dirty="0">
                <a:solidFill>
                  <a:srgbClr val="DFA9C4"/>
                </a:solidFill>
                <a:latin typeface="Calibri" pitchFamily="34" charset="0"/>
                <a:ea typeface="Calibri" pitchFamily="34" charset="-122"/>
                <a:cs typeface="Calibri" pitchFamily="34" charset="-120"/>
              </a:rPr>
              <a:t>Which is why the mathematics comes first</a:t>
            </a:r>
            <a:endParaRPr lang="en-US" sz="1150" dirty="0"/>
          </a:p>
        </p:txBody>
      </p:sp>
      <p:sp>
        <p:nvSpPr>
          <p:cNvPr id="17" name="Text 15"/>
          <p:cNvSpPr txBox="1"/>
          <p:nvPr/>
        </p:nvSpPr>
        <p:spPr>
          <a:xfrm>
            <a:off x="1005840" y="4379976"/>
            <a:ext cx="10424160" cy="1170432"/>
          </a:xfrm>
          <a:prstGeom prst="rect">
            <a:avLst/>
          </a:prstGeom>
          <a:noFill/>
          <a:ln/>
        </p:spPr>
        <p:txBody>
          <a:bodyPr wrap="square" lIns="0" tIns="0" rIns="0" bIns="0" rtlCol="0" anchor="ctr"/>
          <a:lstStyle/>
          <a:p>
            <a:pPr marL="0" indent="0">
              <a:lnSpc>
                <a:spcPts val="2000"/>
              </a:lnSpc>
              <a:buNone/>
            </a:pPr>
            <a:r>
              <a:rPr lang="en-US" sz="1500" dirty="0">
                <a:solidFill>
                  <a:srgbClr val="F2F4F8"/>
                </a:solidFill>
                <a:latin typeface="Cambria" pitchFamily="34" charset="0"/>
                <a:ea typeface="Cambria" pitchFamily="34" charset="-122"/>
                <a:cs typeface="Cambria" pitchFamily="34" charset="-120"/>
              </a:rPr>
              <a:t>You cannot be responsibly suspicious of a technical metaphor you do not understand. So we spend two hours on the actual mechanism — the game, the objective, the reason a perfectly working optimiser collapses — and only then ask which parts of it transfer to a person, an institution or a culture, and which parts do not. By 4:30 you should be able to say exactly where the analogy stops carrying weight.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0E131B"/>
        </a:solidFill>
        <a:effectLst/>
      </p:bgPr>
    </p:bg>
    <p:spTree>
      <p:nvGrpSpPr>
        <p:cNvPr id="1" name=""/>
        <p:cNvGrpSpPr/>
        <p:nvPr/>
      </p:nvGrpSpPr>
      <p:grpSpPr>
        <a:xfrm>
          <a:off x="0" y="0"/>
          <a:ext cx="0" cy="0"/>
          <a:chOff x="0" y="0"/>
          <a:chExt cx="0" cy="0"/>
        </a:xfrm>
      </p:grpSpPr>
      <p:sp>
        <p:nvSpPr>
          <p:cNvPr id="2" name="Shape 0"/>
          <p:cNvSpPr/>
          <p:nvPr/>
        </p:nvSpPr>
        <p:spPr>
          <a:xfrm>
            <a:off x="8778240" y="1417320"/>
            <a:ext cx="2651760" cy="2651760"/>
          </a:xfrm>
          <a:prstGeom prst="ellipse">
            <a:avLst/>
          </a:prstGeom>
          <a:solidFill>
            <a:srgbClr val="9C3D6E">
              <a:alpha val="70000"/>
            </a:srgbClr>
          </a:solidFill>
          <a:ln/>
        </p:spPr>
        <p:txBody>
          <a:bodyPr/>
          <a:lstStyle/>
          <a:p>
            <a:endParaRPr lang="en-US"/>
          </a:p>
        </p:txBody>
      </p:sp>
      <p:sp>
        <p:nvSpPr>
          <p:cNvPr id="3" name="Shape 1"/>
          <p:cNvSpPr/>
          <p:nvPr/>
        </p:nvSpPr>
        <p:spPr>
          <a:xfrm>
            <a:off x="9646920" y="2286000"/>
            <a:ext cx="1188720" cy="1188720"/>
          </a:xfrm>
          <a:prstGeom prst="ellipse">
            <a:avLst/>
          </a:prstGeom>
          <a:solidFill>
            <a:srgbClr val="1F7A6B">
              <a:alpha val="75000"/>
            </a:srgbClr>
          </a:solidFill>
          <a:ln/>
        </p:spPr>
        <p:txBody>
          <a:bodyPr/>
          <a:lstStyle/>
          <a:p>
            <a:endParaRPr lang="en-US"/>
          </a:p>
        </p:txBody>
      </p:sp>
      <p:sp>
        <p:nvSpPr>
          <p:cNvPr id="4" name="Text 2"/>
          <p:cNvSpPr txBox="1"/>
          <p:nvPr/>
        </p:nvSpPr>
        <p:spPr>
          <a:xfrm>
            <a:off x="640080" y="1920240"/>
            <a:ext cx="7315200" cy="320040"/>
          </a:xfrm>
          <a:prstGeom prst="rect">
            <a:avLst/>
          </a:prstGeom>
          <a:noFill/>
          <a:ln/>
        </p:spPr>
        <p:txBody>
          <a:bodyPr wrap="square" lIns="0" tIns="0" rIns="0" bIns="0" rtlCol="0" anchor="ctr"/>
          <a:lstStyle/>
          <a:p>
            <a:pPr marL="0" indent="0">
              <a:buNone/>
            </a:pPr>
            <a:r>
              <a:rPr lang="en-US" sz="1300" b="1" kern="0" spc="220" dirty="0">
                <a:solidFill>
                  <a:srgbClr val="DFA9C4"/>
                </a:solidFill>
                <a:latin typeface="Calibri" pitchFamily="34" charset="0"/>
                <a:ea typeface="Calibri" pitchFamily="34" charset="-122"/>
                <a:cs typeface="Calibri" pitchFamily="34" charset="-120"/>
              </a:rPr>
              <a:t>PART ONE</a:t>
            </a:r>
            <a:endParaRPr lang="en-US" sz="1300" dirty="0"/>
          </a:p>
        </p:txBody>
      </p:sp>
      <p:sp>
        <p:nvSpPr>
          <p:cNvPr id="5" name="Text 3"/>
          <p:cNvSpPr txBox="1"/>
          <p:nvPr/>
        </p:nvSpPr>
        <p:spPr>
          <a:xfrm>
            <a:off x="640080" y="2331720"/>
            <a:ext cx="7680960" cy="914400"/>
          </a:xfrm>
          <a:prstGeom prst="rect">
            <a:avLst/>
          </a:prstGeom>
          <a:noFill/>
          <a:ln/>
        </p:spPr>
        <p:txBody>
          <a:bodyPr wrap="square" lIns="0" tIns="0" rIns="0" bIns="0" rtlCol="0" anchor="ctr"/>
          <a:lstStyle/>
          <a:p>
            <a:pPr marL="0" indent="0">
              <a:buNone/>
            </a:pPr>
            <a:r>
              <a:rPr lang="en-US" sz="3600" b="1" dirty="0">
                <a:solidFill>
                  <a:srgbClr val="F2F4F8"/>
                </a:solidFill>
                <a:latin typeface="Cambria" pitchFamily="34" charset="0"/>
                <a:ea typeface="Cambria" pitchFamily="34" charset="-122"/>
                <a:cs typeface="Cambria" pitchFamily="34" charset="-120"/>
              </a:rPr>
              <a:t>Your forty outputs</a:t>
            </a:r>
            <a:endParaRPr lang="en-US" sz="3600" dirty="0"/>
          </a:p>
        </p:txBody>
      </p:sp>
      <p:sp>
        <p:nvSpPr>
          <p:cNvPr id="6" name="Text 4"/>
          <p:cNvSpPr txBox="1"/>
          <p:nvPr/>
        </p:nvSpPr>
        <p:spPr>
          <a:xfrm>
            <a:off x="640080" y="3310128"/>
            <a:ext cx="768096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First look, before any theory  ·  0:20–0:40</a:t>
            </a:r>
            <a:endParaRPr lang="en-US" sz="1500" dirty="0"/>
          </a:p>
        </p:txBody>
      </p:sp>
      <p:sp>
        <p:nvSpPr>
          <p:cNvPr id="7" name="Shape 5"/>
          <p:cNvSpPr/>
          <p:nvPr/>
        </p:nvSpPr>
        <p:spPr>
          <a:xfrm>
            <a:off x="640080" y="3913632"/>
            <a:ext cx="2377440" cy="18288"/>
          </a:xfrm>
          <a:prstGeom prst="rect">
            <a:avLst/>
          </a:prstGeom>
          <a:solidFill>
            <a:srgbClr val="84CCBD"/>
          </a:solidFill>
          <a:ln/>
        </p:spPr>
        <p:txBody>
          <a:bodyPr/>
          <a:lstStyle/>
          <a:p>
            <a:endParaRPr lang="en-US"/>
          </a:p>
        </p:txBody>
      </p:sp>
      <p:sp>
        <p:nvSpPr>
          <p:cNvPr id="8" name="Text 6"/>
          <p:cNvSpPr txBox="1"/>
          <p:nvPr/>
        </p:nvSpPr>
        <p:spPr>
          <a:xfrm>
            <a:off x="640080" y="4133088"/>
            <a:ext cx="7680960" cy="777240"/>
          </a:xfrm>
          <a:prstGeom prst="rect">
            <a:avLst/>
          </a:prstGeom>
          <a:noFill/>
          <a:ln/>
        </p:spPr>
        <p:txBody>
          <a:bodyPr wrap="square" lIns="0" tIns="0" rIns="0" bIns="0" rtlCol="0" anchor="ctr"/>
          <a:lstStyle/>
          <a:p>
            <a:pPr marL="0" indent="0">
              <a:lnSpc>
                <a:spcPts val="2500"/>
              </a:lnSpc>
              <a:buNone/>
            </a:pPr>
            <a:r>
              <a:rPr lang="en-US" sz="1850" i="1" dirty="0">
                <a:solidFill>
                  <a:srgbClr val="84CCBD"/>
                </a:solidFill>
                <a:latin typeface="Cambria" pitchFamily="34" charset="0"/>
                <a:ea typeface="Cambria" pitchFamily="34" charset="-122"/>
                <a:cs typeface="Cambria" pitchFamily="34" charset="-120"/>
              </a:rPr>
              <a:t>Describe before you diagnose. </a:t>
            </a:r>
            <a:endParaRPr lang="en-US" sz="1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9C3D6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THE EXERCISE</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0E131B"/>
                </a:solidFill>
                <a:latin typeface="Cambria" pitchFamily="34" charset="0"/>
                <a:ea typeface="Cambria" pitchFamily="34" charset="-122"/>
                <a:cs typeface="Cambria" pitchFamily="34" charset="-120"/>
              </a:rPr>
              <a:t>Lay them out, and answer four questions in plain language</a:t>
            </a:r>
            <a:endParaRPr lang="en-US" sz="2900" dirty="0"/>
          </a:p>
        </p:txBody>
      </p:sp>
      <p:sp>
        <p:nvSpPr>
          <p:cNvPr id="5" name="Shape 3"/>
          <p:cNvSpPr/>
          <p:nvPr/>
        </p:nvSpPr>
        <p:spPr>
          <a:xfrm>
            <a:off x="640080" y="1371600"/>
            <a:ext cx="5295748" cy="1874520"/>
          </a:xfrm>
          <a:prstGeom prst="roundRect">
            <a:avLst>
              <a:gd name="adj" fmla="val 3902"/>
            </a:avLst>
          </a:prstGeom>
          <a:solidFill>
            <a:srgbClr val="E6F2EF"/>
          </a:solidFill>
          <a:ln w="12700">
            <a:solidFill>
              <a:srgbClr val="E6F2EF"/>
            </a:solidFill>
            <a:prstDash val="solid"/>
          </a:ln>
        </p:spPr>
        <p:txBody>
          <a:bodyPr/>
          <a:lstStyle/>
          <a:p>
            <a:endParaRPr lang="en-US"/>
          </a:p>
        </p:txBody>
      </p:sp>
      <p:sp>
        <p:nvSpPr>
          <p:cNvPr id="6" name="Shape 4"/>
          <p:cNvSpPr/>
          <p:nvPr/>
        </p:nvSpPr>
        <p:spPr>
          <a:xfrm>
            <a:off x="932688" y="1609344"/>
            <a:ext cx="347472" cy="347472"/>
          </a:xfrm>
          <a:prstGeom prst="ellipse">
            <a:avLst/>
          </a:prstGeom>
          <a:solidFill>
            <a:srgbClr val="1F7A6B"/>
          </a:solidFill>
          <a:ln/>
        </p:spPr>
        <p:txBody>
          <a:bodyPr/>
          <a:lstStyle/>
          <a:p>
            <a:endParaRPr lang="en-US"/>
          </a:p>
        </p:txBody>
      </p:sp>
      <p:sp>
        <p:nvSpPr>
          <p:cNvPr id="7" name="Text 5"/>
          <p:cNvSpPr txBox="1"/>
          <p:nvPr/>
        </p:nvSpPr>
        <p:spPr>
          <a:xfrm>
            <a:off x="932688" y="1609344"/>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417320" y="1591056"/>
            <a:ext cx="4244188" cy="603504"/>
          </a:xfrm>
          <a:prstGeom prst="rect">
            <a:avLst/>
          </a:prstGeom>
          <a:noFill/>
          <a:ln/>
        </p:spPr>
        <p:txBody>
          <a:bodyPr wrap="square" lIns="0" tIns="0" rIns="0" bIns="0" rtlCol="0" anchor="ctr"/>
          <a:lstStyle/>
          <a:p>
            <a:pPr marL="0" indent="0">
              <a:lnSpc>
                <a:spcPts val="2000"/>
              </a:lnSpc>
              <a:buNone/>
            </a:pPr>
            <a:r>
              <a:rPr lang="en-US" sz="1550" b="1" dirty="0">
                <a:solidFill>
                  <a:srgbClr val="0E131B"/>
                </a:solidFill>
                <a:latin typeface="Cambria" pitchFamily="34" charset="0"/>
                <a:ea typeface="Cambria" pitchFamily="34" charset="-122"/>
                <a:cs typeface="Cambria" pitchFamily="34" charset="-120"/>
              </a:rPr>
              <a:t>What is the single most common thing?</a:t>
            </a:r>
            <a:endParaRPr lang="en-US" sz="1550" dirty="0"/>
          </a:p>
        </p:txBody>
      </p:sp>
      <p:sp>
        <p:nvSpPr>
          <p:cNvPr id="9" name="Text 7"/>
          <p:cNvSpPr txBox="1"/>
          <p:nvPr/>
        </p:nvSpPr>
        <p:spPr>
          <a:xfrm>
            <a:off x="932688" y="2249424"/>
            <a:ext cx="4710532" cy="877824"/>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Not a theme — a specific recurring element. A name, a setting, a sentence rhythm, a colour, a structure. If more than one of you generated the same phrase, say so out loud now.</a:t>
            </a:r>
            <a:endParaRPr lang="en-US" sz="1200" dirty="0"/>
          </a:p>
        </p:txBody>
      </p:sp>
      <p:sp>
        <p:nvSpPr>
          <p:cNvPr id="10" name="Shape 8"/>
          <p:cNvSpPr/>
          <p:nvPr/>
        </p:nvSpPr>
        <p:spPr>
          <a:xfrm>
            <a:off x="6255868" y="1371600"/>
            <a:ext cx="5295748" cy="1874520"/>
          </a:xfrm>
          <a:prstGeom prst="roundRect">
            <a:avLst>
              <a:gd name="adj" fmla="val 3902"/>
            </a:avLst>
          </a:prstGeom>
          <a:solidFill>
            <a:srgbClr val="F8EBF2"/>
          </a:solidFill>
          <a:ln w="12700">
            <a:solidFill>
              <a:srgbClr val="F8EBF2"/>
            </a:solidFill>
            <a:prstDash val="solid"/>
          </a:ln>
        </p:spPr>
        <p:txBody>
          <a:bodyPr/>
          <a:lstStyle/>
          <a:p>
            <a:endParaRPr lang="en-US"/>
          </a:p>
        </p:txBody>
      </p:sp>
      <p:sp>
        <p:nvSpPr>
          <p:cNvPr id="11" name="Shape 9"/>
          <p:cNvSpPr/>
          <p:nvPr/>
        </p:nvSpPr>
        <p:spPr>
          <a:xfrm>
            <a:off x="6548476" y="1609344"/>
            <a:ext cx="347472" cy="347472"/>
          </a:xfrm>
          <a:prstGeom prst="ellipse">
            <a:avLst/>
          </a:prstGeom>
          <a:solidFill>
            <a:srgbClr val="9C3D6E"/>
          </a:solidFill>
          <a:ln/>
        </p:spPr>
        <p:txBody>
          <a:bodyPr/>
          <a:lstStyle/>
          <a:p>
            <a:endParaRPr lang="en-US"/>
          </a:p>
        </p:txBody>
      </p:sp>
      <p:sp>
        <p:nvSpPr>
          <p:cNvPr id="12" name="Text 10"/>
          <p:cNvSpPr txBox="1"/>
          <p:nvPr/>
        </p:nvSpPr>
        <p:spPr>
          <a:xfrm>
            <a:off x="6548476" y="1609344"/>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7033108" y="1591056"/>
            <a:ext cx="4244188" cy="603504"/>
          </a:xfrm>
          <a:prstGeom prst="rect">
            <a:avLst/>
          </a:prstGeom>
          <a:noFill/>
          <a:ln/>
        </p:spPr>
        <p:txBody>
          <a:bodyPr wrap="square" lIns="0" tIns="0" rIns="0" bIns="0" rtlCol="0" anchor="ctr"/>
          <a:lstStyle/>
          <a:p>
            <a:pPr marL="0" indent="0">
              <a:lnSpc>
                <a:spcPts val="2000"/>
              </a:lnSpc>
              <a:buNone/>
            </a:pPr>
            <a:r>
              <a:rPr lang="en-US" sz="1550" b="1" dirty="0">
                <a:solidFill>
                  <a:srgbClr val="0E131B"/>
                </a:solidFill>
                <a:latin typeface="Cambria" pitchFamily="34" charset="0"/>
                <a:ea typeface="Cambria" pitchFamily="34" charset="-122"/>
                <a:cs typeface="Cambria" pitchFamily="34" charset="-120"/>
              </a:rPr>
              <a:t>How many genuinely different outputs are there?</a:t>
            </a:r>
            <a:endParaRPr lang="en-US" sz="1550" dirty="0"/>
          </a:p>
        </p:txBody>
      </p:sp>
      <p:sp>
        <p:nvSpPr>
          <p:cNvPr id="14" name="Text 12"/>
          <p:cNvSpPr txBox="1"/>
          <p:nvPr/>
        </p:nvSpPr>
        <p:spPr>
          <a:xfrm>
            <a:off x="6548476" y="2249424"/>
            <a:ext cx="4710532" cy="877824"/>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Count them by hand. Two outputs that differ only in a swapped adjective are one output. Agree on the rule with your neighbour before you count, and write the rule down.</a:t>
            </a:r>
            <a:endParaRPr lang="en-US" sz="1200" dirty="0"/>
          </a:p>
        </p:txBody>
      </p:sp>
      <p:sp>
        <p:nvSpPr>
          <p:cNvPr id="15" name="Shape 13"/>
          <p:cNvSpPr/>
          <p:nvPr/>
        </p:nvSpPr>
        <p:spPr>
          <a:xfrm>
            <a:off x="640080" y="3429000"/>
            <a:ext cx="5295748" cy="1874520"/>
          </a:xfrm>
          <a:prstGeom prst="roundRect">
            <a:avLst>
              <a:gd name="adj" fmla="val 3902"/>
            </a:avLst>
          </a:prstGeom>
          <a:solidFill>
            <a:srgbClr val="E6F2EF"/>
          </a:solidFill>
          <a:ln w="12700">
            <a:solidFill>
              <a:srgbClr val="E6F2EF"/>
            </a:solidFill>
            <a:prstDash val="solid"/>
          </a:ln>
        </p:spPr>
        <p:txBody>
          <a:bodyPr/>
          <a:lstStyle/>
          <a:p>
            <a:endParaRPr lang="en-US"/>
          </a:p>
        </p:txBody>
      </p:sp>
      <p:sp>
        <p:nvSpPr>
          <p:cNvPr id="16" name="Shape 14"/>
          <p:cNvSpPr/>
          <p:nvPr/>
        </p:nvSpPr>
        <p:spPr>
          <a:xfrm>
            <a:off x="932688" y="3666744"/>
            <a:ext cx="347472" cy="347472"/>
          </a:xfrm>
          <a:prstGeom prst="ellipse">
            <a:avLst/>
          </a:prstGeom>
          <a:solidFill>
            <a:srgbClr val="1F7A6B"/>
          </a:solidFill>
          <a:ln/>
        </p:spPr>
        <p:txBody>
          <a:bodyPr/>
          <a:lstStyle/>
          <a:p>
            <a:endParaRPr lang="en-US"/>
          </a:p>
        </p:txBody>
      </p:sp>
      <p:sp>
        <p:nvSpPr>
          <p:cNvPr id="17" name="Text 15"/>
          <p:cNvSpPr txBox="1"/>
          <p:nvPr/>
        </p:nvSpPr>
        <p:spPr>
          <a:xfrm>
            <a:off x="932688" y="3666744"/>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1417320" y="3648456"/>
            <a:ext cx="4244188" cy="603504"/>
          </a:xfrm>
          <a:prstGeom prst="rect">
            <a:avLst/>
          </a:prstGeom>
          <a:noFill/>
          <a:ln/>
        </p:spPr>
        <p:txBody>
          <a:bodyPr wrap="square" lIns="0" tIns="0" rIns="0" bIns="0" rtlCol="0" anchor="ctr"/>
          <a:lstStyle/>
          <a:p>
            <a:pPr marL="0" indent="0">
              <a:lnSpc>
                <a:spcPts val="2000"/>
              </a:lnSpc>
              <a:buNone/>
            </a:pPr>
            <a:r>
              <a:rPr lang="en-US" sz="1550" b="1" dirty="0">
                <a:solidFill>
                  <a:srgbClr val="0E131B"/>
                </a:solidFill>
                <a:latin typeface="Cambria" pitchFamily="34" charset="0"/>
                <a:ea typeface="Cambria" pitchFamily="34" charset="-122"/>
                <a:cs typeface="Cambria" pitchFamily="34" charset="-120"/>
              </a:rPr>
              <a:t>What did you expect that never appeared?</a:t>
            </a:r>
            <a:endParaRPr lang="en-US" sz="1550" dirty="0"/>
          </a:p>
        </p:txBody>
      </p:sp>
      <p:sp>
        <p:nvSpPr>
          <p:cNvPr id="19" name="Text 17"/>
          <p:cNvSpPr txBox="1"/>
          <p:nvPr/>
        </p:nvSpPr>
        <p:spPr>
          <a:xfrm>
            <a:off x="932688" y="4306824"/>
            <a:ext cx="4710532" cy="877824"/>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This is the hard one and it is the whole exercise. List things that plainly belong to the space of the prompt and are entirely absent across all forty.</a:t>
            </a:r>
            <a:endParaRPr lang="en-US" sz="1200" dirty="0"/>
          </a:p>
        </p:txBody>
      </p:sp>
      <p:sp>
        <p:nvSpPr>
          <p:cNvPr id="20" name="Shape 18"/>
          <p:cNvSpPr/>
          <p:nvPr/>
        </p:nvSpPr>
        <p:spPr>
          <a:xfrm>
            <a:off x="6255868" y="3429000"/>
            <a:ext cx="5295748" cy="1874520"/>
          </a:xfrm>
          <a:prstGeom prst="roundRect">
            <a:avLst>
              <a:gd name="adj" fmla="val 3902"/>
            </a:avLst>
          </a:prstGeom>
          <a:solidFill>
            <a:srgbClr val="0E131B"/>
          </a:solidFill>
          <a:ln w="12700">
            <a:solidFill>
              <a:srgbClr val="0E131B"/>
            </a:solidFill>
            <a:prstDash val="solid"/>
          </a:ln>
        </p:spPr>
        <p:txBody>
          <a:bodyPr/>
          <a:lstStyle/>
          <a:p>
            <a:endParaRPr lang="en-US"/>
          </a:p>
        </p:txBody>
      </p:sp>
      <p:sp>
        <p:nvSpPr>
          <p:cNvPr id="21" name="Shape 19"/>
          <p:cNvSpPr/>
          <p:nvPr/>
        </p:nvSpPr>
        <p:spPr>
          <a:xfrm>
            <a:off x="6548476" y="3666744"/>
            <a:ext cx="347472" cy="347472"/>
          </a:xfrm>
          <a:prstGeom prst="ellipse">
            <a:avLst/>
          </a:prstGeom>
          <a:solidFill>
            <a:srgbClr val="9C3D6E"/>
          </a:solidFill>
          <a:ln/>
        </p:spPr>
        <p:txBody>
          <a:bodyPr/>
          <a:lstStyle/>
          <a:p>
            <a:endParaRPr lang="en-US"/>
          </a:p>
        </p:txBody>
      </p:sp>
      <p:sp>
        <p:nvSpPr>
          <p:cNvPr id="22" name="Text 20"/>
          <p:cNvSpPr txBox="1"/>
          <p:nvPr/>
        </p:nvSpPr>
        <p:spPr>
          <a:xfrm>
            <a:off x="6548476" y="3666744"/>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3" name="Text 21"/>
          <p:cNvSpPr txBox="1"/>
          <p:nvPr/>
        </p:nvSpPr>
        <p:spPr>
          <a:xfrm>
            <a:off x="7033108" y="3648456"/>
            <a:ext cx="4244188" cy="603504"/>
          </a:xfrm>
          <a:prstGeom prst="rect">
            <a:avLst/>
          </a:prstGeom>
          <a:noFill/>
          <a:ln/>
        </p:spPr>
        <p:txBody>
          <a:bodyPr wrap="square" lIns="0" tIns="0" rIns="0" bIns="0" rtlCol="0" anchor="ctr"/>
          <a:lstStyle/>
          <a:p>
            <a:pPr marL="0" indent="0">
              <a:lnSpc>
                <a:spcPts val="2000"/>
              </a:lnSpc>
              <a:buNone/>
            </a:pPr>
            <a:r>
              <a:rPr lang="en-US" sz="1550" b="1" dirty="0">
                <a:solidFill>
                  <a:srgbClr val="DFA9C4"/>
                </a:solidFill>
                <a:latin typeface="Cambria" pitchFamily="34" charset="0"/>
                <a:ea typeface="Cambria" pitchFamily="34" charset="-122"/>
                <a:cs typeface="Cambria" pitchFamily="34" charset="-120"/>
              </a:rPr>
              <a:t>Whose absence would you not have noticed?</a:t>
            </a:r>
            <a:endParaRPr lang="en-US" sz="1550" dirty="0"/>
          </a:p>
        </p:txBody>
      </p:sp>
      <p:sp>
        <p:nvSpPr>
          <p:cNvPr id="24" name="Text 22"/>
          <p:cNvSpPr txBox="1"/>
          <p:nvPr/>
        </p:nvSpPr>
        <p:spPr>
          <a:xfrm>
            <a:off x="6548476" y="4306824"/>
            <a:ext cx="4710532" cy="877824"/>
          </a:xfrm>
          <a:prstGeom prst="rect">
            <a:avLst/>
          </a:prstGeom>
          <a:noFill/>
          <a:ln/>
        </p:spPr>
        <p:txBody>
          <a:bodyPr wrap="square" lIns="0" tIns="0" rIns="0" bIns="0" rtlCol="0" anchor="ctr"/>
          <a:lstStyle/>
          <a:p>
            <a:pPr marL="0" indent="0">
              <a:lnSpc>
                <a:spcPts val="1600"/>
              </a:lnSpc>
              <a:buNone/>
            </a:pPr>
            <a:r>
              <a:rPr lang="en-US" sz="1200" dirty="0">
                <a:solidFill>
                  <a:srgbClr val="F2F4F8"/>
                </a:solidFill>
                <a:latin typeface="Calibri" pitchFamily="34" charset="0"/>
                <a:ea typeface="Calibri" pitchFamily="34" charset="-122"/>
                <a:cs typeface="Calibri" pitchFamily="34" charset="-120"/>
              </a:rPr>
              <a:t>Something missing that you only see because someone else pointed it out, or that you had to reason your way to rather than feel. Mark those differently.</a:t>
            </a:r>
            <a:endParaRPr lang="en-US" sz="1200" dirty="0"/>
          </a:p>
        </p:txBody>
      </p:sp>
      <p:sp>
        <p:nvSpPr>
          <p:cNvPr id="25" name="Shape 23"/>
          <p:cNvSpPr/>
          <p:nvPr/>
        </p:nvSpPr>
        <p:spPr>
          <a:xfrm>
            <a:off x="640080" y="5532120"/>
            <a:ext cx="10911535" cy="685800"/>
          </a:xfrm>
          <a:prstGeom prst="roundRect">
            <a:avLst>
              <a:gd name="adj" fmla="val 10667"/>
            </a:avLst>
          </a:prstGeom>
          <a:solidFill>
            <a:srgbClr val="0E131B"/>
          </a:solidFill>
          <a:ln w="12700">
            <a:solidFill>
              <a:srgbClr val="0E131B"/>
            </a:solidFill>
            <a:prstDash val="solid"/>
          </a:ln>
        </p:spPr>
        <p:txBody>
          <a:bodyPr/>
          <a:lstStyle/>
          <a:p>
            <a:endParaRPr lang="en-US"/>
          </a:p>
        </p:txBody>
      </p:sp>
      <p:sp>
        <p:nvSpPr>
          <p:cNvPr id="26" name="Text 24"/>
          <p:cNvSpPr txBox="1"/>
          <p:nvPr/>
        </p:nvSpPr>
        <p:spPr>
          <a:xfrm>
            <a:off x="1005840" y="5696712"/>
            <a:ext cx="10424160" cy="356616"/>
          </a:xfrm>
          <a:prstGeom prst="rect">
            <a:avLst/>
          </a:prstGeom>
          <a:noFill/>
          <a:ln/>
        </p:spPr>
        <p:txBody>
          <a:bodyPr wrap="square" lIns="0" tIns="0" rIns="0" bIns="0" rtlCol="0" anchor="ctr"/>
          <a:lstStyle/>
          <a:p>
            <a:pPr marL="0" indent="0">
              <a:lnSpc>
                <a:spcPts val="2000"/>
              </a:lnSpc>
              <a:buNone/>
            </a:pPr>
            <a:r>
              <a:rPr lang="en-US" sz="1500" dirty="0">
                <a:solidFill>
                  <a:srgbClr val="F2F4F8"/>
                </a:solidFill>
                <a:latin typeface="Cambria" pitchFamily="34" charset="0"/>
                <a:ea typeface="Cambria" pitchFamily="34" charset="-122"/>
                <a:cs typeface="Cambria" pitchFamily="34" charset="-120"/>
              </a:rPr>
              <a:t>No technical vocabulary in this block. Not mode, not collapse, not distribution. Describe what is on the page in the words you had before this course started.</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9C3D6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WHAT ROOMS USUALLY FIND</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0E131B"/>
                </a:solidFill>
                <a:latin typeface="Cambria" pitchFamily="34" charset="0"/>
                <a:ea typeface="Cambria" pitchFamily="34" charset="-122"/>
                <a:cs typeface="Cambria" pitchFamily="34" charset="-120"/>
              </a:rPr>
              <a:t>A prediction you can check against your own pages</a:t>
            </a:r>
            <a:endParaRPr lang="en-US" sz="2900" dirty="0"/>
          </a:p>
        </p:txBody>
      </p:sp>
      <p:sp>
        <p:nvSpPr>
          <p:cNvPr id="5" name="Shape 3"/>
          <p:cNvSpPr/>
          <p:nvPr/>
        </p:nvSpPr>
        <p:spPr>
          <a:xfrm>
            <a:off x="640080" y="1371600"/>
            <a:ext cx="3454298" cy="2331720"/>
          </a:xfrm>
          <a:prstGeom prst="roundRect">
            <a:avLst>
              <a:gd name="adj" fmla="val 3137"/>
            </a:avLst>
          </a:prstGeom>
          <a:solidFill>
            <a:srgbClr val="E6F2EF"/>
          </a:solidFill>
          <a:ln w="12700">
            <a:solidFill>
              <a:srgbClr val="E6F2EF"/>
            </a:solidFill>
            <a:prstDash val="solid"/>
          </a:ln>
        </p:spPr>
        <p:txBody>
          <a:bodyPr/>
          <a:lstStyle/>
          <a:p>
            <a:endParaRPr lang="en-US"/>
          </a:p>
        </p:txBody>
      </p:sp>
      <p:sp>
        <p:nvSpPr>
          <p:cNvPr id="6" name="Text 4"/>
          <p:cNvSpPr txBox="1"/>
          <p:nvPr/>
        </p:nvSpPr>
        <p:spPr>
          <a:xfrm>
            <a:off x="914400" y="1554480"/>
            <a:ext cx="2905658" cy="566928"/>
          </a:xfrm>
          <a:prstGeom prst="rect">
            <a:avLst/>
          </a:prstGeom>
          <a:noFill/>
          <a:ln/>
        </p:spPr>
        <p:txBody>
          <a:bodyPr wrap="square" lIns="0" tIns="0" rIns="0" bIns="0" rtlCol="0" anchor="ctr"/>
          <a:lstStyle/>
          <a:p>
            <a:pPr marL="0" indent="0">
              <a:lnSpc>
                <a:spcPts val="2000"/>
              </a:lnSpc>
              <a:buNone/>
            </a:pPr>
            <a:r>
              <a:rPr lang="en-US" sz="1600" b="1" dirty="0">
                <a:solidFill>
                  <a:srgbClr val="0E131B"/>
                </a:solidFill>
                <a:latin typeface="Cambria" pitchFamily="34" charset="0"/>
                <a:ea typeface="Cambria" pitchFamily="34" charset="-122"/>
                <a:cs typeface="Cambria" pitchFamily="34" charset="-120"/>
              </a:rPr>
              <a:t>Names and settings converge hard</a:t>
            </a:r>
            <a:endParaRPr lang="en-US" sz="1600" dirty="0"/>
          </a:p>
        </p:txBody>
      </p:sp>
      <p:sp>
        <p:nvSpPr>
          <p:cNvPr id="7" name="Text 5"/>
          <p:cNvSpPr txBox="1"/>
          <p:nvPr/>
        </p:nvSpPr>
        <p:spPr>
          <a:xfrm>
            <a:off x="914400" y="2194560"/>
            <a:ext cx="2905658" cy="1289304"/>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A handful of names recur across dozens of outputs, often across different students. Settings cluster in a narrow band. This is the most visible layer and the easiest to notice.</a:t>
            </a:r>
            <a:endParaRPr lang="en-US" sz="1200" dirty="0"/>
          </a:p>
        </p:txBody>
      </p:sp>
      <p:sp>
        <p:nvSpPr>
          <p:cNvPr id="8" name="Shape 6"/>
          <p:cNvSpPr/>
          <p:nvPr/>
        </p:nvSpPr>
        <p:spPr>
          <a:xfrm>
            <a:off x="4368698" y="1371600"/>
            <a:ext cx="3454298" cy="2331720"/>
          </a:xfrm>
          <a:prstGeom prst="roundRect">
            <a:avLst>
              <a:gd name="adj" fmla="val 3137"/>
            </a:avLst>
          </a:prstGeom>
          <a:solidFill>
            <a:srgbClr val="F8EBF2"/>
          </a:solidFill>
          <a:ln w="12700">
            <a:solidFill>
              <a:srgbClr val="F8EBF2"/>
            </a:solidFill>
            <a:prstDash val="solid"/>
          </a:ln>
        </p:spPr>
        <p:txBody>
          <a:bodyPr/>
          <a:lstStyle/>
          <a:p>
            <a:endParaRPr lang="en-US"/>
          </a:p>
        </p:txBody>
      </p:sp>
      <p:sp>
        <p:nvSpPr>
          <p:cNvPr id="9" name="Text 7"/>
          <p:cNvSpPr txBox="1"/>
          <p:nvPr/>
        </p:nvSpPr>
        <p:spPr>
          <a:xfrm>
            <a:off x="4643018" y="1554480"/>
            <a:ext cx="2905658" cy="566928"/>
          </a:xfrm>
          <a:prstGeom prst="rect">
            <a:avLst/>
          </a:prstGeom>
          <a:noFill/>
          <a:ln/>
        </p:spPr>
        <p:txBody>
          <a:bodyPr wrap="square" lIns="0" tIns="0" rIns="0" bIns="0" rtlCol="0" anchor="ctr"/>
          <a:lstStyle/>
          <a:p>
            <a:pPr marL="0" indent="0">
              <a:lnSpc>
                <a:spcPts val="2000"/>
              </a:lnSpc>
              <a:buNone/>
            </a:pPr>
            <a:r>
              <a:rPr lang="en-US" sz="1600" b="1" dirty="0">
                <a:solidFill>
                  <a:srgbClr val="0E131B"/>
                </a:solidFill>
                <a:latin typeface="Cambria" pitchFamily="34" charset="0"/>
                <a:ea typeface="Cambria" pitchFamily="34" charset="-122"/>
                <a:cs typeface="Cambria" pitchFamily="34" charset="-120"/>
              </a:rPr>
              <a:t>Structure converges harder</a:t>
            </a:r>
            <a:endParaRPr lang="en-US" sz="1600" dirty="0"/>
          </a:p>
        </p:txBody>
      </p:sp>
      <p:sp>
        <p:nvSpPr>
          <p:cNvPr id="10" name="Text 8"/>
          <p:cNvSpPr txBox="1"/>
          <p:nvPr/>
        </p:nvSpPr>
        <p:spPr>
          <a:xfrm>
            <a:off x="4643018" y="2194560"/>
            <a:ext cx="2905658" cy="1289304"/>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Sentence length, paragraph shape, where the turn happens, how things end. Students notice this second and find it more unsettling, because they had not been watching for it.</a:t>
            </a:r>
            <a:endParaRPr lang="en-US" sz="1200" dirty="0"/>
          </a:p>
        </p:txBody>
      </p:sp>
      <p:sp>
        <p:nvSpPr>
          <p:cNvPr id="11" name="Shape 9"/>
          <p:cNvSpPr/>
          <p:nvPr/>
        </p:nvSpPr>
        <p:spPr>
          <a:xfrm>
            <a:off x="8097317" y="1371600"/>
            <a:ext cx="3454298" cy="2331720"/>
          </a:xfrm>
          <a:prstGeom prst="roundRect">
            <a:avLst>
              <a:gd name="adj" fmla="val 3137"/>
            </a:avLst>
          </a:prstGeom>
          <a:solidFill>
            <a:srgbClr val="E6F2EF"/>
          </a:solidFill>
          <a:ln w="12700">
            <a:solidFill>
              <a:srgbClr val="E6F2EF"/>
            </a:solidFill>
            <a:prstDash val="solid"/>
          </a:ln>
        </p:spPr>
        <p:txBody>
          <a:bodyPr/>
          <a:lstStyle/>
          <a:p>
            <a:endParaRPr lang="en-US"/>
          </a:p>
        </p:txBody>
      </p:sp>
      <p:sp>
        <p:nvSpPr>
          <p:cNvPr id="12" name="Text 10"/>
          <p:cNvSpPr txBox="1"/>
          <p:nvPr/>
        </p:nvSpPr>
        <p:spPr>
          <a:xfrm>
            <a:off x="8371637" y="1554480"/>
            <a:ext cx="2905658" cy="566928"/>
          </a:xfrm>
          <a:prstGeom prst="rect">
            <a:avLst/>
          </a:prstGeom>
          <a:noFill/>
          <a:ln/>
        </p:spPr>
        <p:txBody>
          <a:bodyPr wrap="square" lIns="0" tIns="0" rIns="0" bIns="0" rtlCol="0" anchor="ctr"/>
          <a:lstStyle/>
          <a:p>
            <a:pPr marL="0" indent="0">
              <a:lnSpc>
                <a:spcPts val="2000"/>
              </a:lnSpc>
              <a:buNone/>
            </a:pPr>
            <a:r>
              <a:rPr lang="en-US" sz="1600" b="1" dirty="0">
                <a:solidFill>
                  <a:srgbClr val="0E131B"/>
                </a:solidFill>
                <a:latin typeface="Cambria" pitchFamily="34" charset="0"/>
                <a:ea typeface="Cambria" pitchFamily="34" charset="-122"/>
                <a:cs typeface="Cambria" pitchFamily="34" charset="-120"/>
              </a:rPr>
              <a:t>Stance converges hardest</a:t>
            </a:r>
            <a:endParaRPr lang="en-US" sz="1600" dirty="0"/>
          </a:p>
        </p:txBody>
      </p:sp>
      <p:sp>
        <p:nvSpPr>
          <p:cNvPr id="13" name="Text 11"/>
          <p:cNvSpPr txBox="1"/>
          <p:nvPr/>
        </p:nvSpPr>
        <p:spPr>
          <a:xfrm>
            <a:off x="8371637" y="2194560"/>
            <a:ext cx="2905658" cy="1289304"/>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Tone, degree of resolution, whether anything is left unresolved, who gets sympathy. This layer is nearly invisible until someone names it, and it is the one that matters most for the afternoon.</a:t>
            </a:r>
            <a:endParaRPr lang="en-US" sz="1200" dirty="0"/>
          </a:p>
        </p:txBody>
      </p:sp>
      <p:sp>
        <p:nvSpPr>
          <p:cNvPr id="14" name="Shape 12"/>
          <p:cNvSpPr/>
          <p:nvPr/>
        </p:nvSpPr>
        <p:spPr>
          <a:xfrm>
            <a:off x="640080" y="3931920"/>
            <a:ext cx="10911535" cy="1828800"/>
          </a:xfrm>
          <a:prstGeom prst="roundRect">
            <a:avLst>
              <a:gd name="adj" fmla="val 4000"/>
            </a:avLst>
          </a:prstGeom>
          <a:solidFill>
            <a:srgbClr val="0E131B"/>
          </a:solidFill>
          <a:ln w="12700">
            <a:solidFill>
              <a:srgbClr val="0E131B"/>
            </a:solidFill>
            <a:prstDash val="solid"/>
          </a:ln>
        </p:spPr>
        <p:txBody>
          <a:bodyPr/>
          <a:lstStyle/>
          <a:p>
            <a:endParaRPr lang="en-US"/>
          </a:p>
        </p:txBody>
      </p:sp>
      <p:sp>
        <p:nvSpPr>
          <p:cNvPr id="15" name="Text 13"/>
          <p:cNvSpPr txBox="1"/>
          <p:nvPr/>
        </p:nvSpPr>
        <p:spPr>
          <a:xfrm>
            <a:off x="1005840" y="4096512"/>
            <a:ext cx="10424160" cy="274320"/>
          </a:xfrm>
          <a:prstGeom prst="rect">
            <a:avLst/>
          </a:prstGeom>
          <a:noFill/>
          <a:ln/>
        </p:spPr>
        <p:txBody>
          <a:bodyPr wrap="square" lIns="0" tIns="0" rIns="0" bIns="0" rtlCol="0" anchor="ctr"/>
          <a:lstStyle/>
          <a:p>
            <a:pPr marL="0" indent="0">
              <a:buNone/>
            </a:pPr>
            <a:r>
              <a:rPr lang="en-US" sz="1150" b="1" kern="0" spc="140" dirty="0">
                <a:solidFill>
                  <a:srgbClr val="DFA9C4"/>
                </a:solidFill>
                <a:latin typeface="Calibri" pitchFamily="34" charset="0"/>
                <a:ea typeface="Calibri" pitchFamily="34" charset="-122"/>
                <a:cs typeface="Calibri" pitchFamily="34" charset="-120"/>
              </a:rPr>
              <a:t>And one finding that is not about the model</a:t>
            </a:r>
            <a:endParaRPr lang="en-US" sz="1150" dirty="0"/>
          </a:p>
        </p:txBody>
      </p:sp>
      <p:sp>
        <p:nvSpPr>
          <p:cNvPr id="16" name="Text 14"/>
          <p:cNvSpPr txBox="1"/>
          <p:nvPr/>
        </p:nvSpPr>
        <p:spPr>
          <a:xfrm>
            <a:off x="1005840" y="4425696"/>
            <a:ext cx="10424160" cy="1170432"/>
          </a:xfrm>
          <a:prstGeom prst="rect">
            <a:avLst/>
          </a:prstGeom>
          <a:noFill/>
          <a:ln/>
        </p:spPr>
        <p:txBody>
          <a:bodyPr wrap="square" lIns="0" tIns="0" rIns="0" bIns="0" rtlCol="0" anchor="ctr"/>
          <a:lstStyle/>
          <a:p>
            <a:pPr marL="0" indent="0">
              <a:lnSpc>
                <a:spcPts val="2000"/>
              </a:lnSpc>
              <a:buNone/>
            </a:pPr>
            <a:r>
              <a:rPr lang="en-US" sz="1500" dirty="0">
                <a:solidFill>
                  <a:srgbClr val="F2F4F8"/>
                </a:solidFill>
                <a:latin typeface="Cambria" pitchFamily="34" charset="0"/>
                <a:ea typeface="Cambria" pitchFamily="34" charset="-122"/>
                <a:cs typeface="Cambria" pitchFamily="34" charset="-120"/>
              </a:rPr>
              <a:t>Some of the convergence is yours. Forty variations on one prompt, written by one person in one sitting, are forty outputs from a system that includes you — your prompt, your idea of what counts as a variation, your decision to stop. Hold that. We will need it at 4:30, when the question is whether the same word describes both halves of that system.</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E131B"/>
        </a:solidFill>
        <a:effectLst/>
      </p:bgPr>
    </p:bg>
    <p:spTree>
      <p:nvGrpSpPr>
        <p:cNvPr id="1" name=""/>
        <p:cNvGrpSpPr/>
        <p:nvPr/>
      </p:nvGrpSpPr>
      <p:grpSpPr>
        <a:xfrm>
          <a:off x="0" y="0"/>
          <a:ext cx="0" cy="0"/>
          <a:chOff x="0" y="0"/>
          <a:chExt cx="0" cy="0"/>
        </a:xfrm>
      </p:grpSpPr>
      <p:sp>
        <p:nvSpPr>
          <p:cNvPr id="2" name="Shape 0"/>
          <p:cNvSpPr/>
          <p:nvPr/>
        </p:nvSpPr>
        <p:spPr>
          <a:xfrm>
            <a:off x="8778240" y="1417320"/>
            <a:ext cx="2651760" cy="2651760"/>
          </a:xfrm>
          <a:prstGeom prst="ellipse">
            <a:avLst/>
          </a:prstGeom>
          <a:solidFill>
            <a:srgbClr val="9C3D6E">
              <a:alpha val="70000"/>
            </a:srgbClr>
          </a:solidFill>
          <a:ln/>
        </p:spPr>
        <p:txBody>
          <a:bodyPr/>
          <a:lstStyle/>
          <a:p>
            <a:endParaRPr lang="en-US"/>
          </a:p>
        </p:txBody>
      </p:sp>
      <p:sp>
        <p:nvSpPr>
          <p:cNvPr id="3" name="Shape 1"/>
          <p:cNvSpPr/>
          <p:nvPr/>
        </p:nvSpPr>
        <p:spPr>
          <a:xfrm>
            <a:off x="9646920" y="2286000"/>
            <a:ext cx="1188720" cy="1188720"/>
          </a:xfrm>
          <a:prstGeom prst="ellipse">
            <a:avLst/>
          </a:prstGeom>
          <a:solidFill>
            <a:srgbClr val="1F7A6B">
              <a:alpha val="75000"/>
            </a:srgbClr>
          </a:solidFill>
          <a:ln/>
        </p:spPr>
        <p:txBody>
          <a:bodyPr/>
          <a:lstStyle/>
          <a:p>
            <a:endParaRPr lang="en-US"/>
          </a:p>
        </p:txBody>
      </p:sp>
      <p:sp>
        <p:nvSpPr>
          <p:cNvPr id="4" name="Text 2"/>
          <p:cNvSpPr txBox="1"/>
          <p:nvPr/>
        </p:nvSpPr>
        <p:spPr>
          <a:xfrm>
            <a:off x="640080" y="1920240"/>
            <a:ext cx="7315200" cy="320040"/>
          </a:xfrm>
          <a:prstGeom prst="rect">
            <a:avLst/>
          </a:prstGeom>
          <a:noFill/>
          <a:ln/>
        </p:spPr>
        <p:txBody>
          <a:bodyPr wrap="square" lIns="0" tIns="0" rIns="0" bIns="0" rtlCol="0" anchor="ctr"/>
          <a:lstStyle/>
          <a:p>
            <a:pPr marL="0" indent="0">
              <a:buNone/>
            </a:pPr>
            <a:r>
              <a:rPr lang="en-US" sz="1300" b="1" kern="0" spc="220" dirty="0">
                <a:solidFill>
                  <a:srgbClr val="DFA9C4"/>
                </a:solidFill>
                <a:latin typeface="Calibri" pitchFamily="34" charset="0"/>
                <a:ea typeface="Calibri" pitchFamily="34" charset="-122"/>
                <a:cs typeface="Calibri" pitchFamily="34" charset="-120"/>
              </a:rPr>
              <a:t>PART TWO</a:t>
            </a:r>
            <a:endParaRPr lang="en-US" sz="1300" dirty="0"/>
          </a:p>
        </p:txBody>
      </p:sp>
      <p:sp>
        <p:nvSpPr>
          <p:cNvPr id="5" name="Text 3"/>
          <p:cNvSpPr txBox="1"/>
          <p:nvPr/>
        </p:nvSpPr>
        <p:spPr>
          <a:xfrm>
            <a:off x="640080" y="2331720"/>
            <a:ext cx="7680960" cy="914400"/>
          </a:xfrm>
          <a:prstGeom prst="rect">
            <a:avLst/>
          </a:prstGeom>
          <a:noFill/>
          <a:ln/>
        </p:spPr>
        <p:txBody>
          <a:bodyPr wrap="square" lIns="0" tIns="0" rIns="0" bIns="0" rtlCol="0" anchor="ctr"/>
          <a:lstStyle/>
          <a:p>
            <a:pPr marL="0" indent="0">
              <a:buNone/>
            </a:pPr>
            <a:r>
              <a:rPr lang="en-US" sz="3600" b="1" dirty="0">
                <a:solidFill>
                  <a:srgbClr val="F2F4F8"/>
                </a:solidFill>
                <a:latin typeface="Cambria" pitchFamily="34" charset="0"/>
                <a:ea typeface="Cambria" pitchFamily="34" charset="-122"/>
                <a:cs typeface="Cambria" pitchFamily="34" charset="-120"/>
              </a:rPr>
              <a:t>The adversarial game</a:t>
            </a:r>
            <a:endParaRPr lang="en-US" sz="3600" dirty="0"/>
          </a:p>
        </p:txBody>
      </p:sp>
      <p:sp>
        <p:nvSpPr>
          <p:cNvPr id="6" name="Text 4"/>
          <p:cNvSpPr txBox="1"/>
          <p:nvPr/>
        </p:nvSpPr>
        <p:spPr>
          <a:xfrm>
            <a:off x="640080" y="3310128"/>
            <a:ext cx="768096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Goodfellow et al. §3  ·  0:40–1:30</a:t>
            </a:r>
            <a:endParaRPr lang="en-US" sz="1500" dirty="0"/>
          </a:p>
        </p:txBody>
      </p:sp>
      <p:sp>
        <p:nvSpPr>
          <p:cNvPr id="7" name="Shape 5"/>
          <p:cNvSpPr/>
          <p:nvPr/>
        </p:nvSpPr>
        <p:spPr>
          <a:xfrm>
            <a:off x="640080" y="3913632"/>
            <a:ext cx="2377440" cy="18288"/>
          </a:xfrm>
          <a:prstGeom prst="rect">
            <a:avLst/>
          </a:prstGeom>
          <a:solidFill>
            <a:srgbClr val="84CCBD"/>
          </a:solidFill>
          <a:ln/>
        </p:spPr>
        <p:txBody>
          <a:bodyPr/>
          <a:lstStyle/>
          <a:p>
            <a:endParaRPr lang="en-US"/>
          </a:p>
        </p:txBody>
      </p:sp>
      <p:sp>
        <p:nvSpPr>
          <p:cNvPr id="8" name="Text 6"/>
          <p:cNvSpPr txBox="1"/>
          <p:nvPr/>
        </p:nvSpPr>
        <p:spPr>
          <a:xfrm>
            <a:off x="640080" y="4133088"/>
            <a:ext cx="7680960" cy="777240"/>
          </a:xfrm>
          <a:prstGeom prst="rect">
            <a:avLst/>
          </a:prstGeom>
          <a:noFill/>
          <a:ln/>
        </p:spPr>
        <p:txBody>
          <a:bodyPr wrap="square" lIns="0" tIns="0" rIns="0" bIns="0" rtlCol="0" anchor="ctr"/>
          <a:lstStyle/>
          <a:p>
            <a:pPr marL="0" indent="0">
              <a:lnSpc>
                <a:spcPts val="2500"/>
              </a:lnSpc>
              <a:buNone/>
            </a:pPr>
            <a:r>
              <a:rPr lang="en-US" sz="1850" i="1" dirty="0">
                <a:solidFill>
                  <a:srgbClr val="84CCBD"/>
                </a:solidFill>
                <a:latin typeface="Cambria" pitchFamily="34" charset="0"/>
                <a:ea typeface="Cambria" pitchFamily="34" charset="-122"/>
                <a:cs typeface="Cambria" pitchFamily="34" charset="-120"/>
              </a:rPr>
              <a:t>Two networks, one objective, and a minus sign between them.</a:t>
            </a:r>
            <a:endParaRPr lang="en-US" sz="1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9C3D6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THE SETUP</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0E131B"/>
                </a:solidFill>
                <a:latin typeface="Cambria" pitchFamily="34" charset="0"/>
                <a:ea typeface="Cambria" pitchFamily="34" charset="-122"/>
                <a:cs typeface="Cambria" pitchFamily="34" charset="-120"/>
              </a:rPr>
              <a:t>Two networks with opposite jobs</a:t>
            </a:r>
            <a:endParaRPr lang="en-US" sz="2900" dirty="0"/>
          </a:p>
        </p:txBody>
      </p:sp>
      <p:sp>
        <p:nvSpPr>
          <p:cNvPr id="5" name="Shape 3"/>
          <p:cNvSpPr/>
          <p:nvPr/>
        </p:nvSpPr>
        <p:spPr>
          <a:xfrm>
            <a:off x="822960" y="1737360"/>
            <a:ext cx="1234440" cy="777240"/>
          </a:xfrm>
          <a:prstGeom prst="roundRect">
            <a:avLst>
              <a:gd name="adj" fmla="val 9412"/>
            </a:avLst>
          </a:prstGeom>
          <a:solidFill>
            <a:srgbClr val="1C2430"/>
          </a:solidFill>
          <a:ln w="12700">
            <a:solidFill>
              <a:srgbClr val="1C2430"/>
            </a:solidFill>
            <a:prstDash val="solid"/>
          </a:ln>
        </p:spPr>
        <p:txBody>
          <a:bodyPr/>
          <a:lstStyle/>
          <a:p>
            <a:endParaRPr lang="en-US"/>
          </a:p>
        </p:txBody>
      </p:sp>
      <p:sp>
        <p:nvSpPr>
          <p:cNvPr id="6" name="Text 4"/>
          <p:cNvSpPr txBox="1"/>
          <p:nvPr/>
        </p:nvSpPr>
        <p:spPr>
          <a:xfrm>
            <a:off x="822960" y="1737360"/>
            <a:ext cx="1234440" cy="777240"/>
          </a:xfrm>
          <a:prstGeom prst="rect">
            <a:avLst/>
          </a:prstGeom>
          <a:noFill/>
          <a:ln/>
        </p:spPr>
        <p:txBody>
          <a:bodyPr wrap="square" lIns="0" tIns="0" rIns="0" bIns="0" rtlCol="0" anchor="ctr"/>
          <a:lstStyle/>
          <a:p>
            <a:pPr marL="0" indent="0" algn="ctr">
              <a:buNone/>
            </a:pPr>
            <a:r>
              <a:rPr lang="en-US" sz="2400" dirty="0">
                <a:solidFill>
                  <a:srgbClr val="F2F4F8"/>
                </a:solidFill>
                <a:latin typeface="Cambria Math" pitchFamily="34" charset="0"/>
                <a:ea typeface="Cambria Math" pitchFamily="34" charset="-122"/>
                <a:cs typeface="Cambria Math" pitchFamily="34" charset="-120"/>
              </a:rPr>
              <a:t>z</a:t>
            </a:r>
            <a:endParaRPr lang="en-US" sz="2400" dirty="0"/>
          </a:p>
        </p:txBody>
      </p:sp>
      <p:sp>
        <p:nvSpPr>
          <p:cNvPr id="7" name="Text 5"/>
          <p:cNvSpPr txBox="1"/>
          <p:nvPr/>
        </p:nvSpPr>
        <p:spPr>
          <a:xfrm>
            <a:off x="731520" y="2560320"/>
            <a:ext cx="1417320" cy="256032"/>
          </a:xfrm>
          <a:prstGeom prst="rect">
            <a:avLst/>
          </a:prstGeom>
          <a:noFill/>
          <a:ln/>
        </p:spPr>
        <p:txBody>
          <a:bodyPr wrap="square" lIns="0" tIns="0" rIns="0" bIns="0" rtlCol="0" anchor="ctr"/>
          <a:lstStyle/>
          <a:p>
            <a:pPr marL="0" indent="0" algn="ctr">
              <a:buNone/>
            </a:pPr>
            <a:r>
              <a:rPr lang="en-US" sz="1000" i="1" dirty="0">
                <a:solidFill>
                  <a:srgbClr val="5B6474"/>
                </a:solidFill>
                <a:latin typeface="Calibri" pitchFamily="34" charset="0"/>
                <a:ea typeface="Calibri" pitchFamily="34" charset="-122"/>
                <a:cs typeface="Calibri" pitchFamily="34" charset="-120"/>
              </a:rPr>
              <a:t>random noise</a:t>
            </a:r>
            <a:endParaRPr lang="en-US" sz="1000" dirty="0"/>
          </a:p>
        </p:txBody>
      </p:sp>
      <p:sp>
        <p:nvSpPr>
          <p:cNvPr id="8" name="Shape 6"/>
          <p:cNvSpPr/>
          <p:nvPr/>
        </p:nvSpPr>
        <p:spPr>
          <a:xfrm>
            <a:off x="2148840" y="2029968"/>
            <a:ext cx="457200" cy="201168"/>
          </a:xfrm>
          <a:prstGeom prst="rightArrow">
            <a:avLst/>
          </a:prstGeom>
          <a:solidFill>
            <a:srgbClr val="5B6474"/>
          </a:solidFill>
          <a:ln/>
        </p:spPr>
        <p:txBody>
          <a:bodyPr/>
          <a:lstStyle/>
          <a:p>
            <a:endParaRPr lang="en-US"/>
          </a:p>
        </p:txBody>
      </p:sp>
      <p:sp>
        <p:nvSpPr>
          <p:cNvPr id="9" name="Shape 7"/>
          <p:cNvSpPr/>
          <p:nvPr/>
        </p:nvSpPr>
        <p:spPr>
          <a:xfrm>
            <a:off x="2697480" y="1737360"/>
            <a:ext cx="1234440" cy="777240"/>
          </a:xfrm>
          <a:prstGeom prst="roundRect">
            <a:avLst>
              <a:gd name="adj" fmla="val 9412"/>
            </a:avLst>
          </a:prstGeom>
          <a:solidFill>
            <a:srgbClr val="9C3D6E"/>
          </a:solidFill>
          <a:ln w="12700">
            <a:solidFill>
              <a:srgbClr val="9C3D6E"/>
            </a:solidFill>
            <a:prstDash val="solid"/>
          </a:ln>
        </p:spPr>
        <p:txBody>
          <a:bodyPr/>
          <a:lstStyle/>
          <a:p>
            <a:endParaRPr lang="en-US"/>
          </a:p>
        </p:txBody>
      </p:sp>
      <p:sp>
        <p:nvSpPr>
          <p:cNvPr id="10" name="Text 8"/>
          <p:cNvSpPr txBox="1"/>
          <p:nvPr/>
        </p:nvSpPr>
        <p:spPr>
          <a:xfrm>
            <a:off x="2697480" y="1737360"/>
            <a:ext cx="1234440" cy="77724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Math" pitchFamily="34" charset="0"/>
                <a:ea typeface="Cambria Math" pitchFamily="34" charset="-122"/>
                <a:cs typeface="Cambria Math" pitchFamily="34" charset="-120"/>
              </a:rPr>
              <a:t>G</a:t>
            </a:r>
            <a:endParaRPr lang="en-US" sz="2600" dirty="0"/>
          </a:p>
        </p:txBody>
      </p:sp>
      <p:sp>
        <p:nvSpPr>
          <p:cNvPr id="11" name="Text 9"/>
          <p:cNvSpPr txBox="1"/>
          <p:nvPr/>
        </p:nvSpPr>
        <p:spPr>
          <a:xfrm>
            <a:off x="2606040" y="2560320"/>
            <a:ext cx="1417320" cy="256032"/>
          </a:xfrm>
          <a:prstGeom prst="rect">
            <a:avLst/>
          </a:prstGeom>
          <a:noFill/>
          <a:ln/>
        </p:spPr>
        <p:txBody>
          <a:bodyPr wrap="square" lIns="0" tIns="0" rIns="0" bIns="0" rtlCol="0" anchor="ctr"/>
          <a:lstStyle/>
          <a:p>
            <a:pPr marL="0" indent="0" algn="ctr">
              <a:buNone/>
            </a:pPr>
            <a:r>
              <a:rPr lang="en-US" sz="1000" i="1" dirty="0">
                <a:solidFill>
                  <a:srgbClr val="9C3D6E"/>
                </a:solidFill>
                <a:latin typeface="Calibri" pitchFamily="34" charset="0"/>
                <a:ea typeface="Calibri" pitchFamily="34" charset="-122"/>
                <a:cs typeface="Calibri" pitchFamily="34" charset="-120"/>
              </a:rPr>
              <a:t>generator</a:t>
            </a:r>
            <a:endParaRPr lang="en-US" sz="1000" dirty="0"/>
          </a:p>
        </p:txBody>
      </p:sp>
      <p:sp>
        <p:nvSpPr>
          <p:cNvPr id="12" name="Shape 10"/>
          <p:cNvSpPr/>
          <p:nvPr/>
        </p:nvSpPr>
        <p:spPr>
          <a:xfrm>
            <a:off x="4023360" y="2029968"/>
            <a:ext cx="457200" cy="201168"/>
          </a:xfrm>
          <a:prstGeom prst="rightArrow">
            <a:avLst/>
          </a:prstGeom>
          <a:solidFill>
            <a:srgbClr val="5B6474"/>
          </a:solidFill>
          <a:ln/>
        </p:spPr>
        <p:txBody>
          <a:bodyPr/>
          <a:lstStyle/>
          <a:p>
            <a:endParaRPr lang="en-US"/>
          </a:p>
        </p:txBody>
      </p:sp>
      <p:sp>
        <p:nvSpPr>
          <p:cNvPr id="13" name="Shape 11"/>
          <p:cNvSpPr/>
          <p:nvPr/>
        </p:nvSpPr>
        <p:spPr>
          <a:xfrm>
            <a:off x="4572000" y="1737360"/>
            <a:ext cx="1417320" cy="777240"/>
          </a:xfrm>
          <a:prstGeom prst="roundRect">
            <a:avLst>
              <a:gd name="adj" fmla="val 9412"/>
            </a:avLst>
          </a:prstGeom>
          <a:solidFill>
            <a:srgbClr val="F8EBF2"/>
          </a:solidFill>
          <a:ln w="12700">
            <a:solidFill>
              <a:srgbClr val="F8EBF2"/>
            </a:solidFill>
            <a:prstDash val="solid"/>
          </a:ln>
        </p:spPr>
        <p:txBody>
          <a:bodyPr/>
          <a:lstStyle/>
          <a:p>
            <a:endParaRPr lang="en-US"/>
          </a:p>
        </p:txBody>
      </p:sp>
      <p:sp>
        <p:nvSpPr>
          <p:cNvPr id="14" name="Text 12"/>
          <p:cNvSpPr txBox="1"/>
          <p:nvPr/>
        </p:nvSpPr>
        <p:spPr>
          <a:xfrm>
            <a:off x="4572000" y="1737360"/>
            <a:ext cx="1417320" cy="777240"/>
          </a:xfrm>
          <a:prstGeom prst="rect">
            <a:avLst/>
          </a:prstGeom>
          <a:noFill/>
          <a:ln/>
        </p:spPr>
        <p:txBody>
          <a:bodyPr wrap="square" lIns="0" tIns="0" rIns="0" bIns="0" rtlCol="0" anchor="ctr"/>
          <a:lstStyle/>
          <a:p>
            <a:pPr marL="0" indent="0" algn="ctr">
              <a:buNone/>
            </a:pPr>
            <a:r>
              <a:rPr lang="en-US" sz="1900" dirty="0">
                <a:solidFill>
                  <a:srgbClr val="0E131B"/>
                </a:solidFill>
                <a:latin typeface="Cambria Math" pitchFamily="34" charset="0"/>
                <a:ea typeface="Cambria Math" pitchFamily="34" charset="-122"/>
                <a:cs typeface="Cambria Math" pitchFamily="34" charset="-120"/>
              </a:rPr>
              <a:t>G(z)</a:t>
            </a:r>
            <a:endParaRPr lang="en-US" sz="1900" dirty="0"/>
          </a:p>
        </p:txBody>
      </p:sp>
      <p:sp>
        <p:nvSpPr>
          <p:cNvPr id="15" name="Text 13"/>
          <p:cNvSpPr txBox="1"/>
          <p:nvPr/>
        </p:nvSpPr>
        <p:spPr>
          <a:xfrm>
            <a:off x="4572000" y="2560320"/>
            <a:ext cx="1417320" cy="256032"/>
          </a:xfrm>
          <a:prstGeom prst="rect">
            <a:avLst/>
          </a:prstGeom>
          <a:noFill/>
          <a:ln/>
        </p:spPr>
        <p:txBody>
          <a:bodyPr wrap="square" lIns="0" tIns="0" rIns="0" bIns="0" rtlCol="0" anchor="ctr"/>
          <a:lstStyle/>
          <a:p>
            <a:pPr marL="0" indent="0" algn="ctr">
              <a:buNone/>
            </a:pPr>
            <a:r>
              <a:rPr lang="en-US" sz="1000" i="1" dirty="0">
                <a:solidFill>
                  <a:srgbClr val="5B6474"/>
                </a:solidFill>
                <a:latin typeface="Calibri" pitchFamily="34" charset="0"/>
                <a:ea typeface="Calibri" pitchFamily="34" charset="-122"/>
                <a:cs typeface="Calibri" pitchFamily="34" charset="-120"/>
              </a:rPr>
              <a:t>fake sample</a:t>
            </a:r>
            <a:endParaRPr lang="en-US" sz="1000" dirty="0"/>
          </a:p>
        </p:txBody>
      </p:sp>
      <p:sp>
        <p:nvSpPr>
          <p:cNvPr id="16" name="Shape 14"/>
          <p:cNvSpPr/>
          <p:nvPr/>
        </p:nvSpPr>
        <p:spPr>
          <a:xfrm>
            <a:off x="4572000" y="3154680"/>
            <a:ext cx="1417320" cy="777240"/>
          </a:xfrm>
          <a:prstGeom prst="roundRect">
            <a:avLst>
              <a:gd name="adj" fmla="val 9412"/>
            </a:avLst>
          </a:prstGeom>
          <a:solidFill>
            <a:srgbClr val="E6F2EF"/>
          </a:solidFill>
          <a:ln w="12700">
            <a:solidFill>
              <a:srgbClr val="E6F2EF"/>
            </a:solidFill>
            <a:prstDash val="solid"/>
          </a:ln>
        </p:spPr>
        <p:txBody>
          <a:bodyPr/>
          <a:lstStyle/>
          <a:p>
            <a:endParaRPr lang="en-US"/>
          </a:p>
        </p:txBody>
      </p:sp>
      <p:sp>
        <p:nvSpPr>
          <p:cNvPr id="17" name="Text 15"/>
          <p:cNvSpPr txBox="1"/>
          <p:nvPr/>
        </p:nvSpPr>
        <p:spPr>
          <a:xfrm>
            <a:off x="4572000" y="3154680"/>
            <a:ext cx="1417320" cy="777240"/>
          </a:xfrm>
          <a:prstGeom prst="rect">
            <a:avLst/>
          </a:prstGeom>
          <a:noFill/>
          <a:ln/>
        </p:spPr>
        <p:txBody>
          <a:bodyPr wrap="square" lIns="0" tIns="0" rIns="0" bIns="0" rtlCol="0" anchor="ctr"/>
          <a:lstStyle/>
          <a:p>
            <a:pPr marL="0" indent="0" algn="ctr">
              <a:buNone/>
            </a:pPr>
            <a:r>
              <a:rPr lang="en-US" sz="2200" dirty="0">
                <a:solidFill>
                  <a:srgbClr val="0E131B"/>
                </a:solidFill>
                <a:latin typeface="Cambria Math" pitchFamily="34" charset="0"/>
                <a:ea typeface="Cambria Math" pitchFamily="34" charset="-122"/>
                <a:cs typeface="Cambria Math" pitchFamily="34" charset="-120"/>
              </a:rPr>
              <a:t>x</a:t>
            </a:r>
            <a:endParaRPr lang="en-US" sz="2200" dirty="0"/>
          </a:p>
        </p:txBody>
      </p:sp>
      <p:sp>
        <p:nvSpPr>
          <p:cNvPr id="18" name="Text 16"/>
          <p:cNvSpPr txBox="1"/>
          <p:nvPr/>
        </p:nvSpPr>
        <p:spPr>
          <a:xfrm>
            <a:off x="4572000" y="3977640"/>
            <a:ext cx="1417320" cy="256032"/>
          </a:xfrm>
          <a:prstGeom prst="rect">
            <a:avLst/>
          </a:prstGeom>
          <a:noFill/>
          <a:ln/>
        </p:spPr>
        <p:txBody>
          <a:bodyPr wrap="square" lIns="0" tIns="0" rIns="0" bIns="0" rtlCol="0" anchor="ctr"/>
          <a:lstStyle/>
          <a:p>
            <a:pPr marL="0" indent="0" algn="ctr">
              <a:buNone/>
            </a:pPr>
            <a:r>
              <a:rPr lang="en-US" sz="1000" i="1" dirty="0">
                <a:solidFill>
                  <a:srgbClr val="5B6474"/>
                </a:solidFill>
                <a:latin typeface="Calibri" pitchFamily="34" charset="0"/>
                <a:ea typeface="Calibri" pitchFamily="34" charset="-122"/>
                <a:cs typeface="Calibri" pitchFamily="34" charset="-120"/>
              </a:rPr>
              <a:t>real sample</a:t>
            </a:r>
            <a:endParaRPr lang="en-US" sz="1000" dirty="0"/>
          </a:p>
        </p:txBody>
      </p:sp>
      <p:sp>
        <p:nvSpPr>
          <p:cNvPr id="19" name="Shape 17"/>
          <p:cNvSpPr/>
          <p:nvPr/>
        </p:nvSpPr>
        <p:spPr>
          <a:xfrm>
            <a:off x="6080760" y="2359152"/>
            <a:ext cx="457200" cy="201168"/>
          </a:xfrm>
          <a:prstGeom prst="rightArrow">
            <a:avLst/>
          </a:prstGeom>
          <a:solidFill>
            <a:srgbClr val="5B6474"/>
          </a:solidFill>
          <a:ln/>
        </p:spPr>
        <p:txBody>
          <a:bodyPr/>
          <a:lstStyle/>
          <a:p>
            <a:endParaRPr lang="en-US"/>
          </a:p>
        </p:txBody>
      </p:sp>
      <p:sp>
        <p:nvSpPr>
          <p:cNvPr id="20" name="Shape 18"/>
          <p:cNvSpPr/>
          <p:nvPr/>
        </p:nvSpPr>
        <p:spPr>
          <a:xfrm>
            <a:off x="6080760" y="3128317"/>
            <a:ext cx="457200" cy="201168"/>
          </a:xfrm>
          <a:prstGeom prst="rightArrow">
            <a:avLst/>
          </a:prstGeom>
          <a:solidFill>
            <a:srgbClr val="5B6474"/>
          </a:solidFill>
          <a:ln/>
        </p:spPr>
        <p:txBody>
          <a:bodyPr/>
          <a:lstStyle/>
          <a:p>
            <a:endParaRPr lang="en-US"/>
          </a:p>
        </p:txBody>
      </p:sp>
      <p:sp>
        <p:nvSpPr>
          <p:cNvPr id="21" name="Shape 19"/>
          <p:cNvSpPr/>
          <p:nvPr/>
        </p:nvSpPr>
        <p:spPr>
          <a:xfrm>
            <a:off x="6629400" y="2148840"/>
            <a:ext cx="1234440" cy="914400"/>
          </a:xfrm>
          <a:prstGeom prst="roundRect">
            <a:avLst>
              <a:gd name="adj" fmla="val 8000"/>
            </a:avLst>
          </a:prstGeom>
          <a:solidFill>
            <a:srgbClr val="1F7A6B"/>
          </a:solidFill>
          <a:ln w="12700">
            <a:solidFill>
              <a:srgbClr val="1F7A6B"/>
            </a:solidFill>
            <a:prstDash val="solid"/>
          </a:ln>
        </p:spPr>
        <p:txBody>
          <a:bodyPr/>
          <a:lstStyle/>
          <a:p>
            <a:endParaRPr lang="en-US"/>
          </a:p>
        </p:txBody>
      </p:sp>
      <p:sp>
        <p:nvSpPr>
          <p:cNvPr id="22" name="Text 20"/>
          <p:cNvSpPr txBox="1"/>
          <p:nvPr/>
        </p:nvSpPr>
        <p:spPr>
          <a:xfrm>
            <a:off x="6629400" y="2148840"/>
            <a:ext cx="1234440" cy="91440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Math" pitchFamily="34" charset="0"/>
                <a:ea typeface="Cambria Math" pitchFamily="34" charset="-122"/>
                <a:cs typeface="Cambria Math" pitchFamily="34" charset="-120"/>
              </a:rPr>
              <a:t>D</a:t>
            </a:r>
            <a:endParaRPr lang="en-US" sz="2600" dirty="0"/>
          </a:p>
        </p:txBody>
      </p:sp>
      <p:sp>
        <p:nvSpPr>
          <p:cNvPr id="23" name="Text 21"/>
          <p:cNvSpPr txBox="1"/>
          <p:nvPr/>
        </p:nvSpPr>
        <p:spPr>
          <a:xfrm>
            <a:off x="6537960" y="3108960"/>
            <a:ext cx="1417320" cy="256032"/>
          </a:xfrm>
          <a:prstGeom prst="rect">
            <a:avLst/>
          </a:prstGeom>
          <a:noFill/>
          <a:ln/>
        </p:spPr>
        <p:txBody>
          <a:bodyPr wrap="square" lIns="0" tIns="0" rIns="0" bIns="0" rtlCol="0" anchor="ctr"/>
          <a:lstStyle/>
          <a:p>
            <a:pPr marL="0" indent="0" algn="ctr">
              <a:buNone/>
            </a:pPr>
            <a:r>
              <a:rPr lang="en-US" sz="1000" i="1" dirty="0">
                <a:solidFill>
                  <a:srgbClr val="1F7A6B"/>
                </a:solidFill>
                <a:latin typeface="Calibri" pitchFamily="34" charset="0"/>
                <a:ea typeface="Calibri" pitchFamily="34" charset="-122"/>
                <a:cs typeface="Calibri" pitchFamily="34" charset="-120"/>
              </a:rPr>
              <a:t>discriminator</a:t>
            </a:r>
            <a:endParaRPr lang="en-US" sz="1000" dirty="0"/>
          </a:p>
        </p:txBody>
      </p:sp>
      <p:sp>
        <p:nvSpPr>
          <p:cNvPr id="24" name="Shape 22"/>
          <p:cNvSpPr/>
          <p:nvPr/>
        </p:nvSpPr>
        <p:spPr>
          <a:xfrm>
            <a:off x="7955280" y="2514600"/>
            <a:ext cx="457200" cy="201168"/>
          </a:xfrm>
          <a:prstGeom prst="rightArrow">
            <a:avLst/>
          </a:prstGeom>
          <a:solidFill>
            <a:srgbClr val="5B6474"/>
          </a:solidFill>
          <a:ln/>
        </p:spPr>
        <p:txBody>
          <a:bodyPr/>
          <a:lstStyle/>
          <a:p>
            <a:endParaRPr lang="en-US"/>
          </a:p>
        </p:txBody>
      </p:sp>
      <p:sp>
        <p:nvSpPr>
          <p:cNvPr id="25" name="Text 23"/>
          <p:cNvSpPr txBox="1"/>
          <p:nvPr/>
        </p:nvSpPr>
        <p:spPr>
          <a:xfrm>
            <a:off x="8503920" y="2240280"/>
            <a:ext cx="1737360" cy="731520"/>
          </a:xfrm>
          <a:prstGeom prst="rect">
            <a:avLst/>
          </a:prstGeom>
          <a:noFill/>
          <a:ln/>
        </p:spPr>
        <p:txBody>
          <a:bodyPr wrap="square" lIns="0" tIns="0" rIns="0" bIns="0" rtlCol="0" anchor="ctr"/>
          <a:lstStyle/>
          <a:p>
            <a:pPr marL="0" indent="0">
              <a:lnSpc>
                <a:spcPts val="1500"/>
              </a:lnSpc>
              <a:buNone/>
            </a:pPr>
            <a:r>
              <a:rPr lang="en-US" sz="1150" dirty="0">
                <a:solidFill>
                  <a:srgbClr val="0E131B"/>
                </a:solidFill>
                <a:latin typeface="Calibri" pitchFamily="34" charset="0"/>
                <a:ea typeface="Calibri" pitchFamily="34" charset="-122"/>
                <a:cs typeface="Calibri" pitchFamily="34" charset="-120"/>
              </a:rPr>
              <a:t>a number</a:t>
            </a:r>
            <a:endParaRPr lang="en-US" sz="1150" dirty="0"/>
          </a:p>
          <a:p>
            <a:pPr marL="0" indent="0">
              <a:lnSpc>
                <a:spcPts val="1500"/>
              </a:lnSpc>
              <a:buNone/>
            </a:pPr>
            <a:r>
              <a:rPr lang="en-US" sz="1150" dirty="0">
                <a:solidFill>
                  <a:srgbClr val="0E131B"/>
                </a:solidFill>
                <a:latin typeface="Calibri" pitchFamily="34" charset="0"/>
                <a:ea typeface="Calibri" pitchFamily="34" charset="-122"/>
                <a:cs typeface="Calibri" pitchFamily="34" charset="-120"/>
              </a:rPr>
              <a:t>between 0 and 1</a:t>
            </a:r>
            <a:endParaRPr lang="en-US" sz="1150" dirty="0"/>
          </a:p>
        </p:txBody>
      </p:sp>
      <p:sp>
        <p:nvSpPr>
          <p:cNvPr id="26" name="Shape 24"/>
          <p:cNvSpPr/>
          <p:nvPr/>
        </p:nvSpPr>
        <p:spPr>
          <a:xfrm>
            <a:off x="640080" y="4526280"/>
            <a:ext cx="3454298" cy="1737360"/>
          </a:xfrm>
          <a:prstGeom prst="roundRect">
            <a:avLst>
              <a:gd name="adj" fmla="val 4211"/>
            </a:avLst>
          </a:prstGeom>
          <a:solidFill>
            <a:srgbClr val="E6F2EF"/>
          </a:solidFill>
          <a:ln w="12700">
            <a:solidFill>
              <a:srgbClr val="E6F2EF"/>
            </a:solidFill>
            <a:prstDash val="solid"/>
          </a:ln>
        </p:spPr>
        <p:txBody>
          <a:bodyPr/>
          <a:lstStyle/>
          <a:p>
            <a:endParaRPr lang="en-US"/>
          </a:p>
        </p:txBody>
      </p:sp>
      <p:sp>
        <p:nvSpPr>
          <p:cNvPr id="27" name="Text 25"/>
          <p:cNvSpPr txBox="1"/>
          <p:nvPr/>
        </p:nvSpPr>
        <p:spPr>
          <a:xfrm>
            <a:off x="914400" y="4709160"/>
            <a:ext cx="2905658" cy="566928"/>
          </a:xfrm>
          <a:prstGeom prst="rect">
            <a:avLst/>
          </a:prstGeom>
          <a:noFill/>
          <a:ln/>
        </p:spPr>
        <p:txBody>
          <a:bodyPr wrap="square" lIns="0" tIns="0" rIns="0" bIns="0" rtlCol="0" anchor="ctr"/>
          <a:lstStyle/>
          <a:p>
            <a:pPr marL="0" indent="0">
              <a:lnSpc>
                <a:spcPts val="2000"/>
              </a:lnSpc>
              <a:buNone/>
            </a:pPr>
            <a:r>
              <a:rPr lang="en-US" sz="1550" b="1" dirty="0">
                <a:solidFill>
                  <a:srgbClr val="0E131B"/>
                </a:solidFill>
                <a:latin typeface="Cambria" pitchFamily="34" charset="0"/>
                <a:ea typeface="Cambria" pitchFamily="34" charset="-122"/>
                <a:cs typeface="Cambria" pitchFamily="34" charset="-120"/>
              </a:rPr>
              <a:t>D wants to be right</a:t>
            </a:r>
            <a:endParaRPr lang="en-US" sz="1550" dirty="0"/>
          </a:p>
        </p:txBody>
      </p:sp>
      <p:sp>
        <p:nvSpPr>
          <p:cNvPr id="28" name="Text 26"/>
          <p:cNvSpPr txBox="1"/>
          <p:nvPr/>
        </p:nvSpPr>
        <p:spPr>
          <a:xfrm>
            <a:off x="914400" y="5349240"/>
            <a:ext cx="2905658" cy="694944"/>
          </a:xfrm>
          <a:prstGeom prst="rect">
            <a:avLst/>
          </a:prstGeom>
          <a:noFill/>
          <a:ln/>
        </p:spPr>
        <p:txBody>
          <a:bodyPr wrap="square" lIns="0" tIns="0" rIns="0" bIns="0" rtlCol="0" anchor="ctr"/>
          <a:lstStyle/>
          <a:p>
            <a:pPr marL="0" indent="0">
              <a:lnSpc>
                <a:spcPts val="1600"/>
              </a:lnSpc>
              <a:buNone/>
            </a:pPr>
            <a:r>
              <a:rPr lang="en-US" sz="1150" dirty="0">
                <a:solidFill>
                  <a:srgbClr val="5B6474"/>
                </a:solidFill>
                <a:latin typeface="Calibri" pitchFamily="34" charset="0"/>
                <a:ea typeface="Calibri" pitchFamily="34" charset="-122"/>
                <a:cs typeface="Calibri" pitchFamily="34" charset="-120"/>
              </a:rPr>
              <a:t>Output near 1 for real samples, near 0 for generated ones. It is a classifier, trained exactly as last week: a loss, a gradient, a step. Nothing new.</a:t>
            </a:r>
            <a:endParaRPr lang="en-US" sz="1150" dirty="0"/>
          </a:p>
        </p:txBody>
      </p:sp>
      <p:sp>
        <p:nvSpPr>
          <p:cNvPr id="29" name="Shape 27"/>
          <p:cNvSpPr/>
          <p:nvPr/>
        </p:nvSpPr>
        <p:spPr>
          <a:xfrm>
            <a:off x="4368698" y="4526280"/>
            <a:ext cx="3454298" cy="1737360"/>
          </a:xfrm>
          <a:prstGeom prst="roundRect">
            <a:avLst>
              <a:gd name="adj" fmla="val 4211"/>
            </a:avLst>
          </a:prstGeom>
          <a:solidFill>
            <a:srgbClr val="F8EBF2"/>
          </a:solidFill>
          <a:ln w="12700">
            <a:solidFill>
              <a:srgbClr val="F8EBF2"/>
            </a:solidFill>
            <a:prstDash val="solid"/>
          </a:ln>
        </p:spPr>
        <p:txBody>
          <a:bodyPr/>
          <a:lstStyle/>
          <a:p>
            <a:endParaRPr lang="en-US"/>
          </a:p>
        </p:txBody>
      </p:sp>
      <p:sp>
        <p:nvSpPr>
          <p:cNvPr id="30" name="Text 28"/>
          <p:cNvSpPr txBox="1"/>
          <p:nvPr/>
        </p:nvSpPr>
        <p:spPr>
          <a:xfrm>
            <a:off x="4643018" y="4709160"/>
            <a:ext cx="2905658" cy="566928"/>
          </a:xfrm>
          <a:prstGeom prst="rect">
            <a:avLst/>
          </a:prstGeom>
          <a:noFill/>
          <a:ln/>
        </p:spPr>
        <p:txBody>
          <a:bodyPr wrap="square" lIns="0" tIns="0" rIns="0" bIns="0" rtlCol="0" anchor="ctr"/>
          <a:lstStyle/>
          <a:p>
            <a:pPr marL="0" indent="0">
              <a:lnSpc>
                <a:spcPts val="2000"/>
              </a:lnSpc>
              <a:buNone/>
            </a:pPr>
            <a:r>
              <a:rPr lang="en-US" sz="1550" b="1" dirty="0">
                <a:solidFill>
                  <a:srgbClr val="0E131B"/>
                </a:solidFill>
                <a:latin typeface="Cambria" pitchFamily="34" charset="0"/>
                <a:ea typeface="Cambria" pitchFamily="34" charset="-122"/>
                <a:cs typeface="Cambria" pitchFamily="34" charset="-120"/>
              </a:rPr>
              <a:t>G wants D to be wrong</a:t>
            </a:r>
            <a:endParaRPr lang="en-US" sz="1550" dirty="0"/>
          </a:p>
        </p:txBody>
      </p:sp>
      <p:sp>
        <p:nvSpPr>
          <p:cNvPr id="31" name="Text 29"/>
          <p:cNvSpPr txBox="1"/>
          <p:nvPr/>
        </p:nvSpPr>
        <p:spPr>
          <a:xfrm>
            <a:off x="4643018" y="5349240"/>
            <a:ext cx="2905658" cy="694944"/>
          </a:xfrm>
          <a:prstGeom prst="rect">
            <a:avLst/>
          </a:prstGeom>
          <a:noFill/>
          <a:ln/>
        </p:spPr>
        <p:txBody>
          <a:bodyPr wrap="square" lIns="0" tIns="0" rIns="0" bIns="0" rtlCol="0" anchor="ctr"/>
          <a:lstStyle/>
          <a:p>
            <a:pPr marL="0" indent="0">
              <a:lnSpc>
                <a:spcPts val="1600"/>
              </a:lnSpc>
              <a:buNone/>
            </a:pPr>
            <a:r>
              <a:rPr lang="en-US" sz="1150" dirty="0">
                <a:solidFill>
                  <a:srgbClr val="5B6474"/>
                </a:solidFill>
                <a:latin typeface="Calibri" pitchFamily="34" charset="0"/>
                <a:ea typeface="Calibri" pitchFamily="34" charset="-122"/>
                <a:cs typeface="Calibri" pitchFamily="34" charset="-120"/>
              </a:rPr>
              <a:t>It never sees the real data. Its only signal is what D says about its own output. It succeeds when D cannot tell the difference.</a:t>
            </a:r>
            <a:endParaRPr lang="en-US" sz="1150" dirty="0"/>
          </a:p>
        </p:txBody>
      </p:sp>
      <p:sp>
        <p:nvSpPr>
          <p:cNvPr id="32" name="Shape 30"/>
          <p:cNvSpPr/>
          <p:nvPr/>
        </p:nvSpPr>
        <p:spPr>
          <a:xfrm>
            <a:off x="8097317" y="4526280"/>
            <a:ext cx="3454298" cy="1737360"/>
          </a:xfrm>
          <a:prstGeom prst="roundRect">
            <a:avLst>
              <a:gd name="adj" fmla="val 4211"/>
            </a:avLst>
          </a:prstGeom>
          <a:solidFill>
            <a:srgbClr val="0E131B"/>
          </a:solidFill>
          <a:ln w="12700">
            <a:solidFill>
              <a:srgbClr val="0E131B"/>
            </a:solidFill>
            <a:prstDash val="solid"/>
          </a:ln>
        </p:spPr>
        <p:txBody>
          <a:bodyPr/>
          <a:lstStyle/>
          <a:p>
            <a:endParaRPr lang="en-US"/>
          </a:p>
        </p:txBody>
      </p:sp>
      <p:sp>
        <p:nvSpPr>
          <p:cNvPr id="33" name="Text 31"/>
          <p:cNvSpPr txBox="1"/>
          <p:nvPr/>
        </p:nvSpPr>
        <p:spPr>
          <a:xfrm>
            <a:off x="8371637" y="4709160"/>
            <a:ext cx="2905658" cy="566928"/>
          </a:xfrm>
          <a:prstGeom prst="rect">
            <a:avLst/>
          </a:prstGeom>
          <a:noFill/>
          <a:ln/>
        </p:spPr>
        <p:txBody>
          <a:bodyPr wrap="square" lIns="0" tIns="0" rIns="0" bIns="0" rtlCol="0" anchor="ctr"/>
          <a:lstStyle/>
          <a:p>
            <a:pPr marL="0" indent="0">
              <a:lnSpc>
                <a:spcPts val="2000"/>
              </a:lnSpc>
              <a:buNone/>
            </a:pPr>
            <a:r>
              <a:rPr lang="en-US" sz="1550" b="1" dirty="0">
                <a:solidFill>
                  <a:srgbClr val="DFA9C4"/>
                </a:solidFill>
                <a:latin typeface="Cambria" pitchFamily="34" charset="0"/>
                <a:ea typeface="Cambria" pitchFamily="34" charset="-122"/>
                <a:cs typeface="Cambria" pitchFamily="34" charset="-120"/>
              </a:rPr>
              <a:t>And they train together</a:t>
            </a:r>
            <a:endParaRPr lang="en-US" sz="1550" dirty="0"/>
          </a:p>
        </p:txBody>
      </p:sp>
      <p:sp>
        <p:nvSpPr>
          <p:cNvPr id="34" name="Text 32"/>
          <p:cNvSpPr txBox="1"/>
          <p:nvPr/>
        </p:nvSpPr>
        <p:spPr>
          <a:xfrm>
            <a:off x="8371637" y="5349240"/>
            <a:ext cx="2905658" cy="694944"/>
          </a:xfrm>
          <a:prstGeom prst="rect">
            <a:avLst/>
          </a:prstGeom>
          <a:noFill/>
          <a:ln/>
        </p:spPr>
        <p:txBody>
          <a:bodyPr wrap="square" lIns="0" tIns="0" rIns="0" bIns="0" rtlCol="0" anchor="ctr"/>
          <a:lstStyle/>
          <a:p>
            <a:pPr marL="0" indent="0">
              <a:lnSpc>
                <a:spcPts val="1600"/>
              </a:lnSpc>
              <a:buNone/>
            </a:pPr>
            <a:r>
              <a:rPr lang="en-US" sz="1150" dirty="0">
                <a:solidFill>
                  <a:srgbClr val="F2F4F8"/>
                </a:solidFill>
                <a:latin typeface="Calibri" pitchFamily="34" charset="0"/>
                <a:ea typeface="Calibri" pitchFamily="34" charset="-122"/>
                <a:cs typeface="Calibri" pitchFamily="34" charset="-120"/>
              </a:rPr>
              <a:t>Step D, step G, step D, step G. Each player’s loss depends on the other’s current state, so the landscape from last week is now moving under your feet.</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9C3D6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GOODFELLOW ET AL. §3</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0E131B"/>
                </a:solidFill>
                <a:latin typeface="Cambria" pitchFamily="34" charset="0"/>
                <a:ea typeface="Cambria" pitchFamily="34" charset="-122"/>
                <a:cs typeface="Cambria" pitchFamily="34" charset="-120"/>
              </a:rPr>
              <a:t>The objective, written down</a:t>
            </a:r>
            <a:endParaRPr lang="en-US" sz="2900" dirty="0"/>
          </a:p>
        </p:txBody>
      </p:sp>
      <p:sp>
        <p:nvSpPr>
          <p:cNvPr id="5" name="Text 3"/>
          <p:cNvSpPr txBox="1"/>
          <p:nvPr/>
        </p:nvSpPr>
        <p:spPr>
          <a:xfrm>
            <a:off x="640080" y="1298448"/>
            <a:ext cx="10881360" cy="274320"/>
          </a:xfrm>
          <a:prstGeom prst="rect">
            <a:avLst/>
          </a:prstGeom>
          <a:noFill/>
          <a:ln/>
        </p:spPr>
        <p:txBody>
          <a:bodyPr wrap="square" lIns="0" tIns="0" rIns="0" bIns="0" rtlCol="0" anchor="ctr"/>
          <a:lstStyle/>
          <a:p>
            <a:pPr marL="0" indent="0" algn="ctr">
              <a:buNone/>
            </a:pPr>
            <a:r>
              <a:rPr lang="en-US" sz="1200" b="1" kern="0" spc="80" dirty="0">
                <a:solidFill>
                  <a:srgbClr val="5B6474"/>
                </a:solidFill>
                <a:latin typeface="Calibri" pitchFamily="34" charset="0"/>
                <a:ea typeface="Calibri" pitchFamily="34" charset="-122"/>
                <a:cs typeface="Calibri" pitchFamily="34" charset="-120"/>
              </a:rPr>
              <a:t>G tries to make this small   ·   D tries to make it large</a:t>
            </a:r>
            <a:endParaRPr lang="en-US" sz="1200" dirty="0"/>
          </a:p>
        </p:txBody>
      </p:sp>
      <p:sp>
        <p:nvSpPr>
          <p:cNvPr id="6" name="Shape 4"/>
          <p:cNvSpPr/>
          <p:nvPr/>
        </p:nvSpPr>
        <p:spPr>
          <a:xfrm>
            <a:off x="1188720" y="1609344"/>
            <a:ext cx="10698480" cy="1005840"/>
          </a:xfrm>
          <a:prstGeom prst="roundRect">
            <a:avLst>
              <a:gd name="adj" fmla="val 5455"/>
            </a:avLst>
          </a:prstGeom>
          <a:solidFill>
            <a:srgbClr val="F5F7FA"/>
          </a:solidFill>
          <a:ln w="12700">
            <a:solidFill>
              <a:srgbClr val="CBD5E1"/>
            </a:solidFill>
            <a:prstDash val="solid"/>
          </a:ln>
        </p:spPr>
        <p:txBody>
          <a:bodyPr/>
          <a:lstStyle/>
          <a:p>
            <a:endParaRPr lang="en-US"/>
          </a:p>
        </p:txBody>
      </p:sp>
      <p:sp>
        <p:nvSpPr>
          <p:cNvPr id="7" name="Text 5"/>
          <p:cNvSpPr txBox="1"/>
          <p:nvPr/>
        </p:nvSpPr>
        <p:spPr>
          <a:xfrm>
            <a:off x="1298448" y="1609344"/>
            <a:ext cx="10479024" cy="1005840"/>
          </a:xfrm>
          <a:prstGeom prst="rect">
            <a:avLst/>
          </a:prstGeom>
          <a:noFill/>
          <a:ln/>
        </p:spPr>
        <p:txBody>
          <a:bodyPr wrap="square" lIns="0" tIns="0" rIns="0" bIns="0" rtlCol="0" anchor="ctr"/>
          <a:lstStyle/>
          <a:p>
            <a:pPr marL="0" indent="0" algn="ctr">
              <a:buNone/>
            </a:pPr>
            <a:r>
              <a:rPr lang="en-US" sz="2700" dirty="0">
                <a:solidFill>
                  <a:srgbClr val="0E131B"/>
                </a:solidFill>
                <a:latin typeface="Cambria Math" pitchFamily="34" charset="0"/>
                <a:ea typeface="Cambria Math" pitchFamily="34" charset="-122"/>
                <a:cs typeface="Cambria Math" pitchFamily="34" charset="-120"/>
              </a:rPr>
              <a:t>V(D, G) = E [ log D(x) ] + E [ log(1 − D(G(z))) ]</a:t>
            </a:r>
            <a:endParaRPr lang="en-US" sz="2700" dirty="0"/>
          </a:p>
        </p:txBody>
      </p:sp>
      <p:sp>
        <p:nvSpPr>
          <p:cNvPr id="8" name="Text 6"/>
          <p:cNvSpPr txBox="1"/>
          <p:nvPr/>
        </p:nvSpPr>
        <p:spPr>
          <a:xfrm>
            <a:off x="640080" y="2688336"/>
            <a:ext cx="10881360" cy="292608"/>
          </a:xfrm>
          <a:prstGeom prst="rect">
            <a:avLst/>
          </a:prstGeom>
          <a:noFill/>
          <a:ln/>
        </p:spPr>
        <p:txBody>
          <a:bodyPr wrap="square" lIns="0" tIns="0" rIns="0" bIns="0" rtlCol="0" anchor="ctr"/>
          <a:lstStyle/>
          <a:p>
            <a:pPr marL="0" indent="0" algn="ctr">
              <a:buNone/>
            </a:pPr>
            <a:r>
              <a:rPr lang="en-US" sz="1100" i="1" dirty="0">
                <a:solidFill>
                  <a:srgbClr val="5B6474"/>
                </a:solidFill>
                <a:latin typeface="Calibri" pitchFamily="34" charset="0"/>
                <a:ea typeface="Calibri" pitchFamily="34" charset="-122"/>
                <a:cs typeface="Calibri" pitchFamily="34" charset="-120"/>
              </a:rPr>
              <a:t>as printed:  min over G, max over D, of V(D,G)  —  the first average over real data x ~ p_data, the second over noise z ~ p_z</a:t>
            </a:r>
            <a:endParaRPr lang="en-US" sz="1100" dirty="0"/>
          </a:p>
        </p:txBody>
      </p:sp>
      <p:sp>
        <p:nvSpPr>
          <p:cNvPr id="9" name="Text 7"/>
          <p:cNvSpPr txBox="1"/>
          <p:nvPr/>
        </p:nvSpPr>
        <p:spPr>
          <a:xfrm>
            <a:off x="1554480" y="3017520"/>
            <a:ext cx="9966960" cy="347472"/>
          </a:xfrm>
          <a:prstGeom prst="rect">
            <a:avLst/>
          </a:prstGeom>
          <a:noFill/>
          <a:ln/>
        </p:spPr>
        <p:txBody>
          <a:bodyPr wrap="square" lIns="0" tIns="0" rIns="0" bIns="0" rtlCol="0" anchor="ctr"/>
          <a:lstStyle/>
          <a:p>
            <a:pPr marL="0" indent="0" algn="ctr">
              <a:buNone/>
            </a:pPr>
            <a:r>
              <a:rPr lang="en-US" sz="1300" i="1" dirty="0">
                <a:solidFill>
                  <a:srgbClr val="1F7A6B"/>
                </a:solidFill>
                <a:latin typeface="Calibri" pitchFamily="34" charset="0"/>
                <a:ea typeface="Calibri" pitchFamily="34" charset="-122"/>
                <a:cs typeface="Calibri" pitchFamily="34" charset="-120"/>
              </a:rPr>
              <a:t>“D tries to make this number big. G tries to make it small. They are handed the same number and told opposite things.”</a:t>
            </a:r>
            <a:endParaRPr lang="en-US" sz="1300" dirty="0"/>
          </a:p>
        </p:txBody>
      </p:sp>
      <p:sp>
        <p:nvSpPr>
          <p:cNvPr id="10" name="Shape 8"/>
          <p:cNvSpPr/>
          <p:nvPr/>
        </p:nvSpPr>
        <p:spPr>
          <a:xfrm>
            <a:off x="640080" y="3493008"/>
            <a:ext cx="2021373" cy="22860"/>
          </a:xfrm>
          <a:prstGeom prst="rect">
            <a:avLst/>
          </a:prstGeom>
          <a:solidFill>
            <a:srgbClr val="1F7A6B"/>
          </a:solidFill>
          <a:ln/>
        </p:spPr>
        <p:txBody>
          <a:bodyPr/>
          <a:lstStyle/>
          <a:p>
            <a:endParaRPr lang="en-US"/>
          </a:p>
        </p:txBody>
      </p:sp>
      <p:sp>
        <p:nvSpPr>
          <p:cNvPr id="11" name="Text 9"/>
          <p:cNvSpPr txBox="1"/>
          <p:nvPr/>
        </p:nvSpPr>
        <p:spPr>
          <a:xfrm>
            <a:off x="640080" y="3584448"/>
            <a:ext cx="2021373" cy="384048"/>
          </a:xfrm>
          <a:prstGeom prst="rect">
            <a:avLst/>
          </a:prstGeom>
          <a:noFill/>
          <a:ln/>
        </p:spPr>
        <p:txBody>
          <a:bodyPr wrap="square" lIns="0" tIns="0" rIns="0" bIns="0" rtlCol="0" anchor="ctr"/>
          <a:lstStyle/>
          <a:p>
            <a:pPr marL="0" indent="0" algn="ctr">
              <a:buNone/>
            </a:pPr>
            <a:r>
              <a:rPr lang="en-US" sz="2100" b="1" dirty="0">
                <a:solidFill>
                  <a:srgbClr val="1F7A6B"/>
                </a:solidFill>
                <a:latin typeface="Cambria Math" pitchFamily="34" charset="0"/>
                <a:ea typeface="Cambria Math" pitchFamily="34" charset="-122"/>
                <a:cs typeface="Cambria Math" pitchFamily="34" charset="-120"/>
              </a:rPr>
              <a:t>V(D, G)</a:t>
            </a:r>
            <a:endParaRPr lang="en-US" sz="2100" dirty="0"/>
          </a:p>
        </p:txBody>
      </p:sp>
      <p:sp>
        <p:nvSpPr>
          <p:cNvPr id="12" name="Text 10"/>
          <p:cNvSpPr txBox="1"/>
          <p:nvPr/>
        </p:nvSpPr>
        <p:spPr>
          <a:xfrm>
            <a:off x="640080" y="4023360"/>
            <a:ext cx="2021373" cy="1005840"/>
          </a:xfrm>
          <a:prstGeom prst="rect">
            <a:avLst/>
          </a:prstGeom>
          <a:noFill/>
          <a:ln/>
        </p:spPr>
        <p:txBody>
          <a:bodyPr wrap="square" lIns="0" tIns="0" rIns="0" bIns="0" rtlCol="0" anchor="ctr"/>
          <a:lstStyle/>
          <a:p>
            <a:pPr marL="0" indent="0" algn="ctr">
              <a:lnSpc>
                <a:spcPts val="1400"/>
              </a:lnSpc>
              <a:buNone/>
            </a:pPr>
            <a:r>
              <a:rPr lang="en-US" sz="1100" dirty="0">
                <a:solidFill>
                  <a:srgbClr val="5B6474"/>
                </a:solidFill>
                <a:latin typeface="Calibri" pitchFamily="34" charset="0"/>
                <a:ea typeface="Calibri" pitchFamily="34" charset="-122"/>
                <a:cs typeface="Calibri" pitchFamily="34" charset="-120"/>
              </a:rPr>
              <a:t>one number, the value of the game. It depends on both players at once.</a:t>
            </a:r>
            <a:endParaRPr lang="en-US" sz="1100" dirty="0"/>
          </a:p>
        </p:txBody>
      </p:sp>
      <p:sp>
        <p:nvSpPr>
          <p:cNvPr id="13" name="Shape 11"/>
          <p:cNvSpPr/>
          <p:nvPr/>
        </p:nvSpPr>
        <p:spPr>
          <a:xfrm>
            <a:off x="2862621" y="3493008"/>
            <a:ext cx="2021373" cy="22860"/>
          </a:xfrm>
          <a:prstGeom prst="rect">
            <a:avLst/>
          </a:prstGeom>
          <a:solidFill>
            <a:srgbClr val="9C3D6E"/>
          </a:solidFill>
          <a:ln/>
        </p:spPr>
        <p:txBody>
          <a:bodyPr/>
          <a:lstStyle/>
          <a:p>
            <a:endParaRPr lang="en-US"/>
          </a:p>
        </p:txBody>
      </p:sp>
      <p:sp>
        <p:nvSpPr>
          <p:cNvPr id="14" name="Text 12"/>
          <p:cNvSpPr txBox="1"/>
          <p:nvPr/>
        </p:nvSpPr>
        <p:spPr>
          <a:xfrm>
            <a:off x="2862621" y="3584448"/>
            <a:ext cx="2021373" cy="384048"/>
          </a:xfrm>
          <a:prstGeom prst="rect">
            <a:avLst/>
          </a:prstGeom>
          <a:noFill/>
          <a:ln/>
        </p:spPr>
        <p:txBody>
          <a:bodyPr wrap="square" lIns="0" tIns="0" rIns="0" bIns="0" rtlCol="0" anchor="ctr"/>
          <a:lstStyle/>
          <a:p>
            <a:pPr marL="0" indent="0" algn="ctr">
              <a:buNone/>
            </a:pPr>
            <a:r>
              <a:rPr lang="en-US" sz="2100" b="1" dirty="0">
                <a:solidFill>
                  <a:srgbClr val="9C3D6E"/>
                </a:solidFill>
                <a:latin typeface="Cambria Math" pitchFamily="34" charset="0"/>
                <a:ea typeface="Cambria Math" pitchFamily="34" charset="-122"/>
                <a:cs typeface="Cambria Math" pitchFamily="34" charset="-120"/>
              </a:rPr>
              <a:t>E [ · ]</a:t>
            </a:r>
            <a:endParaRPr lang="en-US" sz="2100" dirty="0"/>
          </a:p>
        </p:txBody>
      </p:sp>
      <p:sp>
        <p:nvSpPr>
          <p:cNvPr id="15" name="Text 13"/>
          <p:cNvSpPr txBox="1"/>
          <p:nvPr/>
        </p:nvSpPr>
        <p:spPr>
          <a:xfrm>
            <a:off x="2862621" y="4023360"/>
            <a:ext cx="2021373" cy="1005840"/>
          </a:xfrm>
          <a:prstGeom prst="rect">
            <a:avLst/>
          </a:prstGeom>
          <a:noFill/>
          <a:ln/>
        </p:spPr>
        <p:txBody>
          <a:bodyPr wrap="square" lIns="0" tIns="0" rIns="0" bIns="0" rtlCol="0" anchor="ctr"/>
          <a:lstStyle/>
          <a:p>
            <a:pPr marL="0" indent="0" algn="ctr">
              <a:lnSpc>
                <a:spcPts val="1400"/>
              </a:lnSpc>
              <a:buNone/>
            </a:pPr>
            <a:r>
              <a:rPr lang="en-US" sz="1100" dirty="0">
                <a:solidFill>
                  <a:srgbClr val="5B6474"/>
                </a:solidFill>
                <a:latin typeface="Calibri" pitchFamily="34" charset="0"/>
                <a:ea typeface="Calibri" pitchFamily="34" charset="-122"/>
                <a:cs typeface="Calibri" pitchFamily="34" charset="-120"/>
              </a:rPr>
              <a:t>average over many samples. Everything here is an average, never a single case.</a:t>
            </a:r>
            <a:endParaRPr lang="en-US" sz="1100" dirty="0"/>
          </a:p>
        </p:txBody>
      </p:sp>
      <p:sp>
        <p:nvSpPr>
          <p:cNvPr id="16" name="Shape 14"/>
          <p:cNvSpPr/>
          <p:nvPr/>
        </p:nvSpPr>
        <p:spPr>
          <a:xfrm>
            <a:off x="5085161" y="3493008"/>
            <a:ext cx="2021373" cy="22860"/>
          </a:xfrm>
          <a:prstGeom prst="rect">
            <a:avLst/>
          </a:prstGeom>
          <a:solidFill>
            <a:srgbClr val="1F7A6B"/>
          </a:solidFill>
          <a:ln/>
        </p:spPr>
        <p:txBody>
          <a:bodyPr/>
          <a:lstStyle/>
          <a:p>
            <a:endParaRPr lang="en-US"/>
          </a:p>
        </p:txBody>
      </p:sp>
      <p:sp>
        <p:nvSpPr>
          <p:cNvPr id="17" name="Text 15"/>
          <p:cNvSpPr txBox="1"/>
          <p:nvPr/>
        </p:nvSpPr>
        <p:spPr>
          <a:xfrm>
            <a:off x="5085161" y="3584448"/>
            <a:ext cx="2021373" cy="384048"/>
          </a:xfrm>
          <a:prstGeom prst="rect">
            <a:avLst/>
          </a:prstGeom>
          <a:noFill/>
          <a:ln/>
        </p:spPr>
        <p:txBody>
          <a:bodyPr wrap="square" lIns="0" tIns="0" rIns="0" bIns="0" rtlCol="0" anchor="ctr"/>
          <a:lstStyle/>
          <a:p>
            <a:pPr marL="0" indent="0" algn="ctr">
              <a:buNone/>
            </a:pPr>
            <a:r>
              <a:rPr lang="en-US" sz="2100" b="1" dirty="0">
                <a:solidFill>
                  <a:srgbClr val="1F7A6B"/>
                </a:solidFill>
                <a:latin typeface="Cambria Math" pitchFamily="34" charset="0"/>
                <a:ea typeface="Cambria Math" pitchFamily="34" charset="-122"/>
                <a:cs typeface="Cambria Math" pitchFamily="34" charset="-120"/>
              </a:rPr>
              <a:t>log D(x)</a:t>
            </a:r>
            <a:endParaRPr lang="en-US" sz="2100" dirty="0"/>
          </a:p>
        </p:txBody>
      </p:sp>
      <p:sp>
        <p:nvSpPr>
          <p:cNvPr id="18" name="Text 16"/>
          <p:cNvSpPr txBox="1"/>
          <p:nvPr/>
        </p:nvSpPr>
        <p:spPr>
          <a:xfrm>
            <a:off x="5085161" y="4023360"/>
            <a:ext cx="2021373" cy="1005840"/>
          </a:xfrm>
          <a:prstGeom prst="rect">
            <a:avLst/>
          </a:prstGeom>
          <a:noFill/>
          <a:ln/>
        </p:spPr>
        <p:txBody>
          <a:bodyPr wrap="square" lIns="0" tIns="0" rIns="0" bIns="0" rtlCol="0" anchor="ctr"/>
          <a:lstStyle/>
          <a:p>
            <a:pPr marL="0" indent="0" algn="ctr">
              <a:lnSpc>
                <a:spcPts val="1400"/>
              </a:lnSpc>
              <a:buNone/>
            </a:pPr>
            <a:r>
              <a:rPr lang="en-US" sz="1100" dirty="0">
                <a:solidFill>
                  <a:srgbClr val="5B6474"/>
                </a:solidFill>
                <a:latin typeface="Calibri" pitchFamily="34" charset="0"/>
                <a:ea typeface="Calibri" pitchFamily="34" charset="-122"/>
                <a:cs typeface="Calibri" pitchFamily="34" charset="-120"/>
              </a:rPr>
              <a:t>big when D correctly says a real sample is real. D pushes this up.</a:t>
            </a:r>
            <a:endParaRPr lang="en-US" sz="1100" dirty="0"/>
          </a:p>
        </p:txBody>
      </p:sp>
      <p:sp>
        <p:nvSpPr>
          <p:cNvPr id="19" name="Shape 17"/>
          <p:cNvSpPr/>
          <p:nvPr/>
        </p:nvSpPr>
        <p:spPr>
          <a:xfrm>
            <a:off x="7307702" y="3493008"/>
            <a:ext cx="2021373" cy="22860"/>
          </a:xfrm>
          <a:prstGeom prst="rect">
            <a:avLst/>
          </a:prstGeom>
          <a:solidFill>
            <a:srgbClr val="9C3D6E"/>
          </a:solidFill>
          <a:ln/>
        </p:spPr>
        <p:txBody>
          <a:bodyPr/>
          <a:lstStyle/>
          <a:p>
            <a:endParaRPr lang="en-US"/>
          </a:p>
        </p:txBody>
      </p:sp>
      <p:sp>
        <p:nvSpPr>
          <p:cNvPr id="20" name="Text 18"/>
          <p:cNvSpPr txBox="1"/>
          <p:nvPr/>
        </p:nvSpPr>
        <p:spPr>
          <a:xfrm>
            <a:off x="7307702" y="3584448"/>
            <a:ext cx="2021373" cy="384048"/>
          </a:xfrm>
          <a:prstGeom prst="rect">
            <a:avLst/>
          </a:prstGeom>
          <a:noFill/>
          <a:ln/>
        </p:spPr>
        <p:txBody>
          <a:bodyPr wrap="square" lIns="0" tIns="0" rIns="0" bIns="0" rtlCol="0" anchor="ctr"/>
          <a:lstStyle/>
          <a:p>
            <a:pPr marL="0" indent="0" algn="ctr">
              <a:buNone/>
            </a:pPr>
            <a:r>
              <a:rPr lang="en-US" sz="2100" b="1" dirty="0">
                <a:solidFill>
                  <a:srgbClr val="9C3D6E"/>
                </a:solidFill>
                <a:latin typeface="Cambria Math" pitchFamily="34" charset="0"/>
                <a:ea typeface="Cambria Math" pitchFamily="34" charset="-122"/>
                <a:cs typeface="Cambria Math" pitchFamily="34" charset="-120"/>
              </a:rPr>
              <a:t>1 − D(G(z))</a:t>
            </a:r>
            <a:endParaRPr lang="en-US" sz="2100" dirty="0"/>
          </a:p>
        </p:txBody>
      </p:sp>
      <p:sp>
        <p:nvSpPr>
          <p:cNvPr id="21" name="Text 19"/>
          <p:cNvSpPr txBox="1"/>
          <p:nvPr/>
        </p:nvSpPr>
        <p:spPr>
          <a:xfrm>
            <a:off x="7307702" y="4023360"/>
            <a:ext cx="2021373" cy="1005840"/>
          </a:xfrm>
          <a:prstGeom prst="rect">
            <a:avLst/>
          </a:prstGeom>
          <a:noFill/>
          <a:ln/>
        </p:spPr>
        <p:txBody>
          <a:bodyPr wrap="square" lIns="0" tIns="0" rIns="0" bIns="0" rtlCol="0" anchor="ctr"/>
          <a:lstStyle/>
          <a:p>
            <a:pPr marL="0" indent="0" algn="ctr">
              <a:lnSpc>
                <a:spcPts val="1400"/>
              </a:lnSpc>
              <a:buNone/>
            </a:pPr>
            <a:r>
              <a:rPr lang="en-US" sz="1100" dirty="0">
                <a:solidFill>
                  <a:srgbClr val="5B6474"/>
                </a:solidFill>
                <a:latin typeface="Calibri" pitchFamily="34" charset="0"/>
                <a:ea typeface="Calibri" pitchFamily="34" charset="-122"/>
                <a:cs typeface="Calibri" pitchFamily="34" charset="-120"/>
              </a:rPr>
              <a:t>big when D correctly says a generated sample is fake. D pushes this up too.</a:t>
            </a:r>
            <a:endParaRPr lang="en-US" sz="1100" dirty="0"/>
          </a:p>
        </p:txBody>
      </p:sp>
      <p:sp>
        <p:nvSpPr>
          <p:cNvPr id="22" name="Shape 20"/>
          <p:cNvSpPr/>
          <p:nvPr/>
        </p:nvSpPr>
        <p:spPr>
          <a:xfrm>
            <a:off x="9530243" y="3493008"/>
            <a:ext cx="2021373" cy="22860"/>
          </a:xfrm>
          <a:prstGeom prst="rect">
            <a:avLst/>
          </a:prstGeom>
          <a:solidFill>
            <a:srgbClr val="1F7A6B"/>
          </a:solidFill>
          <a:ln/>
        </p:spPr>
        <p:txBody>
          <a:bodyPr/>
          <a:lstStyle/>
          <a:p>
            <a:endParaRPr lang="en-US"/>
          </a:p>
        </p:txBody>
      </p:sp>
      <p:sp>
        <p:nvSpPr>
          <p:cNvPr id="23" name="Text 21"/>
          <p:cNvSpPr txBox="1"/>
          <p:nvPr/>
        </p:nvSpPr>
        <p:spPr>
          <a:xfrm>
            <a:off x="9530243" y="3584448"/>
            <a:ext cx="2021373" cy="384048"/>
          </a:xfrm>
          <a:prstGeom prst="rect">
            <a:avLst/>
          </a:prstGeom>
          <a:noFill/>
          <a:ln/>
        </p:spPr>
        <p:txBody>
          <a:bodyPr wrap="square" lIns="0" tIns="0" rIns="0" bIns="0" rtlCol="0" anchor="ctr"/>
          <a:lstStyle/>
          <a:p>
            <a:pPr marL="0" indent="0" algn="ctr">
              <a:buNone/>
            </a:pPr>
            <a:r>
              <a:rPr lang="en-US" sz="2100" b="1" dirty="0">
                <a:solidFill>
                  <a:srgbClr val="1F7A6B"/>
                </a:solidFill>
                <a:latin typeface="Cambria Math" pitchFamily="34" charset="0"/>
                <a:ea typeface="Cambria Math" pitchFamily="34" charset="-122"/>
                <a:cs typeface="Cambria Math" pitchFamily="34" charset="-120"/>
              </a:rPr>
              <a:t>min / max</a:t>
            </a:r>
            <a:endParaRPr lang="en-US" sz="2100" dirty="0"/>
          </a:p>
        </p:txBody>
      </p:sp>
      <p:sp>
        <p:nvSpPr>
          <p:cNvPr id="24" name="Text 22"/>
          <p:cNvSpPr txBox="1"/>
          <p:nvPr/>
        </p:nvSpPr>
        <p:spPr>
          <a:xfrm>
            <a:off x="9530243" y="4023360"/>
            <a:ext cx="2021373" cy="1005840"/>
          </a:xfrm>
          <a:prstGeom prst="rect">
            <a:avLst/>
          </a:prstGeom>
          <a:noFill/>
          <a:ln/>
        </p:spPr>
        <p:txBody>
          <a:bodyPr wrap="square" lIns="0" tIns="0" rIns="0" bIns="0" rtlCol="0" anchor="ctr"/>
          <a:lstStyle/>
          <a:p>
            <a:pPr marL="0" indent="0" algn="ctr">
              <a:lnSpc>
                <a:spcPts val="1400"/>
              </a:lnSpc>
              <a:buNone/>
            </a:pPr>
            <a:r>
              <a:rPr lang="en-US" sz="1100" dirty="0">
                <a:solidFill>
                  <a:srgbClr val="5B6474"/>
                </a:solidFill>
                <a:latin typeface="Calibri" pitchFamily="34" charset="0"/>
                <a:ea typeface="Calibri" pitchFamily="34" charset="-122"/>
                <a:cs typeface="Calibri" pitchFamily="34" charset="-120"/>
              </a:rPr>
              <a:t>the minus relationship. Whatever helps one player hurts the other, exactly.</a:t>
            </a:r>
            <a:endParaRPr lang="en-US" sz="1100" dirty="0"/>
          </a:p>
        </p:txBody>
      </p:sp>
      <p:sp>
        <p:nvSpPr>
          <p:cNvPr id="25" name="Shape 23"/>
          <p:cNvSpPr/>
          <p:nvPr/>
        </p:nvSpPr>
        <p:spPr>
          <a:xfrm>
            <a:off x="640080" y="5230368"/>
            <a:ext cx="10911535" cy="1005840"/>
          </a:xfrm>
          <a:prstGeom prst="roundRect">
            <a:avLst>
              <a:gd name="adj" fmla="val 7273"/>
            </a:avLst>
          </a:prstGeom>
          <a:solidFill>
            <a:srgbClr val="0E131B"/>
          </a:solidFill>
          <a:ln w="12700">
            <a:solidFill>
              <a:srgbClr val="0E131B"/>
            </a:solidFill>
            <a:prstDash val="solid"/>
          </a:ln>
        </p:spPr>
        <p:txBody>
          <a:bodyPr/>
          <a:lstStyle/>
          <a:p>
            <a:endParaRPr lang="en-US"/>
          </a:p>
        </p:txBody>
      </p:sp>
      <p:sp>
        <p:nvSpPr>
          <p:cNvPr id="26" name="Text 24"/>
          <p:cNvSpPr txBox="1"/>
          <p:nvPr/>
        </p:nvSpPr>
        <p:spPr>
          <a:xfrm>
            <a:off x="1005840" y="5394960"/>
            <a:ext cx="10424160" cy="676656"/>
          </a:xfrm>
          <a:prstGeom prst="rect">
            <a:avLst/>
          </a:prstGeom>
          <a:noFill/>
          <a:ln/>
        </p:spPr>
        <p:txBody>
          <a:bodyPr wrap="square" lIns="0" tIns="0" rIns="0" bIns="0" rtlCol="0" anchor="ctr"/>
          <a:lstStyle/>
          <a:p>
            <a:pPr marL="0" indent="0">
              <a:lnSpc>
                <a:spcPts val="2000"/>
              </a:lnSpc>
              <a:buNone/>
            </a:pPr>
            <a:r>
              <a:rPr lang="en-US" sz="1500" dirty="0">
                <a:solidFill>
                  <a:srgbClr val="F2F4F8"/>
                </a:solidFill>
                <a:latin typeface="Cambria" pitchFamily="34" charset="0"/>
                <a:ea typeface="Cambria" pitchFamily="34" charset="-122"/>
                <a:cs typeface="Cambria" pitchFamily="34" charset="-120"/>
              </a:rPr>
              <a:t>Look for a term that rewards variety. There is not one. Nothing in V measures how many different things G produces, and nothing in V goes up when G covers more of the world. That absence is not an oversight on this slide — it is the whole unit.</a:t>
            </a:r>
            <a:endParaRPr lang="en-US" sz="1500" dirty="0"/>
          </a:p>
        </p:txBody>
      </p:sp>
      <p:sp>
        <p:nvSpPr>
          <p:cNvPr id="27" name="Text 25"/>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B6474"/>
                </a:solidFill>
                <a:latin typeface="Calibri" pitchFamily="34" charset="0"/>
                <a:ea typeface="Calibri" pitchFamily="34" charset="-122"/>
                <a:cs typeface="Calibri" pitchFamily="34" charset="-120"/>
              </a:rPr>
              <a:t>Goodfellow, Pouget-Abadie, Mirza, Xu, Warde-Farley, Ozair, Courville and Bengio, “Generative Adversarial Nets” (NeurIPS 2014), §3, Eq. 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9C3D6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GOODFELLOW ET AL. §3</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0E131B"/>
                </a:solidFill>
                <a:latin typeface="Cambria" pitchFamily="34" charset="0"/>
                <a:ea typeface="Cambria" pitchFamily="34" charset="-122"/>
                <a:cs typeface="Cambria" pitchFamily="34" charset="-120"/>
              </a:rPr>
              <a:t>A practical fix, buried in one paragraph</a:t>
            </a:r>
            <a:endParaRPr lang="en-US" sz="2900" dirty="0"/>
          </a:p>
        </p:txBody>
      </p:sp>
      <p:sp>
        <p:nvSpPr>
          <p:cNvPr id="5" name="Shape 3"/>
          <p:cNvSpPr/>
          <p:nvPr/>
        </p:nvSpPr>
        <p:spPr>
          <a:xfrm>
            <a:off x="640080" y="1325880"/>
            <a:ext cx="5760720" cy="1874520"/>
          </a:xfrm>
          <a:prstGeom prst="roundRect">
            <a:avLst>
              <a:gd name="adj" fmla="val 3902"/>
            </a:avLst>
          </a:prstGeom>
          <a:solidFill>
            <a:srgbClr val="0E131B"/>
          </a:solidFill>
          <a:ln w="12700">
            <a:solidFill>
              <a:srgbClr val="0E131B"/>
            </a:solidFill>
            <a:prstDash val="solid"/>
          </a:ln>
        </p:spPr>
        <p:txBody>
          <a:bodyPr/>
          <a:lstStyle/>
          <a:p>
            <a:endParaRPr lang="en-US"/>
          </a:p>
        </p:txBody>
      </p:sp>
      <p:sp>
        <p:nvSpPr>
          <p:cNvPr id="6" name="Text 4"/>
          <p:cNvSpPr txBox="1"/>
          <p:nvPr/>
        </p:nvSpPr>
        <p:spPr>
          <a:xfrm>
            <a:off x="1005840" y="1490472"/>
            <a:ext cx="5120640" cy="292608"/>
          </a:xfrm>
          <a:prstGeom prst="rect">
            <a:avLst/>
          </a:prstGeom>
          <a:noFill/>
          <a:ln/>
        </p:spPr>
        <p:txBody>
          <a:bodyPr wrap="square" lIns="0" tIns="0" rIns="0" bIns="0" rtlCol="0" anchor="ctr"/>
          <a:lstStyle/>
          <a:p>
            <a:pPr marL="0" indent="0">
              <a:buNone/>
            </a:pPr>
            <a:r>
              <a:rPr lang="en-US" sz="1150" b="1" kern="0" spc="140" dirty="0">
                <a:solidFill>
                  <a:srgbClr val="DFA9C4"/>
                </a:solidFill>
                <a:latin typeface="Calibri" pitchFamily="34" charset="0"/>
                <a:ea typeface="Calibri" pitchFamily="34" charset="-122"/>
                <a:cs typeface="Calibri" pitchFamily="34" charset="-120"/>
              </a:rPr>
              <a:t>The problem the authors name</a:t>
            </a:r>
            <a:endParaRPr lang="en-US" sz="1150" dirty="0"/>
          </a:p>
        </p:txBody>
      </p:sp>
      <p:sp>
        <p:nvSpPr>
          <p:cNvPr id="7" name="Text 5"/>
          <p:cNvSpPr txBox="1"/>
          <p:nvPr/>
        </p:nvSpPr>
        <p:spPr>
          <a:xfrm>
            <a:off x="1005840" y="1874520"/>
            <a:ext cx="5166360" cy="1188720"/>
          </a:xfrm>
          <a:prstGeom prst="rect">
            <a:avLst/>
          </a:prstGeom>
          <a:noFill/>
          <a:ln/>
        </p:spPr>
        <p:txBody>
          <a:bodyPr wrap="square" lIns="0" tIns="0" rIns="0" bIns="0" rtlCol="0" anchor="ctr"/>
          <a:lstStyle/>
          <a:p>
            <a:pPr marL="0" indent="0">
              <a:lnSpc>
                <a:spcPts val="2000"/>
              </a:lnSpc>
              <a:buNone/>
            </a:pPr>
            <a:r>
              <a:rPr lang="en-US" sz="1500" dirty="0">
                <a:solidFill>
                  <a:srgbClr val="F2F4F8"/>
                </a:solidFill>
                <a:latin typeface="Cambria" pitchFamily="34" charset="0"/>
                <a:ea typeface="Cambria" pitchFamily="34" charset="-122"/>
                <a:cs typeface="Cambria" pitchFamily="34" charset="-120"/>
              </a:rPr>
              <a:t>Early in training G is bad, so D rejects its output confidently. Then log(1 − D(G(z))) is nearly flat: the gradient is tiny and G barely learns. The objective is correct and useless.</a:t>
            </a:r>
            <a:endParaRPr lang="en-US" sz="1500" dirty="0"/>
          </a:p>
        </p:txBody>
      </p:sp>
      <p:sp>
        <p:nvSpPr>
          <p:cNvPr id="8" name="Shape 6"/>
          <p:cNvSpPr/>
          <p:nvPr/>
        </p:nvSpPr>
        <p:spPr>
          <a:xfrm>
            <a:off x="640080" y="3337560"/>
            <a:ext cx="5760720" cy="1737360"/>
          </a:xfrm>
          <a:prstGeom prst="roundRect">
            <a:avLst>
              <a:gd name="adj" fmla="val 4211"/>
            </a:avLst>
          </a:prstGeom>
          <a:solidFill>
            <a:srgbClr val="F8EBF2"/>
          </a:solidFill>
          <a:ln w="12700">
            <a:solidFill>
              <a:srgbClr val="F8EBF2"/>
            </a:solidFill>
            <a:prstDash val="solid"/>
          </a:ln>
        </p:spPr>
        <p:txBody>
          <a:bodyPr/>
          <a:lstStyle/>
          <a:p>
            <a:endParaRPr lang="en-US"/>
          </a:p>
        </p:txBody>
      </p:sp>
      <p:sp>
        <p:nvSpPr>
          <p:cNvPr id="9" name="Text 7"/>
          <p:cNvSpPr txBox="1"/>
          <p:nvPr/>
        </p:nvSpPr>
        <p:spPr>
          <a:xfrm>
            <a:off x="1005840" y="3502152"/>
            <a:ext cx="5120640" cy="310896"/>
          </a:xfrm>
          <a:prstGeom prst="rect">
            <a:avLst/>
          </a:prstGeom>
          <a:noFill/>
          <a:ln/>
        </p:spPr>
        <p:txBody>
          <a:bodyPr wrap="square" lIns="0" tIns="0" rIns="0" bIns="0" rtlCol="0" anchor="ctr"/>
          <a:lstStyle/>
          <a:p>
            <a:pPr marL="0" indent="0">
              <a:buNone/>
            </a:pPr>
            <a:r>
              <a:rPr lang="en-US" sz="1650" b="1" dirty="0">
                <a:solidFill>
                  <a:srgbClr val="0E131B"/>
                </a:solidFill>
                <a:latin typeface="Cambria" pitchFamily="34" charset="0"/>
                <a:ea typeface="Cambria" pitchFamily="34" charset="-122"/>
                <a:cs typeface="Cambria" pitchFamily="34" charset="-120"/>
              </a:rPr>
              <a:t>So they change what G maximises</a:t>
            </a:r>
            <a:endParaRPr lang="en-US" sz="1650" dirty="0"/>
          </a:p>
        </p:txBody>
      </p:sp>
      <p:sp>
        <p:nvSpPr>
          <p:cNvPr id="10" name="Shape 8"/>
          <p:cNvSpPr/>
          <p:nvPr/>
        </p:nvSpPr>
        <p:spPr>
          <a:xfrm>
            <a:off x="914400" y="3877056"/>
            <a:ext cx="5212080" cy="731520"/>
          </a:xfrm>
          <a:prstGeom prst="roundRect">
            <a:avLst>
              <a:gd name="adj" fmla="val 7500"/>
            </a:avLst>
          </a:prstGeom>
          <a:solidFill>
            <a:srgbClr val="FFFFFF"/>
          </a:solidFill>
          <a:ln w="12700">
            <a:solidFill>
              <a:srgbClr val="CBD5E1"/>
            </a:solidFill>
            <a:prstDash val="solid"/>
          </a:ln>
        </p:spPr>
        <p:txBody>
          <a:bodyPr/>
          <a:lstStyle/>
          <a:p>
            <a:endParaRPr lang="en-US"/>
          </a:p>
        </p:txBody>
      </p:sp>
      <p:sp>
        <p:nvSpPr>
          <p:cNvPr id="11" name="Text 9"/>
          <p:cNvSpPr txBox="1"/>
          <p:nvPr/>
        </p:nvSpPr>
        <p:spPr>
          <a:xfrm>
            <a:off x="1024128" y="3877056"/>
            <a:ext cx="4992624" cy="731520"/>
          </a:xfrm>
          <a:prstGeom prst="rect">
            <a:avLst/>
          </a:prstGeom>
          <a:noFill/>
          <a:ln/>
        </p:spPr>
        <p:txBody>
          <a:bodyPr wrap="square" lIns="0" tIns="0" rIns="0" bIns="0" rtlCol="0" anchor="ctr"/>
          <a:lstStyle/>
          <a:p>
            <a:pPr marL="0" indent="0" algn="ctr">
              <a:buNone/>
            </a:pPr>
            <a:r>
              <a:rPr lang="en-US" sz="1900" dirty="0">
                <a:solidFill>
                  <a:srgbClr val="0E131B"/>
                </a:solidFill>
                <a:latin typeface="Cambria Math" pitchFamily="34" charset="0"/>
                <a:ea typeface="Cambria Math" pitchFamily="34" charset="-122"/>
                <a:cs typeface="Cambria Math" pitchFamily="34" charset="-120"/>
              </a:rPr>
              <a:t>G maximises  E [ log D(G(z)) ]</a:t>
            </a:r>
            <a:endParaRPr lang="en-US" sz="1900" dirty="0"/>
          </a:p>
        </p:txBody>
      </p:sp>
      <p:sp>
        <p:nvSpPr>
          <p:cNvPr id="12" name="Text 10"/>
          <p:cNvSpPr txBox="1"/>
          <p:nvPr/>
        </p:nvSpPr>
        <p:spPr>
          <a:xfrm>
            <a:off x="1005840" y="4681728"/>
            <a:ext cx="5120640" cy="320040"/>
          </a:xfrm>
          <a:prstGeom prst="rect">
            <a:avLst/>
          </a:prstGeom>
          <a:noFill/>
          <a:ln/>
        </p:spPr>
        <p:txBody>
          <a:bodyPr wrap="square" lIns="0" tIns="0" rIns="0" bIns="0" rtlCol="0" anchor="ctr"/>
          <a:lstStyle/>
          <a:p>
            <a:pPr marL="0" indent="0">
              <a:buNone/>
            </a:pPr>
            <a:r>
              <a:rPr lang="en-US" sz="1150" i="1" dirty="0">
                <a:solidFill>
                  <a:srgbClr val="5B6474"/>
                </a:solidFill>
                <a:latin typeface="Calibri" pitchFamily="34" charset="0"/>
                <a:ea typeface="Calibri" pitchFamily="34" charset="-122"/>
                <a:cs typeface="Calibri" pitchFamily="34" charset="-120"/>
              </a:rPr>
              <a:t>instead of minimising E[ log(1 − D(G(z))) ]. Same fixed point, much stronger gradient early on.</a:t>
            </a:r>
            <a:endParaRPr lang="en-US" sz="1150" dirty="0"/>
          </a:p>
        </p:txBody>
      </p:sp>
      <p:sp>
        <p:nvSpPr>
          <p:cNvPr id="13" name="Shape 11"/>
          <p:cNvSpPr/>
          <p:nvPr/>
        </p:nvSpPr>
        <p:spPr>
          <a:xfrm>
            <a:off x="6720840" y="1325880"/>
            <a:ext cx="4809744" cy="1170432"/>
          </a:xfrm>
          <a:prstGeom prst="roundRect">
            <a:avLst>
              <a:gd name="adj" fmla="val 6250"/>
            </a:avLst>
          </a:prstGeom>
          <a:solidFill>
            <a:srgbClr val="E6F2EF"/>
          </a:solidFill>
          <a:ln w="12700">
            <a:solidFill>
              <a:srgbClr val="E6F2EF"/>
            </a:solidFill>
            <a:prstDash val="solid"/>
          </a:ln>
        </p:spPr>
        <p:txBody>
          <a:bodyPr/>
          <a:lstStyle/>
          <a:p>
            <a:endParaRPr lang="en-US"/>
          </a:p>
        </p:txBody>
      </p:sp>
      <p:sp>
        <p:nvSpPr>
          <p:cNvPr id="14" name="Text 12"/>
          <p:cNvSpPr txBox="1"/>
          <p:nvPr/>
        </p:nvSpPr>
        <p:spPr>
          <a:xfrm>
            <a:off x="6995160" y="1453896"/>
            <a:ext cx="4261104" cy="292608"/>
          </a:xfrm>
          <a:prstGeom prst="rect">
            <a:avLst/>
          </a:prstGeom>
          <a:noFill/>
          <a:ln/>
        </p:spPr>
        <p:txBody>
          <a:bodyPr wrap="square" lIns="0" tIns="0" rIns="0" bIns="0" rtlCol="0" anchor="ctr"/>
          <a:lstStyle/>
          <a:p>
            <a:pPr marL="0" indent="0">
              <a:buNone/>
            </a:pPr>
            <a:r>
              <a:rPr lang="en-US" sz="1400" b="1" dirty="0">
                <a:solidFill>
                  <a:srgbClr val="0E131B"/>
                </a:solidFill>
                <a:latin typeface="Cambria" pitchFamily="34" charset="0"/>
                <a:ea typeface="Cambria" pitchFamily="34" charset="-122"/>
                <a:cs typeface="Cambria" pitchFamily="34" charset="-120"/>
              </a:rPr>
              <a:t>Why this matters for today</a:t>
            </a:r>
            <a:endParaRPr lang="en-US" sz="1400" dirty="0"/>
          </a:p>
        </p:txBody>
      </p:sp>
      <p:sp>
        <p:nvSpPr>
          <p:cNvPr id="15" name="Text 13"/>
          <p:cNvSpPr txBox="1"/>
          <p:nvPr/>
        </p:nvSpPr>
        <p:spPr>
          <a:xfrm>
            <a:off x="6995160" y="1783080"/>
            <a:ext cx="4261104" cy="640080"/>
          </a:xfrm>
          <a:prstGeom prst="rect">
            <a:avLst/>
          </a:prstGeom>
          <a:noFill/>
          <a:ln/>
        </p:spPr>
        <p:txBody>
          <a:bodyPr wrap="square" lIns="0" tIns="0" rIns="0" bIns="0" rtlCol="0" anchor="ctr"/>
          <a:lstStyle/>
          <a:p>
            <a:pPr marL="0" indent="0">
              <a:lnSpc>
                <a:spcPts val="1500"/>
              </a:lnSpc>
              <a:buNone/>
            </a:pPr>
            <a:r>
              <a:rPr lang="en-US" sz="1150" dirty="0">
                <a:solidFill>
                  <a:srgbClr val="5B6474"/>
                </a:solidFill>
                <a:latin typeface="Calibri" pitchFamily="34" charset="0"/>
                <a:ea typeface="Calibri" pitchFamily="34" charset="-122"/>
                <a:cs typeface="Calibri" pitchFamily="34" charset="-120"/>
              </a:rPr>
              <a:t>Under the new objective G is rewarded purely for how convincing its output is. Not for how many different convincing things it makes. Any single very convincing output scores maximally.</a:t>
            </a:r>
            <a:endParaRPr lang="en-US" sz="1150" dirty="0"/>
          </a:p>
        </p:txBody>
      </p:sp>
      <p:sp>
        <p:nvSpPr>
          <p:cNvPr id="16" name="Shape 14"/>
          <p:cNvSpPr/>
          <p:nvPr/>
        </p:nvSpPr>
        <p:spPr>
          <a:xfrm>
            <a:off x="6720840" y="2578608"/>
            <a:ext cx="4809744" cy="1170432"/>
          </a:xfrm>
          <a:prstGeom prst="roundRect">
            <a:avLst>
              <a:gd name="adj" fmla="val 6250"/>
            </a:avLst>
          </a:prstGeom>
          <a:solidFill>
            <a:srgbClr val="F8EBF2"/>
          </a:solidFill>
          <a:ln w="12700">
            <a:solidFill>
              <a:srgbClr val="F8EBF2"/>
            </a:solidFill>
            <a:prstDash val="solid"/>
          </a:ln>
        </p:spPr>
        <p:txBody>
          <a:bodyPr/>
          <a:lstStyle/>
          <a:p>
            <a:endParaRPr lang="en-US"/>
          </a:p>
        </p:txBody>
      </p:sp>
      <p:sp>
        <p:nvSpPr>
          <p:cNvPr id="17" name="Text 15"/>
          <p:cNvSpPr txBox="1"/>
          <p:nvPr/>
        </p:nvSpPr>
        <p:spPr>
          <a:xfrm>
            <a:off x="6995160" y="2706624"/>
            <a:ext cx="4261104" cy="292608"/>
          </a:xfrm>
          <a:prstGeom prst="rect">
            <a:avLst/>
          </a:prstGeom>
          <a:noFill/>
          <a:ln/>
        </p:spPr>
        <p:txBody>
          <a:bodyPr wrap="square" lIns="0" tIns="0" rIns="0" bIns="0" rtlCol="0" anchor="ctr"/>
          <a:lstStyle/>
          <a:p>
            <a:pPr marL="0" indent="0">
              <a:buNone/>
            </a:pPr>
            <a:r>
              <a:rPr lang="en-US" sz="1400" b="1" dirty="0">
                <a:solidFill>
                  <a:srgbClr val="0E131B"/>
                </a:solidFill>
                <a:latin typeface="Cambria" pitchFamily="34" charset="0"/>
                <a:ea typeface="Cambria" pitchFamily="34" charset="-122"/>
                <a:cs typeface="Cambria" pitchFamily="34" charset="-120"/>
              </a:rPr>
              <a:t>A change of convenience</a:t>
            </a:r>
            <a:endParaRPr lang="en-US" sz="1400" dirty="0"/>
          </a:p>
        </p:txBody>
      </p:sp>
      <p:sp>
        <p:nvSpPr>
          <p:cNvPr id="18" name="Text 16"/>
          <p:cNvSpPr txBox="1"/>
          <p:nvPr/>
        </p:nvSpPr>
        <p:spPr>
          <a:xfrm>
            <a:off x="6995160" y="3035808"/>
            <a:ext cx="4261104" cy="640080"/>
          </a:xfrm>
          <a:prstGeom prst="rect">
            <a:avLst/>
          </a:prstGeom>
          <a:noFill/>
          <a:ln/>
        </p:spPr>
        <p:txBody>
          <a:bodyPr wrap="square" lIns="0" tIns="0" rIns="0" bIns="0" rtlCol="0" anchor="ctr"/>
          <a:lstStyle/>
          <a:p>
            <a:pPr marL="0" indent="0">
              <a:lnSpc>
                <a:spcPts val="1500"/>
              </a:lnSpc>
              <a:buNone/>
            </a:pPr>
            <a:r>
              <a:rPr lang="en-US" sz="1150" dirty="0">
                <a:solidFill>
                  <a:srgbClr val="5B6474"/>
                </a:solidFill>
                <a:latin typeface="Calibri" pitchFamily="34" charset="0"/>
                <a:ea typeface="Calibri" pitchFamily="34" charset="-122"/>
                <a:cs typeface="Calibri" pitchFamily="34" charset="-120"/>
              </a:rPr>
              <a:t>It was adopted because the first version trained badly. It is a practical repair, described in a paragraph, and it changed the character of the failure mode.</a:t>
            </a:r>
            <a:endParaRPr lang="en-US" sz="1150" dirty="0"/>
          </a:p>
        </p:txBody>
      </p:sp>
      <p:sp>
        <p:nvSpPr>
          <p:cNvPr id="19" name="Shape 17"/>
          <p:cNvSpPr/>
          <p:nvPr/>
        </p:nvSpPr>
        <p:spPr>
          <a:xfrm>
            <a:off x="6720840" y="3831336"/>
            <a:ext cx="4809744" cy="1170432"/>
          </a:xfrm>
          <a:prstGeom prst="roundRect">
            <a:avLst>
              <a:gd name="adj" fmla="val 6250"/>
            </a:avLst>
          </a:prstGeom>
          <a:solidFill>
            <a:srgbClr val="0E131B"/>
          </a:solidFill>
          <a:ln w="12700">
            <a:solidFill>
              <a:srgbClr val="0E131B"/>
            </a:solidFill>
            <a:prstDash val="solid"/>
          </a:ln>
        </p:spPr>
        <p:txBody>
          <a:bodyPr/>
          <a:lstStyle/>
          <a:p>
            <a:endParaRPr lang="en-US"/>
          </a:p>
        </p:txBody>
      </p:sp>
      <p:sp>
        <p:nvSpPr>
          <p:cNvPr id="20" name="Text 18"/>
          <p:cNvSpPr txBox="1"/>
          <p:nvPr/>
        </p:nvSpPr>
        <p:spPr>
          <a:xfrm>
            <a:off x="6995160" y="3959352"/>
            <a:ext cx="4261104" cy="292608"/>
          </a:xfrm>
          <a:prstGeom prst="rect">
            <a:avLst/>
          </a:prstGeom>
          <a:noFill/>
          <a:ln/>
        </p:spPr>
        <p:txBody>
          <a:bodyPr wrap="square" lIns="0" tIns="0" rIns="0" bIns="0" rtlCol="0" anchor="ctr"/>
          <a:lstStyle/>
          <a:p>
            <a:pPr marL="0" indent="0">
              <a:buNone/>
            </a:pPr>
            <a:r>
              <a:rPr lang="en-US" sz="1400" b="1" dirty="0">
                <a:solidFill>
                  <a:srgbClr val="DFA9C4"/>
                </a:solidFill>
                <a:latin typeface="Cambria" pitchFamily="34" charset="0"/>
                <a:ea typeface="Cambria" pitchFamily="34" charset="-122"/>
                <a:cs typeface="Cambria" pitchFamily="34" charset="-120"/>
              </a:rPr>
              <a:t>This is last week’s η again</a:t>
            </a:r>
            <a:endParaRPr lang="en-US" sz="1400" dirty="0"/>
          </a:p>
        </p:txBody>
      </p:sp>
      <p:sp>
        <p:nvSpPr>
          <p:cNvPr id="21" name="Text 19"/>
          <p:cNvSpPr txBox="1"/>
          <p:nvPr/>
        </p:nvSpPr>
        <p:spPr>
          <a:xfrm>
            <a:off x="6995160" y="4288536"/>
            <a:ext cx="4261104" cy="640080"/>
          </a:xfrm>
          <a:prstGeom prst="rect">
            <a:avLst/>
          </a:prstGeom>
          <a:noFill/>
          <a:ln/>
        </p:spPr>
        <p:txBody>
          <a:bodyPr wrap="square" lIns="0" tIns="0" rIns="0" bIns="0" rtlCol="0" anchor="ctr"/>
          <a:lstStyle/>
          <a:p>
            <a:pPr marL="0" indent="0">
              <a:lnSpc>
                <a:spcPts val="1500"/>
              </a:lnSpc>
              <a:buNone/>
            </a:pPr>
            <a:r>
              <a:rPr lang="en-US" sz="1150" dirty="0">
                <a:solidFill>
                  <a:srgbClr val="F2F4F8"/>
                </a:solidFill>
                <a:latin typeface="Calibri" pitchFamily="34" charset="0"/>
                <a:ea typeface="Calibri" pitchFamily="34" charset="-122"/>
                <a:cs typeface="Calibri" pitchFamily="34" charset="-120"/>
              </a:rPr>
              <a:t>A choice made for tractability, not stated as a value judgement, permanently shaping what the artefact turns out to be. Watch for these; they are everywhere and they are rarely documented.</a:t>
            </a:r>
            <a:endParaRPr lang="en-US" sz="1150" dirty="0"/>
          </a:p>
        </p:txBody>
      </p:sp>
      <p:sp>
        <p:nvSpPr>
          <p:cNvPr id="22" name="Shape 20"/>
          <p:cNvSpPr/>
          <p:nvPr/>
        </p:nvSpPr>
        <p:spPr>
          <a:xfrm>
            <a:off x="6720840" y="5084064"/>
            <a:ext cx="4809744" cy="1170432"/>
          </a:xfrm>
          <a:prstGeom prst="roundRect">
            <a:avLst>
              <a:gd name="adj" fmla="val 6250"/>
            </a:avLst>
          </a:prstGeom>
          <a:solidFill>
            <a:srgbClr val="F8EBF2"/>
          </a:solidFill>
          <a:ln w="12700">
            <a:solidFill>
              <a:srgbClr val="F8EBF2"/>
            </a:solidFill>
            <a:prstDash val="solid"/>
          </a:ln>
        </p:spPr>
        <p:txBody>
          <a:bodyPr/>
          <a:lstStyle/>
          <a:p>
            <a:endParaRPr lang="en-US"/>
          </a:p>
        </p:txBody>
      </p:sp>
      <p:sp>
        <p:nvSpPr>
          <p:cNvPr id="23" name="Text 21"/>
          <p:cNvSpPr txBox="1"/>
          <p:nvPr/>
        </p:nvSpPr>
        <p:spPr>
          <a:xfrm>
            <a:off x="6995160" y="5212080"/>
            <a:ext cx="4261104" cy="292608"/>
          </a:xfrm>
          <a:prstGeom prst="rect">
            <a:avLst/>
          </a:prstGeom>
          <a:noFill/>
          <a:ln/>
        </p:spPr>
        <p:txBody>
          <a:bodyPr wrap="square" lIns="0" tIns="0" rIns="0" bIns="0" rtlCol="0" anchor="ctr"/>
          <a:lstStyle/>
          <a:p>
            <a:pPr marL="0" indent="0">
              <a:buNone/>
            </a:pPr>
            <a:r>
              <a:rPr lang="en-US" sz="1400" b="1" dirty="0">
                <a:solidFill>
                  <a:srgbClr val="0E131B"/>
                </a:solidFill>
                <a:latin typeface="Cambria" pitchFamily="34" charset="0"/>
                <a:ea typeface="Cambria" pitchFamily="34" charset="-122"/>
                <a:cs typeface="Cambria" pitchFamily="34" charset="-120"/>
              </a:rPr>
              <a:t>And the paper is honest about it</a:t>
            </a:r>
            <a:endParaRPr lang="en-US" sz="1400" dirty="0"/>
          </a:p>
        </p:txBody>
      </p:sp>
      <p:sp>
        <p:nvSpPr>
          <p:cNvPr id="24" name="Text 22"/>
          <p:cNvSpPr txBox="1"/>
          <p:nvPr/>
        </p:nvSpPr>
        <p:spPr>
          <a:xfrm>
            <a:off x="6995160" y="5541264"/>
            <a:ext cx="4261104" cy="640080"/>
          </a:xfrm>
          <a:prstGeom prst="rect">
            <a:avLst/>
          </a:prstGeom>
          <a:noFill/>
          <a:ln/>
        </p:spPr>
        <p:txBody>
          <a:bodyPr wrap="square" lIns="0" tIns="0" rIns="0" bIns="0" rtlCol="0" anchor="ctr"/>
          <a:lstStyle/>
          <a:p>
            <a:pPr marL="0" indent="0">
              <a:lnSpc>
                <a:spcPts val="1500"/>
              </a:lnSpc>
              <a:buNone/>
            </a:pPr>
            <a:r>
              <a:rPr lang="en-US" sz="1150" dirty="0">
                <a:solidFill>
                  <a:srgbClr val="5B6474"/>
                </a:solidFill>
                <a:latin typeface="Calibri" pitchFamily="34" charset="0"/>
                <a:ea typeface="Calibri" pitchFamily="34" charset="-122"/>
                <a:cs typeface="Calibri" pitchFamily="34" charset="-120"/>
              </a:rPr>
              <a:t>Goodfellow et al. name the saturation problem and the workaround openly. The failure is not concealment. It is that a footnote-sized engineering decision has consequences nobody sized at the time.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9C3D6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THE THEORY (§4, JUST PAST YOUR READING)</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0E131B"/>
                </a:solidFill>
                <a:latin typeface="Cambria" pitchFamily="34" charset="0"/>
                <a:ea typeface="Cambria" pitchFamily="34" charset="-122"/>
                <a:cs typeface="Cambria" pitchFamily="34" charset="-120"/>
              </a:rPr>
              <a:t>What the perfect critic would say</a:t>
            </a:r>
            <a:endParaRPr lang="en-US" sz="2900" dirty="0"/>
          </a:p>
        </p:txBody>
      </p:sp>
      <p:sp>
        <p:nvSpPr>
          <p:cNvPr id="5" name="Shape 3"/>
          <p:cNvSpPr/>
          <p:nvPr/>
        </p:nvSpPr>
        <p:spPr>
          <a:xfrm>
            <a:off x="2560320" y="1325880"/>
            <a:ext cx="7955280" cy="1051560"/>
          </a:xfrm>
          <a:prstGeom prst="roundRect">
            <a:avLst>
              <a:gd name="adj" fmla="val 5217"/>
            </a:avLst>
          </a:prstGeom>
          <a:solidFill>
            <a:srgbClr val="F5F7FA"/>
          </a:solidFill>
          <a:ln w="12700">
            <a:solidFill>
              <a:srgbClr val="CBD5E1"/>
            </a:solidFill>
            <a:prstDash val="solid"/>
          </a:ln>
        </p:spPr>
        <p:txBody>
          <a:bodyPr/>
          <a:lstStyle/>
          <a:p>
            <a:endParaRPr lang="en-US"/>
          </a:p>
        </p:txBody>
      </p:sp>
      <p:sp>
        <p:nvSpPr>
          <p:cNvPr id="6" name="Text 4"/>
          <p:cNvSpPr txBox="1"/>
          <p:nvPr/>
        </p:nvSpPr>
        <p:spPr>
          <a:xfrm>
            <a:off x="2670048" y="1325880"/>
            <a:ext cx="7735824" cy="1051560"/>
          </a:xfrm>
          <a:prstGeom prst="rect">
            <a:avLst/>
          </a:prstGeom>
          <a:noFill/>
          <a:ln/>
        </p:spPr>
        <p:txBody>
          <a:bodyPr wrap="square" lIns="0" tIns="0" rIns="0" bIns="0" rtlCol="0" anchor="ctr"/>
          <a:lstStyle/>
          <a:p>
            <a:pPr marL="0" indent="0" algn="ctr">
              <a:buNone/>
            </a:pPr>
            <a:r>
              <a:rPr lang="en-US" sz="2800" dirty="0">
                <a:solidFill>
                  <a:srgbClr val="0E131B"/>
                </a:solidFill>
                <a:latin typeface="Cambria Math" pitchFamily="34" charset="0"/>
                <a:ea typeface="Cambria Math" pitchFamily="34" charset="-122"/>
                <a:cs typeface="Cambria Math" pitchFamily="34" charset="-120"/>
              </a:rPr>
              <a:t>D*(x) = p_data(x) / ( p_data(x) + p_g(x) )</a:t>
            </a:r>
            <a:endParaRPr lang="en-US" sz="2800" dirty="0"/>
          </a:p>
        </p:txBody>
      </p:sp>
      <p:sp>
        <p:nvSpPr>
          <p:cNvPr id="7" name="Text 5"/>
          <p:cNvSpPr txBox="1"/>
          <p:nvPr/>
        </p:nvSpPr>
        <p:spPr>
          <a:xfrm>
            <a:off x="1554480" y="2450592"/>
            <a:ext cx="9966960" cy="347472"/>
          </a:xfrm>
          <a:prstGeom prst="rect">
            <a:avLst/>
          </a:prstGeom>
          <a:noFill/>
          <a:ln/>
        </p:spPr>
        <p:txBody>
          <a:bodyPr wrap="square" lIns="0" tIns="0" rIns="0" bIns="0" rtlCol="0" anchor="ctr"/>
          <a:lstStyle/>
          <a:p>
            <a:pPr marL="0" indent="0" algn="ctr">
              <a:buNone/>
            </a:pPr>
            <a:r>
              <a:rPr lang="en-US" sz="1300" i="1" dirty="0">
                <a:solidFill>
                  <a:srgbClr val="1F7A6B"/>
                </a:solidFill>
                <a:latin typeface="Calibri" pitchFamily="34" charset="0"/>
                <a:ea typeface="Calibri" pitchFamily="34" charset="-122"/>
                <a:cs typeface="Calibri" pitchFamily="34" charset="-120"/>
              </a:rPr>
              <a:t>“The best possible critic reports the share of the traffic at x that is real.”</a:t>
            </a:r>
            <a:endParaRPr lang="en-US" sz="1300" dirty="0"/>
          </a:p>
        </p:txBody>
      </p:sp>
      <p:sp>
        <p:nvSpPr>
          <p:cNvPr id="8" name="Shape 6"/>
          <p:cNvSpPr/>
          <p:nvPr/>
        </p:nvSpPr>
        <p:spPr>
          <a:xfrm>
            <a:off x="640080" y="2944368"/>
            <a:ext cx="2021373" cy="22860"/>
          </a:xfrm>
          <a:prstGeom prst="rect">
            <a:avLst/>
          </a:prstGeom>
          <a:solidFill>
            <a:srgbClr val="1F7A6B"/>
          </a:solidFill>
          <a:ln/>
        </p:spPr>
        <p:txBody>
          <a:bodyPr/>
          <a:lstStyle/>
          <a:p>
            <a:endParaRPr lang="en-US"/>
          </a:p>
        </p:txBody>
      </p:sp>
      <p:sp>
        <p:nvSpPr>
          <p:cNvPr id="9" name="Text 7"/>
          <p:cNvSpPr txBox="1"/>
          <p:nvPr/>
        </p:nvSpPr>
        <p:spPr>
          <a:xfrm>
            <a:off x="640080" y="3035808"/>
            <a:ext cx="2021373" cy="384048"/>
          </a:xfrm>
          <a:prstGeom prst="rect">
            <a:avLst/>
          </a:prstGeom>
          <a:noFill/>
          <a:ln/>
        </p:spPr>
        <p:txBody>
          <a:bodyPr wrap="square" lIns="0" tIns="0" rIns="0" bIns="0" rtlCol="0" anchor="ctr"/>
          <a:lstStyle/>
          <a:p>
            <a:pPr marL="0" indent="0" algn="ctr">
              <a:buNone/>
            </a:pPr>
            <a:r>
              <a:rPr lang="en-US" sz="2100" b="1" dirty="0">
                <a:solidFill>
                  <a:srgbClr val="1F7A6B"/>
                </a:solidFill>
                <a:latin typeface="Cambria Math" pitchFamily="34" charset="0"/>
                <a:ea typeface="Cambria Math" pitchFamily="34" charset="-122"/>
                <a:cs typeface="Cambria Math" pitchFamily="34" charset="-120"/>
              </a:rPr>
              <a:t>p_data(x)</a:t>
            </a:r>
            <a:endParaRPr lang="en-US" sz="2100" dirty="0"/>
          </a:p>
        </p:txBody>
      </p:sp>
      <p:sp>
        <p:nvSpPr>
          <p:cNvPr id="10" name="Text 8"/>
          <p:cNvSpPr txBox="1"/>
          <p:nvPr/>
        </p:nvSpPr>
        <p:spPr>
          <a:xfrm>
            <a:off x="640080" y="3474720"/>
            <a:ext cx="2021373" cy="1005840"/>
          </a:xfrm>
          <a:prstGeom prst="rect">
            <a:avLst/>
          </a:prstGeom>
          <a:noFill/>
          <a:ln/>
        </p:spPr>
        <p:txBody>
          <a:bodyPr wrap="square" lIns="0" tIns="0" rIns="0" bIns="0" rtlCol="0" anchor="ctr"/>
          <a:lstStyle/>
          <a:p>
            <a:pPr marL="0" indent="0" algn="ctr">
              <a:lnSpc>
                <a:spcPts val="1400"/>
              </a:lnSpc>
              <a:buNone/>
            </a:pPr>
            <a:r>
              <a:rPr lang="en-US" sz="1100" dirty="0">
                <a:solidFill>
                  <a:srgbClr val="5B6474"/>
                </a:solidFill>
                <a:latin typeface="Calibri" pitchFamily="34" charset="0"/>
                <a:ea typeface="Calibri" pitchFamily="34" charset="-122"/>
                <a:cs typeface="Calibri" pitchFamily="34" charset="-120"/>
              </a:rPr>
              <a:t>how often the real world produces x.</a:t>
            </a:r>
            <a:endParaRPr lang="en-US" sz="1100" dirty="0"/>
          </a:p>
        </p:txBody>
      </p:sp>
      <p:sp>
        <p:nvSpPr>
          <p:cNvPr id="11" name="Shape 9"/>
          <p:cNvSpPr/>
          <p:nvPr/>
        </p:nvSpPr>
        <p:spPr>
          <a:xfrm>
            <a:off x="2862621" y="2944368"/>
            <a:ext cx="2021373" cy="22860"/>
          </a:xfrm>
          <a:prstGeom prst="rect">
            <a:avLst/>
          </a:prstGeom>
          <a:solidFill>
            <a:srgbClr val="9C3D6E"/>
          </a:solidFill>
          <a:ln/>
        </p:spPr>
        <p:txBody>
          <a:bodyPr/>
          <a:lstStyle/>
          <a:p>
            <a:endParaRPr lang="en-US"/>
          </a:p>
        </p:txBody>
      </p:sp>
      <p:sp>
        <p:nvSpPr>
          <p:cNvPr id="12" name="Text 10"/>
          <p:cNvSpPr txBox="1"/>
          <p:nvPr/>
        </p:nvSpPr>
        <p:spPr>
          <a:xfrm>
            <a:off x="2862621" y="3035808"/>
            <a:ext cx="2021373" cy="384048"/>
          </a:xfrm>
          <a:prstGeom prst="rect">
            <a:avLst/>
          </a:prstGeom>
          <a:noFill/>
          <a:ln/>
        </p:spPr>
        <p:txBody>
          <a:bodyPr wrap="square" lIns="0" tIns="0" rIns="0" bIns="0" rtlCol="0" anchor="ctr"/>
          <a:lstStyle/>
          <a:p>
            <a:pPr marL="0" indent="0" algn="ctr">
              <a:buNone/>
            </a:pPr>
            <a:r>
              <a:rPr lang="en-US" sz="2100" b="1" dirty="0">
                <a:solidFill>
                  <a:srgbClr val="9C3D6E"/>
                </a:solidFill>
                <a:latin typeface="Cambria Math" pitchFamily="34" charset="0"/>
                <a:ea typeface="Cambria Math" pitchFamily="34" charset="-122"/>
                <a:cs typeface="Cambria Math" pitchFamily="34" charset="-120"/>
              </a:rPr>
              <a:t>p_g(x)</a:t>
            </a:r>
            <a:endParaRPr lang="en-US" sz="2100" dirty="0"/>
          </a:p>
        </p:txBody>
      </p:sp>
      <p:sp>
        <p:nvSpPr>
          <p:cNvPr id="13" name="Text 11"/>
          <p:cNvSpPr txBox="1"/>
          <p:nvPr/>
        </p:nvSpPr>
        <p:spPr>
          <a:xfrm>
            <a:off x="2862621" y="3474720"/>
            <a:ext cx="2021373" cy="1005840"/>
          </a:xfrm>
          <a:prstGeom prst="rect">
            <a:avLst/>
          </a:prstGeom>
          <a:noFill/>
          <a:ln/>
        </p:spPr>
        <p:txBody>
          <a:bodyPr wrap="square" lIns="0" tIns="0" rIns="0" bIns="0" rtlCol="0" anchor="ctr"/>
          <a:lstStyle/>
          <a:p>
            <a:pPr marL="0" indent="0" algn="ctr">
              <a:lnSpc>
                <a:spcPts val="1400"/>
              </a:lnSpc>
              <a:buNone/>
            </a:pPr>
            <a:r>
              <a:rPr lang="en-US" sz="1100" dirty="0">
                <a:solidFill>
                  <a:srgbClr val="5B6474"/>
                </a:solidFill>
                <a:latin typeface="Calibri" pitchFamily="34" charset="0"/>
                <a:ea typeface="Calibri" pitchFamily="34" charset="-122"/>
                <a:cs typeface="Calibri" pitchFamily="34" charset="-120"/>
              </a:rPr>
              <a:t>how often the generator produces x.</a:t>
            </a:r>
            <a:endParaRPr lang="en-US" sz="1100" dirty="0"/>
          </a:p>
        </p:txBody>
      </p:sp>
      <p:sp>
        <p:nvSpPr>
          <p:cNvPr id="14" name="Shape 12"/>
          <p:cNvSpPr/>
          <p:nvPr/>
        </p:nvSpPr>
        <p:spPr>
          <a:xfrm>
            <a:off x="5085161" y="2944368"/>
            <a:ext cx="2021373" cy="22860"/>
          </a:xfrm>
          <a:prstGeom prst="rect">
            <a:avLst/>
          </a:prstGeom>
          <a:solidFill>
            <a:srgbClr val="1F7A6B"/>
          </a:solidFill>
          <a:ln/>
        </p:spPr>
        <p:txBody>
          <a:bodyPr/>
          <a:lstStyle/>
          <a:p>
            <a:endParaRPr lang="en-US"/>
          </a:p>
        </p:txBody>
      </p:sp>
      <p:sp>
        <p:nvSpPr>
          <p:cNvPr id="15" name="Text 13"/>
          <p:cNvSpPr txBox="1"/>
          <p:nvPr/>
        </p:nvSpPr>
        <p:spPr>
          <a:xfrm>
            <a:off x="5085161" y="3035808"/>
            <a:ext cx="2021373" cy="384048"/>
          </a:xfrm>
          <a:prstGeom prst="rect">
            <a:avLst/>
          </a:prstGeom>
          <a:noFill/>
          <a:ln/>
        </p:spPr>
        <p:txBody>
          <a:bodyPr wrap="square" lIns="0" tIns="0" rIns="0" bIns="0" rtlCol="0" anchor="ctr"/>
          <a:lstStyle/>
          <a:p>
            <a:pPr marL="0" indent="0" algn="ctr">
              <a:buNone/>
            </a:pPr>
            <a:r>
              <a:rPr lang="en-US" sz="2100" b="1" dirty="0">
                <a:solidFill>
                  <a:srgbClr val="1F7A6B"/>
                </a:solidFill>
                <a:latin typeface="Cambria Math" pitchFamily="34" charset="0"/>
                <a:ea typeface="Cambria Math" pitchFamily="34" charset="-122"/>
                <a:cs typeface="Cambria Math" pitchFamily="34" charset="-120"/>
              </a:rPr>
              <a:t>the ratio</a:t>
            </a:r>
            <a:endParaRPr lang="en-US" sz="2100" dirty="0"/>
          </a:p>
        </p:txBody>
      </p:sp>
      <p:sp>
        <p:nvSpPr>
          <p:cNvPr id="16" name="Text 14"/>
          <p:cNvSpPr txBox="1"/>
          <p:nvPr/>
        </p:nvSpPr>
        <p:spPr>
          <a:xfrm>
            <a:off x="5085161" y="3474720"/>
            <a:ext cx="2021373" cy="1005840"/>
          </a:xfrm>
          <a:prstGeom prst="rect">
            <a:avLst/>
          </a:prstGeom>
          <a:noFill/>
          <a:ln/>
        </p:spPr>
        <p:txBody>
          <a:bodyPr wrap="square" lIns="0" tIns="0" rIns="0" bIns="0" rtlCol="0" anchor="ctr"/>
          <a:lstStyle/>
          <a:p>
            <a:pPr marL="0" indent="0" algn="ctr">
              <a:lnSpc>
                <a:spcPts val="1400"/>
              </a:lnSpc>
              <a:buNone/>
            </a:pPr>
            <a:r>
              <a:rPr lang="en-US" sz="1100" dirty="0">
                <a:solidFill>
                  <a:srgbClr val="5B6474"/>
                </a:solidFill>
                <a:latin typeface="Calibri" pitchFamily="34" charset="0"/>
                <a:ea typeface="Calibri" pitchFamily="34" charset="-122"/>
                <a:cs typeface="Calibri" pitchFamily="34" charset="-120"/>
              </a:rPr>
              <a:t>if only real data lands at x, D* = 1. If only fakes land there, D* = 0.</a:t>
            </a:r>
            <a:endParaRPr lang="en-US" sz="1100" dirty="0"/>
          </a:p>
        </p:txBody>
      </p:sp>
      <p:sp>
        <p:nvSpPr>
          <p:cNvPr id="17" name="Shape 15"/>
          <p:cNvSpPr/>
          <p:nvPr/>
        </p:nvSpPr>
        <p:spPr>
          <a:xfrm>
            <a:off x="7307702" y="2944368"/>
            <a:ext cx="2021373" cy="22860"/>
          </a:xfrm>
          <a:prstGeom prst="rect">
            <a:avLst/>
          </a:prstGeom>
          <a:solidFill>
            <a:srgbClr val="9C3D6E"/>
          </a:solidFill>
          <a:ln/>
        </p:spPr>
        <p:txBody>
          <a:bodyPr/>
          <a:lstStyle/>
          <a:p>
            <a:endParaRPr lang="en-US"/>
          </a:p>
        </p:txBody>
      </p:sp>
      <p:sp>
        <p:nvSpPr>
          <p:cNvPr id="18" name="Text 16"/>
          <p:cNvSpPr txBox="1"/>
          <p:nvPr/>
        </p:nvSpPr>
        <p:spPr>
          <a:xfrm>
            <a:off x="7307702" y="3035808"/>
            <a:ext cx="2021373" cy="384048"/>
          </a:xfrm>
          <a:prstGeom prst="rect">
            <a:avLst/>
          </a:prstGeom>
          <a:noFill/>
          <a:ln/>
        </p:spPr>
        <p:txBody>
          <a:bodyPr wrap="square" lIns="0" tIns="0" rIns="0" bIns="0" rtlCol="0" anchor="ctr"/>
          <a:lstStyle/>
          <a:p>
            <a:pPr marL="0" indent="0" algn="ctr">
              <a:buNone/>
            </a:pPr>
            <a:r>
              <a:rPr lang="en-US" sz="2100" b="1" dirty="0">
                <a:solidFill>
                  <a:srgbClr val="9C3D6E"/>
                </a:solidFill>
                <a:latin typeface="Cambria Math" pitchFamily="34" charset="0"/>
                <a:ea typeface="Cambria Math" pitchFamily="34" charset="-122"/>
                <a:cs typeface="Cambria Math" pitchFamily="34" charset="-120"/>
              </a:rPr>
              <a:t>D* = ½</a:t>
            </a:r>
            <a:endParaRPr lang="en-US" sz="2100" dirty="0"/>
          </a:p>
        </p:txBody>
      </p:sp>
      <p:sp>
        <p:nvSpPr>
          <p:cNvPr id="19" name="Text 17"/>
          <p:cNvSpPr txBox="1"/>
          <p:nvPr/>
        </p:nvSpPr>
        <p:spPr>
          <a:xfrm>
            <a:off x="7307702" y="3474720"/>
            <a:ext cx="2021373" cy="1005840"/>
          </a:xfrm>
          <a:prstGeom prst="rect">
            <a:avLst/>
          </a:prstGeom>
          <a:noFill/>
          <a:ln/>
        </p:spPr>
        <p:txBody>
          <a:bodyPr wrap="square" lIns="0" tIns="0" rIns="0" bIns="0" rtlCol="0" anchor="ctr"/>
          <a:lstStyle/>
          <a:p>
            <a:pPr marL="0" indent="0" algn="ctr">
              <a:lnSpc>
                <a:spcPts val="1400"/>
              </a:lnSpc>
              <a:buNone/>
            </a:pPr>
            <a:r>
              <a:rPr lang="en-US" sz="1100" dirty="0">
                <a:solidFill>
                  <a:srgbClr val="5B6474"/>
                </a:solidFill>
                <a:latin typeface="Calibri" pitchFamily="34" charset="0"/>
                <a:ea typeface="Calibri" pitchFamily="34" charset="-122"/>
                <a:cs typeface="Calibri" pitchFamily="34" charset="-120"/>
              </a:rPr>
              <a:t>what you get when p_data = p_g everywhere: the critic is reduced to a coin flip.</a:t>
            </a:r>
            <a:endParaRPr lang="en-US" sz="1100" dirty="0"/>
          </a:p>
        </p:txBody>
      </p:sp>
      <p:sp>
        <p:nvSpPr>
          <p:cNvPr id="20" name="Shape 18"/>
          <p:cNvSpPr/>
          <p:nvPr/>
        </p:nvSpPr>
        <p:spPr>
          <a:xfrm>
            <a:off x="9530243" y="2944368"/>
            <a:ext cx="2021373" cy="22860"/>
          </a:xfrm>
          <a:prstGeom prst="rect">
            <a:avLst/>
          </a:prstGeom>
          <a:solidFill>
            <a:srgbClr val="1F7A6B"/>
          </a:solidFill>
          <a:ln/>
        </p:spPr>
        <p:txBody>
          <a:bodyPr/>
          <a:lstStyle/>
          <a:p>
            <a:endParaRPr lang="en-US"/>
          </a:p>
        </p:txBody>
      </p:sp>
      <p:sp>
        <p:nvSpPr>
          <p:cNvPr id="21" name="Text 19"/>
          <p:cNvSpPr txBox="1"/>
          <p:nvPr/>
        </p:nvSpPr>
        <p:spPr>
          <a:xfrm>
            <a:off x="9530243" y="3035808"/>
            <a:ext cx="2021373" cy="384048"/>
          </a:xfrm>
          <a:prstGeom prst="rect">
            <a:avLst/>
          </a:prstGeom>
          <a:noFill/>
          <a:ln/>
        </p:spPr>
        <p:txBody>
          <a:bodyPr wrap="square" lIns="0" tIns="0" rIns="0" bIns="0" rtlCol="0" anchor="ctr"/>
          <a:lstStyle/>
          <a:p>
            <a:pPr marL="0" indent="0" algn="ctr">
              <a:buNone/>
            </a:pPr>
            <a:r>
              <a:rPr lang="en-US" sz="2100" b="1" dirty="0">
                <a:solidFill>
                  <a:srgbClr val="1F7A6B"/>
                </a:solidFill>
                <a:latin typeface="Cambria Math" pitchFamily="34" charset="0"/>
                <a:ea typeface="Cambria Math" pitchFamily="34" charset="-122"/>
                <a:cs typeface="Cambria Math" pitchFamily="34" charset="-120"/>
              </a:rPr>
              <a:t>C(G) = −log 4 + 2·JSD</a:t>
            </a:r>
            <a:endParaRPr lang="en-US" sz="2100" dirty="0"/>
          </a:p>
        </p:txBody>
      </p:sp>
      <p:sp>
        <p:nvSpPr>
          <p:cNvPr id="22" name="Text 20"/>
          <p:cNvSpPr txBox="1"/>
          <p:nvPr/>
        </p:nvSpPr>
        <p:spPr>
          <a:xfrm>
            <a:off x="9530243" y="3474720"/>
            <a:ext cx="2021373" cy="1005840"/>
          </a:xfrm>
          <a:prstGeom prst="rect">
            <a:avLst/>
          </a:prstGeom>
          <a:noFill/>
          <a:ln/>
        </p:spPr>
        <p:txBody>
          <a:bodyPr wrap="square" lIns="0" tIns="0" rIns="0" bIns="0" rtlCol="0" anchor="ctr"/>
          <a:lstStyle/>
          <a:p>
            <a:pPr marL="0" indent="0" algn="ctr">
              <a:lnSpc>
                <a:spcPts val="1400"/>
              </a:lnSpc>
              <a:buNone/>
            </a:pPr>
            <a:r>
              <a:rPr lang="en-US" sz="1100" dirty="0">
                <a:solidFill>
                  <a:srgbClr val="5B6474"/>
                </a:solidFill>
                <a:latin typeface="Calibri" pitchFamily="34" charset="0"/>
                <a:ea typeface="Calibri" pitchFamily="34" charset="-122"/>
                <a:cs typeface="Calibri" pitchFamily="34" charset="-120"/>
              </a:rPr>
              <a:t>substituting D* back in, the game’s value is a distance between the two distributions.</a:t>
            </a:r>
            <a:endParaRPr lang="en-US" sz="1100" dirty="0"/>
          </a:p>
        </p:txBody>
      </p:sp>
      <p:sp>
        <p:nvSpPr>
          <p:cNvPr id="23" name="Shape 21"/>
          <p:cNvSpPr/>
          <p:nvPr/>
        </p:nvSpPr>
        <p:spPr>
          <a:xfrm>
            <a:off x="640080" y="4709160"/>
            <a:ext cx="10911535" cy="1600200"/>
          </a:xfrm>
          <a:prstGeom prst="roundRect">
            <a:avLst>
              <a:gd name="adj" fmla="val 4571"/>
            </a:avLst>
          </a:prstGeom>
          <a:solidFill>
            <a:srgbClr val="0E131B"/>
          </a:solidFill>
          <a:ln w="12700">
            <a:solidFill>
              <a:srgbClr val="0E131B"/>
            </a:solidFill>
            <a:prstDash val="solid"/>
          </a:ln>
        </p:spPr>
        <p:txBody>
          <a:bodyPr/>
          <a:lstStyle/>
          <a:p>
            <a:endParaRPr lang="en-US"/>
          </a:p>
        </p:txBody>
      </p:sp>
      <p:sp>
        <p:nvSpPr>
          <p:cNvPr id="24" name="Text 22"/>
          <p:cNvSpPr txBox="1"/>
          <p:nvPr/>
        </p:nvSpPr>
        <p:spPr>
          <a:xfrm>
            <a:off x="1005840" y="4873752"/>
            <a:ext cx="10424160" cy="274320"/>
          </a:xfrm>
          <a:prstGeom prst="rect">
            <a:avLst/>
          </a:prstGeom>
          <a:noFill/>
          <a:ln/>
        </p:spPr>
        <p:txBody>
          <a:bodyPr wrap="square" lIns="0" tIns="0" rIns="0" bIns="0" rtlCol="0" anchor="ctr"/>
          <a:lstStyle/>
          <a:p>
            <a:pPr marL="0" indent="0">
              <a:buNone/>
            </a:pPr>
            <a:r>
              <a:rPr lang="en-US" sz="1150" b="1" kern="0" spc="140" dirty="0">
                <a:solidFill>
                  <a:srgbClr val="DFA9C4"/>
                </a:solidFill>
                <a:latin typeface="Calibri" pitchFamily="34" charset="0"/>
                <a:ea typeface="Calibri" pitchFamily="34" charset="-122"/>
                <a:cs typeface="Calibri" pitchFamily="34" charset="-120"/>
              </a:rPr>
              <a:t>What the theory promises, and what it does not</a:t>
            </a:r>
            <a:endParaRPr lang="en-US" sz="1150" dirty="0"/>
          </a:p>
        </p:txBody>
      </p:sp>
      <p:sp>
        <p:nvSpPr>
          <p:cNvPr id="25" name="Text 23"/>
          <p:cNvSpPr txBox="1"/>
          <p:nvPr/>
        </p:nvSpPr>
        <p:spPr>
          <a:xfrm>
            <a:off x="1005840" y="5202936"/>
            <a:ext cx="10424160" cy="941832"/>
          </a:xfrm>
          <a:prstGeom prst="rect">
            <a:avLst/>
          </a:prstGeom>
          <a:noFill/>
          <a:ln/>
        </p:spPr>
        <p:txBody>
          <a:bodyPr wrap="square" lIns="0" tIns="0" rIns="0" bIns="0" rtlCol="0" anchor="ctr"/>
          <a:lstStyle/>
          <a:p>
            <a:pPr marL="0" indent="0">
              <a:lnSpc>
                <a:spcPts val="2000"/>
              </a:lnSpc>
              <a:buNone/>
            </a:pPr>
            <a:r>
              <a:rPr lang="en-US" sz="1500" dirty="0">
                <a:solidFill>
                  <a:srgbClr val="F2F4F8"/>
                </a:solidFill>
                <a:latin typeface="Cambria" pitchFamily="34" charset="0"/>
                <a:ea typeface="Cambria" pitchFamily="34" charset="-122"/>
                <a:cs typeface="Cambria" pitchFamily="34" charset="-120"/>
              </a:rPr>
              <a:t>The theorem says that if you could solve the game exactly, the unique optimum is p_g = p_data — the model reproduces the world, mode for mode. That is a real and beautiful result. It is also a statement about an idealised optimum, not about what alternating gradient steps on two finite networks will actually find. The gap between those two sentences is where mode collapse lives.</a:t>
            </a:r>
            <a:endParaRPr lang="en-US" sz="1500" dirty="0"/>
          </a:p>
        </p:txBody>
      </p:sp>
      <p:sp>
        <p:nvSpPr>
          <p:cNvPr id="26" name="Text 24"/>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B6474"/>
                </a:solidFill>
                <a:latin typeface="Calibri" pitchFamily="34" charset="0"/>
                <a:ea typeface="Calibri" pitchFamily="34" charset="-122"/>
                <a:cs typeface="Calibri" pitchFamily="34" charset="-120"/>
              </a:rPr>
              <a:t>Goodfellow et al., Proposition 1 and Theorem 1, §4 — four pages past the end of your assigned reading, and worth the detour.</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9C3D6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GOODFELLOW ET AL., FIGURE 1</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0E131B"/>
                </a:solidFill>
                <a:latin typeface="Cambria" pitchFamily="34" charset="0"/>
                <a:ea typeface="Cambria" pitchFamily="34" charset="-122"/>
                <a:cs typeface="Cambria" pitchFamily="34" charset="-120"/>
              </a:rPr>
              <a:t>What convergence is supposed to look like</a:t>
            </a:r>
            <a:endParaRPr lang="en-US" sz="2900" dirty="0"/>
          </a:p>
        </p:txBody>
      </p:sp>
      <p:sp>
        <p:nvSpPr>
          <p:cNvPr id="5" name="Shape 3"/>
          <p:cNvSpPr/>
          <p:nvPr/>
        </p:nvSpPr>
        <p:spPr>
          <a:xfrm>
            <a:off x="640080" y="1325880"/>
            <a:ext cx="2556434" cy="2880360"/>
          </a:xfrm>
          <a:prstGeom prst="roundRect">
            <a:avLst>
              <a:gd name="adj" fmla="val 2861"/>
            </a:avLst>
          </a:prstGeom>
          <a:solidFill>
            <a:srgbClr val="F3F5F8"/>
          </a:solidFill>
          <a:ln w="12700">
            <a:solidFill>
              <a:srgbClr val="F3F5F8"/>
            </a:solidFill>
            <a:prstDash val="solid"/>
          </a:ln>
        </p:spPr>
        <p:txBody>
          <a:bodyPr/>
          <a:lstStyle/>
          <a:p>
            <a:endParaRPr lang="en-US"/>
          </a:p>
        </p:txBody>
      </p:sp>
      <p:sp>
        <p:nvSpPr>
          <p:cNvPr id="6" name="Text 4"/>
          <p:cNvSpPr txBox="1"/>
          <p:nvPr/>
        </p:nvSpPr>
        <p:spPr>
          <a:xfrm>
            <a:off x="640080" y="1463040"/>
            <a:ext cx="2556434" cy="310896"/>
          </a:xfrm>
          <a:prstGeom prst="rect">
            <a:avLst/>
          </a:prstGeom>
          <a:noFill/>
          <a:ln/>
        </p:spPr>
        <p:txBody>
          <a:bodyPr wrap="square" lIns="0" tIns="0" rIns="0" bIns="0" rtlCol="0" anchor="ctr"/>
          <a:lstStyle/>
          <a:p>
            <a:pPr marL="0" indent="0" algn="ctr">
              <a:buNone/>
            </a:pPr>
            <a:r>
              <a:rPr lang="en-US" sz="1400" b="1" dirty="0">
                <a:solidFill>
                  <a:srgbClr val="0E131B"/>
                </a:solidFill>
                <a:latin typeface="Cambria Math" pitchFamily="34" charset="0"/>
                <a:ea typeface="Cambria Math" pitchFamily="34" charset="-122"/>
                <a:cs typeface="Cambria Math" pitchFamily="34" charset="-120"/>
              </a:rPr>
              <a:t>(a) start</a:t>
            </a:r>
            <a:endParaRPr lang="en-US" sz="1400" dirty="0"/>
          </a:p>
        </p:txBody>
      </p:sp>
      <p:sp>
        <p:nvSpPr>
          <p:cNvPr id="7" name="Shape 5"/>
          <p:cNvSpPr/>
          <p:nvPr/>
        </p:nvSpPr>
        <p:spPr>
          <a:xfrm>
            <a:off x="822960" y="3291840"/>
            <a:ext cx="2190674" cy="16459"/>
          </a:xfrm>
          <a:prstGeom prst="rect">
            <a:avLst/>
          </a:prstGeom>
          <a:solidFill>
            <a:srgbClr val="B6BECB"/>
          </a:solidFill>
          <a:ln/>
        </p:spPr>
        <p:txBody>
          <a:bodyPr/>
          <a:lstStyle/>
          <a:p>
            <a:endParaRPr lang="en-US"/>
          </a:p>
        </p:txBody>
      </p:sp>
      <p:sp>
        <p:nvSpPr>
          <p:cNvPr id="8" name="Shape 6"/>
          <p:cNvSpPr/>
          <p:nvPr/>
        </p:nvSpPr>
        <p:spPr>
          <a:xfrm>
            <a:off x="897026" y="3274466"/>
            <a:ext cx="34747" cy="34747"/>
          </a:xfrm>
          <a:prstGeom prst="ellipse">
            <a:avLst/>
          </a:prstGeom>
          <a:solidFill>
            <a:srgbClr val="444B57"/>
          </a:solidFill>
          <a:ln/>
        </p:spPr>
        <p:txBody>
          <a:bodyPr/>
          <a:lstStyle/>
          <a:p>
            <a:endParaRPr lang="en-US"/>
          </a:p>
        </p:txBody>
      </p:sp>
      <p:sp>
        <p:nvSpPr>
          <p:cNvPr id="9" name="Shape 7"/>
          <p:cNvSpPr/>
          <p:nvPr/>
        </p:nvSpPr>
        <p:spPr>
          <a:xfrm>
            <a:off x="930490" y="3274466"/>
            <a:ext cx="34747" cy="34747"/>
          </a:xfrm>
          <a:prstGeom prst="ellipse">
            <a:avLst/>
          </a:prstGeom>
          <a:solidFill>
            <a:srgbClr val="444B57"/>
          </a:solidFill>
          <a:ln/>
        </p:spPr>
        <p:txBody>
          <a:bodyPr/>
          <a:lstStyle/>
          <a:p>
            <a:endParaRPr lang="en-US"/>
          </a:p>
        </p:txBody>
      </p:sp>
      <p:sp>
        <p:nvSpPr>
          <p:cNvPr id="10" name="Shape 8"/>
          <p:cNvSpPr/>
          <p:nvPr/>
        </p:nvSpPr>
        <p:spPr>
          <a:xfrm>
            <a:off x="963953" y="3274466"/>
            <a:ext cx="34747" cy="34747"/>
          </a:xfrm>
          <a:prstGeom prst="ellipse">
            <a:avLst/>
          </a:prstGeom>
          <a:solidFill>
            <a:srgbClr val="444B57"/>
          </a:solidFill>
          <a:ln/>
        </p:spPr>
        <p:txBody>
          <a:bodyPr/>
          <a:lstStyle/>
          <a:p>
            <a:endParaRPr lang="en-US"/>
          </a:p>
        </p:txBody>
      </p:sp>
      <p:sp>
        <p:nvSpPr>
          <p:cNvPr id="11" name="Shape 9"/>
          <p:cNvSpPr/>
          <p:nvPr/>
        </p:nvSpPr>
        <p:spPr>
          <a:xfrm>
            <a:off x="997416" y="3274464"/>
            <a:ext cx="34747" cy="34747"/>
          </a:xfrm>
          <a:prstGeom prst="ellipse">
            <a:avLst/>
          </a:prstGeom>
          <a:solidFill>
            <a:srgbClr val="444B57"/>
          </a:solidFill>
          <a:ln/>
        </p:spPr>
        <p:txBody>
          <a:bodyPr/>
          <a:lstStyle/>
          <a:p>
            <a:endParaRPr lang="en-US"/>
          </a:p>
        </p:txBody>
      </p:sp>
      <p:sp>
        <p:nvSpPr>
          <p:cNvPr id="12" name="Shape 10"/>
          <p:cNvSpPr/>
          <p:nvPr/>
        </p:nvSpPr>
        <p:spPr>
          <a:xfrm>
            <a:off x="1030879" y="3274462"/>
            <a:ext cx="34747" cy="34747"/>
          </a:xfrm>
          <a:prstGeom prst="ellipse">
            <a:avLst/>
          </a:prstGeom>
          <a:solidFill>
            <a:srgbClr val="444B57"/>
          </a:solidFill>
          <a:ln/>
        </p:spPr>
        <p:txBody>
          <a:bodyPr/>
          <a:lstStyle/>
          <a:p>
            <a:endParaRPr lang="en-US"/>
          </a:p>
        </p:txBody>
      </p:sp>
      <p:sp>
        <p:nvSpPr>
          <p:cNvPr id="13" name="Shape 11"/>
          <p:cNvSpPr/>
          <p:nvPr/>
        </p:nvSpPr>
        <p:spPr>
          <a:xfrm>
            <a:off x="1064343" y="3274458"/>
            <a:ext cx="34747" cy="34747"/>
          </a:xfrm>
          <a:prstGeom prst="ellipse">
            <a:avLst/>
          </a:prstGeom>
          <a:solidFill>
            <a:srgbClr val="444B57"/>
          </a:solidFill>
          <a:ln/>
        </p:spPr>
        <p:txBody>
          <a:bodyPr/>
          <a:lstStyle/>
          <a:p>
            <a:endParaRPr lang="en-US"/>
          </a:p>
        </p:txBody>
      </p:sp>
      <p:sp>
        <p:nvSpPr>
          <p:cNvPr id="14" name="Shape 12"/>
          <p:cNvSpPr/>
          <p:nvPr/>
        </p:nvSpPr>
        <p:spPr>
          <a:xfrm>
            <a:off x="1097806" y="3274448"/>
            <a:ext cx="34747" cy="34747"/>
          </a:xfrm>
          <a:prstGeom prst="ellipse">
            <a:avLst/>
          </a:prstGeom>
          <a:solidFill>
            <a:srgbClr val="444B57"/>
          </a:solidFill>
          <a:ln/>
        </p:spPr>
        <p:txBody>
          <a:bodyPr/>
          <a:lstStyle/>
          <a:p>
            <a:endParaRPr lang="en-US"/>
          </a:p>
        </p:txBody>
      </p:sp>
      <p:sp>
        <p:nvSpPr>
          <p:cNvPr id="15" name="Shape 13"/>
          <p:cNvSpPr/>
          <p:nvPr/>
        </p:nvSpPr>
        <p:spPr>
          <a:xfrm>
            <a:off x="1131269" y="3274429"/>
            <a:ext cx="34747" cy="34747"/>
          </a:xfrm>
          <a:prstGeom prst="ellipse">
            <a:avLst/>
          </a:prstGeom>
          <a:solidFill>
            <a:srgbClr val="444B57"/>
          </a:solidFill>
          <a:ln/>
        </p:spPr>
        <p:txBody>
          <a:bodyPr/>
          <a:lstStyle/>
          <a:p>
            <a:endParaRPr lang="en-US"/>
          </a:p>
        </p:txBody>
      </p:sp>
      <p:sp>
        <p:nvSpPr>
          <p:cNvPr id="16" name="Shape 14"/>
          <p:cNvSpPr/>
          <p:nvPr/>
        </p:nvSpPr>
        <p:spPr>
          <a:xfrm>
            <a:off x="1164732" y="3274393"/>
            <a:ext cx="34747" cy="34747"/>
          </a:xfrm>
          <a:prstGeom prst="ellipse">
            <a:avLst/>
          </a:prstGeom>
          <a:solidFill>
            <a:srgbClr val="444B57"/>
          </a:solidFill>
          <a:ln/>
        </p:spPr>
        <p:txBody>
          <a:bodyPr/>
          <a:lstStyle/>
          <a:p>
            <a:endParaRPr lang="en-US"/>
          </a:p>
        </p:txBody>
      </p:sp>
      <p:sp>
        <p:nvSpPr>
          <p:cNvPr id="17" name="Shape 15"/>
          <p:cNvSpPr/>
          <p:nvPr/>
        </p:nvSpPr>
        <p:spPr>
          <a:xfrm>
            <a:off x="1198195" y="3274325"/>
            <a:ext cx="34747" cy="34747"/>
          </a:xfrm>
          <a:prstGeom prst="ellipse">
            <a:avLst/>
          </a:prstGeom>
          <a:solidFill>
            <a:srgbClr val="444B57"/>
          </a:solidFill>
          <a:ln/>
        </p:spPr>
        <p:txBody>
          <a:bodyPr/>
          <a:lstStyle/>
          <a:p>
            <a:endParaRPr lang="en-US"/>
          </a:p>
        </p:txBody>
      </p:sp>
      <p:sp>
        <p:nvSpPr>
          <p:cNvPr id="18" name="Shape 16"/>
          <p:cNvSpPr/>
          <p:nvPr/>
        </p:nvSpPr>
        <p:spPr>
          <a:xfrm>
            <a:off x="1231659" y="3274199"/>
            <a:ext cx="34747" cy="34747"/>
          </a:xfrm>
          <a:prstGeom prst="ellipse">
            <a:avLst/>
          </a:prstGeom>
          <a:solidFill>
            <a:srgbClr val="444B57"/>
          </a:solidFill>
          <a:ln/>
        </p:spPr>
        <p:txBody>
          <a:bodyPr/>
          <a:lstStyle/>
          <a:p>
            <a:endParaRPr lang="en-US"/>
          </a:p>
        </p:txBody>
      </p:sp>
      <p:sp>
        <p:nvSpPr>
          <p:cNvPr id="19" name="Shape 17"/>
          <p:cNvSpPr/>
          <p:nvPr/>
        </p:nvSpPr>
        <p:spPr>
          <a:xfrm>
            <a:off x="1265122" y="3273973"/>
            <a:ext cx="34747" cy="34747"/>
          </a:xfrm>
          <a:prstGeom prst="ellipse">
            <a:avLst/>
          </a:prstGeom>
          <a:solidFill>
            <a:srgbClr val="444B57"/>
          </a:solidFill>
          <a:ln/>
        </p:spPr>
        <p:txBody>
          <a:bodyPr/>
          <a:lstStyle/>
          <a:p>
            <a:endParaRPr lang="en-US"/>
          </a:p>
        </p:txBody>
      </p:sp>
      <p:sp>
        <p:nvSpPr>
          <p:cNvPr id="20" name="Shape 18"/>
          <p:cNvSpPr/>
          <p:nvPr/>
        </p:nvSpPr>
        <p:spPr>
          <a:xfrm>
            <a:off x="1298585" y="3273577"/>
            <a:ext cx="34747" cy="34747"/>
          </a:xfrm>
          <a:prstGeom prst="ellipse">
            <a:avLst/>
          </a:prstGeom>
          <a:solidFill>
            <a:srgbClr val="444B57"/>
          </a:solidFill>
          <a:ln/>
        </p:spPr>
        <p:txBody>
          <a:bodyPr/>
          <a:lstStyle/>
          <a:p>
            <a:endParaRPr lang="en-US"/>
          </a:p>
        </p:txBody>
      </p:sp>
      <p:sp>
        <p:nvSpPr>
          <p:cNvPr id="21" name="Shape 19"/>
          <p:cNvSpPr/>
          <p:nvPr/>
        </p:nvSpPr>
        <p:spPr>
          <a:xfrm>
            <a:off x="1332048" y="3272898"/>
            <a:ext cx="34747" cy="34747"/>
          </a:xfrm>
          <a:prstGeom prst="ellipse">
            <a:avLst/>
          </a:prstGeom>
          <a:solidFill>
            <a:srgbClr val="444B57"/>
          </a:solidFill>
          <a:ln/>
        </p:spPr>
        <p:txBody>
          <a:bodyPr/>
          <a:lstStyle/>
          <a:p>
            <a:endParaRPr lang="en-US"/>
          </a:p>
        </p:txBody>
      </p:sp>
      <p:sp>
        <p:nvSpPr>
          <p:cNvPr id="22" name="Shape 20"/>
          <p:cNvSpPr/>
          <p:nvPr/>
        </p:nvSpPr>
        <p:spPr>
          <a:xfrm>
            <a:off x="1365512" y="3271764"/>
            <a:ext cx="34747" cy="34747"/>
          </a:xfrm>
          <a:prstGeom prst="ellipse">
            <a:avLst/>
          </a:prstGeom>
          <a:solidFill>
            <a:srgbClr val="444B57"/>
          </a:solidFill>
          <a:ln/>
        </p:spPr>
        <p:txBody>
          <a:bodyPr/>
          <a:lstStyle/>
          <a:p>
            <a:endParaRPr lang="en-US"/>
          </a:p>
        </p:txBody>
      </p:sp>
      <p:sp>
        <p:nvSpPr>
          <p:cNvPr id="23" name="Shape 21"/>
          <p:cNvSpPr/>
          <p:nvPr/>
        </p:nvSpPr>
        <p:spPr>
          <a:xfrm>
            <a:off x="1398975" y="3269915"/>
            <a:ext cx="34747" cy="34747"/>
          </a:xfrm>
          <a:prstGeom prst="ellipse">
            <a:avLst/>
          </a:prstGeom>
          <a:solidFill>
            <a:srgbClr val="444B57"/>
          </a:solidFill>
          <a:ln/>
        </p:spPr>
        <p:txBody>
          <a:bodyPr/>
          <a:lstStyle/>
          <a:p>
            <a:endParaRPr lang="en-US"/>
          </a:p>
        </p:txBody>
      </p:sp>
      <p:sp>
        <p:nvSpPr>
          <p:cNvPr id="24" name="Shape 22"/>
          <p:cNvSpPr/>
          <p:nvPr/>
        </p:nvSpPr>
        <p:spPr>
          <a:xfrm>
            <a:off x="1432438" y="3266976"/>
            <a:ext cx="34747" cy="34747"/>
          </a:xfrm>
          <a:prstGeom prst="ellipse">
            <a:avLst/>
          </a:prstGeom>
          <a:solidFill>
            <a:srgbClr val="444B57"/>
          </a:solidFill>
          <a:ln/>
        </p:spPr>
        <p:txBody>
          <a:bodyPr/>
          <a:lstStyle/>
          <a:p>
            <a:endParaRPr lang="en-US"/>
          </a:p>
        </p:txBody>
      </p:sp>
      <p:sp>
        <p:nvSpPr>
          <p:cNvPr id="25" name="Shape 23"/>
          <p:cNvSpPr/>
          <p:nvPr/>
        </p:nvSpPr>
        <p:spPr>
          <a:xfrm>
            <a:off x="1465901" y="3262420"/>
            <a:ext cx="34747" cy="34747"/>
          </a:xfrm>
          <a:prstGeom prst="ellipse">
            <a:avLst/>
          </a:prstGeom>
          <a:solidFill>
            <a:srgbClr val="444B57"/>
          </a:solidFill>
          <a:ln/>
        </p:spPr>
        <p:txBody>
          <a:bodyPr/>
          <a:lstStyle/>
          <a:p>
            <a:endParaRPr lang="en-US"/>
          </a:p>
        </p:txBody>
      </p:sp>
      <p:sp>
        <p:nvSpPr>
          <p:cNvPr id="26" name="Shape 24"/>
          <p:cNvSpPr/>
          <p:nvPr/>
        </p:nvSpPr>
        <p:spPr>
          <a:xfrm>
            <a:off x="1499365" y="3255531"/>
            <a:ext cx="34747" cy="34747"/>
          </a:xfrm>
          <a:prstGeom prst="ellipse">
            <a:avLst/>
          </a:prstGeom>
          <a:solidFill>
            <a:srgbClr val="444B57"/>
          </a:solidFill>
          <a:ln/>
        </p:spPr>
        <p:txBody>
          <a:bodyPr/>
          <a:lstStyle/>
          <a:p>
            <a:endParaRPr lang="en-US"/>
          </a:p>
        </p:txBody>
      </p:sp>
      <p:sp>
        <p:nvSpPr>
          <p:cNvPr id="27" name="Shape 25"/>
          <p:cNvSpPr/>
          <p:nvPr/>
        </p:nvSpPr>
        <p:spPr>
          <a:xfrm>
            <a:off x="1532828" y="3245378"/>
            <a:ext cx="34747" cy="34747"/>
          </a:xfrm>
          <a:prstGeom prst="ellipse">
            <a:avLst/>
          </a:prstGeom>
          <a:solidFill>
            <a:srgbClr val="444B57"/>
          </a:solidFill>
          <a:ln/>
        </p:spPr>
        <p:txBody>
          <a:bodyPr/>
          <a:lstStyle/>
          <a:p>
            <a:endParaRPr lang="en-US"/>
          </a:p>
        </p:txBody>
      </p:sp>
      <p:sp>
        <p:nvSpPr>
          <p:cNvPr id="28" name="Shape 26"/>
          <p:cNvSpPr/>
          <p:nvPr/>
        </p:nvSpPr>
        <p:spPr>
          <a:xfrm>
            <a:off x="1566291" y="3230796"/>
            <a:ext cx="34747" cy="34747"/>
          </a:xfrm>
          <a:prstGeom prst="ellipse">
            <a:avLst/>
          </a:prstGeom>
          <a:solidFill>
            <a:srgbClr val="444B57"/>
          </a:solidFill>
          <a:ln/>
        </p:spPr>
        <p:txBody>
          <a:bodyPr/>
          <a:lstStyle/>
          <a:p>
            <a:endParaRPr lang="en-US"/>
          </a:p>
        </p:txBody>
      </p:sp>
      <p:sp>
        <p:nvSpPr>
          <p:cNvPr id="29" name="Shape 27"/>
          <p:cNvSpPr/>
          <p:nvPr/>
        </p:nvSpPr>
        <p:spPr>
          <a:xfrm>
            <a:off x="1599754" y="3210392"/>
            <a:ext cx="34747" cy="34747"/>
          </a:xfrm>
          <a:prstGeom prst="ellipse">
            <a:avLst/>
          </a:prstGeom>
          <a:solidFill>
            <a:srgbClr val="444B57"/>
          </a:solidFill>
          <a:ln/>
        </p:spPr>
        <p:txBody>
          <a:bodyPr/>
          <a:lstStyle/>
          <a:p>
            <a:endParaRPr lang="en-US"/>
          </a:p>
        </p:txBody>
      </p:sp>
      <p:sp>
        <p:nvSpPr>
          <p:cNvPr id="30" name="Shape 28"/>
          <p:cNvSpPr/>
          <p:nvPr/>
        </p:nvSpPr>
        <p:spPr>
          <a:xfrm>
            <a:off x="1633217" y="3182588"/>
            <a:ext cx="34747" cy="34747"/>
          </a:xfrm>
          <a:prstGeom prst="ellipse">
            <a:avLst/>
          </a:prstGeom>
          <a:solidFill>
            <a:srgbClr val="444B57"/>
          </a:solidFill>
          <a:ln/>
        </p:spPr>
        <p:txBody>
          <a:bodyPr/>
          <a:lstStyle/>
          <a:p>
            <a:endParaRPr lang="en-US"/>
          </a:p>
        </p:txBody>
      </p:sp>
      <p:sp>
        <p:nvSpPr>
          <p:cNvPr id="31" name="Shape 29"/>
          <p:cNvSpPr/>
          <p:nvPr/>
        </p:nvSpPr>
        <p:spPr>
          <a:xfrm>
            <a:off x="1666681" y="3145709"/>
            <a:ext cx="34747" cy="34747"/>
          </a:xfrm>
          <a:prstGeom prst="ellipse">
            <a:avLst/>
          </a:prstGeom>
          <a:solidFill>
            <a:srgbClr val="444B57"/>
          </a:solidFill>
          <a:ln/>
        </p:spPr>
        <p:txBody>
          <a:bodyPr/>
          <a:lstStyle/>
          <a:p>
            <a:endParaRPr lang="en-US"/>
          </a:p>
        </p:txBody>
      </p:sp>
      <p:sp>
        <p:nvSpPr>
          <p:cNvPr id="32" name="Shape 30"/>
          <p:cNvSpPr/>
          <p:nvPr/>
        </p:nvSpPr>
        <p:spPr>
          <a:xfrm>
            <a:off x="1700144" y="3098122"/>
            <a:ext cx="34747" cy="34747"/>
          </a:xfrm>
          <a:prstGeom prst="ellipse">
            <a:avLst/>
          </a:prstGeom>
          <a:solidFill>
            <a:srgbClr val="444B57"/>
          </a:solidFill>
          <a:ln/>
        </p:spPr>
        <p:txBody>
          <a:bodyPr/>
          <a:lstStyle/>
          <a:p>
            <a:endParaRPr lang="en-US"/>
          </a:p>
        </p:txBody>
      </p:sp>
      <p:sp>
        <p:nvSpPr>
          <p:cNvPr id="33" name="Shape 31"/>
          <p:cNvSpPr/>
          <p:nvPr/>
        </p:nvSpPr>
        <p:spPr>
          <a:xfrm>
            <a:off x="1733607" y="3038429"/>
            <a:ext cx="34747" cy="34747"/>
          </a:xfrm>
          <a:prstGeom prst="ellipse">
            <a:avLst/>
          </a:prstGeom>
          <a:solidFill>
            <a:srgbClr val="444B57"/>
          </a:solidFill>
          <a:ln/>
        </p:spPr>
        <p:txBody>
          <a:bodyPr/>
          <a:lstStyle/>
          <a:p>
            <a:endParaRPr lang="en-US"/>
          </a:p>
        </p:txBody>
      </p:sp>
      <p:sp>
        <p:nvSpPr>
          <p:cNvPr id="34" name="Shape 32"/>
          <p:cNvSpPr/>
          <p:nvPr/>
        </p:nvSpPr>
        <p:spPr>
          <a:xfrm>
            <a:off x="1767070" y="2965699"/>
            <a:ext cx="34747" cy="34747"/>
          </a:xfrm>
          <a:prstGeom prst="ellipse">
            <a:avLst/>
          </a:prstGeom>
          <a:solidFill>
            <a:srgbClr val="444B57"/>
          </a:solidFill>
          <a:ln/>
        </p:spPr>
        <p:txBody>
          <a:bodyPr/>
          <a:lstStyle/>
          <a:p>
            <a:endParaRPr lang="en-US"/>
          </a:p>
        </p:txBody>
      </p:sp>
      <p:sp>
        <p:nvSpPr>
          <p:cNvPr id="35" name="Shape 33"/>
          <p:cNvSpPr/>
          <p:nvPr/>
        </p:nvSpPr>
        <p:spPr>
          <a:xfrm>
            <a:off x="1800534" y="2879727"/>
            <a:ext cx="34747" cy="34747"/>
          </a:xfrm>
          <a:prstGeom prst="ellipse">
            <a:avLst/>
          </a:prstGeom>
          <a:solidFill>
            <a:srgbClr val="444B57"/>
          </a:solidFill>
          <a:ln/>
        </p:spPr>
        <p:txBody>
          <a:bodyPr/>
          <a:lstStyle/>
          <a:p>
            <a:endParaRPr lang="en-US"/>
          </a:p>
        </p:txBody>
      </p:sp>
      <p:sp>
        <p:nvSpPr>
          <p:cNvPr id="36" name="Shape 34"/>
          <p:cNvSpPr/>
          <p:nvPr/>
        </p:nvSpPr>
        <p:spPr>
          <a:xfrm>
            <a:off x="1833997" y="2781271"/>
            <a:ext cx="34747" cy="34747"/>
          </a:xfrm>
          <a:prstGeom prst="ellipse">
            <a:avLst/>
          </a:prstGeom>
          <a:solidFill>
            <a:srgbClr val="444B57"/>
          </a:solidFill>
          <a:ln/>
        </p:spPr>
        <p:txBody>
          <a:bodyPr/>
          <a:lstStyle/>
          <a:p>
            <a:endParaRPr lang="en-US"/>
          </a:p>
        </p:txBody>
      </p:sp>
      <p:sp>
        <p:nvSpPr>
          <p:cNvPr id="37" name="Shape 35"/>
          <p:cNvSpPr/>
          <p:nvPr/>
        </p:nvSpPr>
        <p:spPr>
          <a:xfrm>
            <a:off x="1867460" y="2672242"/>
            <a:ext cx="34747" cy="34747"/>
          </a:xfrm>
          <a:prstGeom prst="ellipse">
            <a:avLst/>
          </a:prstGeom>
          <a:solidFill>
            <a:srgbClr val="444B57"/>
          </a:solidFill>
          <a:ln/>
        </p:spPr>
        <p:txBody>
          <a:bodyPr/>
          <a:lstStyle/>
          <a:p>
            <a:endParaRPr lang="en-US"/>
          </a:p>
        </p:txBody>
      </p:sp>
      <p:sp>
        <p:nvSpPr>
          <p:cNvPr id="38" name="Shape 36"/>
          <p:cNvSpPr/>
          <p:nvPr/>
        </p:nvSpPr>
        <p:spPr>
          <a:xfrm>
            <a:off x="1900923" y="2555799"/>
            <a:ext cx="34747" cy="34747"/>
          </a:xfrm>
          <a:prstGeom prst="ellipse">
            <a:avLst/>
          </a:prstGeom>
          <a:solidFill>
            <a:srgbClr val="444B57"/>
          </a:solidFill>
          <a:ln/>
        </p:spPr>
        <p:txBody>
          <a:bodyPr/>
          <a:lstStyle/>
          <a:p>
            <a:endParaRPr lang="en-US"/>
          </a:p>
        </p:txBody>
      </p:sp>
      <p:sp>
        <p:nvSpPr>
          <p:cNvPr id="39" name="Shape 37"/>
          <p:cNvSpPr/>
          <p:nvPr/>
        </p:nvSpPr>
        <p:spPr>
          <a:xfrm>
            <a:off x="1934387" y="2436306"/>
            <a:ext cx="34747" cy="34747"/>
          </a:xfrm>
          <a:prstGeom prst="ellipse">
            <a:avLst/>
          </a:prstGeom>
          <a:solidFill>
            <a:srgbClr val="444B57"/>
          </a:solidFill>
          <a:ln/>
        </p:spPr>
        <p:txBody>
          <a:bodyPr/>
          <a:lstStyle/>
          <a:p>
            <a:endParaRPr lang="en-US"/>
          </a:p>
        </p:txBody>
      </p:sp>
      <p:sp>
        <p:nvSpPr>
          <p:cNvPr id="40" name="Shape 38"/>
          <p:cNvSpPr/>
          <p:nvPr/>
        </p:nvSpPr>
        <p:spPr>
          <a:xfrm>
            <a:off x="1967850" y="2319130"/>
            <a:ext cx="34747" cy="34747"/>
          </a:xfrm>
          <a:prstGeom prst="ellipse">
            <a:avLst/>
          </a:prstGeom>
          <a:solidFill>
            <a:srgbClr val="444B57"/>
          </a:solidFill>
          <a:ln/>
        </p:spPr>
        <p:txBody>
          <a:bodyPr/>
          <a:lstStyle/>
          <a:p>
            <a:endParaRPr lang="en-US"/>
          </a:p>
        </p:txBody>
      </p:sp>
      <p:sp>
        <p:nvSpPr>
          <p:cNvPr id="41" name="Shape 39"/>
          <p:cNvSpPr/>
          <p:nvPr/>
        </p:nvSpPr>
        <p:spPr>
          <a:xfrm>
            <a:off x="2001313" y="2210286"/>
            <a:ext cx="34747" cy="34747"/>
          </a:xfrm>
          <a:prstGeom prst="ellipse">
            <a:avLst/>
          </a:prstGeom>
          <a:solidFill>
            <a:srgbClr val="444B57"/>
          </a:solidFill>
          <a:ln/>
        </p:spPr>
        <p:txBody>
          <a:bodyPr/>
          <a:lstStyle/>
          <a:p>
            <a:endParaRPr lang="en-US"/>
          </a:p>
        </p:txBody>
      </p:sp>
      <p:sp>
        <p:nvSpPr>
          <p:cNvPr id="42" name="Shape 40"/>
          <p:cNvSpPr/>
          <p:nvPr/>
        </p:nvSpPr>
        <p:spPr>
          <a:xfrm>
            <a:off x="2034776" y="2115944"/>
            <a:ext cx="34747" cy="34747"/>
          </a:xfrm>
          <a:prstGeom prst="ellipse">
            <a:avLst/>
          </a:prstGeom>
          <a:solidFill>
            <a:srgbClr val="444B57"/>
          </a:solidFill>
          <a:ln/>
        </p:spPr>
        <p:txBody>
          <a:bodyPr/>
          <a:lstStyle/>
          <a:p>
            <a:endParaRPr lang="en-US"/>
          </a:p>
        </p:txBody>
      </p:sp>
      <p:sp>
        <p:nvSpPr>
          <p:cNvPr id="43" name="Shape 41"/>
          <p:cNvSpPr/>
          <p:nvPr/>
        </p:nvSpPr>
        <p:spPr>
          <a:xfrm>
            <a:off x="2068239" y="2041862"/>
            <a:ext cx="34747" cy="34747"/>
          </a:xfrm>
          <a:prstGeom prst="ellipse">
            <a:avLst/>
          </a:prstGeom>
          <a:solidFill>
            <a:srgbClr val="444B57"/>
          </a:solidFill>
          <a:ln/>
        </p:spPr>
        <p:txBody>
          <a:bodyPr/>
          <a:lstStyle/>
          <a:p>
            <a:endParaRPr lang="en-US"/>
          </a:p>
        </p:txBody>
      </p:sp>
      <p:sp>
        <p:nvSpPr>
          <p:cNvPr id="44" name="Shape 42"/>
          <p:cNvSpPr/>
          <p:nvPr/>
        </p:nvSpPr>
        <p:spPr>
          <a:xfrm>
            <a:off x="2101703" y="1992807"/>
            <a:ext cx="34747" cy="34747"/>
          </a:xfrm>
          <a:prstGeom prst="ellipse">
            <a:avLst/>
          </a:prstGeom>
          <a:solidFill>
            <a:srgbClr val="444B57"/>
          </a:solidFill>
          <a:ln/>
        </p:spPr>
        <p:txBody>
          <a:bodyPr/>
          <a:lstStyle/>
          <a:p>
            <a:endParaRPr lang="en-US"/>
          </a:p>
        </p:txBody>
      </p:sp>
      <p:sp>
        <p:nvSpPr>
          <p:cNvPr id="45" name="Shape 43"/>
          <p:cNvSpPr/>
          <p:nvPr/>
        </p:nvSpPr>
        <p:spPr>
          <a:xfrm>
            <a:off x="2135166" y="1972045"/>
            <a:ext cx="34747" cy="34747"/>
          </a:xfrm>
          <a:prstGeom prst="ellipse">
            <a:avLst/>
          </a:prstGeom>
          <a:solidFill>
            <a:srgbClr val="444B57"/>
          </a:solidFill>
          <a:ln/>
        </p:spPr>
        <p:txBody>
          <a:bodyPr/>
          <a:lstStyle/>
          <a:p>
            <a:endParaRPr lang="en-US"/>
          </a:p>
        </p:txBody>
      </p:sp>
      <p:sp>
        <p:nvSpPr>
          <p:cNvPr id="46" name="Shape 44"/>
          <p:cNvSpPr/>
          <p:nvPr/>
        </p:nvSpPr>
        <p:spPr>
          <a:xfrm>
            <a:off x="2168629" y="1980984"/>
            <a:ext cx="34747" cy="34747"/>
          </a:xfrm>
          <a:prstGeom prst="ellipse">
            <a:avLst/>
          </a:prstGeom>
          <a:solidFill>
            <a:srgbClr val="444B57"/>
          </a:solidFill>
          <a:ln/>
        </p:spPr>
        <p:txBody>
          <a:bodyPr/>
          <a:lstStyle/>
          <a:p>
            <a:endParaRPr lang="en-US"/>
          </a:p>
        </p:txBody>
      </p:sp>
      <p:sp>
        <p:nvSpPr>
          <p:cNvPr id="47" name="Shape 45"/>
          <p:cNvSpPr/>
          <p:nvPr/>
        </p:nvSpPr>
        <p:spPr>
          <a:xfrm>
            <a:off x="2202092" y="2019016"/>
            <a:ext cx="34747" cy="34747"/>
          </a:xfrm>
          <a:prstGeom prst="ellipse">
            <a:avLst/>
          </a:prstGeom>
          <a:solidFill>
            <a:srgbClr val="444B57"/>
          </a:solidFill>
          <a:ln/>
        </p:spPr>
        <p:txBody>
          <a:bodyPr/>
          <a:lstStyle/>
          <a:p>
            <a:endParaRPr lang="en-US"/>
          </a:p>
        </p:txBody>
      </p:sp>
      <p:sp>
        <p:nvSpPr>
          <p:cNvPr id="48" name="Shape 46"/>
          <p:cNvSpPr/>
          <p:nvPr/>
        </p:nvSpPr>
        <p:spPr>
          <a:xfrm>
            <a:off x="2235556" y="2083585"/>
            <a:ext cx="34747" cy="34747"/>
          </a:xfrm>
          <a:prstGeom prst="ellipse">
            <a:avLst/>
          </a:prstGeom>
          <a:solidFill>
            <a:srgbClr val="444B57"/>
          </a:solidFill>
          <a:ln/>
        </p:spPr>
        <p:txBody>
          <a:bodyPr/>
          <a:lstStyle/>
          <a:p>
            <a:endParaRPr lang="en-US"/>
          </a:p>
        </p:txBody>
      </p:sp>
      <p:sp>
        <p:nvSpPr>
          <p:cNvPr id="49" name="Shape 47"/>
          <p:cNvSpPr/>
          <p:nvPr/>
        </p:nvSpPr>
        <p:spPr>
          <a:xfrm>
            <a:off x="2269019" y="2170470"/>
            <a:ext cx="34747" cy="34747"/>
          </a:xfrm>
          <a:prstGeom prst="ellipse">
            <a:avLst/>
          </a:prstGeom>
          <a:solidFill>
            <a:srgbClr val="444B57"/>
          </a:solidFill>
          <a:ln/>
        </p:spPr>
        <p:txBody>
          <a:bodyPr/>
          <a:lstStyle/>
          <a:p>
            <a:endParaRPr lang="en-US"/>
          </a:p>
        </p:txBody>
      </p:sp>
      <p:sp>
        <p:nvSpPr>
          <p:cNvPr id="50" name="Shape 48"/>
          <p:cNvSpPr/>
          <p:nvPr/>
        </p:nvSpPr>
        <p:spPr>
          <a:xfrm>
            <a:off x="2302482" y="2274245"/>
            <a:ext cx="34747" cy="34747"/>
          </a:xfrm>
          <a:prstGeom prst="ellipse">
            <a:avLst/>
          </a:prstGeom>
          <a:solidFill>
            <a:srgbClr val="444B57"/>
          </a:solidFill>
          <a:ln/>
        </p:spPr>
        <p:txBody>
          <a:bodyPr/>
          <a:lstStyle/>
          <a:p>
            <a:endParaRPr lang="en-US"/>
          </a:p>
        </p:txBody>
      </p:sp>
      <p:sp>
        <p:nvSpPr>
          <p:cNvPr id="51" name="Shape 49"/>
          <p:cNvSpPr/>
          <p:nvPr/>
        </p:nvSpPr>
        <p:spPr>
          <a:xfrm>
            <a:off x="2335945" y="2388831"/>
            <a:ext cx="34747" cy="34747"/>
          </a:xfrm>
          <a:prstGeom prst="ellipse">
            <a:avLst/>
          </a:prstGeom>
          <a:solidFill>
            <a:srgbClr val="444B57"/>
          </a:solidFill>
          <a:ln/>
        </p:spPr>
        <p:txBody>
          <a:bodyPr/>
          <a:lstStyle/>
          <a:p>
            <a:endParaRPr lang="en-US"/>
          </a:p>
        </p:txBody>
      </p:sp>
      <p:sp>
        <p:nvSpPr>
          <p:cNvPr id="52" name="Shape 50"/>
          <p:cNvSpPr/>
          <p:nvPr/>
        </p:nvSpPr>
        <p:spPr>
          <a:xfrm>
            <a:off x="2369409" y="2508087"/>
            <a:ext cx="34747" cy="34747"/>
          </a:xfrm>
          <a:prstGeom prst="ellipse">
            <a:avLst/>
          </a:prstGeom>
          <a:solidFill>
            <a:srgbClr val="444B57"/>
          </a:solidFill>
          <a:ln/>
        </p:spPr>
        <p:txBody>
          <a:bodyPr/>
          <a:lstStyle/>
          <a:p>
            <a:endParaRPr lang="en-US"/>
          </a:p>
        </p:txBody>
      </p:sp>
      <p:sp>
        <p:nvSpPr>
          <p:cNvPr id="53" name="Shape 51"/>
          <p:cNvSpPr/>
          <p:nvPr/>
        </p:nvSpPr>
        <p:spPr>
          <a:xfrm>
            <a:off x="2402872" y="2626335"/>
            <a:ext cx="34747" cy="34747"/>
          </a:xfrm>
          <a:prstGeom prst="ellipse">
            <a:avLst/>
          </a:prstGeom>
          <a:solidFill>
            <a:srgbClr val="444B57"/>
          </a:solidFill>
          <a:ln/>
        </p:spPr>
        <p:txBody>
          <a:bodyPr/>
          <a:lstStyle/>
          <a:p>
            <a:endParaRPr lang="en-US"/>
          </a:p>
        </p:txBody>
      </p:sp>
      <p:sp>
        <p:nvSpPr>
          <p:cNvPr id="54" name="Shape 52"/>
          <p:cNvSpPr/>
          <p:nvPr/>
        </p:nvSpPr>
        <p:spPr>
          <a:xfrm>
            <a:off x="2436335" y="2738779"/>
            <a:ext cx="34747" cy="34747"/>
          </a:xfrm>
          <a:prstGeom prst="ellipse">
            <a:avLst/>
          </a:prstGeom>
          <a:solidFill>
            <a:srgbClr val="444B57"/>
          </a:solidFill>
          <a:ln/>
        </p:spPr>
        <p:txBody>
          <a:bodyPr/>
          <a:lstStyle/>
          <a:p>
            <a:endParaRPr lang="en-US"/>
          </a:p>
        </p:txBody>
      </p:sp>
      <p:sp>
        <p:nvSpPr>
          <p:cNvPr id="55" name="Shape 53"/>
          <p:cNvSpPr/>
          <p:nvPr/>
        </p:nvSpPr>
        <p:spPr>
          <a:xfrm>
            <a:off x="2469798" y="2841763"/>
            <a:ext cx="34747" cy="34747"/>
          </a:xfrm>
          <a:prstGeom prst="ellipse">
            <a:avLst/>
          </a:prstGeom>
          <a:solidFill>
            <a:srgbClr val="444B57"/>
          </a:solidFill>
          <a:ln/>
        </p:spPr>
        <p:txBody>
          <a:bodyPr/>
          <a:lstStyle/>
          <a:p>
            <a:endParaRPr lang="en-US"/>
          </a:p>
        </p:txBody>
      </p:sp>
      <p:sp>
        <p:nvSpPr>
          <p:cNvPr id="56" name="Shape 54"/>
          <p:cNvSpPr/>
          <p:nvPr/>
        </p:nvSpPr>
        <p:spPr>
          <a:xfrm>
            <a:off x="2503261" y="2932881"/>
            <a:ext cx="34747" cy="34747"/>
          </a:xfrm>
          <a:prstGeom prst="ellipse">
            <a:avLst/>
          </a:prstGeom>
          <a:solidFill>
            <a:srgbClr val="444B57"/>
          </a:solidFill>
          <a:ln/>
        </p:spPr>
        <p:txBody>
          <a:bodyPr/>
          <a:lstStyle/>
          <a:p>
            <a:endParaRPr lang="en-US"/>
          </a:p>
        </p:txBody>
      </p:sp>
      <p:sp>
        <p:nvSpPr>
          <p:cNvPr id="57" name="Shape 55"/>
          <p:cNvSpPr/>
          <p:nvPr/>
        </p:nvSpPr>
        <p:spPr>
          <a:xfrm>
            <a:off x="2536725" y="3010932"/>
            <a:ext cx="34747" cy="34747"/>
          </a:xfrm>
          <a:prstGeom prst="ellipse">
            <a:avLst/>
          </a:prstGeom>
          <a:solidFill>
            <a:srgbClr val="444B57"/>
          </a:solidFill>
          <a:ln/>
        </p:spPr>
        <p:txBody>
          <a:bodyPr/>
          <a:lstStyle/>
          <a:p>
            <a:endParaRPr lang="en-US"/>
          </a:p>
        </p:txBody>
      </p:sp>
      <p:sp>
        <p:nvSpPr>
          <p:cNvPr id="58" name="Shape 56"/>
          <p:cNvSpPr/>
          <p:nvPr/>
        </p:nvSpPr>
        <p:spPr>
          <a:xfrm>
            <a:off x="2570188" y="3075763"/>
            <a:ext cx="34747" cy="34747"/>
          </a:xfrm>
          <a:prstGeom prst="ellipse">
            <a:avLst/>
          </a:prstGeom>
          <a:solidFill>
            <a:srgbClr val="444B57"/>
          </a:solidFill>
          <a:ln/>
        </p:spPr>
        <p:txBody>
          <a:bodyPr/>
          <a:lstStyle/>
          <a:p>
            <a:endParaRPr lang="en-US"/>
          </a:p>
        </p:txBody>
      </p:sp>
      <p:sp>
        <p:nvSpPr>
          <p:cNvPr id="59" name="Shape 57"/>
          <p:cNvSpPr/>
          <p:nvPr/>
        </p:nvSpPr>
        <p:spPr>
          <a:xfrm>
            <a:off x="2603651" y="3128045"/>
            <a:ext cx="34747" cy="34747"/>
          </a:xfrm>
          <a:prstGeom prst="ellipse">
            <a:avLst/>
          </a:prstGeom>
          <a:solidFill>
            <a:srgbClr val="444B57"/>
          </a:solidFill>
          <a:ln/>
        </p:spPr>
        <p:txBody>
          <a:bodyPr/>
          <a:lstStyle/>
          <a:p>
            <a:endParaRPr lang="en-US"/>
          </a:p>
        </p:txBody>
      </p:sp>
      <p:sp>
        <p:nvSpPr>
          <p:cNvPr id="60" name="Shape 58"/>
          <p:cNvSpPr/>
          <p:nvPr/>
        </p:nvSpPr>
        <p:spPr>
          <a:xfrm>
            <a:off x="2637114" y="3169020"/>
            <a:ext cx="34747" cy="34747"/>
          </a:xfrm>
          <a:prstGeom prst="ellipse">
            <a:avLst/>
          </a:prstGeom>
          <a:solidFill>
            <a:srgbClr val="444B57"/>
          </a:solidFill>
          <a:ln/>
        </p:spPr>
        <p:txBody>
          <a:bodyPr/>
          <a:lstStyle/>
          <a:p>
            <a:endParaRPr lang="en-US"/>
          </a:p>
        </p:txBody>
      </p:sp>
      <p:sp>
        <p:nvSpPr>
          <p:cNvPr id="61" name="Shape 59"/>
          <p:cNvSpPr/>
          <p:nvPr/>
        </p:nvSpPr>
        <p:spPr>
          <a:xfrm>
            <a:off x="2670578" y="3200251"/>
            <a:ext cx="34747" cy="34747"/>
          </a:xfrm>
          <a:prstGeom prst="ellipse">
            <a:avLst/>
          </a:prstGeom>
          <a:solidFill>
            <a:srgbClr val="444B57"/>
          </a:solidFill>
          <a:ln/>
        </p:spPr>
        <p:txBody>
          <a:bodyPr/>
          <a:lstStyle/>
          <a:p>
            <a:endParaRPr lang="en-US"/>
          </a:p>
        </p:txBody>
      </p:sp>
      <p:sp>
        <p:nvSpPr>
          <p:cNvPr id="62" name="Shape 60"/>
          <p:cNvSpPr/>
          <p:nvPr/>
        </p:nvSpPr>
        <p:spPr>
          <a:xfrm>
            <a:off x="2704041" y="3223418"/>
            <a:ext cx="34747" cy="34747"/>
          </a:xfrm>
          <a:prstGeom prst="ellipse">
            <a:avLst/>
          </a:prstGeom>
          <a:solidFill>
            <a:srgbClr val="444B57"/>
          </a:solidFill>
          <a:ln/>
        </p:spPr>
        <p:txBody>
          <a:bodyPr/>
          <a:lstStyle/>
          <a:p>
            <a:endParaRPr lang="en-US"/>
          </a:p>
        </p:txBody>
      </p:sp>
      <p:sp>
        <p:nvSpPr>
          <p:cNvPr id="63" name="Shape 61"/>
          <p:cNvSpPr/>
          <p:nvPr/>
        </p:nvSpPr>
        <p:spPr>
          <a:xfrm>
            <a:off x="2737504" y="3240150"/>
            <a:ext cx="34747" cy="34747"/>
          </a:xfrm>
          <a:prstGeom prst="ellipse">
            <a:avLst/>
          </a:prstGeom>
          <a:solidFill>
            <a:srgbClr val="444B57"/>
          </a:solidFill>
          <a:ln/>
        </p:spPr>
        <p:txBody>
          <a:bodyPr/>
          <a:lstStyle/>
          <a:p>
            <a:endParaRPr lang="en-US"/>
          </a:p>
        </p:txBody>
      </p:sp>
      <p:sp>
        <p:nvSpPr>
          <p:cNvPr id="64" name="Shape 62"/>
          <p:cNvSpPr/>
          <p:nvPr/>
        </p:nvSpPr>
        <p:spPr>
          <a:xfrm>
            <a:off x="2770967" y="3251922"/>
            <a:ext cx="34747" cy="34747"/>
          </a:xfrm>
          <a:prstGeom prst="ellipse">
            <a:avLst/>
          </a:prstGeom>
          <a:solidFill>
            <a:srgbClr val="444B57"/>
          </a:solidFill>
          <a:ln/>
        </p:spPr>
        <p:txBody>
          <a:bodyPr/>
          <a:lstStyle/>
          <a:p>
            <a:endParaRPr lang="en-US"/>
          </a:p>
        </p:txBody>
      </p:sp>
      <p:sp>
        <p:nvSpPr>
          <p:cNvPr id="65" name="Shape 63"/>
          <p:cNvSpPr/>
          <p:nvPr/>
        </p:nvSpPr>
        <p:spPr>
          <a:xfrm>
            <a:off x="2804431" y="3259991"/>
            <a:ext cx="34747" cy="34747"/>
          </a:xfrm>
          <a:prstGeom prst="ellipse">
            <a:avLst/>
          </a:prstGeom>
          <a:solidFill>
            <a:srgbClr val="444B57"/>
          </a:solidFill>
          <a:ln/>
        </p:spPr>
        <p:txBody>
          <a:bodyPr/>
          <a:lstStyle/>
          <a:p>
            <a:endParaRPr lang="en-US"/>
          </a:p>
        </p:txBody>
      </p:sp>
      <p:sp>
        <p:nvSpPr>
          <p:cNvPr id="66" name="Shape 64"/>
          <p:cNvSpPr/>
          <p:nvPr/>
        </p:nvSpPr>
        <p:spPr>
          <a:xfrm>
            <a:off x="2837894" y="3265383"/>
            <a:ext cx="34747" cy="34747"/>
          </a:xfrm>
          <a:prstGeom prst="ellipse">
            <a:avLst/>
          </a:prstGeom>
          <a:solidFill>
            <a:srgbClr val="444B57"/>
          </a:solidFill>
          <a:ln/>
        </p:spPr>
        <p:txBody>
          <a:bodyPr/>
          <a:lstStyle/>
          <a:p>
            <a:endParaRPr lang="en-US"/>
          </a:p>
        </p:txBody>
      </p:sp>
      <p:sp>
        <p:nvSpPr>
          <p:cNvPr id="67" name="Shape 65"/>
          <p:cNvSpPr/>
          <p:nvPr/>
        </p:nvSpPr>
        <p:spPr>
          <a:xfrm>
            <a:off x="2871357" y="3268896"/>
            <a:ext cx="34747" cy="34747"/>
          </a:xfrm>
          <a:prstGeom prst="ellipse">
            <a:avLst/>
          </a:prstGeom>
          <a:solidFill>
            <a:srgbClr val="444B57"/>
          </a:solidFill>
          <a:ln/>
        </p:spPr>
        <p:txBody>
          <a:bodyPr/>
          <a:lstStyle/>
          <a:p>
            <a:endParaRPr lang="en-US"/>
          </a:p>
        </p:txBody>
      </p:sp>
      <p:sp>
        <p:nvSpPr>
          <p:cNvPr id="68" name="Shape 66"/>
          <p:cNvSpPr/>
          <p:nvPr/>
        </p:nvSpPr>
        <p:spPr>
          <a:xfrm>
            <a:off x="2904820" y="3271128"/>
            <a:ext cx="34747" cy="34747"/>
          </a:xfrm>
          <a:prstGeom prst="ellipse">
            <a:avLst/>
          </a:prstGeom>
          <a:solidFill>
            <a:srgbClr val="444B57"/>
          </a:solidFill>
          <a:ln/>
        </p:spPr>
        <p:txBody>
          <a:bodyPr/>
          <a:lstStyle/>
          <a:p>
            <a:endParaRPr lang="en-US"/>
          </a:p>
        </p:txBody>
      </p:sp>
      <p:sp>
        <p:nvSpPr>
          <p:cNvPr id="69" name="Shape 67"/>
          <p:cNvSpPr/>
          <p:nvPr/>
        </p:nvSpPr>
        <p:spPr>
          <a:xfrm>
            <a:off x="897026" y="3273932"/>
            <a:ext cx="34747" cy="34747"/>
          </a:xfrm>
          <a:prstGeom prst="ellipse">
            <a:avLst/>
          </a:prstGeom>
          <a:solidFill>
            <a:srgbClr val="9C3D6E"/>
          </a:solidFill>
          <a:ln/>
        </p:spPr>
        <p:txBody>
          <a:bodyPr/>
          <a:lstStyle/>
          <a:p>
            <a:endParaRPr lang="en-US"/>
          </a:p>
        </p:txBody>
      </p:sp>
      <p:sp>
        <p:nvSpPr>
          <p:cNvPr id="70" name="Shape 68"/>
          <p:cNvSpPr/>
          <p:nvPr/>
        </p:nvSpPr>
        <p:spPr>
          <a:xfrm>
            <a:off x="930490" y="3273386"/>
            <a:ext cx="34747" cy="34747"/>
          </a:xfrm>
          <a:prstGeom prst="ellipse">
            <a:avLst/>
          </a:prstGeom>
          <a:solidFill>
            <a:srgbClr val="9C3D6E"/>
          </a:solidFill>
          <a:ln/>
        </p:spPr>
        <p:txBody>
          <a:bodyPr/>
          <a:lstStyle/>
          <a:p>
            <a:endParaRPr lang="en-US"/>
          </a:p>
        </p:txBody>
      </p:sp>
      <p:sp>
        <p:nvSpPr>
          <p:cNvPr id="71" name="Shape 69"/>
          <p:cNvSpPr/>
          <p:nvPr/>
        </p:nvSpPr>
        <p:spPr>
          <a:xfrm>
            <a:off x="963953" y="3272358"/>
            <a:ext cx="34747" cy="34747"/>
          </a:xfrm>
          <a:prstGeom prst="ellipse">
            <a:avLst/>
          </a:prstGeom>
          <a:solidFill>
            <a:srgbClr val="9C3D6E"/>
          </a:solidFill>
          <a:ln/>
        </p:spPr>
        <p:txBody>
          <a:bodyPr/>
          <a:lstStyle/>
          <a:p>
            <a:endParaRPr lang="en-US"/>
          </a:p>
        </p:txBody>
      </p:sp>
      <p:sp>
        <p:nvSpPr>
          <p:cNvPr id="72" name="Shape 70"/>
          <p:cNvSpPr/>
          <p:nvPr/>
        </p:nvSpPr>
        <p:spPr>
          <a:xfrm>
            <a:off x="997416" y="3270490"/>
            <a:ext cx="34747" cy="34747"/>
          </a:xfrm>
          <a:prstGeom prst="ellipse">
            <a:avLst/>
          </a:prstGeom>
          <a:solidFill>
            <a:srgbClr val="9C3D6E"/>
          </a:solidFill>
          <a:ln/>
        </p:spPr>
        <p:txBody>
          <a:bodyPr/>
          <a:lstStyle/>
          <a:p>
            <a:endParaRPr lang="en-US"/>
          </a:p>
        </p:txBody>
      </p:sp>
      <p:sp>
        <p:nvSpPr>
          <p:cNvPr id="73" name="Shape 71"/>
          <p:cNvSpPr/>
          <p:nvPr/>
        </p:nvSpPr>
        <p:spPr>
          <a:xfrm>
            <a:off x="1030879" y="3267219"/>
            <a:ext cx="34747" cy="34747"/>
          </a:xfrm>
          <a:prstGeom prst="ellipse">
            <a:avLst/>
          </a:prstGeom>
          <a:solidFill>
            <a:srgbClr val="9C3D6E"/>
          </a:solidFill>
          <a:ln/>
        </p:spPr>
        <p:txBody>
          <a:bodyPr/>
          <a:lstStyle/>
          <a:p>
            <a:endParaRPr lang="en-US"/>
          </a:p>
        </p:txBody>
      </p:sp>
      <p:sp>
        <p:nvSpPr>
          <p:cNvPr id="74" name="Shape 72"/>
          <p:cNvSpPr/>
          <p:nvPr/>
        </p:nvSpPr>
        <p:spPr>
          <a:xfrm>
            <a:off x="1064343" y="3261704"/>
            <a:ext cx="34747" cy="34747"/>
          </a:xfrm>
          <a:prstGeom prst="ellipse">
            <a:avLst/>
          </a:prstGeom>
          <a:solidFill>
            <a:srgbClr val="9C3D6E"/>
          </a:solidFill>
          <a:ln/>
        </p:spPr>
        <p:txBody>
          <a:bodyPr/>
          <a:lstStyle/>
          <a:p>
            <a:endParaRPr lang="en-US"/>
          </a:p>
        </p:txBody>
      </p:sp>
      <p:sp>
        <p:nvSpPr>
          <p:cNvPr id="75" name="Shape 73"/>
          <p:cNvSpPr/>
          <p:nvPr/>
        </p:nvSpPr>
        <p:spPr>
          <a:xfrm>
            <a:off x="1097806" y="3252751"/>
            <a:ext cx="34747" cy="34747"/>
          </a:xfrm>
          <a:prstGeom prst="ellipse">
            <a:avLst/>
          </a:prstGeom>
          <a:solidFill>
            <a:srgbClr val="9C3D6E"/>
          </a:solidFill>
          <a:ln/>
        </p:spPr>
        <p:txBody>
          <a:bodyPr/>
          <a:lstStyle/>
          <a:p>
            <a:endParaRPr lang="en-US"/>
          </a:p>
        </p:txBody>
      </p:sp>
      <p:sp>
        <p:nvSpPr>
          <p:cNvPr id="76" name="Shape 74"/>
          <p:cNvSpPr/>
          <p:nvPr/>
        </p:nvSpPr>
        <p:spPr>
          <a:xfrm>
            <a:off x="1131269" y="3238762"/>
            <a:ext cx="34747" cy="34747"/>
          </a:xfrm>
          <a:prstGeom prst="ellipse">
            <a:avLst/>
          </a:prstGeom>
          <a:solidFill>
            <a:srgbClr val="9C3D6E"/>
          </a:solidFill>
          <a:ln/>
        </p:spPr>
        <p:txBody>
          <a:bodyPr/>
          <a:lstStyle/>
          <a:p>
            <a:endParaRPr lang="en-US"/>
          </a:p>
        </p:txBody>
      </p:sp>
      <p:sp>
        <p:nvSpPr>
          <p:cNvPr id="77" name="Shape 75"/>
          <p:cNvSpPr/>
          <p:nvPr/>
        </p:nvSpPr>
        <p:spPr>
          <a:xfrm>
            <a:off x="1164732" y="3217740"/>
            <a:ext cx="34747" cy="34747"/>
          </a:xfrm>
          <a:prstGeom prst="ellipse">
            <a:avLst/>
          </a:prstGeom>
          <a:solidFill>
            <a:srgbClr val="9C3D6E"/>
          </a:solidFill>
          <a:ln/>
        </p:spPr>
        <p:txBody>
          <a:bodyPr/>
          <a:lstStyle/>
          <a:p>
            <a:endParaRPr lang="en-US"/>
          </a:p>
        </p:txBody>
      </p:sp>
      <p:sp>
        <p:nvSpPr>
          <p:cNvPr id="78" name="Shape 76"/>
          <p:cNvSpPr/>
          <p:nvPr/>
        </p:nvSpPr>
        <p:spPr>
          <a:xfrm>
            <a:off x="1198195" y="3187379"/>
            <a:ext cx="34747" cy="34747"/>
          </a:xfrm>
          <a:prstGeom prst="ellipse">
            <a:avLst/>
          </a:prstGeom>
          <a:solidFill>
            <a:srgbClr val="9C3D6E"/>
          </a:solidFill>
          <a:ln/>
        </p:spPr>
        <p:txBody>
          <a:bodyPr/>
          <a:lstStyle/>
          <a:p>
            <a:endParaRPr lang="en-US"/>
          </a:p>
        </p:txBody>
      </p:sp>
      <p:sp>
        <p:nvSpPr>
          <p:cNvPr id="79" name="Shape 77"/>
          <p:cNvSpPr/>
          <p:nvPr/>
        </p:nvSpPr>
        <p:spPr>
          <a:xfrm>
            <a:off x="1231659" y="3145275"/>
            <a:ext cx="34747" cy="34747"/>
          </a:xfrm>
          <a:prstGeom prst="ellipse">
            <a:avLst/>
          </a:prstGeom>
          <a:solidFill>
            <a:srgbClr val="9C3D6E"/>
          </a:solidFill>
          <a:ln/>
        </p:spPr>
        <p:txBody>
          <a:bodyPr/>
          <a:lstStyle/>
          <a:p>
            <a:endParaRPr lang="en-US"/>
          </a:p>
        </p:txBody>
      </p:sp>
      <p:sp>
        <p:nvSpPr>
          <p:cNvPr id="80" name="Shape 78"/>
          <p:cNvSpPr/>
          <p:nvPr/>
        </p:nvSpPr>
        <p:spPr>
          <a:xfrm>
            <a:off x="1265122" y="3089278"/>
            <a:ext cx="34747" cy="34747"/>
          </a:xfrm>
          <a:prstGeom prst="ellipse">
            <a:avLst/>
          </a:prstGeom>
          <a:solidFill>
            <a:srgbClr val="9C3D6E"/>
          </a:solidFill>
          <a:ln/>
        </p:spPr>
        <p:txBody>
          <a:bodyPr/>
          <a:lstStyle/>
          <a:p>
            <a:endParaRPr lang="en-US"/>
          </a:p>
        </p:txBody>
      </p:sp>
      <p:sp>
        <p:nvSpPr>
          <p:cNvPr id="81" name="Shape 79"/>
          <p:cNvSpPr/>
          <p:nvPr/>
        </p:nvSpPr>
        <p:spPr>
          <a:xfrm>
            <a:off x="1298585" y="3017958"/>
            <a:ext cx="34747" cy="34747"/>
          </a:xfrm>
          <a:prstGeom prst="ellipse">
            <a:avLst/>
          </a:prstGeom>
          <a:solidFill>
            <a:srgbClr val="9C3D6E"/>
          </a:solidFill>
          <a:ln/>
        </p:spPr>
        <p:txBody>
          <a:bodyPr/>
          <a:lstStyle/>
          <a:p>
            <a:endParaRPr lang="en-US"/>
          </a:p>
        </p:txBody>
      </p:sp>
      <p:sp>
        <p:nvSpPr>
          <p:cNvPr id="82" name="Shape 80"/>
          <p:cNvSpPr/>
          <p:nvPr/>
        </p:nvSpPr>
        <p:spPr>
          <a:xfrm>
            <a:off x="1332048" y="2931148"/>
            <a:ext cx="34747" cy="34747"/>
          </a:xfrm>
          <a:prstGeom prst="ellipse">
            <a:avLst/>
          </a:prstGeom>
          <a:solidFill>
            <a:srgbClr val="9C3D6E"/>
          </a:solidFill>
          <a:ln/>
        </p:spPr>
        <p:txBody>
          <a:bodyPr/>
          <a:lstStyle/>
          <a:p>
            <a:endParaRPr lang="en-US"/>
          </a:p>
        </p:txBody>
      </p:sp>
      <p:sp>
        <p:nvSpPr>
          <p:cNvPr id="83" name="Shape 81"/>
          <p:cNvSpPr/>
          <p:nvPr/>
        </p:nvSpPr>
        <p:spPr>
          <a:xfrm>
            <a:off x="1365512" y="2830451"/>
            <a:ext cx="34747" cy="34747"/>
          </a:xfrm>
          <a:prstGeom prst="ellipse">
            <a:avLst/>
          </a:prstGeom>
          <a:solidFill>
            <a:srgbClr val="9C3D6E"/>
          </a:solidFill>
          <a:ln/>
        </p:spPr>
        <p:txBody>
          <a:bodyPr/>
          <a:lstStyle/>
          <a:p>
            <a:endParaRPr lang="en-US"/>
          </a:p>
        </p:txBody>
      </p:sp>
      <p:sp>
        <p:nvSpPr>
          <p:cNvPr id="84" name="Shape 82"/>
          <p:cNvSpPr/>
          <p:nvPr/>
        </p:nvSpPr>
        <p:spPr>
          <a:xfrm>
            <a:off x="1398975" y="2719578"/>
            <a:ext cx="34747" cy="34747"/>
          </a:xfrm>
          <a:prstGeom prst="ellipse">
            <a:avLst/>
          </a:prstGeom>
          <a:solidFill>
            <a:srgbClr val="9C3D6E"/>
          </a:solidFill>
          <a:ln/>
        </p:spPr>
        <p:txBody>
          <a:bodyPr/>
          <a:lstStyle/>
          <a:p>
            <a:endParaRPr lang="en-US"/>
          </a:p>
        </p:txBody>
      </p:sp>
      <p:sp>
        <p:nvSpPr>
          <p:cNvPr id="85" name="Shape 83"/>
          <p:cNvSpPr/>
          <p:nvPr/>
        </p:nvSpPr>
        <p:spPr>
          <a:xfrm>
            <a:off x="1432438" y="2604397"/>
            <a:ext cx="34747" cy="34747"/>
          </a:xfrm>
          <a:prstGeom prst="ellipse">
            <a:avLst/>
          </a:prstGeom>
          <a:solidFill>
            <a:srgbClr val="9C3D6E"/>
          </a:solidFill>
          <a:ln/>
        </p:spPr>
        <p:txBody>
          <a:bodyPr/>
          <a:lstStyle/>
          <a:p>
            <a:endParaRPr lang="en-US"/>
          </a:p>
        </p:txBody>
      </p:sp>
      <p:sp>
        <p:nvSpPr>
          <p:cNvPr id="86" name="Shape 84"/>
          <p:cNvSpPr/>
          <p:nvPr/>
        </p:nvSpPr>
        <p:spPr>
          <a:xfrm>
            <a:off x="1465901" y="2492585"/>
            <a:ext cx="34747" cy="34747"/>
          </a:xfrm>
          <a:prstGeom prst="ellipse">
            <a:avLst/>
          </a:prstGeom>
          <a:solidFill>
            <a:srgbClr val="9C3D6E"/>
          </a:solidFill>
          <a:ln/>
        </p:spPr>
        <p:txBody>
          <a:bodyPr/>
          <a:lstStyle/>
          <a:p>
            <a:endParaRPr lang="en-US"/>
          </a:p>
        </p:txBody>
      </p:sp>
      <p:sp>
        <p:nvSpPr>
          <p:cNvPr id="87" name="Shape 85"/>
          <p:cNvSpPr/>
          <p:nvPr/>
        </p:nvSpPr>
        <p:spPr>
          <a:xfrm>
            <a:off x="1499365" y="2392874"/>
            <a:ext cx="34747" cy="34747"/>
          </a:xfrm>
          <a:prstGeom prst="ellipse">
            <a:avLst/>
          </a:prstGeom>
          <a:solidFill>
            <a:srgbClr val="9C3D6E"/>
          </a:solidFill>
          <a:ln/>
        </p:spPr>
        <p:txBody>
          <a:bodyPr/>
          <a:lstStyle/>
          <a:p>
            <a:endParaRPr lang="en-US"/>
          </a:p>
        </p:txBody>
      </p:sp>
      <p:sp>
        <p:nvSpPr>
          <p:cNvPr id="88" name="Shape 86"/>
          <p:cNvSpPr/>
          <p:nvPr/>
        </p:nvSpPr>
        <p:spPr>
          <a:xfrm>
            <a:off x="1532828" y="2313957"/>
            <a:ext cx="34747" cy="34747"/>
          </a:xfrm>
          <a:prstGeom prst="ellipse">
            <a:avLst/>
          </a:prstGeom>
          <a:solidFill>
            <a:srgbClr val="9C3D6E"/>
          </a:solidFill>
          <a:ln/>
        </p:spPr>
        <p:txBody>
          <a:bodyPr/>
          <a:lstStyle/>
          <a:p>
            <a:endParaRPr lang="en-US"/>
          </a:p>
        </p:txBody>
      </p:sp>
      <p:sp>
        <p:nvSpPr>
          <p:cNvPr id="89" name="Shape 87"/>
          <p:cNvSpPr/>
          <p:nvPr/>
        </p:nvSpPr>
        <p:spPr>
          <a:xfrm>
            <a:off x="1566291" y="2263255"/>
            <a:ext cx="34747" cy="34747"/>
          </a:xfrm>
          <a:prstGeom prst="ellipse">
            <a:avLst/>
          </a:prstGeom>
          <a:solidFill>
            <a:srgbClr val="9C3D6E"/>
          </a:solidFill>
          <a:ln/>
        </p:spPr>
        <p:txBody>
          <a:bodyPr/>
          <a:lstStyle/>
          <a:p>
            <a:endParaRPr lang="en-US"/>
          </a:p>
        </p:txBody>
      </p:sp>
      <p:sp>
        <p:nvSpPr>
          <p:cNvPr id="90" name="Shape 88"/>
          <p:cNvSpPr/>
          <p:nvPr/>
        </p:nvSpPr>
        <p:spPr>
          <a:xfrm>
            <a:off x="1599754" y="2245766"/>
            <a:ext cx="34747" cy="34747"/>
          </a:xfrm>
          <a:prstGeom prst="ellipse">
            <a:avLst/>
          </a:prstGeom>
          <a:solidFill>
            <a:srgbClr val="9C3D6E"/>
          </a:solidFill>
          <a:ln/>
        </p:spPr>
        <p:txBody>
          <a:bodyPr/>
          <a:lstStyle/>
          <a:p>
            <a:endParaRPr lang="en-US"/>
          </a:p>
        </p:txBody>
      </p:sp>
      <p:sp>
        <p:nvSpPr>
          <p:cNvPr id="91" name="Shape 89"/>
          <p:cNvSpPr/>
          <p:nvPr/>
        </p:nvSpPr>
        <p:spPr>
          <a:xfrm>
            <a:off x="1633217" y="2263255"/>
            <a:ext cx="34747" cy="34747"/>
          </a:xfrm>
          <a:prstGeom prst="ellipse">
            <a:avLst/>
          </a:prstGeom>
          <a:solidFill>
            <a:srgbClr val="9C3D6E"/>
          </a:solidFill>
          <a:ln/>
        </p:spPr>
        <p:txBody>
          <a:bodyPr/>
          <a:lstStyle/>
          <a:p>
            <a:endParaRPr lang="en-US"/>
          </a:p>
        </p:txBody>
      </p:sp>
      <p:sp>
        <p:nvSpPr>
          <p:cNvPr id="92" name="Shape 90"/>
          <p:cNvSpPr/>
          <p:nvPr/>
        </p:nvSpPr>
        <p:spPr>
          <a:xfrm>
            <a:off x="1666681" y="2313957"/>
            <a:ext cx="34747" cy="34747"/>
          </a:xfrm>
          <a:prstGeom prst="ellipse">
            <a:avLst/>
          </a:prstGeom>
          <a:solidFill>
            <a:srgbClr val="9C3D6E"/>
          </a:solidFill>
          <a:ln/>
        </p:spPr>
        <p:txBody>
          <a:bodyPr/>
          <a:lstStyle/>
          <a:p>
            <a:endParaRPr lang="en-US"/>
          </a:p>
        </p:txBody>
      </p:sp>
      <p:sp>
        <p:nvSpPr>
          <p:cNvPr id="93" name="Shape 91"/>
          <p:cNvSpPr/>
          <p:nvPr/>
        </p:nvSpPr>
        <p:spPr>
          <a:xfrm>
            <a:off x="1700144" y="2392874"/>
            <a:ext cx="34747" cy="34747"/>
          </a:xfrm>
          <a:prstGeom prst="ellipse">
            <a:avLst/>
          </a:prstGeom>
          <a:solidFill>
            <a:srgbClr val="9C3D6E"/>
          </a:solidFill>
          <a:ln/>
        </p:spPr>
        <p:txBody>
          <a:bodyPr/>
          <a:lstStyle/>
          <a:p>
            <a:endParaRPr lang="en-US"/>
          </a:p>
        </p:txBody>
      </p:sp>
      <p:sp>
        <p:nvSpPr>
          <p:cNvPr id="94" name="Shape 92"/>
          <p:cNvSpPr/>
          <p:nvPr/>
        </p:nvSpPr>
        <p:spPr>
          <a:xfrm>
            <a:off x="1733607" y="2492585"/>
            <a:ext cx="34747" cy="34747"/>
          </a:xfrm>
          <a:prstGeom prst="ellipse">
            <a:avLst/>
          </a:prstGeom>
          <a:solidFill>
            <a:srgbClr val="9C3D6E"/>
          </a:solidFill>
          <a:ln/>
        </p:spPr>
        <p:txBody>
          <a:bodyPr/>
          <a:lstStyle/>
          <a:p>
            <a:endParaRPr lang="en-US"/>
          </a:p>
        </p:txBody>
      </p:sp>
      <p:sp>
        <p:nvSpPr>
          <p:cNvPr id="95" name="Shape 93"/>
          <p:cNvSpPr/>
          <p:nvPr/>
        </p:nvSpPr>
        <p:spPr>
          <a:xfrm>
            <a:off x="1767070" y="2604397"/>
            <a:ext cx="34747" cy="34747"/>
          </a:xfrm>
          <a:prstGeom prst="ellipse">
            <a:avLst/>
          </a:prstGeom>
          <a:solidFill>
            <a:srgbClr val="9C3D6E"/>
          </a:solidFill>
          <a:ln/>
        </p:spPr>
        <p:txBody>
          <a:bodyPr/>
          <a:lstStyle/>
          <a:p>
            <a:endParaRPr lang="en-US"/>
          </a:p>
        </p:txBody>
      </p:sp>
      <p:sp>
        <p:nvSpPr>
          <p:cNvPr id="96" name="Shape 94"/>
          <p:cNvSpPr/>
          <p:nvPr/>
        </p:nvSpPr>
        <p:spPr>
          <a:xfrm>
            <a:off x="1800534" y="2719578"/>
            <a:ext cx="34747" cy="34747"/>
          </a:xfrm>
          <a:prstGeom prst="ellipse">
            <a:avLst/>
          </a:prstGeom>
          <a:solidFill>
            <a:srgbClr val="9C3D6E"/>
          </a:solidFill>
          <a:ln/>
        </p:spPr>
        <p:txBody>
          <a:bodyPr/>
          <a:lstStyle/>
          <a:p>
            <a:endParaRPr lang="en-US"/>
          </a:p>
        </p:txBody>
      </p:sp>
      <p:sp>
        <p:nvSpPr>
          <p:cNvPr id="97" name="Shape 95"/>
          <p:cNvSpPr/>
          <p:nvPr/>
        </p:nvSpPr>
        <p:spPr>
          <a:xfrm>
            <a:off x="1833997" y="2830451"/>
            <a:ext cx="34747" cy="34747"/>
          </a:xfrm>
          <a:prstGeom prst="ellipse">
            <a:avLst/>
          </a:prstGeom>
          <a:solidFill>
            <a:srgbClr val="9C3D6E"/>
          </a:solidFill>
          <a:ln/>
        </p:spPr>
        <p:txBody>
          <a:bodyPr/>
          <a:lstStyle/>
          <a:p>
            <a:endParaRPr lang="en-US"/>
          </a:p>
        </p:txBody>
      </p:sp>
      <p:sp>
        <p:nvSpPr>
          <p:cNvPr id="98" name="Shape 96"/>
          <p:cNvSpPr/>
          <p:nvPr/>
        </p:nvSpPr>
        <p:spPr>
          <a:xfrm>
            <a:off x="1867460" y="2931148"/>
            <a:ext cx="34747" cy="34747"/>
          </a:xfrm>
          <a:prstGeom prst="ellipse">
            <a:avLst/>
          </a:prstGeom>
          <a:solidFill>
            <a:srgbClr val="9C3D6E"/>
          </a:solidFill>
          <a:ln/>
        </p:spPr>
        <p:txBody>
          <a:bodyPr/>
          <a:lstStyle/>
          <a:p>
            <a:endParaRPr lang="en-US"/>
          </a:p>
        </p:txBody>
      </p:sp>
      <p:sp>
        <p:nvSpPr>
          <p:cNvPr id="99" name="Shape 97"/>
          <p:cNvSpPr/>
          <p:nvPr/>
        </p:nvSpPr>
        <p:spPr>
          <a:xfrm>
            <a:off x="1900923" y="3017958"/>
            <a:ext cx="34747" cy="34747"/>
          </a:xfrm>
          <a:prstGeom prst="ellipse">
            <a:avLst/>
          </a:prstGeom>
          <a:solidFill>
            <a:srgbClr val="9C3D6E"/>
          </a:solidFill>
          <a:ln/>
        </p:spPr>
        <p:txBody>
          <a:bodyPr/>
          <a:lstStyle/>
          <a:p>
            <a:endParaRPr lang="en-US"/>
          </a:p>
        </p:txBody>
      </p:sp>
      <p:sp>
        <p:nvSpPr>
          <p:cNvPr id="100" name="Shape 98"/>
          <p:cNvSpPr/>
          <p:nvPr/>
        </p:nvSpPr>
        <p:spPr>
          <a:xfrm>
            <a:off x="1934387" y="3089278"/>
            <a:ext cx="34747" cy="34747"/>
          </a:xfrm>
          <a:prstGeom prst="ellipse">
            <a:avLst/>
          </a:prstGeom>
          <a:solidFill>
            <a:srgbClr val="9C3D6E"/>
          </a:solidFill>
          <a:ln/>
        </p:spPr>
        <p:txBody>
          <a:bodyPr/>
          <a:lstStyle/>
          <a:p>
            <a:endParaRPr lang="en-US"/>
          </a:p>
        </p:txBody>
      </p:sp>
      <p:sp>
        <p:nvSpPr>
          <p:cNvPr id="101" name="Shape 99"/>
          <p:cNvSpPr/>
          <p:nvPr/>
        </p:nvSpPr>
        <p:spPr>
          <a:xfrm>
            <a:off x="1967850" y="3145275"/>
            <a:ext cx="34747" cy="34747"/>
          </a:xfrm>
          <a:prstGeom prst="ellipse">
            <a:avLst/>
          </a:prstGeom>
          <a:solidFill>
            <a:srgbClr val="9C3D6E"/>
          </a:solidFill>
          <a:ln/>
        </p:spPr>
        <p:txBody>
          <a:bodyPr/>
          <a:lstStyle/>
          <a:p>
            <a:endParaRPr lang="en-US"/>
          </a:p>
        </p:txBody>
      </p:sp>
      <p:sp>
        <p:nvSpPr>
          <p:cNvPr id="102" name="Shape 100"/>
          <p:cNvSpPr/>
          <p:nvPr/>
        </p:nvSpPr>
        <p:spPr>
          <a:xfrm>
            <a:off x="2001313" y="3187379"/>
            <a:ext cx="34747" cy="34747"/>
          </a:xfrm>
          <a:prstGeom prst="ellipse">
            <a:avLst/>
          </a:prstGeom>
          <a:solidFill>
            <a:srgbClr val="9C3D6E"/>
          </a:solidFill>
          <a:ln/>
        </p:spPr>
        <p:txBody>
          <a:bodyPr/>
          <a:lstStyle/>
          <a:p>
            <a:endParaRPr lang="en-US"/>
          </a:p>
        </p:txBody>
      </p:sp>
      <p:sp>
        <p:nvSpPr>
          <p:cNvPr id="103" name="Shape 101"/>
          <p:cNvSpPr/>
          <p:nvPr/>
        </p:nvSpPr>
        <p:spPr>
          <a:xfrm>
            <a:off x="2034776" y="3217740"/>
            <a:ext cx="34747" cy="34747"/>
          </a:xfrm>
          <a:prstGeom prst="ellipse">
            <a:avLst/>
          </a:prstGeom>
          <a:solidFill>
            <a:srgbClr val="9C3D6E"/>
          </a:solidFill>
          <a:ln/>
        </p:spPr>
        <p:txBody>
          <a:bodyPr/>
          <a:lstStyle/>
          <a:p>
            <a:endParaRPr lang="en-US"/>
          </a:p>
        </p:txBody>
      </p:sp>
      <p:sp>
        <p:nvSpPr>
          <p:cNvPr id="104" name="Shape 102"/>
          <p:cNvSpPr/>
          <p:nvPr/>
        </p:nvSpPr>
        <p:spPr>
          <a:xfrm>
            <a:off x="2068239" y="3238762"/>
            <a:ext cx="34747" cy="34747"/>
          </a:xfrm>
          <a:prstGeom prst="ellipse">
            <a:avLst/>
          </a:prstGeom>
          <a:solidFill>
            <a:srgbClr val="9C3D6E"/>
          </a:solidFill>
          <a:ln/>
        </p:spPr>
        <p:txBody>
          <a:bodyPr/>
          <a:lstStyle/>
          <a:p>
            <a:endParaRPr lang="en-US"/>
          </a:p>
        </p:txBody>
      </p:sp>
      <p:sp>
        <p:nvSpPr>
          <p:cNvPr id="105" name="Shape 103"/>
          <p:cNvSpPr/>
          <p:nvPr/>
        </p:nvSpPr>
        <p:spPr>
          <a:xfrm>
            <a:off x="2101703" y="3252751"/>
            <a:ext cx="34747" cy="34747"/>
          </a:xfrm>
          <a:prstGeom prst="ellipse">
            <a:avLst/>
          </a:prstGeom>
          <a:solidFill>
            <a:srgbClr val="9C3D6E"/>
          </a:solidFill>
          <a:ln/>
        </p:spPr>
        <p:txBody>
          <a:bodyPr/>
          <a:lstStyle/>
          <a:p>
            <a:endParaRPr lang="en-US"/>
          </a:p>
        </p:txBody>
      </p:sp>
      <p:sp>
        <p:nvSpPr>
          <p:cNvPr id="106" name="Shape 104"/>
          <p:cNvSpPr/>
          <p:nvPr/>
        </p:nvSpPr>
        <p:spPr>
          <a:xfrm>
            <a:off x="2135166" y="3261704"/>
            <a:ext cx="34747" cy="34747"/>
          </a:xfrm>
          <a:prstGeom prst="ellipse">
            <a:avLst/>
          </a:prstGeom>
          <a:solidFill>
            <a:srgbClr val="9C3D6E"/>
          </a:solidFill>
          <a:ln/>
        </p:spPr>
        <p:txBody>
          <a:bodyPr/>
          <a:lstStyle/>
          <a:p>
            <a:endParaRPr lang="en-US"/>
          </a:p>
        </p:txBody>
      </p:sp>
      <p:sp>
        <p:nvSpPr>
          <p:cNvPr id="107" name="Shape 105"/>
          <p:cNvSpPr/>
          <p:nvPr/>
        </p:nvSpPr>
        <p:spPr>
          <a:xfrm>
            <a:off x="2168629" y="3267219"/>
            <a:ext cx="34747" cy="34747"/>
          </a:xfrm>
          <a:prstGeom prst="ellipse">
            <a:avLst/>
          </a:prstGeom>
          <a:solidFill>
            <a:srgbClr val="9C3D6E"/>
          </a:solidFill>
          <a:ln/>
        </p:spPr>
        <p:txBody>
          <a:bodyPr/>
          <a:lstStyle/>
          <a:p>
            <a:endParaRPr lang="en-US"/>
          </a:p>
        </p:txBody>
      </p:sp>
      <p:sp>
        <p:nvSpPr>
          <p:cNvPr id="108" name="Shape 106"/>
          <p:cNvSpPr/>
          <p:nvPr/>
        </p:nvSpPr>
        <p:spPr>
          <a:xfrm>
            <a:off x="2202092" y="3270490"/>
            <a:ext cx="34747" cy="34747"/>
          </a:xfrm>
          <a:prstGeom prst="ellipse">
            <a:avLst/>
          </a:prstGeom>
          <a:solidFill>
            <a:srgbClr val="9C3D6E"/>
          </a:solidFill>
          <a:ln/>
        </p:spPr>
        <p:txBody>
          <a:bodyPr/>
          <a:lstStyle/>
          <a:p>
            <a:endParaRPr lang="en-US"/>
          </a:p>
        </p:txBody>
      </p:sp>
      <p:sp>
        <p:nvSpPr>
          <p:cNvPr id="109" name="Shape 107"/>
          <p:cNvSpPr/>
          <p:nvPr/>
        </p:nvSpPr>
        <p:spPr>
          <a:xfrm>
            <a:off x="2235556" y="3272358"/>
            <a:ext cx="34747" cy="34747"/>
          </a:xfrm>
          <a:prstGeom prst="ellipse">
            <a:avLst/>
          </a:prstGeom>
          <a:solidFill>
            <a:srgbClr val="9C3D6E"/>
          </a:solidFill>
          <a:ln/>
        </p:spPr>
        <p:txBody>
          <a:bodyPr/>
          <a:lstStyle/>
          <a:p>
            <a:endParaRPr lang="en-US"/>
          </a:p>
        </p:txBody>
      </p:sp>
      <p:sp>
        <p:nvSpPr>
          <p:cNvPr id="110" name="Shape 108"/>
          <p:cNvSpPr/>
          <p:nvPr/>
        </p:nvSpPr>
        <p:spPr>
          <a:xfrm>
            <a:off x="2269019" y="3273386"/>
            <a:ext cx="34747" cy="34747"/>
          </a:xfrm>
          <a:prstGeom prst="ellipse">
            <a:avLst/>
          </a:prstGeom>
          <a:solidFill>
            <a:srgbClr val="9C3D6E"/>
          </a:solidFill>
          <a:ln/>
        </p:spPr>
        <p:txBody>
          <a:bodyPr/>
          <a:lstStyle/>
          <a:p>
            <a:endParaRPr lang="en-US"/>
          </a:p>
        </p:txBody>
      </p:sp>
      <p:sp>
        <p:nvSpPr>
          <p:cNvPr id="111" name="Shape 109"/>
          <p:cNvSpPr/>
          <p:nvPr/>
        </p:nvSpPr>
        <p:spPr>
          <a:xfrm>
            <a:off x="2302482" y="3273932"/>
            <a:ext cx="34747" cy="34747"/>
          </a:xfrm>
          <a:prstGeom prst="ellipse">
            <a:avLst/>
          </a:prstGeom>
          <a:solidFill>
            <a:srgbClr val="9C3D6E"/>
          </a:solidFill>
          <a:ln/>
        </p:spPr>
        <p:txBody>
          <a:bodyPr/>
          <a:lstStyle/>
          <a:p>
            <a:endParaRPr lang="en-US"/>
          </a:p>
        </p:txBody>
      </p:sp>
      <p:sp>
        <p:nvSpPr>
          <p:cNvPr id="112" name="Shape 110"/>
          <p:cNvSpPr/>
          <p:nvPr/>
        </p:nvSpPr>
        <p:spPr>
          <a:xfrm>
            <a:off x="2335945" y="3274211"/>
            <a:ext cx="34747" cy="34747"/>
          </a:xfrm>
          <a:prstGeom prst="ellipse">
            <a:avLst/>
          </a:prstGeom>
          <a:solidFill>
            <a:srgbClr val="9C3D6E"/>
          </a:solidFill>
          <a:ln/>
        </p:spPr>
        <p:txBody>
          <a:bodyPr/>
          <a:lstStyle/>
          <a:p>
            <a:endParaRPr lang="en-US"/>
          </a:p>
        </p:txBody>
      </p:sp>
      <p:sp>
        <p:nvSpPr>
          <p:cNvPr id="113" name="Shape 111"/>
          <p:cNvSpPr/>
          <p:nvPr/>
        </p:nvSpPr>
        <p:spPr>
          <a:xfrm>
            <a:off x="2369409" y="3274348"/>
            <a:ext cx="34747" cy="34747"/>
          </a:xfrm>
          <a:prstGeom prst="ellipse">
            <a:avLst/>
          </a:prstGeom>
          <a:solidFill>
            <a:srgbClr val="9C3D6E"/>
          </a:solidFill>
          <a:ln/>
        </p:spPr>
        <p:txBody>
          <a:bodyPr/>
          <a:lstStyle/>
          <a:p>
            <a:endParaRPr lang="en-US"/>
          </a:p>
        </p:txBody>
      </p:sp>
      <p:sp>
        <p:nvSpPr>
          <p:cNvPr id="114" name="Shape 112"/>
          <p:cNvSpPr/>
          <p:nvPr/>
        </p:nvSpPr>
        <p:spPr>
          <a:xfrm>
            <a:off x="2402872" y="3274414"/>
            <a:ext cx="34747" cy="34747"/>
          </a:xfrm>
          <a:prstGeom prst="ellipse">
            <a:avLst/>
          </a:prstGeom>
          <a:solidFill>
            <a:srgbClr val="9C3D6E"/>
          </a:solidFill>
          <a:ln/>
        </p:spPr>
        <p:txBody>
          <a:bodyPr/>
          <a:lstStyle/>
          <a:p>
            <a:endParaRPr lang="en-US"/>
          </a:p>
        </p:txBody>
      </p:sp>
      <p:sp>
        <p:nvSpPr>
          <p:cNvPr id="115" name="Shape 113"/>
          <p:cNvSpPr/>
          <p:nvPr/>
        </p:nvSpPr>
        <p:spPr>
          <a:xfrm>
            <a:off x="2436335" y="3274444"/>
            <a:ext cx="34747" cy="34747"/>
          </a:xfrm>
          <a:prstGeom prst="ellipse">
            <a:avLst/>
          </a:prstGeom>
          <a:solidFill>
            <a:srgbClr val="9C3D6E"/>
          </a:solidFill>
          <a:ln/>
        </p:spPr>
        <p:txBody>
          <a:bodyPr/>
          <a:lstStyle/>
          <a:p>
            <a:endParaRPr lang="en-US"/>
          </a:p>
        </p:txBody>
      </p:sp>
      <p:sp>
        <p:nvSpPr>
          <p:cNvPr id="116" name="Shape 114"/>
          <p:cNvSpPr/>
          <p:nvPr/>
        </p:nvSpPr>
        <p:spPr>
          <a:xfrm>
            <a:off x="2469798" y="3274457"/>
            <a:ext cx="34747" cy="34747"/>
          </a:xfrm>
          <a:prstGeom prst="ellipse">
            <a:avLst/>
          </a:prstGeom>
          <a:solidFill>
            <a:srgbClr val="9C3D6E"/>
          </a:solidFill>
          <a:ln/>
        </p:spPr>
        <p:txBody>
          <a:bodyPr/>
          <a:lstStyle/>
          <a:p>
            <a:endParaRPr lang="en-US"/>
          </a:p>
        </p:txBody>
      </p:sp>
      <p:sp>
        <p:nvSpPr>
          <p:cNvPr id="117" name="Shape 115"/>
          <p:cNvSpPr/>
          <p:nvPr/>
        </p:nvSpPr>
        <p:spPr>
          <a:xfrm>
            <a:off x="2503261" y="3274463"/>
            <a:ext cx="34747" cy="34747"/>
          </a:xfrm>
          <a:prstGeom prst="ellipse">
            <a:avLst/>
          </a:prstGeom>
          <a:solidFill>
            <a:srgbClr val="9C3D6E"/>
          </a:solidFill>
          <a:ln/>
        </p:spPr>
        <p:txBody>
          <a:bodyPr/>
          <a:lstStyle/>
          <a:p>
            <a:endParaRPr lang="en-US"/>
          </a:p>
        </p:txBody>
      </p:sp>
      <p:sp>
        <p:nvSpPr>
          <p:cNvPr id="118" name="Shape 116"/>
          <p:cNvSpPr/>
          <p:nvPr/>
        </p:nvSpPr>
        <p:spPr>
          <a:xfrm>
            <a:off x="2536725" y="3274465"/>
            <a:ext cx="34747" cy="34747"/>
          </a:xfrm>
          <a:prstGeom prst="ellipse">
            <a:avLst/>
          </a:prstGeom>
          <a:solidFill>
            <a:srgbClr val="9C3D6E"/>
          </a:solidFill>
          <a:ln/>
        </p:spPr>
        <p:txBody>
          <a:bodyPr/>
          <a:lstStyle/>
          <a:p>
            <a:endParaRPr lang="en-US"/>
          </a:p>
        </p:txBody>
      </p:sp>
      <p:sp>
        <p:nvSpPr>
          <p:cNvPr id="119" name="Shape 117"/>
          <p:cNvSpPr/>
          <p:nvPr/>
        </p:nvSpPr>
        <p:spPr>
          <a:xfrm>
            <a:off x="2570188" y="3274466"/>
            <a:ext cx="34747" cy="34747"/>
          </a:xfrm>
          <a:prstGeom prst="ellipse">
            <a:avLst/>
          </a:prstGeom>
          <a:solidFill>
            <a:srgbClr val="9C3D6E"/>
          </a:solidFill>
          <a:ln/>
        </p:spPr>
        <p:txBody>
          <a:bodyPr/>
          <a:lstStyle/>
          <a:p>
            <a:endParaRPr lang="en-US"/>
          </a:p>
        </p:txBody>
      </p:sp>
      <p:sp>
        <p:nvSpPr>
          <p:cNvPr id="120" name="Shape 118"/>
          <p:cNvSpPr/>
          <p:nvPr/>
        </p:nvSpPr>
        <p:spPr>
          <a:xfrm>
            <a:off x="2603651" y="3274466"/>
            <a:ext cx="34747" cy="34747"/>
          </a:xfrm>
          <a:prstGeom prst="ellipse">
            <a:avLst/>
          </a:prstGeom>
          <a:solidFill>
            <a:srgbClr val="9C3D6E"/>
          </a:solidFill>
          <a:ln/>
        </p:spPr>
        <p:txBody>
          <a:bodyPr/>
          <a:lstStyle/>
          <a:p>
            <a:endParaRPr lang="en-US"/>
          </a:p>
        </p:txBody>
      </p:sp>
      <p:sp>
        <p:nvSpPr>
          <p:cNvPr id="121" name="Shape 119"/>
          <p:cNvSpPr/>
          <p:nvPr/>
        </p:nvSpPr>
        <p:spPr>
          <a:xfrm>
            <a:off x="2637114" y="3274466"/>
            <a:ext cx="34747" cy="34747"/>
          </a:xfrm>
          <a:prstGeom prst="ellipse">
            <a:avLst/>
          </a:prstGeom>
          <a:solidFill>
            <a:srgbClr val="9C3D6E"/>
          </a:solidFill>
          <a:ln/>
        </p:spPr>
        <p:txBody>
          <a:bodyPr/>
          <a:lstStyle/>
          <a:p>
            <a:endParaRPr lang="en-US"/>
          </a:p>
        </p:txBody>
      </p:sp>
      <p:sp>
        <p:nvSpPr>
          <p:cNvPr id="122" name="Shape 120"/>
          <p:cNvSpPr/>
          <p:nvPr/>
        </p:nvSpPr>
        <p:spPr>
          <a:xfrm>
            <a:off x="2670578" y="3274466"/>
            <a:ext cx="34747" cy="34747"/>
          </a:xfrm>
          <a:prstGeom prst="ellipse">
            <a:avLst/>
          </a:prstGeom>
          <a:solidFill>
            <a:srgbClr val="9C3D6E"/>
          </a:solidFill>
          <a:ln/>
        </p:spPr>
        <p:txBody>
          <a:bodyPr/>
          <a:lstStyle/>
          <a:p>
            <a:endParaRPr lang="en-US"/>
          </a:p>
        </p:txBody>
      </p:sp>
      <p:sp>
        <p:nvSpPr>
          <p:cNvPr id="123" name="Shape 121"/>
          <p:cNvSpPr/>
          <p:nvPr/>
        </p:nvSpPr>
        <p:spPr>
          <a:xfrm>
            <a:off x="2704041" y="3274466"/>
            <a:ext cx="34747" cy="34747"/>
          </a:xfrm>
          <a:prstGeom prst="ellipse">
            <a:avLst/>
          </a:prstGeom>
          <a:solidFill>
            <a:srgbClr val="9C3D6E"/>
          </a:solidFill>
          <a:ln/>
        </p:spPr>
        <p:txBody>
          <a:bodyPr/>
          <a:lstStyle/>
          <a:p>
            <a:endParaRPr lang="en-US"/>
          </a:p>
        </p:txBody>
      </p:sp>
      <p:sp>
        <p:nvSpPr>
          <p:cNvPr id="124" name="Shape 122"/>
          <p:cNvSpPr/>
          <p:nvPr/>
        </p:nvSpPr>
        <p:spPr>
          <a:xfrm>
            <a:off x="2737504" y="3274466"/>
            <a:ext cx="34747" cy="34747"/>
          </a:xfrm>
          <a:prstGeom prst="ellipse">
            <a:avLst/>
          </a:prstGeom>
          <a:solidFill>
            <a:srgbClr val="9C3D6E"/>
          </a:solidFill>
          <a:ln/>
        </p:spPr>
        <p:txBody>
          <a:bodyPr/>
          <a:lstStyle/>
          <a:p>
            <a:endParaRPr lang="en-US"/>
          </a:p>
        </p:txBody>
      </p:sp>
      <p:sp>
        <p:nvSpPr>
          <p:cNvPr id="125" name="Shape 123"/>
          <p:cNvSpPr/>
          <p:nvPr/>
        </p:nvSpPr>
        <p:spPr>
          <a:xfrm>
            <a:off x="2770967" y="3274466"/>
            <a:ext cx="34747" cy="34747"/>
          </a:xfrm>
          <a:prstGeom prst="ellipse">
            <a:avLst/>
          </a:prstGeom>
          <a:solidFill>
            <a:srgbClr val="9C3D6E"/>
          </a:solidFill>
          <a:ln/>
        </p:spPr>
        <p:txBody>
          <a:bodyPr/>
          <a:lstStyle/>
          <a:p>
            <a:endParaRPr lang="en-US"/>
          </a:p>
        </p:txBody>
      </p:sp>
      <p:sp>
        <p:nvSpPr>
          <p:cNvPr id="126" name="Shape 124"/>
          <p:cNvSpPr/>
          <p:nvPr/>
        </p:nvSpPr>
        <p:spPr>
          <a:xfrm>
            <a:off x="2804431" y="3274466"/>
            <a:ext cx="34747" cy="34747"/>
          </a:xfrm>
          <a:prstGeom prst="ellipse">
            <a:avLst/>
          </a:prstGeom>
          <a:solidFill>
            <a:srgbClr val="9C3D6E"/>
          </a:solidFill>
          <a:ln/>
        </p:spPr>
        <p:txBody>
          <a:bodyPr/>
          <a:lstStyle/>
          <a:p>
            <a:endParaRPr lang="en-US"/>
          </a:p>
        </p:txBody>
      </p:sp>
      <p:sp>
        <p:nvSpPr>
          <p:cNvPr id="127" name="Shape 125"/>
          <p:cNvSpPr/>
          <p:nvPr/>
        </p:nvSpPr>
        <p:spPr>
          <a:xfrm>
            <a:off x="2837894" y="3274466"/>
            <a:ext cx="34747" cy="34747"/>
          </a:xfrm>
          <a:prstGeom prst="ellipse">
            <a:avLst/>
          </a:prstGeom>
          <a:solidFill>
            <a:srgbClr val="9C3D6E"/>
          </a:solidFill>
          <a:ln/>
        </p:spPr>
        <p:txBody>
          <a:bodyPr/>
          <a:lstStyle/>
          <a:p>
            <a:endParaRPr lang="en-US"/>
          </a:p>
        </p:txBody>
      </p:sp>
      <p:sp>
        <p:nvSpPr>
          <p:cNvPr id="128" name="Shape 126"/>
          <p:cNvSpPr/>
          <p:nvPr/>
        </p:nvSpPr>
        <p:spPr>
          <a:xfrm>
            <a:off x="2871357" y="3274466"/>
            <a:ext cx="34747" cy="34747"/>
          </a:xfrm>
          <a:prstGeom prst="ellipse">
            <a:avLst/>
          </a:prstGeom>
          <a:solidFill>
            <a:srgbClr val="9C3D6E"/>
          </a:solidFill>
          <a:ln/>
        </p:spPr>
        <p:txBody>
          <a:bodyPr/>
          <a:lstStyle/>
          <a:p>
            <a:endParaRPr lang="en-US"/>
          </a:p>
        </p:txBody>
      </p:sp>
      <p:sp>
        <p:nvSpPr>
          <p:cNvPr id="129" name="Shape 127"/>
          <p:cNvSpPr/>
          <p:nvPr/>
        </p:nvSpPr>
        <p:spPr>
          <a:xfrm>
            <a:off x="2904820" y="3274466"/>
            <a:ext cx="34747" cy="34747"/>
          </a:xfrm>
          <a:prstGeom prst="ellipse">
            <a:avLst/>
          </a:prstGeom>
          <a:solidFill>
            <a:srgbClr val="9C3D6E"/>
          </a:solidFill>
          <a:ln/>
        </p:spPr>
        <p:txBody>
          <a:bodyPr/>
          <a:lstStyle/>
          <a:p>
            <a:endParaRPr lang="en-US"/>
          </a:p>
        </p:txBody>
      </p:sp>
      <p:sp>
        <p:nvSpPr>
          <p:cNvPr id="130" name="Shape 128"/>
          <p:cNvSpPr/>
          <p:nvPr/>
        </p:nvSpPr>
        <p:spPr>
          <a:xfrm>
            <a:off x="898855" y="3007722"/>
            <a:ext cx="31090" cy="31090"/>
          </a:xfrm>
          <a:prstGeom prst="ellipse">
            <a:avLst/>
          </a:prstGeom>
          <a:solidFill>
            <a:srgbClr val="1F7A6B"/>
          </a:solidFill>
          <a:ln/>
        </p:spPr>
        <p:txBody>
          <a:bodyPr/>
          <a:lstStyle/>
          <a:p>
            <a:endParaRPr lang="en-US"/>
          </a:p>
        </p:txBody>
      </p:sp>
      <p:sp>
        <p:nvSpPr>
          <p:cNvPr id="131" name="Shape 129"/>
          <p:cNvSpPr/>
          <p:nvPr/>
        </p:nvSpPr>
        <p:spPr>
          <a:xfrm>
            <a:off x="965782" y="2993164"/>
            <a:ext cx="31090" cy="31090"/>
          </a:xfrm>
          <a:prstGeom prst="ellipse">
            <a:avLst/>
          </a:prstGeom>
          <a:solidFill>
            <a:srgbClr val="1F7A6B"/>
          </a:solidFill>
          <a:ln/>
        </p:spPr>
        <p:txBody>
          <a:bodyPr/>
          <a:lstStyle/>
          <a:p>
            <a:endParaRPr lang="en-US"/>
          </a:p>
        </p:txBody>
      </p:sp>
      <p:sp>
        <p:nvSpPr>
          <p:cNvPr id="132" name="Shape 130"/>
          <p:cNvSpPr/>
          <p:nvPr/>
        </p:nvSpPr>
        <p:spPr>
          <a:xfrm>
            <a:off x="1032708" y="2976861"/>
            <a:ext cx="31090" cy="31090"/>
          </a:xfrm>
          <a:prstGeom prst="ellipse">
            <a:avLst/>
          </a:prstGeom>
          <a:solidFill>
            <a:srgbClr val="1F7A6B"/>
          </a:solidFill>
          <a:ln/>
        </p:spPr>
        <p:txBody>
          <a:bodyPr/>
          <a:lstStyle/>
          <a:p>
            <a:endParaRPr lang="en-US"/>
          </a:p>
        </p:txBody>
      </p:sp>
      <p:sp>
        <p:nvSpPr>
          <p:cNvPr id="133" name="Shape 131"/>
          <p:cNvSpPr/>
          <p:nvPr/>
        </p:nvSpPr>
        <p:spPr>
          <a:xfrm>
            <a:off x="1099635" y="2958687"/>
            <a:ext cx="31090" cy="31090"/>
          </a:xfrm>
          <a:prstGeom prst="ellipse">
            <a:avLst/>
          </a:prstGeom>
          <a:solidFill>
            <a:srgbClr val="1F7A6B"/>
          </a:solidFill>
          <a:ln/>
        </p:spPr>
        <p:txBody>
          <a:bodyPr/>
          <a:lstStyle/>
          <a:p>
            <a:endParaRPr lang="en-US"/>
          </a:p>
        </p:txBody>
      </p:sp>
      <p:sp>
        <p:nvSpPr>
          <p:cNvPr id="134" name="Shape 132"/>
          <p:cNvSpPr/>
          <p:nvPr/>
        </p:nvSpPr>
        <p:spPr>
          <a:xfrm>
            <a:off x="1166561" y="2938530"/>
            <a:ext cx="31090" cy="31090"/>
          </a:xfrm>
          <a:prstGeom prst="ellipse">
            <a:avLst/>
          </a:prstGeom>
          <a:solidFill>
            <a:srgbClr val="1F7A6B"/>
          </a:solidFill>
          <a:ln/>
        </p:spPr>
        <p:txBody>
          <a:bodyPr/>
          <a:lstStyle/>
          <a:p>
            <a:endParaRPr lang="en-US"/>
          </a:p>
        </p:txBody>
      </p:sp>
      <p:sp>
        <p:nvSpPr>
          <p:cNvPr id="135" name="Shape 133"/>
          <p:cNvSpPr/>
          <p:nvPr/>
        </p:nvSpPr>
        <p:spPr>
          <a:xfrm>
            <a:off x="1233488" y="2916303"/>
            <a:ext cx="31090" cy="31090"/>
          </a:xfrm>
          <a:prstGeom prst="ellipse">
            <a:avLst/>
          </a:prstGeom>
          <a:solidFill>
            <a:srgbClr val="1F7A6B"/>
          </a:solidFill>
          <a:ln/>
        </p:spPr>
        <p:txBody>
          <a:bodyPr/>
          <a:lstStyle/>
          <a:p>
            <a:endParaRPr lang="en-US"/>
          </a:p>
        </p:txBody>
      </p:sp>
      <p:sp>
        <p:nvSpPr>
          <p:cNvPr id="136" name="Shape 134"/>
          <p:cNvSpPr/>
          <p:nvPr/>
        </p:nvSpPr>
        <p:spPr>
          <a:xfrm>
            <a:off x="1300414" y="2891943"/>
            <a:ext cx="31090" cy="31090"/>
          </a:xfrm>
          <a:prstGeom prst="ellipse">
            <a:avLst/>
          </a:prstGeom>
          <a:solidFill>
            <a:srgbClr val="1F7A6B"/>
          </a:solidFill>
          <a:ln/>
        </p:spPr>
        <p:txBody>
          <a:bodyPr/>
          <a:lstStyle/>
          <a:p>
            <a:endParaRPr lang="en-US"/>
          </a:p>
        </p:txBody>
      </p:sp>
      <p:sp>
        <p:nvSpPr>
          <p:cNvPr id="137" name="Shape 135"/>
          <p:cNvSpPr/>
          <p:nvPr/>
        </p:nvSpPr>
        <p:spPr>
          <a:xfrm>
            <a:off x="1367340" y="2865429"/>
            <a:ext cx="31090" cy="31090"/>
          </a:xfrm>
          <a:prstGeom prst="ellipse">
            <a:avLst/>
          </a:prstGeom>
          <a:solidFill>
            <a:srgbClr val="1F7A6B"/>
          </a:solidFill>
          <a:ln/>
        </p:spPr>
        <p:txBody>
          <a:bodyPr/>
          <a:lstStyle/>
          <a:p>
            <a:endParaRPr lang="en-US"/>
          </a:p>
        </p:txBody>
      </p:sp>
      <p:sp>
        <p:nvSpPr>
          <p:cNvPr id="138" name="Shape 136"/>
          <p:cNvSpPr/>
          <p:nvPr/>
        </p:nvSpPr>
        <p:spPr>
          <a:xfrm>
            <a:off x="1434267" y="2836786"/>
            <a:ext cx="31090" cy="31090"/>
          </a:xfrm>
          <a:prstGeom prst="ellipse">
            <a:avLst/>
          </a:prstGeom>
          <a:solidFill>
            <a:srgbClr val="1F7A6B"/>
          </a:solidFill>
          <a:ln/>
        </p:spPr>
        <p:txBody>
          <a:bodyPr/>
          <a:lstStyle/>
          <a:p>
            <a:endParaRPr lang="en-US"/>
          </a:p>
        </p:txBody>
      </p:sp>
      <p:sp>
        <p:nvSpPr>
          <p:cNvPr id="139" name="Shape 137"/>
          <p:cNvSpPr/>
          <p:nvPr/>
        </p:nvSpPr>
        <p:spPr>
          <a:xfrm>
            <a:off x="1501193" y="2806090"/>
            <a:ext cx="31090" cy="31090"/>
          </a:xfrm>
          <a:prstGeom prst="ellipse">
            <a:avLst/>
          </a:prstGeom>
          <a:solidFill>
            <a:srgbClr val="1F7A6B"/>
          </a:solidFill>
          <a:ln/>
        </p:spPr>
        <p:txBody>
          <a:bodyPr/>
          <a:lstStyle/>
          <a:p>
            <a:endParaRPr lang="en-US"/>
          </a:p>
        </p:txBody>
      </p:sp>
      <p:sp>
        <p:nvSpPr>
          <p:cNvPr id="140" name="Shape 138"/>
          <p:cNvSpPr/>
          <p:nvPr/>
        </p:nvSpPr>
        <p:spPr>
          <a:xfrm>
            <a:off x="1568120" y="2773477"/>
            <a:ext cx="31090" cy="31090"/>
          </a:xfrm>
          <a:prstGeom prst="ellipse">
            <a:avLst/>
          </a:prstGeom>
          <a:solidFill>
            <a:srgbClr val="1F7A6B"/>
          </a:solidFill>
          <a:ln/>
        </p:spPr>
        <p:txBody>
          <a:bodyPr/>
          <a:lstStyle/>
          <a:p>
            <a:endParaRPr lang="en-US"/>
          </a:p>
        </p:txBody>
      </p:sp>
      <p:sp>
        <p:nvSpPr>
          <p:cNvPr id="141" name="Shape 139"/>
          <p:cNvSpPr/>
          <p:nvPr/>
        </p:nvSpPr>
        <p:spPr>
          <a:xfrm>
            <a:off x="1635046" y="2739144"/>
            <a:ext cx="31090" cy="31090"/>
          </a:xfrm>
          <a:prstGeom prst="ellipse">
            <a:avLst/>
          </a:prstGeom>
          <a:solidFill>
            <a:srgbClr val="1F7A6B"/>
          </a:solidFill>
          <a:ln/>
        </p:spPr>
        <p:txBody>
          <a:bodyPr/>
          <a:lstStyle/>
          <a:p>
            <a:endParaRPr lang="en-US"/>
          </a:p>
        </p:txBody>
      </p:sp>
      <p:sp>
        <p:nvSpPr>
          <p:cNvPr id="142" name="Shape 140"/>
          <p:cNvSpPr/>
          <p:nvPr/>
        </p:nvSpPr>
        <p:spPr>
          <a:xfrm>
            <a:off x="1701973" y="2703346"/>
            <a:ext cx="31090" cy="31090"/>
          </a:xfrm>
          <a:prstGeom prst="ellipse">
            <a:avLst/>
          </a:prstGeom>
          <a:solidFill>
            <a:srgbClr val="1F7A6B"/>
          </a:solidFill>
          <a:ln/>
        </p:spPr>
        <p:txBody>
          <a:bodyPr/>
          <a:lstStyle/>
          <a:p>
            <a:endParaRPr lang="en-US"/>
          </a:p>
        </p:txBody>
      </p:sp>
      <p:sp>
        <p:nvSpPr>
          <p:cNvPr id="143" name="Shape 141"/>
          <p:cNvSpPr/>
          <p:nvPr/>
        </p:nvSpPr>
        <p:spPr>
          <a:xfrm>
            <a:off x="1768899" y="2666396"/>
            <a:ext cx="31090" cy="31090"/>
          </a:xfrm>
          <a:prstGeom prst="ellipse">
            <a:avLst/>
          </a:prstGeom>
          <a:solidFill>
            <a:srgbClr val="1F7A6B"/>
          </a:solidFill>
          <a:ln/>
        </p:spPr>
        <p:txBody>
          <a:bodyPr/>
          <a:lstStyle/>
          <a:p>
            <a:endParaRPr lang="en-US"/>
          </a:p>
        </p:txBody>
      </p:sp>
      <p:sp>
        <p:nvSpPr>
          <p:cNvPr id="144" name="Shape 142"/>
          <p:cNvSpPr/>
          <p:nvPr/>
        </p:nvSpPr>
        <p:spPr>
          <a:xfrm>
            <a:off x="1835826" y="2628649"/>
            <a:ext cx="31090" cy="31090"/>
          </a:xfrm>
          <a:prstGeom prst="ellipse">
            <a:avLst/>
          </a:prstGeom>
          <a:solidFill>
            <a:srgbClr val="1F7A6B"/>
          </a:solidFill>
          <a:ln/>
        </p:spPr>
        <p:txBody>
          <a:bodyPr/>
          <a:lstStyle/>
          <a:p>
            <a:endParaRPr lang="en-US"/>
          </a:p>
        </p:txBody>
      </p:sp>
      <p:sp>
        <p:nvSpPr>
          <p:cNvPr id="145" name="Shape 143"/>
          <p:cNvSpPr/>
          <p:nvPr/>
        </p:nvSpPr>
        <p:spPr>
          <a:xfrm>
            <a:off x="1902752" y="2590495"/>
            <a:ext cx="31090" cy="31090"/>
          </a:xfrm>
          <a:prstGeom prst="ellipse">
            <a:avLst/>
          </a:prstGeom>
          <a:solidFill>
            <a:srgbClr val="1F7A6B"/>
          </a:solidFill>
          <a:ln/>
        </p:spPr>
        <p:txBody>
          <a:bodyPr/>
          <a:lstStyle/>
          <a:p>
            <a:endParaRPr lang="en-US"/>
          </a:p>
        </p:txBody>
      </p:sp>
      <p:sp>
        <p:nvSpPr>
          <p:cNvPr id="146" name="Shape 144"/>
          <p:cNvSpPr/>
          <p:nvPr/>
        </p:nvSpPr>
        <p:spPr>
          <a:xfrm>
            <a:off x="1969679" y="2552342"/>
            <a:ext cx="31090" cy="31090"/>
          </a:xfrm>
          <a:prstGeom prst="ellipse">
            <a:avLst/>
          </a:prstGeom>
          <a:solidFill>
            <a:srgbClr val="1F7A6B"/>
          </a:solidFill>
          <a:ln/>
        </p:spPr>
        <p:txBody>
          <a:bodyPr/>
          <a:lstStyle/>
          <a:p>
            <a:endParaRPr lang="en-US"/>
          </a:p>
        </p:txBody>
      </p:sp>
      <p:sp>
        <p:nvSpPr>
          <p:cNvPr id="147" name="Shape 145"/>
          <p:cNvSpPr/>
          <p:nvPr/>
        </p:nvSpPr>
        <p:spPr>
          <a:xfrm>
            <a:off x="2036605" y="2514595"/>
            <a:ext cx="31090" cy="31090"/>
          </a:xfrm>
          <a:prstGeom prst="ellipse">
            <a:avLst/>
          </a:prstGeom>
          <a:solidFill>
            <a:srgbClr val="1F7A6B"/>
          </a:solidFill>
          <a:ln/>
        </p:spPr>
        <p:txBody>
          <a:bodyPr/>
          <a:lstStyle/>
          <a:p>
            <a:endParaRPr lang="en-US"/>
          </a:p>
        </p:txBody>
      </p:sp>
      <p:sp>
        <p:nvSpPr>
          <p:cNvPr id="148" name="Shape 146"/>
          <p:cNvSpPr/>
          <p:nvPr/>
        </p:nvSpPr>
        <p:spPr>
          <a:xfrm>
            <a:off x="2103531" y="2477644"/>
            <a:ext cx="31090" cy="31090"/>
          </a:xfrm>
          <a:prstGeom prst="ellipse">
            <a:avLst/>
          </a:prstGeom>
          <a:solidFill>
            <a:srgbClr val="1F7A6B"/>
          </a:solidFill>
          <a:ln/>
        </p:spPr>
        <p:txBody>
          <a:bodyPr/>
          <a:lstStyle/>
          <a:p>
            <a:endParaRPr lang="en-US"/>
          </a:p>
        </p:txBody>
      </p:sp>
      <p:sp>
        <p:nvSpPr>
          <p:cNvPr id="149" name="Shape 147"/>
          <p:cNvSpPr/>
          <p:nvPr/>
        </p:nvSpPr>
        <p:spPr>
          <a:xfrm>
            <a:off x="2170458" y="2441847"/>
            <a:ext cx="31090" cy="31090"/>
          </a:xfrm>
          <a:prstGeom prst="ellipse">
            <a:avLst/>
          </a:prstGeom>
          <a:solidFill>
            <a:srgbClr val="1F7A6B"/>
          </a:solidFill>
          <a:ln/>
        </p:spPr>
        <p:txBody>
          <a:bodyPr/>
          <a:lstStyle/>
          <a:p>
            <a:endParaRPr lang="en-US"/>
          </a:p>
        </p:txBody>
      </p:sp>
      <p:sp>
        <p:nvSpPr>
          <p:cNvPr id="150" name="Shape 148"/>
          <p:cNvSpPr/>
          <p:nvPr/>
        </p:nvSpPr>
        <p:spPr>
          <a:xfrm>
            <a:off x="2237384" y="2407513"/>
            <a:ext cx="31090" cy="31090"/>
          </a:xfrm>
          <a:prstGeom prst="ellipse">
            <a:avLst/>
          </a:prstGeom>
          <a:solidFill>
            <a:srgbClr val="1F7A6B"/>
          </a:solidFill>
          <a:ln/>
        </p:spPr>
        <p:txBody>
          <a:bodyPr/>
          <a:lstStyle/>
          <a:p>
            <a:endParaRPr lang="en-US"/>
          </a:p>
        </p:txBody>
      </p:sp>
      <p:sp>
        <p:nvSpPr>
          <p:cNvPr id="151" name="Shape 149"/>
          <p:cNvSpPr/>
          <p:nvPr/>
        </p:nvSpPr>
        <p:spPr>
          <a:xfrm>
            <a:off x="2304311" y="2374900"/>
            <a:ext cx="31090" cy="31090"/>
          </a:xfrm>
          <a:prstGeom prst="ellipse">
            <a:avLst/>
          </a:prstGeom>
          <a:solidFill>
            <a:srgbClr val="1F7A6B"/>
          </a:solidFill>
          <a:ln/>
        </p:spPr>
        <p:txBody>
          <a:bodyPr/>
          <a:lstStyle/>
          <a:p>
            <a:endParaRPr lang="en-US"/>
          </a:p>
        </p:txBody>
      </p:sp>
      <p:sp>
        <p:nvSpPr>
          <p:cNvPr id="152" name="Shape 150"/>
          <p:cNvSpPr/>
          <p:nvPr/>
        </p:nvSpPr>
        <p:spPr>
          <a:xfrm>
            <a:off x="2371237" y="2344204"/>
            <a:ext cx="31090" cy="31090"/>
          </a:xfrm>
          <a:prstGeom prst="ellipse">
            <a:avLst/>
          </a:prstGeom>
          <a:solidFill>
            <a:srgbClr val="1F7A6B"/>
          </a:solidFill>
          <a:ln/>
        </p:spPr>
        <p:txBody>
          <a:bodyPr/>
          <a:lstStyle/>
          <a:p>
            <a:endParaRPr lang="en-US"/>
          </a:p>
        </p:txBody>
      </p:sp>
      <p:sp>
        <p:nvSpPr>
          <p:cNvPr id="153" name="Shape 151"/>
          <p:cNvSpPr/>
          <p:nvPr/>
        </p:nvSpPr>
        <p:spPr>
          <a:xfrm>
            <a:off x="2438164" y="2315561"/>
            <a:ext cx="31090" cy="31090"/>
          </a:xfrm>
          <a:prstGeom prst="ellipse">
            <a:avLst/>
          </a:prstGeom>
          <a:solidFill>
            <a:srgbClr val="1F7A6B"/>
          </a:solidFill>
          <a:ln/>
        </p:spPr>
        <p:txBody>
          <a:bodyPr/>
          <a:lstStyle/>
          <a:p>
            <a:endParaRPr lang="en-US"/>
          </a:p>
        </p:txBody>
      </p:sp>
      <p:sp>
        <p:nvSpPr>
          <p:cNvPr id="154" name="Shape 152"/>
          <p:cNvSpPr/>
          <p:nvPr/>
        </p:nvSpPr>
        <p:spPr>
          <a:xfrm>
            <a:off x="2505090" y="2289048"/>
            <a:ext cx="31090" cy="31090"/>
          </a:xfrm>
          <a:prstGeom prst="ellipse">
            <a:avLst/>
          </a:prstGeom>
          <a:solidFill>
            <a:srgbClr val="1F7A6B"/>
          </a:solidFill>
          <a:ln/>
        </p:spPr>
        <p:txBody>
          <a:bodyPr/>
          <a:lstStyle/>
          <a:p>
            <a:endParaRPr lang="en-US"/>
          </a:p>
        </p:txBody>
      </p:sp>
      <p:sp>
        <p:nvSpPr>
          <p:cNvPr id="155" name="Shape 153"/>
          <p:cNvSpPr/>
          <p:nvPr/>
        </p:nvSpPr>
        <p:spPr>
          <a:xfrm>
            <a:off x="2572017" y="2264688"/>
            <a:ext cx="31090" cy="31090"/>
          </a:xfrm>
          <a:prstGeom prst="ellipse">
            <a:avLst/>
          </a:prstGeom>
          <a:solidFill>
            <a:srgbClr val="1F7A6B"/>
          </a:solidFill>
          <a:ln/>
        </p:spPr>
        <p:txBody>
          <a:bodyPr/>
          <a:lstStyle/>
          <a:p>
            <a:endParaRPr lang="en-US"/>
          </a:p>
        </p:txBody>
      </p:sp>
      <p:sp>
        <p:nvSpPr>
          <p:cNvPr id="156" name="Shape 154"/>
          <p:cNvSpPr/>
          <p:nvPr/>
        </p:nvSpPr>
        <p:spPr>
          <a:xfrm>
            <a:off x="2638943" y="2242460"/>
            <a:ext cx="31090" cy="31090"/>
          </a:xfrm>
          <a:prstGeom prst="ellipse">
            <a:avLst/>
          </a:prstGeom>
          <a:solidFill>
            <a:srgbClr val="1F7A6B"/>
          </a:solidFill>
          <a:ln/>
        </p:spPr>
        <p:txBody>
          <a:bodyPr/>
          <a:lstStyle/>
          <a:p>
            <a:endParaRPr lang="en-US"/>
          </a:p>
        </p:txBody>
      </p:sp>
      <p:sp>
        <p:nvSpPr>
          <p:cNvPr id="157" name="Shape 155"/>
          <p:cNvSpPr/>
          <p:nvPr/>
        </p:nvSpPr>
        <p:spPr>
          <a:xfrm>
            <a:off x="2705870" y="2222304"/>
            <a:ext cx="31090" cy="31090"/>
          </a:xfrm>
          <a:prstGeom prst="ellipse">
            <a:avLst/>
          </a:prstGeom>
          <a:solidFill>
            <a:srgbClr val="1F7A6B"/>
          </a:solidFill>
          <a:ln/>
        </p:spPr>
        <p:txBody>
          <a:bodyPr/>
          <a:lstStyle/>
          <a:p>
            <a:endParaRPr lang="en-US"/>
          </a:p>
        </p:txBody>
      </p:sp>
      <p:sp>
        <p:nvSpPr>
          <p:cNvPr id="158" name="Shape 156"/>
          <p:cNvSpPr/>
          <p:nvPr/>
        </p:nvSpPr>
        <p:spPr>
          <a:xfrm>
            <a:off x="2772796" y="2204130"/>
            <a:ext cx="31090" cy="31090"/>
          </a:xfrm>
          <a:prstGeom prst="ellipse">
            <a:avLst/>
          </a:prstGeom>
          <a:solidFill>
            <a:srgbClr val="1F7A6B"/>
          </a:solidFill>
          <a:ln/>
        </p:spPr>
        <p:txBody>
          <a:bodyPr/>
          <a:lstStyle/>
          <a:p>
            <a:endParaRPr lang="en-US"/>
          </a:p>
        </p:txBody>
      </p:sp>
      <p:sp>
        <p:nvSpPr>
          <p:cNvPr id="159" name="Shape 157"/>
          <p:cNvSpPr/>
          <p:nvPr/>
        </p:nvSpPr>
        <p:spPr>
          <a:xfrm>
            <a:off x="2839723" y="2187827"/>
            <a:ext cx="31090" cy="31090"/>
          </a:xfrm>
          <a:prstGeom prst="ellipse">
            <a:avLst/>
          </a:prstGeom>
          <a:solidFill>
            <a:srgbClr val="1F7A6B"/>
          </a:solidFill>
          <a:ln/>
        </p:spPr>
        <p:txBody>
          <a:bodyPr/>
          <a:lstStyle/>
          <a:p>
            <a:endParaRPr lang="en-US"/>
          </a:p>
        </p:txBody>
      </p:sp>
      <p:sp>
        <p:nvSpPr>
          <p:cNvPr id="160" name="Shape 158"/>
          <p:cNvSpPr/>
          <p:nvPr/>
        </p:nvSpPr>
        <p:spPr>
          <a:xfrm>
            <a:off x="2906649" y="2173269"/>
            <a:ext cx="31090" cy="31090"/>
          </a:xfrm>
          <a:prstGeom prst="ellipse">
            <a:avLst/>
          </a:prstGeom>
          <a:solidFill>
            <a:srgbClr val="1F7A6B"/>
          </a:solidFill>
          <a:ln/>
        </p:spPr>
        <p:txBody>
          <a:bodyPr/>
          <a:lstStyle/>
          <a:p>
            <a:endParaRPr lang="en-US"/>
          </a:p>
        </p:txBody>
      </p:sp>
      <p:sp>
        <p:nvSpPr>
          <p:cNvPr id="161" name="Text 159"/>
          <p:cNvSpPr txBox="1"/>
          <p:nvPr/>
        </p:nvSpPr>
        <p:spPr>
          <a:xfrm>
            <a:off x="640080" y="3429000"/>
            <a:ext cx="2556434" cy="274320"/>
          </a:xfrm>
          <a:prstGeom prst="rect">
            <a:avLst/>
          </a:prstGeom>
          <a:noFill/>
          <a:ln/>
        </p:spPr>
        <p:txBody>
          <a:bodyPr wrap="square" lIns="0" tIns="0" rIns="0" bIns="0" rtlCol="0" anchor="ctr"/>
          <a:lstStyle/>
          <a:p>
            <a:pPr marL="0" indent="0" algn="ctr">
              <a:buNone/>
            </a:pPr>
            <a:r>
              <a:rPr lang="en-US" sz="1050" i="1" dirty="0">
                <a:solidFill>
                  <a:srgbClr val="5B6474"/>
                </a:solidFill>
                <a:latin typeface="Calibri" pitchFamily="34" charset="0"/>
                <a:ea typeface="Calibri" pitchFamily="34" charset="-122"/>
                <a:cs typeface="Calibri" pitchFamily="34" charset="-120"/>
              </a:rPr>
              <a:t>D still separates</a:t>
            </a:r>
            <a:endParaRPr lang="en-US" sz="1050" dirty="0"/>
          </a:p>
        </p:txBody>
      </p:sp>
      <p:sp>
        <p:nvSpPr>
          <p:cNvPr id="162" name="Text 160"/>
          <p:cNvSpPr txBox="1"/>
          <p:nvPr/>
        </p:nvSpPr>
        <p:spPr>
          <a:xfrm>
            <a:off x="777240" y="3703320"/>
            <a:ext cx="2282114" cy="411480"/>
          </a:xfrm>
          <a:prstGeom prst="rect">
            <a:avLst/>
          </a:prstGeom>
          <a:noFill/>
          <a:ln/>
        </p:spPr>
        <p:txBody>
          <a:bodyPr wrap="square" lIns="0" tIns="0" rIns="0" bIns="0" rtlCol="0" anchor="ctr"/>
          <a:lstStyle/>
          <a:p>
            <a:pPr marL="0" indent="0" algn="ctr">
              <a:lnSpc>
                <a:spcPts val="1300"/>
              </a:lnSpc>
              <a:buNone/>
            </a:pPr>
            <a:r>
              <a:rPr lang="en-US" sz="1050" dirty="0">
                <a:solidFill>
                  <a:srgbClr val="5B6474"/>
                </a:solidFill>
                <a:latin typeface="Calibri" pitchFamily="34" charset="0"/>
                <a:ea typeface="Calibri" pitchFamily="34" charset="-122"/>
                <a:cs typeface="Calibri" pitchFamily="34" charset="-120"/>
              </a:rPr>
              <a:t>the generator is still wrong</a:t>
            </a:r>
            <a:endParaRPr lang="en-US" sz="1050" dirty="0"/>
          </a:p>
        </p:txBody>
      </p:sp>
      <p:sp>
        <p:nvSpPr>
          <p:cNvPr id="163" name="Shape 161"/>
          <p:cNvSpPr/>
          <p:nvPr/>
        </p:nvSpPr>
        <p:spPr>
          <a:xfrm>
            <a:off x="3425114" y="1325880"/>
            <a:ext cx="2556434" cy="2880360"/>
          </a:xfrm>
          <a:prstGeom prst="roundRect">
            <a:avLst>
              <a:gd name="adj" fmla="val 2861"/>
            </a:avLst>
          </a:prstGeom>
          <a:solidFill>
            <a:srgbClr val="F3F5F8"/>
          </a:solidFill>
          <a:ln w="12700">
            <a:solidFill>
              <a:srgbClr val="F3F5F8"/>
            </a:solidFill>
            <a:prstDash val="solid"/>
          </a:ln>
        </p:spPr>
        <p:txBody>
          <a:bodyPr/>
          <a:lstStyle/>
          <a:p>
            <a:endParaRPr lang="en-US"/>
          </a:p>
        </p:txBody>
      </p:sp>
      <p:sp>
        <p:nvSpPr>
          <p:cNvPr id="164" name="Text 162"/>
          <p:cNvSpPr txBox="1"/>
          <p:nvPr/>
        </p:nvSpPr>
        <p:spPr>
          <a:xfrm>
            <a:off x="3425114" y="1463040"/>
            <a:ext cx="2556434" cy="310896"/>
          </a:xfrm>
          <a:prstGeom prst="rect">
            <a:avLst/>
          </a:prstGeom>
          <a:noFill/>
          <a:ln/>
        </p:spPr>
        <p:txBody>
          <a:bodyPr wrap="square" lIns="0" tIns="0" rIns="0" bIns="0" rtlCol="0" anchor="ctr"/>
          <a:lstStyle/>
          <a:p>
            <a:pPr marL="0" indent="0" algn="ctr">
              <a:buNone/>
            </a:pPr>
            <a:r>
              <a:rPr lang="en-US" sz="1400" b="1" dirty="0">
                <a:solidFill>
                  <a:srgbClr val="0E131B"/>
                </a:solidFill>
                <a:latin typeface="Cambria Math" pitchFamily="34" charset="0"/>
                <a:ea typeface="Cambria Math" pitchFamily="34" charset="-122"/>
                <a:cs typeface="Cambria Math" pitchFamily="34" charset="-120"/>
              </a:rPr>
              <a:t>(b) D sharpens</a:t>
            </a:r>
            <a:endParaRPr lang="en-US" sz="1400" dirty="0"/>
          </a:p>
        </p:txBody>
      </p:sp>
      <p:sp>
        <p:nvSpPr>
          <p:cNvPr id="165" name="Shape 163"/>
          <p:cNvSpPr/>
          <p:nvPr/>
        </p:nvSpPr>
        <p:spPr>
          <a:xfrm>
            <a:off x="3607994" y="3291840"/>
            <a:ext cx="2190674" cy="16459"/>
          </a:xfrm>
          <a:prstGeom prst="rect">
            <a:avLst/>
          </a:prstGeom>
          <a:solidFill>
            <a:srgbClr val="B6BECB"/>
          </a:solidFill>
          <a:ln/>
        </p:spPr>
        <p:txBody>
          <a:bodyPr/>
          <a:lstStyle/>
          <a:p>
            <a:endParaRPr lang="en-US"/>
          </a:p>
        </p:txBody>
      </p:sp>
      <p:sp>
        <p:nvSpPr>
          <p:cNvPr id="166" name="Shape 164"/>
          <p:cNvSpPr/>
          <p:nvPr/>
        </p:nvSpPr>
        <p:spPr>
          <a:xfrm>
            <a:off x="3682060" y="3274466"/>
            <a:ext cx="34747" cy="34747"/>
          </a:xfrm>
          <a:prstGeom prst="ellipse">
            <a:avLst/>
          </a:prstGeom>
          <a:solidFill>
            <a:srgbClr val="444B57"/>
          </a:solidFill>
          <a:ln/>
        </p:spPr>
        <p:txBody>
          <a:bodyPr/>
          <a:lstStyle/>
          <a:p>
            <a:endParaRPr lang="en-US"/>
          </a:p>
        </p:txBody>
      </p:sp>
      <p:sp>
        <p:nvSpPr>
          <p:cNvPr id="167" name="Shape 165"/>
          <p:cNvSpPr/>
          <p:nvPr/>
        </p:nvSpPr>
        <p:spPr>
          <a:xfrm>
            <a:off x="3715523" y="3274466"/>
            <a:ext cx="34747" cy="34747"/>
          </a:xfrm>
          <a:prstGeom prst="ellipse">
            <a:avLst/>
          </a:prstGeom>
          <a:solidFill>
            <a:srgbClr val="444B57"/>
          </a:solidFill>
          <a:ln/>
        </p:spPr>
        <p:txBody>
          <a:bodyPr/>
          <a:lstStyle/>
          <a:p>
            <a:endParaRPr lang="en-US"/>
          </a:p>
        </p:txBody>
      </p:sp>
      <p:sp>
        <p:nvSpPr>
          <p:cNvPr id="168" name="Shape 166"/>
          <p:cNvSpPr/>
          <p:nvPr/>
        </p:nvSpPr>
        <p:spPr>
          <a:xfrm>
            <a:off x="3748987" y="3274466"/>
            <a:ext cx="34747" cy="34747"/>
          </a:xfrm>
          <a:prstGeom prst="ellipse">
            <a:avLst/>
          </a:prstGeom>
          <a:solidFill>
            <a:srgbClr val="444B57"/>
          </a:solidFill>
          <a:ln/>
        </p:spPr>
        <p:txBody>
          <a:bodyPr/>
          <a:lstStyle/>
          <a:p>
            <a:endParaRPr lang="en-US"/>
          </a:p>
        </p:txBody>
      </p:sp>
      <p:sp>
        <p:nvSpPr>
          <p:cNvPr id="169" name="Shape 167"/>
          <p:cNvSpPr/>
          <p:nvPr/>
        </p:nvSpPr>
        <p:spPr>
          <a:xfrm>
            <a:off x="3782450" y="3274464"/>
            <a:ext cx="34747" cy="34747"/>
          </a:xfrm>
          <a:prstGeom prst="ellipse">
            <a:avLst/>
          </a:prstGeom>
          <a:solidFill>
            <a:srgbClr val="444B57"/>
          </a:solidFill>
          <a:ln/>
        </p:spPr>
        <p:txBody>
          <a:bodyPr/>
          <a:lstStyle/>
          <a:p>
            <a:endParaRPr lang="en-US"/>
          </a:p>
        </p:txBody>
      </p:sp>
      <p:sp>
        <p:nvSpPr>
          <p:cNvPr id="170" name="Shape 168"/>
          <p:cNvSpPr/>
          <p:nvPr/>
        </p:nvSpPr>
        <p:spPr>
          <a:xfrm>
            <a:off x="3815913" y="3274462"/>
            <a:ext cx="34747" cy="34747"/>
          </a:xfrm>
          <a:prstGeom prst="ellipse">
            <a:avLst/>
          </a:prstGeom>
          <a:solidFill>
            <a:srgbClr val="444B57"/>
          </a:solidFill>
          <a:ln/>
        </p:spPr>
        <p:txBody>
          <a:bodyPr/>
          <a:lstStyle/>
          <a:p>
            <a:endParaRPr lang="en-US"/>
          </a:p>
        </p:txBody>
      </p:sp>
      <p:sp>
        <p:nvSpPr>
          <p:cNvPr id="171" name="Shape 169"/>
          <p:cNvSpPr/>
          <p:nvPr/>
        </p:nvSpPr>
        <p:spPr>
          <a:xfrm>
            <a:off x="3849376" y="3274458"/>
            <a:ext cx="34747" cy="34747"/>
          </a:xfrm>
          <a:prstGeom prst="ellipse">
            <a:avLst/>
          </a:prstGeom>
          <a:solidFill>
            <a:srgbClr val="444B57"/>
          </a:solidFill>
          <a:ln/>
        </p:spPr>
        <p:txBody>
          <a:bodyPr/>
          <a:lstStyle/>
          <a:p>
            <a:endParaRPr lang="en-US"/>
          </a:p>
        </p:txBody>
      </p:sp>
      <p:sp>
        <p:nvSpPr>
          <p:cNvPr id="172" name="Shape 170"/>
          <p:cNvSpPr/>
          <p:nvPr/>
        </p:nvSpPr>
        <p:spPr>
          <a:xfrm>
            <a:off x="3882840" y="3274448"/>
            <a:ext cx="34747" cy="34747"/>
          </a:xfrm>
          <a:prstGeom prst="ellipse">
            <a:avLst/>
          </a:prstGeom>
          <a:solidFill>
            <a:srgbClr val="444B57"/>
          </a:solidFill>
          <a:ln/>
        </p:spPr>
        <p:txBody>
          <a:bodyPr/>
          <a:lstStyle/>
          <a:p>
            <a:endParaRPr lang="en-US"/>
          </a:p>
        </p:txBody>
      </p:sp>
      <p:sp>
        <p:nvSpPr>
          <p:cNvPr id="173" name="Shape 171"/>
          <p:cNvSpPr/>
          <p:nvPr/>
        </p:nvSpPr>
        <p:spPr>
          <a:xfrm>
            <a:off x="3916303" y="3274429"/>
            <a:ext cx="34747" cy="34747"/>
          </a:xfrm>
          <a:prstGeom prst="ellipse">
            <a:avLst/>
          </a:prstGeom>
          <a:solidFill>
            <a:srgbClr val="444B57"/>
          </a:solidFill>
          <a:ln/>
        </p:spPr>
        <p:txBody>
          <a:bodyPr/>
          <a:lstStyle/>
          <a:p>
            <a:endParaRPr lang="en-US"/>
          </a:p>
        </p:txBody>
      </p:sp>
      <p:sp>
        <p:nvSpPr>
          <p:cNvPr id="174" name="Shape 172"/>
          <p:cNvSpPr/>
          <p:nvPr/>
        </p:nvSpPr>
        <p:spPr>
          <a:xfrm>
            <a:off x="3949766" y="3274393"/>
            <a:ext cx="34747" cy="34747"/>
          </a:xfrm>
          <a:prstGeom prst="ellipse">
            <a:avLst/>
          </a:prstGeom>
          <a:solidFill>
            <a:srgbClr val="444B57"/>
          </a:solidFill>
          <a:ln/>
        </p:spPr>
        <p:txBody>
          <a:bodyPr/>
          <a:lstStyle/>
          <a:p>
            <a:endParaRPr lang="en-US"/>
          </a:p>
        </p:txBody>
      </p:sp>
      <p:sp>
        <p:nvSpPr>
          <p:cNvPr id="175" name="Shape 173"/>
          <p:cNvSpPr/>
          <p:nvPr/>
        </p:nvSpPr>
        <p:spPr>
          <a:xfrm>
            <a:off x="3983229" y="3274325"/>
            <a:ext cx="34747" cy="34747"/>
          </a:xfrm>
          <a:prstGeom prst="ellipse">
            <a:avLst/>
          </a:prstGeom>
          <a:solidFill>
            <a:srgbClr val="444B57"/>
          </a:solidFill>
          <a:ln/>
        </p:spPr>
        <p:txBody>
          <a:bodyPr/>
          <a:lstStyle/>
          <a:p>
            <a:endParaRPr lang="en-US"/>
          </a:p>
        </p:txBody>
      </p:sp>
      <p:sp>
        <p:nvSpPr>
          <p:cNvPr id="176" name="Shape 174"/>
          <p:cNvSpPr/>
          <p:nvPr/>
        </p:nvSpPr>
        <p:spPr>
          <a:xfrm>
            <a:off x="4016693" y="3274199"/>
            <a:ext cx="34747" cy="34747"/>
          </a:xfrm>
          <a:prstGeom prst="ellipse">
            <a:avLst/>
          </a:prstGeom>
          <a:solidFill>
            <a:srgbClr val="444B57"/>
          </a:solidFill>
          <a:ln/>
        </p:spPr>
        <p:txBody>
          <a:bodyPr/>
          <a:lstStyle/>
          <a:p>
            <a:endParaRPr lang="en-US"/>
          </a:p>
        </p:txBody>
      </p:sp>
      <p:sp>
        <p:nvSpPr>
          <p:cNvPr id="177" name="Shape 175"/>
          <p:cNvSpPr/>
          <p:nvPr/>
        </p:nvSpPr>
        <p:spPr>
          <a:xfrm>
            <a:off x="4050156" y="3273973"/>
            <a:ext cx="34747" cy="34747"/>
          </a:xfrm>
          <a:prstGeom prst="ellipse">
            <a:avLst/>
          </a:prstGeom>
          <a:solidFill>
            <a:srgbClr val="444B57"/>
          </a:solidFill>
          <a:ln/>
        </p:spPr>
        <p:txBody>
          <a:bodyPr/>
          <a:lstStyle/>
          <a:p>
            <a:endParaRPr lang="en-US"/>
          </a:p>
        </p:txBody>
      </p:sp>
      <p:sp>
        <p:nvSpPr>
          <p:cNvPr id="178" name="Shape 176"/>
          <p:cNvSpPr/>
          <p:nvPr/>
        </p:nvSpPr>
        <p:spPr>
          <a:xfrm>
            <a:off x="4083619" y="3273577"/>
            <a:ext cx="34747" cy="34747"/>
          </a:xfrm>
          <a:prstGeom prst="ellipse">
            <a:avLst/>
          </a:prstGeom>
          <a:solidFill>
            <a:srgbClr val="444B57"/>
          </a:solidFill>
          <a:ln/>
        </p:spPr>
        <p:txBody>
          <a:bodyPr/>
          <a:lstStyle/>
          <a:p>
            <a:endParaRPr lang="en-US"/>
          </a:p>
        </p:txBody>
      </p:sp>
      <p:sp>
        <p:nvSpPr>
          <p:cNvPr id="179" name="Shape 177"/>
          <p:cNvSpPr/>
          <p:nvPr/>
        </p:nvSpPr>
        <p:spPr>
          <a:xfrm>
            <a:off x="4117082" y="3272898"/>
            <a:ext cx="34747" cy="34747"/>
          </a:xfrm>
          <a:prstGeom prst="ellipse">
            <a:avLst/>
          </a:prstGeom>
          <a:solidFill>
            <a:srgbClr val="444B57"/>
          </a:solidFill>
          <a:ln/>
        </p:spPr>
        <p:txBody>
          <a:bodyPr/>
          <a:lstStyle/>
          <a:p>
            <a:endParaRPr lang="en-US"/>
          </a:p>
        </p:txBody>
      </p:sp>
      <p:sp>
        <p:nvSpPr>
          <p:cNvPr id="180" name="Shape 178"/>
          <p:cNvSpPr/>
          <p:nvPr/>
        </p:nvSpPr>
        <p:spPr>
          <a:xfrm>
            <a:off x="4150545" y="3271764"/>
            <a:ext cx="34747" cy="34747"/>
          </a:xfrm>
          <a:prstGeom prst="ellipse">
            <a:avLst/>
          </a:prstGeom>
          <a:solidFill>
            <a:srgbClr val="444B57"/>
          </a:solidFill>
          <a:ln/>
        </p:spPr>
        <p:txBody>
          <a:bodyPr/>
          <a:lstStyle/>
          <a:p>
            <a:endParaRPr lang="en-US"/>
          </a:p>
        </p:txBody>
      </p:sp>
      <p:sp>
        <p:nvSpPr>
          <p:cNvPr id="181" name="Shape 179"/>
          <p:cNvSpPr/>
          <p:nvPr/>
        </p:nvSpPr>
        <p:spPr>
          <a:xfrm>
            <a:off x="4184009" y="3269915"/>
            <a:ext cx="34747" cy="34747"/>
          </a:xfrm>
          <a:prstGeom prst="ellipse">
            <a:avLst/>
          </a:prstGeom>
          <a:solidFill>
            <a:srgbClr val="444B57"/>
          </a:solidFill>
          <a:ln/>
        </p:spPr>
        <p:txBody>
          <a:bodyPr/>
          <a:lstStyle/>
          <a:p>
            <a:endParaRPr lang="en-US"/>
          </a:p>
        </p:txBody>
      </p:sp>
      <p:sp>
        <p:nvSpPr>
          <p:cNvPr id="182" name="Shape 180"/>
          <p:cNvSpPr/>
          <p:nvPr/>
        </p:nvSpPr>
        <p:spPr>
          <a:xfrm>
            <a:off x="4217472" y="3266976"/>
            <a:ext cx="34747" cy="34747"/>
          </a:xfrm>
          <a:prstGeom prst="ellipse">
            <a:avLst/>
          </a:prstGeom>
          <a:solidFill>
            <a:srgbClr val="444B57"/>
          </a:solidFill>
          <a:ln/>
        </p:spPr>
        <p:txBody>
          <a:bodyPr/>
          <a:lstStyle/>
          <a:p>
            <a:endParaRPr lang="en-US"/>
          </a:p>
        </p:txBody>
      </p:sp>
      <p:sp>
        <p:nvSpPr>
          <p:cNvPr id="183" name="Shape 181"/>
          <p:cNvSpPr/>
          <p:nvPr/>
        </p:nvSpPr>
        <p:spPr>
          <a:xfrm>
            <a:off x="4250935" y="3262420"/>
            <a:ext cx="34747" cy="34747"/>
          </a:xfrm>
          <a:prstGeom prst="ellipse">
            <a:avLst/>
          </a:prstGeom>
          <a:solidFill>
            <a:srgbClr val="444B57"/>
          </a:solidFill>
          <a:ln/>
        </p:spPr>
        <p:txBody>
          <a:bodyPr/>
          <a:lstStyle/>
          <a:p>
            <a:endParaRPr lang="en-US"/>
          </a:p>
        </p:txBody>
      </p:sp>
      <p:sp>
        <p:nvSpPr>
          <p:cNvPr id="184" name="Shape 182"/>
          <p:cNvSpPr/>
          <p:nvPr/>
        </p:nvSpPr>
        <p:spPr>
          <a:xfrm>
            <a:off x="4284398" y="3255531"/>
            <a:ext cx="34747" cy="34747"/>
          </a:xfrm>
          <a:prstGeom prst="ellipse">
            <a:avLst/>
          </a:prstGeom>
          <a:solidFill>
            <a:srgbClr val="444B57"/>
          </a:solidFill>
          <a:ln/>
        </p:spPr>
        <p:txBody>
          <a:bodyPr/>
          <a:lstStyle/>
          <a:p>
            <a:endParaRPr lang="en-US"/>
          </a:p>
        </p:txBody>
      </p:sp>
      <p:sp>
        <p:nvSpPr>
          <p:cNvPr id="185" name="Shape 183"/>
          <p:cNvSpPr/>
          <p:nvPr/>
        </p:nvSpPr>
        <p:spPr>
          <a:xfrm>
            <a:off x="4317862" y="3245378"/>
            <a:ext cx="34747" cy="34747"/>
          </a:xfrm>
          <a:prstGeom prst="ellipse">
            <a:avLst/>
          </a:prstGeom>
          <a:solidFill>
            <a:srgbClr val="444B57"/>
          </a:solidFill>
          <a:ln/>
        </p:spPr>
        <p:txBody>
          <a:bodyPr/>
          <a:lstStyle/>
          <a:p>
            <a:endParaRPr lang="en-US"/>
          </a:p>
        </p:txBody>
      </p:sp>
      <p:sp>
        <p:nvSpPr>
          <p:cNvPr id="186" name="Shape 184"/>
          <p:cNvSpPr/>
          <p:nvPr/>
        </p:nvSpPr>
        <p:spPr>
          <a:xfrm>
            <a:off x="4351325" y="3230796"/>
            <a:ext cx="34747" cy="34747"/>
          </a:xfrm>
          <a:prstGeom prst="ellipse">
            <a:avLst/>
          </a:prstGeom>
          <a:solidFill>
            <a:srgbClr val="444B57"/>
          </a:solidFill>
          <a:ln/>
        </p:spPr>
        <p:txBody>
          <a:bodyPr/>
          <a:lstStyle/>
          <a:p>
            <a:endParaRPr lang="en-US"/>
          </a:p>
        </p:txBody>
      </p:sp>
      <p:sp>
        <p:nvSpPr>
          <p:cNvPr id="187" name="Shape 185"/>
          <p:cNvSpPr/>
          <p:nvPr/>
        </p:nvSpPr>
        <p:spPr>
          <a:xfrm>
            <a:off x="4384788" y="3210392"/>
            <a:ext cx="34747" cy="34747"/>
          </a:xfrm>
          <a:prstGeom prst="ellipse">
            <a:avLst/>
          </a:prstGeom>
          <a:solidFill>
            <a:srgbClr val="444B57"/>
          </a:solidFill>
          <a:ln/>
        </p:spPr>
        <p:txBody>
          <a:bodyPr/>
          <a:lstStyle/>
          <a:p>
            <a:endParaRPr lang="en-US"/>
          </a:p>
        </p:txBody>
      </p:sp>
      <p:sp>
        <p:nvSpPr>
          <p:cNvPr id="188" name="Shape 186"/>
          <p:cNvSpPr/>
          <p:nvPr/>
        </p:nvSpPr>
        <p:spPr>
          <a:xfrm>
            <a:off x="4418251" y="3182588"/>
            <a:ext cx="34747" cy="34747"/>
          </a:xfrm>
          <a:prstGeom prst="ellipse">
            <a:avLst/>
          </a:prstGeom>
          <a:solidFill>
            <a:srgbClr val="444B57"/>
          </a:solidFill>
          <a:ln/>
        </p:spPr>
        <p:txBody>
          <a:bodyPr/>
          <a:lstStyle/>
          <a:p>
            <a:endParaRPr lang="en-US"/>
          </a:p>
        </p:txBody>
      </p:sp>
      <p:sp>
        <p:nvSpPr>
          <p:cNvPr id="189" name="Shape 187"/>
          <p:cNvSpPr/>
          <p:nvPr/>
        </p:nvSpPr>
        <p:spPr>
          <a:xfrm>
            <a:off x="4451714" y="3145709"/>
            <a:ext cx="34747" cy="34747"/>
          </a:xfrm>
          <a:prstGeom prst="ellipse">
            <a:avLst/>
          </a:prstGeom>
          <a:solidFill>
            <a:srgbClr val="444B57"/>
          </a:solidFill>
          <a:ln/>
        </p:spPr>
        <p:txBody>
          <a:bodyPr/>
          <a:lstStyle/>
          <a:p>
            <a:endParaRPr lang="en-US"/>
          </a:p>
        </p:txBody>
      </p:sp>
      <p:sp>
        <p:nvSpPr>
          <p:cNvPr id="190" name="Shape 188"/>
          <p:cNvSpPr/>
          <p:nvPr/>
        </p:nvSpPr>
        <p:spPr>
          <a:xfrm>
            <a:off x="4485178" y="3098122"/>
            <a:ext cx="34747" cy="34747"/>
          </a:xfrm>
          <a:prstGeom prst="ellipse">
            <a:avLst/>
          </a:prstGeom>
          <a:solidFill>
            <a:srgbClr val="444B57"/>
          </a:solidFill>
          <a:ln/>
        </p:spPr>
        <p:txBody>
          <a:bodyPr/>
          <a:lstStyle/>
          <a:p>
            <a:endParaRPr lang="en-US"/>
          </a:p>
        </p:txBody>
      </p:sp>
      <p:sp>
        <p:nvSpPr>
          <p:cNvPr id="191" name="Shape 189"/>
          <p:cNvSpPr/>
          <p:nvPr/>
        </p:nvSpPr>
        <p:spPr>
          <a:xfrm>
            <a:off x="4518641" y="3038429"/>
            <a:ext cx="34747" cy="34747"/>
          </a:xfrm>
          <a:prstGeom prst="ellipse">
            <a:avLst/>
          </a:prstGeom>
          <a:solidFill>
            <a:srgbClr val="444B57"/>
          </a:solidFill>
          <a:ln/>
        </p:spPr>
        <p:txBody>
          <a:bodyPr/>
          <a:lstStyle/>
          <a:p>
            <a:endParaRPr lang="en-US"/>
          </a:p>
        </p:txBody>
      </p:sp>
      <p:sp>
        <p:nvSpPr>
          <p:cNvPr id="192" name="Shape 190"/>
          <p:cNvSpPr/>
          <p:nvPr/>
        </p:nvSpPr>
        <p:spPr>
          <a:xfrm>
            <a:off x="4552104" y="2965699"/>
            <a:ext cx="34747" cy="34747"/>
          </a:xfrm>
          <a:prstGeom prst="ellipse">
            <a:avLst/>
          </a:prstGeom>
          <a:solidFill>
            <a:srgbClr val="444B57"/>
          </a:solidFill>
          <a:ln/>
        </p:spPr>
        <p:txBody>
          <a:bodyPr/>
          <a:lstStyle/>
          <a:p>
            <a:endParaRPr lang="en-US"/>
          </a:p>
        </p:txBody>
      </p:sp>
      <p:sp>
        <p:nvSpPr>
          <p:cNvPr id="193" name="Shape 191"/>
          <p:cNvSpPr/>
          <p:nvPr/>
        </p:nvSpPr>
        <p:spPr>
          <a:xfrm>
            <a:off x="4585567" y="2879727"/>
            <a:ext cx="34747" cy="34747"/>
          </a:xfrm>
          <a:prstGeom prst="ellipse">
            <a:avLst/>
          </a:prstGeom>
          <a:solidFill>
            <a:srgbClr val="444B57"/>
          </a:solidFill>
          <a:ln/>
        </p:spPr>
        <p:txBody>
          <a:bodyPr/>
          <a:lstStyle/>
          <a:p>
            <a:endParaRPr lang="en-US"/>
          </a:p>
        </p:txBody>
      </p:sp>
      <p:sp>
        <p:nvSpPr>
          <p:cNvPr id="194" name="Shape 192"/>
          <p:cNvSpPr/>
          <p:nvPr/>
        </p:nvSpPr>
        <p:spPr>
          <a:xfrm>
            <a:off x="4619031" y="2781271"/>
            <a:ext cx="34747" cy="34747"/>
          </a:xfrm>
          <a:prstGeom prst="ellipse">
            <a:avLst/>
          </a:prstGeom>
          <a:solidFill>
            <a:srgbClr val="444B57"/>
          </a:solidFill>
          <a:ln/>
        </p:spPr>
        <p:txBody>
          <a:bodyPr/>
          <a:lstStyle/>
          <a:p>
            <a:endParaRPr lang="en-US"/>
          </a:p>
        </p:txBody>
      </p:sp>
      <p:sp>
        <p:nvSpPr>
          <p:cNvPr id="195" name="Shape 193"/>
          <p:cNvSpPr/>
          <p:nvPr/>
        </p:nvSpPr>
        <p:spPr>
          <a:xfrm>
            <a:off x="4652494" y="2672242"/>
            <a:ext cx="34747" cy="34747"/>
          </a:xfrm>
          <a:prstGeom prst="ellipse">
            <a:avLst/>
          </a:prstGeom>
          <a:solidFill>
            <a:srgbClr val="444B57"/>
          </a:solidFill>
          <a:ln/>
        </p:spPr>
        <p:txBody>
          <a:bodyPr/>
          <a:lstStyle/>
          <a:p>
            <a:endParaRPr lang="en-US"/>
          </a:p>
        </p:txBody>
      </p:sp>
      <p:sp>
        <p:nvSpPr>
          <p:cNvPr id="196" name="Shape 194"/>
          <p:cNvSpPr/>
          <p:nvPr/>
        </p:nvSpPr>
        <p:spPr>
          <a:xfrm>
            <a:off x="4685957" y="2555799"/>
            <a:ext cx="34747" cy="34747"/>
          </a:xfrm>
          <a:prstGeom prst="ellipse">
            <a:avLst/>
          </a:prstGeom>
          <a:solidFill>
            <a:srgbClr val="444B57"/>
          </a:solidFill>
          <a:ln/>
        </p:spPr>
        <p:txBody>
          <a:bodyPr/>
          <a:lstStyle/>
          <a:p>
            <a:endParaRPr lang="en-US"/>
          </a:p>
        </p:txBody>
      </p:sp>
      <p:sp>
        <p:nvSpPr>
          <p:cNvPr id="197" name="Shape 195"/>
          <p:cNvSpPr/>
          <p:nvPr/>
        </p:nvSpPr>
        <p:spPr>
          <a:xfrm>
            <a:off x="4719420" y="2436306"/>
            <a:ext cx="34747" cy="34747"/>
          </a:xfrm>
          <a:prstGeom prst="ellipse">
            <a:avLst/>
          </a:prstGeom>
          <a:solidFill>
            <a:srgbClr val="444B57"/>
          </a:solidFill>
          <a:ln/>
        </p:spPr>
        <p:txBody>
          <a:bodyPr/>
          <a:lstStyle/>
          <a:p>
            <a:endParaRPr lang="en-US"/>
          </a:p>
        </p:txBody>
      </p:sp>
      <p:sp>
        <p:nvSpPr>
          <p:cNvPr id="198" name="Shape 196"/>
          <p:cNvSpPr/>
          <p:nvPr/>
        </p:nvSpPr>
        <p:spPr>
          <a:xfrm>
            <a:off x="4752884" y="2319130"/>
            <a:ext cx="34747" cy="34747"/>
          </a:xfrm>
          <a:prstGeom prst="ellipse">
            <a:avLst/>
          </a:prstGeom>
          <a:solidFill>
            <a:srgbClr val="444B57"/>
          </a:solidFill>
          <a:ln/>
        </p:spPr>
        <p:txBody>
          <a:bodyPr/>
          <a:lstStyle/>
          <a:p>
            <a:endParaRPr lang="en-US"/>
          </a:p>
        </p:txBody>
      </p:sp>
      <p:sp>
        <p:nvSpPr>
          <p:cNvPr id="199" name="Shape 197"/>
          <p:cNvSpPr/>
          <p:nvPr/>
        </p:nvSpPr>
        <p:spPr>
          <a:xfrm>
            <a:off x="4786347" y="2210286"/>
            <a:ext cx="34747" cy="34747"/>
          </a:xfrm>
          <a:prstGeom prst="ellipse">
            <a:avLst/>
          </a:prstGeom>
          <a:solidFill>
            <a:srgbClr val="444B57"/>
          </a:solidFill>
          <a:ln/>
        </p:spPr>
        <p:txBody>
          <a:bodyPr/>
          <a:lstStyle/>
          <a:p>
            <a:endParaRPr lang="en-US"/>
          </a:p>
        </p:txBody>
      </p:sp>
      <p:sp>
        <p:nvSpPr>
          <p:cNvPr id="200" name="Shape 198"/>
          <p:cNvSpPr/>
          <p:nvPr/>
        </p:nvSpPr>
        <p:spPr>
          <a:xfrm>
            <a:off x="4819810" y="2115944"/>
            <a:ext cx="34747" cy="34747"/>
          </a:xfrm>
          <a:prstGeom prst="ellipse">
            <a:avLst/>
          </a:prstGeom>
          <a:solidFill>
            <a:srgbClr val="444B57"/>
          </a:solidFill>
          <a:ln/>
        </p:spPr>
        <p:txBody>
          <a:bodyPr/>
          <a:lstStyle/>
          <a:p>
            <a:endParaRPr lang="en-US"/>
          </a:p>
        </p:txBody>
      </p:sp>
      <p:sp>
        <p:nvSpPr>
          <p:cNvPr id="201" name="Shape 199"/>
          <p:cNvSpPr/>
          <p:nvPr/>
        </p:nvSpPr>
        <p:spPr>
          <a:xfrm>
            <a:off x="4853273" y="2041862"/>
            <a:ext cx="34747" cy="34747"/>
          </a:xfrm>
          <a:prstGeom prst="ellipse">
            <a:avLst/>
          </a:prstGeom>
          <a:solidFill>
            <a:srgbClr val="444B57"/>
          </a:solidFill>
          <a:ln/>
        </p:spPr>
        <p:txBody>
          <a:bodyPr/>
          <a:lstStyle/>
          <a:p>
            <a:endParaRPr lang="en-US"/>
          </a:p>
        </p:txBody>
      </p:sp>
      <p:sp>
        <p:nvSpPr>
          <p:cNvPr id="202" name="Shape 200"/>
          <p:cNvSpPr/>
          <p:nvPr/>
        </p:nvSpPr>
        <p:spPr>
          <a:xfrm>
            <a:off x="4886736" y="1992807"/>
            <a:ext cx="34747" cy="34747"/>
          </a:xfrm>
          <a:prstGeom prst="ellipse">
            <a:avLst/>
          </a:prstGeom>
          <a:solidFill>
            <a:srgbClr val="444B57"/>
          </a:solidFill>
          <a:ln/>
        </p:spPr>
        <p:txBody>
          <a:bodyPr/>
          <a:lstStyle/>
          <a:p>
            <a:endParaRPr lang="en-US"/>
          </a:p>
        </p:txBody>
      </p:sp>
      <p:sp>
        <p:nvSpPr>
          <p:cNvPr id="203" name="Shape 201"/>
          <p:cNvSpPr/>
          <p:nvPr/>
        </p:nvSpPr>
        <p:spPr>
          <a:xfrm>
            <a:off x="4920200" y="1972045"/>
            <a:ext cx="34747" cy="34747"/>
          </a:xfrm>
          <a:prstGeom prst="ellipse">
            <a:avLst/>
          </a:prstGeom>
          <a:solidFill>
            <a:srgbClr val="444B57"/>
          </a:solidFill>
          <a:ln/>
        </p:spPr>
        <p:txBody>
          <a:bodyPr/>
          <a:lstStyle/>
          <a:p>
            <a:endParaRPr lang="en-US"/>
          </a:p>
        </p:txBody>
      </p:sp>
      <p:sp>
        <p:nvSpPr>
          <p:cNvPr id="204" name="Shape 202"/>
          <p:cNvSpPr/>
          <p:nvPr/>
        </p:nvSpPr>
        <p:spPr>
          <a:xfrm>
            <a:off x="4953663" y="1980984"/>
            <a:ext cx="34747" cy="34747"/>
          </a:xfrm>
          <a:prstGeom prst="ellipse">
            <a:avLst/>
          </a:prstGeom>
          <a:solidFill>
            <a:srgbClr val="444B57"/>
          </a:solidFill>
          <a:ln/>
        </p:spPr>
        <p:txBody>
          <a:bodyPr/>
          <a:lstStyle/>
          <a:p>
            <a:endParaRPr lang="en-US"/>
          </a:p>
        </p:txBody>
      </p:sp>
      <p:sp>
        <p:nvSpPr>
          <p:cNvPr id="205" name="Shape 203"/>
          <p:cNvSpPr/>
          <p:nvPr/>
        </p:nvSpPr>
        <p:spPr>
          <a:xfrm>
            <a:off x="4987126" y="2019016"/>
            <a:ext cx="34747" cy="34747"/>
          </a:xfrm>
          <a:prstGeom prst="ellipse">
            <a:avLst/>
          </a:prstGeom>
          <a:solidFill>
            <a:srgbClr val="444B57"/>
          </a:solidFill>
          <a:ln/>
        </p:spPr>
        <p:txBody>
          <a:bodyPr/>
          <a:lstStyle/>
          <a:p>
            <a:endParaRPr lang="en-US"/>
          </a:p>
        </p:txBody>
      </p:sp>
      <p:sp>
        <p:nvSpPr>
          <p:cNvPr id="206" name="Shape 204"/>
          <p:cNvSpPr/>
          <p:nvPr/>
        </p:nvSpPr>
        <p:spPr>
          <a:xfrm>
            <a:off x="5020589" y="2083585"/>
            <a:ext cx="34747" cy="34747"/>
          </a:xfrm>
          <a:prstGeom prst="ellipse">
            <a:avLst/>
          </a:prstGeom>
          <a:solidFill>
            <a:srgbClr val="444B57"/>
          </a:solidFill>
          <a:ln/>
        </p:spPr>
        <p:txBody>
          <a:bodyPr/>
          <a:lstStyle/>
          <a:p>
            <a:endParaRPr lang="en-US"/>
          </a:p>
        </p:txBody>
      </p:sp>
      <p:sp>
        <p:nvSpPr>
          <p:cNvPr id="207" name="Shape 205"/>
          <p:cNvSpPr/>
          <p:nvPr/>
        </p:nvSpPr>
        <p:spPr>
          <a:xfrm>
            <a:off x="5054053" y="2170470"/>
            <a:ext cx="34747" cy="34747"/>
          </a:xfrm>
          <a:prstGeom prst="ellipse">
            <a:avLst/>
          </a:prstGeom>
          <a:solidFill>
            <a:srgbClr val="444B57"/>
          </a:solidFill>
          <a:ln/>
        </p:spPr>
        <p:txBody>
          <a:bodyPr/>
          <a:lstStyle/>
          <a:p>
            <a:endParaRPr lang="en-US"/>
          </a:p>
        </p:txBody>
      </p:sp>
      <p:sp>
        <p:nvSpPr>
          <p:cNvPr id="208" name="Shape 206"/>
          <p:cNvSpPr/>
          <p:nvPr/>
        </p:nvSpPr>
        <p:spPr>
          <a:xfrm>
            <a:off x="5087516" y="2274245"/>
            <a:ext cx="34747" cy="34747"/>
          </a:xfrm>
          <a:prstGeom prst="ellipse">
            <a:avLst/>
          </a:prstGeom>
          <a:solidFill>
            <a:srgbClr val="444B57"/>
          </a:solidFill>
          <a:ln/>
        </p:spPr>
        <p:txBody>
          <a:bodyPr/>
          <a:lstStyle/>
          <a:p>
            <a:endParaRPr lang="en-US"/>
          </a:p>
        </p:txBody>
      </p:sp>
      <p:sp>
        <p:nvSpPr>
          <p:cNvPr id="209" name="Shape 207"/>
          <p:cNvSpPr/>
          <p:nvPr/>
        </p:nvSpPr>
        <p:spPr>
          <a:xfrm>
            <a:off x="5120979" y="2388831"/>
            <a:ext cx="34747" cy="34747"/>
          </a:xfrm>
          <a:prstGeom prst="ellipse">
            <a:avLst/>
          </a:prstGeom>
          <a:solidFill>
            <a:srgbClr val="444B57"/>
          </a:solidFill>
          <a:ln/>
        </p:spPr>
        <p:txBody>
          <a:bodyPr/>
          <a:lstStyle/>
          <a:p>
            <a:endParaRPr lang="en-US"/>
          </a:p>
        </p:txBody>
      </p:sp>
      <p:sp>
        <p:nvSpPr>
          <p:cNvPr id="210" name="Shape 208"/>
          <p:cNvSpPr/>
          <p:nvPr/>
        </p:nvSpPr>
        <p:spPr>
          <a:xfrm>
            <a:off x="5154442" y="2508087"/>
            <a:ext cx="34747" cy="34747"/>
          </a:xfrm>
          <a:prstGeom prst="ellipse">
            <a:avLst/>
          </a:prstGeom>
          <a:solidFill>
            <a:srgbClr val="444B57"/>
          </a:solidFill>
          <a:ln/>
        </p:spPr>
        <p:txBody>
          <a:bodyPr/>
          <a:lstStyle/>
          <a:p>
            <a:endParaRPr lang="en-US"/>
          </a:p>
        </p:txBody>
      </p:sp>
      <p:sp>
        <p:nvSpPr>
          <p:cNvPr id="211" name="Shape 209"/>
          <p:cNvSpPr/>
          <p:nvPr/>
        </p:nvSpPr>
        <p:spPr>
          <a:xfrm>
            <a:off x="5187906" y="2626335"/>
            <a:ext cx="34747" cy="34747"/>
          </a:xfrm>
          <a:prstGeom prst="ellipse">
            <a:avLst/>
          </a:prstGeom>
          <a:solidFill>
            <a:srgbClr val="444B57"/>
          </a:solidFill>
          <a:ln/>
        </p:spPr>
        <p:txBody>
          <a:bodyPr/>
          <a:lstStyle/>
          <a:p>
            <a:endParaRPr lang="en-US"/>
          </a:p>
        </p:txBody>
      </p:sp>
      <p:sp>
        <p:nvSpPr>
          <p:cNvPr id="212" name="Shape 210"/>
          <p:cNvSpPr/>
          <p:nvPr/>
        </p:nvSpPr>
        <p:spPr>
          <a:xfrm>
            <a:off x="5221369" y="2738779"/>
            <a:ext cx="34747" cy="34747"/>
          </a:xfrm>
          <a:prstGeom prst="ellipse">
            <a:avLst/>
          </a:prstGeom>
          <a:solidFill>
            <a:srgbClr val="444B57"/>
          </a:solidFill>
          <a:ln/>
        </p:spPr>
        <p:txBody>
          <a:bodyPr/>
          <a:lstStyle/>
          <a:p>
            <a:endParaRPr lang="en-US"/>
          </a:p>
        </p:txBody>
      </p:sp>
      <p:sp>
        <p:nvSpPr>
          <p:cNvPr id="213" name="Shape 211"/>
          <p:cNvSpPr/>
          <p:nvPr/>
        </p:nvSpPr>
        <p:spPr>
          <a:xfrm>
            <a:off x="5254832" y="2841763"/>
            <a:ext cx="34747" cy="34747"/>
          </a:xfrm>
          <a:prstGeom prst="ellipse">
            <a:avLst/>
          </a:prstGeom>
          <a:solidFill>
            <a:srgbClr val="444B57"/>
          </a:solidFill>
          <a:ln/>
        </p:spPr>
        <p:txBody>
          <a:bodyPr/>
          <a:lstStyle/>
          <a:p>
            <a:endParaRPr lang="en-US"/>
          </a:p>
        </p:txBody>
      </p:sp>
      <p:sp>
        <p:nvSpPr>
          <p:cNvPr id="214" name="Shape 212"/>
          <p:cNvSpPr/>
          <p:nvPr/>
        </p:nvSpPr>
        <p:spPr>
          <a:xfrm>
            <a:off x="5288295" y="2932881"/>
            <a:ext cx="34747" cy="34747"/>
          </a:xfrm>
          <a:prstGeom prst="ellipse">
            <a:avLst/>
          </a:prstGeom>
          <a:solidFill>
            <a:srgbClr val="444B57"/>
          </a:solidFill>
          <a:ln/>
        </p:spPr>
        <p:txBody>
          <a:bodyPr/>
          <a:lstStyle/>
          <a:p>
            <a:endParaRPr lang="en-US"/>
          </a:p>
        </p:txBody>
      </p:sp>
      <p:sp>
        <p:nvSpPr>
          <p:cNvPr id="215" name="Shape 213"/>
          <p:cNvSpPr/>
          <p:nvPr/>
        </p:nvSpPr>
        <p:spPr>
          <a:xfrm>
            <a:off x="5321758" y="3010932"/>
            <a:ext cx="34747" cy="34747"/>
          </a:xfrm>
          <a:prstGeom prst="ellipse">
            <a:avLst/>
          </a:prstGeom>
          <a:solidFill>
            <a:srgbClr val="444B57"/>
          </a:solidFill>
          <a:ln/>
        </p:spPr>
        <p:txBody>
          <a:bodyPr/>
          <a:lstStyle/>
          <a:p>
            <a:endParaRPr lang="en-US"/>
          </a:p>
        </p:txBody>
      </p:sp>
      <p:sp>
        <p:nvSpPr>
          <p:cNvPr id="216" name="Shape 214"/>
          <p:cNvSpPr/>
          <p:nvPr/>
        </p:nvSpPr>
        <p:spPr>
          <a:xfrm>
            <a:off x="5355222" y="3075763"/>
            <a:ext cx="34747" cy="34747"/>
          </a:xfrm>
          <a:prstGeom prst="ellipse">
            <a:avLst/>
          </a:prstGeom>
          <a:solidFill>
            <a:srgbClr val="444B57"/>
          </a:solidFill>
          <a:ln/>
        </p:spPr>
        <p:txBody>
          <a:bodyPr/>
          <a:lstStyle/>
          <a:p>
            <a:endParaRPr lang="en-US"/>
          </a:p>
        </p:txBody>
      </p:sp>
      <p:sp>
        <p:nvSpPr>
          <p:cNvPr id="217" name="Shape 215"/>
          <p:cNvSpPr/>
          <p:nvPr/>
        </p:nvSpPr>
        <p:spPr>
          <a:xfrm>
            <a:off x="5388685" y="3128045"/>
            <a:ext cx="34747" cy="34747"/>
          </a:xfrm>
          <a:prstGeom prst="ellipse">
            <a:avLst/>
          </a:prstGeom>
          <a:solidFill>
            <a:srgbClr val="444B57"/>
          </a:solidFill>
          <a:ln/>
        </p:spPr>
        <p:txBody>
          <a:bodyPr/>
          <a:lstStyle/>
          <a:p>
            <a:endParaRPr lang="en-US"/>
          </a:p>
        </p:txBody>
      </p:sp>
      <p:sp>
        <p:nvSpPr>
          <p:cNvPr id="218" name="Shape 216"/>
          <p:cNvSpPr/>
          <p:nvPr/>
        </p:nvSpPr>
        <p:spPr>
          <a:xfrm>
            <a:off x="5422148" y="3169020"/>
            <a:ext cx="34747" cy="34747"/>
          </a:xfrm>
          <a:prstGeom prst="ellipse">
            <a:avLst/>
          </a:prstGeom>
          <a:solidFill>
            <a:srgbClr val="444B57"/>
          </a:solidFill>
          <a:ln/>
        </p:spPr>
        <p:txBody>
          <a:bodyPr/>
          <a:lstStyle/>
          <a:p>
            <a:endParaRPr lang="en-US"/>
          </a:p>
        </p:txBody>
      </p:sp>
      <p:sp>
        <p:nvSpPr>
          <p:cNvPr id="219" name="Shape 217"/>
          <p:cNvSpPr/>
          <p:nvPr/>
        </p:nvSpPr>
        <p:spPr>
          <a:xfrm>
            <a:off x="5455611" y="3200251"/>
            <a:ext cx="34747" cy="34747"/>
          </a:xfrm>
          <a:prstGeom prst="ellipse">
            <a:avLst/>
          </a:prstGeom>
          <a:solidFill>
            <a:srgbClr val="444B57"/>
          </a:solidFill>
          <a:ln/>
        </p:spPr>
        <p:txBody>
          <a:bodyPr/>
          <a:lstStyle/>
          <a:p>
            <a:endParaRPr lang="en-US"/>
          </a:p>
        </p:txBody>
      </p:sp>
      <p:sp>
        <p:nvSpPr>
          <p:cNvPr id="220" name="Shape 218"/>
          <p:cNvSpPr/>
          <p:nvPr/>
        </p:nvSpPr>
        <p:spPr>
          <a:xfrm>
            <a:off x="5489075" y="3223418"/>
            <a:ext cx="34747" cy="34747"/>
          </a:xfrm>
          <a:prstGeom prst="ellipse">
            <a:avLst/>
          </a:prstGeom>
          <a:solidFill>
            <a:srgbClr val="444B57"/>
          </a:solidFill>
          <a:ln/>
        </p:spPr>
        <p:txBody>
          <a:bodyPr/>
          <a:lstStyle/>
          <a:p>
            <a:endParaRPr lang="en-US"/>
          </a:p>
        </p:txBody>
      </p:sp>
      <p:sp>
        <p:nvSpPr>
          <p:cNvPr id="221" name="Shape 219"/>
          <p:cNvSpPr/>
          <p:nvPr/>
        </p:nvSpPr>
        <p:spPr>
          <a:xfrm>
            <a:off x="5522538" y="3240150"/>
            <a:ext cx="34747" cy="34747"/>
          </a:xfrm>
          <a:prstGeom prst="ellipse">
            <a:avLst/>
          </a:prstGeom>
          <a:solidFill>
            <a:srgbClr val="444B57"/>
          </a:solidFill>
          <a:ln/>
        </p:spPr>
        <p:txBody>
          <a:bodyPr/>
          <a:lstStyle/>
          <a:p>
            <a:endParaRPr lang="en-US"/>
          </a:p>
        </p:txBody>
      </p:sp>
      <p:sp>
        <p:nvSpPr>
          <p:cNvPr id="222" name="Shape 220"/>
          <p:cNvSpPr/>
          <p:nvPr/>
        </p:nvSpPr>
        <p:spPr>
          <a:xfrm>
            <a:off x="5556001" y="3251922"/>
            <a:ext cx="34747" cy="34747"/>
          </a:xfrm>
          <a:prstGeom prst="ellipse">
            <a:avLst/>
          </a:prstGeom>
          <a:solidFill>
            <a:srgbClr val="444B57"/>
          </a:solidFill>
          <a:ln/>
        </p:spPr>
        <p:txBody>
          <a:bodyPr/>
          <a:lstStyle/>
          <a:p>
            <a:endParaRPr lang="en-US"/>
          </a:p>
        </p:txBody>
      </p:sp>
      <p:sp>
        <p:nvSpPr>
          <p:cNvPr id="223" name="Shape 221"/>
          <p:cNvSpPr/>
          <p:nvPr/>
        </p:nvSpPr>
        <p:spPr>
          <a:xfrm>
            <a:off x="5589464" y="3259991"/>
            <a:ext cx="34747" cy="34747"/>
          </a:xfrm>
          <a:prstGeom prst="ellipse">
            <a:avLst/>
          </a:prstGeom>
          <a:solidFill>
            <a:srgbClr val="444B57"/>
          </a:solidFill>
          <a:ln/>
        </p:spPr>
        <p:txBody>
          <a:bodyPr/>
          <a:lstStyle/>
          <a:p>
            <a:endParaRPr lang="en-US"/>
          </a:p>
        </p:txBody>
      </p:sp>
      <p:sp>
        <p:nvSpPr>
          <p:cNvPr id="224" name="Shape 222"/>
          <p:cNvSpPr/>
          <p:nvPr/>
        </p:nvSpPr>
        <p:spPr>
          <a:xfrm>
            <a:off x="5622928" y="3265383"/>
            <a:ext cx="34747" cy="34747"/>
          </a:xfrm>
          <a:prstGeom prst="ellipse">
            <a:avLst/>
          </a:prstGeom>
          <a:solidFill>
            <a:srgbClr val="444B57"/>
          </a:solidFill>
          <a:ln/>
        </p:spPr>
        <p:txBody>
          <a:bodyPr/>
          <a:lstStyle/>
          <a:p>
            <a:endParaRPr lang="en-US"/>
          </a:p>
        </p:txBody>
      </p:sp>
      <p:sp>
        <p:nvSpPr>
          <p:cNvPr id="225" name="Shape 223"/>
          <p:cNvSpPr/>
          <p:nvPr/>
        </p:nvSpPr>
        <p:spPr>
          <a:xfrm>
            <a:off x="5656391" y="3268896"/>
            <a:ext cx="34747" cy="34747"/>
          </a:xfrm>
          <a:prstGeom prst="ellipse">
            <a:avLst/>
          </a:prstGeom>
          <a:solidFill>
            <a:srgbClr val="444B57"/>
          </a:solidFill>
          <a:ln/>
        </p:spPr>
        <p:txBody>
          <a:bodyPr/>
          <a:lstStyle/>
          <a:p>
            <a:endParaRPr lang="en-US"/>
          </a:p>
        </p:txBody>
      </p:sp>
      <p:sp>
        <p:nvSpPr>
          <p:cNvPr id="226" name="Shape 224"/>
          <p:cNvSpPr/>
          <p:nvPr/>
        </p:nvSpPr>
        <p:spPr>
          <a:xfrm>
            <a:off x="5689854" y="3271128"/>
            <a:ext cx="34747" cy="34747"/>
          </a:xfrm>
          <a:prstGeom prst="ellipse">
            <a:avLst/>
          </a:prstGeom>
          <a:solidFill>
            <a:srgbClr val="444B57"/>
          </a:solidFill>
          <a:ln/>
        </p:spPr>
        <p:txBody>
          <a:bodyPr/>
          <a:lstStyle/>
          <a:p>
            <a:endParaRPr lang="en-US"/>
          </a:p>
        </p:txBody>
      </p:sp>
      <p:sp>
        <p:nvSpPr>
          <p:cNvPr id="227" name="Shape 225"/>
          <p:cNvSpPr/>
          <p:nvPr/>
        </p:nvSpPr>
        <p:spPr>
          <a:xfrm>
            <a:off x="3682060" y="3274446"/>
            <a:ext cx="34747" cy="34747"/>
          </a:xfrm>
          <a:prstGeom prst="ellipse">
            <a:avLst/>
          </a:prstGeom>
          <a:solidFill>
            <a:srgbClr val="9C3D6E"/>
          </a:solidFill>
          <a:ln/>
        </p:spPr>
        <p:txBody>
          <a:bodyPr/>
          <a:lstStyle/>
          <a:p>
            <a:endParaRPr lang="en-US"/>
          </a:p>
        </p:txBody>
      </p:sp>
      <p:sp>
        <p:nvSpPr>
          <p:cNvPr id="228" name="Shape 226"/>
          <p:cNvSpPr/>
          <p:nvPr/>
        </p:nvSpPr>
        <p:spPr>
          <a:xfrm>
            <a:off x="3715523" y="3274420"/>
            <a:ext cx="34747" cy="34747"/>
          </a:xfrm>
          <a:prstGeom prst="ellipse">
            <a:avLst/>
          </a:prstGeom>
          <a:solidFill>
            <a:srgbClr val="9C3D6E"/>
          </a:solidFill>
          <a:ln/>
        </p:spPr>
        <p:txBody>
          <a:bodyPr/>
          <a:lstStyle/>
          <a:p>
            <a:endParaRPr lang="en-US"/>
          </a:p>
        </p:txBody>
      </p:sp>
      <p:sp>
        <p:nvSpPr>
          <p:cNvPr id="229" name="Shape 227"/>
          <p:cNvSpPr/>
          <p:nvPr/>
        </p:nvSpPr>
        <p:spPr>
          <a:xfrm>
            <a:off x="3748987" y="3274361"/>
            <a:ext cx="34747" cy="34747"/>
          </a:xfrm>
          <a:prstGeom prst="ellipse">
            <a:avLst/>
          </a:prstGeom>
          <a:solidFill>
            <a:srgbClr val="9C3D6E"/>
          </a:solidFill>
          <a:ln/>
        </p:spPr>
        <p:txBody>
          <a:bodyPr/>
          <a:lstStyle/>
          <a:p>
            <a:endParaRPr lang="en-US"/>
          </a:p>
        </p:txBody>
      </p:sp>
      <p:sp>
        <p:nvSpPr>
          <p:cNvPr id="230" name="Shape 228"/>
          <p:cNvSpPr/>
          <p:nvPr/>
        </p:nvSpPr>
        <p:spPr>
          <a:xfrm>
            <a:off x="3782450" y="3274238"/>
            <a:ext cx="34747" cy="34747"/>
          </a:xfrm>
          <a:prstGeom prst="ellipse">
            <a:avLst/>
          </a:prstGeom>
          <a:solidFill>
            <a:srgbClr val="9C3D6E"/>
          </a:solidFill>
          <a:ln/>
        </p:spPr>
        <p:txBody>
          <a:bodyPr/>
          <a:lstStyle/>
          <a:p>
            <a:endParaRPr lang="en-US"/>
          </a:p>
        </p:txBody>
      </p:sp>
      <p:sp>
        <p:nvSpPr>
          <p:cNvPr id="231" name="Shape 229"/>
          <p:cNvSpPr/>
          <p:nvPr/>
        </p:nvSpPr>
        <p:spPr>
          <a:xfrm>
            <a:off x="3815913" y="3273985"/>
            <a:ext cx="34747" cy="34747"/>
          </a:xfrm>
          <a:prstGeom prst="ellipse">
            <a:avLst/>
          </a:prstGeom>
          <a:solidFill>
            <a:srgbClr val="9C3D6E"/>
          </a:solidFill>
          <a:ln/>
        </p:spPr>
        <p:txBody>
          <a:bodyPr/>
          <a:lstStyle/>
          <a:p>
            <a:endParaRPr lang="en-US"/>
          </a:p>
        </p:txBody>
      </p:sp>
      <p:sp>
        <p:nvSpPr>
          <p:cNvPr id="232" name="Shape 230"/>
          <p:cNvSpPr/>
          <p:nvPr/>
        </p:nvSpPr>
        <p:spPr>
          <a:xfrm>
            <a:off x="3849376" y="3273487"/>
            <a:ext cx="34747" cy="34747"/>
          </a:xfrm>
          <a:prstGeom prst="ellipse">
            <a:avLst/>
          </a:prstGeom>
          <a:solidFill>
            <a:srgbClr val="9C3D6E"/>
          </a:solidFill>
          <a:ln/>
        </p:spPr>
        <p:txBody>
          <a:bodyPr/>
          <a:lstStyle/>
          <a:p>
            <a:endParaRPr lang="en-US"/>
          </a:p>
        </p:txBody>
      </p:sp>
      <p:sp>
        <p:nvSpPr>
          <p:cNvPr id="233" name="Shape 231"/>
          <p:cNvSpPr/>
          <p:nvPr/>
        </p:nvSpPr>
        <p:spPr>
          <a:xfrm>
            <a:off x="3882840" y="3272543"/>
            <a:ext cx="34747" cy="34747"/>
          </a:xfrm>
          <a:prstGeom prst="ellipse">
            <a:avLst/>
          </a:prstGeom>
          <a:solidFill>
            <a:srgbClr val="9C3D6E"/>
          </a:solidFill>
          <a:ln/>
        </p:spPr>
        <p:txBody>
          <a:bodyPr/>
          <a:lstStyle/>
          <a:p>
            <a:endParaRPr lang="en-US"/>
          </a:p>
        </p:txBody>
      </p:sp>
      <p:sp>
        <p:nvSpPr>
          <p:cNvPr id="234" name="Shape 232"/>
          <p:cNvSpPr/>
          <p:nvPr/>
        </p:nvSpPr>
        <p:spPr>
          <a:xfrm>
            <a:off x="3916303" y="3270813"/>
            <a:ext cx="34747" cy="34747"/>
          </a:xfrm>
          <a:prstGeom prst="ellipse">
            <a:avLst/>
          </a:prstGeom>
          <a:solidFill>
            <a:srgbClr val="9C3D6E"/>
          </a:solidFill>
          <a:ln/>
        </p:spPr>
        <p:txBody>
          <a:bodyPr/>
          <a:lstStyle/>
          <a:p>
            <a:endParaRPr lang="en-US"/>
          </a:p>
        </p:txBody>
      </p:sp>
      <p:sp>
        <p:nvSpPr>
          <p:cNvPr id="235" name="Shape 233"/>
          <p:cNvSpPr/>
          <p:nvPr/>
        </p:nvSpPr>
        <p:spPr>
          <a:xfrm>
            <a:off x="3949766" y="3267763"/>
            <a:ext cx="34747" cy="34747"/>
          </a:xfrm>
          <a:prstGeom prst="ellipse">
            <a:avLst/>
          </a:prstGeom>
          <a:solidFill>
            <a:srgbClr val="9C3D6E"/>
          </a:solidFill>
          <a:ln/>
        </p:spPr>
        <p:txBody>
          <a:bodyPr/>
          <a:lstStyle/>
          <a:p>
            <a:endParaRPr lang="en-US"/>
          </a:p>
        </p:txBody>
      </p:sp>
      <p:sp>
        <p:nvSpPr>
          <p:cNvPr id="236" name="Shape 234"/>
          <p:cNvSpPr/>
          <p:nvPr/>
        </p:nvSpPr>
        <p:spPr>
          <a:xfrm>
            <a:off x="3983229" y="3262581"/>
            <a:ext cx="34747" cy="34747"/>
          </a:xfrm>
          <a:prstGeom prst="ellipse">
            <a:avLst/>
          </a:prstGeom>
          <a:solidFill>
            <a:srgbClr val="9C3D6E"/>
          </a:solidFill>
          <a:ln/>
        </p:spPr>
        <p:txBody>
          <a:bodyPr/>
          <a:lstStyle/>
          <a:p>
            <a:endParaRPr lang="en-US"/>
          </a:p>
        </p:txBody>
      </p:sp>
      <p:sp>
        <p:nvSpPr>
          <p:cNvPr id="237" name="Shape 235"/>
          <p:cNvSpPr/>
          <p:nvPr/>
        </p:nvSpPr>
        <p:spPr>
          <a:xfrm>
            <a:off x="4016693" y="3254104"/>
            <a:ext cx="34747" cy="34747"/>
          </a:xfrm>
          <a:prstGeom prst="ellipse">
            <a:avLst/>
          </a:prstGeom>
          <a:solidFill>
            <a:srgbClr val="9C3D6E"/>
          </a:solidFill>
          <a:ln/>
        </p:spPr>
        <p:txBody>
          <a:bodyPr/>
          <a:lstStyle/>
          <a:p>
            <a:endParaRPr lang="en-US"/>
          </a:p>
        </p:txBody>
      </p:sp>
      <p:sp>
        <p:nvSpPr>
          <p:cNvPr id="238" name="Shape 236"/>
          <p:cNvSpPr/>
          <p:nvPr/>
        </p:nvSpPr>
        <p:spPr>
          <a:xfrm>
            <a:off x="4050156" y="3240756"/>
            <a:ext cx="34747" cy="34747"/>
          </a:xfrm>
          <a:prstGeom prst="ellipse">
            <a:avLst/>
          </a:prstGeom>
          <a:solidFill>
            <a:srgbClr val="9C3D6E"/>
          </a:solidFill>
          <a:ln/>
        </p:spPr>
        <p:txBody>
          <a:bodyPr/>
          <a:lstStyle/>
          <a:p>
            <a:endParaRPr lang="en-US"/>
          </a:p>
        </p:txBody>
      </p:sp>
      <p:sp>
        <p:nvSpPr>
          <p:cNvPr id="239" name="Shape 237"/>
          <p:cNvSpPr/>
          <p:nvPr/>
        </p:nvSpPr>
        <p:spPr>
          <a:xfrm>
            <a:off x="4083619" y="3220540"/>
            <a:ext cx="34747" cy="34747"/>
          </a:xfrm>
          <a:prstGeom prst="ellipse">
            <a:avLst/>
          </a:prstGeom>
          <a:solidFill>
            <a:srgbClr val="9C3D6E"/>
          </a:solidFill>
          <a:ln/>
        </p:spPr>
        <p:txBody>
          <a:bodyPr/>
          <a:lstStyle/>
          <a:p>
            <a:endParaRPr lang="en-US"/>
          </a:p>
        </p:txBody>
      </p:sp>
      <p:sp>
        <p:nvSpPr>
          <p:cNvPr id="240" name="Shape 238"/>
          <p:cNvSpPr/>
          <p:nvPr/>
        </p:nvSpPr>
        <p:spPr>
          <a:xfrm>
            <a:off x="4117082" y="3191108"/>
            <a:ext cx="34747" cy="34747"/>
          </a:xfrm>
          <a:prstGeom prst="ellipse">
            <a:avLst/>
          </a:prstGeom>
          <a:solidFill>
            <a:srgbClr val="9C3D6E"/>
          </a:solidFill>
          <a:ln/>
        </p:spPr>
        <p:txBody>
          <a:bodyPr/>
          <a:lstStyle/>
          <a:p>
            <a:endParaRPr lang="en-US"/>
          </a:p>
        </p:txBody>
      </p:sp>
      <p:sp>
        <p:nvSpPr>
          <p:cNvPr id="241" name="Shape 239"/>
          <p:cNvSpPr/>
          <p:nvPr/>
        </p:nvSpPr>
        <p:spPr>
          <a:xfrm>
            <a:off x="4150545" y="3149957"/>
            <a:ext cx="34747" cy="34747"/>
          </a:xfrm>
          <a:prstGeom prst="ellipse">
            <a:avLst/>
          </a:prstGeom>
          <a:solidFill>
            <a:srgbClr val="9C3D6E"/>
          </a:solidFill>
          <a:ln/>
        </p:spPr>
        <p:txBody>
          <a:bodyPr/>
          <a:lstStyle/>
          <a:p>
            <a:endParaRPr lang="en-US"/>
          </a:p>
        </p:txBody>
      </p:sp>
      <p:sp>
        <p:nvSpPr>
          <p:cNvPr id="242" name="Shape 240"/>
          <p:cNvSpPr/>
          <p:nvPr/>
        </p:nvSpPr>
        <p:spPr>
          <a:xfrm>
            <a:off x="4184009" y="3094761"/>
            <a:ext cx="34747" cy="34747"/>
          </a:xfrm>
          <a:prstGeom prst="ellipse">
            <a:avLst/>
          </a:prstGeom>
          <a:solidFill>
            <a:srgbClr val="9C3D6E"/>
          </a:solidFill>
          <a:ln/>
        </p:spPr>
        <p:txBody>
          <a:bodyPr/>
          <a:lstStyle/>
          <a:p>
            <a:endParaRPr lang="en-US"/>
          </a:p>
        </p:txBody>
      </p:sp>
      <p:sp>
        <p:nvSpPr>
          <p:cNvPr id="243" name="Shape 241"/>
          <p:cNvSpPr/>
          <p:nvPr/>
        </p:nvSpPr>
        <p:spPr>
          <a:xfrm>
            <a:off x="4217472" y="3023839"/>
            <a:ext cx="34747" cy="34747"/>
          </a:xfrm>
          <a:prstGeom prst="ellipse">
            <a:avLst/>
          </a:prstGeom>
          <a:solidFill>
            <a:srgbClr val="9C3D6E"/>
          </a:solidFill>
          <a:ln/>
        </p:spPr>
        <p:txBody>
          <a:bodyPr/>
          <a:lstStyle/>
          <a:p>
            <a:endParaRPr lang="en-US"/>
          </a:p>
        </p:txBody>
      </p:sp>
      <p:sp>
        <p:nvSpPr>
          <p:cNvPr id="244" name="Shape 242"/>
          <p:cNvSpPr/>
          <p:nvPr/>
        </p:nvSpPr>
        <p:spPr>
          <a:xfrm>
            <a:off x="4250935" y="2936711"/>
            <a:ext cx="34747" cy="34747"/>
          </a:xfrm>
          <a:prstGeom prst="ellipse">
            <a:avLst/>
          </a:prstGeom>
          <a:solidFill>
            <a:srgbClr val="9C3D6E"/>
          </a:solidFill>
          <a:ln/>
        </p:spPr>
        <p:txBody>
          <a:bodyPr/>
          <a:lstStyle/>
          <a:p>
            <a:endParaRPr lang="en-US"/>
          </a:p>
        </p:txBody>
      </p:sp>
      <p:sp>
        <p:nvSpPr>
          <p:cNvPr id="245" name="Shape 243"/>
          <p:cNvSpPr/>
          <p:nvPr/>
        </p:nvSpPr>
        <p:spPr>
          <a:xfrm>
            <a:off x="4284398" y="2834639"/>
            <a:ext cx="34747" cy="34747"/>
          </a:xfrm>
          <a:prstGeom prst="ellipse">
            <a:avLst/>
          </a:prstGeom>
          <a:solidFill>
            <a:srgbClr val="9C3D6E"/>
          </a:solidFill>
          <a:ln/>
        </p:spPr>
        <p:txBody>
          <a:bodyPr/>
          <a:lstStyle/>
          <a:p>
            <a:endParaRPr lang="en-US"/>
          </a:p>
        </p:txBody>
      </p:sp>
      <p:sp>
        <p:nvSpPr>
          <p:cNvPr id="246" name="Shape 244"/>
          <p:cNvSpPr/>
          <p:nvPr/>
        </p:nvSpPr>
        <p:spPr>
          <a:xfrm>
            <a:off x="4317862" y="2721028"/>
            <a:ext cx="34747" cy="34747"/>
          </a:xfrm>
          <a:prstGeom prst="ellipse">
            <a:avLst/>
          </a:prstGeom>
          <a:solidFill>
            <a:srgbClr val="9C3D6E"/>
          </a:solidFill>
          <a:ln/>
        </p:spPr>
        <p:txBody>
          <a:bodyPr/>
          <a:lstStyle/>
          <a:p>
            <a:endParaRPr lang="en-US"/>
          </a:p>
        </p:txBody>
      </p:sp>
      <p:sp>
        <p:nvSpPr>
          <p:cNvPr id="247" name="Shape 245"/>
          <p:cNvSpPr/>
          <p:nvPr/>
        </p:nvSpPr>
        <p:spPr>
          <a:xfrm>
            <a:off x="4351325" y="2601549"/>
            <a:ext cx="34747" cy="34747"/>
          </a:xfrm>
          <a:prstGeom prst="ellipse">
            <a:avLst/>
          </a:prstGeom>
          <a:solidFill>
            <a:srgbClr val="9C3D6E"/>
          </a:solidFill>
          <a:ln/>
        </p:spPr>
        <p:txBody>
          <a:bodyPr/>
          <a:lstStyle/>
          <a:p>
            <a:endParaRPr lang="en-US"/>
          </a:p>
        </p:txBody>
      </p:sp>
      <p:sp>
        <p:nvSpPr>
          <p:cNvPr id="248" name="Shape 246"/>
          <p:cNvSpPr/>
          <p:nvPr/>
        </p:nvSpPr>
        <p:spPr>
          <a:xfrm>
            <a:off x="4384788" y="2483858"/>
            <a:ext cx="34747" cy="34747"/>
          </a:xfrm>
          <a:prstGeom prst="ellipse">
            <a:avLst/>
          </a:prstGeom>
          <a:solidFill>
            <a:srgbClr val="9C3D6E"/>
          </a:solidFill>
          <a:ln/>
        </p:spPr>
        <p:txBody>
          <a:bodyPr/>
          <a:lstStyle/>
          <a:p>
            <a:endParaRPr lang="en-US"/>
          </a:p>
        </p:txBody>
      </p:sp>
      <p:sp>
        <p:nvSpPr>
          <p:cNvPr id="249" name="Shape 247"/>
          <p:cNvSpPr/>
          <p:nvPr/>
        </p:nvSpPr>
        <p:spPr>
          <a:xfrm>
            <a:off x="4418251" y="2376898"/>
            <a:ext cx="34747" cy="34747"/>
          </a:xfrm>
          <a:prstGeom prst="ellipse">
            <a:avLst/>
          </a:prstGeom>
          <a:solidFill>
            <a:srgbClr val="9C3D6E"/>
          </a:solidFill>
          <a:ln/>
        </p:spPr>
        <p:txBody>
          <a:bodyPr/>
          <a:lstStyle/>
          <a:p>
            <a:endParaRPr lang="en-US"/>
          </a:p>
        </p:txBody>
      </p:sp>
      <p:sp>
        <p:nvSpPr>
          <p:cNvPr id="250" name="Shape 248"/>
          <p:cNvSpPr/>
          <p:nvPr/>
        </p:nvSpPr>
        <p:spPr>
          <a:xfrm>
            <a:off x="4451714" y="2289821"/>
            <a:ext cx="34747" cy="34747"/>
          </a:xfrm>
          <a:prstGeom prst="ellipse">
            <a:avLst/>
          </a:prstGeom>
          <a:solidFill>
            <a:srgbClr val="9C3D6E"/>
          </a:solidFill>
          <a:ln/>
        </p:spPr>
        <p:txBody>
          <a:bodyPr/>
          <a:lstStyle/>
          <a:p>
            <a:endParaRPr lang="en-US"/>
          </a:p>
        </p:txBody>
      </p:sp>
      <p:sp>
        <p:nvSpPr>
          <p:cNvPr id="251" name="Shape 249"/>
          <p:cNvSpPr/>
          <p:nvPr/>
        </p:nvSpPr>
        <p:spPr>
          <a:xfrm>
            <a:off x="4485178" y="2230711"/>
            <a:ext cx="34747" cy="34747"/>
          </a:xfrm>
          <a:prstGeom prst="ellipse">
            <a:avLst/>
          </a:prstGeom>
          <a:solidFill>
            <a:srgbClr val="9C3D6E"/>
          </a:solidFill>
          <a:ln/>
        </p:spPr>
        <p:txBody>
          <a:bodyPr/>
          <a:lstStyle/>
          <a:p>
            <a:endParaRPr lang="en-US"/>
          </a:p>
        </p:txBody>
      </p:sp>
      <p:sp>
        <p:nvSpPr>
          <p:cNvPr id="252" name="Shape 250"/>
          <p:cNvSpPr/>
          <p:nvPr/>
        </p:nvSpPr>
        <p:spPr>
          <a:xfrm>
            <a:off x="4518641" y="2205352"/>
            <a:ext cx="34747" cy="34747"/>
          </a:xfrm>
          <a:prstGeom prst="ellipse">
            <a:avLst/>
          </a:prstGeom>
          <a:solidFill>
            <a:srgbClr val="9C3D6E"/>
          </a:solidFill>
          <a:ln/>
        </p:spPr>
        <p:txBody>
          <a:bodyPr/>
          <a:lstStyle/>
          <a:p>
            <a:endParaRPr lang="en-US"/>
          </a:p>
        </p:txBody>
      </p:sp>
      <p:sp>
        <p:nvSpPr>
          <p:cNvPr id="253" name="Shape 251"/>
          <p:cNvSpPr/>
          <p:nvPr/>
        </p:nvSpPr>
        <p:spPr>
          <a:xfrm>
            <a:off x="4552104" y="2216295"/>
            <a:ext cx="34747" cy="34747"/>
          </a:xfrm>
          <a:prstGeom prst="ellipse">
            <a:avLst/>
          </a:prstGeom>
          <a:solidFill>
            <a:srgbClr val="9C3D6E"/>
          </a:solidFill>
          <a:ln/>
        </p:spPr>
        <p:txBody>
          <a:bodyPr/>
          <a:lstStyle/>
          <a:p>
            <a:endParaRPr lang="en-US"/>
          </a:p>
        </p:txBody>
      </p:sp>
      <p:sp>
        <p:nvSpPr>
          <p:cNvPr id="254" name="Shape 252"/>
          <p:cNvSpPr/>
          <p:nvPr/>
        </p:nvSpPr>
        <p:spPr>
          <a:xfrm>
            <a:off x="4585567" y="2262434"/>
            <a:ext cx="34747" cy="34747"/>
          </a:xfrm>
          <a:prstGeom prst="ellipse">
            <a:avLst/>
          </a:prstGeom>
          <a:solidFill>
            <a:srgbClr val="9C3D6E"/>
          </a:solidFill>
          <a:ln/>
        </p:spPr>
        <p:txBody>
          <a:bodyPr/>
          <a:lstStyle/>
          <a:p>
            <a:endParaRPr lang="en-US"/>
          </a:p>
        </p:txBody>
      </p:sp>
      <p:sp>
        <p:nvSpPr>
          <p:cNvPr id="255" name="Shape 253"/>
          <p:cNvSpPr/>
          <p:nvPr/>
        </p:nvSpPr>
        <p:spPr>
          <a:xfrm>
            <a:off x="4619031" y="2339191"/>
            <a:ext cx="34747" cy="34747"/>
          </a:xfrm>
          <a:prstGeom prst="ellipse">
            <a:avLst/>
          </a:prstGeom>
          <a:solidFill>
            <a:srgbClr val="9C3D6E"/>
          </a:solidFill>
          <a:ln/>
        </p:spPr>
        <p:txBody>
          <a:bodyPr/>
          <a:lstStyle/>
          <a:p>
            <a:endParaRPr lang="en-US"/>
          </a:p>
        </p:txBody>
      </p:sp>
      <p:sp>
        <p:nvSpPr>
          <p:cNvPr id="256" name="Shape 254"/>
          <p:cNvSpPr/>
          <p:nvPr/>
        </p:nvSpPr>
        <p:spPr>
          <a:xfrm>
            <a:off x="4652494" y="2439265"/>
            <a:ext cx="34747" cy="34747"/>
          </a:xfrm>
          <a:prstGeom prst="ellipse">
            <a:avLst/>
          </a:prstGeom>
          <a:solidFill>
            <a:srgbClr val="9C3D6E"/>
          </a:solidFill>
          <a:ln/>
        </p:spPr>
        <p:txBody>
          <a:bodyPr/>
          <a:lstStyle/>
          <a:p>
            <a:endParaRPr lang="en-US"/>
          </a:p>
        </p:txBody>
      </p:sp>
      <p:sp>
        <p:nvSpPr>
          <p:cNvPr id="257" name="Shape 255"/>
          <p:cNvSpPr/>
          <p:nvPr/>
        </p:nvSpPr>
        <p:spPr>
          <a:xfrm>
            <a:off x="4685957" y="2553776"/>
            <a:ext cx="34747" cy="34747"/>
          </a:xfrm>
          <a:prstGeom prst="ellipse">
            <a:avLst/>
          </a:prstGeom>
          <a:solidFill>
            <a:srgbClr val="9C3D6E"/>
          </a:solidFill>
          <a:ln/>
        </p:spPr>
        <p:txBody>
          <a:bodyPr/>
          <a:lstStyle/>
          <a:p>
            <a:endParaRPr lang="en-US"/>
          </a:p>
        </p:txBody>
      </p:sp>
      <p:sp>
        <p:nvSpPr>
          <p:cNvPr id="258" name="Shape 256"/>
          <p:cNvSpPr/>
          <p:nvPr/>
        </p:nvSpPr>
        <p:spPr>
          <a:xfrm>
            <a:off x="4719420" y="2673551"/>
            <a:ext cx="34747" cy="34747"/>
          </a:xfrm>
          <a:prstGeom prst="ellipse">
            <a:avLst/>
          </a:prstGeom>
          <a:solidFill>
            <a:srgbClr val="9C3D6E"/>
          </a:solidFill>
          <a:ln/>
        </p:spPr>
        <p:txBody>
          <a:bodyPr/>
          <a:lstStyle/>
          <a:p>
            <a:endParaRPr lang="en-US"/>
          </a:p>
        </p:txBody>
      </p:sp>
      <p:sp>
        <p:nvSpPr>
          <p:cNvPr id="259" name="Shape 257"/>
          <p:cNvSpPr/>
          <p:nvPr/>
        </p:nvSpPr>
        <p:spPr>
          <a:xfrm>
            <a:off x="4752884" y="2790311"/>
            <a:ext cx="34747" cy="34747"/>
          </a:xfrm>
          <a:prstGeom prst="ellipse">
            <a:avLst/>
          </a:prstGeom>
          <a:solidFill>
            <a:srgbClr val="9C3D6E"/>
          </a:solidFill>
          <a:ln/>
        </p:spPr>
        <p:txBody>
          <a:bodyPr/>
          <a:lstStyle/>
          <a:p>
            <a:endParaRPr lang="en-US"/>
          </a:p>
        </p:txBody>
      </p:sp>
      <p:sp>
        <p:nvSpPr>
          <p:cNvPr id="260" name="Shape 258"/>
          <p:cNvSpPr/>
          <p:nvPr/>
        </p:nvSpPr>
        <p:spPr>
          <a:xfrm>
            <a:off x="4786347" y="2897535"/>
            <a:ext cx="34747" cy="34747"/>
          </a:xfrm>
          <a:prstGeom prst="ellipse">
            <a:avLst/>
          </a:prstGeom>
          <a:solidFill>
            <a:srgbClr val="9C3D6E"/>
          </a:solidFill>
          <a:ln/>
        </p:spPr>
        <p:txBody>
          <a:bodyPr/>
          <a:lstStyle/>
          <a:p>
            <a:endParaRPr lang="en-US"/>
          </a:p>
        </p:txBody>
      </p:sp>
      <p:sp>
        <p:nvSpPr>
          <p:cNvPr id="261" name="Shape 259"/>
          <p:cNvSpPr/>
          <p:nvPr/>
        </p:nvSpPr>
        <p:spPr>
          <a:xfrm>
            <a:off x="4819810" y="2990906"/>
            <a:ext cx="34747" cy="34747"/>
          </a:xfrm>
          <a:prstGeom prst="ellipse">
            <a:avLst/>
          </a:prstGeom>
          <a:solidFill>
            <a:srgbClr val="9C3D6E"/>
          </a:solidFill>
          <a:ln/>
        </p:spPr>
        <p:txBody>
          <a:bodyPr/>
          <a:lstStyle/>
          <a:p>
            <a:endParaRPr lang="en-US"/>
          </a:p>
        </p:txBody>
      </p:sp>
      <p:sp>
        <p:nvSpPr>
          <p:cNvPr id="262" name="Shape 260"/>
          <p:cNvSpPr/>
          <p:nvPr/>
        </p:nvSpPr>
        <p:spPr>
          <a:xfrm>
            <a:off x="4853273" y="3068339"/>
            <a:ext cx="34747" cy="34747"/>
          </a:xfrm>
          <a:prstGeom prst="ellipse">
            <a:avLst/>
          </a:prstGeom>
          <a:solidFill>
            <a:srgbClr val="9C3D6E"/>
          </a:solidFill>
          <a:ln/>
        </p:spPr>
        <p:txBody>
          <a:bodyPr/>
          <a:lstStyle/>
          <a:p>
            <a:endParaRPr lang="en-US"/>
          </a:p>
        </p:txBody>
      </p:sp>
      <p:sp>
        <p:nvSpPr>
          <p:cNvPr id="263" name="Shape 261"/>
          <p:cNvSpPr/>
          <p:nvPr/>
        </p:nvSpPr>
        <p:spPr>
          <a:xfrm>
            <a:off x="4886736" y="3129678"/>
            <a:ext cx="34747" cy="34747"/>
          </a:xfrm>
          <a:prstGeom prst="ellipse">
            <a:avLst/>
          </a:prstGeom>
          <a:solidFill>
            <a:srgbClr val="9C3D6E"/>
          </a:solidFill>
          <a:ln/>
        </p:spPr>
        <p:txBody>
          <a:bodyPr/>
          <a:lstStyle/>
          <a:p>
            <a:endParaRPr lang="en-US"/>
          </a:p>
        </p:txBody>
      </p:sp>
      <p:sp>
        <p:nvSpPr>
          <p:cNvPr id="264" name="Shape 262"/>
          <p:cNvSpPr/>
          <p:nvPr/>
        </p:nvSpPr>
        <p:spPr>
          <a:xfrm>
            <a:off x="4920200" y="3176193"/>
            <a:ext cx="34747" cy="34747"/>
          </a:xfrm>
          <a:prstGeom prst="ellipse">
            <a:avLst/>
          </a:prstGeom>
          <a:solidFill>
            <a:srgbClr val="9C3D6E"/>
          </a:solidFill>
          <a:ln/>
        </p:spPr>
        <p:txBody>
          <a:bodyPr/>
          <a:lstStyle/>
          <a:p>
            <a:endParaRPr lang="en-US"/>
          </a:p>
        </p:txBody>
      </p:sp>
      <p:sp>
        <p:nvSpPr>
          <p:cNvPr id="265" name="Shape 263"/>
          <p:cNvSpPr/>
          <p:nvPr/>
        </p:nvSpPr>
        <p:spPr>
          <a:xfrm>
            <a:off x="4953663" y="3210013"/>
            <a:ext cx="34747" cy="34747"/>
          </a:xfrm>
          <a:prstGeom prst="ellipse">
            <a:avLst/>
          </a:prstGeom>
          <a:solidFill>
            <a:srgbClr val="9C3D6E"/>
          </a:solidFill>
          <a:ln/>
        </p:spPr>
        <p:txBody>
          <a:bodyPr/>
          <a:lstStyle/>
          <a:p>
            <a:endParaRPr lang="en-US"/>
          </a:p>
        </p:txBody>
      </p:sp>
      <p:sp>
        <p:nvSpPr>
          <p:cNvPr id="266" name="Shape 264"/>
          <p:cNvSpPr/>
          <p:nvPr/>
        </p:nvSpPr>
        <p:spPr>
          <a:xfrm>
            <a:off x="4987126" y="3233619"/>
            <a:ext cx="34747" cy="34747"/>
          </a:xfrm>
          <a:prstGeom prst="ellipse">
            <a:avLst/>
          </a:prstGeom>
          <a:solidFill>
            <a:srgbClr val="9C3D6E"/>
          </a:solidFill>
          <a:ln/>
        </p:spPr>
        <p:txBody>
          <a:bodyPr/>
          <a:lstStyle/>
          <a:p>
            <a:endParaRPr lang="en-US"/>
          </a:p>
        </p:txBody>
      </p:sp>
      <p:sp>
        <p:nvSpPr>
          <p:cNvPr id="267" name="Shape 265"/>
          <p:cNvSpPr/>
          <p:nvPr/>
        </p:nvSpPr>
        <p:spPr>
          <a:xfrm>
            <a:off x="5020589" y="3249452"/>
            <a:ext cx="34747" cy="34747"/>
          </a:xfrm>
          <a:prstGeom prst="ellipse">
            <a:avLst/>
          </a:prstGeom>
          <a:solidFill>
            <a:srgbClr val="9C3D6E"/>
          </a:solidFill>
          <a:ln/>
        </p:spPr>
        <p:txBody>
          <a:bodyPr/>
          <a:lstStyle/>
          <a:p>
            <a:endParaRPr lang="en-US"/>
          </a:p>
        </p:txBody>
      </p:sp>
      <p:sp>
        <p:nvSpPr>
          <p:cNvPr id="268" name="Shape 266"/>
          <p:cNvSpPr/>
          <p:nvPr/>
        </p:nvSpPr>
        <p:spPr>
          <a:xfrm>
            <a:off x="5054053" y="3259665"/>
            <a:ext cx="34747" cy="34747"/>
          </a:xfrm>
          <a:prstGeom prst="ellipse">
            <a:avLst/>
          </a:prstGeom>
          <a:solidFill>
            <a:srgbClr val="9C3D6E"/>
          </a:solidFill>
          <a:ln/>
        </p:spPr>
        <p:txBody>
          <a:bodyPr/>
          <a:lstStyle/>
          <a:p>
            <a:endParaRPr lang="en-US"/>
          </a:p>
        </p:txBody>
      </p:sp>
      <p:sp>
        <p:nvSpPr>
          <p:cNvPr id="269" name="Shape 267"/>
          <p:cNvSpPr/>
          <p:nvPr/>
        </p:nvSpPr>
        <p:spPr>
          <a:xfrm>
            <a:off x="5087516" y="3266003"/>
            <a:ext cx="34747" cy="34747"/>
          </a:xfrm>
          <a:prstGeom prst="ellipse">
            <a:avLst/>
          </a:prstGeom>
          <a:solidFill>
            <a:srgbClr val="9C3D6E"/>
          </a:solidFill>
          <a:ln/>
        </p:spPr>
        <p:txBody>
          <a:bodyPr/>
          <a:lstStyle/>
          <a:p>
            <a:endParaRPr lang="en-US"/>
          </a:p>
        </p:txBody>
      </p:sp>
      <p:sp>
        <p:nvSpPr>
          <p:cNvPr id="270" name="Shape 268"/>
          <p:cNvSpPr/>
          <p:nvPr/>
        </p:nvSpPr>
        <p:spPr>
          <a:xfrm>
            <a:off x="5120979" y="3269790"/>
            <a:ext cx="34747" cy="34747"/>
          </a:xfrm>
          <a:prstGeom prst="ellipse">
            <a:avLst/>
          </a:prstGeom>
          <a:solidFill>
            <a:srgbClr val="9C3D6E"/>
          </a:solidFill>
          <a:ln/>
        </p:spPr>
        <p:txBody>
          <a:bodyPr/>
          <a:lstStyle/>
          <a:p>
            <a:endParaRPr lang="en-US"/>
          </a:p>
        </p:txBody>
      </p:sp>
      <p:sp>
        <p:nvSpPr>
          <p:cNvPr id="271" name="Shape 269"/>
          <p:cNvSpPr/>
          <p:nvPr/>
        </p:nvSpPr>
        <p:spPr>
          <a:xfrm>
            <a:off x="5154442" y="3271970"/>
            <a:ext cx="34747" cy="34747"/>
          </a:xfrm>
          <a:prstGeom prst="ellipse">
            <a:avLst/>
          </a:prstGeom>
          <a:solidFill>
            <a:srgbClr val="9C3D6E"/>
          </a:solidFill>
          <a:ln/>
        </p:spPr>
        <p:txBody>
          <a:bodyPr/>
          <a:lstStyle/>
          <a:p>
            <a:endParaRPr lang="en-US"/>
          </a:p>
        </p:txBody>
      </p:sp>
      <p:sp>
        <p:nvSpPr>
          <p:cNvPr id="272" name="Shape 270"/>
          <p:cNvSpPr/>
          <p:nvPr/>
        </p:nvSpPr>
        <p:spPr>
          <a:xfrm>
            <a:off x="5187906" y="3273178"/>
            <a:ext cx="34747" cy="34747"/>
          </a:xfrm>
          <a:prstGeom prst="ellipse">
            <a:avLst/>
          </a:prstGeom>
          <a:solidFill>
            <a:srgbClr val="9C3D6E"/>
          </a:solidFill>
          <a:ln/>
        </p:spPr>
        <p:txBody>
          <a:bodyPr/>
          <a:lstStyle/>
          <a:p>
            <a:endParaRPr lang="en-US"/>
          </a:p>
        </p:txBody>
      </p:sp>
      <p:sp>
        <p:nvSpPr>
          <p:cNvPr id="273" name="Shape 271"/>
          <p:cNvSpPr/>
          <p:nvPr/>
        </p:nvSpPr>
        <p:spPr>
          <a:xfrm>
            <a:off x="5221369" y="3273824"/>
            <a:ext cx="34747" cy="34747"/>
          </a:xfrm>
          <a:prstGeom prst="ellipse">
            <a:avLst/>
          </a:prstGeom>
          <a:solidFill>
            <a:srgbClr val="9C3D6E"/>
          </a:solidFill>
          <a:ln/>
        </p:spPr>
        <p:txBody>
          <a:bodyPr/>
          <a:lstStyle/>
          <a:p>
            <a:endParaRPr lang="en-US"/>
          </a:p>
        </p:txBody>
      </p:sp>
      <p:sp>
        <p:nvSpPr>
          <p:cNvPr id="274" name="Shape 272"/>
          <p:cNvSpPr/>
          <p:nvPr/>
        </p:nvSpPr>
        <p:spPr>
          <a:xfrm>
            <a:off x="5254832" y="3274157"/>
            <a:ext cx="34747" cy="34747"/>
          </a:xfrm>
          <a:prstGeom prst="ellipse">
            <a:avLst/>
          </a:prstGeom>
          <a:solidFill>
            <a:srgbClr val="9C3D6E"/>
          </a:solidFill>
          <a:ln/>
        </p:spPr>
        <p:txBody>
          <a:bodyPr/>
          <a:lstStyle/>
          <a:p>
            <a:endParaRPr lang="en-US"/>
          </a:p>
        </p:txBody>
      </p:sp>
      <p:sp>
        <p:nvSpPr>
          <p:cNvPr id="275" name="Shape 273"/>
          <p:cNvSpPr/>
          <p:nvPr/>
        </p:nvSpPr>
        <p:spPr>
          <a:xfrm>
            <a:off x="5288295" y="3274322"/>
            <a:ext cx="34747" cy="34747"/>
          </a:xfrm>
          <a:prstGeom prst="ellipse">
            <a:avLst/>
          </a:prstGeom>
          <a:solidFill>
            <a:srgbClr val="9C3D6E"/>
          </a:solidFill>
          <a:ln/>
        </p:spPr>
        <p:txBody>
          <a:bodyPr/>
          <a:lstStyle/>
          <a:p>
            <a:endParaRPr lang="en-US"/>
          </a:p>
        </p:txBody>
      </p:sp>
      <p:sp>
        <p:nvSpPr>
          <p:cNvPr id="276" name="Shape 274"/>
          <p:cNvSpPr/>
          <p:nvPr/>
        </p:nvSpPr>
        <p:spPr>
          <a:xfrm>
            <a:off x="5321758" y="3274402"/>
            <a:ext cx="34747" cy="34747"/>
          </a:xfrm>
          <a:prstGeom prst="ellipse">
            <a:avLst/>
          </a:prstGeom>
          <a:solidFill>
            <a:srgbClr val="9C3D6E"/>
          </a:solidFill>
          <a:ln/>
        </p:spPr>
        <p:txBody>
          <a:bodyPr/>
          <a:lstStyle/>
          <a:p>
            <a:endParaRPr lang="en-US"/>
          </a:p>
        </p:txBody>
      </p:sp>
      <p:sp>
        <p:nvSpPr>
          <p:cNvPr id="277" name="Shape 275"/>
          <p:cNvSpPr/>
          <p:nvPr/>
        </p:nvSpPr>
        <p:spPr>
          <a:xfrm>
            <a:off x="5355222" y="3274438"/>
            <a:ext cx="34747" cy="34747"/>
          </a:xfrm>
          <a:prstGeom prst="ellipse">
            <a:avLst/>
          </a:prstGeom>
          <a:solidFill>
            <a:srgbClr val="9C3D6E"/>
          </a:solidFill>
          <a:ln/>
        </p:spPr>
        <p:txBody>
          <a:bodyPr/>
          <a:lstStyle/>
          <a:p>
            <a:endParaRPr lang="en-US"/>
          </a:p>
        </p:txBody>
      </p:sp>
      <p:sp>
        <p:nvSpPr>
          <p:cNvPr id="278" name="Shape 276"/>
          <p:cNvSpPr/>
          <p:nvPr/>
        </p:nvSpPr>
        <p:spPr>
          <a:xfrm>
            <a:off x="5388685" y="3274455"/>
            <a:ext cx="34747" cy="34747"/>
          </a:xfrm>
          <a:prstGeom prst="ellipse">
            <a:avLst/>
          </a:prstGeom>
          <a:solidFill>
            <a:srgbClr val="9C3D6E"/>
          </a:solidFill>
          <a:ln/>
        </p:spPr>
        <p:txBody>
          <a:bodyPr/>
          <a:lstStyle/>
          <a:p>
            <a:endParaRPr lang="en-US"/>
          </a:p>
        </p:txBody>
      </p:sp>
      <p:sp>
        <p:nvSpPr>
          <p:cNvPr id="279" name="Shape 277"/>
          <p:cNvSpPr/>
          <p:nvPr/>
        </p:nvSpPr>
        <p:spPr>
          <a:xfrm>
            <a:off x="5422148" y="3274462"/>
            <a:ext cx="34747" cy="34747"/>
          </a:xfrm>
          <a:prstGeom prst="ellipse">
            <a:avLst/>
          </a:prstGeom>
          <a:solidFill>
            <a:srgbClr val="9C3D6E"/>
          </a:solidFill>
          <a:ln/>
        </p:spPr>
        <p:txBody>
          <a:bodyPr/>
          <a:lstStyle/>
          <a:p>
            <a:endParaRPr lang="en-US"/>
          </a:p>
        </p:txBody>
      </p:sp>
      <p:sp>
        <p:nvSpPr>
          <p:cNvPr id="280" name="Shape 278"/>
          <p:cNvSpPr/>
          <p:nvPr/>
        </p:nvSpPr>
        <p:spPr>
          <a:xfrm>
            <a:off x="5455611" y="3274465"/>
            <a:ext cx="34747" cy="34747"/>
          </a:xfrm>
          <a:prstGeom prst="ellipse">
            <a:avLst/>
          </a:prstGeom>
          <a:solidFill>
            <a:srgbClr val="9C3D6E"/>
          </a:solidFill>
          <a:ln/>
        </p:spPr>
        <p:txBody>
          <a:bodyPr/>
          <a:lstStyle/>
          <a:p>
            <a:endParaRPr lang="en-US"/>
          </a:p>
        </p:txBody>
      </p:sp>
      <p:sp>
        <p:nvSpPr>
          <p:cNvPr id="281" name="Shape 279"/>
          <p:cNvSpPr/>
          <p:nvPr/>
        </p:nvSpPr>
        <p:spPr>
          <a:xfrm>
            <a:off x="5489075" y="3274466"/>
            <a:ext cx="34747" cy="34747"/>
          </a:xfrm>
          <a:prstGeom prst="ellipse">
            <a:avLst/>
          </a:prstGeom>
          <a:solidFill>
            <a:srgbClr val="9C3D6E"/>
          </a:solidFill>
          <a:ln/>
        </p:spPr>
        <p:txBody>
          <a:bodyPr/>
          <a:lstStyle/>
          <a:p>
            <a:endParaRPr lang="en-US"/>
          </a:p>
        </p:txBody>
      </p:sp>
      <p:sp>
        <p:nvSpPr>
          <p:cNvPr id="282" name="Shape 280"/>
          <p:cNvSpPr/>
          <p:nvPr/>
        </p:nvSpPr>
        <p:spPr>
          <a:xfrm>
            <a:off x="5522538" y="3274466"/>
            <a:ext cx="34747" cy="34747"/>
          </a:xfrm>
          <a:prstGeom prst="ellipse">
            <a:avLst/>
          </a:prstGeom>
          <a:solidFill>
            <a:srgbClr val="9C3D6E"/>
          </a:solidFill>
          <a:ln/>
        </p:spPr>
        <p:txBody>
          <a:bodyPr/>
          <a:lstStyle/>
          <a:p>
            <a:endParaRPr lang="en-US"/>
          </a:p>
        </p:txBody>
      </p:sp>
      <p:sp>
        <p:nvSpPr>
          <p:cNvPr id="283" name="Shape 281"/>
          <p:cNvSpPr/>
          <p:nvPr/>
        </p:nvSpPr>
        <p:spPr>
          <a:xfrm>
            <a:off x="5556001" y="3274466"/>
            <a:ext cx="34747" cy="34747"/>
          </a:xfrm>
          <a:prstGeom prst="ellipse">
            <a:avLst/>
          </a:prstGeom>
          <a:solidFill>
            <a:srgbClr val="9C3D6E"/>
          </a:solidFill>
          <a:ln/>
        </p:spPr>
        <p:txBody>
          <a:bodyPr/>
          <a:lstStyle/>
          <a:p>
            <a:endParaRPr lang="en-US"/>
          </a:p>
        </p:txBody>
      </p:sp>
      <p:sp>
        <p:nvSpPr>
          <p:cNvPr id="284" name="Shape 282"/>
          <p:cNvSpPr/>
          <p:nvPr/>
        </p:nvSpPr>
        <p:spPr>
          <a:xfrm>
            <a:off x="5589464" y="3274466"/>
            <a:ext cx="34747" cy="34747"/>
          </a:xfrm>
          <a:prstGeom prst="ellipse">
            <a:avLst/>
          </a:prstGeom>
          <a:solidFill>
            <a:srgbClr val="9C3D6E"/>
          </a:solidFill>
          <a:ln/>
        </p:spPr>
        <p:txBody>
          <a:bodyPr/>
          <a:lstStyle/>
          <a:p>
            <a:endParaRPr lang="en-US"/>
          </a:p>
        </p:txBody>
      </p:sp>
      <p:sp>
        <p:nvSpPr>
          <p:cNvPr id="285" name="Shape 283"/>
          <p:cNvSpPr/>
          <p:nvPr/>
        </p:nvSpPr>
        <p:spPr>
          <a:xfrm>
            <a:off x="5622928" y="3274466"/>
            <a:ext cx="34747" cy="34747"/>
          </a:xfrm>
          <a:prstGeom prst="ellipse">
            <a:avLst/>
          </a:prstGeom>
          <a:solidFill>
            <a:srgbClr val="9C3D6E"/>
          </a:solidFill>
          <a:ln/>
        </p:spPr>
        <p:txBody>
          <a:bodyPr/>
          <a:lstStyle/>
          <a:p>
            <a:endParaRPr lang="en-US"/>
          </a:p>
        </p:txBody>
      </p:sp>
      <p:sp>
        <p:nvSpPr>
          <p:cNvPr id="286" name="Shape 284"/>
          <p:cNvSpPr/>
          <p:nvPr/>
        </p:nvSpPr>
        <p:spPr>
          <a:xfrm>
            <a:off x="5656391" y="3274466"/>
            <a:ext cx="34747" cy="34747"/>
          </a:xfrm>
          <a:prstGeom prst="ellipse">
            <a:avLst/>
          </a:prstGeom>
          <a:solidFill>
            <a:srgbClr val="9C3D6E"/>
          </a:solidFill>
          <a:ln/>
        </p:spPr>
        <p:txBody>
          <a:bodyPr/>
          <a:lstStyle/>
          <a:p>
            <a:endParaRPr lang="en-US"/>
          </a:p>
        </p:txBody>
      </p:sp>
      <p:sp>
        <p:nvSpPr>
          <p:cNvPr id="287" name="Shape 285"/>
          <p:cNvSpPr/>
          <p:nvPr/>
        </p:nvSpPr>
        <p:spPr>
          <a:xfrm>
            <a:off x="5689854" y="3274466"/>
            <a:ext cx="34747" cy="34747"/>
          </a:xfrm>
          <a:prstGeom prst="ellipse">
            <a:avLst/>
          </a:prstGeom>
          <a:solidFill>
            <a:srgbClr val="9C3D6E"/>
          </a:solidFill>
          <a:ln/>
        </p:spPr>
        <p:txBody>
          <a:bodyPr/>
          <a:lstStyle/>
          <a:p>
            <a:endParaRPr lang="en-US"/>
          </a:p>
        </p:txBody>
      </p:sp>
      <p:sp>
        <p:nvSpPr>
          <p:cNvPr id="288" name="Shape 286"/>
          <p:cNvSpPr/>
          <p:nvPr/>
        </p:nvSpPr>
        <p:spPr>
          <a:xfrm>
            <a:off x="3683889" y="3109126"/>
            <a:ext cx="31090" cy="31090"/>
          </a:xfrm>
          <a:prstGeom prst="ellipse">
            <a:avLst/>
          </a:prstGeom>
          <a:solidFill>
            <a:srgbClr val="1F7A6B"/>
          </a:solidFill>
          <a:ln/>
        </p:spPr>
        <p:txBody>
          <a:bodyPr/>
          <a:lstStyle/>
          <a:p>
            <a:endParaRPr lang="en-US"/>
          </a:p>
        </p:txBody>
      </p:sp>
      <p:sp>
        <p:nvSpPr>
          <p:cNvPr id="289" name="Shape 287"/>
          <p:cNvSpPr/>
          <p:nvPr/>
        </p:nvSpPr>
        <p:spPr>
          <a:xfrm>
            <a:off x="3750815" y="3107863"/>
            <a:ext cx="31090" cy="31090"/>
          </a:xfrm>
          <a:prstGeom prst="ellipse">
            <a:avLst/>
          </a:prstGeom>
          <a:solidFill>
            <a:srgbClr val="1F7A6B"/>
          </a:solidFill>
          <a:ln/>
        </p:spPr>
        <p:txBody>
          <a:bodyPr/>
          <a:lstStyle/>
          <a:p>
            <a:endParaRPr lang="en-US"/>
          </a:p>
        </p:txBody>
      </p:sp>
      <p:sp>
        <p:nvSpPr>
          <p:cNvPr id="290" name="Shape 288"/>
          <p:cNvSpPr/>
          <p:nvPr/>
        </p:nvSpPr>
        <p:spPr>
          <a:xfrm>
            <a:off x="3817742" y="3105984"/>
            <a:ext cx="31090" cy="31090"/>
          </a:xfrm>
          <a:prstGeom prst="ellipse">
            <a:avLst/>
          </a:prstGeom>
          <a:solidFill>
            <a:srgbClr val="1F7A6B"/>
          </a:solidFill>
          <a:ln/>
        </p:spPr>
        <p:txBody>
          <a:bodyPr/>
          <a:lstStyle/>
          <a:p>
            <a:endParaRPr lang="en-US"/>
          </a:p>
        </p:txBody>
      </p:sp>
      <p:sp>
        <p:nvSpPr>
          <p:cNvPr id="291" name="Shape 289"/>
          <p:cNvSpPr/>
          <p:nvPr/>
        </p:nvSpPr>
        <p:spPr>
          <a:xfrm>
            <a:off x="3884668" y="3103194"/>
            <a:ext cx="31090" cy="31090"/>
          </a:xfrm>
          <a:prstGeom prst="ellipse">
            <a:avLst/>
          </a:prstGeom>
          <a:solidFill>
            <a:srgbClr val="1F7A6B"/>
          </a:solidFill>
          <a:ln/>
        </p:spPr>
        <p:txBody>
          <a:bodyPr/>
          <a:lstStyle/>
          <a:p>
            <a:endParaRPr lang="en-US"/>
          </a:p>
        </p:txBody>
      </p:sp>
      <p:sp>
        <p:nvSpPr>
          <p:cNvPr id="292" name="Shape 290"/>
          <p:cNvSpPr/>
          <p:nvPr/>
        </p:nvSpPr>
        <p:spPr>
          <a:xfrm>
            <a:off x="3951595" y="3099060"/>
            <a:ext cx="31090" cy="31090"/>
          </a:xfrm>
          <a:prstGeom prst="ellipse">
            <a:avLst/>
          </a:prstGeom>
          <a:solidFill>
            <a:srgbClr val="1F7A6B"/>
          </a:solidFill>
          <a:ln/>
        </p:spPr>
        <p:txBody>
          <a:bodyPr/>
          <a:lstStyle/>
          <a:p>
            <a:endParaRPr lang="en-US"/>
          </a:p>
        </p:txBody>
      </p:sp>
      <p:sp>
        <p:nvSpPr>
          <p:cNvPr id="293" name="Shape 291"/>
          <p:cNvSpPr/>
          <p:nvPr/>
        </p:nvSpPr>
        <p:spPr>
          <a:xfrm>
            <a:off x="4018521" y="3092954"/>
            <a:ext cx="31090" cy="31090"/>
          </a:xfrm>
          <a:prstGeom prst="ellipse">
            <a:avLst/>
          </a:prstGeom>
          <a:solidFill>
            <a:srgbClr val="1F7A6B"/>
          </a:solidFill>
          <a:ln/>
        </p:spPr>
        <p:txBody>
          <a:bodyPr/>
          <a:lstStyle/>
          <a:p>
            <a:endParaRPr lang="en-US"/>
          </a:p>
        </p:txBody>
      </p:sp>
      <p:sp>
        <p:nvSpPr>
          <p:cNvPr id="294" name="Shape 292"/>
          <p:cNvSpPr/>
          <p:nvPr/>
        </p:nvSpPr>
        <p:spPr>
          <a:xfrm>
            <a:off x="4085448" y="3083978"/>
            <a:ext cx="31090" cy="31090"/>
          </a:xfrm>
          <a:prstGeom prst="ellipse">
            <a:avLst/>
          </a:prstGeom>
          <a:solidFill>
            <a:srgbClr val="1F7A6B"/>
          </a:solidFill>
          <a:ln/>
        </p:spPr>
        <p:txBody>
          <a:bodyPr/>
          <a:lstStyle/>
          <a:p>
            <a:endParaRPr lang="en-US"/>
          </a:p>
        </p:txBody>
      </p:sp>
      <p:sp>
        <p:nvSpPr>
          <p:cNvPr id="295" name="Shape 293"/>
          <p:cNvSpPr/>
          <p:nvPr/>
        </p:nvSpPr>
        <p:spPr>
          <a:xfrm>
            <a:off x="4152374" y="3070876"/>
            <a:ext cx="31090" cy="31090"/>
          </a:xfrm>
          <a:prstGeom prst="ellipse">
            <a:avLst/>
          </a:prstGeom>
          <a:solidFill>
            <a:srgbClr val="1F7A6B"/>
          </a:solidFill>
          <a:ln/>
        </p:spPr>
        <p:txBody>
          <a:bodyPr/>
          <a:lstStyle/>
          <a:p>
            <a:endParaRPr lang="en-US"/>
          </a:p>
        </p:txBody>
      </p:sp>
      <p:sp>
        <p:nvSpPr>
          <p:cNvPr id="296" name="Shape 294"/>
          <p:cNvSpPr/>
          <p:nvPr/>
        </p:nvSpPr>
        <p:spPr>
          <a:xfrm>
            <a:off x="4219301" y="3051948"/>
            <a:ext cx="31090" cy="31090"/>
          </a:xfrm>
          <a:prstGeom prst="ellipse">
            <a:avLst/>
          </a:prstGeom>
          <a:solidFill>
            <a:srgbClr val="1F7A6B"/>
          </a:solidFill>
          <a:ln/>
        </p:spPr>
        <p:txBody>
          <a:bodyPr/>
          <a:lstStyle/>
          <a:p>
            <a:endParaRPr lang="en-US"/>
          </a:p>
        </p:txBody>
      </p:sp>
      <p:sp>
        <p:nvSpPr>
          <p:cNvPr id="297" name="Shape 295"/>
          <p:cNvSpPr/>
          <p:nvPr/>
        </p:nvSpPr>
        <p:spPr>
          <a:xfrm>
            <a:off x="4286227" y="3025003"/>
            <a:ext cx="31090" cy="31090"/>
          </a:xfrm>
          <a:prstGeom prst="ellipse">
            <a:avLst/>
          </a:prstGeom>
          <a:solidFill>
            <a:srgbClr val="1F7A6B"/>
          </a:solidFill>
          <a:ln/>
        </p:spPr>
        <p:txBody>
          <a:bodyPr/>
          <a:lstStyle/>
          <a:p>
            <a:endParaRPr lang="en-US"/>
          </a:p>
        </p:txBody>
      </p:sp>
      <p:sp>
        <p:nvSpPr>
          <p:cNvPr id="298" name="Shape 296"/>
          <p:cNvSpPr/>
          <p:nvPr/>
        </p:nvSpPr>
        <p:spPr>
          <a:xfrm>
            <a:off x="4353154" y="2987444"/>
            <a:ext cx="31090" cy="31090"/>
          </a:xfrm>
          <a:prstGeom prst="ellipse">
            <a:avLst/>
          </a:prstGeom>
          <a:solidFill>
            <a:srgbClr val="1F7A6B"/>
          </a:solidFill>
          <a:ln/>
        </p:spPr>
        <p:txBody>
          <a:bodyPr/>
          <a:lstStyle/>
          <a:p>
            <a:endParaRPr lang="en-US"/>
          </a:p>
        </p:txBody>
      </p:sp>
      <p:sp>
        <p:nvSpPr>
          <p:cNvPr id="299" name="Shape 297"/>
          <p:cNvSpPr/>
          <p:nvPr/>
        </p:nvSpPr>
        <p:spPr>
          <a:xfrm>
            <a:off x="4420080" y="2936596"/>
            <a:ext cx="31090" cy="31090"/>
          </a:xfrm>
          <a:prstGeom prst="ellipse">
            <a:avLst/>
          </a:prstGeom>
          <a:solidFill>
            <a:srgbClr val="1F7A6B"/>
          </a:solidFill>
          <a:ln/>
        </p:spPr>
        <p:txBody>
          <a:bodyPr/>
          <a:lstStyle/>
          <a:p>
            <a:endParaRPr lang="en-US"/>
          </a:p>
        </p:txBody>
      </p:sp>
      <p:sp>
        <p:nvSpPr>
          <p:cNvPr id="300" name="Shape 298"/>
          <p:cNvSpPr/>
          <p:nvPr/>
        </p:nvSpPr>
        <p:spPr>
          <a:xfrm>
            <a:off x="4487007" y="2870410"/>
            <a:ext cx="31090" cy="31090"/>
          </a:xfrm>
          <a:prstGeom prst="ellipse">
            <a:avLst/>
          </a:prstGeom>
          <a:solidFill>
            <a:srgbClr val="1F7A6B"/>
          </a:solidFill>
          <a:ln/>
        </p:spPr>
        <p:txBody>
          <a:bodyPr/>
          <a:lstStyle/>
          <a:p>
            <a:endParaRPr lang="en-US"/>
          </a:p>
        </p:txBody>
      </p:sp>
      <p:sp>
        <p:nvSpPr>
          <p:cNvPr id="301" name="Shape 299"/>
          <p:cNvSpPr/>
          <p:nvPr/>
        </p:nvSpPr>
        <p:spPr>
          <a:xfrm>
            <a:off x="4553933" y="2788528"/>
            <a:ext cx="31090" cy="31090"/>
          </a:xfrm>
          <a:prstGeom prst="ellipse">
            <a:avLst/>
          </a:prstGeom>
          <a:solidFill>
            <a:srgbClr val="1F7A6B"/>
          </a:solidFill>
          <a:ln/>
        </p:spPr>
        <p:txBody>
          <a:bodyPr/>
          <a:lstStyle/>
          <a:p>
            <a:endParaRPr lang="en-US"/>
          </a:p>
        </p:txBody>
      </p:sp>
      <p:sp>
        <p:nvSpPr>
          <p:cNvPr id="302" name="Shape 300"/>
          <p:cNvSpPr/>
          <p:nvPr/>
        </p:nvSpPr>
        <p:spPr>
          <a:xfrm>
            <a:off x="4620859" y="2693369"/>
            <a:ext cx="31090" cy="31090"/>
          </a:xfrm>
          <a:prstGeom prst="ellipse">
            <a:avLst/>
          </a:prstGeom>
          <a:solidFill>
            <a:srgbClr val="1F7A6B"/>
          </a:solidFill>
          <a:ln/>
        </p:spPr>
        <p:txBody>
          <a:bodyPr/>
          <a:lstStyle/>
          <a:p>
            <a:endParaRPr lang="en-US"/>
          </a:p>
        </p:txBody>
      </p:sp>
      <p:sp>
        <p:nvSpPr>
          <p:cNvPr id="303" name="Shape 301"/>
          <p:cNvSpPr/>
          <p:nvPr/>
        </p:nvSpPr>
        <p:spPr>
          <a:xfrm>
            <a:off x="4687786" y="2590495"/>
            <a:ext cx="31090" cy="31090"/>
          </a:xfrm>
          <a:prstGeom prst="ellipse">
            <a:avLst/>
          </a:prstGeom>
          <a:solidFill>
            <a:srgbClr val="1F7A6B"/>
          </a:solidFill>
          <a:ln/>
        </p:spPr>
        <p:txBody>
          <a:bodyPr/>
          <a:lstStyle/>
          <a:p>
            <a:endParaRPr lang="en-US"/>
          </a:p>
        </p:txBody>
      </p:sp>
      <p:sp>
        <p:nvSpPr>
          <p:cNvPr id="304" name="Shape 302"/>
          <p:cNvSpPr/>
          <p:nvPr/>
        </p:nvSpPr>
        <p:spPr>
          <a:xfrm>
            <a:off x="4754712" y="2487622"/>
            <a:ext cx="31090" cy="31090"/>
          </a:xfrm>
          <a:prstGeom prst="ellipse">
            <a:avLst/>
          </a:prstGeom>
          <a:solidFill>
            <a:srgbClr val="1F7A6B"/>
          </a:solidFill>
          <a:ln/>
        </p:spPr>
        <p:txBody>
          <a:bodyPr/>
          <a:lstStyle/>
          <a:p>
            <a:endParaRPr lang="en-US"/>
          </a:p>
        </p:txBody>
      </p:sp>
      <p:sp>
        <p:nvSpPr>
          <p:cNvPr id="305" name="Shape 303"/>
          <p:cNvSpPr/>
          <p:nvPr/>
        </p:nvSpPr>
        <p:spPr>
          <a:xfrm>
            <a:off x="4821639" y="2392463"/>
            <a:ext cx="31090" cy="31090"/>
          </a:xfrm>
          <a:prstGeom prst="ellipse">
            <a:avLst/>
          </a:prstGeom>
          <a:solidFill>
            <a:srgbClr val="1F7A6B"/>
          </a:solidFill>
          <a:ln/>
        </p:spPr>
        <p:txBody>
          <a:bodyPr/>
          <a:lstStyle/>
          <a:p>
            <a:endParaRPr lang="en-US"/>
          </a:p>
        </p:txBody>
      </p:sp>
      <p:sp>
        <p:nvSpPr>
          <p:cNvPr id="306" name="Shape 304"/>
          <p:cNvSpPr/>
          <p:nvPr/>
        </p:nvSpPr>
        <p:spPr>
          <a:xfrm>
            <a:off x="4888565" y="2310581"/>
            <a:ext cx="31090" cy="31090"/>
          </a:xfrm>
          <a:prstGeom prst="ellipse">
            <a:avLst/>
          </a:prstGeom>
          <a:solidFill>
            <a:srgbClr val="1F7A6B"/>
          </a:solidFill>
          <a:ln/>
        </p:spPr>
        <p:txBody>
          <a:bodyPr/>
          <a:lstStyle/>
          <a:p>
            <a:endParaRPr lang="en-US"/>
          </a:p>
        </p:txBody>
      </p:sp>
      <p:sp>
        <p:nvSpPr>
          <p:cNvPr id="307" name="Shape 305"/>
          <p:cNvSpPr/>
          <p:nvPr/>
        </p:nvSpPr>
        <p:spPr>
          <a:xfrm>
            <a:off x="4955492" y="2244394"/>
            <a:ext cx="31090" cy="31090"/>
          </a:xfrm>
          <a:prstGeom prst="ellipse">
            <a:avLst/>
          </a:prstGeom>
          <a:solidFill>
            <a:srgbClr val="1F7A6B"/>
          </a:solidFill>
          <a:ln/>
        </p:spPr>
        <p:txBody>
          <a:bodyPr/>
          <a:lstStyle/>
          <a:p>
            <a:endParaRPr lang="en-US"/>
          </a:p>
        </p:txBody>
      </p:sp>
      <p:sp>
        <p:nvSpPr>
          <p:cNvPr id="308" name="Shape 306"/>
          <p:cNvSpPr/>
          <p:nvPr/>
        </p:nvSpPr>
        <p:spPr>
          <a:xfrm>
            <a:off x="5022418" y="2193546"/>
            <a:ext cx="31090" cy="31090"/>
          </a:xfrm>
          <a:prstGeom prst="ellipse">
            <a:avLst/>
          </a:prstGeom>
          <a:solidFill>
            <a:srgbClr val="1F7A6B"/>
          </a:solidFill>
          <a:ln/>
        </p:spPr>
        <p:txBody>
          <a:bodyPr/>
          <a:lstStyle/>
          <a:p>
            <a:endParaRPr lang="en-US"/>
          </a:p>
        </p:txBody>
      </p:sp>
      <p:sp>
        <p:nvSpPr>
          <p:cNvPr id="309" name="Shape 307"/>
          <p:cNvSpPr/>
          <p:nvPr/>
        </p:nvSpPr>
        <p:spPr>
          <a:xfrm>
            <a:off x="5089345" y="2155988"/>
            <a:ext cx="31090" cy="31090"/>
          </a:xfrm>
          <a:prstGeom prst="ellipse">
            <a:avLst/>
          </a:prstGeom>
          <a:solidFill>
            <a:srgbClr val="1F7A6B"/>
          </a:solidFill>
          <a:ln/>
        </p:spPr>
        <p:txBody>
          <a:bodyPr/>
          <a:lstStyle/>
          <a:p>
            <a:endParaRPr lang="en-US"/>
          </a:p>
        </p:txBody>
      </p:sp>
      <p:sp>
        <p:nvSpPr>
          <p:cNvPr id="310" name="Shape 308"/>
          <p:cNvSpPr/>
          <p:nvPr/>
        </p:nvSpPr>
        <p:spPr>
          <a:xfrm>
            <a:off x="5156271" y="2129043"/>
            <a:ext cx="31090" cy="31090"/>
          </a:xfrm>
          <a:prstGeom prst="ellipse">
            <a:avLst/>
          </a:prstGeom>
          <a:solidFill>
            <a:srgbClr val="1F7A6B"/>
          </a:solidFill>
          <a:ln/>
        </p:spPr>
        <p:txBody>
          <a:bodyPr/>
          <a:lstStyle/>
          <a:p>
            <a:endParaRPr lang="en-US"/>
          </a:p>
        </p:txBody>
      </p:sp>
      <p:sp>
        <p:nvSpPr>
          <p:cNvPr id="311" name="Shape 309"/>
          <p:cNvSpPr/>
          <p:nvPr/>
        </p:nvSpPr>
        <p:spPr>
          <a:xfrm>
            <a:off x="5223198" y="2110114"/>
            <a:ext cx="31090" cy="31090"/>
          </a:xfrm>
          <a:prstGeom prst="ellipse">
            <a:avLst/>
          </a:prstGeom>
          <a:solidFill>
            <a:srgbClr val="1F7A6B"/>
          </a:solidFill>
          <a:ln/>
        </p:spPr>
        <p:txBody>
          <a:bodyPr/>
          <a:lstStyle/>
          <a:p>
            <a:endParaRPr lang="en-US"/>
          </a:p>
        </p:txBody>
      </p:sp>
      <p:sp>
        <p:nvSpPr>
          <p:cNvPr id="312" name="Shape 310"/>
          <p:cNvSpPr/>
          <p:nvPr/>
        </p:nvSpPr>
        <p:spPr>
          <a:xfrm>
            <a:off x="5290124" y="2097012"/>
            <a:ext cx="31090" cy="31090"/>
          </a:xfrm>
          <a:prstGeom prst="ellipse">
            <a:avLst/>
          </a:prstGeom>
          <a:solidFill>
            <a:srgbClr val="1F7A6B"/>
          </a:solidFill>
          <a:ln/>
        </p:spPr>
        <p:txBody>
          <a:bodyPr/>
          <a:lstStyle/>
          <a:p>
            <a:endParaRPr lang="en-US"/>
          </a:p>
        </p:txBody>
      </p:sp>
      <p:sp>
        <p:nvSpPr>
          <p:cNvPr id="313" name="Shape 311"/>
          <p:cNvSpPr/>
          <p:nvPr/>
        </p:nvSpPr>
        <p:spPr>
          <a:xfrm>
            <a:off x="5357051" y="2088036"/>
            <a:ext cx="31090" cy="31090"/>
          </a:xfrm>
          <a:prstGeom prst="ellipse">
            <a:avLst/>
          </a:prstGeom>
          <a:solidFill>
            <a:srgbClr val="1F7A6B"/>
          </a:solidFill>
          <a:ln/>
        </p:spPr>
        <p:txBody>
          <a:bodyPr/>
          <a:lstStyle/>
          <a:p>
            <a:endParaRPr lang="en-US"/>
          </a:p>
        </p:txBody>
      </p:sp>
      <p:sp>
        <p:nvSpPr>
          <p:cNvPr id="314" name="Shape 312"/>
          <p:cNvSpPr/>
          <p:nvPr/>
        </p:nvSpPr>
        <p:spPr>
          <a:xfrm>
            <a:off x="5423977" y="2081930"/>
            <a:ext cx="31090" cy="31090"/>
          </a:xfrm>
          <a:prstGeom prst="ellipse">
            <a:avLst/>
          </a:prstGeom>
          <a:solidFill>
            <a:srgbClr val="1F7A6B"/>
          </a:solidFill>
          <a:ln/>
        </p:spPr>
        <p:txBody>
          <a:bodyPr/>
          <a:lstStyle/>
          <a:p>
            <a:endParaRPr lang="en-US"/>
          </a:p>
        </p:txBody>
      </p:sp>
      <p:sp>
        <p:nvSpPr>
          <p:cNvPr id="315" name="Shape 313"/>
          <p:cNvSpPr/>
          <p:nvPr/>
        </p:nvSpPr>
        <p:spPr>
          <a:xfrm>
            <a:off x="5490903" y="2077796"/>
            <a:ext cx="31090" cy="31090"/>
          </a:xfrm>
          <a:prstGeom prst="ellipse">
            <a:avLst/>
          </a:prstGeom>
          <a:solidFill>
            <a:srgbClr val="1F7A6B"/>
          </a:solidFill>
          <a:ln/>
        </p:spPr>
        <p:txBody>
          <a:bodyPr/>
          <a:lstStyle/>
          <a:p>
            <a:endParaRPr lang="en-US"/>
          </a:p>
        </p:txBody>
      </p:sp>
      <p:sp>
        <p:nvSpPr>
          <p:cNvPr id="316" name="Shape 314"/>
          <p:cNvSpPr/>
          <p:nvPr/>
        </p:nvSpPr>
        <p:spPr>
          <a:xfrm>
            <a:off x="5557830" y="2075006"/>
            <a:ext cx="31090" cy="31090"/>
          </a:xfrm>
          <a:prstGeom prst="ellipse">
            <a:avLst/>
          </a:prstGeom>
          <a:solidFill>
            <a:srgbClr val="1F7A6B"/>
          </a:solidFill>
          <a:ln/>
        </p:spPr>
        <p:txBody>
          <a:bodyPr/>
          <a:lstStyle/>
          <a:p>
            <a:endParaRPr lang="en-US"/>
          </a:p>
        </p:txBody>
      </p:sp>
      <p:sp>
        <p:nvSpPr>
          <p:cNvPr id="317" name="Shape 315"/>
          <p:cNvSpPr/>
          <p:nvPr/>
        </p:nvSpPr>
        <p:spPr>
          <a:xfrm>
            <a:off x="5624756" y="2073128"/>
            <a:ext cx="31090" cy="31090"/>
          </a:xfrm>
          <a:prstGeom prst="ellipse">
            <a:avLst/>
          </a:prstGeom>
          <a:solidFill>
            <a:srgbClr val="1F7A6B"/>
          </a:solidFill>
          <a:ln/>
        </p:spPr>
        <p:txBody>
          <a:bodyPr/>
          <a:lstStyle/>
          <a:p>
            <a:endParaRPr lang="en-US"/>
          </a:p>
        </p:txBody>
      </p:sp>
      <p:sp>
        <p:nvSpPr>
          <p:cNvPr id="318" name="Shape 316"/>
          <p:cNvSpPr/>
          <p:nvPr/>
        </p:nvSpPr>
        <p:spPr>
          <a:xfrm>
            <a:off x="5691683" y="2071865"/>
            <a:ext cx="31090" cy="31090"/>
          </a:xfrm>
          <a:prstGeom prst="ellipse">
            <a:avLst/>
          </a:prstGeom>
          <a:solidFill>
            <a:srgbClr val="1F7A6B"/>
          </a:solidFill>
          <a:ln/>
        </p:spPr>
        <p:txBody>
          <a:bodyPr/>
          <a:lstStyle/>
          <a:p>
            <a:endParaRPr lang="en-US"/>
          </a:p>
        </p:txBody>
      </p:sp>
      <p:sp>
        <p:nvSpPr>
          <p:cNvPr id="319" name="Text 317"/>
          <p:cNvSpPr txBox="1"/>
          <p:nvPr/>
        </p:nvSpPr>
        <p:spPr>
          <a:xfrm>
            <a:off x="3425114" y="3429000"/>
            <a:ext cx="2556434" cy="274320"/>
          </a:xfrm>
          <a:prstGeom prst="rect">
            <a:avLst/>
          </a:prstGeom>
          <a:noFill/>
          <a:ln/>
        </p:spPr>
        <p:txBody>
          <a:bodyPr wrap="square" lIns="0" tIns="0" rIns="0" bIns="0" rtlCol="0" anchor="ctr"/>
          <a:lstStyle/>
          <a:p>
            <a:pPr marL="0" indent="0" algn="ctr">
              <a:buNone/>
            </a:pPr>
            <a:r>
              <a:rPr lang="en-US" sz="1050" i="1" dirty="0">
                <a:solidFill>
                  <a:srgbClr val="5B6474"/>
                </a:solidFill>
                <a:latin typeface="Calibri" pitchFamily="34" charset="0"/>
                <a:ea typeface="Calibri" pitchFamily="34" charset="-122"/>
                <a:cs typeface="Calibri" pitchFamily="34" charset="-120"/>
              </a:rPr>
              <a:t>D still separates</a:t>
            </a:r>
            <a:endParaRPr lang="en-US" sz="1050" dirty="0"/>
          </a:p>
        </p:txBody>
      </p:sp>
      <p:sp>
        <p:nvSpPr>
          <p:cNvPr id="320" name="Text 318"/>
          <p:cNvSpPr txBox="1"/>
          <p:nvPr/>
        </p:nvSpPr>
        <p:spPr>
          <a:xfrm>
            <a:off x="3562274" y="3703320"/>
            <a:ext cx="2282114" cy="411480"/>
          </a:xfrm>
          <a:prstGeom prst="rect">
            <a:avLst/>
          </a:prstGeom>
          <a:noFill/>
          <a:ln/>
        </p:spPr>
        <p:txBody>
          <a:bodyPr wrap="square" lIns="0" tIns="0" rIns="0" bIns="0" rtlCol="0" anchor="ctr"/>
          <a:lstStyle/>
          <a:p>
            <a:pPr marL="0" indent="0" algn="ctr">
              <a:lnSpc>
                <a:spcPts val="1300"/>
              </a:lnSpc>
              <a:buNone/>
            </a:pPr>
            <a:r>
              <a:rPr lang="en-US" sz="1050" dirty="0">
                <a:solidFill>
                  <a:srgbClr val="5B6474"/>
                </a:solidFill>
                <a:latin typeface="Calibri" pitchFamily="34" charset="0"/>
                <a:ea typeface="Calibri" pitchFamily="34" charset="-122"/>
                <a:cs typeface="Calibri" pitchFamily="34" charset="-120"/>
              </a:rPr>
              <a:t>the generator is still wrong</a:t>
            </a:r>
            <a:endParaRPr lang="en-US" sz="1050" dirty="0"/>
          </a:p>
        </p:txBody>
      </p:sp>
      <p:sp>
        <p:nvSpPr>
          <p:cNvPr id="321" name="Shape 319"/>
          <p:cNvSpPr/>
          <p:nvPr/>
        </p:nvSpPr>
        <p:spPr>
          <a:xfrm>
            <a:off x="6210148" y="1325880"/>
            <a:ext cx="2556434" cy="2880360"/>
          </a:xfrm>
          <a:prstGeom prst="roundRect">
            <a:avLst>
              <a:gd name="adj" fmla="val 2861"/>
            </a:avLst>
          </a:prstGeom>
          <a:solidFill>
            <a:srgbClr val="F3F5F8"/>
          </a:solidFill>
          <a:ln w="12700">
            <a:solidFill>
              <a:srgbClr val="F3F5F8"/>
            </a:solidFill>
            <a:prstDash val="solid"/>
          </a:ln>
        </p:spPr>
        <p:txBody>
          <a:bodyPr/>
          <a:lstStyle/>
          <a:p>
            <a:endParaRPr lang="en-US"/>
          </a:p>
        </p:txBody>
      </p:sp>
      <p:sp>
        <p:nvSpPr>
          <p:cNvPr id="322" name="Text 320"/>
          <p:cNvSpPr txBox="1"/>
          <p:nvPr/>
        </p:nvSpPr>
        <p:spPr>
          <a:xfrm>
            <a:off x="6210148" y="1463040"/>
            <a:ext cx="2556434" cy="310896"/>
          </a:xfrm>
          <a:prstGeom prst="rect">
            <a:avLst/>
          </a:prstGeom>
          <a:noFill/>
          <a:ln/>
        </p:spPr>
        <p:txBody>
          <a:bodyPr wrap="square" lIns="0" tIns="0" rIns="0" bIns="0" rtlCol="0" anchor="ctr"/>
          <a:lstStyle/>
          <a:p>
            <a:pPr marL="0" indent="0" algn="ctr">
              <a:buNone/>
            </a:pPr>
            <a:r>
              <a:rPr lang="en-US" sz="1400" b="1" dirty="0">
                <a:solidFill>
                  <a:srgbClr val="0E131B"/>
                </a:solidFill>
                <a:latin typeface="Cambria Math" pitchFamily="34" charset="0"/>
                <a:ea typeface="Cambria Math" pitchFamily="34" charset="-122"/>
                <a:cs typeface="Cambria Math" pitchFamily="34" charset="-120"/>
              </a:rPr>
              <a:t>(c) G moves</a:t>
            </a:r>
            <a:endParaRPr lang="en-US" sz="1400" dirty="0"/>
          </a:p>
        </p:txBody>
      </p:sp>
      <p:sp>
        <p:nvSpPr>
          <p:cNvPr id="323" name="Shape 321"/>
          <p:cNvSpPr/>
          <p:nvPr/>
        </p:nvSpPr>
        <p:spPr>
          <a:xfrm>
            <a:off x="6393028" y="3291840"/>
            <a:ext cx="2190674" cy="16459"/>
          </a:xfrm>
          <a:prstGeom prst="rect">
            <a:avLst/>
          </a:prstGeom>
          <a:solidFill>
            <a:srgbClr val="B6BECB"/>
          </a:solidFill>
          <a:ln/>
        </p:spPr>
        <p:txBody>
          <a:bodyPr/>
          <a:lstStyle/>
          <a:p>
            <a:endParaRPr lang="en-US"/>
          </a:p>
        </p:txBody>
      </p:sp>
      <p:sp>
        <p:nvSpPr>
          <p:cNvPr id="324" name="Shape 322"/>
          <p:cNvSpPr/>
          <p:nvPr/>
        </p:nvSpPr>
        <p:spPr>
          <a:xfrm>
            <a:off x="6467094" y="3274466"/>
            <a:ext cx="34747" cy="34747"/>
          </a:xfrm>
          <a:prstGeom prst="ellipse">
            <a:avLst/>
          </a:prstGeom>
          <a:solidFill>
            <a:srgbClr val="444B57"/>
          </a:solidFill>
          <a:ln/>
        </p:spPr>
        <p:txBody>
          <a:bodyPr/>
          <a:lstStyle/>
          <a:p>
            <a:endParaRPr lang="en-US"/>
          </a:p>
        </p:txBody>
      </p:sp>
      <p:sp>
        <p:nvSpPr>
          <p:cNvPr id="325" name="Shape 323"/>
          <p:cNvSpPr/>
          <p:nvPr/>
        </p:nvSpPr>
        <p:spPr>
          <a:xfrm>
            <a:off x="6500557" y="3274466"/>
            <a:ext cx="34747" cy="34747"/>
          </a:xfrm>
          <a:prstGeom prst="ellipse">
            <a:avLst/>
          </a:prstGeom>
          <a:solidFill>
            <a:srgbClr val="444B57"/>
          </a:solidFill>
          <a:ln/>
        </p:spPr>
        <p:txBody>
          <a:bodyPr/>
          <a:lstStyle/>
          <a:p>
            <a:endParaRPr lang="en-US"/>
          </a:p>
        </p:txBody>
      </p:sp>
      <p:sp>
        <p:nvSpPr>
          <p:cNvPr id="326" name="Shape 324"/>
          <p:cNvSpPr/>
          <p:nvPr/>
        </p:nvSpPr>
        <p:spPr>
          <a:xfrm>
            <a:off x="6534020" y="3274466"/>
            <a:ext cx="34747" cy="34747"/>
          </a:xfrm>
          <a:prstGeom prst="ellipse">
            <a:avLst/>
          </a:prstGeom>
          <a:solidFill>
            <a:srgbClr val="444B57"/>
          </a:solidFill>
          <a:ln/>
        </p:spPr>
        <p:txBody>
          <a:bodyPr/>
          <a:lstStyle/>
          <a:p>
            <a:endParaRPr lang="en-US"/>
          </a:p>
        </p:txBody>
      </p:sp>
      <p:sp>
        <p:nvSpPr>
          <p:cNvPr id="327" name="Shape 325"/>
          <p:cNvSpPr/>
          <p:nvPr/>
        </p:nvSpPr>
        <p:spPr>
          <a:xfrm>
            <a:off x="6567484" y="3274464"/>
            <a:ext cx="34747" cy="34747"/>
          </a:xfrm>
          <a:prstGeom prst="ellipse">
            <a:avLst/>
          </a:prstGeom>
          <a:solidFill>
            <a:srgbClr val="444B57"/>
          </a:solidFill>
          <a:ln/>
        </p:spPr>
        <p:txBody>
          <a:bodyPr/>
          <a:lstStyle/>
          <a:p>
            <a:endParaRPr lang="en-US"/>
          </a:p>
        </p:txBody>
      </p:sp>
      <p:sp>
        <p:nvSpPr>
          <p:cNvPr id="328" name="Shape 326"/>
          <p:cNvSpPr/>
          <p:nvPr/>
        </p:nvSpPr>
        <p:spPr>
          <a:xfrm>
            <a:off x="6600947" y="3274462"/>
            <a:ext cx="34747" cy="34747"/>
          </a:xfrm>
          <a:prstGeom prst="ellipse">
            <a:avLst/>
          </a:prstGeom>
          <a:solidFill>
            <a:srgbClr val="444B57"/>
          </a:solidFill>
          <a:ln/>
        </p:spPr>
        <p:txBody>
          <a:bodyPr/>
          <a:lstStyle/>
          <a:p>
            <a:endParaRPr lang="en-US"/>
          </a:p>
        </p:txBody>
      </p:sp>
      <p:sp>
        <p:nvSpPr>
          <p:cNvPr id="329" name="Shape 327"/>
          <p:cNvSpPr/>
          <p:nvPr/>
        </p:nvSpPr>
        <p:spPr>
          <a:xfrm>
            <a:off x="6634410" y="3274458"/>
            <a:ext cx="34747" cy="34747"/>
          </a:xfrm>
          <a:prstGeom prst="ellipse">
            <a:avLst/>
          </a:prstGeom>
          <a:solidFill>
            <a:srgbClr val="444B57"/>
          </a:solidFill>
          <a:ln/>
        </p:spPr>
        <p:txBody>
          <a:bodyPr/>
          <a:lstStyle/>
          <a:p>
            <a:endParaRPr lang="en-US"/>
          </a:p>
        </p:txBody>
      </p:sp>
      <p:sp>
        <p:nvSpPr>
          <p:cNvPr id="330" name="Shape 328"/>
          <p:cNvSpPr/>
          <p:nvPr/>
        </p:nvSpPr>
        <p:spPr>
          <a:xfrm>
            <a:off x="6667873" y="3274448"/>
            <a:ext cx="34747" cy="34747"/>
          </a:xfrm>
          <a:prstGeom prst="ellipse">
            <a:avLst/>
          </a:prstGeom>
          <a:solidFill>
            <a:srgbClr val="444B57"/>
          </a:solidFill>
          <a:ln/>
        </p:spPr>
        <p:txBody>
          <a:bodyPr/>
          <a:lstStyle/>
          <a:p>
            <a:endParaRPr lang="en-US"/>
          </a:p>
        </p:txBody>
      </p:sp>
      <p:sp>
        <p:nvSpPr>
          <p:cNvPr id="331" name="Shape 329"/>
          <p:cNvSpPr/>
          <p:nvPr/>
        </p:nvSpPr>
        <p:spPr>
          <a:xfrm>
            <a:off x="6701337" y="3274429"/>
            <a:ext cx="34747" cy="34747"/>
          </a:xfrm>
          <a:prstGeom prst="ellipse">
            <a:avLst/>
          </a:prstGeom>
          <a:solidFill>
            <a:srgbClr val="444B57"/>
          </a:solidFill>
          <a:ln/>
        </p:spPr>
        <p:txBody>
          <a:bodyPr/>
          <a:lstStyle/>
          <a:p>
            <a:endParaRPr lang="en-US"/>
          </a:p>
        </p:txBody>
      </p:sp>
      <p:sp>
        <p:nvSpPr>
          <p:cNvPr id="332" name="Shape 330"/>
          <p:cNvSpPr/>
          <p:nvPr/>
        </p:nvSpPr>
        <p:spPr>
          <a:xfrm>
            <a:off x="6734800" y="3274393"/>
            <a:ext cx="34747" cy="34747"/>
          </a:xfrm>
          <a:prstGeom prst="ellipse">
            <a:avLst/>
          </a:prstGeom>
          <a:solidFill>
            <a:srgbClr val="444B57"/>
          </a:solidFill>
          <a:ln/>
        </p:spPr>
        <p:txBody>
          <a:bodyPr/>
          <a:lstStyle/>
          <a:p>
            <a:endParaRPr lang="en-US"/>
          </a:p>
        </p:txBody>
      </p:sp>
      <p:sp>
        <p:nvSpPr>
          <p:cNvPr id="333" name="Shape 331"/>
          <p:cNvSpPr/>
          <p:nvPr/>
        </p:nvSpPr>
        <p:spPr>
          <a:xfrm>
            <a:off x="6768263" y="3274325"/>
            <a:ext cx="34747" cy="34747"/>
          </a:xfrm>
          <a:prstGeom prst="ellipse">
            <a:avLst/>
          </a:prstGeom>
          <a:solidFill>
            <a:srgbClr val="444B57"/>
          </a:solidFill>
          <a:ln/>
        </p:spPr>
        <p:txBody>
          <a:bodyPr/>
          <a:lstStyle/>
          <a:p>
            <a:endParaRPr lang="en-US"/>
          </a:p>
        </p:txBody>
      </p:sp>
      <p:sp>
        <p:nvSpPr>
          <p:cNvPr id="334" name="Shape 332"/>
          <p:cNvSpPr/>
          <p:nvPr/>
        </p:nvSpPr>
        <p:spPr>
          <a:xfrm>
            <a:off x="6801726" y="3274199"/>
            <a:ext cx="34747" cy="34747"/>
          </a:xfrm>
          <a:prstGeom prst="ellipse">
            <a:avLst/>
          </a:prstGeom>
          <a:solidFill>
            <a:srgbClr val="444B57"/>
          </a:solidFill>
          <a:ln/>
        </p:spPr>
        <p:txBody>
          <a:bodyPr/>
          <a:lstStyle/>
          <a:p>
            <a:endParaRPr lang="en-US"/>
          </a:p>
        </p:txBody>
      </p:sp>
      <p:sp>
        <p:nvSpPr>
          <p:cNvPr id="335" name="Shape 333"/>
          <p:cNvSpPr/>
          <p:nvPr/>
        </p:nvSpPr>
        <p:spPr>
          <a:xfrm>
            <a:off x="6835190" y="3273973"/>
            <a:ext cx="34747" cy="34747"/>
          </a:xfrm>
          <a:prstGeom prst="ellipse">
            <a:avLst/>
          </a:prstGeom>
          <a:solidFill>
            <a:srgbClr val="444B57"/>
          </a:solidFill>
          <a:ln/>
        </p:spPr>
        <p:txBody>
          <a:bodyPr/>
          <a:lstStyle/>
          <a:p>
            <a:endParaRPr lang="en-US"/>
          </a:p>
        </p:txBody>
      </p:sp>
      <p:sp>
        <p:nvSpPr>
          <p:cNvPr id="336" name="Shape 334"/>
          <p:cNvSpPr/>
          <p:nvPr/>
        </p:nvSpPr>
        <p:spPr>
          <a:xfrm>
            <a:off x="6868653" y="3273577"/>
            <a:ext cx="34747" cy="34747"/>
          </a:xfrm>
          <a:prstGeom prst="ellipse">
            <a:avLst/>
          </a:prstGeom>
          <a:solidFill>
            <a:srgbClr val="444B57"/>
          </a:solidFill>
          <a:ln/>
        </p:spPr>
        <p:txBody>
          <a:bodyPr/>
          <a:lstStyle/>
          <a:p>
            <a:endParaRPr lang="en-US"/>
          </a:p>
        </p:txBody>
      </p:sp>
      <p:sp>
        <p:nvSpPr>
          <p:cNvPr id="337" name="Shape 335"/>
          <p:cNvSpPr/>
          <p:nvPr/>
        </p:nvSpPr>
        <p:spPr>
          <a:xfrm>
            <a:off x="6902116" y="3272898"/>
            <a:ext cx="34747" cy="34747"/>
          </a:xfrm>
          <a:prstGeom prst="ellipse">
            <a:avLst/>
          </a:prstGeom>
          <a:solidFill>
            <a:srgbClr val="444B57"/>
          </a:solidFill>
          <a:ln/>
        </p:spPr>
        <p:txBody>
          <a:bodyPr/>
          <a:lstStyle/>
          <a:p>
            <a:endParaRPr lang="en-US"/>
          </a:p>
        </p:txBody>
      </p:sp>
      <p:sp>
        <p:nvSpPr>
          <p:cNvPr id="338" name="Shape 336"/>
          <p:cNvSpPr/>
          <p:nvPr/>
        </p:nvSpPr>
        <p:spPr>
          <a:xfrm>
            <a:off x="6935579" y="3271764"/>
            <a:ext cx="34747" cy="34747"/>
          </a:xfrm>
          <a:prstGeom prst="ellipse">
            <a:avLst/>
          </a:prstGeom>
          <a:solidFill>
            <a:srgbClr val="444B57"/>
          </a:solidFill>
          <a:ln/>
        </p:spPr>
        <p:txBody>
          <a:bodyPr/>
          <a:lstStyle/>
          <a:p>
            <a:endParaRPr lang="en-US"/>
          </a:p>
        </p:txBody>
      </p:sp>
      <p:sp>
        <p:nvSpPr>
          <p:cNvPr id="339" name="Shape 337"/>
          <p:cNvSpPr/>
          <p:nvPr/>
        </p:nvSpPr>
        <p:spPr>
          <a:xfrm>
            <a:off x="6969042" y="3269915"/>
            <a:ext cx="34747" cy="34747"/>
          </a:xfrm>
          <a:prstGeom prst="ellipse">
            <a:avLst/>
          </a:prstGeom>
          <a:solidFill>
            <a:srgbClr val="444B57"/>
          </a:solidFill>
          <a:ln/>
        </p:spPr>
        <p:txBody>
          <a:bodyPr/>
          <a:lstStyle/>
          <a:p>
            <a:endParaRPr lang="en-US"/>
          </a:p>
        </p:txBody>
      </p:sp>
      <p:sp>
        <p:nvSpPr>
          <p:cNvPr id="340" name="Shape 338"/>
          <p:cNvSpPr/>
          <p:nvPr/>
        </p:nvSpPr>
        <p:spPr>
          <a:xfrm>
            <a:off x="7002506" y="3266976"/>
            <a:ext cx="34747" cy="34747"/>
          </a:xfrm>
          <a:prstGeom prst="ellipse">
            <a:avLst/>
          </a:prstGeom>
          <a:solidFill>
            <a:srgbClr val="444B57"/>
          </a:solidFill>
          <a:ln/>
        </p:spPr>
        <p:txBody>
          <a:bodyPr/>
          <a:lstStyle/>
          <a:p>
            <a:endParaRPr lang="en-US"/>
          </a:p>
        </p:txBody>
      </p:sp>
      <p:sp>
        <p:nvSpPr>
          <p:cNvPr id="341" name="Shape 339"/>
          <p:cNvSpPr/>
          <p:nvPr/>
        </p:nvSpPr>
        <p:spPr>
          <a:xfrm>
            <a:off x="7035969" y="3262420"/>
            <a:ext cx="34747" cy="34747"/>
          </a:xfrm>
          <a:prstGeom prst="ellipse">
            <a:avLst/>
          </a:prstGeom>
          <a:solidFill>
            <a:srgbClr val="444B57"/>
          </a:solidFill>
          <a:ln/>
        </p:spPr>
        <p:txBody>
          <a:bodyPr/>
          <a:lstStyle/>
          <a:p>
            <a:endParaRPr lang="en-US"/>
          </a:p>
        </p:txBody>
      </p:sp>
      <p:sp>
        <p:nvSpPr>
          <p:cNvPr id="342" name="Shape 340"/>
          <p:cNvSpPr/>
          <p:nvPr/>
        </p:nvSpPr>
        <p:spPr>
          <a:xfrm>
            <a:off x="7069432" y="3255531"/>
            <a:ext cx="34747" cy="34747"/>
          </a:xfrm>
          <a:prstGeom prst="ellipse">
            <a:avLst/>
          </a:prstGeom>
          <a:solidFill>
            <a:srgbClr val="444B57"/>
          </a:solidFill>
          <a:ln/>
        </p:spPr>
        <p:txBody>
          <a:bodyPr/>
          <a:lstStyle/>
          <a:p>
            <a:endParaRPr lang="en-US"/>
          </a:p>
        </p:txBody>
      </p:sp>
      <p:sp>
        <p:nvSpPr>
          <p:cNvPr id="343" name="Shape 341"/>
          <p:cNvSpPr/>
          <p:nvPr/>
        </p:nvSpPr>
        <p:spPr>
          <a:xfrm>
            <a:off x="7102895" y="3245378"/>
            <a:ext cx="34747" cy="34747"/>
          </a:xfrm>
          <a:prstGeom prst="ellipse">
            <a:avLst/>
          </a:prstGeom>
          <a:solidFill>
            <a:srgbClr val="444B57"/>
          </a:solidFill>
          <a:ln/>
        </p:spPr>
        <p:txBody>
          <a:bodyPr/>
          <a:lstStyle/>
          <a:p>
            <a:endParaRPr lang="en-US"/>
          </a:p>
        </p:txBody>
      </p:sp>
      <p:sp>
        <p:nvSpPr>
          <p:cNvPr id="344" name="Shape 342"/>
          <p:cNvSpPr/>
          <p:nvPr/>
        </p:nvSpPr>
        <p:spPr>
          <a:xfrm>
            <a:off x="7136359" y="3230796"/>
            <a:ext cx="34747" cy="34747"/>
          </a:xfrm>
          <a:prstGeom prst="ellipse">
            <a:avLst/>
          </a:prstGeom>
          <a:solidFill>
            <a:srgbClr val="444B57"/>
          </a:solidFill>
          <a:ln/>
        </p:spPr>
        <p:txBody>
          <a:bodyPr/>
          <a:lstStyle/>
          <a:p>
            <a:endParaRPr lang="en-US"/>
          </a:p>
        </p:txBody>
      </p:sp>
      <p:sp>
        <p:nvSpPr>
          <p:cNvPr id="345" name="Shape 343"/>
          <p:cNvSpPr/>
          <p:nvPr/>
        </p:nvSpPr>
        <p:spPr>
          <a:xfrm>
            <a:off x="7169822" y="3210392"/>
            <a:ext cx="34747" cy="34747"/>
          </a:xfrm>
          <a:prstGeom prst="ellipse">
            <a:avLst/>
          </a:prstGeom>
          <a:solidFill>
            <a:srgbClr val="444B57"/>
          </a:solidFill>
          <a:ln/>
        </p:spPr>
        <p:txBody>
          <a:bodyPr/>
          <a:lstStyle/>
          <a:p>
            <a:endParaRPr lang="en-US"/>
          </a:p>
        </p:txBody>
      </p:sp>
      <p:sp>
        <p:nvSpPr>
          <p:cNvPr id="346" name="Shape 344"/>
          <p:cNvSpPr/>
          <p:nvPr/>
        </p:nvSpPr>
        <p:spPr>
          <a:xfrm>
            <a:off x="7203285" y="3182588"/>
            <a:ext cx="34747" cy="34747"/>
          </a:xfrm>
          <a:prstGeom prst="ellipse">
            <a:avLst/>
          </a:prstGeom>
          <a:solidFill>
            <a:srgbClr val="444B57"/>
          </a:solidFill>
          <a:ln/>
        </p:spPr>
        <p:txBody>
          <a:bodyPr/>
          <a:lstStyle/>
          <a:p>
            <a:endParaRPr lang="en-US"/>
          </a:p>
        </p:txBody>
      </p:sp>
      <p:sp>
        <p:nvSpPr>
          <p:cNvPr id="347" name="Shape 345"/>
          <p:cNvSpPr/>
          <p:nvPr/>
        </p:nvSpPr>
        <p:spPr>
          <a:xfrm>
            <a:off x="7236748" y="3145709"/>
            <a:ext cx="34747" cy="34747"/>
          </a:xfrm>
          <a:prstGeom prst="ellipse">
            <a:avLst/>
          </a:prstGeom>
          <a:solidFill>
            <a:srgbClr val="444B57"/>
          </a:solidFill>
          <a:ln/>
        </p:spPr>
        <p:txBody>
          <a:bodyPr/>
          <a:lstStyle/>
          <a:p>
            <a:endParaRPr lang="en-US"/>
          </a:p>
        </p:txBody>
      </p:sp>
      <p:sp>
        <p:nvSpPr>
          <p:cNvPr id="348" name="Shape 346"/>
          <p:cNvSpPr/>
          <p:nvPr/>
        </p:nvSpPr>
        <p:spPr>
          <a:xfrm>
            <a:off x="7270212" y="3098122"/>
            <a:ext cx="34747" cy="34747"/>
          </a:xfrm>
          <a:prstGeom prst="ellipse">
            <a:avLst/>
          </a:prstGeom>
          <a:solidFill>
            <a:srgbClr val="444B57"/>
          </a:solidFill>
          <a:ln/>
        </p:spPr>
        <p:txBody>
          <a:bodyPr/>
          <a:lstStyle/>
          <a:p>
            <a:endParaRPr lang="en-US"/>
          </a:p>
        </p:txBody>
      </p:sp>
      <p:sp>
        <p:nvSpPr>
          <p:cNvPr id="349" name="Shape 347"/>
          <p:cNvSpPr/>
          <p:nvPr/>
        </p:nvSpPr>
        <p:spPr>
          <a:xfrm>
            <a:off x="7303675" y="3038429"/>
            <a:ext cx="34747" cy="34747"/>
          </a:xfrm>
          <a:prstGeom prst="ellipse">
            <a:avLst/>
          </a:prstGeom>
          <a:solidFill>
            <a:srgbClr val="444B57"/>
          </a:solidFill>
          <a:ln/>
        </p:spPr>
        <p:txBody>
          <a:bodyPr/>
          <a:lstStyle/>
          <a:p>
            <a:endParaRPr lang="en-US"/>
          </a:p>
        </p:txBody>
      </p:sp>
      <p:sp>
        <p:nvSpPr>
          <p:cNvPr id="350" name="Shape 348"/>
          <p:cNvSpPr/>
          <p:nvPr/>
        </p:nvSpPr>
        <p:spPr>
          <a:xfrm>
            <a:off x="7337138" y="2965699"/>
            <a:ext cx="34747" cy="34747"/>
          </a:xfrm>
          <a:prstGeom prst="ellipse">
            <a:avLst/>
          </a:prstGeom>
          <a:solidFill>
            <a:srgbClr val="444B57"/>
          </a:solidFill>
          <a:ln/>
        </p:spPr>
        <p:txBody>
          <a:bodyPr/>
          <a:lstStyle/>
          <a:p>
            <a:endParaRPr lang="en-US"/>
          </a:p>
        </p:txBody>
      </p:sp>
      <p:sp>
        <p:nvSpPr>
          <p:cNvPr id="351" name="Shape 349"/>
          <p:cNvSpPr/>
          <p:nvPr/>
        </p:nvSpPr>
        <p:spPr>
          <a:xfrm>
            <a:off x="7370601" y="2879727"/>
            <a:ext cx="34747" cy="34747"/>
          </a:xfrm>
          <a:prstGeom prst="ellipse">
            <a:avLst/>
          </a:prstGeom>
          <a:solidFill>
            <a:srgbClr val="444B57"/>
          </a:solidFill>
          <a:ln/>
        </p:spPr>
        <p:txBody>
          <a:bodyPr/>
          <a:lstStyle/>
          <a:p>
            <a:endParaRPr lang="en-US"/>
          </a:p>
        </p:txBody>
      </p:sp>
      <p:sp>
        <p:nvSpPr>
          <p:cNvPr id="352" name="Shape 350"/>
          <p:cNvSpPr/>
          <p:nvPr/>
        </p:nvSpPr>
        <p:spPr>
          <a:xfrm>
            <a:off x="7404064" y="2781271"/>
            <a:ext cx="34747" cy="34747"/>
          </a:xfrm>
          <a:prstGeom prst="ellipse">
            <a:avLst/>
          </a:prstGeom>
          <a:solidFill>
            <a:srgbClr val="444B57"/>
          </a:solidFill>
          <a:ln/>
        </p:spPr>
        <p:txBody>
          <a:bodyPr/>
          <a:lstStyle/>
          <a:p>
            <a:endParaRPr lang="en-US"/>
          </a:p>
        </p:txBody>
      </p:sp>
      <p:sp>
        <p:nvSpPr>
          <p:cNvPr id="353" name="Shape 351"/>
          <p:cNvSpPr/>
          <p:nvPr/>
        </p:nvSpPr>
        <p:spPr>
          <a:xfrm>
            <a:off x="7437528" y="2672242"/>
            <a:ext cx="34747" cy="34747"/>
          </a:xfrm>
          <a:prstGeom prst="ellipse">
            <a:avLst/>
          </a:prstGeom>
          <a:solidFill>
            <a:srgbClr val="444B57"/>
          </a:solidFill>
          <a:ln/>
        </p:spPr>
        <p:txBody>
          <a:bodyPr/>
          <a:lstStyle/>
          <a:p>
            <a:endParaRPr lang="en-US"/>
          </a:p>
        </p:txBody>
      </p:sp>
      <p:sp>
        <p:nvSpPr>
          <p:cNvPr id="354" name="Shape 352"/>
          <p:cNvSpPr/>
          <p:nvPr/>
        </p:nvSpPr>
        <p:spPr>
          <a:xfrm>
            <a:off x="7470991" y="2555799"/>
            <a:ext cx="34747" cy="34747"/>
          </a:xfrm>
          <a:prstGeom prst="ellipse">
            <a:avLst/>
          </a:prstGeom>
          <a:solidFill>
            <a:srgbClr val="444B57"/>
          </a:solidFill>
          <a:ln/>
        </p:spPr>
        <p:txBody>
          <a:bodyPr/>
          <a:lstStyle/>
          <a:p>
            <a:endParaRPr lang="en-US"/>
          </a:p>
        </p:txBody>
      </p:sp>
      <p:sp>
        <p:nvSpPr>
          <p:cNvPr id="355" name="Shape 353"/>
          <p:cNvSpPr/>
          <p:nvPr/>
        </p:nvSpPr>
        <p:spPr>
          <a:xfrm>
            <a:off x="7504454" y="2436306"/>
            <a:ext cx="34747" cy="34747"/>
          </a:xfrm>
          <a:prstGeom prst="ellipse">
            <a:avLst/>
          </a:prstGeom>
          <a:solidFill>
            <a:srgbClr val="444B57"/>
          </a:solidFill>
          <a:ln/>
        </p:spPr>
        <p:txBody>
          <a:bodyPr/>
          <a:lstStyle/>
          <a:p>
            <a:endParaRPr lang="en-US"/>
          </a:p>
        </p:txBody>
      </p:sp>
      <p:sp>
        <p:nvSpPr>
          <p:cNvPr id="356" name="Shape 354"/>
          <p:cNvSpPr/>
          <p:nvPr/>
        </p:nvSpPr>
        <p:spPr>
          <a:xfrm>
            <a:off x="7537917" y="2319130"/>
            <a:ext cx="34747" cy="34747"/>
          </a:xfrm>
          <a:prstGeom prst="ellipse">
            <a:avLst/>
          </a:prstGeom>
          <a:solidFill>
            <a:srgbClr val="444B57"/>
          </a:solidFill>
          <a:ln/>
        </p:spPr>
        <p:txBody>
          <a:bodyPr/>
          <a:lstStyle/>
          <a:p>
            <a:endParaRPr lang="en-US"/>
          </a:p>
        </p:txBody>
      </p:sp>
      <p:sp>
        <p:nvSpPr>
          <p:cNvPr id="357" name="Shape 355"/>
          <p:cNvSpPr/>
          <p:nvPr/>
        </p:nvSpPr>
        <p:spPr>
          <a:xfrm>
            <a:off x="7571381" y="2210286"/>
            <a:ext cx="34747" cy="34747"/>
          </a:xfrm>
          <a:prstGeom prst="ellipse">
            <a:avLst/>
          </a:prstGeom>
          <a:solidFill>
            <a:srgbClr val="444B57"/>
          </a:solidFill>
          <a:ln/>
        </p:spPr>
        <p:txBody>
          <a:bodyPr/>
          <a:lstStyle/>
          <a:p>
            <a:endParaRPr lang="en-US"/>
          </a:p>
        </p:txBody>
      </p:sp>
      <p:sp>
        <p:nvSpPr>
          <p:cNvPr id="358" name="Shape 356"/>
          <p:cNvSpPr/>
          <p:nvPr/>
        </p:nvSpPr>
        <p:spPr>
          <a:xfrm>
            <a:off x="7604844" y="2115944"/>
            <a:ext cx="34747" cy="34747"/>
          </a:xfrm>
          <a:prstGeom prst="ellipse">
            <a:avLst/>
          </a:prstGeom>
          <a:solidFill>
            <a:srgbClr val="444B57"/>
          </a:solidFill>
          <a:ln/>
        </p:spPr>
        <p:txBody>
          <a:bodyPr/>
          <a:lstStyle/>
          <a:p>
            <a:endParaRPr lang="en-US"/>
          </a:p>
        </p:txBody>
      </p:sp>
      <p:sp>
        <p:nvSpPr>
          <p:cNvPr id="359" name="Shape 357"/>
          <p:cNvSpPr/>
          <p:nvPr/>
        </p:nvSpPr>
        <p:spPr>
          <a:xfrm>
            <a:off x="7638307" y="2041862"/>
            <a:ext cx="34747" cy="34747"/>
          </a:xfrm>
          <a:prstGeom prst="ellipse">
            <a:avLst/>
          </a:prstGeom>
          <a:solidFill>
            <a:srgbClr val="444B57"/>
          </a:solidFill>
          <a:ln/>
        </p:spPr>
        <p:txBody>
          <a:bodyPr/>
          <a:lstStyle/>
          <a:p>
            <a:endParaRPr lang="en-US"/>
          </a:p>
        </p:txBody>
      </p:sp>
      <p:sp>
        <p:nvSpPr>
          <p:cNvPr id="360" name="Shape 358"/>
          <p:cNvSpPr/>
          <p:nvPr/>
        </p:nvSpPr>
        <p:spPr>
          <a:xfrm>
            <a:off x="7671770" y="1992807"/>
            <a:ext cx="34747" cy="34747"/>
          </a:xfrm>
          <a:prstGeom prst="ellipse">
            <a:avLst/>
          </a:prstGeom>
          <a:solidFill>
            <a:srgbClr val="444B57"/>
          </a:solidFill>
          <a:ln/>
        </p:spPr>
        <p:txBody>
          <a:bodyPr/>
          <a:lstStyle/>
          <a:p>
            <a:endParaRPr lang="en-US"/>
          </a:p>
        </p:txBody>
      </p:sp>
      <p:sp>
        <p:nvSpPr>
          <p:cNvPr id="361" name="Shape 359"/>
          <p:cNvSpPr/>
          <p:nvPr/>
        </p:nvSpPr>
        <p:spPr>
          <a:xfrm>
            <a:off x="7705234" y="1972045"/>
            <a:ext cx="34747" cy="34747"/>
          </a:xfrm>
          <a:prstGeom prst="ellipse">
            <a:avLst/>
          </a:prstGeom>
          <a:solidFill>
            <a:srgbClr val="444B57"/>
          </a:solidFill>
          <a:ln/>
        </p:spPr>
        <p:txBody>
          <a:bodyPr/>
          <a:lstStyle/>
          <a:p>
            <a:endParaRPr lang="en-US"/>
          </a:p>
        </p:txBody>
      </p:sp>
      <p:sp>
        <p:nvSpPr>
          <p:cNvPr id="362" name="Shape 360"/>
          <p:cNvSpPr/>
          <p:nvPr/>
        </p:nvSpPr>
        <p:spPr>
          <a:xfrm>
            <a:off x="7738697" y="1980984"/>
            <a:ext cx="34747" cy="34747"/>
          </a:xfrm>
          <a:prstGeom prst="ellipse">
            <a:avLst/>
          </a:prstGeom>
          <a:solidFill>
            <a:srgbClr val="444B57"/>
          </a:solidFill>
          <a:ln/>
        </p:spPr>
        <p:txBody>
          <a:bodyPr/>
          <a:lstStyle/>
          <a:p>
            <a:endParaRPr lang="en-US"/>
          </a:p>
        </p:txBody>
      </p:sp>
      <p:sp>
        <p:nvSpPr>
          <p:cNvPr id="363" name="Shape 361"/>
          <p:cNvSpPr/>
          <p:nvPr/>
        </p:nvSpPr>
        <p:spPr>
          <a:xfrm>
            <a:off x="7772160" y="2019016"/>
            <a:ext cx="34747" cy="34747"/>
          </a:xfrm>
          <a:prstGeom prst="ellipse">
            <a:avLst/>
          </a:prstGeom>
          <a:solidFill>
            <a:srgbClr val="444B57"/>
          </a:solidFill>
          <a:ln/>
        </p:spPr>
        <p:txBody>
          <a:bodyPr/>
          <a:lstStyle/>
          <a:p>
            <a:endParaRPr lang="en-US"/>
          </a:p>
        </p:txBody>
      </p:sp>
      <p:sp>
        <p:nvSpPr>
          <p:cNvPr id="364" name="Shape 362"/>
          <p:cNvSpPr/>
          <p:nvPr/>
        </p:nvSpPr>
        <p:spPr>
          <a:xfrm>
            <a:off x="7805623" y="2083585"/>
            <a:ext cx="34747" cy="34747"/>
          </a:xfrm>
          <a:prstGeom prst="ellipse">
            <a:avLst/>
          </a:prstGeom>
          <a:solidFill>
            <a:srgbClr val="444B57"/>
          </a:solidFill>
          <a:ln/>
        </p:spPr>
        <p:txBody>
          <a:bodyPr/>
          <a:lstStyle/>
          <a:p>
            <a:endParaRPr lang="en-US"/>
          </a:p>
        </p:txBody>
      </p:sp>
      <p:sp>
        <p:nvSpPr>
          <p:cNvPr id="365" name="Shape 363"/>
          <p:cNvSpPr/>
          <p:nvPr/>
        </p:nvSpPr>
        <p:spPr>
          <a:xfrm>
            <a:off x="7839086" y="2170470"/>
            <a:ext cx="34747" cy="34747"/>
          </a:xfrm>
          <a:prstGeom prst="ellipse">
            <a:avLst/>
          </a:prstGeom>
          <a:solidFill>
            <a:srgbClr val="444B57"/>
          </a:solidFill>
          <a:ln/>
        </p:spPr>
        <p:txBody>
          <a:bodyPr/>
          <a:lstStyle/>
          <a:p>
            <a:endParaRPr lang="en-US"/>
          </a:p>
        </p:txBody>
      </p:sp>
      <p:sp>
        <p:nvSpPr>
          <p:cNvPr id="366" name="Shape 364"/>
          <p:cNvSpPr/>
          <p:nvPr/>
        </p:nvSpPr>
        <p:spPr>
          <a:xfrm>
            <a:off x="7872550" y="2274245"/>
            <a:ext cx="34747" cy="34747"/>
          </a:xfrm>
          <a:prstGeom prst="ellipse">
            <a:avLst/>
          </a:prstGeom>
          <a:solidFill>
            <a:srgbClr val="444B57"/>
          </a:solidFill>
          <a:ln/>
        </p:spPr>
        <p:txBody>
          <a:bodyPr/>
          <a:lstStyle/>
          <a:p>
            <a:endParaRPr lang="en-US"/>
          </a:p>
        </p:txBody>
      </p:sp>
      <p:sp>
        <p:nvSpPr>
          <p:cNvPr id="367" name="Shape 365"/>
          <p:cNvSpPr/>
          <p:nvPr/>
        </p:nvSpPr>
        <p:spPr>
          <a:xfrm>
            <a:off x="7906013" y="2388831"/>
            <a:ext cx="34747" cy="34747"/>
          </a:xfrm>
          <a:prstGeom prst="ellipse">
            <a:avLst/>
          </a:prstGeom>
          <a:solidFill>
            <a:srgbClr val="444B57"/>
          </a:solidFill>
          <a:ln/>
        </p:spPr>
        <p:txBody>
          <a:bodyPr/>
          <a:lstStyle/>
          <a:p>
            <a:endParaRPr lang="en-US"/>
          </a:p>
        </p:txBody>
      </p:sp>
      <p:sp>
        <p:nvSpPr>
          <p:cNvPr id="368" name="Shape 366"/>
          <p:cNvSpPr/>
          <p:nvPr/>
        </p:nvSpPr>
        <p:spPr>
          <a:xfrm>
            <a:off x="7939476" y="2508087"/>
            <a:ext cx="34747" cy="34747"/>
          </a:xfrm>
          <a:prstGeom prst="ellipse">
            <a:avLst/>
          </a:prstGeom>
          <a:solidFill>
            <a:srgbClr val="444B57"/>
          </a:solidFill>
          <a:ln/>
        </p:spPr>
        <p:txBody>
          <a:bodyPr/>
          <a:lstStyle/>
          <a:p>
            <a:endParaRPr lang="en-US"/>
          </a:p>
        </p:txBody>
      </p:sp>
      <p:sp>
        <p:nvSpPr>
          <p:cNvPr id="369" name="Shape 367"/>
          <p:cNvSpPr/>
          <p:nvPr/>
        </p:nvSpPr>
        <p:spPr>
          <a:xfrm>
            <a:off x="7972939" y="2626335"/>
            <a:ext cx="34747" cy="34747"/>
          </a:xfrm>
          <a:prstGeom prst="ellipse">
            <a:avLst/>
          </a:prstGeom>
          <a:solidFill>
            <a:srgbClr val="444B57"/>
          </a:solidFill>
          <a:ln/>
        </p:spPr>
        <p:txBody>
          <a:bodyPr/>
          <a:lstStyle/>
          <a:p>
            <a:endParaRPr lang="en-US"/>
          </a:p>
        </p:txBody>
      </p:sp>
      <p:sp>
        <p:nvSpPr>
          <p:cNvPr id="370" name="Shape 368"/>
          <p:cNvSpPr/>
          <p:nvPr/>
        </p:nvSpPr>
        <p:spPr>
          <a:xfrm>
            <a:off x="8006403" y="2738779"/>
            <a:ext cx="34747" cy="34747"/>
          </a:xfrm>
          <a:prstGeom prst="ellipse">
            <a:avLst/>
          </a:prstGeom>
          <a:solidFill>
            <a:srgbClr val="444B57"/>
          </a:solidFill>
          <a:ln/>
        </p:spPr>
        <p:txBody>
          <a:bodyPr/>
          <a:lstStyle/>
          <a:p>
            <a:endParaRPr lang="en-US"/>
          </a:p>
        </p:txBody>
      </p:sp>
      <p:sp>
        <p:nvSpPr>
          <p:cNvPr id="371" name="Shape 369"/>
          <p:cNvSpPr/>
          <p:nvPr/>
        </p:nvSpPr>
        <p:spPr>
          <a:xfrm>
            <a:off x="8039866" y="2841763"/>
            <a:ext cx="34747" cy="34747"/>
          </a:xfrm>
          <a:prstGeom prst="ellipse">
            <a:avLst/>
          </a:prstGeom>
          <a:solidFill>
            <a:srgbClr val="444B57"/>
          </a:solidFill>
          <a:ln/>
        </p:spPr>
        <p:txBody>
          <a:bodyPr/>
          <a:lstStyle/>
          <a:p>
            <a:endParaRPr lang="en-US"/>
          </a:p>
        </p:txBody>
      </p:sp>
      <p:sp>
        <p:nvSpPr>
          <p:cNvPr id="372" name="Shape 370"/>
          <p:cNvSpPr/>
          <p:nvPr/>
        </p:nvSpPr>
        <p:spPr>
          <a:xfrm>
            <a:off x="8073329" y="2932881"/>
            <a:ext cx="34747" cy="34747"/>
          </a:xfrm>
          <a:prstGeom prst="ellipse">
            <a:avLst/>
          </a:prstGeom>
          <a:solidFill>
            <a:srgbClr val="444B57"/>
          </a:solidFill>
          <a:ln/>
        </p:spPr>
        <p:txBody>
          <a:bodyPr/>
          <a:lstStyle/>
          <a:p>
            <a:endParaRPr lang="en-US"/>
          </a:p>
        </p:txBody>
      </p:sp>
      <p:sp>
        <p:nvSpPr>
          <p:cNvPr id="373" name="Shape 371"/>
          <p:cNvSpPr/>
          <p:nvPr/>
        </p:nvSpPr>
        <p:spPr>
          <a:xfrm>
            <a:off x="8106792" y="3010932"/>
            <a:ext cx="34747" cy="34747"/>
          </a:xfrm>
          <a:prstGeom prst="ellipse">
            <a:avLst/>
          </a:prstGeom>
          <a:solidFill>
            <a:srgbClr val="444B57"/>
          </a:solidFill>
          <a:ln/>
        </p:spPr>
        <p:txBody>
          <a:bodyPr/>
          <a:lstStyle/>
          <a:p>
            <a:endParaRPr lang="en-US"/>
          </a:p>
        </p:txBody>
      </p:sp>
      <p:sp>
        <p:nvSpPr>
          <p:cNvPr id="374" name="Shape 372"/>
          <p:cNvSpPr/>
          <p:nvPr/>
        </p:nvSpPr>
        <p:spPr>
          <a:xfrm>
            <a:off x="8140256" y="3075763"/>
            <a:ext cx="34747" cy="34747"/>
          </a:xfrm>
          <a:prstGeom prst="ellipse">
            <a:avLst/>
          </a:prstGeom>
          <a:solidFill>
            <a:srgbClr val="444B57"/>
          </a:solidFill>
          <a:ln/>
        </p:spPr>
        <p:txBody>
          <a:bodyPr/>
          <a:lstStyle/>
          <a:p>
            <a:endParaRPr lang="en-US"/>
          </a:p>
        </p:txBody>
      </p:sp>
      <p:sp>
        <p:nvSpPr>
          <p:cNvPr id="375" name="Shape 373"/>
          <p:cNvSpPr/>
          <p:nvPr/>
        </p:nvSpPr>
        <p:spPr>
          <a:xfrm>
            <a:off x="8173719" y="3128045"/>
            <a:ext cx="34747" cy="34747"/>
          </a:xfrm>
          <a:prstGeom prst="ellipse">
            <a:avLst/>
          </a:prstGeom>
          <a:solidFill>
            <a:srgbClr val="444B57"/>
          </a:solidFill>
          <a:ln/>
        </p:spPr>
        <p:txBody>
          <a:bodyPr/>
          <a:lstStyle/>
          <a:p>
            <a:endParaRPr lang="en-US"/>
          </a:p>
        </p:txBody>
      </p:sp>
      <p:sp>
        <p:nvSpPr>
          <p:cNvPr id="376" name="Shape 374"/>
          <p:cNvSpPr/>
          <p:nvPr/>
        </p:nvSpPr>
        <p:spPr>
          <a:xfrm>
            <a:off x="8207182" y="3169020"/>
            <a:ext cx="34747" cy="34747"/>
          </a:xfrm>
          <a:prstGeom prst="ellipse">
            <a:avLst/>
          </a:prstGeom>
          <a:solidFill>
            <a:srgbClr val="444B57"/>
          </a:solidFill>
          <a:ln/>
        </p:spPr>
        <p:txBody>
          <a:bodyPr/>
          <a:lstStyle/>
          <a:p>
            <a:endParaRPr lang="en-US"/>
          </a:p>
        </p:txBody>
      </p:sp>
      <p:sp>
        <p:nvSpPr>
          <p:cNvPr id="377" name="Shape 375"/>
          <p:cNvSpPr/>
          <p:nvPr/>
        </p:nvSpPr>
        <p:spPr>
          <a:xfrm>
            <a:off x="8240645" y="3200251"/>
            <a:ext cx="34747" cy="34747"/>
          </a:xfrm>
          <a:prstGeom prst="ellipse">
            <a:avLst/>
          </a:prstGeom>
          <a:solidFill>
            <a:srgbClr val="444B57"/>
          </a:solidFill>
          <a:ln/>
        </p:spPr>
        <p:txBody>
          <a:bodyPr/>
          <a:lstStyle/>
          <a:p>
            <a:endParaRPr lang="en-US"/>
          </a:p>
        </p:txBody>
      </p:sp>
      <p:sp>
        <p:nvSpPr>
          <p:cNvPr id="378" name="Shape 376"/>
          <p:cNvSpPr/>
          <p:nvPr/>
        </p:nvSpPr>
        <p:spPr>
          <a:xfrm>
            <a:off x="8274108" y="3223418"/>
            <a:ext cx="34747" cy="34747"/>
          </a:xfrm>
          <a:prstGeom prst="ellipse">
            <a:avLst/>
          </a:prstGeom>
          <a:solidFill>
            <a:srgbClr val="444B57"/>
          </a:solidFill>
          <a:ln/>
        </p:spPr>
        <p:txBody>
          <a:bodyPr/>
          <a:lstStyle/>
          <a:p>
            <a:endParaRPr lang="en-US"/>
          </a:p>
        </p:txBody>
      </p:sp>
      <p:sp>
        <p:nvSpPr>
          <p:cNvPr id="379" name="Shape 377"/>
          <p:cNvSpPr/>
          <p:nvPr/>
        </p:nvSpPr>
        <p:spPr>
          <a:xfrm>
            <a:off x="8307572" y="3240150"/>
            <a:ext cx="34747" cy="34747"/>
          </a:xfrm>
          <a:prstGeom prst="ellipse">
            <a:avLst/>
          </a:prstGeom>
          <a:solidFill>
            <a:srgbClr val="444B57"/>
          </a:solidFill>
          <a:ln/>
        </p:spPr>
        <p:txBody>
          <a:bodyPr/>
          <a:lstStyle/>
          <a:p>
            <a:endParaRPr lang="en-US"/>
          </a:p>
        </p:txBody>
      </p:sp>
      <p:sp>
        <p:nvSpPr>
          <p:cNvPr id="380" name="Shape 378"/>
          <p:cNvSpPr/>
          <p:nvPr/>
        </p:nvSpPr>
        <p:spPr>
          <a:xfrm>
            <a:off x="8341035" y="3251922"/>
            <a:ext cx="34747" cy="34747"/>
          </a:xfrm>
          <a:prstGeom prst="ellipse">
            <a:avLst/>
          </a:prstGeom>
          <a:solidFill>
            <a:srgbClr val="444B57"/>
          </a:solidFill>
          <a:ln/>
        </p:spPr>
        <p:txBody>
          <a:bodyPr/>
          <a:lstStyle/>
          <a:p>
            <a:endParaRPr lang="en-US"/>
          </a:p>
        </p:txBody>
      </p:sp>
      <p:sp>
        <p:nvSpPr>
          <p:cNvPr id="381" name="Shape 379"/>
          <p:cNvSpPr/>
          <p:nvPr/>
        </p:nvSpPr>
        <p:spPr>
          <a:xfrm>
            <a:off x="8374498" y="3259991"/>
            <a:ext cx="34747" cy="34747"/>
          </a:xfrm>
          <a:prstGeom prst="ellipse">
            <a:avLst/>
          </a:prstGeom>
          <a:solidFill>
            <a:srgbClr val="444B57"/>
          </a:solidFill>
          <a:ln/>
        </p:spPr>
        <p:txBody>
          <a:bodyPr/>
          <a:lstStyle/>
          <a:p>
            <a:endParaRPr lang="en-US"/>
          </a:p>
        </p:txBody>
      </p:sp>
      <p:sp>
        <p:nvSpPr>
          <p:cNvPr id="382" name="Shape 380"/>
          <p:cNvSpPr/>
          <p:nvPr/>
        </p:nvSpPr>
        <p:spPr>
          <a:xfrm>
            <a:off x="8407961" y="3265383"/>
            <a:ext cx="34747" cy="34747"/>
          </a:xfrm>
          <a:prstGeom prst="ellipse">
            <a:avLst/>
          </a:prstGeom>
          <a:solidFill>
            <a:srgbClr val="444B57"/>
          </a:solidFill>
          <a:ln/>
        </p:spPr>
        <p:txBody>
          <a:bodyPr/>
          <a:lstStyle/>
          <a:p>
            <a:endParaRPr lang="en-US"/>
          </a:p>
        </p:txBody>
      </p:sp>
      <p:sp>
        <p:nvSpPr>
          <p:cNvPr id="383" name="Shape 381"/>
          <p:cNvSpPr/>
          <p:nvPr/>
        </p:nvSpPr>
        <p:spPr>
          <a:xfrm>
            <a:off x="8441425" y="3268896"/>
            <a:ext cx="34747" cy="34747"/>
          </a:xfrm>
          <a:prstGeom prst="ellipse">
            <a:avLst/>
          </a:prstGeom>
          <a:solidFill>
            <a:srgbClr val="444B57"/>
          </a:solidFill>
          <a:ln/>
        </p:spPr>
        <p:txBody>
          <a:bodyPr/>
          <a:lstStyle/>
          <a:p>
            <a:endParaRPr lang="en-US"/>
          </a:p>
        </p:txBody>
      </p:sp>
      <p:sp>
        <p:nvSpPr>
          <p:cNvPr id="384" name="Shape 382"/>
          <p:cNvSpPr/>
          <p:nvPr/>
        </p:nvSpPr>
        <p:spPr>
          <a:xfrm>
            <a:off x="8474888" y="3271128"/>
            <a:ext cx="34747" cy="34747"/>
          </a:xfrm>
          <a:prstGeom prst="ellipse">
            <a:avLst/>
          </a:prstGeom>
          <a:solidFill>
            <a:srgbClr val="444B57"/>
          </a:solidFill>
          <a:ln/>
        </p:spPr>
        <p:txBody>
          <a:bodyPr/>
          <a:lstStyle/>
          <a:p>
            <a:endParaRPr lang="en-US"/>
          </a:p>
        </p:txBody>
      </p:sp>
      <p:sp>
        <p:nvSpPr>
          <p:cNvPr id="385" name="Shape 383"/>
          <p:cNvSpPr/>
          <p:nvPr/>
        </p:nvSpPr>
        <p:spPr>
          <a:xfrm>
            <a:off x="6467094" y="3274466"/>
            <a:ext cx="34747" cy="34747"/>
          </a:xfrm>
          <a:prstGeom prst="ellipse">
            <a:avLst/>
          </a:prstGeom>
          <a:solidFill>
            <a:srgbClr val="9C3D6E"/>
          </a:solidFill>
          <a:ln/>
        </p:spPr>
        <p:txBody>
          <a:bodyPr/>
          <a:lstStyle/>
          <a:p>
            <a:endParaRPr lang="en-US"/>
          </a:p>
        </p:txBody>
      </p:sp>
      <p:sp>
        <p:nvSpPr>
          <p:cNvPr id="386" name="Shape 384"/>
          <p:cNvSpPr/>
          <p:nvPr/>
        </p:nvSpPr>
        <p:spPr>
          <a:xfrm>
            <a:off x="6500557" y="3274466"/>
            <a:ext cx="34747" cy="34747"/>
          </a:xfrm>
          <a:prstGeom prst="ellipse">
            <a:avLst/>
          </a:prstGeom>
          <a:solidFill>
            <a:srgbClr val="9C3D6E"/>
          </a:solidFill>
          <a:ln/>
        </p:spPr>
        <p:txBody>
          <a:bodyPr/>
          <a:lstStyle/>
          <a:p>
            <a:endParaRPr lang="en-US"/>
          </a:p>
        </p:txBody>
      </p:sp>
      <p:sp>
        <p:nvSpPr>
          <p:cNvPr id="387" name="Shape 385"/>
          <p:cNvSpPr/>
          <p:nvPr/>
        </p:nvSpPr>
        <p:spPr>
          <a:xfrm>
            <a:off x="6534020" y="3274464"/>
            <a:ext cx="34747" cy="34747"/>
          </a:xfrm>
          <a:prstGeom prst="ellipse">
            <a:avLst/>
          </a:prstGeom>
          <a:solidFill>
            <a:srgbClr val="9C3D6E"/>
          </a:solidFill>
          <a:ln/>
        </p:spPr>
        <p:txBody>
          <a:bodyPr/>
          <a:lstStyle/>
          <a:p>
            <a:endParaRPr lang="en-US"/>
          </a:p>
        </p:txBody>
      </p:sp>
      <p:sp>
        <p:nvSpPr>
          <p:cNvPr id="388" name="Shape 386"/>
          <p:cNvSpPr/>
          <p:nvPr/>
        </p:nvSpPr>
        <p:spPr>
          <a:xfrm>
            <a:off x="6567484" y="3274462"/>
            <a:ext cx="34747" cy="34747"/>
          </a:xfrm>
          <a:prstGeom prst="ellipse">
            <a:avLst/>
          </a:prstGeom>
          <a:solidFill>
            <a:srgbClr val="9C3D6E"/>
          </a:solidFill>
          <a:ln/>
        </p:spPr>
        <p:txBody>
          <a:bodyPr/>
          <a:lstStyle/>
          <a:p>
            <a:endParaRPr lang="en-US"/>
          </a:p>
        </p:txBody>
      </p:sp>
      <p:sp>
        <p:nvSpPr>
          <p:cNvPr id="389" name="Shape 387"/>
          <p:cNvSpPr/>
          <p:nvPr/>
        </p:nvSpPr>
        <p:spPr>
          <a:xfrm>
            <a:off x="6600947" y="3274456"/>
            <a:ext cx="34747" cy="34747"/>
          </a:xfrm>
          <a:prstGeom prst="ellipse">
            <a:avLst/>
          </a:prstGeom>
          <a:solidFill>
            <a:srgbClr val="9C3D6E"/>
          </a:solidFill>
          <a:ln/>
        </p:spPr>
        <p:txBody>
          <a:bodyPr/>
          <a:lstStyle/>
          <a:p>
            <a:endParaRPr lang="en-US"/>
          </a:p>
        </p:txBody>
      </p:sp>
      <p:sp>
        <p:nvSpPr>
          <p:cNvPr id="390" name="Shape 388"/>
          <p:cNvSpPr/>
          <p:nvPr/>
        </p:nvSpPr>
        <p:spPr>
          <a:xfrm>
            <a:off x="6634410" y="3274444"/>
            <a:ext cx="34747" cy="34747"/>
          </a:xfrm>
          <a:prstGeom prst="ellipse">
            <a:avLst/>
          </a:prstGeom>
          <a:solidFill>
            <a:srgbClr val="9C3D6E"/>
          </a:solidFill>
          <a:ln/>
        </p:spPr>
        <p:txBody>
          <a:bodyPr/>
          <a:lstStyle/>
          <a:p>
            <a:endParaRPr lang="en-US"/>
          </a:p>
        </p:txBody>
      </p:sp>
      <p:sp>
        <p:nvSpPr>
          <p:cNvPr id="391" name="Shape 389"/>
          <p:cNvSpPr/>
          <p:nvPr/>
        </p:nvSpPr>
        <p:spPr>
          <a:xfrm>
            <a:off x="6667873" y="3274418"/>
            <a:ext cx="34747" cy="34747"/>
          </a:xfrm>
          <a:prstGeom prst="ellipse">
            <a:avLst/>
          </a:prstGeom>
          <a:solidFill>
            <a:srgbClr val="9C3D6E"/>
          </a:solidFill>
          <a:ln/>
        </p:spPr>
        <p:txBody>
          <a:bodyPr/>
          <a:lstStyle/>
          <a:p>
            <a:endParaRPr lang="en-US"/>
          </a:p>
        </p:txBody>
      </p:sp>
      <p:sp>
        <p:nvSpPr>
          <p:cNvPr id="392" name="Shape 390"/>
          <p:cNvSpPr/>
          <p:nvPr/>
        </p:nvSpPr>
        <p:spPr>
          <a:xfrm>
            <a:off x="6701337" y="3274365"/>
            <a:ext cx="34747" cy="34747"/>
          </a:xfrm>
          <a:prstGeom prst="ellipse">
            <a:avLst/>
          </a:prstGeom>
          <a:solidFill>
            <a:srgbClr val="9C3D6E"/>
          </a:solidFill>
          <a:ln/>
        </p:spPr>
        <p:txBody>
          <a:bodyPr/>
          <a:lstStyle/>
          <a:p>
            <a:endParaRPr lang="en-US"/>
          </a:p>
        </p:txBody>
      </p:sp>
      <p:sp>
        <p:nvSpPr>
          <p:cNvPr id="393" name="Shape 391"/>
          <p:cNvSpPr/>
          <p:nvPr/>
        </p:nvSpPr>
        <p:spPr>
          <a:xfrm>
            <a:off x="6734800" y="3274261"/>
            <a:ext cx="34747" cy="34747"/>
          </a:xfrm>
          <a:prstGeom prst="ellipse">
            <a:avLst/>
          </a:prstGeom>
          <a:solidFill>
            <a:srgbClr val="9C3D6E"/>
          </a:solidFill>
          <a:ln/>
        </p:spPr>
        <p:txBody>
          <a:bodyPr/>
          <a:lstStyle/>
          <a:p>
            <a:endParaRPr lang="en-US"/>
          </a:p>
        </p:txBody>
      </p:sp>
      <p:sp>
        <p:nvSpPr>
          <p:cNvPr id="394" name="Shape 392"/>
          <p:cNvSpPr/>
          <p:nvPr/>
        </p:nvSpPr>
        <p:spPr>
          <a:xfrm>
            <a:off x="6768263" y="3274061"/>
            <a:ext cx="34747" cy="34747"/>
          </a:xfrm>
          <a:prstGeom prst="ellipse">
            <a:avLst/>
          </a:prstGeom>
          <a:solidFill>
            <a:srgbClr val="9C3D6E"/>
          </a:solidFill>
          <a:ln/>
        </p:spPr>
        <p:txBody>
          <a:bodyPr/>
          <a:lstStyle/>
          <a:p>
            <a:endParaRPr lang="en-US"/>
          </a:p>
        </p:txBody>
      </p:sp>
      <p:sp>
        <p:nvSpPr>
          <p:cNvPr id="395" name="Shape 393"/>
          <p:cNvSpPr/>
          <p:nvPr/>
        </p:nvSpPr>
        <p:spPr>
          <a:xfrm>
            <a:off x="6801726" y="3273689"/>
            <a:ext cx="34747" cy="34747"/>
          </a:xfrm>
          <a:prstGeom prst="ellipse">
            <a:avLst/>
          </a:prstGeom>
          <a:solidFill>
            <a:srgbClr val="9C3D6E"/>
          </a:solidFill>
          <a:ln/>
        </p:spPr>
        <p:txBody>
          <a:bodyPr/>
          <a:lstStyle/>
          <a:p>
            <a:endParaRPr lang="en-US"/>
          </a:p>
        </p:txBody>
      </p:sp>
      <p:sp>
        <p:nvSpPr>
          <p:cNvPr id="396" name="Shape 394"/>
          <p:cNvSpPr/>
          <p:nvPr/>
        </p:nvSpPr>
        <p:spPr>
          <a:xfrm>
            <a:off x="6835190" y="3273013"/>
            <a:ext cx="34747" cy="34747"/>
          </a:xfrm>
          <a:prstGeom prst="ellipse">
            <a:avLst/>
          </a:prstGeom>
          <a:solidFill>
            <a:srgbClr val="9C3D6E"/>
          </a:solidFill>
          <a:ln/>
        </p:spPr>
        <p:txBody>
          <a:bodyPr/>
          <a:lstStyle/>
          <a:p>
            <a:endParaRPr lang="en-US"/>
          </a:p>
        </p:txBody>
      </p:sp>
      <p:sp>
        <p:nvSpPr>
          <p:cNvPr id="397" name="Shape 395"/>
          <p:cNvSpPr/>
          <p:nvPr/>
        </p:nvSpPr>
        <p:spPr>
          <a:xfrm>
            <a:off x="6868653" y="3271826"/>
            <a:ext cx="34747" cy="34747"/>
          </a:xfrm>
          <a:prstGeom prst="ellipse">
            <a:avLst/>
          </a:prstGeom>
          <a:solidFill>
            <a:srgbClr val="9C3D6E"/>
          </a:solidFill>
          <a:ln/>
        </p:spPr>
        <p:txBody>
          <a:bodyPr/>
          <a:lstStyle/>
          <a:p>
            <a:endParaRPr lang="en-US"/>
          </a:p>
        </p:txBody>
      </p:sp>
      <p:sp>
        <p:nvSpPr>
          <p:cNvPr id="398" name="Shape 396"/>
          <p:cNvSpPr/>
          <p:nvPr/>
        </p:nvSpPr>
        <p:spPr>
          <a:xfrm>
            <a:off x="6902116" y="3269800"/>
            <a:ext cx="34747" cy="34747"/>
          </a:xfrm>
          <a:prstGeom prst="ellipse">
            <a:avLst/>
          </a:prstGeom>
          <a:solidFill>
            <a:srgbClr val="9C3D6E"/>
          </a:solidFill>
          <a:ln/>
        </p:spPr>
        <p:txBody>
          <a:bodyPr/>
          <a:lstStyle/>
          <a:p>
            <a:endParaRPr lang="en-US"/>
          </a:p>
        </p:txBody>
      </p:sp>
      <p:sp>
        <p:nvSpPr>
          <p:cNvPr id="399" name="Shape 397"/>
          <p:cNvSpPr/>
          <p:nvPr/>
        </p:nvSpPr>
        <p:spPr>
          <a:xfrm>
            <a:off x="6935579" y="3266446"/>
            <a:ext cx="34747" cy="34747"/>
          </a:xfrm>
          <a:prstGeom prst="ellipse">
            <a:avLst/>
          </a:prstGeom>
          <a:solidFill>
            <a:srgbClr val="9C3D6E"/>
          </a:solidFill>
          <a:ln/>
        </p:spPr>
        <p:txBody>
          <a:bodyPr/>
          <a:lstStyle/>
          <a:p>
            <a:endParaRPr lang="en-US"/>
          </a:p>
        </p:txBody>
      </p:sp>
      <p:sp>
        <p:nvSpPr>
          <p:cNvPr id="400" name="Shape 398"/>
          <p:cNvSpPr/>
          <p:nvPr/>
        </p:nvSpPr>
        <p:spPr>
          <a:xfrm>
            <a:off x="6969042" y="3261058"/>
            <a:ext cx="34747" cy="34747"/>
          </a:xfrm>
          <a:prstGeom prst="ellipse">
            <a:avLst/>
          </a:prstGeom>
          <a:solidFill>
            <a:srgbClr val="9C3D6E"/>
          </a:solidFill>
          <a:ln/>
        </p:spPr>
        <p:txBody>
          <a:bodyPr/>
          <a:lstStyle/>
          <a:p>
            <a:endParaRPr lang="en-US"/>
          </a:p>
        </p:txBody>
      </p:sp>
      <p:sp>
        <p:nvSpPr>
          <p:cNvPr id="401" name="Shape 399"/>
          <p:cNvSpPr/>
          <p:nvPr/>
        </p:nvSpPr>
        <p:spPr>
          <a:xfrm>
            <a:off x="7002506" y="3252664"/>
            <a:ext cx="34747" cy="34747"/>
          </a:xfrm>
          <a:prstGeom prst="ellipse">
            <a:avLst/>
          </a:prstGeom>
          <a:solidFill>
            <a:srgbClr val="9C3D6E"/>
          </a:solidFill>
          <a:ln/>
        </p:spPr>
        <p:txBody>
          <a:bodyPr/>
          <a:lstStyle/>
          <a:p>
            <a:endParaRPr lang="en-US"/>
          </a:p>
        </p:txBody>
      </p:sp>
      <p:sp>
        <p:nvSpPr>
          <p:cNvPr id="402" name="Shape 400"/>
          <p:cNvSpPr/>
          <p:nvPr/>
        </p:nvSpPr>
        <p:spPr>
          <a:xfrm>
            <a:off x="7035969" y="3239988"/>
            <a:ext cx="34747" cy="34747"/>
          </a:xfrm>
          <a:prstGeom prst="ellipse">
            <a:avLst/>
          </a:prstGeom>
          <a:solidFill>
            <a:srgbClr val="9C3D6E"/>
          </a:solidFill>
          <a:ln/>
        </p:spPr>
        <p:txBody>
          <a:bodyPr/>
          <a:lstStyle/>
          <a:p>
            <a:endParaRPr lang="en-US"/>
          </a:p>
        </p:txBody>
      </p:sp>
      <p:sp>
        <p:nvSpPr>
          <p:cNvPr id="403" name="Shape 401"/>
          <p:cNvSpPr/>
          <p:nvPr/>
        </p:nvSpPr>
        <p:spPr>
          <a:xfrm>
            <a:off x="7069432" y="3221434"/>
            <a:ext cx="34747" cy="34747"/>
          </a:xfrm>
          <a:prstGeom prst="ellipse">
            <a:avLst/>
          </a:prstGeom>
          <a:solidFill>
            <a:srgbClr val="9C3D6E"/>
          </a:solidFill>
          <a:ln/>
        </p:spPr>
        <p:txBody>
          <a:bodyPr/>
          <a:lstStyle/>
          <a:p>
            <a:endParaRPr lang="en-US"/>
          </a:p>
        </p:txBody>
      </p:sp>
      <p:sp>
        <p:nvSpPr>
          <p:cNvPr id="404" name="Shape 402"/>
          <p:cNvSpPr/>
          <p:nvPr/>
        </p:nvSpPr>
        <p:spPr>
          <a:xfrm>
            <a:off x="7102895" y="3195132"/>
            <a:ext cx="34747" cy="34747"/>
          </a:xfrm>
          <a:prstGeom prst="ellipse">
            <a:avLst/>
          </a:prstGeom>
          <a:solidFill>
            <a:srgbClr val="9C3D6E"/>
          </a:solidFill>
          <a:ln/>
        </p:spPr>
        <p:txBody>
          <a:bodyPr/>
          <a:lstStyle/>
          <a:p>
            <a:endParaRPr lang="en-US"/>
          </a:p>
        </p:txBody>
      </p:sp>
      <p:sp>
        <p:nvSpPr>
          <p:cNvPr id="405" name="Shape 403"/>
          <p:cNvSpPr/>
          <p:nvPr/>
        </p:nvSpPr>
        <p:spPr>
          <a:xfrm>
            <a:off x="7136359" y="3159035"/>
            <a:ext cx="34747" cy="34747"/>
          </a:xfrm>
          <a:prstGeom prst="ellipse">
            <a:avLst/>
          </a:prstGeom>
          <a:solidFill>
            <a:srgbClr val="9C3D6E"/>
          </a:solidFill>
          <a:ln/>
        </p:spPr>
        <p:txBody>
          <a:bodyPr/>
          <a:lstStyle/>
          <a:p>
            <a:endParaRPr lang="en-US"/>
          </a:p>
        </p:txBody>
      </p:sp>
      <p:sp>
        <p:nvSpPr>
          <p:cNvPr id="406" name="Shape 404"/>
          <p:cNvSpPr/>
          <p:nvPr/>
        </p:nvSpPr>
        <p:spPr>
          <a:xfrm>
            <a:off x="7169822" y="3111116"/>
            <a:ext cx="34747" cy="34747"/>
          </a:xfrm>
          <a:prstGeom prst="ellipse">
            <a:avLst/>
          </a:prstGeom>
          <a:solidFill>
            <a:srgbClr val="9C3D6E"/>
          </a:solidFill>
          <a:ln/>
        </p:spPr>
        <p:txBody>
          <a:bodyPr/>
          <a:lstStyle/>
          <a:p>
            <a:endParaRPr lang="en-US"/>
          </a:p>
        </p:txBody>
      </p:sp>
      <p:sp>
        <p:nvSpPr>
          <p:cNvPr id="407" name="Shape 405"/>
          <p:cNvSpPr/>
          <p:nvPr/>
        </p:nvSpPr>
        <p:spPr>
          <a:xfrm>
            <a:off x="7203285" y="3049636"/>
            <a:ext cx="34747" cy="34747"/>
          </a:xfrm>
          <a:prstGeom prst="ellipse">
            <a:avLst/>
          </a:prstGeom>
          <a:solidFill>
            <a:srgbClr val="9C3D6E"/>
          </a:solidFill>
          <a:ln/>
        </p:spPr>
        <p:txBody>
          <a:bodyPr/>
          <a:lstStyle/>
          <a:p>
            <a:endParaRPr lang="en-US"/>
          </a:p>
        </p:txBody>
      </p:sp>
      <p:sp>
        <p:nvSpPr>
          <p:cNvPr id="408" name="Shape 406"/>
          <p:cNvSpPr/>
          <p:nvPr/>
        </p:nvSpPr>
        <p:spPr>
          <a:xfrm>
            <a:off x="7236748" y="2973496"/>
            <a:ext cx="34747" cy="34747"/>
          </a:xfrm>
          <a:prstGeom prst="ellipse">
            <a:avLst/>
          </a:prstGeom>
          <a:solidFill>
            <a:srgbClr val="9C3D6E"/>
          </a:solidFill>
          <a:ln/>
        </p:spPr>
        <p:txBody>
          <a:bodyPr/>
          <a:lstStyle/>
          <a:p>
            <a:endParaRPr lang="en-US"/>
          </a:p>
        </p:txBody>
      </p:sp>
      <p:sp>
        <p:nvSpPr>
          <p:cNvPr id="409" name="Shape 407"/>
          <p:cNvSpPr/>
          <p:nvPr/>
        </p:nvSpPr>
        <p:spPr>
          <a:xfrm>
            <a:off x="7270212" y="2882608"/>
            <a:ext cx="34747" cy="34747"/>
          </a:xfrm>
          <a:prstGeom prst="ellipse">
            <a:avLst/>
          </a:prstGeom>
          <a:solidFill>
            <a:srgbClr val="9C3D6E"/>
          </a:solidFill>
          <a:ln/>
        </p:spPr>
        <p:txBody>
          <a:bodyPr/>
          <a:lstStyle/>
          <a:p>
            <a:endParaRPr lang="en-US"/>
          </a:p>
        </p:txBody>
      </p:sp>
      <p:sp>
        <p:nvSpPr>
          <p:cNvPr id="410" name="Shape 408"/>
          <p:cNvSpPr/>
          <p:nvPr/>
        </p:nvSpPr>
        <p:spPr>
          <a:xfrm>
            <a:off x="7303675" y="2778251"/>
            <a:ext cx="34747" cy="34747"/>
          </a:xfrm>
          <a:prstGeom prst="ellipse">
            <a:avLst/>
          </a:prstGeom>
          <a:solidFill>
            <a:srgbClr val="9C3D6E"/>
          </a:solidFill>
          <a:ln/>
        </p:spPr>
        <p:txBody>
          <a:bodyPr/>
          <a:lstStyle/>
          <a:p>
            <a:endParaRPr lang="en-US"/>
          </a:p>
        </p:txBody>
      </p:sp>
      <p:sp>
        <p:nvSpPr>
          <p:cNvPr id="411" name="Shape 409"/>
          <p:cNvSpPr/>
          <p:nvPr/>
        </p:nvSpPr>
        <p:spPr>
          <a:xfrm>
            <a:off x="7337138" y="2663315"/>
            <a:ext cx="34747" cy="34747"/>
          </a:xfrm>
          <a:prstGeom prst="ellipse">
            <a:avLst/>
          </a:prstGeom>
          <a:solidFill>
            <a:srgbClr val="9C3D6E"/>
          </a:solidFill>
          <a:ln/>
        </p:spPr>
        <p:txBody>
          <a:bodyPr/>
          <a:lstStyle/>
          <a:p>
            <a:endParaRPr lang="en-US"/>
          </a:p>
        </p:txBody>
      </p:sp>
      <p:sp>
        <p:nvSpPr>
          <p:cNvPr id="412" name="Shape 410"/>
          <p:cNvSpPr/>
          <p:nvPr/>
        </p:nvSpPr>
        <p:spPr>
          <a:xfrm>
            <a:off x="7370601" y="2542379"/>
            <a:ext cx="34747" cy="34747"/>
          </a:xfrm>
          <a:prstGeom prst="ellipse">
            <a:avLst/>
          </a:prstGeom>
          <a:solidFill>
            <a:srgbClr val="9C3D6E"/>
          </a:solidFill>
          <a:ln/>
        </p:spPr>
        <p:txBody>
          <a:bodyPr/>
          <a:lstStyle/>
          <a:p>
            <a:endParaRPr lang="en-US"/>
          </a:p>
        </p:txBody>
      </p:sp>
      <p:sp>
        <p:nvSpPr>
          <p:cNvPr id="413" name="Shape 411"/>
          <p:cNvSpPr/>
          <p:nvPr/>
        </p:nvSpPr>
        <p:spPr>
          <a:xfrm>
            <a:off x="7404064" y="2421536"/>
            <a:ext cx="34747" cy="34747"/>
          </a:xfrm>
          <a:prstGeom prst="ellipse">
            <a:avLst/>
          </a:prstGeom>
          <a:solidFill>
            <a:srgbClr val="9C3D6E"/>
          </a:solidFill>
          <a:ln/>
        </p:spPr>
        <p:txBody>
          <a:bodyPr/>
          <a:lstStyle/>
          <a:p>
            <a:endParaRPr lang="en-US"/>
          </a:p>
        </p:txBody>
      </p:sp>
      <p:sp>
        <p:nvSpPr>
          <p:cNvPr id="414" name="Shape 412"/>
          <p:cNvSpPr/>
          <p:nvPr/>
        </p:nvSpPr>
        <p:spPr>
          <a:xfrm>
            <a:off x="7437528" y="2307970"/>
            <a:ext cx="34747" cy="34747"/>
          </a:xfrm>
          <a:prstGeom prst="ellipse">
            <a:avLst/>
          </a:prstGeom>
          <a:solidFill>
            <a:srgbClr val="9C3D6E"/>
          </a:solidFill>
          <a:ln/>
        </p:spPr>
        <p:txBody>
          <a:bodyPr/>
          <a:lstStyle/>
          <a:p>
            <a:endParaRPr lang="en-US"/>
          </a:p>
        </p:txBody>
      </p:sp>
      <p:sp>
        <p:nvSpPr>
          <p:cNvPr id="415" name="Shape 413"/>
          <p:cNvSpPr/>
          <p:nvPr/>
        </p:nvSpPr>
        <p:spPr>
          <a:xfrm>
            <a:off x="7470991" y="2209286"/>
            <a:ext cx="34747" cy="34747"/>
          </a:xfrm>
          <a:prstGeom prst="ellipse">
            <a:avLst/>
          </a:prstGeom>
          <a:solidFill>
            <a:srgbClr val="9C3D6E"/>
          </a:solidFill>
          <a:ln/>
        </p:spPr>
        <p:txBody>
          <a:bodyPr/>
          <a:lstStyle/>
          <a:p>
            <a:endParaRPr lang="en-US"/>
          </a:p>
        </p:txBody>
      </p:sp>
      <p:sp>
        <p:nvSpPr>
          <p:cNvPr id="416" name="Shape 414"/>
          <p:cNvSpPr/>
          <p:nvPr/>
        </p:nvSpPr>
        <p:spPr>
          <a:xfrm>
            <a:off x="7504454" y="2132686"/>
            <a:ext cx="34747" cy="34747"/>
          </a:xfrm>
          <a:prstGeom prst="ellipse">
            <a:avLst/>
          </a:prstGeom>
          <a:solidFill>
            <a:srgbClr val="9C3D6E"/>
          </a:solidFill>
          <a:ln/>
        </p:spPr>
        <p:txBody>
          <a:bodyPr/>
          <a:lstStyle/>
          <a:p>
            <a:endParaRPr lang="en-US"/>
          </a:p>
        </p:txBody>
      </p:sp>
      <p:sp>
        <p:nvSpPr>
          <p:cNvPr id="417" name="Shape 415"/>
          <p:cNvSpPr/>
          <p:nvPr/>
        </p:nvSpPr>
        <p:spPr>
          <a:xfrm>
            <a:off x="7537917" y="2084107"/>
            <a:ext cx="34747" cy="34747"/>
          </a:xfrm>
          <a:prstGeom prst="ellipse">
            <a:avLst/>
          </a:prstGeom>
          <a:solidFill>
            <a:srgbClr val="9C3D6E"/>
          </a:solidFill>
          <a:ln/>
        </p:spPr>
        <p:txBody>
          <a:bodyPr/>
          <a:lstStyle/>
          <a:p>
            <a:endParaRPr lang="en-US"/>
          </a:p>
        </p:txBody>
      </p:sp>
      <p:sp>
        <p:nvSpPr>
          <p:cNvPr id="418" name="Shape 416"/>
          <p:cNvSpPr/>
          <p:nvPr/>
        </p:nvSpPr>
        <p:spPr>
          <a:xfrm>
            <a:off x="7571381" y="2067458"/>
            <a:ext cx="34747" cy="34747"/>
          </a:xfrm>
          <a:prstGeom prst="ellipse">
            <a:avLst/>
          </a:prstGeom>
          <a:solidFill>
            <a:srgbClr val="9C3D6E"/>
          </a:solidFill>
          <a:ln/>
        </p:spPr>
        <p:txBody>
          <a:bodyPr/>
          <a:lstStyle/>
          <a:p>
            <a:endParaRPr lang="en-US"/>
          </a:p>
        </p:txBody>
      </p:sp>
      <p:sp>
        <p:nvSpPr>
          <p:cNvPr id="419" name="Shape 417"/>
          <p:cNvSpPr/>
          <p:nvPr/>
        </p:nvSpPr>
        <p:spPr>
          <a:xfrm>
            <a:off x="7604844" y="2084107"/>
            <a:ext cx="34747" cy="34747"/>
          </a:xfrm>
          <a:prstGeom prst="ellipse">
            <a:avLst/>
          </a:prstGeom>
          <a:solidFill>
            <a:srgbClr val="9C3D6E"/>
          </a:solidFill>
          <a:ln/>
        </p:spPr>
        <p:txBody>
          <a:bodyPr/>
          <a:lstStyle/>
          <a:p>
            <a:endParaRPr lang="en-US"/>
          </a:p>
        </p:txBody>
      </p:sp>
      <p:sp>
        <p:nvSpPr>
          <p:cNvPr id="420" name="Shape 418"/>
          <p:cNvSpPr/>
          <p:nvPr/>
        </p:nvSpPr>
        <p:spPr>
          <a:xfrm>
            <a:off x="7638307" y="2132686"/>
            <a:ext cx="34747" cy="34747"/>
          </a:xfrm>
          <a:prstGeom prst="ellipse">
            <a:avLst/>
          </a:prstGeom>
          <a:solidFill>
            <a:srgbClr val="9C3D6E"/>
          </a:solidFill>
          <a:ln/>
        </p:spPr>
        <p:txBody>
          <a:bodyPr/>
          <a:lstStyle/>
          <a:p>
            <a:endParaRPr lang="en-US"/>
          </a:p>
        </p:txBody>
      </p:sp>
      <p:sp>
        <p:nvSpPr>
          <p:cNvPr id="421" name="Shape 419"/>
          <p:cNvSpPr/>
          <p:nvPr/>
        </p:nvSpPr>
        <p:spPr>
          <a:xfrm>
            <a:off x="7671770" y="2209286"/>
            <a:ext cx="34747" cy="34747"/>
          </a:xfrm>
          <a:prstGeom prst="ellipse">
            <a:avLst/>
          </a:prstGeom>
          <a:solidFill>
            <a:srgbClr val="9C3D6E"/>
          </a:solidFill>
          <a:ln/>
        </p:spPr>
        <p:txBody>
          <a:bodyPr/>
          <a:lstStyle/>
          <a:p>
            <a:endParaRPr lang="en-US"/>
          </a:p>
        </p:txBody>
      </p:sp>
      <p:sp>
        <p:nvSpPr>
          <p:cNvPr id="422" name="Shape 420"/>
          <p:cNvSpPr/>
          <p:nvPr/>
        </p:nvSpPr>
        <p:spPr>
          <a:xfrm>
            <a:off x="7705234" y="2307970"/>
            <a:ext cx="34747" cy="34747"/>
          </a:xfrm>
          <a:prstGeom prst="ellipse">
            <a:avLst/>
          </a:prstGeom>
          <a:solidFill>
            <a:srgbClr val="9C3D6E"/>
          </a:solidFill>
          <a:ln/>
        </p:spPr>
        <p:txBody>
          <a:bodyPr/>
          <a:lstStyle/>
          <a:p>
            <a:endParaRPr lang="en-US"/>
          </a:p>
        </p:txBody>
      </p:sp>
      <p:sp>
        <p:nvSpPr>
          <p:cNvPr id="423" name="Shape 421"/>
          <p:cNvSpPr/>
          <p:nvPr/>
        </p:nvSpPr>
        <p:spPr>
          <a:xfrm>
            <a:off x="7738697" y="2421536"/>
            <a:ext cx="34747" cy="34747"/>
          </a:xfrm>
          <a:prstGeom prst="ellipse">
            <a:avLst/>
          </a:prstGeom>
          <a:solidFill>
            <a:srgbClr val="9C3D6E"/>
          </a:solidFill>
          <a:ln/>
        </p:spPr>
        <p:txBody>
          <a:bodyPr/>
          <a:lstStyle/>
          <a:p>
            <a:endParaRPr lang="en-US"/>
          </a:p>
        </p:txBody>
      </p:sp>
      <p:sp>
        <p:nvSpPr>
          <p:cNvPr id="424" name="Shape 422"/>
          <p:cNvSpPr/>
          <p:nvPr/>
        </p:nvSpPr>
        <p:spPr>
          <a:xfrm>
            <a:off x="7772160" y="2542379"/>
            <a:ext cx="34747" cy="34747"/>
          </a:xfrm>
          <a:prstGeom prst="ellipse">
            <a:avLst/>
          </a:prstGeom>
          <a:solidFill>
            <a:srgbClr val="9C3D6E"/>
          </a:solidFill>
          <a:ln/>
        </p:spPr>
        <p:txBody>
          <a:bodyPr/>
          <a:lstStyle/>
          <a:p>
            <a:endParaRPr lang="en-US"/>
          </a:p>
        </p:txBody>
      </p:sp>
      <p:sp>
        <p:nvSpPr>
          <p:cNvPr id="425" name="Shape 423"/>
          <p:cNvSpPr/>
          <p:nvPr/>
        </p:nvSpPr>
        <p:spPr>
          <a:xfrm>
            <a:off x="7805623" y="2663315"/>
            <a:ext cx="34747" cy="34747"/>
          </a:xfrm>
          <a:prstGeom prst="ellipse">
            <a:avLst/>
          </a:prstGeom>
          <a:solidFill>
            <a:srgbClr val="9C3D6E"/>
          </a:solidFill>
          <a:ln/>
        </p:spPr>
        <p:txBody>
          <a:bodyPr/>
          <a:lstStyle/>
          <a:p>
            <a:endParaRPr lang="en-US"/>
          </a:p>
        </p:txBody>
      </p:sp>
      <p:sp>
        <p:nvSpPr>
          <p:cNvPr id="426" name="Shape 424"/>
          <p:cNvSpPr/>
          <p:nvPr/>
        </p:nvSpPr>
        <p:spPr>
          <a:xfrm>
            <a:off x="7839086" y="2778251"/>
            <a:ext cx="34747" cy="34747"/>
          </a:xfrm>
          <a:prstGeom prst="ellipse">
            <a:avLst/>
          </a:prstGeom>
          <a:solidFill>
            <a:srgbClr val="9C3D6E"/>
          </a:solidFill>
          <a:ln/>
        </p:spPr>
        <p:txBody>
          <a:bodyPr/>
          <a:lstStyle/>
          <a:p>
            <a:endParaRPr lang="en-US"/>
          </a:p>
        </p:txBody>
      </p:sp>
      <p:sp>
        <p:nvSpPr>
          <p:cNvPr id="427" name="Shape 425"/>
          <p:cNvSpPr/>
          <p:nvPr/>
        </p:nvSpPr>
        <p:spPr>
          <a:xfrm>
            <a:off x="7872550" y="2882608"/>
            <a:ext cx="34747" cy="34747"/>
          </a:xfrm>
          <a:prstGeom prst="ellipse">
            <a:avLst/>
          </a:prstGeom>
          <a:solidFill>
            <a:srgbClr val="9C3D6E"/>
          </a:solidFill>
          <a:ln/>
        </p:spPr>
        <p:txBody>
          <a:bodyPr/>
          <a:lstStyle/>
          <a:p>
            <a:endParaRPr lang="en-US"/>
          </a:p>
        </p:txBody>
      </p:sp>
      <p:sp>
        <p:nvSpPr>
          <p:cNvPr id="428" name="Shape 426"/>
          <p:cNvSpPr/>
          <p:nvPr/>
        </p:nvSpPr>
        <p:spPr>
          <a:xfrm>
            <a:off x="7906013" y="2973496"/>
            <a:ext cx="34747" cy="34747"/>
          </a:xfrm>
          <a:prstGeom prst="ellipse">
            <a:avLst/>
          </a:prstGeom>
          <a:solidFill>
            <a:srgbClr val="9C3D6E"/>
          </a:solidFill>
          <a:ln/>
        </p:spPr>
        <p:txBody>
          <a:bodyPr/>
          <a:lstStyle/>
          <a:p>
            <a:endParaRPr lang="en-US"/>
          </a:p>
        </p:txBody>
      </p:sp>
      <p:sp>
        <p:nvSpPr>
          <p:cNvPr id="429" name="Shape 427"/>
          <p:cNvSpPr/>
          <p:nvPr/>
        </p:nvSpPr>
        <p:spPr>
          <a:xfrm>
            <a:off x="7939476" y="3049636"/>
            <a:ext cx="34747" cy="34747"/>
          </a:xfrm>
          <a:prstGeom prst="ellipse">
            <a:avLst/>
          </a:prstGeom>
          <a:solidFill>
            <a:srgbClr val="9C3D6E"/>
          </a:solidFill>
          <a:ln/>
        </p:spPr>
        <p:txBody>
          <a:bodyPr/>
          <a:lstStyle/>
          <a:p>
            <a:endParaRPr lang="en-US"/>
          </a:p>
        </p:txBody>
      </p:sp>
      <p:sp>
        <p:nvSpPr>
          <p:cNvPr id="430" name="Shape 428"/>
          <p:cNvSpPr/>
          <p:nvPr/>
        </p:nvSpPr>
        <p:spPr>
          <a:xfrm>
            <a:off x="7972939" y="3111116"/>
            <a:ext cx="34747" cy="34747"/>
          </a:xfrm>
          <a:prstGeom prst="ellipse">
            <a:avLst/>
          </a:prstGeom>
          <a:solidFill>
            <a:srgbClr val="9C3D6E"/>
          </a:solidFill>
          <a:ln/>
        </p:spPr>
        <p:txBody>
          <a:bodyPr/>
          <a:lstStyle/>
          <a:p>
            <a:endParaRPr lang="en-US"/>
          </a:p>
        </p:txBody>
      </p:sp>
      <p:sp>
        <p:nvSpPr>
          <p:cNvPr id="431" name="Shape 429"/>
          <p:cNvSpPr/>
          <p:nvPr/>
        </p:nvSpPr>
        <p:spPr>
          <a:xfrm>
            <a:off x="8006403" y="3159035"/>
            <a:ext cx="34747" cy="34747"/>
          </a:xfrm>
          <a:prstGeom prst="ellipse">
            <a:avLst/>
          </a:prstGeom>
          <a:solidFill>
            <a:srgbClr val="9C3D6E"/>
          </a:solidFill>
          <a:ln/>
        </p:spPr>
        <p:txBody>
          <a:bodyPr/>
          <a:lstStyle/>
          <a:p>
            <a:endParaRPr lang="en-US"/>
          </a:p>
        </p:txBody>
      </p:sp>
      <p:sp>
        <p:nvSpPr>
          <p:cNvPr id="432" name="Shape 430"/>
          <p:cNvSpPr/>
          <p:nvPr/>
        </p:nvSpPr>
        <p:spPr>
          <a:xfrm>
            <a:off x="8039866" y="3195132"/>
            <a:ext cx="34747" cy="34747"/>
          </a:xfrm>
          <a:prstGeom prst="ellipse">
            <a:avLst/>
          </a:prstGeom>
          <a:solidFill>
            <a:srgbClr val="9C3D6E"/>
          </a:solidFill>
          <a:ln/>
        </p:spPr>
        <p:txBody>
          <a:bodyPr/>
          <a:lstStyle/>
          <a:p>
            <a:endParaRPr lang="en-US"/>
          </a:p>
        </p:txBody>
      </p:sp>
      <p:sp>
        <p:nvSpPr>
          <p:cNvPr id="433" name="Shape 431"/>
          <p:cNvSpPr/>
          <p:nvPr/>
        </p:nvSpPr>
        <p:spPr>
          <a:xfrm>
            <a:off x="8073329" y="3221434"/>
            <a:ext cx="34747" cy="34747"/>
          </a:xfrm>
          <a:prstGeom prst="ellipse">
            <a:avLst/>
          </a:prstGeom>
          <a:solidFill>
            <a:srgbClr val="9C3D6E"/>
          </a:solidFill>
          <a:ln/>
        </p:spPr>
        <p:txBody>
          <a:bodyPr/>
          <a:lstStyle/>
          <a:p>
            <a:endParaRPr lang="en-US"/>
          </a:p>
        </p:txBody>
      </p:sp>
      <p:sp>
        <p:nvSpPr>
          <p:cNvPr id="434" name="Shape 432"/>
          <p:cNvSpPr/>
          <p:nvPr/>
        </p:nvSpPr>
        <p:spPr>
          <a:xfrm>
            <a:off x="8106792" y="3239988"/>
            <a:ext cx="34747" cy="34747"/>
          </a:xfrm>
          <a:prstGeom prst="ellipse">
            <a:avLst/>
          </a:prstGeom>
          <a:solidFill>
            <a:srgbClr val="9C3D6E"/>
          </a:solidFill>
          <a:ln/>
        </p:spPr>
        <p:txBody>
          <a:bodyPr/>
          <a:lstStyle/>
          <a:p>
            <a:endParaRPr lang="en-US"/>
          </a:p>
        </p:txBody>
      </p:sp>
      <p:sp>
        <p:nvSpPr>
          <p:cNvPr id="435" name="Shape 433"/>
          <p:cNvSpPr/>
          <p:nvPr/>
        </p:nvSpPr>
        <p:spPr>
          <a:xfrm>
            <a:off x="8140256" y="3252664"/>
            <a:ext cx="34747" cy="34747"/>
          </a:xfrm>
          <a:prstGeom prst="ellipse">
            <a:avLst/>
          </a:prstGeom>
          <a:solidFill>
            <a:srgbClr val="9C3D6E"/>
          </a:solidFill>
          <a:ln/>
        </p:spPr>
        <p:txBody>
          <a:bodyPr/>
          <a:lstStyle/>
          <a:p>
            <a:endParaRPr lang="en-US"/>
          </a:p>
        </p:txBody>
      </p:sp>
      <p:sp>
        <p:nvSpPr>
          <p:cNvPr id="436" name="Shape 434"/>
          <p:cNvSpPr/>
          <p:nvPr/>
        </p:nvSpPr>
        <p:spPr>
          <a:xfrm>
            <a:off x="8173719" y="3261058"/>
            <a:ext cx="34747" cy="34747"/>
          </a:xfrm>
          <a:prstGeom prst="ellipse">
            <a:avLst/>
          </a:prstGeom>
          <a:solidFill>
            <a:srgbClr val="9C3D6E"/>
          </a:solidFill>
          <a:ln/>
        </p:spPr>
        <p:txBody>
          <a:bodyPr/>
          <a:lstStyle/>
          <a:p>
            <a:endParaRPr lang="en-US"/>
          </a:p>
        </p:txBody>
      </p:sp>
      <p:sp>
        <p:nvSpPr>
          <p:cNvPr id="437" name="Shape 435"/>
          <p:cNvSpPr/>
          <p:nvPr/>
        </p:nvSpPr>
        <p:spPr>
          <a:xfrm>
            <a:off x="8207182" y="3266446"/>
            <a:ext cx="34747" cy="34747"/>
          </a:xfrm>
          <a:prstGeom prst="ellipse">
            <a:avLst/>
          </a:prstGeom>
          <a:solidFill>
            <a:srgbClr val="9C3D6E"/>
          </a:solidFill>
          <a:ln/>
        </p:spPr>
        <p:txBody>
          <a:bodyPr/>
          <a:lstStyle/>
          <a:p>
            <a:endParaRPr lang="en-US"/>
          </a:p>
        </p:txBody>
      </p:sp>
      <p:sp>
        <p:nvSpPr>
          <p:cNvPr id="438" name="Shape 436"/>
          <p:cNvSpPr/>
          <p:nvPr/>
        </p:nvSpPr>
        <p:spPr>
          <a:xfrm>
            <a:off x="8240645" y="3269800"/>
            <a:ext cx="34747" cy="34747"/>
          </a:xfrm>
          <a:prstGeom prst="ellipse">
            <a:avLst/>
          </a:prstGeom>
          <a:solidFill>
            <a:srgbClr val="9C3D6E"/>
          </a:solidFill>
          <a:ln/>
        </p:spPr>
        <p:txBody>
          <a:bodyPr/>
          <a:lstStyle/>
          <a:p>
            <a:endParaRPr lang="en-US"/>
          </a:p>
        </p:txBody>
      </p:sp>
      <p:sp>
        <p:nvSpPr>
          <p:cNvPr id="439" name="Shape 437"/>
          <p:cNvSpPr/>
          <p:nvPr/>
        </p:nvSpPr>
        <p:spPr>
          <a:xfrm>
            <a:off x="8274108" y="3271826"/>
            <a:ext cx="34747" cy="34747"/>
          </a:xfrm>
          <a:prstGeom prst="ellipse">
            <a:avLst/>
          </a:prstGeom>
          <a:solidFill>
            <a:srgbClr val="9C3D6E"/>
          </a:solidFill>
          <a:ln/>
        </p:spPr>
        <p:txBody>
          <a:bodyPr/>
          <a:lstStyle/>
          <a:p>
            <a:endParaRPr lang="en-US"/>
          </a:p>
        </p:txBody>
      </p:sp>
      <p:sp>
        <p:nvSpPr>
          <p:cNvPr id="440" name="Shape 438"/>
          <p:cNvSpPr/>
          <p:nvPr/>
        </p:nvSpPr>
        <p:spPr>
          <a:xfrm>
            <a:off x="8307572" y="3273013"/>
            <a:ext cx="34747" cy="34747"/>
          </a:xfrm>
          <a:prstGeom prst="ellipse">
            <a:avLst/>
          </a:prstGeom>
          <a:solidFill>
            <a:srgbClr val="9C3D6E"/>
          </a:solidFill>
          <a:ln/>
        </p:spPr>
        <p:txBody>
          <a:bodyPr/>
          <a:lstStyle/>
          <a:p>
            <a:endParaRPr lang="en-US"/>
          </a:p>
        </p:txBody>
      </p:sp>
      <p:sp>
        <p:nvSpPr>
          <p:cNvPr id="441" name="Shape 439"/>
          <p:cNvSpPr/>
          <p:nvPr/>
        </p:nvSpPr>
        <p:spPr>
          <a:xfrm>
            <a:off x="8341035" y="3273689"/>
            <a:ext cx="34747" cy="34747"/>
          </a:xfrm>
          <a:prstGeom prst="ellipse">
            <a:avLst/>
          </a:prstGeom>
          <a:solidFill>
            <a:srgbClr val="9C3D6E"/>
          </a:solidFill>
          <a:ln/>
        </p:spPr>
        <p:txBody>
          <a:bodyPr/>
          <a:lstStyle/>
          <a:p>
            <a:endParaRPr lang="en-US"/>
          </a:p>
        </p:txBody>
      </p:sp>
      <p:sp>
        <p:nvSpPr>
          <p:cNvPr id="442" name="Shape 440"/>
          <p:cNvSpPr/>
          <p:nvPr/>
        </p:nvSpPr>
        <p:spPr>
          <a:xfrm>
            <a:off x="8374498" y="3274061"/>
            <a:ext cx="34747" cy="34747"/>
          </a:xfrm>
          <a:prstGeom prst="ellipse">
            <a:avLst/>
          </a:prstGeom>
          <a:solidFill>
            <a:srgbClr val="9C3D6E"/>
          </a:solidFill>
          <a:ln/>
        </p:spPr>
        <p:txBody>
          <a:bodyPr/>
          <a:lstStyle/>
          <a:p>
            <a:endParaRPr lang="en-US"/>
          </a:p>
        </p:txBody>
      </p:sp>
      <p:sp>
        <p:nvSpPr>
          <p:cNvPr id="443" name="Shape 441"/>
          <p:cNvSpPr/>
          <p:nvPr/>
        </p:nvSpPr>
        <p:spPr>
          <a:xfrm>
            <a:off x="8407961" y="3274261"/>
            <a:ext cx="34747" cy="34747"/>
          </a:xfrm>
          <a:prstGeom prst="ellipse">
            <a:avLst/>
          </a:prstGeom>
          <a:solidFill>
            <a:srgbClr val="9C3D6E"/>
          </a:solidFill>
          <a:ln/>
        </p:spPr>
        <p:txBody>
          <a:bodyPr/>
          <a:lstStyle/>
          <a:p>
            <a:endParaRPr lang="en-US"/>
          </a:p>
        </p:txBody>
      </p:sp>
      <p:sp>
        <p:nvSpPr>
          <p:cNvPr id="444" name="Shape 442"/>
          <p:cNvSpPr/>
          <p:nvPr/>
        </p:nvSpPr>
        <p:spPr>
          <a:xfrm>
            <a:off x="8441425" y="3274365"/>
            <a:ext cx="34747" cy="34747"/>
          </a:xfrm>
          <a:prstGeom prst="ellipse">
            <a:avLst/>
          </a:prstGeom>
          <a:solidFill>
            <a:srgbClr val="9C3D6E"/>
          </a:solidFill>
          <a:ln/>
        </p:spPr>
        <p:txBody>
          <a:bodyPr/>
          <a:lstStyle/>
          <a:p>
            <a:endParaRPr lang="en-US"/>
          </a:p>
        </p:txBody>
      </p:sp>
      <p:sp>
        <p:nvSpPr>
          <p:cNvPr id="445" name="Shape 443"/>
          <p:cNvSpPr/>
          <p:nvPr/>
        </p:nvSpPr>
        <p:spPr>
          <a:xfrm>
            <a:off x="8474888" y="3274418"/>
            <a:ext cx="34747" cy="34747"/>
          </a:xfrm>
          <a:prstGeom prst="ellipse">
            <a:avLst/>
          </a:prstGeom>
          <a:solidFill>
            <a:srgbClr val="9C3D6E"/>
          </a:solidFill>
          <a:ln/>
        </p:spPr>
        <p:txBody>
          <a:bodyPr/>
          <a:lstStyle/>
          <a:p>
            <a:endParaRPr lang="en-US"/>
          </a:p>
        </p:txBody>
      </p:sp>
      <p:sp>
        <p:nvSpPr>
          <p:cNvPr id="446" name="Shape 444"/>
          <p:cNvSpPr/>
          <p:nvPr/>
        </p:nvSpPr>
        <p:spPr>
          <a:xfrm>
            <a:off x="6468923" y="3109126"/>
            <a:ext cx="31090" cy="31090"/>
          </a:xfrm>
          <a:prstGeom prst="ellipse">
            <a:avLst/>
          </a:prstGeom>
          <a:solidFill>
            <a:srgbClr val="1F7A6B"/>
          </a:solidFill>
          <a:ln/>
        </p:spPr>
        <p:txBody>
          <a:bodyPr/>
          <a:lstStyle/>
          <a:p>
            <a:endParaRPr lang="en-US"/>
          </a:p>
        </p:txBody>
      </p:sp>
      <p:sp>
        <p:nvSpPr>
          <p:cNvPr id="447" name="Shape 445"/>
          <p:cNvSpPr/>
          <p:nvPr/>
        </p:nvSpPr>
        <p:spPr>
          <a:xfrm>
            <a:off x="6535849" y="3107863"/>
            <a:ext cx="31090" cy="31090"/>
          </a:xfrm>
          <a:prstGeom prst="ellipse">
            <a:avLst/>
          </a:prstGeom>
          <a:solidFill>
            <a:srgbClr val="1F7A6B"/>
          </a:solidFill>
          <a:ln/>
        </p:spPr>
        <p:txBody>
          <a:bodyPr/>
          <a:lstStyle/>
          <a:p>
            <a:endParaRPr lang="en-US"/>
          </a:p>
        </p:txBody>
      </p:sp>
      <p:sp>
        <p:nvSpPr>
          <p:cNvPr id="448" name="Shape 446"/>
          <p:cNvSpPr/>
          <p:nvPr/>
        </p:nvSpPr>
        <p:spPr>
          <a:xfrm>
            <a:off x="6602776" y="3105984"/>
            <a:ext cx="31090" cy="31090"/>
          </a:xfrm>
          <a:prstGeom prst="ellipse">
            <a:avLst/>
          </a:prstGeom>
          <a:solidFill>
            <a:srgbClr val="1F7A6B"/>
          </a:solidFill>
          <a:ln/>
        </p:spPr>
        <p:txBody>
          <a:bodyPr/>
          <a:lstStyle/>
          <a:p>
            <a:endParaRPr lang="en-US"/>
          </a:p>
        </p:txBody>
      </p:sp>
      <p:sp>
        <p:nvSpPr>
          <p:cNvPr id="449" name="Shape 447"/>
          <p:cNvSpPr/>
          <p:nvPr/>
        </p:nvSpPr>
        <p:spPr>
          <a:xfrm>
            <a:off x="6669702" y="3103194"/>
            <a:ext cx="31090" cy="31090"/>
          </a:xfrm>
          <a:prstGeom prst="ellipse">
            <a:avLst/>
          </a:prstGeom>
          <a:solidFill>
            <a:srgbClr val="1F7A6B"/>
          </a:solidFill>
          <a:ln/>
        </p:spPr>
        <p:txBody>
          <a:bodyPr/>
          <a:lstStyle/>
          <a:p>
            <a:endParaRPr lang="en-US"/>
          </a:p>
        </p:txBody>
      </p:sp>
      <p:sp>
        <p:nvSpPr>
          <p:cNvPr id="450" name="Shape 448"/>
          <p:cNvSpPr/>
          <p:nvPr/>
        </p:nvSpPr>
        <p:spPr>
          <a:xfrm>
            <a:off x="6736629" y="3099060"/>
            <a:ext cx="31090" cy="31090"/>
          </a:xfrm>
          <a:prstGeom prst="ellipse">
            <a:avLst/>
          </a:prstGeom>
          <a:solidFill>
            <a:srgbClr val="1F7A6B"/>
          </a:solidFill>
          <a:ln/>
        </p:spPr>
        <p:txBody>
          <a:bodyPr/>
          <a:lstStyle/>
          <a:p>
            <a:endParaRPr lang="en-US"/>
          </a:p>
        </p:txBody>
      </p:sp>
      <p:sp>
        <p:nvSpPr>
          <p:cNvPr id="451" name="Shape 449"/>
          <p:cNvSpPr/>
          <p:nvPr/>
        </p:nvSpPr>
        <p:spPr>
          <a:xfrm>
            <a:off x="6803555" y="3092954"/>
            <a:ext cx="31090" cy="31090"/>
          </a:xfrm>
          <a:prstGeom prst="ellipse">
            <a:avLst/>
          </a:prstGeom>
          <a:solidFill>
            <a:srgbClr val="1F7A6B"/>
          </a:solidFill>
          <a:ln/>
        </p:spPr>
        <p:txBody>
          <a:bodyPr/>
          <a:lstStyle/>
          <a:p>
            <a:endParaRPr lang="en-US"/>
          </a:p>
        </p:txBody>
      </p:sp>
      <p:sp>
        <p:nvSpPr>
          <p:cNvPr id="452" name="Shape 450"/>
          <p:cNvSpPr/>
          <p:nvPr/>
        </p:nvSpPr>
        <p:spPr>
          <a:xfrm>
            <a:off x="6870482" y="3083978"/>
            <a:ext cx="31090" cy="31090"/>
          </a:xfrm>
          <a:prstGeom prst="ellipse">
            <a:avLst/>
          </a:prstGeom>
          <a:solidFill>
            <a:srgbClr val="1F7A6B"/>
          </a:solidFill>
          <a:ln/>
        </p:spPr>
        <p:txBody>
          <a:bodyPr/>
          <a:lstStyle/>
          <a:p>
            <a:endParaRPr lang="en-US"/>
          </a:p>
        </p:txBody>
      </p:sp>
      <p:sp>
        <p:nvSpPr>
          <p:cNvPr id="453" name="Shape 451"/>
          <p:cNvSpPr/>
          <p:nvPr/>
        </p:nvSpPr>
        <p:spPr>
          <a:xfrm>
            <a:off x="6937408" y="3070876"/>
            <a:ext cx="31090" cy="31090"/>
          </a:xfrm>
          <a:prstGeom prst="ellipse">
            <a:avLst/>
          </a:prstGeom>
          <a:solidFill>
            <a:srgbClr val="1F7A6B"/>
          </a:solidFill>
          <a:ln/>
        </p:spPr>
        <p:txBody>
          <a:bodyPr/>
          <a:lstStyle/>
          <a:p>
            <a:endParaRPr lang="en-US"/>
          </a:p>
        </p:txBody>
      </p:sp>
      <p:sp>
        <p:nvSpPr>
          <p:cNvPr id="454" name="Shape 452"/>
          <p:cNvSpPr/>
          <p:nvPr/>
        </p:nvSpPr>
        <p:spPr>
          <a:xfrm>
            <a:off x="7004334" y="3051948"/>
            <a:ext cx="31090" cy="31090"/>
          </a:xfrm>
          <a:prstGeom prst="ellipse">
            <a:avLst/>
          </a:prstGeom>
          <a:solidFill>
            <a:srgbClr val="1F7A6B"/>
          </a:solidFill>
          <a:ln/>
        </p:spPr>
        <p:txBody>
          <a:bodyPr/>
          <a:lstStyle/>
          <a:p>
            <a:endParaRPr lang="en-US"/>
          </a:p>
        </p:txBody>
      </p:sp>
      <p:sp>
        <p:nvSpPr>
          <p:cNvPr id="455" name="Shape 453"/>
          <p:cNvSpPr/>
          <p:nvPr/>
        </p:nvSpPr>
        <p:spPr>
          <a:xfrm>
            <a:off x="7071261" y="3025003"/>
            <a:ext cx="31090" cy="31090"/>
          </a:xfrm>
          <a:prstGeom prst="ellipse">
            <a:avLst/>
          </a:prstGeom>
          <a:solidFill>
            <a:srgbClr val="1F7A6B"/>
          </a:solidFill>
          <a:ln/>
        </p:spPr>
        <p:txBody>
          <a:bodyPr/>
          <a:lstStyle/>
          <a:p>
            <a:endParaRPr lang="en-US"/>
          </a:p>
        </p:txBody>
      </p:sp>
      <p:sp>
        <p:nvSpPr>
          <p:cNvPr id="456" name="Shape 454"/>
          <p:cNvSpPr/>
          <p:nvPr/>
        </p:nvSpPr>
        <p:spPr>
          <a:xfrm>
            <a:off x="7138187" y="2987444"/>
            <a:ext cx="31090" cy="31090"/>
          </a:xfrm>
          <a:prstGeom prst="ellipse">
            <a:avLst/>
          </a:prstGeom>
          <a:solidFill>
            <a:srgbClr val="1F7A6B"/>
          </a:solidFill>
          <a:ln/>
        </p:spPr>
        <p:txBody>
          <a:bodyPr/>
          <a:lstStyle/>
          <a:p>
            <a:endParaRPr lang="en-US"/>
          </a:p>
        </p:txBody>
      </p:sp>
      <p:sp>
        <p:nvSpPr>
          <p:cNvPr id="457" name="Shape 455"/>
          <p:cNvSpPr/>
          <p:nvPr/>
        </p:nvSpPr>
        <p:spPr>
          <a:xfrm>
            <a:off x="7205114" y="2936596"/>
            <a:ext cx="31090" cy="31090"/>
          </a:xfrm>
          <a:prstGeom prst="ellipse">
            <a:avLst/>
          </a:prstGeom>
          <a:solidFill>
            <a:srgbClr val="1F7A6B"/>
          </a:solidFill>
          <a:ln/>
        </p:spPr>
        <p:txBody>
          <a:bodyPr/>
          <a:lstStyle/>
          <a:p>
            <a:endParaRPr lang="en-US"/>
          </a:p>
        </p:txBody>
      </p:sp>
      <p:sp>
        <p:nvSpPr>
          <p:cNvPr id="458" name="Shape 456"/>
          <p:cNvSpPr/>
          <p:nvPr/>
        </p:nvSpPr>
        <p:spPr>
          <a:xfrm>
            <a:off x="7272040" y="2870410"/>
            <a:ext cx="31090" cy="31090"/>
          </a:xfrm>
          <a:prstGeom prst="ellipse">
            <a:avLst/>
          </a:prstGeom>
          <a:solidFill>
            <a:srgbClr val="1F7A6B"/>
          </a:solidFill>
          <a:ln/>
        </p:spPr>
        <p:txBody>
          <a:bodyPr/>
          <a:lstStyle/>
          <a:p>
            <a:endParaRPr lang="en-US"/>
          </a:p>
        </p:txBody>
      </p:sp>
      <p:sp>
        <p:nvSpPr>
          <p:cNvPr id="459" name="Shape 457"/>
          <p:cNvSpPr/>
          <p:nvPr/>
        </p:nvSpPr>
        <p:spPr>
          <a:xfrm>
            <a:off x="7338967" y="2788528"/>
            <a:ext cx="31090" cy="31090"/>
          </a:xfrm>
          <a:prstGeom prst="ellipse">
            <a:avLst/>
          </a:prstGeom>
          <a:solidFill>
            <a:srgbClr val="1F7A6B"/>
          </a:solidFill>
          <a:ln/>
        </p:spPr>
        <p:txBody>
          <a:bodyPr/>
          <a:lstStyle/>
          <a:p>
            <a:endParaRPr lang="en-US"/>
          </a:p>
        </p:txBody>
      </p:sp>
      <p:sp>
        <p:nvSpPr>
          <p:cNvPr id="460" name="Shape 458"/>
          <p:cNvSpPr/>
          <p:nvPr/>
        </p:nvSpPr>
        <p:spPr>
          <a:xfrm>
            <a:off x="7405893" y="2693369"/>
            <a:ext cx="31090" cy="31090"/>
          </a:xfrm>
          <a:prstGeom prst="ellipse">
            <a:avLst/>
          </a:prstGeom>
          <a:solidFill>
            <a:srgbClr val="1F7A6B"/>
          </a:solidFill>
          <a:ln/>
        </p:spPr>
        <p:txBody>
          <a:bodyPr/>
          <a:lstStyle/>
          <a:p>
            <a:endParaRPr lang="en-US"/>
          </a:p>
        </p:txBody>
      </p:sp>
      <p:sp>
        <p:nvSpPr>
          <p:cNvPr id="461" name="Shape 459"/>
          <p:cNvSpPr/>
          <p:nvPr/>
        </p:nvSpPr>
        <p:spPr>
          <a:xfrm>
            <a:off x="7472820" y="2590495"/>
            <a:ext cx="31090" cy="31090"/>
          </a:xfrm>
          <a:prstGeom prst="ellipse">
            <a:avLst/>
          </a:prstGeom>
          <a:solidFill>
            <a:srgbClr val="1F7A6B"/>
          </a:solidFill>
          <a:ln/>
        </p:spPr>
        <p:txBody>
          <a:bodyPr/>
          <a:lstStyle/>
          <a:p>
            <a:endParaRPr lang="en-US"/>
          </a:p>
        </p:txBody>
      </p:sp>
      <p:sp>
        <p:nvSpPr>
          <p:cNvPr id="462" name="Shape 460"/>
          <p:cNvSpPr/>
          <p:nvPr/>
        </p:nvSpPr>
        <p:spPr>
          <a:xfrm>
            <a:off x="7539746" y="2487622"/>
            <a:ext cx="31090" cy="31090"/>
          </a:xfrm>
          <a:prstGeom prst="ellipse">
            <a:avLst/>
          </a:prstGeom>
          <a:solidFill>
            <a:srgbClr val="1F7A6B"/>
          </a:solidFill>
          <a:ln/>
        </p:spPr>
        <p:txBody>
          <a:bodyPr/>
          <a:lstStyle/>
          <a:p>
            <a:endParaRPr lang="en-US"/>
          </a:p>
        </p:txBody>
      </p:sp>
      <p:sp>
        <p:nvSpPr>
          <p:cNvPr id="463" name="Shape 461"/>
          <p:cNvSpPr/>
          <p:nvPr/>
        </p:nvSpPr>
        <p:spPr>
          <a:xfrm>
            <a:off x="7606673" y="2392463"/>
            <a:ext cx="31090" cy="31090"/>
          </a:xfrm>
          <a:prstGeom prst="ellipse">
            <a:avLst/>
          </a:prstGeom>
          <a:solidFill>
            <a:srgbClr val="1F7A6B"/>
          </a:solidFill>
          <a:ln/>
        </p:spPr>
        <p:txBody>
          <a:bodyPr/>
          <a:lstStyle/>
          <a:p>
            <a:endParaRPr lang="en-US"/>
          </a:p>
        </p:txBody>
      </p:sp>
      <p:sp>
        <p:nvSpPr>
          <p:cNvPr id="464" name="Shape 462"/>
          <p:cNvSpPr/>
          <p:nvPr/>
        </p:nvSpPr>
        <p:spPr>
          <a:xfrm>
            <a:off x="7673599" y="2310581"/>
            <a:ext cx="31090" cy="31090"/>
          </a:xfrm>
          <a:prstGeom prst="ellipse">
            <a:avLst/>
          </a:prstGeom>
          <a:solidFill>
            <a:srgbClr val="1F7A6B"/>
          </a:solidFill>
          <a:ln/>
        </p:spPr>
        <p:txBody>
          <a:bodyPr/>
          <a:lstStyle/>
          <a:p>
            <a:endParaRPr lang="en-US"/>
          </a:p>
        </p:txBody>
      </p:sp>
      <p:sp>
        <p:nvSpPr>
          <p:cNvPr id="465" name="Shape 463"/>
          <p:cNvSpPr/>
          <p:nvPr/>
        </p:nvSpPr>
        <p:spPr>
          <a:xfrm>
            <a:off x="7740526" y="2244394"/>
            <a:ext cx="31090" cy="31090"/>
          </a:xfrm>
          <a:prstGeom prst="ellipse">
            <a:avLst/>
          </a:prstGeom>
          <a:solidFill>
            <a:srgbClr val="1F7A6B"/>
          </a:solidFill>
          <a:ln/>
        </p:spPr>
        <p:txBody>
          <a:bodyPr/>
          <a:lstStyle/>
          <a:p>
            <a:endParaRPr lang="en-US"/>
          </a:p>
        </p:txBody>
      </p:sp>
      <p:sp>
        <p:nvSpPr>
          <p:cNvPr id="466" name="Shape 464"/>
          <p:cNvSpPr/>
          <p:nvPr/>
        </p:nvSpPr>
        <p:spPr>
          <a:xfrm>
            <a:off x="7807452" y="2193546"/>
            <a:ext cx="31090" cy="31090"/>
          </a:xfrm>
          <a:prstGeom prst="ellipse">
            <a:avLst/>
          </a:prstGeom>
          <a:solidFill>
            <a:srgbClr val="1F7A6B"/>
          </a:solidFill>
          <a:ln/>
        </p:spPr>
        <p:txBody>
          <a:bodyPr/>
          <a:lstStyle/>
          <a:p>
            <a:endParaRPr lang="en-US"/>
          </a:p>
        </p:txBody>
      </p:sp>
      <p:sp>
        <p:nvSpPr>
          <p:cNvPr id="467" name="Shape 465"/>
          <p:cNvSpPr/>
          <p:nvPr/>
        </p:nvSpPr>
        <p:spPr>
          <a:xfrm>
            <a:off x="7874378" y="2155988"/>
            <a:ext cx="31090" cy="31090"/>
          </a:xfrm>
          <a:prstGeom prst="ellipse">
            <a:avLst/>
          </a:prstGeom>
          <a:solidFill>
            <a:srgbClr val="1F7A6B"/>
          </a:solidFill>
          <a:ln/>
        </p:spPr>
        <p:txBody>
          <a:bodyPr/>
          <a:lstStyle/>
          <a:p>
            <a:endParaRPr lang="en-US"/>
          </a:p>
        </p:txBody>
      </p:sp>
      <p:sp>
        <p:nvSpPr>
          <p:cNvPr id="468" name="Shape 466"/>
          <p:cNvSpPr/>
          <p:nvPr/>
        </p:nvSpPr>
        <p:spPr>
          <a:xfrm>
            <a:off x="7941305" y="2129043"/>
            <a:ext cx="31090" cy="31090"/>
          </a:xfrm>
          <a:prstGeom prst="ellipse">
            <a:avLst/>
          </a:prstGeom>
          <a:solidFill>
            <a:srgbClr val="1F7A6B"/>
          </a:solidFill>
          <a:ln/>
        </p:spPr>
        <p:txBody>
          <a:bodyPr/>
          <a:lstStyle/>
          <a:p>
            <a:endParaRPr lang="en-US"/>
          </a:p>
        </p:txBody>
      </p:sp>
      <p:sp>
        <p:nvSpPr>
          <p:cNvPr id="469" name="Shape 467"/>
          <p:cNvSpPr/>
          <p:nvPr/>
        </p:nvSpPr>
        <p:spPr>
          <a:xfrm>
            <a:off x="8008231" y="2110114"/>
            <a:ext cx="31090" cy="31090"/>
          </a:xfrm>
          <a:prstGeom prst="ellipse">
            <a:avLst/>
          </a:prstGeom>
          <a:solidFill>
            <a:srgbClr val="1F7A6B"/>
          </a:solidFill>
          <a:ln/>
        </p:spPr>
        <p:txBody>
          <a:bodyPr/>
          <a:lstStyle/>
          <a:p>
            <a:endParaRPr lang="en-US"/>
          </a:p>
        </p:txBody>
      </p:sp>
      <p:sp>
        <p:nvSpPr>
          <p:cNvPr id="470" name="Shape 468"/>
          <p:cNvSpPr/>
          <p:nvPr/>
        </p:nvSpPr>
        <p:spPr>
          <a:xfrm>
            <a:off x="8075158" y="2097012"/>
            <a:ext cx="31090" cy="31090"/>
          </a:xfrm>
          <a:prstGeom prst="ellipse">
            <a:avLst/>
          </a:prstGeom>
          <a:solidFill>
            <a:srgbClr val="1F7A6B"/>
          </a:solidFill>
          <a:ln/>
        </p:spPr>
        <p:txBody>
          <a:bodyPr/>
          <a:lstStyle/>
          <a:p>
            <a:endParaRPr lang="en-US"/>
          </a:p>
        </p:txBody>
      </p:sp>
      <p:sp>
        <p:nvSpPr>
          <p:cNvPr id="471" name="Shape 469"/>
          <p:cNvSpPr/>
          <p:nvPr/>
        </p:nvSpPr>
        <p:spPr>
          <a:xfrm>
            <a:off x="8142084" y="2088036"/>
            <a:ext cx="31090" cy="31090"/>
          </a:xfrm>
          <a:prstGeom prst="ellipse">
            <a:avLst/>
          </a:prstGeom>
          <a:solidFill>
            <a:srgbClr val="1F7A6B"/>
          </a:solidFill>
          <a:ln/>
        </p:spPr>
        <p:txBody>
          <a:bodyPr/>
          <a:lstStyle/>
          <a:p>
            <a:endParaRPr lang="en-US"/>
          </a:p>
        </p:txBody>
      </p:sp>
      <p:sp>
        <p:nvSpPr>
          <p:cNvPr id="472" name="Shape 470"/>
          <p:cNvSpPr/>
          <p:nvPr/>
        </p:nvSpPr>
        <p:spPr>
          <a:xfrm>
            <a:off x="8209011" y="2081930"/>
            <a:ext cx="31090" cy="31090"/>
          </a:xfrm>
          <a:prstGeom prst="ellipse">
            <a:avLst/>
          </a:prstGeom>
          <a:solidFill>
            <a:srgbClr val="1F7A6B"/>
          </a:solidFill>
          <a:ln/>
        </p:spPr>
        <p:txBody>
          <a:bodyPr/>
          <a:lstStyle/>
          <a:p>
            <a:endParaRPr lang="en-US"/>
          </a:p>
        </p:txBody>
      </p:sp>
      <p:sp>
        <p:nvSpPr>
          <p:cNvPr id="473" name="Shape 471"/>
          <p:cNvSpPr/>
          <p:nvPr/>
        </p:nvSpPr>
        <p:spPr>
          <a:xfrm>
            <a:off x="8275937" y="2077796"/>
            <a:ext cx="31090" cy="31090"/>
          </a:xfrm>
          <a:prstGeom prst="ellipse">
            <a:avLst/>
          </a:prstGeom>
          <a:solidFill>
            <a:srgbClr val="1F7A6B"/>
          </a:solidFill>
          <a:ln/>
        </p:spPr>
        <p:txBody>
          <a:bodyPr/>
          <a:lstStyle/>
          <a:p>
            <a:endParaRPr lang="en-US"/>
          </a:p>
        </p:txBody>
      </p:sp>
      <p:sp>
        <p:nvSpPr>
          <p:cNvPr id="474" name="Shape 472"/>
          <p:cNvSpPr/>
          <p:nvPr/>
        </p:nvSpPr>
        <p:spPr>
          <a:xfrm>
            <a:off x="8342864" y="2075006"/>
            <a:ext cx="31090" cy="31090"/>
          </a:xfrm>
          <a:prstGeom prst="ellipse">
            <a:avLst/>
          </a:prstGeom>
          <a:solidFill>
            <a:srgbClr val="1F7A6B"/>
          </a:solidFill>
          <a:ln/>
        </p:spPr>
        <p:txBody>
          <a:bodyPr/>
          <a:lstStyle/>
          <a:p>
            <a:endParaRPr lang="en-US"/>
          </a:p>
        </p:txBody>
      </p:sp>
      <p:sp>
        <p:nvSpPr>
          <p:cNvPr id="475" name="Shape 473"/>
          <p:cNvSpPr/>
          <p:nvPr/>
        </p:nvSpPr>
        <p:spPr>
          <a:xfrm>
            <a:off x="8409790" y="2073128"/>
            <a:ext cx="31090" cy="31090"/>
          </a:xfrm>
          <a:prstGeom prst="ellipse">
            <a:avLst/>
          </a:prstGeom>
          <a:solidFill>
            <a:srgbClr val="1F7A6B"/>
          </a:solidFill>
          <a:ln/>
        </p:spPr>
        <p:txBody>
          <a:bodyPr/>
          <a:lstStyle/>
          <a:p>
            <a:endParaRPr lang="en-US"/>
          </a:p>
        </p:txBody>
      </p:sp>
      <p:sp>
        <p:nvSpPr>
          <p:cNvPr id="476" name="Shape 474"/>
          <p:cNvSpPr/>
          <p:nvPr/>
        </p:nvSpPr>
        <p:spPr>
          <a:xfrm>
            <a:off x="8476717" y="2071865"/>
            <a:ext cx="31090" cy="31090"/>
          </a:xfrm>
          <a:prstGeom prst="ellipse">
            <a:avLst/>
          </a:prstGeom>
          <a:solidFill>
            <a:srgbClr val="1F7A6B"/>
          </a:solidFill>
          <a:ln/>
        </p:spPr>
        <p:txBody>
          <a:bodyPr/>
          <a:lstStyle/>
          <a:p>
            <a:endParaRPr lang="en-US"/>
          </a:p>
        </p:txBody>
      </p:sp>
      <p:sp>
        <p:nvSpPr>
          <p:cNvPr id="477" name="Text 475"/>
          <p:cNvSpPr txBox="1"/>
          <p:nvPr/>
        </p:nvSpPr>
        <p:spPr>
          <a:xfrm>
            <a:off x="6210148" y="3429000"/>
            <a:ext cx="2556434" cy="274320"/>
          </a:xfrm>
          <a:prstGeom prst="rect">
            <a:avLst/>
          </a:prstGeom>
          <a:noFill/>
          <a:ln/>
        </p:spPr>
        <p:txBody>
          <a:bodyPr wrap="square" lIns="0" tIns="0" rIns="0" bIns="0" rtlCol="0" anchor="ctr"/>
          <a:lstStyle/>
          <a:p>
            <a:pPr marL="0" indent="0" algn="ctr">
              <a:buNone/>
            </a:pPr>
            <a:r>
              <a:rPr lang="en-US" sz="1050" i="1" dirty="0">
                <a:solidFill>
                  <a:srgbClr val="5B6474"/>
                </a:solidFill>
                <a:latin typeface="Calibri" pitchFamily="34" charset="0"/>
                <a:ea typeface="Calibri" pitchFamily="34" charset="-122"/>
                <a:cs typeface="Calibri" pitchFamily="34" charset="-120"/>
              </a:rPr>
              <a:t>D still separates</a:t>
            </a:r>
            <a:endParaRPr lang="en-US" sz="1050" dirty="0"/>
          </a:p>
        </p:txBody>
      </p:sp>
      <p:sp>
        <p:nvSpPr>
          <p:cNvPr id="478" name="Text 476"/>
          <p:cNvSpPr txBox="1"/>
          <p:nvPr/>
        </p:nvSpPr>
        <p:spPr>
          <a:xfrm>
            <a:off x="6347308" y="3703320"/>
            <a:ext cx="2282114" cy="411480"/>
          </a:xfrm>
          <a:prstGeom prst="rect">
            <a:avLst/>
          </a:prstGeom>
          <a:noFill/>
          <a:ln/>
        </p:spPr>
        <p:txBody>
          <a:bodyPr wrap="square" lIns="0" tIns="0" rIns="0" bIns="0" rtlCol="0" anchor="ctr"/>
          <a:lstStyle/>
          <a:p>
            <a:pPr marL="0" indent="0" algn="ctr">
              <a:lnSpc>
                <a:spcPts val="1300"/>
              </a:lnSpc>
              <a:buNone/>
            </a:pPr>
            <a:r>
              <a:rPr lang="en-US" sz="1050" dirty="0">
                <a:solidFill>
                  <a:srgbClr val="5B6474"/>
                </a:solidFill>
                <a:latin typeface="Calibri" pitchFamily="34" charset="0"/>
                <a:ea typeface="Calibri" pitchFamily="34" charset="-122"/>
                <a:cs typeface="Calibri" pitchFamily="34" charset="-120"/>
              </a:rPr>
              <a:t>the generator is still wrong</a:t>
            </a:r>
            <a:endParaRPr lang="en-US" sz="1050" dirty="0"/>
          </a:p>
        </p:txBody>
      </p:sp>
      <p:sp>
        <p:nvSpPr>
          <p:cNvPr id="479" name="Shape 477"/>
          <p:cNvSpPr/>
          <p:nvPr/>
        </p:nvSpPr>
        <p:spPr>
          <a:xfrm>
            <a:off x="8995181" y="1325880"/>
            <a:ext cx="2556434" cy="2880360"/>
          </a:xfrm>
          <a:prstGeom prst="roundRect">
            <a:avLst>
              <a:gd name="adj" fmla="val 2861"/>
            </a:avLst>
          </a:prstGeom>
          <a:solidFill>
            <a:srgbClr val="E6F2EF"/>
          </a:solidFill>
          <a:ln w="12700">
            <a:solidFill>
              <a:srgbClr val="E6F2EF"/>
            </a:solidFill>
            <a:prstDash val="solid"/>
          </a:ln>
        </p:spPr>
        <p:txBody>
          <a:bodyPr/>
          <a:lstStyle/>
          <a:p>
            <a:endParaRPr lang="en-US"/>
          </a:p>
        </p:txBody>
      </p:sp>
      <p:sp>
        <p:nvSpPr>
          <p:cNvPr id="480" name="Text 478"/>
          <p:cNvSpPr txBox="1"/>
          <p:nvPr/>
        </p:nvSpPr>
        <p:spPr>
          <a:xfrm>
            <a:off x="8995181" y="1463040"/>
            <a:ext cx="2556434" cy="310896"/>
          </a:xfrm>
          <a:prstGeom prst="rect">
            <a:avLst/>
          </a:prstGeom>
          <a:noFill/>
          <a:ln/>
        </p:spPr>
        <p:txBody>
          <a:bodyPr wrap="square" lIns="0" tIns="0" rIns="0" bIns="0" rtlCol="0" anchor="ctr"/>
          <a:lstStyle/>
          <a:p>
            <a:pPr marL="0" indent="0" algn="ctr">
              <a:buNone/>
            </a:pPr>
            <a:r>
              <a:rPr lang="en-US" sz="1400" b="1" dirty="0">
                <a:solidFill>
                  <a:srgbClr val="0E131B"/>
                </a:solidFill>
                <a:latin typeface="Cambria Math" pitchFamily="34" charset="0"/>
                <a:ea typeface="Cambria Math" pitchFamily="34" charset="-122"/>
                <a:cs typeface="Cambria Math" pitchFamily="34" charset="-120"/>
              </a:rPr>
              <a:t>(d) p_g = p_data</a:t>
            </a:r>
            <a:endParaRPr lang="en-US" sz="1400" dirty="0"/>
          </a:p>
        </p:txBody>
      </p:sp>
      <p:sp>
        <p:nvSpPr>
          <p:cNvPr id="481" name="Shape 479"/>
          <p:cNvSpPr/>
          <p:nvPr/>
        </p:nvSpPr>
        <p:spPr>
          <a:xfrm>
            <a:off x="9178061" y="3291840"/>
            <a:ext cx="2190674" cy="16459"/>
          </a:xfrm>
          <a:prstGeom prst="rect">
            <a:avLst/>
          </a:prstGeom>
          <a:solidFill>
            <a:srgbClr val="B6BECB"/>
          </a:solidFill>
          <a:ln/>
        </p:spPr>
        <p:txBody>
          <a:bodyPr/>
          <a:lstStyle/>
          <a:p>
            <a:endParaRPr lang="en-US"/>
          </a:p>
        </p:txBody>
      </p:sp>
      <p:sp>
        <p:nvSpPr>
          <p:cNvPr id="482" name="Shape 480"/>
          <p:cNvSpPr/>
          <p:nvPr/>
        </p:nvSpPr>
        <p:spPr>
          <a:xfrm>
            <a:off x="9252128" y="3274466"/>
            <a:ext cx="34747" cy="34747"/>
          </a:xfrm>
          <a:prstGeom prst="ellipse">
            <a:avLst/>
          </a:prstGeom>
          <a:solidFill>
            <a:srgbClr val="444B57"/>
          </a:solidFill>
          <a:ln/>
        </p:spPr>
        <p:txBody>
          <a:bodyPr/>
          <a:lstStyle/>
          <a:p>
            <a:endParaRPr lang="en-US"/>
          </a:p>
        </p:txBody>
      </p:sp>
      <p:sp>
        <p:nvSpPr>
          <p:cNvPr id="483" name="Shape 481"/>
          <p:cNvSpPr/>
          <p:nvPr/>
        </p:nvSpPr>
        <p:spPr>
          <a:xfrm>
            <a:off x="9285591" y="3274466"/>
            <a:ext cx="34747" cy="34747"/>
          </a:xfrm>
          <a:prstGeom prst="ellipse">
            <a:avLst/>
          </a:prstGeom>
          <a:solidFill>
            <a:srgbClr val="444B57"/>
          </a:solidFill>
          <a:ln/>
        </p:spPr>
        <p:txBody>
          <a:bodyPr/>
          <a:lstStyle/>
          <a:p>
            <a:endParaRPr lang="en-US"/>
          </a:p>
        </p:txBody>
      </p:sp>
      <p:sp>
        <p:nvSpPr>
          <p:cNvPr id="484" name="Shape 482"/>
          <p:cNvSpPr/>
          <p:nvPr/>
        </p:nvSpPr>
        <p:spPr>
          <a:xfrm>
            <a:off x="9319054" y="3274466"/>
            <a:ext cx="34747" cy="34747"/>
          </a:xfrm>
          <a:prstGeom prst="ellipse">
            <a:avLst/>
          </a:prstGeom>
          <a:solidFill>
            <a:srgbClr val="444B57"/>
          </a:solidFill>
          <a:ln/>
        </p:spPr>
        <p:txBody>
          <a:bodyPr/>
          <a:lstStyle/>
          <a:p>
            <a:endParaRPr lang="en-US"/>
          </a:p>
        </p:txBody>
      </p:sp>
      <p:sp>
        <p:nvSpPr>
          <p:cNvPr id="485" name="Shape 483"/>
          <p:cNvSpPr/>
          <p:nvPr/>
        </p:nvSpPr>
        <p:spPr>
          <a:xfrm>
            <a:off x="9352517" y="3274464"/>
            <a:ext cx="34747" cy="34747"/>
          </a:xfrm>
          <a:prstGeom prst="ellipse">
            <a:avLst/>
          </a:prstGeom>
          <a:solidFill>
            <a:srgbClr val="444B57"/>
          </a:solidFill>
          <a:ln/>
        </p:spPr>
        <p:txBody>
          <a:bodyPr/>
          <a:lstStyle/>
          <a:p>
            <a:endParaRPr lang="en-US"/>
          </a:p>
        </p:txBody>
      </p:sp>
      <p:sp>
        <p:nvSpPr>
          <p:cNvPr id="486" name="Shape 484"/>
          <p:cNvSpPr/>
          <p:nvPr/>
        </p:nvSpPr>
        <p:spPr>
          <a:xfrm>
            <a:off x="9385981" y="3274462"/>
            <a:ext cx="34747" cy="34747"/>
          </a:xfrm>
          <a:prstGeom prst="ellipse">
            <a:avLst/>
          </a:prstGeom>
          <a:solidFill>
            <a:srgbClr val="444B57"/>
          </a:solidFill>
          <a:ln/>
        </p:spPr>
        <p:txBody>
          <a:bodyPr/>
          <a:lstStyle/>
          <a:p>
            <a:endParaRPr lang="en-US"/>
          </a:p>
        </p:txBody>
      </p:sp>
      <p:sp>
        <p:nvSpPr>
          <p:cNvPr id="487" name="Shape 485"/>
          <p:cNvSpPr/>
          <p:nvPr/>
        </p:nvSpPr>
        <p:spPr>
          <a:xfrm>
            <a:off x="9419444" y="3274458"/>
            <a:ext cx="34747" cy="34747"/>
          </a:xfrm>
          <a:prstGeom prst="ellipse">
            <a:avLst/>
          </a:prstGeom>
          <a:solidFill>
            <a:srgbClr val="444B57"/>
          </a:solidFill>
          <a:ln/>
        </p:spPr>
        <p:txBody>
          <a:bodyPr/>
          <a:lstStyle/>
          <a:p>
            <a:endParaRPr lang="en-US"/>
          </a:p>
        </p:txBody>
      </p:sp>
      <p:sp>
        <p:nvSpPr>
          <p:cNvPr id="488" name="Shape 486"/>
          <p:cNvSpPr/>
          <p:nvPr/>
        </p:nvSpPr>
        <p:spPr>
          <a:xfrm>
            <a:off x="9452907" y="3274448"/>
            <a:ext cx="34747" cy="34747"/>
          </a:xfrm>
          <a:prstGeom prst="ellipse">
            <a:avLst/>
          </a:prstGeom>
          <a:solidFill>
            <a:srgbClr val="444B57"/>
          </a:solidFill>
          <a:ln/>
        </p:spPr>
        <p:txBody>
          <a:bodyPr/>
          <a:lstStyle/>
          <a:p>
            <a:endParaRPr lang="en-US"/>
          </a:p>
        </p:txBody>
      </p:sp>
      <p:sp>
        <p:nvSpPr>
          <p:cNvPr id="489" name="Shape 487"/>
          <p:cNvSpPr/>
          <p:nvPr/>
        </p:nvSpPr>
        <p:spPr>
          <a:xfrm>
            <a:off x="9486370" y="3274429"/>
            <a:ext cx="34747" cy="34747"/>
          </a:xfrm>
          <a:prstGeom prst="ellipse">
            <a:avLst/>
          </a:prstGeom>
          <a:solidFill>
            <a:srgbClr val="444B57"/>
          </a:solidFill>
          <a:ln/>
        </p:spPr>
        <p:txBody>
          <a:bodyPr/>
          <a:lstStyle/>
          <a:p>
            <a:endParaRPr lang="en-US"/>
          </a:p>
        </p:txBody>
      </p:sp>
      <p:sp>
        <p:nvSpPr>
          <p:cNvPr id="490" name="Shape 488"/>
          <p:cNvSpPr/>
          <p:nvPr/>
        </p:nvSpPr>
        <p:spPr>
          <a:xfrm>
            <a:off x="9519834" y="3274393"/>
            <a:ext cx="34747" cy="34747"/>
          </a:xfrm>
          <a:prstGeom prst="ellipse">
            <a:avLst/>
          </a:prstGeom>
          <a:solidFill>
            <a:srgbClr val="444B57"/>
          </a:solidFill>
          <a:ln/>
        </p:spPr>
        <p:txBody>
          <a:bodyPr/>
          <a:lstStyle/>
          <a:p>
            <a:endParaRPr lang="en-US"/>
          </a:p>
        </p:txBody>
      </p:sp>
      <p:sp>
        <p:nvSpPr>
          <p:cNvPr id="491" name="Shape 489"/>
          <p:cNvSpPr/>
          <p:nvPr/>
        </p:nvSpPr>
        <p:spPr>
          <a:xfrm>
            <a:off x="9553297" y="3274325"/>
            <a:ext cx="34747" cy="34747"/>
          </a:xfrm>
          <a:prstGeom prst="ellipse">
            <a:avLst/>
          </a:prstGeom>
          <a:solidFill>
            <a:srgbClr val="444B57"/>
          </a:solidFill>
          <a:ln/>
        </p:spPr>
        <p:txBody>
          <a:bodyPr/>
          <a:lstStyle/>
          <a:p>
            <a:endParaRPr lang="en-US"/>
          </a:p>
        </p:txBody>
      </p:sp>
      <p:sp>
        <p:nvSpPr>
          <p:cNvPr id="492" name="Shape 490"/>
          <p:cNvSpPr/>
          <p:nvPr/>
        </p:nvSpPr>
        <p:spPr>
          <a:xfrm>
            <a:off x="9586760" y="3274199"/>
            <a:ext cx="34747" cy="34747"/>
          </a:xfrm>
          <a:prstGeom prst="ellipse">
            <a:avLst/>
          </a:prstGeom>
          <a:solidFill>
            <a:srgbClr val="444B57"/>
          </a:solidFill>
          <a:ln/>
        </p:spPr>
        <p:txBody>
          <a:bodyPr/>
          <a:lstStyle/>
          <a:p>
            <a:endParaRPr lang="en-US"/>
          </a:p>
        </p:txBody>
      </p:sp>
      <p:sp>
        <p:nvSpPr>
          <p:cNvPr id="493" name="Shape 491"/>
          <p:cNvSpPr/>
          <p:nvPr/>
        </p:nvSpPr>
        <p:spPr>
          <a:xfrm>
            <a:off x="9620223" y="3273973"/>
            <a:ext cx="34747" cy="34747"/>
          </a:xfrm>
          <a:prstGeom prst="ellipse">
            <a:avLst/>
          </a:prstGeom>
          <a:solidFill>
            <a:srgbClr val="444B57"/>
          </a:solidFill>
          <a:ln/>
        </p:spPr>
        <p:txBody>
          <a:bodyPr/>
          <a:lstStyle/>
          <a:p>
            <a:endParaRPr lang="en-US"/>
          </a:p>
        </p:txBody>
      </p:sp>
      <p:sp>
        <p:nvSpPr>
          <p:cNvPr id="494" name="Shape 492"/>
          <p:cNvSpPr/>
          <p:nvPr/>
        </p:nvSpPr>
        <p:spPr>
          <a:xfrm>
            <a:off x="9653687" y="3273577"/>
            <a:ext cx="34747" cy="34747"/>
          </a:xfrm>
          <a:prstGeom prst="ellipse">
            <a:avLst/>
          </a:prstGeom>
          <a:solidFill>
            <a:srgbClr val="444B57"/>
          </a:solidFill>
          <a:ln/>
        </p:spPr>
        <p:txBody>
          <a:bodyPr/>
          <a:lstStyle/>
          <a:p>
            <a:endParaRPr lang="en-US"/>
          </a:p>
        </p:txBody>
      </p:sp>
      <p:sp>
        <p:nvSpPr>
          <p:cNvPr id="495" name="Shape 493"/>
          <p:cNvSpPr/>
          <p:nvPr/>
        </p:nvSpPr>
        <p:spPr>
          <a:xfrm>
            <a:off x="9687150" y="3272898"/>
            <a:ext cx="34747" cy="34747"/>
          </a:xfrm>
          <a:prstGeom prst="ellipse">
            <a:avLst/>
          </a:prstGeom>
          <a:solidFill>
            <a:srgbClr val="444B57"/>
          </a:solidFill>
          <a:ln/>
        </p:spPr>
        <p:txBody>
          <a:bodyPr/>
          <a:lstStyle/>
          <a:p>
            <a:endParaRPr lang="en-US"/>
          </a:p>
        </p:txBody>
      </p:sp>
      <p:sp>
        <p:nvSpPr>
          <p:cNvPr id="496" name="Shape 494"/>
          <p:cNvSpPr/>
          <p:nvPr/>
        </p:nvSpPr>
        <p:spPr>
          <a:xfrm>
            <a:off x="9720613" y="3271764"/>
            <a:ext cx="34747" cy="34747"/>
          </a:xfrm>
          <a:prstGeom prst="ellipse">
            <a:avLst/>
          </a:prstGeom>
          <a:solidFill>
            <a:srgbClr val="444B57"/>
          </a:solidFill>
          <a:ln/>
        </p:spPr>
        <p:txBody>
          <a:bodyPr/>
          <a:lstStyle/>
          <a:p>
            <a:endParaRPr lang="en-US"/>
          </a:p>
        </p:txBody>
      </p:sp>
      <p:sp>
        <p:nvSpPr>
          <p:cNvPr id="497" name="Shape 495"/>
          <p:cNvSpPr/>
          <p:nvPr/>
        </p:nvSpPr>
        <p:spPr>
          <a:xfrm>
            <a:off x="9754076" y="3269915"/>
            <a:ext cx="34747" cy="34747"/>
          </a:xfrm>
          <a:prstGeom prst="ellipse">
            <a:avLst/>
          </a:prstGeom>
          <a:solidFill>
            <a:srgbClr val="444B57"/>
          </a:solidFill>
          <a:ln/>
        </p:spPr>
        <p:txBody>
          <a:bodyPr/>
          <a:lstStyle/>
          <a:p>
            <a:endParaRPr lang="en-US"/>
          </a:p>
        </p:txBody>
      </p:sp>
      <p:sp>
        <p:nvSpPr>
          <p:cNvPr id="498" name="Shape 496"/>
          <p:cNvSpPr/>
          <p:nvPr/>
        </p:nvSpPr>
        <p:spPr>
          <a:xfrm>
            <a:off x="9787539" y="3266976"/>
            <a:ext cx="34747" cy="34747"/>
          </a:xfrm>
          <a:prstGeom prst="ellipse">
            <a:avLst/>
          </a:prstGeom>
          <a:solidFill>
            <a:srgbClr val="444B57"/>
          </a:solidFill>
          <a:ln/>
        </p:spPr>
        <p:txBody>
          <a:bodyPr/>
          <a:lstStyle/>
          <a:p>
            <a:endParaRPr lang="en-US"/>
          </a:p>
        </p:txBody>
      </p:sp>
      <p:sp>
        <p:nvSpPr>
          <p:cNvPr id="499" name="Shape 497"/>
          <p:cNvSpPr/>
          <p:nvPr/>
        </p:nvSpPr>
        <p:spPr>
          <a:xfrm>
            <a:off x="9821003" y="3262420"/>
            <a:ext cx="34747" cy="34747"/>
          </a:xfrm>
          <a:prstGeom prst="ellipse">
            <a:avLst/>
          </a:prstGeom>
          <a:solidFill>
            <a:srgbClr val="444B57"/>
          </a:solidFill>
          <a:ln/>
        </p:spPr>
        <p:txBody>
          <a:bodyPr/>
          <a:lstStyle/>
          <a:p>
            <a:endParaRPr lang="en-US"/>
          </a:p>
        </p:txBody>
      </p:sp>
      <p:sp>
        <p:nvSpPr>
          <p:cNvPr id="500" name="Shape 498"/>
          <p:cNvSpPr/>
          <p:nvPr/>
        </p:nvSpPr>
        <p:spPr>
          <a:xfrm>
            <a:off x="9854466" y="3255531"/>
            <a:ext cx="34747" cy="34747"/>
          </a:xfrm>
          <a:prstGeom prst="ellipse">
            <a:avLst/>
          </a:prstGeom>
          <a:solidFill>
            <a:srgbClr val="444B57"/>
          </a:solidFill>
          <a:ln/>
        </p:spPr>
        <p:txBody>
          <a:bodyPr/>
          <a:lstStyle/>
          <a:p>
            <a:endParaRPr lang="en-US"/>
          </a:p>
        </p:txBody>
      </p:sp>
      <p:sp>
        <p:nvSpPr>
          <p:cNvPr id="501" name="Shape 499"/>
          <p:cNvSpPr/>
          <p:nvPr/>
        </p:nvSpPr>
        <p:spPr>
          <a:xfrm>
            <a:off x="9887929" y="3245378"/>
            <a:ext cx="34747" cy="34747"/>
          </a:xfrm>
          <a:prstGeom prst="ellipse">
            <a:avLst/>
          </a:prstGeom>
          <a:solidFill>
            <a:srgbClr val="444B57"/>
          </a:solidFill>
          <a:ln/>
        </p:spPr>
        <p:txBody>
          <a:bodyPr/>
          <a:lstStyle/>
          <a:p>
            <a:endParaRPr lang="en-US"/>
          </a:p>
        </p:txBody>
      </p:sp>
      <p:sp>
        <p:nvSpPr>
          <p:cNvPr id="502" name="Shape 500"/>
          <p:cNvSpPr/>
          <p:nvPr/>
        </p:nvSpPr>
        <p:spPr>
          <a:xfrm>
            <a:off x="9921392" y="3230796"/>
            <a:ext cx="34747" cy="34747"/>
          </a:xfrm>
          <a:prstGeom prst="ellipse">
            <a:avLst/>
          </a:prstGeom>
          <a:solidFill>
            <a:srgbClr val="444B57"/>
          </a:solidFill>
          <a:ln/>
        </p:spPr>
        <p:txBody>
          <a:bodyPr/>
          <a:lstStyle/>
          <a:p>
            <a:endParaRPr lang="en-US"/>
          </a:p>
        </p:txBody>
      </p:sp>
      <p:sp>
        <p:nvSpPr>
          <p:cNvPr id="503" name="Shape 501"/>
          <p:cNvSpPr/>
          <p:nvPr/>
        </p:nvSpPr>
        <p:spPr>
          <a:xfrm>
            <a:off x="9954856" y="3210392"/>
            <a:ext cx="34747" cy="34747"/>
          </a:xfrm>
          <a:prstGeom prst="ellipse">
            <a:avLst/>
          </a:prstGeom>
          <a:solidFill>
            <a:srgbClr val="444B57"/>
          </a:solidFill>
          <a:ln/>
        </p:spPr>
        <p:txBody>
          <a:bodyPr/>
          <a:lstStyle/>
          <a:p>
            <a:endParaRPr lang="en-US"/>
          </a:p>
        </p:txBody>
      </p:sp>
      <p:sp>
        <p:nvSpPr>
          <p:cNvPr id="504" name="Shape 502"/>
          <p:cNvSpPr/>
          <p:nvPr/>
        </p:nvSpPr>
        <p:spPr>
          <a:xfrm>
            <a:off x="9988319" y="3182588"/>
            <a:ext cx="34747" cy="34747"/>
          </a:xfrm>
          <a:prstGeom prst="ellipse">
            <a:avLst/>
          </a:prstGeom>
          <a:solidFill>
            <a:srgbClr val="444B57"/>
          </a:solidFill>
          <a:ln/>
        </p:spPr>
        <p:txBody>
          <a:bodyPr/>
          <a:lstStyle/>
          <a:p>
            <a:endParaRPr lang="en-US"/>
          </a:p>
        </p:txBody>
      </p:sp>
      <p:sp>
        <p:nvSpPr>
          <p:cNvPr id="505" name="Shape 503"/>
          <p:cNvSpPr/>
          <p:nvPr/>
        </p:nvSpPr>
        <p:spPr>
          <a:xfrm>
            <a:off x="10021782" y="3145709"/>
            <a:ext cx="34747" cy="34747"/>
          </a:xfrm>
          <a:prstGeom prst="ellipse">
            <a:avLst/>
          </a:prstGeom>
          <a:solidFill>
            <a:srgbClr val="444B57"/>
          </a:solidFill>
          <a:ln/>
        </p:spPr>
        <p:txBody>
          <a:bodyPr/>
          <a:lstStyle/>
          <a:p>
            <a:endParaRPr lang="en-US"/>
          </a:p>
        </p:txBody>
      </p:sp>
      <p:sp>
        <p:nvSpPr>
          <p:cNvPr id="506" name="Shape 504"/>
          <p:cNvSpPr/>
          <p:nvPr/>
        </p:nvSpPr>
        <p:spPr>
          <a:xfrm>
            <a:off x="10055245" y="3098122"/>
            <a:ext cx="34747" cy="34747"/>
          </a:xfrm>
          <a:prstGeom prst="ellipse">
            <a:avLst/>
          </a:prstGeom>
          <a:solidFill>
            <a:srgbClr val="444B57"/>
          </a:solidFill>
          <a:ln/>
        </p:spPr>
        <p:txBody>
          <a:bodyPr/>
          <a:lstStyle/>
          <a:p>
            <a:endParaRPr lang="en-US"/>
          </a:p>
        </p:txBody>
      </p:sp>
      <p:sp>
        <p:nvSpPr>
          <p:cNvPr id="507" name="Shape 505"/>
          <p:cNvSpPr/>
          <p:nvPr/>
        </p:nvSpPr>
        <p:spPr>
          <a:xfrm>
            <a:off x="10088709" y="3038429"/>
            <a:ext cx="34747" cy="34747"/>
          </a:xfrm>
          <a:prstGeom prst="ellipse">
            <a:avLst/>
          </a:prstGeom>
          <a:solidFill>
            <a:srgbClr val="444B57"/>
          </a:solidFill>
          <a:ln/>
        </p:spPr>
        <p:txBody>
          <a:bodyPr/>
          <a:lstStyle/>
          <a:p>
            <a:endParaRPr lang="en-US"/>
          </a:p>
        </p:txBody>
      </p:sp>
      <p:sp>
        <p:nvSpPr>
          <p:cNvPr id="508" name="Shape 506"/>
          <p:cNvSpPr/>
          <p:nvPr/>
        </p:nvSpPr>
        <p:spPr>
          <a:xfrm>
            <a:off x="10122172" y="2965699"/>
            <a:ext cx="34747" cy="34747"/>
          </a:xfrm>
          <a:prstGeom prst="ellipse">
            <a:avLst/>
          </a:prstGeom>
          <a:solidFill>
            <a:srgbClr val="444B57"/>
          </a:solidFill>
          <a:ln/>
        </p:spPr>
        <p:txBody>
          <a:bodyPr/>
          <a:lstStyle/>
          <a:p>
            <a:endParaRPr lang="en-US"/>
          </a:p>
        </p:txBody>
      </p:sp>
      <p:sp>
        <p:nvSpPr>
          <p:cNvPr id="509" name="Shape 507"/>
          <p:cNvSpPr/>
          <p:nvPr/>
        </p:nvSpPr>
        <p:spPr>
          <a:xfrm>
            <a:off x="10155635" y="2879727"/>
            <a:ext cx="34747" cy="34747"/>
          </a:xfrm>
          <a:prstGeom prst="ellipse">
            <a:avLst/>
          </a:prstGeom>
          <a:solidFill>
            <a:srgbClr val="444B57"/>
          </a:solidFill>
          <a:ln/>
        </p:spPr>
        <p:txBody>
          <a:bodyPr/>
          <a:lstStyle/>
          <a:p>
            <a:endParaRPr lang="en-US"/>
          </a:p>
        </p:txBody>
      </p:sp>
      <p:sp>
        <p:nvSpPr>
          <p:cNvPr id="510" name="Shape 508"/>
          <p:cNvSpPr/>
          <p:nvPr/>
        </p:nvSpPr>
        <p:spPr>
          <a:xfrm>
            <a:off x="10189098" y="2781271"/>
            <a:ext cx="34747" cy="34747"/>
          </a:xfrm>
          <a:prstGeom prst="ellipse">
            <a:avLst/>
          </a:prstGeom>
          <a:solidFill>
            <a:srgbClr val="444B57"/>
          </a:solidFill>
          <a:ln/>
        </p:spPr>
        <p:txBody>
          <a:bodyPr/>
          <a:lstStyle/>
          <a:p>
            <a:endParaRPr lang="en-US"/>
          </a:p>
        </p:txBody>
      </p:sp>
      <p:sp>
        <p:nvSpPr>
          <p:cNvPr id="511" name="Shape 509"/>
          <p:cNvSpPr/>
          <p:nvPr/>
        </p:nvSpPr>
        <p:spPr>
          <a:xfrm>
            <a:off x="10222561" y="2672242"/>
            <a:ext cx="34747" cy="34747"/>
          </a:xfrm>
          <a:prstGeom prst="ellipse">
            <a:avLst/>
          </a:prstGeom>
          <a:solidFill>
            <a:srgbClr val="444B57"/>
          </a:solidFill>
          <a:ln/>
        </p:spPr>
        <p:txBody>
          <a:bodyPr/>
          <a:lstStyle/>
          <a:p>
            <a:endParaRPr lang="en-US"/>
          </a:p>
        </p:txBody>
      </p:sp>
      <p:sp>
        <p:nvSpPr>
          <p:cNvPr id="512" name="Shape 510"/>
          <p:cNvSpPr/>
          <p:nvPr/>
        </p:nvSpPr>
        <p:spPr>
          <a:xfrm>
            <a:off x="10256025" y="2555799"/>
            <a:ext cx="34747" cy="34747"/>
          </a:xfrm>
          <a:prstGeom prst="ellipse">
            <a:avLst/>
          </a:prstGeom>
          <a:solidFill>
            <a:srgbClr val="444B57"/>
          </a:solidFill>
          <a:ln/>
        </p:spPr>
        <p:txBody>
          <a:bodyPr/>
          <a:lstStyle/>
          <a:p>
            <a:endParaRPr lang="en-US"/>
          </a:p>
        </p:txBody>
      </p:sp>
      <p:sp>
        <p:nvSpPr>
          <p:cNvPr id="513" name="Shape 511"/>
          <p:cNvSpPr/>
          <p:nvPr/>
        </p:nvSpPr>
        <p:spPr>
          <a:xfrm>
            <a:off x="10289488" y="2436306"/>
            <a:ext cx="34747" cy="34747"/>
          </a:xfrm>
          <a:prstGeom prst="ellipse">
            <a:avLst/>
          </a:prstGeom>
          <a:solidFill>
            <a:srgbClr val="444B57"/>
          </a:solidFill>
          <a:ln/>
        </p:spPr>
        <p:txBody>
          <a:bodyPr/>
          <a:lstStyle/>
          <a:p>
            <a:endParaRPr lang="en-US"/>
          </a:p>
        </p:txBody>
      </p:sp>
      <p:sp>
        <p:nvSpPr>
          <p:cNvPr id="514" name="Shape 512"/>
          <p:cNvSpPr/>
          <p:nvPr/>
        </p:nvSpPr>
        <p:spPr>
          <a:xfrm>
            <a:off x="10322951" y="2319130"/>
            <a:ext cx="34747" cy="34747"/>
          </a:xfrm>
          <a:prstGeom prst="ellipse">
            <a:avLst/>
          </a:prstGeom>
          <a:solidFill>
            <a:srgbClr val="444B57"/>
          </a:solidFill>
          <a:ln/>
        </p:spPr>
        <p:txBody>
          <a:bodyPr/>
          <a:lstStyle/>
          <a:p>
            <a:endParaRPr lang="en-US"/>
          </a:p>
        </p:txBody>
      </p:sp>
      <p:sp>
        <p:nvSpPr>
          <p:cNvPr id="515" name="Shape 513"/>
          <p:cNvSpPr/>
          <p:nvPr/>
        </p:nvSpPr>
        <p:spPr>
          <a:xfrm>
            <a:off x="10356414" y="2210286"/>
            <a:ext cx="34747" cy="34747"/>
          </a:xfrm>
          <a:prstGeom prst="ellipse">
            <a:avLst/>
          </a:prstGeom>
          <a:solidFill>
            <a:srgbClr val="444B57"/>
          </a:solidFill>
          <a:ln/>
        </p:spPr>
        <p:txBody>
          <a:bodyPr/>
          <a:lstStyle/>
          <a:p>
            <a:endParaRPr lang="en-US"/>
          </a:p>
        </p:txBody>
      </p:sp>
      <p:sp>
        <p:nvSpPr>
          <p:cNvPr id="516" name="Shape 514"/>
          <p:cNvSpPr/>
          <p:nvPr/>
        </p:nvSpPr>
        <p:spPr>
          <a:xfrm>
            <a:off x="10389878" y="2115944"/>
            <a:ext cx="34747" cy="34747"/>
          </a:xfrm>
          <a:prstGeom prst="ellipse">
            <a:avLst/>
          </a:prstGeom>
          <a:solidFill>
            <a:srgbClr val="444B57"/>
          </a:solidFill>
          <a:ln/>
        </p:spPr>
        <p:txBody>
          <a:bodyPr/>
          <a:lstStyle/>
          <a:p>
            <a:endParaRPr lang="en-US"/>
          </a:p>
        </p:txBody>
      </p:sp>
      <p:sp>
        <p:nvSpPr>
          <p:cNvPr id="517" name="Shape 515"/>
          <p:cNvSpPr/>
          <p:nvPr/>
        </p:nvSpPr>
        <p:spPr>
          <a:xfrm>
            <a:off x="10423341" y="2041862"/>
            <a:ext cx="34747" cy="34747"/>
          </a:xfrm>
          <a:prstGeom prst="ellipse">
            <a:avLst/>
          </a:prstGeom>
          <a:solidFill>
            <a:srgbClr val="444B57"/>
          </a:solidFill>
          <a:ln/>
        </p:spPr>
        <p:txBody>
          <a:bodyPr/>
          <a:lstStyle/>
          <a:p>
            <a:endParaRPr lang="en-US"/>
          </a:p>
        </p:txBody>
      </p:sp>
      <p:sp>
        <p:nvSpPr>
          <p:cNvPr id="518" name="Shape 516"/>
          <p:cNvSpPr/>
          <p:nvPr/>
        </p:nvSpPr>
        <p:spPr>
          <a:xfrm>
            <a:off x="10456804" y="1992807"/>
            <a:ext cx="34747" cy="34747"/>
          </a:xfrm>
          <a:prstGeom prst="ellipse">
            <a:avLst/>
          </a:prstGeom>
          <a:solidFill>
            <a:srgbClr val="444B57"/>
          </a:solidFill>
          <a:ln/>
        </p:spPr>
        <p:txBody>
          <a:bodyPr/>
          <a:lstStyle/>
          <a:p>
            <a:endParaRPr lang="en-US"/>
          </a:p>
        </p:txBody>
      </p:sp>
      <p:sp>
        <p:nvSpPr>
          <p:cNvPr id="519" name="Shape 517"/>
          <p:cNvSpPr/>
          <p:nvPr/>
        </p:nvSpPr>
        <p:spPr>
          <a:xfrm>
            <a:off x="10490267" y="1972045"/>
            <a:ext cx="34747" cy="34747"/>
          </a:xfrm>
          <a:prstGeom prst="ellipse">
            <a:avLst/>
          </a:prstGeom>
          <a:solidFill>
            <a:srgbClr val="444B57"/>
          </a:solidFill>
          <a:ln/>
        </p:spPr>
        <p:txBody>
          <a:bodyPr/>
          <a:lstStyle/>
          <a:p>
            <a:endParaRPr lang="en-US"/>
          </a:p>
        </p:txBody>
      </p:sp>
      <p:sp>
        <p:nvSpPr>
          <p:cNvPr id="520" name="Shape 518"/>
          <p:cNvSpPr/>
          <p:nvPr/>
        </p:nvSpPr>
        <p:spPr>
          <a:xfrm>
            <a:off x="10523731" y="1980984"/>
            <a:ext cx="34747" cy="34747"/>
          </a:xfrm>
          <a:prstGeom prst="ellipse">
            <a:avLst/>
          </a:prstGeom>
          <a:solidFill>
            <a:srgbClr val="444B57"/>
          </a:solidFill>
          <a:ln/>
        </p:spPr>
        <p:txBody>
          <a:bodyPr/>
          <a:lstStyle/>
          <a:p>
            <a:endParaRPr lang="en-US"/>
          </a:p>
        </p:txBody>
      </p:sp>
      <p:sp>
        <p:nvSpPr>
          <p:cNvPr id="521" name="Shape 519"/>
          <p:cNvSpPr/>
          <p:nvPr/>
        </p:nvSpPr>
        <p:spPr>
          <a:xfrm>
            <a:off x="10557194" y="2019016"/>
            <a:ext cx="34747" cy="34747"/>
          </a:xfrm>
          <a:prstGeom prst="ellipse">
            <a:avLst/>
          </a:prstGeom>
          <a:solidFill>
            <a:srgbClr val="444B57"/>
          </a:solidFill>
          <a:ln/>
        </p:spPr>
        <p:txBody>
          <a:bodyPr/>
          <a:lstStyle/>
          <a:p>
            <a:endParaRPr lang="en-US"/>
          </a:p>
        </p:txBody>
      </p:sp>
      <p:sp>
        <p:nvSpPr>
          <p:cNvPr id="522" name="Shape 520"/>
          <p:cNvSpPr/>
          <p:nvPr/>
        </p:nvSpPr>
        <p:spPr>
          <a:xfrm>
            <a:off x="10590657" y="2083585"/>
            <a:ext cx="34747" cy="34747"/>
          </a:xfrm>
          <a:prstGeom prst="ellipse">
            <a:avLst/>
          </a:prstGeom>
          <a:solidFill>
            <a:srgbClr val="444B57"/>
          </a:solidFill>
          <a:ln/>
        </p:spPr>
        <p:txBody>
          <a:bodyPr/>
          <a:lstStyle/>
          <a:p>
            <a:endParaRPr lang="en-US"/>
          </a:p>
        </p:txBody>
      </p:sp>
      <p:sp>
        <p:nvSpPr>
          <p:cNvPr id="523" name="Shape 521"/>
          <p:cNvSpPr/>
          <p:nvPr/>
        </p:nvSpPr>
        <p:spPr>
          <a:xfrm>
            <a:off x="10624120" y="2170470"/>
            <a:ext cx="34747" cy="34747"/>
          </a:xfrm>
          <a:prstGeom prst="ellipse">
            <a:avLst/>
          </a:prstGeom>
          <a:solidFill>
            <a:srgbClr val="444B57"/>
          </a:solidFill>
          <a:ln/>
        </p:spPr>
        <p:txBody>
          <a:bodyPr/>
          <a:lstStyle/>
          <a:p>
            <a:endParaRPr lang="en-US"/>
          </a:p>
        </p:txBody>
      </p:sp>
      <p:sp>
        <p:nvSpPr>
          <p:cNvPr id="524" name="Shape 522"/>
          <p:cNvSpPr/>
          <p:nvPr/>
        </p:nvSpPr>
        <p:spPr>
          <a:xfrm>
            <a:off x="10657583" y="2274245"/>
            <a:ext cx="34747" cy="34747"/>
          </a:xfrm>
          <a:prstGeom prst="ellipse">
            <a:avLst/>
          </a:prstGeom>
          <a:solidFill>
            <a:srgbClr val="444B57"/>
          </a:solidFill>
          <a:ln/>
        </p:spPr>
        <p:txBody>
          <a:bodyPr/>
          <a:lstStyle/>
          <a:p>
            <a:endParaRPr lang="en-US"/>
          </a:p>
        </p:txBody>
      </p:sp>
      <p:sp>
        <p:nvSpPr>
          <p:cNvPr id="525" name="Shape 523"/>
          <p:cNvSpPr/>
          <p:nvPr/>
        </p:nvSpPr>
        <p:spPr>
          <a:xfrm>
            <a:off x="10691047" y="2388831"/>
            <a:ext cx="34747" cy="34747"/>
          </a:xfrm>
          <a:prstGeom prst="ellipse">
            <a:avLst/>
          </a:prstGeom>
          <a:solidFill>
            <a:srgbClr val="444B57"/>
          </a:solidFill>
          <a:ln/>
        </p:spPr>
        <p:txBody>
          <a:bodyPr/>
          <a:lstStyle/>
          <a:p>
            <a:endParaRPr lang="en-US"/>
          </a:p>
        </p:txBody>
      </p:sp>
      <p:sp>
        <p:nvSpPr>
          <p:cNvPr id="526" name="Shape 524"/>
          <p:cNvSpPr/>
          <p:nvPr/>
        </p:nvSpPr>
        <p:spPr>
          <a:xfrm>
            <a:off x="10724510" y="2508087"/>
            <a:ext cx="34747" cy="34747"/>
          </a:xfrm>
          <a:prstGeom prst="ellipse">
            <a:avLst/>
          </a:prstGeom>
          <a:solidFill>
            <a:srgbClr val="444B57"/>
          </a:solidFill>
          <a:ln/>
        </p:spPr>
        <p:txBody>
          <a:bodyPr/>
          <a:lstStyle/>
          <a:p>
            <a:endParaRPr lang="en-US"/>
          </a:p>
        </p:txBody>
      </p:sp>
      <p:sp>
        <p:nvSpPr>
          <p:cNvPr id="527" name="Shape 525"/>
          <p:cNvSpPr/>
          <p:nvPr/>
        </p:nvSpPr>
        <p:spPr>
          <a:xfrm>
            <a:off x="10757973" y="2626335"/>
            <a:ext cx="34747" cy="34747"/>
          </a:xfrm>
          <a:prstGeom prst="ellipse">
            <a:avLst/>
          </a:prstGeom>
          <a:solidFill>
            <a:srgbClr val="444B57"/>
          </a:solidFill>
          <a:ln/>
        </p:spPr>
        <p:txBody>
          <a:bodyPr/>
          <a:lstStyle/>
          <a:p>
            <a:endParaRPr lang="en-US"/>
          </a:p>
        </p:txBody>
      </p:sp>
      <p:sp>
        <p:nvSpPr>
          <p:cNvPr id="528" name="Shape 526"/>
          <p:cNvSpPr/>
          <p:nvPr/>
        </p:nvSpPr>
        <p:spPr>
          <a:xfrm>
            <a:off x="10791436" y="2738779"/>
            <a:ext cx="34747" cy="34747"/>
          </a:xfrm>
          <a:prstGeom prst="ellipse">
            <a:avLst/>
          </a:prstGeom>
          <a:solidFill>
            <a:srgbClr val="444B57"/>
          </a:solidFill>
          <a:ln/>
        </p:spPr>
        <p:txBody>
          <a:bodyPr/>
          <a:lstStyle/>
          <a:p>
            <a:endParaRPr lang="en-US"/>
          </a:p>
        </p:txBody>
      </p:sp>
      <p:sp>
        <p:nvSpPr>
          <p:cNvPr id="529" name="Shape 527"/>
          <p:cNvSpPr/>
          <p:nvPr/>
        </p:nvSpPr>
        <p:spPr>
          <a:xfrm>
            <a:off x="10824900" y="2841763"/>
            <a:ext cx="34747" cy="34747"/>
          </a:xfrm>
          <a:prstGeom prst="ellipse">
            <a:avLst/>
          </a:prstGeom>
          <a:solidFill>
            <a:srgbClr val="444B57"/>
          </a:solidFill>
          <a:ln/>
        </p:spPr>
        <p:txBody>
          <a:bodyPr/>
          <a:lstStyle/>
          <a:p>
            <a:endParaRPr lang="en-US"/>
          </a:p>
        </p:txBody>
      </p:sp>
      <p:sp>
        <p:nvSpPr>
          <p:cNvPr id="530" name="Shape 528"/>
          <p:cNvSpPr/>
          <p:nvPr/>
        </p:nvSpPr>
        <p:spPr>
          <a:xfrm>
            <a:off x="10858363" y="2932881"/>
            <a:ext cx="34747" cy="34747"/>
          </a:xfrm>
          <a:prstGeom prst="ellipse">
            <a:avLst/>
          </a:prstGeom>
          <a:solidFill>
            <a:srgbClr val="444B57"/>
          </a:solidFill>
          <a:ln/>
        </p:spPr>
        <p:txBody>
          <a:bodyPr/>
          <a:lstStyle/>
          <a:p>
            <a:endParaRPr lang="en-US"/>
          </a:p>
        </p:txBody>
      </p:sp>
      <p:sp>
        <p:nvSpPr>
          <p:cNvPr id="531" name="Shape 529"/>
          <p:cNvSpPr/>
          <p:nvPr/>
        </p:nvSpPr>
        <p:spPr>
          <a:xfrm>
            <a:off x="10891826" y="3010932"/>
            <a:ext cx="34747" cy="34747"/>
          </a:xfrm>
          <a:prstGeom prst="ellipse">
            <a:avLst/>
          </a:prstGeom>
          <a:solidFill>
            <a:srgbClr val="444B57"/>
          </a:solidFill>
          <a:ln/>
        </p:spPr>
        <p:txBody>
          <a:bodyPr/>
          <a:lstStyle/>
          <a:p>
            <a:endParaRPr lang="en-US"/>
          </a:p>
        </p:txBody>
      </p:sp>
      <p:sp>
        <p:nvSpPr>
          <p:cNvPr id="532" name="Shape 530"/>
          <p:cNvSpPr/>
          <p:nvPr/>
        </p:nvSpPr>
        <p:spPr>
          <a:xfrm>
            <a:off x="10925289" y="3075763"/>
            <a:ext cx="34747" cy="34747"/>
          </a:xfrm>
          <a:prstGeom prst="ellipse">
            <a:avLst/>
          </a:prstGeom>
          <a:solidFill>
            <a:srgbClr val="444B57"/>
          </a:solidFill>
          <a:ln/>
        </p:spPr>
        <p:txBody>
          <a:bodyPr/>
          <a:lstStyle/>
          <a:p>
            <a:endParaRPr lang="en-US"/>
          </a:p>
        </p:txBody>
      </p:sp>
      <p:sp>
        <p:nvSpPr>
          <p:cNvPr id="533" name="Shape 531"/>
          <p:cNvSpPr/>
          <p:nvPr/>
        </p:nvSpPr>
        <p:spPr>
          <a:xfrm>
            <a:off x="10958753" y="3128045"/>
            <a:ext cx="34747" cy="34747"/>
          </a:xfrm>
          <a:prstGeom prst="ellipse">
            <a:avLst/>
          </a:prstGeom>
          <a:solidFill>
            <a:srgbClr val="444B57"/>
          </a:solidFill>
          <a:ln/>
        </p:spPr>
        <p:txBody>
          <a:bodyPr/>
          <a:lstStyle/>
          <a:p>
            <a:endParaRPr lang="en-US"/>
          </a:p>
        </p:txBody>
      </p:sp>
      <p:sp>
        <p:nvSpPr>
          <p:cNvPr id="534" name="Shape 532"/>
          <p:cNvSpPr/>
          <p:nvPr/>
        </p:nvSpPr>
        <p:spPr>
          <a:xfrm>
            <a:off x="10992216" y="3169020"/>
            <a:ext cx="34747" cy="34747"/>
          </a:xfrm>
          <a:prstGeom prst="ellipse">
            <a:avLst/>
          </a:prstGeom>
          <a:solidFill>
            <a:srgbClr val="444B57"/>
          </a:solidFill>
          <a:ln/>
        </p:spPr>
        <p:txBody>
          <a:bodyPr/>
          <a:lstStyle/>
          <a:p>
            <a:endParaRPr lang="en-US"/>
          </a:p>
        </p:txBody>
      </p:sp>
      <p:sp>
        <p:nvSpPr>
          <p:cNvPr id="535" name="Shape 533"/>
          <p:cNvSpPr/>
          <p:nvPr/>
        </p:nvSpPr>
        <p:spPr>
          <a:xfrm>
            <a:off x="11025679" y="3200251"/>
            <a:ext cx="34747" cy="34747"/>
          </a:xfrm>
          <a:prstGeom prst="ellipse">
            <a:avLst/>
          </a:prstGeom>
          <a:solidFill>
            <a:srgbClr val="444B57"/>
          </a:solidFill>
          <a:ln/>
        </p:spPr>
        <p:txBody>
          <a:bodyPr/>
          <a:lstStyle/>
          <a:p>
            <a:endParaRPr lang="en-US"/>
          </a:p>
        </p:txBody>
      </p:sp>
      <p:sp>
        <p:nvSpPr>
          <p:cNvPr id="536" name="Shape 534"/>
          <p:cNvSpPr/>
          <p:nvPr/>
        </p:nvSpPr>
        <p:spPr>
          <a:xfrm>
            <a:off x="11059142" y="3223418"/>
            <a:ext cx="34747" cy="34747"/>
          </a:xfrm>
          <a:prstGeom prst="ellipse">
            <a:avLst/>
          </a:prstGeom>
          <a:solidFill>
            <a:srgbClr val="444B57"/>
          </a:solidFill>
          <a:ln/>
        </p:spPr>
        <p:txBody>
          <a:bodyPr/>
          <a:lstStyle/>
          <a:p>
            <a:endParaRPr lang="en-US"/>
          </a:p>
        </p:txBody>
      </p:sp>
      <p:sp>
        <p:nvSpPr>
          <p:cNvPr id="537" name="Shape 535"/>
          <p:cNvSpPr/>
          <p:nvPr/>
        </p:nvSpPr>
        <p:spPr>
          <a:xfrm>
            <a:off x="11092605" y="3240150"/>
            <a:ext cx="34747" cy="34747"/>
          </a:xfrm>
          <a:prstGeom prst="ellipse">
            <a:avLst/>
          </a:prstGeom>
          <a:solidFill>
            <a:srgbClr val="444B57"/>
          </a:solidFill>
          <a:ln/>
        </p:spPr>
        <p:txBody>
          <a:bodyPr/>
          <a:lstStyle/>
          <a:p>
            <a:endParaRPr lang="en-US"/>
          </a:p>
        </p:txBody>
      </p:sp>
      <p:sp>
        <p:nvSpPr>
          <p:cNvPr id="538" name="Shape 536"/>
          <p:cNvSpPr/>
          <p:nvPr/>
        </p:nvSpPr>
        <p:spPr>
          <a:xfrm>
            <a:off x="11126069" y="3251922"/>
            <a:ext cx="34747" cy="34747"/>
          </a:xfrm>
          <a:prstGeom prst="ellipse">
            <a:avLst/>
          </a:prstGeom>
          <a:solidFill>
            <a:srgbClr val="444B57"/>
          </a:solidFill>
          <a:ln/>
        </p:spPr>
        <p:txBody>
          <a:bodyPr/>
          <a:lstStyle/>
          <a:p>
            <a:endParaRPr lang="en-US"/>
          </a:p>
        </p:txBody>
      </p:sp>
      <p:sp>
        <p:nvSpPr>
          <p:cNvPr id="539" name="Shape 537"/>
          <p:cNvSpPr/>
          <p:nvPr/>
        </p:nvSpPr>
        <p:spPr>
          <a:xfrm>
            <a:off x="11159532" y="3259991"/>
            <a:ext cx="34747" cy="34747"/>
          </a:xfrm>
          <a:prstGeom prst="ellipse">
            <a:avLst/>
          </a:prstGeom>
          <a:solidFill>
            <a:srgbClr val="444B57"/>
          </a:solidFill>
          <a:ln/>
        </p:spPr>
        <p:txBody>
          <a:bodyPr/>
          <a:lstStyle/>
          <a:p>
            <a:endParaRPr lang="en-US"/>
          </a:p>
        </p:txBody>
      </p:sp>
      <p:sp>
        <p:nvSpPr>
          <p:cNvPr id="540" name="Shape 538"/>
          <p:cNvSpPr/>
          <p:nvPr/>
        </p:nvSpPr>
        <p:spPr>
          <a:xfrm>
            <a:off x="11192995" y="3265383"/>
            <a:ext cx="34747" cy="34747"/>
          </a:xfrm>
          <a:prstGeom prst="ellipse">
            <a:avLst/>
          </a:prstGeom>
          <a:solidFill>
            <a:srgbClr val="444B57"/>
          </a:solidFill>
          <a:ln/>
        </p:spPr>
        <p:txBody>
          <a:bodyPr/>
          <a:lstStyle/>
          <a:p>
            <a:endParaRPr lang="en-US"/>
          </a:p>
        </p:txBody>
      </p:sp>
      <p:sp>
        <p:nvSpPr>
          <p:cNvPr id="541" name="Shape 539"/>
          <p:cNvSpPr/>
          <p:nvPr/>
        </p:nvSpPr>
        <p:spPr>
          <a:xfrm>
            <a:off x="11226458" y="3268896"/>
            <a:ext cx="34747" cy="34747"/>
          </a:xfrm>
          <a:prstGeom prst="ellipse">
            <a:avLst/>
          </a:prstGeom>
          <a:solidFill>
            <a:srgbClr val="444B57"/>
          </a:solidFill>
          <a:ln/>
        </p:spPr>
        <p:txBody>
          <a:bodyPr/>
          <a:lstStyle/>
          <a:p>
            <a:endParaRPr lang="en-US"/>
          </a:p>
        </p:txBody>
      </p:sp>
      <p:sp>
        <p:nvSpPr>
          <p:cNvPr id="542" name="Shape 540"/>
          <p:cNvSpPr/>
          <p:nvPr/>
        </p:nvSpPr>
        <p:spPr>
          <a:xfrm>
            <a:off x="11259922" y="3271128"/>
            <a:ext cx="34747" cy="34747"/>
          </a:xfrm>
          <a:prstGeom prst="ellipse">
            <a:avLst/>
          </a:prstGeom>
          <a:solidFill>
            <a:srgbClr val="444B57"/>
          </a:solidFill>
          <a:ln/>
        </p:spPr>
        <p:txBody>
          <a:bodyPr/>
          <a:lstStyle/>
          <a:p>
            <a:endParaRPr lang="en-US"/>
          </a:p>
        </p:txBody>
      </p:sp>
      <p:sp>
        <p:nvSpPr>
          <p:cNvPr id="543" name="Shape 541"/>
          <p:cNvSpPr/>
          <p:nvPr/>
        </p:nvSpPr>
        <p:spPr>
          <a:xfrm>
            <a:off x="9252128" y="3274466"/>
            <a:ext cx="34747" cy="34747"/>
          </a:xfrm>
          <a:prstGeom prst="ellipse">
            <a:avLst/>
          </a:prstGeom>
          <a:solidFill>
            <a:srgbClr val="9C3D6E"/>
          </a:solidFill>
          <a:ln/>
        </p:spPr>
        <p:txBody>
          <a:bodyPr/>
          <a:lstStyle/>
          <a:p>
            <a:endParaRPr lang="en-US"/>
          </a:p>
        </p:txBody>
      </p:sp>
      <p:sp>
        <p:nvSpPr>
          <p:cNvPr id="544" name="Shape 542"/>
          <p:cNvSpPr/>
          <p:nvPr/>
        </p:nvSpPr>
        <p:spPr>
          <a:xfrm>
            <a:off x="9285591" y="3274466"/>
            <a:ext cx="34747" cy="34747"/>
          </a:xfrm>
          <a:prstGeom prst="ellipse">
            <a:avLst/>
          </a:prstGeom>
          <a:solidFill>
            <a:srgbClr val="9C3D6E"/>
          </a:solidFill>
          <a:ln/>
        </p:spPr>
        <p:txBody>
          <a:bodyPr/>
          <a:lstStyle/>
          <a:p>
            <a:endParaRPr lang="en-US"/>
          </a:p>
        </p:txBody>
      </p:sp>
      <p:sp>
        <p:nvSpPr>
          <p:cNvPr id="545" name="Shape 543"/>
          <p:cNvSpPr/>
          <p:nvPr/>
        </p:nvSpPr>
        <p:spPr>
          <a:xfrm>
            <a:off x="9319054" y="3274466"/>
            <a:ext cx="34747" cy="34747"/>
          </a:xfrm>
          <a:prstGeom prst="ellipse">
            <a:avLst/>
          </a:prstGeom>
          <a:solidFill>
            <a:srgbClr val="9C3D6E"/>
          </a:solidFill>
          <a:ln/>
        </p:spPr>
        <p:txBody>
          <a:bodyPr/>
          <a:lstStyle/>
          <a:p>
            <a:endParaRPr lang="en-US"/>
          </a:p>
        </p:txBody>
      </p:sp>
      <p:sp>
        <p:nvSpPr>
          <p:cNvPr id="546" name="Shape 544"/>
          <p:cNvSpPr/>
          <p:nvPr/>
        </p:nvSpPr>
        <p:spPr>
          <a:xfrm>
            <a:off x="9352517" y="3274464"/>
            <a:ext cx="34747" cy="34747"/>
          </a:xfrm>
          <a:prstGeom prst="ellipse">
            <a:avLst/>
          </a:prstGeom>
          <a:solidFill>
            <a:srgbClr val="9C3D6E"/>
          </a:solidFill>
          <a:ln/>
        </p:spPr>
        <p:txBody>
          <a:bodyPr/>
          <a:lstStyle/>
          <a:p>
            <a:endParaRPr lang="en-US"/>
          </a:p>
        </p:txBody>
      </p:sp>
      <p:sp>
        <p:nvSpPr>
          <p:cNvPr id="547" name="Shape 545"/>
          <p:cNvSpPr/>
          <p:nvPr/>
        </p:nvSpPr>
        <p:spPr>
          <a:xfrm>
            <a:off x="9385981" y="3274462"/>
            <a:ext cx="34747" cy="34747"/>
          </a:xfrm>
          <a:prstGeom prst="ellipse">
            <a:avLst/>
          </a:prstGeom>
          <a:solidFill>
            <a:srgbClr val="9C3D6E"/>
          </a:solidFill>
          <a:ln/>
        </p:spPr>
        <p:txBody>
          <a:bodyPr/>
          <a:lstStyle/>
          <a:p>
            <a:endParaRPr lang="en-US"/>
          </a:p>
        </p:txBody>
      </p:sp>
      <p:sp>
        <p:nvSpPr>
          <p:cNvPr id="548" name="Shape 546"/>
          <p:cNvSpPr/>
          <p:nvPr/>
        </p:nvSpPr>
        <p:spPr>
          <a:xfrm>
            <a:off x="9419444" y="3274458"/>
            <a:ext cx="34747" cy="34747"/>
          </a:xfrm>
          <a:prstGeom prst="ellipse">
            <a:avLst/>
          </a:prstGeom>
          <a:solidFill>
            <a:srgbClr val="9C3D6E"/>
          </a:solidFill>
          <a:ln/>
        </p:spPr>
        <p:txBody>
          <a:bodyPr/>
          <a:lstStyle/>
          <a:p>
            <a:endParaRPr lang="en-US"/>
          </a:p>
        </p:txBody>
      </p:sp>
      <p:sp>
        <p:nvSpPr>
          <p:cNvPr id="549" name="Shape 547"/>
          <p:cNvSpPr/>
          <p:nvPr/>
        </p:nvSpPr>
        <p:spPr>
          <a:xfrm>
            <a:off x="9452907" y="3274448"/>
            <a:ext cx="34747" cy="34747"/>
          </a:xfrm>
          <a:prstGeom prst="ellipse">
            <a:avLst/>
          </a:prstGeom>
          <a:solidFill>
            <a:srgbClr val="9C3D6E"/>
          </a:solidFill>
          <a:ln/>
        </p:spPr>
        <p:txBody>
          <a:bodyPr/>
          <a:lstStyle/>
          <a:p>
            <a:endParaRPr lang="en-US"/>
          </a:p>
        </p:txBody>
      </p:sp>
      <p:sp>
        <p:nvSpPr>
          <p:cNvPr id="550" name="Shape 548"/>
          <p:cNvSpPr/>
          <p:nvPr/>
        </p:nvSpPr>
        <p:spPr>
          <a:xfrm>
            <a:off x="9486370" y="3274429"/>
            <a:ext cx="34747" cy="34747"/>
          </a:xfrm>
          <a:prstGeom prst="ellipse">
            <a:avLst/>
          </a:prstGeom>
          <a:solidFill>
            <a:srgbClr val="9C3D6E"/>
          </a:solidFill>
          <a:ln/>
        </p:spPr>
        <p:txBody>
          <a:bodyPr/>
          <a:lstStyle/>
          <a:p>
            <a:endParaRPr lang="en-US"/>
          </a:p>
        </p:txBody>
      </p:sp>
      <p:sp>
        <p:nvSpPr>
          <p:cNvPr id="551" name="Shape 549"/>
          <p:cNvSpPr/>
          <p:nvPr/>
        </p:nvSpPr>
        <p:spPr>
          <a:xfrm>
            <a:off x="9519834" y="3274393"/>
            <a:ext cx="34747" cy="34747"/>
          </a:xfrm>
          <a:prstGeom prst="ellipse">
            <a:avLst/>
          </a:prstGeom>
          <a:solidFill>
            <a:srgbClr val="9C3D6E"/>
          </a:solidFill>
          <a:ln/>
        </p:spPr>
        <p:txBody>
          <a:bodyPr/>
          <a:lstStyle/>
          <a:p>
            <a:endParaRPr lang="en-US"/>
          </a:p>
        </p:txBody>
      </p:sp>
      <p:sp>
        <p:nvSpPr>
          <p:cNvPr id="552" name="Shape 550"/>
          <p:cNvSpPr/>
          <p:nvPr/>
        </p:nvSpPr>
        <p:spPr>
          <a:xfrm>
            <a:off x="9553297" y="3274325"/>
            <a:ext cx="34747" cy="34747"/>
          </a:xfrm>
          <a:prstGeom prst="ellipse">
            <a:avLst/>
          </a:prstGeom>
          <a:solidFill>
            <a:srgbClr val="9C3D6E"/>
          </a:solidFill>
          <a:ln/>
        </p:spPr>
        <p:txBody>
          <a:bodyPr/>
          <a:lstStyle/>
          <a:p>
            <a:endParaRPr lang="en-US"/>
          </a:p>
        </p:txBody>
      </p:sp>
      <p:sp>
        <p:nvSpPr>
          <p:cNvPr id="553" name="Shape 551"/>
          <p:cNvSpPr/>
          <p:nvPr/>
        </p:nvSpPr>
        <p:spPr>
          <a:xfrm>
            <a:off x="9586760" y="3274199"/>
            <a:ext cx="34747" cy="34747"/>
          </a:xfrm>
          <a:prstGeom prst="ellipse">
            <a:avLst/>
          </a:prstGeom>
          <a:solidFill>
            <a:srgbClr val="9C3D6E"/>
          </a:solidFill>
          <a:ln/>
        </p:spPr>
        <p:txBody>
          <a:bodyPr/>
          <a:lstStyle/>
          <a:p>
            <a:endParaRPr lang="en-US"/>
          </a:p>
        </p:txBody>
      </p:sp>
      <p:sp>
        <p:nvSpPr>
          <p:cNvPr id="554" name="Shape 552"/>
          <p:cNvSpPr/>
          <p:nvPr/>
        </p:nvSpPr>
        <p:spPr>
          <a:xfrm>
            <a:off x="9620223" y="3273973"/>
            <a:ext cx="34747" cy="34747"/>
          </a:xfrm>
          <a:prstGeom prst="ellipse">
            <a:avLst/>
          </a:prstGeom>
          <a:solidFill>
            <a:srgbClr val="9C3D6E"/>
          </a:solidFill>
          <a:ln/>
        </p:spPr>
        <p:txBody>
          <a:bodyPr/>
          <a:lstStyle/>
          <a:p>
            <a:endParaRPr lang="en-US"/>
          </a:p>
        </p:txBody>
      </p:sp>
      <p:sp>
        <p:nvSpPr>
          <p:cNvPr id="555" name="Shape 553"/>
          <p:cNvSpPr/>
          <p:nvPr/>
        </p:nvSpPr>
        <p:spPr>
          <a:xfrm>
            <a:off x="9653687" y="3273577"/>
            <a:ext cx="34747" cy="34747"/>
          </a:xfrm>
          <a:prstGeom prst="ellipse">
            <a:avLst/>
          </a:prstGeom>
          <a:solidFill>
            <a:srgbClr val="9C3D6E"/>
          </a:solidFill>
          <a:ln/>
        </p:spPr>
        <p:txBody>
          <a:bodyPr/>
          <a:lstStyle/>
          <a:p>
            <a:endParaRPr lang="en-US"/>
          </a:p>
        </p:txBody>
      </p:sp>
      <p:sp>
        <p:nvSpPr>
          <p:cNvPr id="556" name="Shape 554"/>
          <p:cNvSpPr/>
          <p:nvPr/>
        </p:nvSpPr>
        <p:spPr>
          <a:xfrm>
            <a:off x="9687150" y="3272898"/>
            <a:ext cx="34747" cy="34747"/>
          </a:xfrm>
          <a:prstGeom prst="ellipse">
            <a:avLst/>
          </a:prstGeom>
          <a:solidFill>
            <a:srgbClr val="9C3D6E"/>
          </a:solidFill>
          <a:ln/>
        </p:spPr>
        <p:txBody>
          <a:bodyPr/>
          <a:lstStyle/>
          <a:p>
            <a:endParaRPr lang="en-US"/>
          </a:p>
        </p:txBody>
      </p:sp>
      <p:sp>
        <p:nvSpPr>
          <p:cNvPr id="557" name="Shape 555"/>
          <p:cNvSpPr/>
          <p:nvPr/>
        </p:nvSpPr>
        <p:spPr>
          <a:xfrm>
            <a:off x="9720613" y="3271764"/>
            <a:ext cx="34747" cy="34747"/>
          </a:xfrm>
          <a:prstGeom prst="ellipse">
            <a:avLst/>
          </a:prstGeom>
          <a:solidFill>
            <a:srgbClr val="9C3D6E"/>
          </a:solidFill>
          <a:ln/>
        </p:spPr>
        <p:txBody>
          <a:bodyPr/>
          <a:lstStyle/>
          <a:p>
            <a:endParaRPr lang="en-US"/>
          </a:p>
        </p:txBody>
      </p:sp>
      <p:sp>
        <p:nvSpPr>
          <p:cNvPr id="558" name="Shape 556"/>
          <p:cNvSpPr/>
          <p:nvPr/>
        </p:nvSpPr>
        <p:spPr>
          <a:xfrm>
            <a:off x="9754076" y="3269915"/>
            <a:ext cx="34747" cy="34747"/>
          </a:xfrm>
          <a:prstGeom prst="ellipse">
            <a:avLst/>
          </a:prstGeom>
          <a:solidFill>
            <a:srgbClr val="9C3D6E"/>
          </a:solidFill>
          <a:ln/>
        </p:spPr>
        <p:txBody>
          <a:bodyPr/>
          <a:lstStyle/>
          <a:p>
            <a:endParaRPr lang="en-US"/>
          </a:p>
        </p:txBody>
      </p:sp>
      <p:sp>
        <p:nvSpPr>
          <p:cNvPr id="559" name="Shape 557"/>
          <p:cNvSpPr/>
          <p:nvPr/>
        </p:nvSpPr>
        <p:spPr>
          <a:xfrm>
            <a:off x="9787539" y="3266976"/>
            <a:ext cx="34747" cy="34747"/>
          </a:xfrm>
          <a:prstGeom prst="ellipse">
            <a:avLst/>
          </a:prstGeom>
          <a:solidFill>
            <a:srgbClr val="9C3D6E"/>
          </a:solidFill>
          <a:ln/>
        </p:spPr>
        <p:txBody>
          <a:bodyPr/>
          <a:lstStyle/>
          <a:p>
            <a:endParaRPr lang="en-US"/>
          </a:p>
        </p:txBody>
      </p:sp>
      <p:sp>
        <p:nvSpPr>
          <p:cNvPr id="560" name="Shape 558"/>
          <p:cNvSpPr/>
          <p:nvPr/>
        </p:nvSpPr>
        <p:spPr>
          <a:xfrm>
            <a:off x="9821003" y="3262420"/>
            <a:ext cx="34747" cy="34747"/>
          </a:xfrm>
          <a:prstGeom prst="ellipse">
            <a:avLst/>
          </a:prstGeom>
          <a:solidFill>
            <a:srgbClr val="9C3D6E"/>
          </a:solidFill>
          <a:ln/>
        </p:spPr>
        <p:txBody>
          <a:bodyPr/>
          <a:lstStyle/>
          <a:p>
            <a:endParaRPr lang="en-US"/>
          </a:p>
        </p:txBody>
      </p:sp>
      <p:sp>
        <p:nvSpPr>
          <p:cNvPr id="561" name="Shape 559"/>
          <p:cNvSpPr/>
          <p:nvPr/>
        </p:nvSpPr>
        <p:spPr>
          <a:xfrm>
            <a:off x="9854466" y="3255531"/>
            <a:ext cx="34747" cy="34747"/>
          </a:xfrm>
          <a:prstGeom prst="ellipse">
            <a:avLst/>
          </a:prstGeom>
          <a:solidFill>
            <a:srgbClr val="9C3D6E"/>
          </a:solidFill>
          <a:ln/>
        </p:spPr>
        <p:txBody>
          <a:bodyPr/>
          <a:lstStyle/>
          <a:p>
            <a:endParaRPr lang="en-US"/>
          </a:p>
        </p:txBody>
      </p:sp>
      <p:sp>
        <p:nvSpPr>
          <p:cNvPr id="562" name="Shape 560"/>
          <p:cNvSpPr/>
          <p:nvPr/>
        </p:nvSpPr>
        <p:spPr>
          <a:xfrm>
            <a:off x="9887929" y="3245378"/>
            <a:ext cx="34747" cy="34747"/>
          </a:xfrm>
          <a:prstGeom prst="ellipse">
            <a:avLst/>
          </a:prstGeom>
          <a:solidFill>
            <a:srgbClr val="9C3D6E"/>
          </a:solidFill>
          <a:ln/>
        </p:spPr>
        <p:txBody>
          <a:bodyPr/>
          <a:lstStyle/>
          <a:p>
            <a:endParaRPr lang="en-US"/>
          </a:p>
        </p:txBody>
      </p:sp>
      <p:sp>
        <p:nvSpPr>
          <p:cNvPr id="563" name="Shape 561"/>
          <p:cNvSpPr/>
          <p:nvPr/>
        </p:nvSpPr>
        <p:spPr>
          <a:xfrm>
            <a:off x="9921392" y="3230796"/>
            <a:ext cx="34747" cy="34747"/>
          </a:xfrm>
          <a:prstGeom prst="ellipse">
            <a:avLst/>
          </a:prstGeom>
          <a:solidFill>
            <a:srgbClr val="9C3D6E"/>
          </a:solidFill>
          <a:ln/>
        </p:spPr>
        <p:txBody>
          <a:bodyPr/>
          <a:lstStyle/>
          <a:p>
            <a:endParaRPr lang="en-US"/>
          </a:p>
        </p:txBody>
      </p:sp>
      <p:sp>
        <p:nvSpPr>
          <p:cNvPr id="564" name="Shape 562"/>
          <p:cNvSpPr/>
          <p:nvPr/>
        </p:nvSpPr>
        <p:spPr>
          <a:xfrm>
            <a:off x="9954856" y="3210392"/>
            <a:ext cx="34747" cy="34747"/>
          </a:xfrm>
          <a:prstGeom prst="ellipse">
            <a:avLst/>
          </a:prstGeom>
          <a:solidFill>
            <a:srgbClr val="9C3D6E"/>
          </a:solidFill>
          <a:ln/>
        </p:spPr>
        <p:txBody>
          <a:bodyPr/>
          <a:lstStyle/>
          <a:p>
            <a:endParaRPr lang="en-US"/>
          </a:p>
        </p:txBody>
      </p:sp>
      <p:sp>
        <p:nvSpPr>
          <p:cNvPr id="565" name="Shape 563"/>
          <p:cNvSpPr/>
          <p:nvPr/>
        </p:nvSpPr>
        <p:spPr>
          <a:xfrm>
            <a:off x="9988319" y="3182588"/>
            <a:ext cx="34747" cy="34747"/>
          </a:xfrm>
          <a:prstGeom prst="ellipse">
            <a:avLst/>
          </a:prstGeom>
          <a:solidFill>
            <a:srgbClr val="9C3D6E"/>
          </a:solidFill>
          <a:ln/>
        </p:spPr>
        <p:txBody>
          <a:bodyPr/>
          <a:lstStyle/>
          <a:p>
            <a:endParaRPr lang="en-US"/>
          </a:p>
        </p:txBody>
      </p:sp>
      <p:sp>
        <p:nvSpPr>
          <p:cNvPr id="566" name="Shape 564"/>
          <p:cNvSpPr/>
          <p:nvPr/>
        </p:nvSpPr>
        <p:spPr>
          <a:xfrm>
            <a:off x="10021782" y="3145709"/>
            <a:ext cx="34747" cy="34747"/>
          </a:xfrm>
          <a:prstGeom prst="ellipse">
            <a:avLst/>
          </a:prstGeom>
          <a:solidFill>
            <a:srgbClr val="9C3D6E"/>
          </a:solidFill>
          <a:ln/>
        </p:spPr>
        <p:txBody>
          <a:bodyPr/>
          <a:lstStyle/>
          <a:p>
            <a:endParaRPr lang="en-US"/>
          </a:p>
        </p:txBody>
      </p:sp>
      <p:sp>
        <p:nvSpPr>
          <p:cNvPr id="567" name="Shape 565"/>
          <p:cNvSpPr/>
          <p:nvPr/>
        </p:nvSpPr>
        <p:spPr>
          <a:xfrm>
            <a:off x="10055245" y="3098122"/>
            <a:ext cx="34747" cy="34747"/>
          </a:xfrm>
          <a:prstGeom prst="ellipse">
            <a:avLst/>
          </a:prstGeom>
          <a:solidFill>
            <a:srgbClr val="9C3D6E"/>
          </a:solidFill>
          <a:ln/>
        </p:spPr>
        <p:txBody>
          <a:bodyPr/>
          <a:lstStyle/>
          <a:p>
            <a:endParaRPr lang="en-US"/>
          </a:p>
        </p:txBody>
      </p:sp>
      <p:sp>
        <p:nvSpPr>
          <p:cNvPr id="568" name="Shape 566"/>
          <p:cNvSpPr/>
          <p:nvPr/>
        </p:nvSpPr>
        <p:spPr>
          <a:xfrm>
            <a:off x="10088709" y="3038429"/>
            <a:ext cx="34747" cy="34747"/>
          </a:xfrm>
          <a:prstGeom prst="ellipse">
            <a:avLst/>
          </a:prstGeom>
          <a:solidFill>
            <a:srgbClr val="9C3D6E"/>
          </a:solidFill>
          <a:ln/>
        </p:spPr>
        <p:txBody>
          <a:bodyPr/>
          <a:lstStyle/>
          <a:p>
            <a:endParaRPr lang="en-US"/>
          </a:p>
        </p:txBody>
      </p:sp>
      <p:sp>
        <p:nvSpPr>
          <p:cNvPr id="569" name="Shape 567"/>
          <p:cNvSpPr/>
          <p:nvPr/>
        </p:nvSpPr>
        <p:spPr>
          <a:xfrm>
            <a:off x="10122172" y="2965699"/>
            <a:ext cx="34747" cy="34747"/>
          </a:xfrm>
          <a:prstGeom prst="ellipse">
            <a:avLst/>
          </a:prstGeom>
          <a:solidFill>
            <a:srgbClr val="9C3D6E"/>
          </a:solidFill>
          <a:ln/>
        </p:spPr>
        <p:txBody>
          <a:bodyPr/>
          <a:lstStyle/>
          <a:p>
            <a:endParaRPr lang="en-US"/>
          </a:p>
        </p:txBody>
      </p:sp>
      <p:sp>
        <p:nvSpPr>
          <p:cNvPr id="570" name="Shape 568"/>
          <p:cNvSpPr/>
          <p:nvPr/>
        </p:nvSpPr>
        <p:spPr>
          <a:xfrm>
            <a:off x="10155635" y="2879727"/>
            <a:ext cx="34747" cy="34747"/>
          </a:xfrm>
          <a:prstGeom prst="ellipse">
            <a:avLst/>
          </a:prstGeom>
          <a:solidFill>
            <a:srgbClr val="9C3D6E"/>
          </a:solidFill>
          <a:ln/>
        </p:spPr>
        <p:txBody>
          <a:bodyPr/>
          <a:lstStyle/>
          <a:p>
            <a:endParaRPr lang="en-US"/>
          </a:p>
        </p:txBody>
      </p:sp>
      <p:sp>
        <p:nvSpPr>
          <p:cNvPr id="571" name="Shape 569"/>
          <p:cNvSpPr/>
          <p:nvPr/>
        </p:nvSpPr>
        <p:spPr>
          <a:xfrm>
            <a:off x="10189098" y="2781271"/>
            <a:ext cx="34747" cy="34747"/>
          </a:xfrm>
          <a:prstGeom prst="ellipse">
            <a:avLst/>
          </a:prstGeom>
          <a:solidFill>
            <a:srgbClr val="9C3D6E"/>
          </a:solidFill>
          <a:ln/>
        </p:spPr>
        <p:txBody>
          <a:bodyPr/>
          <a:lstStyle/>
          <a:p>
            <a:endParaRPr lang="en-US"/>
          </a:p>
        </p:txBody>
      </p:sp>
      <p:sp>
        <p:nvSpPr>
          <p:cNvPr id="572" name="Shape 570"/>
          <p:cNvSpPr/>
          <p:nvPr/>
        </p:nvSpPr>
        <p:spPr>
          <a:xfrm>
            <a:off x="10222561" y="2672242"/>
            <a:ext cx="34747" cy="34747"/>
          </a:xfrm>
          <a:prstGeom prst="ellipse">
            <a:avLst/>
          </a:prstGeom>
          <a:solidFill>
            <a:srgbClr val="9C3D6E"/>
          </a:solidFill>
          <a:ln/>
        </p:spPr>
        <p:txBody>
          <a:bodyPr/>
          <a:lstStyle/>
          <a:p>
            <a:endParaRPr lang="en-US"/>
          </a:p>
        </p:txBody>
      </p:sp>
      <p:sp>
        <p:nvSpPr>
          <p:cNvPr id="573" name="Shape 571"/>
          <p:cNvSpPr/>
          <p:nvPr/>
        </p:nvSpPr>
        <p:spPr>
          <a:xfrm>
            <a:off x="10256025" y="2555799"/>
            <a:ext cx="34747" cy="34747"/>
          </a:xfrm>
          <a:prstGeom prst="ellipse">
            <a:avLst/>
          </a:prstGeom>
          <a:solidFill>
            <a:srgbClr val="9C3D6E"/>
          </a:solidFill>
          <a:ln/>
        </p:spPr>
        <p:txBody>
          <a:bodyPr/>
          <a:lstStyle/>
          <a:p>
            <a:endParaRPr lang="en-US"/>
          </a:p>
        </p:txBody>
      </p:sp>
      <p:sp>
        <p:nvSpPr>
          <p:cNvPr id="574" name="Shape 572"/>
          <p:cNvSpPr/>
          <p:nvPr/>
        </p:nvSpPr>
        <p:spPr>
          <a:xfrm>
            <a:off x="10289488" y="2436306"/>
            <a:ext cx="34747" cy="34747"/>
          </a:xfrm>
          <a:prstGeom prst="ellipse">
            <a:avLst/>
          </a:prstGeom>
          <a:solidFill>
            <a:srgbClr val="9C3D6E"/>
          </a:solidFill>
          <a:ln/>
        </p:spPr>
        <p:txBody>
          <a:bodyPr/>
          <a:lstStyle/>
          <a:p>
            <a:endParaRPr lang="en-US"/>
          </a:p>
        </p:txBody>
      </p:sp>
      <p:sp>
        <p:nvSpPr>
          <p:cNvPr id="575" name="Shape 573"/>
          <p:cNvSpPr/>
          <p:nvPr/>
        </p:nvSpPr>
        <p:spPr>
          <a:xfrm>
            <a:off x="10322951" y="2319130"/>
            <a:ext cx="34747" cy="34747"/>
          </a:xfrm>
          <a:prstGeom prst="ellipse">
            <a:avLst/>
          </a:prstGeom>
          <a:solidFill>
            <a:srgbClr val="9C3D6E"/>
          </a:solidFill>
          <a:ln/>
        </p:spPr>
        <p:txBody>
          <a:bodyPr/>
          <a:lstStyle/>
          <a:p>
            <a:endParaRPr lang="en-US"/>
          </a:p>
        </p:txBody>
      </p:sp>
      <p:sp>
        <p:nvSpPr>
          <p:cNvPr id="576" name="Shape 574"/>
          <p:cNvSpPr/>
          <p:nvPr/>
        </p:nvSpPr>
        <p:spPr>
          <a:xfrm>
            <a:off x="10356414" y="2210286"/>
            <a:ext cx="34747" cy="34747"/>
          </a:xfrm>
          <a:prstGeom prst="ellipse">
            <a:avLst/>
          </a:prstGeom>
          <a:solidFill>
            <a:srgbClr val="9C3D6E"/>
          </a:solidFill>
          <a:ln/>
        </p:spPr>
        <p:txBody>
          <a:bodyPr/>
          <a:lstStyle/>
          <a:p>
            <a:endParaRPr lang="en-US"/>
          </a:p>
        </p:txBody>
      </p:sp>
      <p:sp>
        <p:nvSpPr>
          <p:cNvPr id="577" name="Shape 575"/>
          <p:cNvSpPr/>
          <p:nvPr/>
        </p:nvSpPr>
        <p:spPr>
          <a:xfrm>
            <a:off x="10389878" y="2115944"/>
            <a:ext cx="34747" cy="34747"/>
          </a:xfrm>
          <a:prstGeom prst="ellipse">
            <a:avLst/>
          </a:prstGeom>
          <a:solidFill>
            <a:srgbClr val="9C3D6E"/>
          </a:solidFill>
          <a:ln/>
        </p:spPr>
        <p:txBody>
          <a:bodyPr/>
          <a:lstStyle/>
          <a:p>
            <a:endParaRPr lang="en-US"/>
          </a:p>
        </p:txBody>
      </p:sp>
      <p:sp>
        <p:nvSpPr>
          <p:cNvPr id="578" name="Shape 576"/>
          <p:cNvSpPr/>
          <p:nvPr/>
        </p:nvSpPr>
        <p:spPr>
          <a:xfrm>
            <a:off x="10423341" y="2041862"/>
            <a:ext cx="34747" cy="34747"/>
          </a:xfrm>
          <a:prstGeom prst="ellipse">
            <a:avLst/>
          </a:prstGeom>
          <a:solidFill>
            <a:srgbClr val="9C3D6E"/>
          </a:solidFill>
          <a:ln/>
        </p:spPr>
        <p:txBody>
          <a:bodyPr/>
          <a:lstStyle/>
          <a:p>
            <a:endParaRPr lang="en-US"/>
          </a:p>
        </p:txBody>
      </p:sp>
      <p:sp>
        <p:nvSpPr>
          <p:cNvPr id="579" name="Shape 577"/>
          <p:cNvSpPr/>
          <p:nvPr/>
        </p:nvSpPr>
        <p:spPr>
          <a:xfrm>
            <a:off x="10456804" y="1992807"/>
            <a:ext cx="34747" cy="34747"/>
          </a:xfrm>
          <a:prstGeom prst="ellipse">
            <a:avLst/>
          </a:prstGeom>
          <a:solidFill>
            <a:srgbClr val="9C3D6E"/>
          </a:solidFill>
          <a:ln/>
        </p:spPr>
        <p:txBody>
          <a:bodyPr/>
          <a:lstStyle/>
          <a:p>
            <a:endParaRPr lang="en-US"/>
          </a:p>
        </p:txBody>
      </p:sp>
      <p:sp>
        <p:nvSpPr>
          <p:cNvPr id="580" name="Shape 578"/>
          <p:cNvSpPr/>
          <p:nvPr/>
        </p:nvSpPr>
        <p:spPr>
          <a:xfrm>
            <a:off x="10490267" y="1972045"/>
            <a:ext cx="34747" cy="34747"/>
          </a:xfrm>
          <a:prstGeom prst="ellipse">
            <a:avLst/>
          </a:prstGeom>
          <a:solidFill>
            <a:srgbClr val="9C3D6E"/>
          </a:solidFill>
          <a:ln/>
        </p:spPr>
        <p:txBody>
          <a:bodyPr/>
          <a:lstStyle/>
          <a:p>
            <a:endParaRPr lang="en-US"/>
          </a:p>
        </p:txBody>
      </p:sp>
      <p:sp>
        <p:nvSpPr>
          <p:cNvPr id="581" name="Shape 579"/>
          <p:cNvSpPr/>
          <p:nvPr/>
        </p:nvSpPr>
        <p:spPr>
          <a:xfrm>
            <a:off x="10523731" y="1980984"/>
            <a:ext cx="34747" cy="34747"/>
          </a:xfrm>
          <a:prstGeom prst="ellipse">
            <a:avLst/>
          </a:prstGeom>
          <a:solidFill>
            <a:srgbClr val="9C3D6E"/>
          </a:solidFill>
          <a:ln/>
        </p:spPr>
        <p:txBody>
          <a:bodyPr/>
          <a:lstStyle/>
          <a:p>
            <a:endParaRPr lang="en-US"/>
          </a:p>
        </p:txBody>
      </p:sp>
      <p:sp>
        <p:nvSpPr>
          <p:cNvPr id="582" name="Shape 580"/>
          <p:cNvSpPr/>
          <p:nvPr/>
        </p:nvSpPr>
        <p:spPr>
          <a:xfrm>
            <a:off x="10557194" y="2019016"/>
            <a:ext cx="34747" cy="34747"/>
          </a:xfrm>
          <a:prstGeom prst="ellipse">
            <a:avLst/>
          </a:prstGeom>
          <a:solidFill>
            <a:srgbClr val="9C3D6E"/>
          </a:solidFill>
          <a:ln/>
        </p:spPr>
        <p:txBody>
          <a:bodyPr/>
          <a:lstStyle/>
          <a:p>
            <a:endParaRPr lang="en-US"/>
          </a:p>
        </p:txBody>
      </p:sp>
      <p:sp>
        <p:nvSpPr>
          <p:cNvPr id="583" name="Shape 581"/>
          <p:cNvSpPr/>
          <p:nvPr/>
        </p:nvSpPr>
        <p:spPr>
          <a:xfrm>
            <a:off x="10590657" y="2083585"/>
            <a:ext cx="34747" cy="34747"/>
          </a:xfrm>
          <a:prstGeom prst="ellipse">
            <a:avLst/>
          </a:prstGeom>
          <a:solidFill>
            <a:srgbClr val="9C3D6E"/>
          </a:solidFill>
          <a:ln/>
        </p:spPr>
        <p:txBody>
          <a:bodyPr/>
          <a:lstStyle/>
          <a:p>
            <a:endParaRPr lang="en-US"/>
          </a:p>
        </p:txBody>
      </p:sp>
      <p:sp>
        <p:nvSpPr>
          <p:cNvPr id="584" name="Shape 582"/>
          <p:cNvSpPr/>
          <p:nvPr/>
        </p:nvSpPr>
        <p:spPr>
          <a:xfrm>
            <a:off x="10624120" y="2170470"/>
            <a:ext cx="34747" cy="34747"/>
          </a:xfrm>
          <a:prstGeom prst="ellipse">
            <a:avLst/>
          </a:prstGeom>
          <a:solidFill>
            <a:srgbClr val="9C3D6E"/>
          </a:solidFill>
          <a:ln/>
        </p:spPr>
        <p:txBody>
          <a:bodyPr/>
          <a:lstStyle/>
          <a:p>
            <a:endParaRPr lang="en-US"/>
          </a:p>
        </p:txBody>
      </p:sp>
      <p:sp>
        <p:nvSpPr>
          <p:cNvPr id="585" name="Shape 583"/>
          <p:cNvSpPr/>
          <p:nvPr/>
        </p:nvSpPr>
        <p:spPr>
          <a:xfrm>
            <a:off x="10657583" y="2274245"/>
            <a:ext cx="34747" cy="34747"/>
          </a:xfrm>
          <a:prstGeom prst="ellipse">
            <a:avLst/>
          </a:prstGeom>
          <a:solidFill>
            <a:srgbClr val="9C3D6E"/>
          </a:solidFill>
          <a:ln/>
        </p:spPr>
        <p:txBody>
          <a:bodyPr/>
          <a:lstStyle/>
          <a:p>
            <a:endParaRPr lang="en-US"/>
          </a:p>
        </p:txBody>
      </p:sp>
      <p:sp>
        <p:nvSpPr>
          <p:cNvPr id="586" name="Shape 584"/>
          <p:cNvSpPr/>
          <p:nvPr/>
        </p:nvSpPr>
        <p:spPr>
          <a:xfrm>
            <a:off x="10691047" y="2388831"/>
            <a:ext cx="34747" cy="34747"/>
          </a:xfrm>
          <a:prstGeom prst="ellipse">
            <a:avLst/>
          </a:prstGeom>
          <a:solidFill>
            <a:srgbClr val="9C3D6E"/>
          </a:solidFill>
          <a:ln/>
        </p:spPr>
        <p:txBody>
          <a:bodyPr/>
          <a:lstStyle/>
          <a:p>
            <a:endParaRPr lang="en-US"/>
          </a:p>
        </p:txBody>
      </p:sp>
      <p:sp>
        <p:nvSpPr>
          <p:cNvPr id="587" name="Shape 585"/>
          <p:cNvSpPr/>
          <p:nvPr/>
        </p:nvSpPr>
        <p:spPr>
          <a:xfrm>
            <a:off x="10724510" y="2508087"/>
            <a:ext cx="34747" cy="34747"/>
          </a:xfrm>
          <a:prstGeom prst="ellipse">
            <a:avLst/>
          </a:prstGeom>
          <a:solidFill>
            <a:srgbClr val="9C3D6E"/>
          </a:solidFill>
          <a:ln/>
        </p:spPr>
        <p:txBody>
          <a:bodyPr/>
          <a:lstStyle/>
          <a:p>
            <a:endParaRPr lang="en-US"/>
          </a:p>
        </p:txBody>
      </p:sp>
      <p:sp>
        <p:nvSpPr>
          <p:cNvPr id="588" name="Shape 586"/>
          <p:cNvSpPr/>
          <p:nvPr/>
        </p:nvSpPr>
        <p:spPr>
          <a:xfrm>
            <a:off x="10757973" y="2626335"/>
            <a:ext cx="34747" cy="34747"/>
          </a:xfrm>
          <a:prstGeom prst="ellipse">
            <a:avLst/>
          </a:prstGeom>
          <a:solidFill>
            <a:srgbClr val="9C3D6E"/>
          </a:solidFill>
          <a:ln/>
        </p:spPr>
        <p:txBody>
          <a:bodyPr/>
          <a:lstStyle/>
          <a:p>
            <a:endParaRPr lang="en-US"/>
          </a:p>
        </p:txBody>
      </p:sp>
      <p:sp>
        <p:nvSpPr>
          <p:cNvPr id="589" name="Shape 587"/>
          <p:cNvSpPr/>
          <p:nvPr/>
        </p:nvSpPr>
        <p:spPr>
          <a:xfrm>
            <a:off x="10791436" y="2738779"/>
            <a:ext cx="34747" cy="34747"/>
          </a:xfrm>
          <a:prstGeom prst="ellipse">
            <a:avLst/>
          </a:prstGeom>
          <a:solidFill>
            <a:srgbClr val="9C3D6E"/>
          </a:solidFill>
          <a:ln/>
        </p:spPr>
        <p:txBody>
          <a:bodyPr/>
          <a:lstStyle/>
          <a:p>
            <a:endParaRPr lang="en-US"/>
          </a:p>
        </p:txBody>
      </p:sp>
      <p:sp>
        <p:nvSpPr>
          <p:cNvPr id="590" name="Shape 588"/>
          <p:cNvSpPr/>
          <p:nvPr/>
        </p:nvSpPr>
        <p:spPr>
          <a:xfrm>
            <a:off x="10824900" y="2841763"/>
            <a:ext cx="34747" cy="34747"/>
          </a:xfrm>
          <a:prstGeom prst="ellipse">
            <a:avLst/>
          </a:prstGeom>
          <a:solidFill>
            <a:srgbClr val="9C3D6E"/>
          </a:solidFill>
          <a:ln/>
        </p:spPr>
        <p:txBody>
          <a:bodyPr/>
          <a:lstStyle/>
          <a:p>
            <a:endParaRPr lang="en-US"/>
          </a:p>
        </p:txBody>
      </p:sp>
      <p:sp>
        <p:nvSpPr>
          <p:cNvPr id="591" name="Shape 589"/>
          <p:cNvSpPr/>
          <p:nvPr/>
        </p:nvSpPr>
        <p:spPr>
          <a:xfrm>
            <a:off x="10858363" y="2932881"/>
            <a:ext cx="34747" cy="34747"/>
          </a:xfrm>
          <a:prstGeom prst="ellipse">
            <a:avLst/>
          </a:prstGeom>
          <a:solidFill>
            <a:srgbClr val="9C3D6E"/>
          </a:solidFill>
          <a:ln/>
        </p:spPr>
        <p:txBody>
          <a:bodyPr/>
          <a:lstStyle/>
          <a:p>
            <a:endParaRPr lang="en-US"/>
          </a:p>
        </p:txBody>
      </p:sp>
      <p:sp>
        <p:nvSpPr>
          <p:cNvPr id="592" name="Shape 590"/>
          <p:cNvSpPr/>
          <p:nvPr/>
        </p:nvSpPr>
        <p:spPr>
          <a:xfrm>
            <a:off x="10891826" y="3010932"/>
            <a:ext cx="34747" cy="34747"/>
          </a:xfrm>
          <a:prstGeom prst="ellipse">
            <a:avLst/>
          </a:prstGeom>
          <a:solidFill>
            <a:srgbClr val="9C3D6E"/>
          </a:solidFill>
          <a:ln/>
        </p:spPr>
        <p:txBody>
          <a:bodyPr/>
          <a:lstStyle/>
          <a:p>
            <a:endParaRPr lang="en-US"/>
          </a:p>
        </p:txBody>
      </p:sp>
      <p:sp>
        <p:nvSpPr>
          <p:cNvPr id="593" name="Shape 591"/>
          <p:cNvSpPr/>
          <p:nvPr/>
        </p:nvSpPr>
        <p:spPr>
          <a:xfrm>
            <a:off x="10925289" y="3075763"/>
            <a:ext cx="34747" cy="34747"/>
          </a:xfrm>
          <a:prstGeom prst="ellipse">
            <a:avLst/>
          </a:prstGeom>
          <a:solidFill>
            <a:srgbClr val="9C3D6E"/>
          </a:solidFill>
          <a:ln/>
        </p:spPr>
        <p:txBody>
          <a:bodyPr/>
          <a:lstStyle/>
          <a:p>
            <a:endParaRPr lang="en-US"/>
          </a:p>
        </p:txBody>
      </p:sp>
      <p:sp>
        <p:nvSpPr>
          <p:cNvPr id="594" name="Shape 592"/>
          <p:cNvSpPr/>
          <p:nvPr/>
        </p:nvSpPr>
        <p:spPr>
          <a:xfrm>
            <a:off x="10958753" y="3128045"/>
            <a:ext cx="34747" cy="34747"/>
          </a:xfrm>
          <a:prstGeom prst="ellipse">
            <a:avLst/>
          </a:prstGeom>
          <a:solidFill>
            <a:srgbClr val="9C3D6E"/>
          </a:solidFill>
          <a:ln/>
        </p:spPr>
        <p:txBody>
          <a:bodyPr/>
          <a:lstStyle/>
          <a:p>
            <a:endParaRPr lang="en-US"/>
          </a:p>
        </p:txBody>
      </p:sp>
      <p:sp>
        <p:nvSpPr>
          <p:cNvPr id="595" name="Shape 593"/>
          <p:cNvSpPr/>
          <p:nvPr/>
        </p:nvSpPr>
        <p:spPr>
          <a:xfrm>
            <a:off x="10992216" y="3169020"/>
            <a:ext cx="34747" cy="34747"/>
          </a:xfrm>
          <a:prstGeom prst="ellipse">
            <a:avLst/>
          </a:prstGeom>
          <a:solidFill>
            <a:srgbClr val="9C3D6E"/>
          </a:solidFill>
          <a:ln/>
        </p:spPr>
        <p:txBody>
          <a:bodyPr/>
          <a:lstStyle/>
          <a:p>
            <a:endParaRPr lang="en-US"/>
          </a:p>
        </p:txBody>
      </p:sp>
      <p:sp>
        <p:nvSpPr>
          <p:cNvPr id="596" name="Shape 594"/>
          <p:cNvSpPr/>
          <p:nvPr/>
        </p:nvSpPr>
        <p:spPr>
          <a:xfrm>
            <a:off x="11025679" y="3200251"/>
            <a:ext cx="34747" cy="34747"/>
          </a:xfrm>
          <a:prstGeom prst="ellipse">
            <a:avLst/>
          </a:prstGeom>
          <a:solidFill>
            <a:srgbClr val="9C3D6E"/>
          </a:solidFill>
          <a:ln/>
        </p:spPr>
        <p:txBody>
          <a:bodyPr/>
          <a:lstStyle/>
          <a:p>
            <a:endParaRPr lang="en-US"/>
          </a:p>
        </p:txBody>
      </p:sp>
      <p:sp>
        <p:nvSpPr>
          <p:cNvPr id="597" name="Shape 595"/>
          <p:cNvSpPr/>
          <p:nvPr/>
        </p:nvSpPr>
        <p:spPr>
          <a:xfrm>
            <a:off x="11059142" y="3223418"/>
            <a:ext cx="34747" cy="34747"/>
          </a:xfrm>
          <a:prstGeom prst="ellipse">
            <a:avLst/>
          </a:prstGeom>
          <a:solidFill>
            <a:srgbClr val="9C3D6E"/>
          </a:solidFill>
          <a:ln/>
        </p:spPr>
        <p:txBody>
          <a:bodyPr/>
          <a:lstStyle/>
          <a:p>
            <a:endParaRPr lang="en-US"/>
          </a:p>
        </p:txBody>
      </p:sp>
      <p:sp>
        <p:nvSpPr>
          <p:cNvPr id="598" name="Shape 596"/>
          <p:cNvSpPr/>
          <p:nvPr/>
        </p:nvSpPr>
        <p:spPr>
          <a:xfrm>
            <a:off x="11092605" y="3240150"/>
            <a:ext cx="34747" cy="34747"/>
          </a:xfrm>
          <a:prstGeom prst="ellipse">
            <a:avLst/>
          </a:prstGeom>
          <a:solidFill>
            <a:srgbClr val="9C3D6E"/>
          </a:solidFill>
          <a:ln/>
        </p:spPr>
        <p:txBody>
          <a:bodyPr/>
          <a:lstStyle/>
          <a:p>
            <a:endParaRPr lang="en-US"/>
          </a:p>
        </p:txBody>
      </p:sp>
      <p:sp>
        <p:nvSpPr>
          <p:cNvPr id="599" name="Shape 597"/>
          <p:cNvSpPr/>
          <p:nvPr/>
        </p:nvSpPr>
        <p:spPr>
          <a:xfrm>
            <a:off x="11126069" y="3251922"/>
            <a:ext cx="34747" cy="34747"/>
          </a:xfrm>
          <a:prstGeom prst="ellipse">
            <a:avLst/>
          </a:prstGeom>
          <a:solidFill>
            <a:srgbClr val="9C3D6E"/>
          </a:solidFill>
          <a:ln/>
        </p:spPr>
        <p:txBody>
          <a:bodyPr/>
          <a:lstStyle/>
          <a:p>
            <a:endParaRPr lang="en-US"/>
          </a:p>
        </p:txBody>
      </p:sp>
      <p:sp>
        <p:nvSpPr>
          <p:cNvPr id="600" name="Shape 598"/>
          <p:cNvSpPr/>
          <p:nvPr/>
        </p:nvSpPr>
        <p:spPr>
          <a:xfrm>
            <a:off x="11159532" y="3259991"/>
            <a:ext cx="34747" cy="34747"/>
          </a:xfrm>
          <a:prstGeom prst="ellipse">
            <a:avLst/>
          </a:prstGeom>
          <a:solidFill>
            <a:srgbClr val="9C3D6E"/>
          </a:solidFill>
          <a:ln/>
        </p:spPr>
        <p:txBody>
          <a:bodyPr/>
          <a:lstStyle/>
          <a:p>
            <a:endParaRPr lang="en-US"/>
          </a:p>
        </p:txBody>
      </p:sp>
      <p:sp>
        <p:nvSpPr>
          <p:cNvPr id="601" name="Shape 599"/>
          <p:cNvSpPr/>
          <p:nvPr/>
        </p:nvSpPr>
        <p:spPr>
          <a:xfrm>
            <a:off x="11192995" y="3265383"/>
            <a:ext cx="34747" cy="34747"/>
          </a:xfrm>
          <a:prstGeom prst="ellipse">
            <a:avLst/>
          </a:prstGeom>
          <a:solidFill>
            <a:srgbClr val="9C3D6E"/>
          </a:solidFill>
          <a:ln/>
        </p:spPr>
        <p:txBody>
          <a:bodyPr/>
          <a:lstStyle/>
          <a:p>
            <a:endParaRPr lang="en-US"/>
          </a:p>
        </p:txBody>
      </p:sp>
      <p:sp>
        <p:nvSpPr>
          <p:cNvPr id="602" name="Shape 600"/>
          <p:cNvSpPr/>
          <p:nvPr/>
        </p:nvSpPr>
        <p:spPr>
          <a:xfrm>
            <a:off x="11226458" y="3268896"/>
            <a:ext cx="34747" cy="34747"/>
          </a:xfrm>
          <a:prstGeom prst="ellipse">
            <a:avLst/>
          </a:prstGeom>
          <a:solidFill>
            <a:srgbClr val="9C3D6E"/>
          </a:solidFill>
          <a:ln/>
        </p:spPr>
        <p:txBody>
          <a:bodyPr/>
          <a:lstStyle/>
          <a:p>
            <a:endParaRPr lang="en-US"/>
          </a:p>
        </p:txBody>
      </p:sp>
      <p:sp>
        <p:nvSpPr>
          <p:cNvPr id="603" name="Shape 601"/>
          <p:cNvSpPr/>
          <p:nvPr/>
        </p:nvSpPr>
        <p:spPr>
          <a:xfrm>
            <a:off x="11259922" y="3271128"/>
            <a:ext cx="34747" cy="34747"/>
          </a:xfrm>
          <a:prstGeom prst="ellipse">
            <a:avLst/>
          </a:prstGeom>
          <a:solidFill>
            <a:srgbClr val="9C3D6E"/>
          </a:solidFill>
          <a:ln/>
        </p:spPr>
        <p:txBody>
          <a:bodyPr/>
          <a:lstStyle/>
          <a:p>
            <a:endParaRPr lang="en-US"/>
          </a:p>
        </p:txBody>
      </p:sp>
      <p:sp>
        <p:nvSpPr>
          <p:cNvPr id="604" name="Shape 602"/>
          <p:cNvSpPr/>
          <p:nvPr/>
        </p:nvSpPr>
        <p:spPr>
          <a:xfrm>
            <a:off x="9253957" y="2590495"/>
            <a:ext cx="31090" cy="31090"/>
          </a:xfrm>
          <a:prstGeom prst="ellipse">
            <a:avLst/>
          </a:prstGeom>
          <a:solidFill>
            <a:srgbClr val="1F7A6B"/>
          </a:solidFill>
          <a:ln/>
        </p:spPr>
        <p:txBody>
          <a:bodyPr/>
          <a:lstStyle/>
          <a:p>
            <a:endParaRPr lang="en-US"/>
          </a:p>
        </p:txBody>
      </p:sp>
      <p:sp>
        <p:nvSpPr>
          <p:cNvPr id="605" name="Shape 603"/>
          <p:cNvSpPr/>
          <p:nvPr/>
        </p:nvSpPr>
        <p:spPr>
          <a:xfrm>
            <a:off x="9320883" y="2590495"/>
            <a:ext cx="31090" cy="31090"/>
          </a:xfrm>
          <a:prstGeom prst="ellipse">
            <a:avLst/>
          </a:prstGeom>
          <a:solidFill>
            <a:srgbClr val="1F7A6B"/>
          </a:solidFill>
          <a:ln/>
        </p:spPr>
        <p:txBody>
          <a:bodyPr/>
          <a:lstStyle/>
          <a:p>
            <a:endParaRPr lang="en-US"/>
          </a:p>
        </p:txBody>
      </p:sp>
      <p:sp>
        <p:nvSpPr>
          <p:cNvPr id="606" name="Shape 604"/>
          <p:cNvSpPr/>
          <p:nvPr/>
        </p:nvSpPr>
        <p:spPr>
          <a:xfrm>
            <a:off x="9387810" y="2590495"/>
            <a:ext cx="31090" cy="31090"/>
          </a:xfrm>
          <a:prstGeom prst="ellipse">
            <a:avLst/>
          </a:prstGeom>
          <a:solidFill>
            <a:srgbClr val="1F7A6B"/>
          </a:solidFill>
          <a:ln/>
        </p:spPr>
        <p:txBody>
          <a:bodyPr/>
          <a:lstStyle/>
          <a:p>
            <a:endParaRPr lang="en-US"/>
          </a:p>
        </p:txBody>
      </p:sp>
      <p:sp>
        <p:nvSpPr>
          <p:cNvPr id="607" name="Shape 605"/>
          <p:cNvSpPr/>
          <p:nvPr/>
        </p:nvSpPr>
        <p:spPr>
          <a:xfrm>
            <a:off x="9454736" y="2590495"/>
            <a:ext cx="31090" cy="31090"/>
          </a:xfrm>
          <a:prstGeom prst="ellipse">
            <a:avLst/>
          </a:prstGeom>
          <a:solidFill>
            <a:srgbClr val="1F7A6B"/>
          </a:solidFill>
          <a:ln/>
        </p:spPr>
        <p:txBody>
          <a:bodyPr/>
          <a:lstStyle/>
          <a:p>
            <a:endParaRPr lang="en-US"/>
          </a:p>
        </p:txBody>
      </p:sp>
      <p:sp>
        <p:nvSpPr>
          <p:cNvPr id="608" name="Shape 606"/>
          <p:cNvSpPr/>
          <p:nvPr/>
        </p:nvSpPr>
        <p:spPr>
          <a:xfrm>
            <a:off x="9521662" y="2590495"/>
            <a:ext cx="31090" cy="31090"/>
          </a:xfrm>
          <a:prstGeom prst="ellipse">
            <a:avLst/>
          </a:prstGeom>
          <a:solidFill>
            <a:srgbClr val="1F7A6B"/>
          </a:solidFill>
          <a:ln/>
        </p:spPr>
        <p:txBody>
          <a:bodyPr/>
          <a:lstStyle/>
          <a:p>
            <a:endParaRPr lang="en-US"/>
          </a:p>
        </p:txBody>
      </p:sp>
      <p:sp>
        <p:nvSpPr>
          <p:cNvPr id="609" name="Shape 607"/>
          <p:cNvSpPr/>
          <p:nvPr/>
        </p:nvSpPr>
        <p:spPr>
          <a:xfrm>
            <a:off x="9588589" y="2590495"/>
            <a:ext cx="31090" cy="31090"/>
          </a:xfrm>
          <a:prstGeom prst="ellipse">
            <a:avLst/>
          </a:prstGeom>
          <a:solidFill>
            <a:srgbClr val="1F7A6B"/>
          </a:solidFill>
          <a:ln/>
        </p:spPr>
        <p:txBody>
          <a:bodyPr/>
          <a:lstStyle/>
          <a:p>
            <a:endParaRPr lang="en-US"/>
          </a:p>
        </p:txBody>
      </p:sp>
      <p:sp>
        <p:nvSpPr>
          <p:cNvPr id="610" name="Shape 608"/>
          <p:cNvSpPr/>
          <p:nvPr/>
        </p:nvSpPr>
        <p:spPr>
          <a:xfrm>
            <a:off x="9655515" y="2590495"/>
            <a:ext cx="31090" cy="31090"/>
          </a:xfrm>
          <a:prstGeom prst="ellipse">
            <a:avLst/>
          </a:prstGeom>
          <a:solidFill>
            <a:srgbClr val="1F7A6B"/>
          </a:solidFill>
          <a:ln/>
        </p:spPr>
        <p:txBody>
          <a:bodyPr/>
          <a:lstStyle/>
          <a:p>
            <a:endParaRPr lang="en-US"/>
          </a:p>
        </p:txBody>
      </p:sp>
      <p:sp>
        <p:nvSpPr>
          <p:cNvPr id="611" name="Shape 609"/>
          <p:cNvSpPr/>
          <p:nvPr/>
        </p:nvSpPr>
        <p:spPr>
          <a:xfrm>
            <a:off x="9722442" y="2590495"/>
            <a:ext cx="31090" cy="31090"/>
          </a:xfrm>
          <a:prstGeom prst="ellipse">
            <a:avLst/>
          </a:prstGeom>
          <a:solidFill>
            <a:srgbClr val="1F7A6B"/>
          </a:solidFill>
          <a:ln/>
        </p:spPr>
        <p:txBody>
          <a:bodyPr/>
          <a:lstStyle/>
          <a:p>
            <a:endParaRPr lang="en-US"/>
          </a:p>
        </p:txBody>
      </p:sp>
      <p:sp>
        <p:nvSpPr>
          <p:cNvPr id="612" name="Shape 610"/>
          <p:cNvSpPr/>
          <p:nvPr/>
        </p:nvSpPr>
        <p:spPr>
          <a:xfrm>
            <a:off x="9789368" y="2590495"/>
            <a:ext cx="31090" cy="31090"/>
          </a:xfrm>
          <a:prstGeom prst="ellipse">
            <a:avLst/>
          </a:prstGeom>
          <a:solidFill>
            <a:srgbClr val="1F7A6B"/>
          </a:solidFill>
          <a:ln/>
        </p:spPr>
        <p:txBody>
          <a:bodyPr/>
          <a:lstStyle/>
          <a:p>
            <a:endParaRPr lang="en-US"/>
          </a:p>
        </p:txBody>
      </p:sp>
      <p:sp>
        <p:nvSpPr>
          <p:cNvPr id="613" name="Shape 611"/>
          <p:cNvSpPr/>
          <p:nvPr/>
        </p:nvSpPr>
        <p:spPr>
          <a:xfrm>
            <a:off x="9856295" y="2590495"/>
            <a:ext cx="31090" cy="31090"/>
          </a:xfrm>
          <a:prstGeom prst="ellipse">
            <a:avLst/>
          </a:prstGeom>
          <a:solidFill>
            <a:srgbClr val="1F7A6B"/>
          </a:solidFill>
          <a:ln/>
        </p:spPr>
        <p:txBody>
          <a:bodyPr/>
          <a:lstStyle/>
          <a:p>
            <a:endParaRPr lang="en-US"/>
          </a:p>
        </p:txBody>
      </p:sp>
      <p:sp>
        <p:nvSpPr>
          <p:cNvPr id="614" name="Shape 612"/>
          <p:cNvSpPr/>
          <p:nvPr/>
        </p:nvSpPr>
        <p:spPr>
          <a:xfrm>
            <a:off x="9923221" y="2590495"/>
            <a:ext cx="31090" cy="31090"/>
          </a:xfrm>
          <a:prstGeom prst="ellipse">
            <a:avLst/>
          </a:prstGeom>
          <a:solidFill>
            <a:srgbClr val="1F7A6B"/>
          </a:solidFill>
          <a:ln/>
        </p:spPr>
        <p:txBody>
          <a:bodyPr/>
          <a:lstStyle/>
          <a:p>
            <a:endParaRPr lang="en-US"/>
          </a:p>
        </p:txBody>
      </p:sp>
      <p:sp>
        <p:nvSpPr>
          <p:cNvPr id="615" name="Shape 613"/>
          <p:cNvSpPr/>
          <p:nvPr/>
        </p:nvSpPr>
        <p:spPr>
          <a:xfrm>
            <a:off x="9990148" y="2590495"/>
            <a:ext cx="31090" cy="31090"/>
          </a:xfrm>
          <a:prstGeom prst="ellipse">
            <a:avLst/>
          </a:prstGeom>
          <a:solidFill>
            <a:srgbClr val="1F7A6B"/>
          </a:solidFill>
          <a:ln/>
        </p:spPr>
        <p:txBody>
          <a:bodyPr/>
          <a:lstStyle/>
          <a:p>
            <a:endParaRPr lang="en-US"/>
          </a:p>
        </p:txBody>
      </p:sp>
      <p:sp>
        <p:nvSpPr>
          <p:cNvPr id="616" name="Shape 614"/>
          <p:cNvSpPr/>
          <p:nvPr/>
        </p:nvSpPr>
        <p:spPr>
          <a:xfrm>
            <a:off x="10057074" y="2590495"/>
            <a:ext cx="31090" cy="31090"/>
          </a:xfrm>
          <a:prstGeom prst="ellipse">
            <a:avLst/>
          </a:prstGeom>
          <a:solidFill>
            <a:srgbClr val="1F7A6B"/>
          </a:solidFill>
          <a:ln/>
        </p:spPr>
        <p:txBody>
          <a:bodyPr/>
          <a:lstStyle/>
          <a:p>
            <a:endParaRPr lang="en-US"/>
          </a:p>
        </p:txBody>
      </p:sp>
      <p:sp>
        <p:nvSpPr>
          <p:cNvPr id="617" name="Shape 615"/>
          <p:cNvSpPr/>
          <p:nvPr/>
        </p:nvSpPr>
        <p:spPr>
          <a:xfrm>
            <a:off x="10124001" y="2590495"/>
            <a:ext cx="31090" cy="31090"/>
          </a:xfrm>
          <a:prstGeom prst="ellipse">
            <a:avLst/>
          </a:prstGeom>
          <a:solidFill>
            <a:srgbClr val="1F7A6B"/>
          </a:solidFill>
          <a:ln/>
        </p:spPr>
        <p:txBody>
          <a:bodyPr/>
          <a:lstStyle/>
          <a:p>
            <a:endParaRPr lang="en-US"/>
          </a:p>
        </p:txBody>
      </p:sp>
      <p:sp>
        <p:nvSpPr>
          <p:cNvPr id="618" name="Shape 616"/>
          <p:cNvSpPr/>
          <p:nvPr/>
        </p:nvSpPr>
        <p:spPr>
          <a:xfrm>
            <a:off x="10190927" y="2590495"/>
            <a:ext cx="31090" cy="31090"/>
          </a:xfrm>
          <a:prstGeom prst="ellipse">
            <a:avLst/>
          </a:prstGeom>
          <a:solidFill>
            <a:srgbClr val="1F7A6B"/>
          </a:solidFill>
          <a:ln/>
        </p:spPr>
        <p:txBody>
          <a:bodyPr/>
          <a:lstStyle/>
          <a:p>
            <a:endParaRPr lang="en-US"/>
          </a:p>
        </p:txBody>
      </p:sp>
      <p:sp>
        <p:nvSpPr>
          <p:cNvPr id="619" name="Shape 617"/>
          <p:cNvSpPr/>
          <p:nvPr/>
        </p:nvSpPr>
        <p:spPr>
          <a:xfrm>
            <a:off x="10257854" y="2590495"/>
            <a:ext cx="31090" cy="31090"/>
          </a:xfrm>
          <a:prstGeom prst="ellipse">
            <a:avLst/>
          </a:prstGeom>
          <a:solidFill>
            <a:srgbClr val="1F7A6B"/>
          </a:solidFill>
          <a:ln/>
        </p:spPr>
        <p:txBody>
          <a:bodyPr/>
          <a:lstStyle/>
          <a:p>
            <a:endParaRPr lang="en-US"/>
          </a:p>
        </p:txBody>
      </p:sp>
      <p:sp>
        <p:nvSpPr>
          <p:cNvPr id="620" name="Shape 618"/>
          <p:cNvSpPr/>
          <p:nvPr/>
        </p:nvSpPr>
        <p:spPr>
          <a:xfrm>
            <a:off x="10324780" y="2590495"/>
            <a:ext cx="31090" cy="31090"/>
          </a:xfrm>
          <a:prstGeom prst="ellipse">
            <a:avLst/>
          </a:prstGeom>
          <a:solidFill>
            <a:srgbClr val="1F7A6B"/>
          </a:solidFill>
          <a:ln/>
        </p:spPr>
        <p:txBody>
          <a:bodyPr/>
          <a:lstStyle/>
          <a:p>
            <a:endParaRPr lang="en-US"/>
          </a:p>
        </p:txBody>
      </p:sp>
      <p:sp>
        <p:nvSpPr>
          <p:cNvPr id="621" name="Shape 619"/>
          <p:cNvSpPr/>
          <p:nvPr/>
        </p:nvSpPr>
        <p:spPr>
          <a:xfrm>
            <a:off x="10391706" y="2590495"/>
            <a:ext cx="31090" cy="31090"/>
          </a:xfrm>
          <a:prstGeom prst="ellipse">
            <a:avLst/>
          </a:prstGeom>
          <a:solidFill>
            <a:srgbClr val="1F7A6B"/>
          </a:solidFill>
          <a:ln/>
        </p:spPr>
        <p:txBody>
          <a:bodyPr/>
          <a:lstStyle/>
          <a:p>
            <a:endParaRPr lang="en-US"/>
          </a:p>
        </p:txBody>
      </p:sp>
      <p:sp>
        <p:nvSpPr>
          <p:cNvPr id="622" name="Shape 620"/>
          <p:cNvSpPr/>
          <p:nvPr/>
        </p:nvSpPr>
        <p:spPr>
          <a:xfrm>
            <a:off x="10458633" y="2590495"/>
            <a:ext cx="31090" cy="31090"/>
          </a:xfrm>
          <a:prstGeom prst="ellipse">
            <a:avLst/>
          </a:prstGeom>
          <a:solidFill>
            <a:srgbClr val="1F7A6B"/>
          </a:solidFill>
          <a:ln/>
        </p:spPr>
        <p:txBody>
          <a:bodyPr/>
          <a:lstStyle/>
          <a:p>
            <a:endParaRPr lang="en-US"/>
          </a:p>
        </p:txBody>
      </p:sp>
      <p:sp>
        <p:nvSpPr>
          <p:cNvPr id="623" name="Shape 621"/>
          <p:cNvSpPr/>
          <p:nvPr/>
        </p:nvSpPr>
        <p:spPr>
          <a:xfrm>
            <a:off x="10525559" y="2590495"/>
            <a:ext cx="31090" cy="31090"/>
          </a:xfrm>
          <a:prstGeom prst="ellipse">
            <a:avLst/>
          </a:prstGeom>
          <a:solidFill>
            <a:srgbClr val="1F7A6B"/>
          </a:solidFill>
          <a:ln/>
        </p:spPr>
        <p:txBody>
          <a:bodyPr/>
          <a:lstStyle/>
          <a:p>
            <a:endParaRPr lang="en-US"/>
          </a:p>
        </p:txBody>
      </p:sp>
      <p:sp>
        <p:nvSpPr>
          <p:cNvPr id="624" name="Shape 622"/>
          <p:cNvSpPr/>
          <p:nvPr/>
        </p:nvSpPr>
        <p:spPr>
          <a:xfrm>
            <a:off x="10592486" y="2590495"/>
            <a:ext cx="31090" cy="31090"/>
          </a:xfrm>
          <a:prstGeom prst="ellipse">
            <a:avLst/>
          </a:prstGeom>
          <a:solidFill>
            <a:srgbClr val="1F7A6B"/>
          </a:solidFill>
          <a:ln/>
        </p:spPr>
        <p:txBody>
          <a:bodyPr/>
          <a:lstStyle/>
          <a:p>
            <a:endParaRPr lang="en-US"/>
          </a:p>
        </p:txBody>
      </p:sp>
      <p:sp>
        <p:nvSpPr>
          <p:cNvPr id="625" name="Shape 623"/>
          <p:cNvSpPr/>
          <p:nvPr/>
        </p:nvSpPr>
        <p:spPr>
          <a:xfrm>
            <a:off x="10659412" y="2590495"/>
            <a:ext cx="31090" cy="31090"/>
          </a:xfrm>
          <a:prstGeom prst="ellipse">
            <a:avLst/>
          </a:prstGeom>
          <a:solidFill>
            <a:srgbClr val="1F7A6B"/>
          </a:solidFill>
          <a:ln/>
        </p:spPr>
        <p:txBody>
          <a:bodyPr/>
          <a:lstStyle/>
          <a:p>
            <a:endParaRPr lang="en-US"/>
          </a:p>
        </p:txBody>
      </p:sp>
      <p:sp>
        <p:nvSpPr>
          <p:cNvPr id="626" name="Shape 624"/>
          <p:cNvSpPr/>
          <p:nvPr/>
        </p:nvSpPr>
        <p:spPr>
          <a:xfrm>
            <a:off x="10726339" y="2590495"/>
            <a:ext cx="31090" cy="31090"/>
          </a:xfrm>
          <a:prstGeom prst="ellipse">
            <a:avLst/>
          </a:prstGeom>
          <a:solidFill>
            <a:srgbClr val="1F7A6B"/>
          </a:solidFill>
          <a:ln/>
        </p:spPr>
        <p:txBody>
          <a:bodyPr/>
          <a:lstStyle/>
          <a:p>
            <a:endParaRPr lang="en-US"/>
          </a:p>
        </p:txBody>
      </p:sp>
      <p:sp>
        <p:nvSpPr>
          <p:cNvPr id="627" name="Shape 625"/>
          <p:cNvSpPr/>
          <p:nvPr/>
        </p:nvSpPr>
        <p:spPr>
          <a:xfrm>
            <a:off x="10793265" y="2590495"/>
            <a:ext cx="31090" cy="31090"/>
          </a:xfrm>
          <a:prstGeom prst="ellipse">
            <a:avLst/>
          </a:prstGeom>
          <a:solidFill>
            <a:srgbClr val="1F7A6B"/>
          </a:solidFill>
          <a:ln/>
        </p:spPr>
        <p:txBody>
          <a:bodyPr/>
          <a:lstStyle/>
          <a:p>
            <a:endParaRPr lang="en-US"/>
          </a:p>
        </p:txBody>
      </p:sp>
      <p:sp>
        <p:nvSpPr>
          <p:cNvPr id="628" name="Shape 626"/>
          <p:cNvSpPr/>
          <p:nvPr/>
        </p:nvSpPr>
        <p:spPr>
          <a:xfrm>
            <a:off x="10860192" y="2590495"/>
            <a:ext cx="31090" cy="31090"/>
          </a:xfrm>
          <a:prstGeom prst="ellipse">
            <a:avLst/>
          </a:prstGeom>
          <a:solidFill>
            <a:srgbClr val="1F7A6B"/>
          </a:solidFill>
          <a:ln/>
        </p:spPr>
        <p:txBody>
          <a:bodyPr/>
          <a:lstStyle/>
          <a:p>
            <a:endParaRPr lang="en-US"/>
          </a:p>
        </p:txBody>
      </p:sp>
      <p:sp>
        <p:nvSpPr>
          <p:cNvPr id="629" name="Shape 627"/>
          <p:cNvSpPr/>
          <p:nvPr/>
        </p:nvSpPr>
        <p:spPr>
          <a:xfrm>
            <a:off x="10927118" y="2590495"/>
            <a:ext cx="31090" cy="31090"/>
          </a:xfrm>
          <a:prstGeom prst="ellipse">
            <a:avLst/>
          </a:prstGeom>
          <a:solidFill>
            <a:srgbClr val="1F7A6B"/>
          </a:solidFill>
          <a:ln/>
        </p:spPr>
        <p:txBody>
          <a:bodyPr/>
          <a:lstStyle/>
          <a:p>
            <a:endParaRPr lang="en-US"/>
          </a:p>
        </p:txBody>
      </p:sp>
      <p:sp>
        <p:nvSpPr>
          <p:cNvPr id="630" name="Shape 628"/>
          <p:cNvSpPr/>
          <p:nvPr/>
        </p:nvSpPr>
        <p:spPr>
          <a:xfrm>
            <a:off x="10994045" y="2590495"/>
            <a:ext cx="31090" cy="31090"/>
          </a:xfrm>
          <a:prstGeom prst="ellipse">
            <a:avLst/>
          </a:prstGeom>
          <a:solidFill>
            <a:srgbClr val="1F7A6B"/>
          </a:solidFill>
          <a:ln/>
        </p:spPr>
        <p:txBody>
          <a:bodyPr/>
          <a:lstStyle/>
          <a:p>
            <a:endParaRPr lang="en-US"/>
          </a:p>
        </p:txBody>
      </p:sp>
      <p:sp>
        <p:nvSpPr>
          <p:cNvPr id="631" name="Shape 629"/>
          <p:cNvSpPr/>
          <p:nvPr/>
        </p:nvSpPr>
        <p:spPr>
          <a:xfrm>
            <a:off x="11060971" y="2590495"/>
            <a:ext cx="31090" cy="31090"/>
          </a:xfrm>
          <a:prstGeom prst="ellipse">
            <a:avLst/>
          </a:prstGeom>
          <a:solidFill>
            <a:srgbClr val="1F7A6B"/>
          </a:solidFill>
          <a:ln/>
        </p:spPr>
        <p:txBody>
          <a:bodyPr/>
          <a:lstStyle/>
          <a:p>
            <a:endParaRPr lang="en-US"/>
          </a:p>
        </p:txBody>
      </p:sp>
      <p:sp>
        <p:nvSpPr>
          <p:cNvPr id="632" name="Shape 630"/>
          <p:cNvSpPr/>
          <p:nvPr/>
        </p:nvSpPr>
        <p:spPr>
          <a:xfrm>
            <a:off x="11127897" y="2590495"/>
            <a:ext cx="31090" cy="31090"/>
          </a:xfrm>
          <a:prstGeom prst="ellipse">
            <a:avLst/>
          </a:prstGeom>
          <a:solidFill>
            <a:srgbClr val="1F7A6B"/>
          </a:solidFill>
          <a:ln/>
        </p:spPr>
        <p:txBody>
          <a:bodyPr/>
          <a:lstStyle/>
          <a:p>
            <a:endParaRPr lang="en-US"/>
          </a:p>
        </p:txBody>
      </p:sp>
      <p:sp>
        <p:nvSpPr>
          <p:cNvPr id="633" name="Shape 631"/>
          <p:cNvSpPr/>
          <p:nvPr/>
        </p:nvSpPr>
        <p:spPr>
          <a:xfrm>
            <a:off x="11194824" y="2590495"/>
            <a:ext cx="31090" cy="31090"/>
          </a:xfrm>
          <a:prstGeom prst="ellipse">
            <a:avLst/>
          </a:prstGeom>
          <a:solidFill>
            <a:srgbClr val="1F7A6B"/>
          </a:solidFill>
          <a:ln/>
        </p:spPr>
        <p:txBody>
          <a:bodyPr/>
          <a:lstStyle/>
          <a:p>
            <a:endParaRPr lang="en-US"/>
          </a:p>
        </p:txBody>
      </p:sp>
      <p:sp>
        <p:nvSpPr>
          <p:cNvPr id="634" name="Shape 632"/>
          <p:cNvSpPr/>
          <p:nvPr/>
        </p:nvSpPr>
        <p:spPr>
          <a:xfrm>
            <a:off x="11261750" y="2590495"/>
            <a:ext cx="31090" cy="31090"/>
          </a:xfrm>
          <a:prstGeom prst="ellipse">
            <a:avLst/>
          </a:prstGeom>
          <a:solidFill>
            <a:srgbClr val="1F7A6B"/>
          </a:solidFill>
          <a:ln/>
        </p:spPr>
        <p:txBody>
          <a:bodyPr/>
          <a:lstStyle/>
          <a:p>
            <a:endParaRPr lang="en-US"/>
          </a:p>
        </p:txBody>
      </p:sp>
      <p:sp>
        <p:nvSpPr>
          <p:cNvPr id="635" name="Text 633"/>
          <p:cNvSpPr txBox="1"/>
          <p:nvPr/>
        </p:nvSpPr>
        <p:spPr>
          <a:xfrm>
            <a:off x="8995181" y="3429000"/>
            <a:ext cx="2556434" cy="274320"/>
          </a:xfrm>
          <a:prstGeom prst="rect">
            <a:avLst/>
          </a:prstGeom>
          <a:noFill/>
          <a:ln/>
        </p:spPr>
        <p:txBody>
          <a:bodyPr wrap="square" lIns="0" tIns="0" rIns="0" bIns="0" rtlCol="0" anchor="ctr"/>
          <a:lstStyle/>
          <a:p>
            <a:pPr marL="0" indent="0" algn="ctr">
              <a:buNone/>
            </a:pPr>
            <a:r>
              <a:rPr lang="en-US" sz="1050" i="1" dirty="0">
                <a:solidFill>
                  <a:srgbClr val="5B6474"/>
                </a:solidFill>
                <a:latin typeface="Calibri" pitchFamily="34" charset="0"/>
                <a:ea typeface="Calibri" pitchFamily="34" charset="-122"/>
                <a:cs typeface="Calibri" pitchFamily="34" charset="-120"/>
              </a:rPr>
              <a:t>D flat at ½</a:t>
            </a:r>
            <a:endParaRPr lang="en-US" sz="1050" dirty="0"/>
          </a:p>
        </p:txBody>
      </p:sp>
      <p:sp>
        <p:nvSpPr>
          <p:cNvPr id="636" name="Text 634"/>
          <p:cNvSpPr txBox="1"/>
          <p:nvPr/>
        </p:nvSpPr>
        <p:spPr>
          <a:xfrm>
            <a:off x="9132341" y="3703320"/>
            <a:ext cx="2282114" cy="411480"/>
          </a:xfrm>
          <a:prstGeom prst="rect">
            <a:avLst/>
          </a:prstGeom>
          <a:noFill/>
          <a:ln/>
        </p:spPr>
        <p:txBody>
          <a:bodyPr wrap="square" lIns="0" tIns="0" rIns="0" bIns="0" rtlCol="0" anchor="ctr"/>
          <a:lstStyle/>
          <a:p>
            <a:pPr marL="0" indent="0" algn="ctr">
              <a:lnSpc>
                <a:spcPts val="1300"/>
              </a:lnSpc>
              <a:buNone/>
            </a:pPr>
            <a:r>
              <a:rPr lang="en-US" sz="1050" dirty="0">
                <a:solidFill>
                  <a:srgbClr val="5B6474"/>
                </a:solidFill>
                <a:latin typeface="Calibri" pitchFamily="34" charset="0"/>
                <a:ea typeface="Calibri" pitchFamily="34" charset="-122"/>
                <a:cs typeface="Calibri" pitchFamily="34" charset="-120"/>
              </a:rPr>
              <a:t>the two curves coincide — D cannot tell</a:t>
            </a:r>
            <a:endParaRPr lang="en-US" sz="1050" dirty="0"/>
          </a:p>
        </p:txBody>
      </p:sp>
      <p:sp>
        <p:nvSpPr>
          <p:cNvPr id="637" name="Text 635"/>
          <p:cNvSpPr txBox="1"/>
          <p:nvPr/>
        </p:nvSpPr>
        <p:spPr>
          <a:xfrm>
            <a:off x="640080" y="4343400"/>
            <a:ext cx="10881360" cy="292608"/>
          </a:xfrm>
          <a:prstGeom prst="rect">
            <a:avLst/>
          </a:prstGeom>
          <a:noFill/>
          <a:ln/>
        </p:spPr>
        <p:txBody>
          <a:bodyPr wrap="square" lIns="0" tIns="0" rIns="0" bIns="0" rtlCol="0" anchor="ctr"/>
          <a:lstStyle/>
          <a:p>
            <a:pPr marL="0" indent="0" algn="ctr">
              <a:buNone/>
            </a:pPr>
            <a:r>
              <a:rPr lang="en-US" sz="1150" i="1" dirty="0">
                <a:solidFill>
                  <a:srgbClr val="5B6474"/>
                </a:solidFill>
                <a:latin typeface="Calibri" pitchFamily="34" charset="0"/>
                <a:ea typeface="Calibri" pitchFamily="34" charset="-122"/>
                <a:cs typeface="Calibri" pitchFamily="34" charset="-120"/>
              </a:rPr>
              <a:t>grey = the real distribution p_data    ·    magenta = the generator p_g    ·    teal = what the discriminator D outputs</a:t>
            </a:r>
            <a:endParaRPr lang="en-US" sz="1150" dirty="0"/>
          </a:p>
        </p:txBody>
      </p:sp>
      <p:sp>
        <p:nvSpPr>
          <p:cNvPr id="638" name="Shape 636"/>
          <p:cNvSpPr/>
          <p:nvPr/>
        </p:nvSpPr>
        <p:spPr>
          <a:xfrm>
            <a:off x="640080" y="4754880"/>
            <a:ext cx="10911535" cy="1280160"/>
          </a:xfrm>
          <a:prstGeom prst="roundRect">
            <a:avLst>
              <a:gd name="adj" fmla="val 5714"/>
            </a:avLst>
          </a:prstGeom>
          <a:solidFill>
            <a:srgbClr val="0E131B"/>
          </a:solidFill>
          <a:ln w="12700">
            <a:solidFill>
              <a:srgbClr val="0E131B"/>
            </a:solidFill>
            <a:prstDash val="solid"/>
          </a:ln>
        </p:spPr>
        <p:txBody>
          <a:bodyPr/>
          <a:lstStyle/>
          <a:p>
            <a:endParaRPr lang="en-US"/>
          </a:p>
        </p:txBody>
      </p:sp>
      <p:sp>
        <p:nvSpPr>
          <p:cNvPr id="639" name="Text 637"/>
          <p:cNvSpPr txBox="1"/>
          <p:nvPr/>
        </p:nvSpPr>
        <p:spPr>
          <a:xfrm>
            <a:off x="1005840" y="4919472"/>
            <a:ext cx="10424160" cy="274320"/>
          </a:xfrm>
          <a:prstGeom prst="rect">
            <a:avLst/>
          </a:prstGeom>
          <a:noFill/>
          <a:ln/>
        </p:spPr>
        <p:txBody>
          <a:bodyPr wrap="square" lIns="0" tIns="0" rIns="0" bIns="0" rtlCol="0" anchor="ctr"/>
          <a:lstStyle/>
          <a:p>
            <a:pPr marL="0" indent="0">
              <a:buNone/>
            </a:pPr>
            <a:r>
              <a:rPr lang="en-US" sz="1150" b="1" kern="0" spc="140" dirty="0">
                <a:solidFill>
                  <a:srgbClr val="DFA9C4"/>
                </a:solidFill>
                <a:latin typeface="Calibri" pitchFamily="34" charset="0"/>
                <a:ea typeface="Calibri" pitchFamily="34" charset="-122"/>
                <a:cs typeface="Calibri" pitchFamily="34" charset="-120"/>
              </a:rPr>
              <a:t>Notice what the figure assumes</a:t>
            </a:r>
            <a:endParaRPr lang="en-US" sz="1150" dirty="0"/>
          </a:p>
        </p:txBody>
      </p:sp>
      <p:sp>
        <p:nvSpPr>
          <p:cNvPr id="640" name="Text 638"/>
          <p:cNvSpPr txBox="1"/>
          <p:nvPr/>
        </p:nvSpPr>
        <p:spPr>
          <a:xfrm>
            <a:off x="1005840" y="5248656"/>
            <a:ext cx="10424160" cy="621792"/>
          </a:xfrm>
          <a:prstGeom prst="rect">
            <a:avLst/>
          </a:prstGeom>
          <a:noFill/>
          <a:ln/>
        </p:spPr>
        <p:txBody>
          <a:bodyPr wrap="square" lIns="0" tIns="0" rIns="0" bIns="0" rtlCol="0" anchor="ctr"/>
          <a:lstStyle/>
          <a:p>
            <a:pPr marL="0" indent="0">
              <a:lnSpc>
                <a:spcPts val="2000"/>
              </a:lnSpc>
              <a:buNone/>
            </a:pPr>
            <a:r>
              <a:rPr lang="en-US" sz="1500" dirty="0">
                <a:solidFill>
                  <a:srgbClr val="F2F4F8"/>
                </a:solidFill>
                <a:latin typeface="Cambria" pitchFamily="34" charset="0"/>
                <a:ea typeface="Cambria" pitchFamily="34" charset="-122"/>
                <a:cs typeface="Cambria" pitchFamily="34" charset="-120"/>
              </a:rPr>
              <a:t>The paper’s illustration uses a single-humped world. Under that assumption a generator that finds the hump has found everything, and convergence and coverage are the same event. The figure is honest and it is also the best possible case. Redraw the world with five humps and the picture stops being reassuring.</a:t>
            </a:r>
            <a:endParaRPr lang="en-US" sz="1500" dirty="0"/>
          </a:p>
        </p:txBody>
      </p:sp>
      <p:sp>
        <p:nvSpPr>
          <p:cNvPr id="641" name="Text 639"/>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B6474"/>
                </a:solidFill>
                <a:latin typeface="Calibri" pitchFamily="34" charset="0"/>
                <a:ea typeface="Calibri" pitchFamily="34" charset="-122"/>
                <a:cs typeface="Calibri" pitchFamily="34" charset="-120"/>
              </a:rPr>
              <a:t>Redrawn schematically after Goodfellow et al., Figure 1. The original also shows the mapping from z to x beneath each panel.</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bg>
      <p:bgPr>
        <a:solidFill>
          <a:srgbClr val="0E131B"/>
        </a:solidFill>
        <a:effectLst/>
      </p:bgPr>
    </p:bg>
    <p:spTree>
      <p:nvGrpSpPr>
        <p:cNvPr id="1" name=""/>
        <p:cNvGrpSpPr/>
        <p:nvPr/>
      </p:nvGrpSpPr>
      <p:grpSpPr>
        <a:xfrm>
          <a:off x="0" y="0"/>
          <a:ext cx="0" cy="0"/>
          <a:chOff x="0" y="0"/>
          <a:chExt cx="0" cy="0"/>
        </a:xfrm>
      </p:grpSpPr>
      <p:sp>
        <p:nvSpPr>
          <p:cNvPr id="2" name="Shape 0"/>
          <p:cNvSpPr/>
          <p:nvPr/>
        </p:nvSpPr>
        <p:spPr>
          <a:xfrm>
            <a:off x="8778240" y="1417320"/>
            <a:ext cx="2651760" cy="2651760"/>
          </a:xfrm>
          <a:prstGeom prst="ellipse">
            <a:avLst/>
          </a:prstGeom>
          <a:solidFill>
            <a:srgbClr val="9C3D6E">
              <a:alpha val="70000"/>
            </a:srgbClr>
          </a:solidFill>
          <a:ln/>
        </p:spPr>
        <p:txBody>
          <a:bodyPr/>
          <a:lstStyle/>
          <a:p>
            <a:endParaRPr lang="en-US"/>
          </a:p>
        </p:txBody>
      </p:sp>
      <p:sp>
        <p:nvSpPr>
          <p:cNvPr id="3" name="Shape 1"/>
          <p:cNvSpPr/>
          <p:nvPr/>
        </p:nvSpPr>
        <p:spPr>
          <a:xfrm>
            <a:off x="9646920" y="2286000"/>
            <a:ext cx="1188720" cy="1188720"/>
          </a:xfrm>
          <a:prstGeom prst="ellipse">
            <a:avLst/>
          </a:prstGeom>
          <a:solidFill>
            <a:srgbClr val="1F7A6B">
              <a:alpha val="75000"/>
            </a:srgbClr>
          </a:solidFill>
          <a:ln/>
        </p:spPr>
        <p:txBody>
          <a:bodyPr/>
          <a:lstStyle/>
          <a:p>
            <a:endParaRPr lang="en-US"/>
          </a:p>
        </p:txBody>
      </p:sp>
      <p:sp>
        <p:nvSpPr>
          <p:cNvPr id="4" name="Text 2"/>
          <p:cNvSpPr txBox="1"/>
          <p:nvPr/>
        </p:nvSpPr>
        <p:spPr>
          <a:xfrm>
            <a:off x="640080" y="1920240"/>
            <a:ext cx="7315200" cy="320040"/>
          </a:xfrm>
          <a:prstGeom prst="rect">
            <a:avLst/>
          </a:prstGeom>
          <a:noFill/>
          <a:ln/>
        </p:spPr>
        <p:txBody>
          <a:bodyPr wrap="square" lIns="0" tIns="0" rIns="0" bIns="0" rtlCol="0" anchor="ctr"/>
          <a:lstStyle/>
          <a:p>
            <a:pPr marL="0" indent="0">
              <a:buNone/>
            </a:pPr>
            <a:r>
              <a:rPr lang="en-US" sz="1300" b="1" kern="0" spc="220" dirty="0">
                <a:solidFill>
                  <a:srgbClr val="DFA9C4"/>
                </a:solidFill>
                <a:latin typeface="Calibri" pitchFamily="34" charset="0"/>
                <a:ea typeface="Calibri" pitchFamily="34" charset="-122"/>
                <a:cs typeface="Calibri" pitchFamily="34" charset="-120"/>
              </a:rPr>
              <a:t>PART THREE</a:t>
            </a:r>
            <a:endParaRPr lang="en-US" sz="1300" dirty="0"/>
          </a:p>
        </p:txBody>
      </p:sp>
      <p:sp>
        <p:nvSpPr>
          <p:cNvPr id="5" name="Text 3"/>
          <p:cNvSpPr txBox="1"/>
          <p:nvPr/>
        </p:nvSpPr>
        <p:spPr>
          <a:xfrm>
            <a:off x="640080" y="2331720"/>
            <a:ext cx="7680960" cy="914400"/>
          </a:xfrm>
          <a:prstGeom prst="rect">
            <a:avLst/>
          </a:prstGeom>
          <a:noFill/>
          <a:ln/>
        </p:spPr>
        <p:txBody>
          <a:bodyPr wrap="square" lIns="0" tIns="0" rIns="0" bIns="0" rtlCol="0" anchor="ctr"/>
          <a:lstStyle/>
          <a:p>
            <a:pPr marL="0" indent="0">
              <a:buNone/>
            </a:pPr>
            <a:r>
              <a:rPr lang="en-US" sz="3600" b="1" dirty="0">
                <a:solidFill>
                  <a:srgbClr val="F2F4F8"/>
                </a:solidFill>
                <a:latin typeface="Cambria" pitchFamily="34" charset="0"/>
                <a:ea typeface="Cambria" pitchFamily="34" charset="-122"/>
                <a:cs typeface="Cambria" pitchFamily="34" charset="-120"/>
              </a:rPr>
              <a:t>Mode collapse</a:t>
            </a:r>
            <a:endParaRPr lang="en-US" sz="3600" dirty="0"/>
          </a:p>
        </p:txBody>
      </p:sp>
      <p:sp>
        <p:nvSpPr>
          <p:cNvPr id="6" name="Text 4"/>
          <p:cNvSpPr txBox="1"/>
          <p:nvPr/>
        </p:nvSpPr>
        <p:spPr>
          <a:xfrm>
            <a:off x="640080" y="3310128"/>
            <a:ext cx="768096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The mechanism  ·  1:40–2:30</a:t>
            </a:r>
            <a:endParaRPr lang="en-US" sz="1500" dirty="0"/>
          </a:p>
        </p:txBody>
      </p:sp>
      <p:sp>
        <p:nvSpPr>
          <p:cNvPr id="7" name="Shape 5"/>
          <p:cNvSpPr/>
          <p:nvPr/>
        </p:nvSpPr>
        <p:spPr>
          <a:xfrm>
            <a:off x="640080" y="3913632"/>
            <a:ext cx="2377440" cy="18288"/>
          </a:xfrm>
          <a:prstGeom prst="rect">
            <a:avLst/>
          </a:prstGeom>
          <a:solidFill>
            <a:srgbClr val="84CCBD"/>
          </a:solidFill>
          <a:ln/>
        </p:spPr>
        <p:txBody>
          <a:bodyPr/>
          <a:lstStyle/>
          <a:p>
            <a:endParaRPr lang="en-US"/>
          </a:p>
        </p:txBody>
      </p:sp>
      <p:sp>
        <p:nvSpPr>
          <p:cNvPr id="8" name="Text 6"/>
          <p:cNvSpPr txBox="1"/>
          <p:nvPr/>
        </p:nvSpPr>
        <p:spPr>
          <a:xfrm>
            <a:off x="640080" y="4133088"/>
            <a:ext cx="7680960" cy="777240"/>
          </a:xfrm>
          <a:prstGeom prst="rect">
            <a:avLst/>
          </a:prstGeom>
          <a:noFill/>
          <a:ln/>
        </p:spPr>
        <p:txBody>
          <a:bodyPr wrap="square" lIns="0" tIns="0" rIns="0" bIns="0" rtlCol="0" anchor="ctr"/>
          <a:lstStyle/>
          <a:p>
            <a:pPr marL="0" indent="0">
              <a:lnSpc>
                <a:spcPts val="2500"/>
              </a:lnSpc>
              <a:buNone/>
            </a:pPr>
            <a:r>
              <a:rPr lang="en-US" sz="1850" i="1" dirty="0">
                <a:solidFill>
                  <a:srgbClr val="84CCBD"/>
                </a:solidFill>
                <a:latin typeface="Cambria" pitchFamily="34" charset="0"/>
                <a:ea typeface="Cambria" pitchFamily="34" charset="-122"/>
                <a:cs typeface="Cambria" pitchFamily="34" charset="-120"/>
              </a:rPr>
              <a:t>It has not broken. It is succeeding, narrowly and perfectly.</a:t>
            </a:r>
            <a:endParaRPr lang="en-US" sz="1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9C3D6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THE PICTURE</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0E131B"/>
                </a:solidFill>
                <a:latin typeface="Cambria" pitchFamily="34" charset="0"/>
                <a:ea typeface="Cambria" pitchFamily="34" charset="-122"/>
                <a:cs typeface="Cambria" pitchFamily="34" charset="-120"/>
              </a:rPr>
              <a:t>Five modes in the world, one in the model</a:t>
            </a:r>
            <a:endParaRPr lang="en-US" sz="2900" dirty="0"/>
          </a:p>
        </p:txBody>
      </p:sp>
      <p:sp>
        <p:nvSpPr>
          <p:cNvPr id="5" name="Shape 3"/>
          <p:cNvSpPr/>
          <p:nvPr/>
        </p:nvSpPr>
        <p:spPr>
          <a:xfrm>
            <a:off x="914400" y="2606040"/>
            <a:ext cx="6492240" cy="16459"/>
          </a:xfrm>
          <a:prstGeom prst="rect">
            <a:avLst/>
          </a:prstGeom>
          <a:solidFill>
            <a:srgbClr val="B6BECB"/>
          </a:solidFill>
          <a:ln/>
        </p:spPr>
        <p:txBody>
          <a:bodyPr/>
          <a:lstStyle/>
          <a:p>
            <a:endParaRPr lang="en-US"/>
          </a:p>
        </p:txBody>
      </p:sp>
      <p:sp>
        <p:nvSpPr>
          <p:cNvPr id="6" name="Shape 4"/>
          <p:cNvSpPr/>
          <p:nvPr/>
        </p:nvSpPr>
        <p:spPr>
          <a:xfrm>
            <a:off x="986638" y="2520116"/>
            <a:ext cx="38405" cy="38405"/>
          </a:xfrm>
          <a:prstGeom prst="ellipse">
            <a:avLst/>
          </a:prstGeom>
          <a:solidFill>
            <a:srgbClr val="1F7A6B"/>
          </a:solidFill>
          <a:ln/>
        </p:spPr>
        <p:txBody>
          <a:bodyPr/>
          <a:lstStyle/>
          <a:p>
            <a:endParaRPr lang="en-US"/>
          </a:p>
        </p:txBody>
      </p:sp>
      <p:sp>
        <p:nvSpPr>
          <p:cNvPr id="7" name="Shape 5"/>
          <p:cNvSpPr/>
          <p:nvPr/>
        </p:nvSpPr>
        <p:spPr>
          <a:xfrm>
            <a:off x="1039216" y="2481912"/>
            <a:ext cx="38405" cy="38405"/>
          </a:xfrm>
          <a:prstGeom prst="ellipse">
            <a:avLst/>
          </a:prstGeom>
          <a:solidFill>
            <a:srgbClr val="1F7A6B"/>
          </a:solidFill>
          <a:ln/>
        </p:spPr>
        <p:txBody>
          <a:bodyPr/>
          <a:lstStyle/>
          <a:p>
            <a:endParaRPr lang="en-US"/>
          </a:p>
        </p:txBody>
      </p:sp>
      <p:sp>
        <p:nvSpPr>
          <p:cNvPr id="8" name="Shape 6"/>
          <p:cNvSpPr/>
          <p:nvPr/>
        </p:nvSpPr>
        <p:spPr>
          <a:xfrm>
            <a:off x="1091794" y="2428202"/>
            <a:ext cx="38405" cy="38405"/>
          </a:xfrm>
          <a:prstGeom prst="ellipse">
            <a:avLst/>
          </a:prstGeom>
          <a:solidFill>
            <a:srgbClr val="1F7A6B"/>
          </a:solidFill>
          <a:ln/>
        </p:spPr>
        <p:txBody>
          <a:bodyPr/>
          <a:lstStyle/>
          <a:p>
            <a:endParaRPr lang="en-US"/>
          </a:p>
        </p:txBody>
      </p:sp>
      <p:sp>
        <p:nvSpPr>
          <p:cNvPr id="9" name="Shape 7"/>
          <p:cNvSpPr/>
          <p:nvPr/>
        </p:nvSpPr>
        <p:spPr>
          <a:xfrm>
            <a:off x="1144372" y="2356256"/>
            <a:ext cx="38405" cy="38405"/>
          </a:xfrm>
          <a:prstGeom prst="ellipse">
            <a:avLst/>
          </a:prstGeom>
          <a:solidFill>
            <a:srgbClr val="1F7A6B"/>
          </a:solidFill>
          <a:ln/>
        </p:spPr>
        <p:txBody>
          <a:bodyPr/>
          <a:lstStyle/>
          <a:p>
            <a:endParaRPr lang="en-US"/>
          </a:p>
        </p:txBody>
      </p:sp>
      <p:sp>
        <p:nvSpPr>
          <p:cNvPr id="10" name="Shape 8"/>
          <p:cNvSpPr/>
          <p:nvPr/>
        </p:nvSpPr>
        <p:spPr>
          <a:xfrm>
            <a:off x="1196950" y="2264620"/>
            <a:ext cx="38405" cy="38405"/>
          </a:xfrm>
          <a:prstGeom prst="ellipse">
            <a:avLst/>
          </a:prstGeom>
          <a:solidFill>
            <a:srgbClr val="1F7A6B"/>
          </a:solidFill>
          <a:ln/>
        </p:spPr>
        <p:txBody>
          <a:bodyPr/>
          <a:lstStyle/>
          <a:p>
            <a:endParaRPr lang="en-US"/>
          </a:p>
        </p:txBody>
      </p:sp>
      <p:sp>
        <p:nvSpPr>
          <p:cNvPr id="11" name="Shape 9"/>
          <p:cNvSpPr/>
          <p:nvPr/>
        </p:nvSpPr>
        <p:spPr>
          <a:xfrm>
            <a:off x="1249528" y="2153947"/>
            <a:ext cx="38405" cy="38405"/>
          </a:xfrm>
          <a:prstGeom prst="ellipse">
            <a:avLst/>
          </a:prstGeom>
          <a:solidFill>
            <a:srgbClr val="1F7A6B"/>
          </a:solidFill>
          <a:ln/>
        </p:spPr>
        <p:txBody>
          <a:bodyPr/>
          <a:lstStyle/>
          <a:p>
            <a:endParaRPr lang="en-US"/>
          </a:p>
        </p:txBody>
      </p:sp>
      <p:sp>
        <p:nvSpPr>
          <p:cNvPr id="12" name="Shape 10"/>
          <p:cNvSpPr/>
          <p:nvPr/>
        </p:nvSpPr>
        <p:spPr>
          <a:xfrm>
            <a:off x="1302106" y="2027712"/>
            <a:ext cx="38405" cy="38405"/>
          </a:xfrm>
          <a:prstGeom prst="ellipse">
            <a:avLst/>
          </a:prstGeom>
          <a:solidFill>
            <a:srgbClr val="1F7A6B"/>
          </a:solidFill>
          <a:ln/>
        </p:spPr>
        <p:txBody>
          <a:bodyPr/>
          <a:lstStyle/>
          <a:p>
            <a:endParaRPr lang="en-US"/>
          </a:p>
        </p:txBody>
      </p:sp>
      <p:sp>
        <p:nvSpPr>
          <p:cNvPr id="13" name="Shape 11"/>
          <p:cNvSpPr/>
          <p:nvPr/>
        </p:nvSpPr>
        <p:spPr>
          <a:xfrm>
            <a:off x="1354684" y="1892543"/>
            <a:ext cx="38405" cy="38405"/>
          </a:xfrm>
          <a:prstGeom prst="ellipse">
            <a:avLst/>
          </a:prstGeom>
          <a:solidFill>
            <a:srgbClr val="1F7A6B"/>
          </a:solidFill>
          <a:ln/>
        </p:spPr>
        <p:txBody>
          <a:bodyPr/>
          <a:lstStyle/>
          <a:p>
            <a:endParaRPr lang="en-US"/>
          </a:p>
        </p:txBody>
      </p:sp>
      <p:sp>
        <p:nvSpPr>
          <p:cNvPr id="14" name="Shape 12"/>
          <p:cNvSpPr/>
          <p:nvPr/>
        </p:nvSpPr>
        <p:spPr>
          <a:xfrm>
            <a:off x="1407262" y="1757978"/>
            <a:ext cx="38405" cy="38405"/>
          </a:xfrm>
          <a:prstGeom prst="ellipse">
            <a:avLst/>
          </a:prstGeom>
          <a:solidFill>
            <a:srgbClr val="1F7A6B"/>
          </a:solidFill>
          <a:ln/>
        </p:spPr>
        <p:txBody>
          <a:bodyPr/>
          <a:lstStyle/>
          <a:p>
            <a:endParaRPr lang="en-US"/>
          </a:p>
        </p:txBody>
      </p:sp>
      <p:sp>
        <p:nvSpPr>
          <p:cNvPr id="15" name="Shape 13"/>
          <p:cNvSpPr/>
          <p:nvPr/>
        </p:nvSpPr>
        <p:spPr>
          <a:xfrm>
            <a:off x="1459840" y="1635530"/>
            <a:ext cx="38405" cy="38405"/>
          </a:xfrm>
          <a:prstGeom prst="ellipse">
            <a:avLst/>
          </a:prstGeom>
          <a:solidFill>
            <a:srgbClr val="1F7A6B"/>
          </a:solidFill>
          <a:ln/>
        </p:spPr>
        <p:txBody>
          <a:bodyPr/>
          <a:lstStyle/>
          <a:p>
            <a:endParaRPr lang="en-US"/>
          </a:p>
        </p:txBody>
      </p:sp>
      <p:sp>
        <p:nvSpPr>
          <p:cNvPr id="16" name="Shape 14"/>
          <p:cNvSpPr/>
          <p:nvPr/>
        </p:nvSpPr>
        <p:spPr>
          <a:xfrm>
            <a:off x="1512418" y="1537140"/>
            <a:ext cx="38405" cy="38405"/>
          </a:xfrm>
          <a:prstGeom prst="ellipse">
            <a:avLst/>
          </a:prstGeom>
          <a:solidFill>
            <a:srgbClr val="1F7A6B"/>
          </a:solidFill>
          <a:ln/>
        </p:spPr>
        <p:txBody>
          <a:bodyPr/>
          <a:lstStyle/>
          <a:p>
            <a:endParaRPr lang="en-US"/>
          </a:p>
        </p:txBody>
      </p:sp>
      <p:sp>
        <p:nvSpPr>
          <p:cNvPr id="17" name="Shape 15"/>
          <p:cNvSpPr/>
          <p:nvPr/>
        </p:nvSpPr>
        <p:spPr>
          <a:xfrm>
            <a:off x="1564996" y="1473284"/>
            <a:ext cx="38405" cy="38405"/>
          </a:xfrm>
          <a:prstGeom prst="ellipse">
            <a:avLst/>
          </a:prstGeom>
          <a:solidFill>
            <a:srgbClr val="1F7A6B"/>
          </a:solidFill>
          <a:ln/>
        </p:spPr>
        <p:txBody>
          <a:bodyPr/>
          <a:lstStyle/>
          <a:p>
            <a:endParaRPr lang="en-US"/>
          </a:p>
        </p:txBody>
      </p:sp>
      <p:sp>
        <p:nvSpPr>
          <p:cNvPr id="18" name="Shape 16"/>
          <p:cNvSpPr/>
          <p:nvPr/>
        </p:nvSpPr>
        <p:spPr>
          <a:xfrm>
            <a:off x="1617574" y="1451139"/>
            <a:ext cx="38405" cy="38405"/>
          </a:xfrm>
          <a:prstGeom prst="ellipse">
            <a:avLst/>
          </a:prstGeom>
          <a:solidFill>
            <a:srgbClr val="1F7A6B"/>
          </a:solidFill>
          <a:ln/>
        </p:spPr>
        <p:txBody>
          <a:bodyPr/>
          <a:lstStyle/>
          <a:p>
            <a:endParaRPr lang="en-US"/>
          </a:p>
        </p:txBody>
      </p:sp>
      <p:sp>
        <p:nvSpPr>
          <p:cNvPr id="19" name="Shape 17"/>
          <p:cNvSpPr/>
          <p:nvPr/>
        </p:nvSpPr>
        <p:spPr>
          <a:xfrm>
            <a:off x="1670152" y="1473255"/>
            <a:ext cx="38405" cy="38405"/>
          </a:xfrm>
          <a:prstGeom prst="ellipse">
            <a:avLst/>
          </a:prstGeom>
          <a:solidFill>
            <a:srgbClr val="1F7A6B"/>
          </a:solidFill>
          <a:ln/>
        </p:spPr>
        <p:txBody>
          <a:bodyPr/>
          <a:lstStyle/>
          <a:p>
            <a:endParaRPr lang="en-US"/>
          </a:p>
        </p:txBody>
      </p:sp>
      <p:sp>
        <p:nvSpPr>
          <p:cNvPr id="20" name="Shape 18"/>
          <p:cNvSpPr/>
          <p:nvPr/>
        </p:nvSpPr>
        <p:spPr>
          <a:xfrm>
            <a:off x="1722730" y="1537059"/>
            <a:ext cx="38405" cy="38405"/>
          </a:xfrm>
          <a:prstGeom prst="ellipse">
            <a:avLst/>
          </a:prstGeom>
          <a:solidFill>
            <a:srgbClr val="1F7A6B"/>
          </a:solidFill>
          <a:ln/>
        </p:spPr>
        <p:txBody>
          <a:bodyPr/>
          <a:lstStyle/>
          <a:p>
            <a:endParaRPr lang="en-US"/>
          </a:p>
        </p:txBody>
      </p:sp>
      <p:sp>
        <p:nvSpPr>
          <p:cNvPr id="21" name="Shape 19"/>
          <p:cNvSpPr/>
          <p:nvPr/>
        </p:nvSpPr>
        <p:spPr>
          <a:xfrm>
            <a:off x="1775308" y="1635338"/>
            <a:ext cx="38405" cy="38405"/>
          </a:xfrm>
          <a:prstGeom prst="ellipse">
            <a:avLst/>
          </a:prstGeom>
          <a:solidFill>
            <a:srgbClr val="1F7A6B"/>
          </a:solidFill>
          <a:ln/>
        </p:spPr>
        <p:txBody>
          <a:bodyPr/>
          <a:lstStyle/>
          <a:p>
            <a:endParaRPr lang="en-US"/>
          </a:p>
        </p:txBody>
      </p:sp>
      <p:sp>
        <p:nvSpPr>
          <p:cNvPr id="22" name="Shape 20"/>
          <p:cNvSpPr/>
          <p:nvPr/>
        </p:nvSpPr>
        <p:spPr>
          <a:xfrm>
            <a:off x="1827886" y="1757546"/>
            <a:ext cx="38405" cy="38405"/>
          </a:xfrm>
          <a:prstGeom prst="ellipse">
            <a:avLst/>
          </a:prstGeom>
          <a:solidFill>
            <a:srgbClr val="1F7A6B"/>
          </a:solidFill>
          <a:ln/>
        </p:spPr>
        <p:txBody>
          <a:bodyPr/>
          <a:lstStyle/>
          <a:p>
            <a:endParaRPr lang="en-US"/>
          </a:p>
        </p:txBody>
      </p:sp>
      <p:sp>
        <p:nvSpPr>
          <p:cNvPr id="23" name="Shape 21"/>
          <p:cNvSpPr/>
          <p:nvPr/>
        </p:nvSpPr>
        <p:spPr>
          <a:xfrm>
            <a:off x="1880464" y="1891612"/>
            <a:ext cx="38405" cy="38405"/>
          </a:xfrm>
          <a:prstGeom prst="ellipse">
            <a:avLst/>
          </a:prstGeom>
          <a:solidFill>
            <a:srgbClr val="1F7A6B"/>
          </a:solidFill>
          <a:ln/>
        </p:spPr>
        <p:txBody>
          <a:bodyPr/>
          <a:lstStyle/>
          <a:p>
            <a:endParaRPr lang="en-US"/>
          </a:p>
        </p:txBody>
      </p:sp>
      <p:sp>
        <p:nvSpPr>
          <p:cNvPr id="24" name="Shape 22"/>
          <p:cNvSpPr/>
          <p:nvPr/>
        </p:nvSpPr>
        <p:spPr>
          <a:xfrm>
            <a:off x="1933042" y="2025782"/>
            <a:ext cx="38405" cy="38405"/>
          </a:xfrm>
          <a:prstGeom prst="ellipse">
            <a:avLst/>
          </a:prstGeom>
          <a:solidFill>
            <a:srgbClr val="1F7A6B"/>
          </a:solidFill>
          <a:ln/>
        </p:spPr>
        <p:txBody>
          <a:bodyPr/>
          <a:lstStyle/>
          <a:p>
            <a:endParaRPr lang="en-US"/>
          </a:p>
        </p:txBody>
      </p:sp>
      <p:sp>
        <p:nvSpPr>
          <p:cNvPr id="25" name="Shape 23"/>
          <p:cNvSpPr/>
          <p:nvPr/>
        </p:nvSpPr>
        <p:spPr>
          <a:xfrm>
            <a:off x="1985620" y="2150104"/>
            <a:ext cx="38405" cy="38405"/>
          </a:xfrm>
          <a:prstGeom prst="ellipse">
            <a:avLst/>
          </a:prstGeom>
          <a:solidFill>
            <a:srgbClr val="1F7A6B"/>
          </a:solidFill>
          <a:ln/>
        </p:spPr>
        <p:txBody>
          <a:bodyPr/>
          <a:lstStyle/>
          <a:p>
            <a:endParaRPr lang="en-US"/>
          </a:p>
        </p:txBody>
      </p:sp>
      <p:sp>
        <p:nvSpPr>
          <p:cNvPr id="26" name="Shape 24"/>
          <p:cNvSpPr/>
          <p:nvPr/>
        </p:nvSpPr>
        <p:spPr>
          <a:xfrm>
            <a:off x="2038198" y="2257261"/>
            <a:ext cx="38405" cy="38405"/>
          </a:xfrm>
          <a:prstGeom prst="ellipse">
            <a:avLst/>
          </a:prstGeom>
          <a:solidFill>
            <a:srgbClr val="1F7A6B"/>
          </a:solidFill>
          <a:ln/>
        </p:spPr>
        <p:txBody>
          <a:bodyPr/>
          <a:lstStyle/>
          <a:p>
            <a:endParaRPr lang="en-US"/>
          </a:p>
        </p:txBody>
      </p:sp>
      <p:sp>
        <p:nvSpPr>
          <p:cNvPr id="27" name="Shape 25"/>
          <p:cNvSpPr/>
          <p:nvPr/>
        </p:nvSpPr>
        <p:spPr>
          <a:xfrm>
            <a:off x="2090776" y="2342710"/>
            <a:ext cx="38405" cy="38405"/>
          </a:xfrm>
          <a:prstGeom prst="ellipse">
            <a:avLst/>
          </a:prstGeom>
          <a:solidFill>
            <a:srgbClr val="1F7A6B"/>
          </a:solidFill>
          <a:ln/>
        </p:spPr>
        <p:txBody>
          <a:bodyPr/>
          <a:lstStyle/>
          <a:p>
            <a:endParaRPr lang="en-US"/>
          </a:p>
        </p:txBody>
      </p:sp>
      <p:sp>
        <p:nvSpPr>
          <p:cNvPr id="28" name="Shape 26"/>
          <p:cNvSpPr/>
          <p:nvPr/>
        </p:nvSpPr>
        <p:spPr>
          <a:xfrm>
            <a:off x="2143354" y="2404228"/>
            <a:ext cx="38405" cy="38405"/>
          </a:xfrm>
          <a:prstGeom prst="ellipse">
            <a:avLst/>
          </a:prstGeom>
          <a:solidFill>
            <a:srgbClr val="1F7A6B"/>
          </a:solidFill>
          <a:ln/>
        </p:spPr>
        <p:txBody>
          <a:bodyPr/>
          <a:lstStyle/>
          <a:p>
            <a:endParaRPr lang="en-US"/>
          </a:p>
        </p:txBody>
      </p:sp>
      <p:sp>
        <p:nvSpPr>
          <p:cNvPr id="29" name="Shape 27"/>
          <p:cNvSpPr/>
          <p:nvPr/>
        </p:nvSpPr>
        <p:spPr>
          <a:xfrm>
            <a:off x="2195932" y="2441122"/>
            <a:ext cx="38405" cy="38405"/>
          </a:xfrm>
          <a:prstGeom prst="ellipse">
            <a:avLst/>
          </a:prstGeom>
          <a:solidFill>
            <a:srgbClr val="1F7A6B"/>
          </a:solidFill>
          <a:ln/>
        </p:spPr>
        <p:txBody>
          <a:bodyPr/>
          <a:lstStyle/>
          <a:p>
            <a:endParaRPr lang="en-US"/>
          </a:p>
        </p:txBody>
      </p:sp>
      <p:sp>
        <p:nvSpPr>
          <p:cNvPr id="30" name="Shape 28"/>
          <p:cNvSpPr/>
          <p:nvPr/>
        </p:nvSpPr>
        <p:spPr>
          <a:xfrm>
            <a:off x="2248510" y="2453395"/>
            <a:ext cx="38405" cy="38405"/>
          </a:xfrm>
          <a:prstGeom prst="ellipse">
            <a:avLst/>
          </a:prstGeom>
          <a:solidFill>
            <a:srgbClr val="1F7A6B"/>
          </a:solidFill>
          <a:ln/>
        </p:spPr>
        <p:txBody>
          <a:bodyPr/>
          <a:lstStyle/>
          <a:p>
            <a:endParaRPr lang="en-US"/>
          </a:p>
        </p:txBody>
      </p:sp>
      <p:sp>
        <p:nvSpPr>
          <p:cNvPr id="31" name="Shape 29"/>
          <p:cNvSpPr/>
          <p:nvPr/>
        </p:nvSpPr>
        <p:spPr>
          <a:xfrm>
            <a:off x="2301088" y="2441122"/>
            <a:ext cx="38405" cy="38405"/>
          </a:xfrm>
          <a:prstGeom prst="ellipse">
            <a:avLst/>
          </a:prstGeom>
          <a:solidFill>
            <a:srgbClr val="1F7A6B"/>
          </a:solidFill>
          <a:ln/>
        </p:spPr>
        <p:txBody>
          <a:bodyPr/>
          <a:lstStyle/>
          <a:p>
            <a:endParaRPr lang="en-US"/>
          </a:p>
        </p:txBody>
      </p:sp>
      <p:sp>
        <p:nvSpPr>
          <p:cNvPr id="32" name="Shape 30"/>
          <p:cNvSpPr/>
          <p:nvPr/>
        </p:nvSpPr>
        <p:spPr>
          <a:xfrm>
            <a:off x="2353666" y="2404228"/>
            <a:ext cx="38405" cy="38405"/>
          </a:xfrm>
          <a:prstGeom prst="ellipse">
            <a:avLst/>
          </a:prstGeom>
          <a:solidFill>
            <a:srgbClr val="1F7A6B"/>
          </a:solidFill>
          <a:ln/>
        </p:spPr>
        <p:txBody>
          <a:bodyPr/>
          <a:lstStyle/>
          <a:p>
            <a:endParaRPr lang="en-US"/>
          </a:p>
        </p:txBody>
      </p:sp>
      <p:sp>
        <p:nvSpPr>
          <p:cNvPr id="33" name="Shape 31"/>
          <p:cNvSpPr/>
          <p:nvPr/>
        </p:nvSpPr>
        <p:spPr>
          <a:xfrm>
            <a:off x="2406244" y="2342710"/>
            <a:ext cx="38405" cy="38405"/>
          </a:xfrm>
          <a:prstGeom prst="ellipse">
            <a:avLst/>
          </a:prstGeom>
          <a:solidFill>
            <a:srgbClr val="1F7A6B"/>
          </a:solidFill>
          <a:ln/>
        </p:spPr>
        <p:txBody>
          <a:bodyPr/>
          <a:lstStyle/>
          <a:p>
            <a:endParaRPr lang="en-US"/>
          </a:p>
        </p:txBody>
      </p:sp>
      <p:sp>
        <p:nvSpPr>
          <p:cNvPr id="34" name="Shape 32"/>
          <p:cNvSpPr/>
          <p:nvPr/>
        </p:nvSpPr>
        <p:spPr>
          <a:xfrm>
            <a:off x="2458822" y="2257261"/>
            <a:ext cx="38405" cy="38405"/>
          </a:xfrm>
          <a:prstGeom prst="ellipse">
            <a:avLst/>
          </a:prstGeom>
          <a:solidFill>
            <a:srgbClr val="1F7A6B"/>
          </a:solidFill>
          <a:ln/>
        </p:spPr>
        <p:txBody>
          <a:bodyPr/>
          <a:lstStyle/>
          <a:p>
            <a:endParaRPr lang="en-US"/>
          </a:p>
        </p:txBody>
      </p:sp>
      <p:sp>
        <p:nvSpPr>
          <p:cNvPr id="35" name="Shape 33"/>
          <p:cNvSpPr/>
          <p:nvPr/>
        </p:nvSpPr>
        <p:spPr>
          <a:xfrm>
            <a:off x="2511400" y="2150104"/>
            <a:ext cx="38405" cy="38405"/>
          </a:xfrm>
          <a:prstGeom prst="ellipse">
            <a:avLst/>
          </a:prstGeom>
          <a:solidFill>
            <a:srgbClr val="1F7A6B"/>
          </a:solidFill>
          <a:ln/>
        </p:spPr>
        <p:txBody>
          <a:bodyPr/>
          <a:lstStyle/>
          <a:p>
            <a:endParaRPr lang="en-US"/>
          </a:p>
        </p:txBody>
      </p:sp>
      <p:sp>
        <p:nvSpPr>
          <p:cNvPr id="36" name="Shape 34"/>
          <p:cNvSpPr/>
          <p:nvPr/>
        </p:nvSpPr>
        <p:spPr>
          <a:xfrm>
            <a:off x="2563978" y="2025782"/>
            <a:ext cx="38405" cy="38405"/>
          </a:xfrm>
          <a:prstGeom prst="ellipse">
            <a:avLst/>
          </a:prstGeom>
          <a:solidFill>
            <a:srgbClr val="1F7A6B"/>
          </a:solidFill>
          <a:ln/>
        </p:spPr>
        <p:txBody>
          <a:bodyPr/>
          <a:lstStyle/>
          <a:p>
            <a:endParaRPr lang="en-US"/>
          </a:p>
        </p:txBody>
      </p:sp>
      <p:sp>
        <p:nvSpPr>
          <p:cNvPr id="37" name="Shape 35"/>
          <p:cNvSpPr/>
          <p:nvPr/>
        </p:nvSpPr>
        <p:spPr>
          <a:xfrm>
            <a:off x="2616556" y="1891612"/>
            <a:ext cx="38405" cy="38405"/>
          </a:xfrm>
          <a:prstGeom prst="ellipse">
            <a:avLst/>
          </a:prstGeom>
          <a:solidFill>
            <a:srgbClr val="1F7A6B"/>
          </a:solidFill>
          <a:ln/>
        </p:spPr>
        <p:txBody>
          <a:bodyPr/>
          <a:lstStyle/>
          <a:p>
            <a:endParaRPr lang="en-US"/>
          </a:p>
        </p:txBody>
      </p:sp>
      <p:sp>
        <p:nvSpPr>
          <p:cNvPr id="38" name="Shape 36"/>
          <p:cNvSpPr/>
          <p:nvPr/>
        </p:nvSpPr>
        <p:spPr>
          <a:xfrm>
            <a:off x="2669134" y="1757546"/>
            <a:ext cx="38405" cy="38405"/>
          </a:xfrm>
          <a:prstGeom prst="ellipse">
            <a:avLst/>
          </a:prstGeom>
          <a:solidFill>
            <a:srgbClr val="1F7A6B"/>
          </a:solidFill>
          <a:ln/>
        </p:spPr>
        <p:txBody>
          <a:bodyPr/>
          <a:lstStyle/>
          <a:p>
            <a:endParaRPr lang="en-US"/>
          </a:p>
        </p:txBody>
      </p:sp>
      <p:sp>
        <p:nvSpPr>
          <p:cNvPr id="39" name="Shape 37"/>
          <p:cNvSpPr/>
          <p:nvPr/>
        </p:nvSpPr>
        <p:spPr>
          <a:xfrm>
            <a:off x="2721712" y="1635337"/>
            <a:ext cx="38405" cy="38405"/>
          </a:xfrm>
          <a:prstGeom prst="ellipse">
            <a:avLst/>
          </a:prstGeom>
          <a:solidFill>
            <a:srgbClr val="1F7A6B"/>
          </a:solidFill>
          <a:ln/>
        </p:spPr>
        <p:txBody>
          <a:bodyPr/>
          <a:lstStyle/>
          <a:p>
            <a:endParaRPr lang="en-US"/>
          </a:p>
        </p:txBody>
      </p:sp>
      <p:sp>
        <p:nvSpPr>
          <p:cNvPr id="40" name="Shape 38"/>
          <p:cNvSpPr/>
          <p:nvPr/>
        </p:nvSpPr>
        <p:spPr>
          <a:xfrm>
            <a:off x="2774290" y="1537057"/>
            <a:ext cx="38405" cy="38405"/>
          </a:xfrm>
          <a:prstGeom prst="ellipse">
            <a:avLst/>
          </a:prstGeom>
          <a:solidFill>
            <a:srgbClr val="1F7A6B"/>
          </a:solidFill>
          <a:ln/>
        </p:spPr>
        <p:txBody>
          <a:bodyPr/>
          <a:lstStyle/>
          <a:p>
            <a:endParaRPr lang="en-US"/>
          </a:p>
        </p:txBody>
      </p:sp>
      <p:sp>
        <p:nvSpPr>
          <p:cNvPr id="41" name="Shape 39"/>
          <p:cNvSpPr/>
          <p:nvPr/>
        </p:nvSpPr>
        <p:spPr>
          <a:xfrm>
            <a:off x="2826868" y="1473250"/>
            <a:ext cx="38405" cy="38405"/>
          </a:xfrm>
          <a:prstGeom prst="ellipse">
            <a:avLst/>
          </a:prstGeom>
          <a:solidFill>
            <a:srgbClr val="1F7A6B"/>
          </a:solidFill>
          <a:ln/>
        </p:spPr>
        <p:txBody>
          <a:bodyPr/>
          <a:lstStyle/>
          <a:p>
            <a:endParaRPr lang="en-US"/>
          </a:p>
        </p:txBody>
      </p:sp>
      <p:sp>
        <p:nvSpPr>
          <p:cNvPr id="42" name="Shape 40"/>
          <p:cNvSpPr/>
          <p:nvPr/>
        </p:nvSpPr>
        <p:spPr>
          <a:xfrm>
            <a:off x="2879446" y="1451126"/>
            <a:ext cx="38405" cy="38405"/>
          </a:xfrm>
          <a:prstGeom prst="ellipse">
            <a:avLst/>
          </a:prstGeom>
          <a:solidFill>
            <a:srgbClr val="1F7A6B"/>
          </a:solidFill>
          <a:ln/>
        </p:spPr>
        <p:txBody>
          <a:bodyPr/>
          <a:lstStyle/>
          <a:p>
            <a:endParaRPr lang="en-US"/>
          </a:p>
        </p:txBody>
      </p:sp>
      <p:sp>
        <p:nvSpPr>
          <p:cNvPr id="43" name="Shape 41"/>
          <p:cNvSpPr/>
          <p:nvPr/>
        </p:nvSpPr>
        <p:spPr>
          <a:xfrm>
            <a:off x="2932024" y="1473250"/>
            <a:ext cx="38405" cy="38405"/>
          </a:xfrm>
          <a:prstGeom prst="ellipse">
            <a:avLst/>
          </a:prstGeom>
          <a:solidFill>
            <a:srgbClr val="1F7A6B"/>
          </a:solidFill>
          <a:ln/>
        </p:spPr>
        <p:txBody>
          <a:bodyPr/>
          <a:lstStyle/>
          <a:p>
            <a:endParaRPr lang="en-US"/>
          </a:p>
        </p:txBody>
      </p:sp>
      <p:sp>
        <p:nvSpPr>
          <p:cNvPr id="44" name="Shape 42"/>
          <p:cNvSpPr/>
          <p:nvPr/>
        </p:nvSpPr>
        <p:spPr>
          <a:xfrm>
            <a:off x="2984602" y="1537057"/>
            <a:ext cx="38405" cy="38405"/>
          </a:xfrm>
          <a:prstGeom prst="ellipse">
            <a:avLst/>
          </a:prstGeom>
          <a:solidFill>
            <a:srgbClr val="1F7A6B"/>
          </a:solidFill>
          <a:ln/>
        </p:spPr>
        <p:txBody>
          <a:bodyPr/>
          <a:lstStyle/>
          <a:p>
            <a:endParaRPr lang="en-US"/>
          </a:p>
        </p:txBody>
      </p:sp>
      <p:sp>
        <p:nvSpPr>
          <p:cNvPr id="45" name="Shape 43"/>
          <p:cNvSpPr/>
          <p:nvPr/>
        </p:nvSpPr>
        <p:spPr>
          <a:xfrm>
            <a:off x="3037180" y="1635337"/>
            <a:ext cx="38405" cy="38405"/>
          </a:xfrm>
          <a:prstGeom prst="ellipse">
            <a:avLst/>
          </a:prstGeom>
          <a:solidFill>
            <a:srgbClr val="1F7A6B"/>
          </a:solidFill>
          <a:ln/>
        </p:spPr>
        <p:txBody>
          <a:bodyPr/>
          <a:lstStyle/>
          <a:p>
            <a:endParaRPr lang="en-US"/>
          </a:p>
        </p:txBody>
      </p:sp>
      <p:sp>
        <p:nvSpPr>
          <p:cNvPr id="46" name="Shape 44"/>
          <p:cNvSpPr/>
          <p:nvPr/>
        </p:nvSpPr>
        <p:spPr>
          <a:xfrm>
            <a:off x="3089758" y="1757546"/>
            <a:ext cx="38405" cy="38405"/>
          </a:xfrm>
          <a:prstGeom prst="ellipse">
            <a:avLst/>
          </a:prstGeom>
          <a:solidFill>
            <a:srgbClr val="1F7A6B"/>
          </a:solidFill>
          <a:ln/>
        </p:spPr>
        <p:txBody>
          <a:bodyPr/>
          <a:lstStyle/>
          <a:p>
            <a:endParaRPr lang="en-US"/>
          </a:p>
        </p:txBody>
      </p:sp>
      <p:sp>
        <p:nvSpPr>
          <p:cNvPr id="47" name="Shape 45"/>
          <p:cNvSpPr/>
          <p:nvPr/>
        </p:nvSpPr>
        <p:spPr>
          <a:xfrm>
            <a:off x="3142336" y="1891612"/>
            <a:ext cx="38405" cy="38405"/>
          </a:xfrm>
          <a:prstGeom prst="ellipse">
            <a:avLst/>
          </a:prstGeom>
          <a:solidFill>
            <a:srgbClr val="1F7A6B"/>
          </a:solidFill>
          <a:ln/>
        </p:spPr>
        <p:txBody>
          <a:bodyPr/>
          <a:lstStyle/>
          <a:p>
            <a:endParaRPr lang="en-US"/>
          </a:p>
        </p:txBody>
      </p:sp>
      <p:sp>
        <p:nvSpPr>
          <p:cNvPr id="48" name="Shape 46"/>
          <p:cNvSpPr/>
          <p:nvPr/>
        </p:nvSpPr>
        <p:spPr>
          <a:xfrm>
            <a:off x="3194914" y="2025782"/>
            <a:ext cx="38405" cy="38405"/>
          </a:xfrm>
          <a:prstGeom prst="ellipse">
            <a:avLst/>
          </a:prstGeom>
          <a:solidFill>
            <a:srgbClr val="1F7A6B"/>
          </a:solidFill>
          <a:ln/>
        </p:spPr>
        <p:txBody>
          <a:bodyPr/>
          <a:lstStyle/>
          <a:p>
            <a:endParaRPr lang="en-US"/>
          </a:p>
        </p:txBody>
      </p:sp>
      <p:sp>
        <p:nvSpPr>
          <p:cNvPr id="49" name="Shape 47"/>
          <p:cNvSpPr/>
          <p:nvPr/>
        </p:nvSpPr>
        <p:spPr>
          <a:xfrm>
            <a:off x="3247492" y="2150104"/>
            <a:ext cx="38405" cy="38405"/>
          </a:xfrm>
          <a:prstGeom prst="ellipse">
            <a:avLst/>
          </a:prstGeom>
          <a:solidFill>
            <a:srgbClr val="1F7A6B"/>
          </a:solidFill>
          <a:ln/>
        </p:spPr>
        <p:txBody>
          <a:bodyPr/>
          <a:lstStyle/>
          <a:p>
            <a:endParaRPr lang="en-US"/>
          </a:p>
        </p:txBody>
      </p:sp>
      <p:sp>
        <p:nvSpPr>
          <p:cNvPr id="50" name="Shape 48"/>
          <p:cNvSpPr/>
          <p:nvPr/>
        </p:nvSpPr>
        <p:spPr>
          <a:xfrm>
            <a:off x="3300070" y="2257261"/>
            <a:ext cx="38405" cy="38405"/>
          </a:xfrm>
          <a:prstGeom prst="ellipse">
            <a:avLst/>
          </a:prstGeom>
          <a:solidFill>
            <a:srgbClr val="1F7A6B"/>
          </a:solidFill>
          <a:ln/>
        </p:spPr>
        <p:txBody>
          <a:bodyPr/>
          <a:lstStyle/>
          <a:p>
            <a:endParaRPr lang="en-US"/>
          </a:p>
        </p:txBody>
      </p:sp>
      <p:sp>
        <p:nvSpPr>
          <p:cNvPr id="51" name="Shape 49"/>
          <p:cNvSpPr/>
          <p:nvPr/>
        </p:nvSpPr>
        <p:spPr>
          <a:xfrm>
            <a:off x="3352648" y="2342710"/>
            <a:ext cx="38405" cy="38405"/>
          </a:xfrm>
          <a:prstGeom prst="ellipse">
            <a:avLst/>
          </a:prstGeom>
          <a:solidFill>
            <a:srgbClr val="1F7A6B"/>
          </a:solidFill>
          <a:ln/>
        </p:spPr>
        <p:txBody>
          <a:bodyPr/>
          <a:lstStyle/>
          <a:p>
            <a:endParaRPr lang="en-US"/>
          </a:p>
        </p:txBody>
      </p:sp>
      <p:sp>
        <p:nvSpPr>
          <p:cNvPr id="52" name="Shape 50"/>
          <p:cNvSpPr/>
          <p:nvPr/>
        </p:nvSpPr>
        <p:spPr>
          <a:xfrm>
            <a:off x="3405226" y="2404228"/>
            <a:ext cx="38405" cy="38405"/>
          </a:xfrm>
          <a:prstGeom prst="ellipse">
            <a:avLst/>
          </a:prstGeom>
          <a:solidFill>
            <a:srgbClr val="1F7A6B"/>
          </a:solidFill>
          <a:ln/>
        </p:spPr>
        <p:txBody>
          <a:bodyPr/>
          <a:lstStyle/>
          <a:p>
            <a:endParaRPr lang="en-US"/>
          </a:p>
        </p:txBody>
      </p:sp>
      <p:sp>
        <p:nvSpPr>
          <p:cNvPr id="53" name="Shape 51"/>
          <p:cNvSpPr/>
          <p:nvPr/>
        </p:nvSpPr>
        <p:spPr>
          <a:xfrm>
            <a:off x="3457804" y="2441122"/>
            <a:ext cx="38405" cy="38405"/>
          </a:xfrm>
          <a:prstGeom prst="ellipse">
            <a:avLst/>
          </a:prstGeom>
          <a:solidFill>
            <a:srgbClr val="1F7A6B"/>
          </a:solidFill>
          <a:ln/>
        </p:spPr>
        <p:txBody>
          <a:bodyPr/>
          <a:lstStyle/>
          <a:p>
            <a:endParaRPr lang="en-US"/>
          </a:p>
        </p:txBody>
      </p:sp>
      <p:sp>
        <p:nvSpPr>
          <p:cNvPr id="54" name="Shape 52"/>
          <p:cNvSpPr/>
          <p:nvPr/>
        </p:nvSpPr>
        <p:spPr>
          <a:xfrm>
            <a:off x="3510382" y="2453395"/>
            <a:ext cx="38405" cy="38405"/>
          </a:xfrm>
          <a:prstGeom prst="ellipse">
            <a:avLst/>
          </a:prstGeom>
          <a:solidFill>
            <a:srgbClr val="1F7A6B"/>
          </a:solidFill>
          <a:ln/>
        </p:spPr>
        <p:txBody>
          <a:bodyPr/>
          <a:lstStyle/>
          <a:p>
            <a:endParaRPr lang="en-US"/>
          </a:p>
        </p:txBody>
      </p:sp>
      <p:sp>
        <p:nvSpPr>
          <p:cNvPr id="55" name="Shape 53"/>
          <p:cNvSpPr/>
          <p:nvPr/>
        </p:nvSpPr>
        <p:spPr>
          <a:xfrm>
            <a:off x="3562960" y="2441122"/>
            <a:ext cx="38405" cy="38405"/>
          </a:xfrm>
          <a:prstGeom prst="ellipse">
            <a:avLst/>
          </a:prstGeom>
          <a:solidFill>
            <a:srgbClr val="1F7A6B"/>
          </a:solidFill>
          <a:ln/>
        </p:spPr>
        <p:txBody>
          <a:bodyPr/>
          <a:lstStyle/>
          <a:p>
            <a:endParaRPr lang="en-US"/>
          </a:p>
        </p:txBody>
      </p:sp>
      <p:sp>
        <p:nvSpPr>
          <p:cNvPr id="56" name="Shape 54"/>
          <p:cNvSpPr/>
          <p:nvPr/>
        </p:nvSpPr>
        <p:spPr>
          <a:xfrm>
            <a:off x="3615538" y="2404228"/>
            <a:ext cx="38405" cy="38405"/>
          </a:xfrm>
          <a:prstGeom prst="ellipse">
            <a:avLst/>
          </a:prstGeom>
          <a:solidFill>
            <a:srgbClr val="1F7A6B"/>
          </a:solidFill>
          <a:ln/>
        </p:spPr>
        <p:txBody>
          <a:bodyPr/>
          <a:lstStyle/>
          <a:p>
            <a:endParaRPr lang="en-US"/>
          </a:p>
        </p:txBody>
      </p:sp>
      <p:sp>
        <p:nvSpPr>
          <p:cNvPr id="57" name="Shape 55"/>
          <p:cNvSpPr/>
          <p:nvPr/>
        </p:nvSpPr>
        <p:spPr>
          <a:xfrm>
            <a:off x="3668116" y="2342710"/>
            <a:ext cx="38405" cy="38405"/>
          </a:xfrm>
          <a:prstGeom prst="ellipse">
            <a:avLst/>
          </a:prstGeom>
          <a:solidFill>
            <a:srgbClr val="1F7A6B"/>
          </a:solidFill>
          <a:ln/>
        </p:spPr>
        <p:txBody>
          <a:bodyPr/>
          <a:lstStyle/>
          <a:p>
            <a:endParaRPr lang="en-US"/>
          </a:p>
        </p:txBody>
      </p:sp>
      <p:sp>
        <p:nvSpPr>
          <p:cNvPr id="58" name="Shape 56"/>
          <p:cNvSpPr/>
          <p:nvPr/>
        </p:nvSpPr>
        <p:spPr>
          <a:xfrm>
            <a:off x="3720694" y="2257261"/>
            <a:ext cx="38405" cy="38405"/>
          </a:xfrm>
          <a:prstGeom prst="ellipse">
            <a:avLst/>
          </a:prstGeom>
          <a:solidFill>
            <a:srgbClr val="1F7A6B"/>
          </a:solidFill>
          <a:ln/>
        </p:spPr>
        <p:txBody>
          <a:bodyPr/>
          <a:lstStyle/>
          <a:p>
            <a:endParaRPr lang="en-US"/>
          </a:p>
        </p:txBody>
      </p:sp>
      <p:sp>
        <p:nvSpPr>
          <p:cNvPr id="59" name="Shape 57"/>
          <p:cNvSpPr/>
          <p:nvPr/>
        </p:nvSpPr>
        <p:spPr>
          <a:xfrm>
            <a:off x="3773272" y="2150104"/>
            <a:ext cx="38405" cy="38405"/>
          </a:xfrm>
          <a:prstGeom prst="ellipse">
            <a:avLst/>
          </a:prstGeom>
          <a:solidFill>
            <a:srgbClr val="1F7A6B"/>
          </a:solidFill>
          <a:ln/>
        </p:spPr>
        <p:txBody>
          <a:bodyPr/>
          <a:lstStyle/>
          <a:p>
            <a:endParaRPr lang="en-US"/>
          </a:p>
        </p:txBody>
      </p:sp>
      <p:sp>
        <p:nvSpPr>
          <p:cNvPr id="60" name="Shape 58"/>
          <p:cNvSpPr/>
          <p:nvPr/>
        </p:nvSpPr>
        <p:spPr>
          <a:xfrm>
            <a:off x="3825850" y="2025782"/>
            <a:ext cx="38405" cy="38405"/>
          </a:xfrm>
          <a:prstGeom prst="ellipse">
            <a:avLst/>
          </a:prstGeom>
          <a:solidFill>
            <a:srgbClr val="1F7A6B"/>
          </a:solidFill>
          <a:ln/>
        </p:spPr>
        <p:txBody>
          <a:bodyPr/>
          <a:lstStyle/>
          <a:p>
            <a:endParaRPr lang="en-US"/>
          </a:p>
        </p:txBody>
      </p:sp>
      <p:sp>
        <p:nvSpPr>
          <p:cNvPr id="61" name="Shape 59"/>
          <p:cNvSpPr/>
          <p:nvPr/>
        </p:nvSpPr>
        <p:spPr>
          <a:xfrm>
            <a:off x="3878428" y="1891612"/>
            <a:ext cx="38405" cy="38405"/>
          </a:xfrm>
          <a:prstGeom prst="ellipse">
            <a:avLst/>
          </a:prstGeom>
          <a:solidFill>
            <a:srgbClr val="1F7A6B"/>
          </a:solidFill>
          <a:ln/>
        </p:spPr>
        <p:txBody>
          <a:bodyPr/>
          <a:lstStyle/>
          <a:p>
            <a:endParaRPr lang="en-US"/>
          </a:p>
        </p:txBody>
      </p:sp>
      <p:sp>
        <p:nvSpPr>
          <p:cNvPr id="62" name="Shape 60"/>
          <p:cNvSpPr/>
          <p:nvPr/>
        </p:nvSpPr>
        <p:spPr>
          <a:xfrm>
            <a:off x="3931006" y="1757546"/>
            <a:ext cx="38405" cy="38405"/>
          </a:xfrm>
          <a:prstGeom prst="ellipse">
            <a:avLst/>
          </a:prstGeom>
          <a:solidFill>
            <a:srgbClr val="1F7A6B"/>
          </a:solidFill>
          <a:ln/>
        </p:spPr>
        <p:txBody>
          <a:bodyPr/>
          <a:lstStyle/>
          <a:p>
            <a:endParaRPr lang="en-US"/>
          </a:p>
        </p:txBody>
      </p:sp>
      <p:sp>
        <p:nvSpPr>
          <p:cNvPr id="63" name="Shape 61"/>
          <p:cNvSpPr/>
          <p:nvPr/>
        </p:nvSpPr>
        <p:spPr>
          <a:xfrm>
            <a:off x="3983584" y="1635337"/>
            <a:ext cx="38405" cy="38405"/>
          </a:xfrm>
          <a:prstGeom prst="ellipse">
            <a:avLst/>
          </a:prstGeom>
          <a:solidFill>
            <a:srgbClr val="1F7A6B"/>
          </a:solidFill>
          <a:ln/>
        </p:spPr>
        <p:txBody>
          <a:bodyPr/>
          <a:lstStyle/>
          <a:p>
            <a:endParaRPr lang="en-US"/>
          </a:p>
        </p:txBody>
      </p:sp>
      <p:sp>
        <p:nvSpPr>
          <p:cNvPr id="64" name="Shape 62"/>
          <p:cNvSpPr/>
          <p:nvPr/>
        </p:nvSpPr>
        <p:spPr>
          <a:xfrm>
            <a:off x="4036162" y="1537057"/>
            <a:ext cx="38405" cy="38405"/>
          </a:xfrm>
          <a:prstGeom prst="ellipse">
            <a:avLst/>
          </a:prstGeom>
          <a:solidFill>
            <a:srgbClr val="1F7A6B"/>
          </a:solidFill>
          <a:ln/>
        </p:spPr>
        <p:txBody>
          <a:bodyPr/>
          <a:lstStyle/>
          <a:p>
            <a:endParaRPr lang="en-US"/>
          </a:p>
        </p:txBody>
      </p:sp>
      <p:sp>
        <p:nvSpPr>
          <p:cNvPr id="65" name="Shape 63"/>
          <p:cNvSpPr/>
          <p:nvPr/>
        </p:nvSpPr>
        <p:spPr>
          <a:xfrm>
            <a:off x="4088740" y="1473250"/>
            <a:ext cx="38405" cy="38405"/>
          </a:xfrm>
          <a:prstGeom prst="ellipse">
            <a:avLst/>
          </a:prstGeom>
          <a:solidFill>
            <a:srgbClr val="1F7A6B"/>
          </a:solidFill>
          <a:ln/>
        </p:spPr>
        <p:txBody>
          <a:bodyPr/>
          <a:lstStyle/>
          <a:p>
            <a:endParaRPr lang="en-US"/>
          </a:p>
        </p:txBody>
      </p:sp>
      <p:sp>
        <p:nvSpPr>
          <p:cNvPr id="66" name="Shape 64"/>
          <p:cNvSpPr/>
          <p:nvPr/>
        </p:nvSpPr>
        <p:spPr>
          <a:xfrm>
            <a:off x="4141318" y="1451126"/>
            <a:ext cx="38405" cy="38405"/>
          </a:xfrm>
          <a:prstGeom prst="ellipse">
            <a:avLst/>
          </a:prstGeom>
          <a:solidFill>
            <a:srgbClr val="1F7A6B"/>
          </a:solidFill>
          <a:ln/>
        </p:spPr>
        <p:txBody>
          <a:bodyPr/>
          <a:lstStyle/>
          <a:p>
            <a:endParaRPr lang="en-US"/>
          </a:p>
        </p:txBody>
      </p:sp>
      <p:sp>
        <p:nvSpPr>
          <p:cNvPr id="67" name="Shape 65"/>
          <p:cNvSpPr/>
          <p:nvPr/>
        </p:nvSpPr>
        <p:spPr>
          <a:xfrm>
            <a:off x="4193896" y="1473250"/>
            <a:ext cx="38405" cy="38405"/>
          </a:xfrm>
          <a:prstGeom prst="ellipse">
            <a:avLst/>
          </a:prstGeom>
          <a:solidFill>
            <a:srgbClr val="1F7A6B"/>
          </a:solidFill>
          <a:ln/>
        </p:spPr>
        <p:txBody>
          <a:bodyPr/>
          <a:lstStyle/>
          <a:p>
            <a:endParaRPr lang="en-US"/>
          </a:p>
        </p:txBody>
      </p:sp>
      <p:sp>
        <p:nvSpPr>
          <p:cNvPr id="68" name="Shape 66"/>
          <p:cNvSpPr/>
          <p:nvPr/>
        </p:nvSpPr>
        <p:spPr>
          <a:xfrm>
            <a:off x="4246474" y="1537057"/>
            <a:ext cx="38405" cy="38405"/>
          </a:xfrm>
          <a:prstGeom prst="ellipse">
            <a:avLst/>
          </a:prstGeom>
          <a:solidFill>
            <a:srgbClr val="1F7A6B"/>
          </a:solidFill>
          <a:ln/>
        </p:spPr>
        <p:txBody>
          <a:bodyPr/>
          <a:lstStyle/>
          <a:p>
            <a:endParaRPr lang="en-US"/>
          </a:p>
        </p:txBody>
      </p:sp>
      <p:sp>
        <p:nvSpPr>
          <p:cNvPr id="69" name="Shape 67"/>
          <p:cNvSpPr/>
          <p:nvPr/>
        </p:nvSpPr>
        <p:spPr>
          <a:xfrm>
            <a:off x="4299052" y="1635337"/>
            <a:ext cx="38405" cy="38405"/>
          </a:xfrm>
          <a:prstGeom prst="ellipse">
            <a:avLst/>
          </a:prstGeom>
          <a:solidFill>
            <a:srgbClr val="1F7A6B"/>
          </a:solidFill>
          <a:ln/>
        </p:spPr>
        <p:txBody>
          <a:bodyPr/>
          <a:lstStyle/>
          <a:p>
            <a:endParaRPr lang="en-US"/>
          </a:p>
        </p:txBody>
      </p:sp>
      <p:sp>
        <p:nvSpPr>
          <p:cNvPr id="70" name="Shape 68"/>
          <p:cNvSpPr/>
          <p:nvPr/>
        </p:nvSpPr>
        <p:spPr>
          <a:xfrm>
            <a:off x="4351630" y="1757546"/>
            <a:ext cx="38405" cy="38405"/>
          </a:xfrm>
          <a:prstGeom prst="ellipse">
            <a:avLst/>
          </a:prstGeom>
          <a:solidFill>
            <a:srgbClr val="1F7A6B"/>
          </a:solidFill>
          <a:ln/>
        </p:spPr>
        <p:txBody>
          <a:bodyPr/>
          <a:lstStyle/>
          <a:p>
            <a:endParaRPr lang="en-US"/>
          </a:p>
        </p:txBody>
      </p:sp>
      <p:sp>
        <p:nvSpPr>
          <p:cNvPr id="71" name="Shape 69"/>
          <p:cNvSpPr/>
          <p:nvPr/>
        </p:nvSpPr>
        <p:spPr>
          <a:xfrm>
            <a:off x="4404208" y="1891612"/>
            <a:ext cx="38405" cy="38405"/>
          </a:xfrm>
          <a:prstGeom prst="ellipse">
            <a:avLst/>
          </a:prstGeom>
          <a:solidFill>
            <a:srgbClr val="1F7A6B"/>
          </a:solidFill>
          <a:ln/>
        </p:spPr>
        <p:txBody>
          <a:bodyPr/>
          <a:lstStyle/>
          <a:p>
            <a:endParaRPr lang="en-US"/>
          </a:p>
        </p:txBody>
      </p:sp>
      <p:sp>
        <p:nvSpPr>
          <p:cNvPr id="72" name="Shape 70"/>
          <p:cNvSpPr/>
          <p:nvPr/>
        </p:nvSpPr>
        <p:spPr>
          <a:xfrm>
            <a:off x="4456786" y="2025782"/>
            <a:ext cx="38405" cy="38405"/>
          </a:xfrm>
          <a:prstGeom prst="ellipse">
            <a:avLst/>
          </a:prstGeom>
          <a:solidFill>
            <a:srgbClr val="1F7A6B"/>
          </a:solidFill>
          <a:ln/>
        </p:spPr>
        <p:txBody>
          <a:bodyPr/>
          <a:lstStyle/>
          <a:p>
            <a:endParaRPr lang="en-US"/>
          </a:p>
        </p:txBody>
      </p:sp>
      <p:sp>
        <p:nvSpPr>
          <p:cNvPr id="73" name="Shape 71"/>
          <p:cNvSpPr/>
          <p:nvPr/>
        </p:nvSpPr>
        <p:spPr>
          <a:xfrm>
            <a:off x="4509364" y="2150104"/>
            <a:ext cx="38405" cy="38405"/>
          </a:xfrm>
          <a:prstGeom prst="ellipse">
            <a:avLst/>
          </a:prstGeom>
          <a:solidFill>
            <a:srgbClr val="1F7A6B"/>
          </a:solidFill>
          <a:ln/>
        </p:spPr>
        <p:txBody>
          <a:bodyPr/>
          <a:lstStyle/>
          <a:p>
            <a:endParaRPr lang="en-US"/>
          </a:p>
        </p:txBody>
      </p:sp>
      <p:sp>
        <p:nvSpPr>
          <p:cNvPr id="74" name="Shape 72"/>
          <p:cNvSpPr/>
          <p:nvPr/>
        </p:nvSpPr>
        <p:spPr>
          <a:xfrm>
            <a:off x="4561942" y="2257261"/>
            <a:ext cx="38405" cy="38405"/>
          </a:xfrm>
          <a:prstGeom prst="ellipse">
            <a:avLst/>
          </a:prstGeom>
          <a:solidFill>
            <a:srgbClr val="1F7A6B"/>
          </a:solidFill>
          <a:ln/>
        </p:spPr>
        <p:txBody>
          <a:bodyPr/>
          <a:lstStyle/>
          <a:p>
            <a:endParaRPr lang="en-US"/>
          </a:p>
        </p:txBody>
      </p:sp>
      <p:sp>
        <p:nvSpPr>
          <p:cNvPr id="75" name="Shape 73"/>
          <p:cNvSpPr/>
          <p:nvPr/>
        </p:nvSpPr>
        <p:spPr>
          <a:xfrm>
            <a:off x="4614520" y="2342710"/>
            <a:ext cx="38405" cy="38405"/>
          </a:xfrm>
          <a:prstGeom prst="ellipse">
            <a:avLst/>
          </a:prstGeom>
          <a:solidFill>
            <a:srgbClr val="1F7A6B"/>
          </a:solidFill>
          <a:ln/>
        </p:spPr>
        <p:txBody>
          <a:bodyPr/>
          <a:lstStyle/>
          <a:p>
            <a:endParaRPr lang="en-US"/>
          </a:p>
        </p:txBody>
      </p:sp>
      <p:sp>
        <p:nvSpPr>
          <p:cNvPr id="76" name="Shape 74"/>
          <p:cNvSpPr/>
          <p:nvPr/>
        </p:nvSpPr>
        <p:spPr>
          <a:xfrm>
            <a:off x="4667098" y="2404228"/>
            <a:ext cx="38405" cy="38405"/>
          </a:xfrm>
          <a:prstGeom prst="ellipse">
            <a:avLst/>
          </a:prstGeom>
          <a:solidFill>
            <a:srgbClr val="1F7A6B"/>
          </a:solidFill>
          <a:ln/>
        </p:spPr>
        <p:txBody>
          <a:bodyPr/>
          <a:lstStyle/>
          <a:p>
            <a:endParaRPr lang="en-US"/>
          </a:p>
        </p:txBody>
      </p:sp>
      <p:sp>
        <p:nvSpPr>
          <p:cNvPr id="77" name="Shape 75"/>
          <p:cNvSpPr/>
          <p:nvPr/>
        </p:nvSpPr>
        <p:spPr>
          <a:xfrm>
            <a:off x="4719676" y="2441122"/>
            <a:ext cx="38405" cy="38405"/>
          </a:xfrm>
          <a:prstGeom prst="ellipse">
            <a:avLst/>
          </a:prstGeom>
          <a:solidFill>
            <a:srgbClr val="1F7A6B"/>
          </a:solidFill>
          <a:ln/>
        </p:spPr>
        <p:txBody>
          <a:bodyPr/>
          <a:lstStyle/>
          <a:p>
            <a:endParaRPr lang="en-US"/>
          </a:p>
        </p:txBody>
      </p:sp>
      <p:sp>
        <p:nvSpPr>
          <p:cNvPr id="78" name="Shape 76"/>
          <p:cNvSpPr/>
          <p:nvPr/>
        </p:nvSpPr>
        <p:spPr>
          <a:xfrm>
            <a:off x="4772254" y="2453395"/>
            <a:ext cx="38405" cy="38405"/>
          </a:xfrm>
          <a:prstGeom prst="ellipse">
            <a:avLst/>
          </a:prstGeom>
          <a:solidFill>
            <a:srgbClr val="1F7A6B"/>
          </a:solidFill>
          <a:ln/>
        </p:spPr>
        <p:txBody>
          <a:bodyPr/>
          <a:lstStyle/>
          <a:p>
            <a:endParaRPr lang="en-US"/>
          </a:p>
        </p:txBody>
      </p:sp>
      <p:sp>
        <p:nvSpPr>
          <p:cNvPr id="79" name="Shape 77"/>
          <p:cNvSpPr/>
          <p:nvPr/>
        </p:nvSpPr>
        <p:spPr>
          <a:xfrm>
            <a:off x="4824832" y="2441122"/>
            <a:ext cx="38405" cy="38405"/>
          </a:xfrm>
          <a:prstGeom prst="ellipse">
            <a:avLst/>
          </a:prstGeom>
          <a:solidFill>
            <a:srgbClr val="1F7A6B"/>
          </a:solidFill>
          <a:ln/>
        </p:spPr>
        <p:txBody>
          <a:bodyPr/>
          <a:lstStyle/>
          <a:p>
            <a:endParaRPr lang="en-US"/>
          </a:p>
        </p:txBody>
      </p:sp>
      <p:sp>
        <p:nvSpPr>
          <p:cNvPr id="80" name="Shape 78"/>
          <p:cNvSpPr/>
          <p:nvPr/>
        </p:nvSpPr>
        <p:spPr>
          <a:xfrm>
            <a:off x="4877410" y="2404228"/>
            <a:ext cx="38405" cy="38405"/>
          </a:xfrm>
          <a:prstGeom prst="ellipse">
            <a:avLst/>
          </a:prstGeom>
          <a:solidFill>
            <a:srgbClr val="1F7A6B"/>
          </a:solidFill>
          <a:ln/>
        </p:spPr>
        <p:txBody>
          <a:bodyPr/>
          <a:lstStyle/>
          <a:p>
            <a:endParaRPr lang="en-US"/>
          </a:p>
        </p:txBody>
      </p:sp>
      <p:sp>
        <p:nvSpPr>
          <p:cNvPr id="81" name="Shape 79"/>
          <p:cNvSpPr/>
          <p:nvPr/>
        </p:nvSpPr>
        <p:spPr>
          <a:xfrm>
            <a:off x="4929988" y="2342710"/>
            <a:ext cx="38405" cy="38405"/>
          </a:xfrm>
          <a:prstGeom prst="ellipse">
            <a:avLst/>
          </a:prstGeom>
          <a:solidFill>
            <a:srgbClr val="1F7A6B"/>
          </a:solidFill>
          <a:ln/>
        </p:spPr>
        <p:txBody>
          <a:bodyPr/>
          <a:lstStyle/>
          <a:p>
            <a:endParaRPr lang="en-US"/>
          </a:p>
        </p:txBody>
      </p:sp>
      <p:sp>
        <p:nvSpPr>
          <p:cNvPr id="82" name="Shape 80"/>
          <p:cNvSpPr/>
          <p:nvPr/>
        </p:nvSpPr>
        <p:spPr>
          <a:xfrm>
            <a:off x="4982566" y="2257261"/>
            <a:ext cx="38405" cy="38405"/>
          </a:xfrm>
          <a:prstGeom prst="ellipse">
            <a:avLst/>
          </a:prstGeom>
          <a:solidFill>
            <a:srgbClr val="1F7A6B"/>
          </a:solidFill>
          <a:ln/>
        </p:spPr>
        <p:txBody>
          <a:bodyPr/>
          <a:lstStyle/>
          <a:p>
            <a:endParaRPr lang="en-US"/>
          </a:p>
        </p:txBody>
      </p:sp>
      <p:sp>
        <p:nvSpPr>
          <p:cNvPr id="83" name="Shape 81"/>
          <p:cNvSpPr/>
          <p:nvPr/>
        </p:nvSpPr>
        <p:spPr>
          <a:xfrm>
            <a:off x="5035144" y="2150104"/>
            <a:ext cx="38405" cy="38405"/>
          </a:xfrm>
          <a:prstGeom prst="ellipse">
            <a:avLst/>
          </a:prstGeom>
          <a:solidFill>
            <a:srgbClr val="1F7A6B"/>
          </a:solidFill>
          <a:ln/>
        </p:spPr>
        <p:txBody>
          <a:bodyPr/>
          <a:lstStyle/>
          <a:p>
            <a:endParaRPr lang="en-US"/>
          </a:p>
        </p:txBody>
      </p:sp>
      <p:sp>
        <p:nvSpPr>
          <p:cNvPr id="84" name="Shape 82"/>
          <p:cNvSpPr/>
          <p:nvPr/>
        </p:nvSpPr>
        <p:spPr>
          <a:xfrm>
            <a:off x="5087722" y="2025782"/>
            <a:ext cx="38405" cy="38405"/>
          </a:xfrm>
          <a:prstGeom prst="ellipse">
            <a:avLst/>
          </a:prstGeom>
          <a:solidFill>
            <a:srgbClr val="1F7A6B"/>
          </a:solidFill>
          <a:ln/>
        </p:spPr>
        <p:txBody>
          <a:bodyPr/>
          <a:lstStyle/>
          <a:p>
            <a:endParaRPr lang="en-US"/>
          </a:p>
        </p:txBody>
      </p:sp>
      <p:sp>
        <p:nvSpPr>
          <p:cNvPr id="85" name="Shape 83"/>
          <p:cNvSpPr/>
          <p:nvPr/>
        </p:nvSpPr>
        <p:spPr>
          <a:xfrm>
            <a:off x="5140300" y="1891612"/>
            <a:ext cx="38405" cy="38405"/>
          </a:xfrm>
          <a:prstGeom prst="ellipse">
            <a:avLst/>
          </a:prstGeom>
          <a:solidFill>
            <a:srgbClr val="1F7A6B"/>
          </a:solidFill>
          <a:ln/>
        </p:spPr>
        <p:txBody>
          <a:bodyPr/>
          <a:lstStyle/>
          <a:p>
            <a:endParaRPr lang="en-US"/>
          </a:p>
        </p:txBody>
      </p:sp>
      <p:sp>
        <p:nvSpPr>
          <p:cNvPr id="86" name="Shape 84"/>
          <p:cNvSpPr/>
          <p:nvPr/>
        </p:nvSpPr>
        <p:spPr>
          <a:xfrm>
            <a:off x="5192878" y="1757546"/>
            <a:ext cx="38405" cy="38405"/>
          </a:xfrm>
          <a:prstGeom prst="ellipse">
            <a:avLst/>
          </a:prstGeom>
          <a:solidFill>
            <a:srgbClr val="1F7A6B"/>
          </a:solidFill>
          <a:ln/>
        </p:spPr>
        <p:txBody>
          <a:bodyPr/>
          <a:lstStyle/>
          <a:p>
            <a:endParaRPr lang="en-US"/>
          </a:p>
        </p:txBody>
      </p:sp>
      <p:sp>
        <p:nvSpPr>
          <p:cNvPr id="87" name="Shape 85"/>
          <p:cNvSpPr/>
          <p:nvPr/>
        </p:nvSpPr>
        <p:spPr>
          <a:xfrm>
            <a:off x="5245456" y="1635337"/>
            <a:ext cx="38405" cy="38405"/>
          </a:xfrm>
          <a:prstGeom prst="ellipse">
            <a:avLst/>
          </a:prstGeom>
          <a:solidFill>
            <a:srgbClr val="1F7A6B"/>
          </a:solidFill>
          <a:ln/>
        </p:spPr>
        <p:txBody>
          <a:bodyPr/>
          <a:lstStyle/>
          <a:p>
            <a:endParaRPr lang="en-US"/>
          </a:p>
        </p:txBody>
      </p:sp>
      <p:sp>
        <p:nvSpPr>
          <p:cNvPr id="88" name="Shape 86"/>
          <p:cNvSpPr/>
          <p:nvPr/>
        </p:nvSpPr>
        <p:spPr>
          <a:xfrm>
            <a:off x="5298034" y="1537057"/>
            <a:ext cx="38405" cy="38405"/>
          </a:xfrm>
          <a:prstGeom prst="ellipse">
            <a:avLst/>
          </a:prstGeom>
          <a:solidFill>
            <a:srgbClr val="1F7A6B"/>
          </a:solidFill>
          <a:ln/>
        </p:spPr>
        <p:txBody>
          <a:bodyPr/>
          <a:lstStyle/>
          <a:p>
            <a:endParaRPr lang="en-US"/>
          </a:p>
        </p:txBody>
      </p:sp>
      <p:sp>
        <p:nvSpPr>
          <p:cNvPr id="89" name="Shape 87"/>
          <p:cNvSpPr/>
          <p:nvPr/>
        </p:nvSpPr>
        <p:spPr>
          <a:xfrm>
            <a:off x="5350612" y="1473250"/>
            <a:ext cx="38405" cy="38405"/>
          </a:xfrm>
          <a:prstGeom prst="ellipse">
            <a:avLst/>
          </a:prstGeom>
          <a:solidFill>
            <a:srgbClr val="1F7A6B"/>
          </a:solidFill>
          <a:ln/>
        </p:spPr>
        <p:txBody>
          <a:bodyPr/>
          <a:lstStyle/>
          <a:p>
            <a:endParaRPr lang="en-US"/>
          </a:p>
        </p:txBody>
      </p:sp>
      <p:sp>
        <p:nvSpPr>
          <p:cNvPr id="90" name="Shape 88"/>
          <p:cNvSpPr/>
          <p:nvPr/>
        </p:nvSpPr>
        <p:spPr>
          <a:xfrm>
            <a:off x="5403190" y="1451126"/>
            <a:ext cx="38405" cy="38405"/>
          </a:xfrm>
          <a:prstGeom prst="ellipse">
            <a:avLst/>
          </a:prstGeom>
          <a:solidFill>
            <a:srgbClr val="1F7A6B"/>
          </a:solidFill>
          <a:ln/>
        </p:spPr>
        <p:txBody>
          <a:bodyPr/>
          <a:lstStyle/>
          <a:p>
            <a:endParaRPr lang="en-US"/>
          </a:p>
        </p:txBody>
      </p:sp>
      <p:sp>
        <p:nvSpPr>
          <p:cNvPr id="91" name="Shape 89"/>
          <p:cNvSpPr/>
          <p:nvPr/>
        </p:nvSpPr>
        <p:spPr>
          <a:xfrm>
            <a:off x="5455768" y="1473250"/>
            <a:ext cx="38405" cy="38405"/>
          </a:xfrm>
          <a:prstGeom prst="ellipse">
            <a:avLst/>
          </a:prstGeom>
          <a:solidFill>
            <a:srgbClr val="1F7A6B"/>
          </a:solidFill>
          <a:ln/>
        </p:spPr>
        <p:txBody>
          <a:bodyPr/>
          <a:lstStyle/>
          <a:p>
            <a:endParaRPr lang="en-US"/>
          </a:p>
        </p:txBody>
      </p:sp>
      <p:sp>
        <p:nvSpPr>
          <p:cNvPr id="92" name="Shape 90"/>
          <p:cNvSpPr/>
          <p:nvPr/>
        </p:nvSpPr>
        <p:spPr>
          <a:xfrm>
            <a:off x="5508346" y="1537057"/>
            <a:ext cx="38405" cy="38405"/>
          </a:xfrm>
          <a:prstGeom prst="ellipse">
            <a:avLst/>
          </a:prstGeom>
          <a:solidFill>
            <a:srgbClr val="1F7A6B"/>
          </a:solidFill>
          <a:ln/>
        </p:spPr>
        <p:txBody>
          <a:bodyPr/>
          <a:lstStyle/>
          <a:p>
            <a:endParaRPr lang="en-US"/>
          </a:p>
        </p:txBody>
      </p:sp>
      <p:sp>
        <p:nvSpPr>
          <p:cNvPr id="93" name="Shape 91"/>
          <p:cNvSpPr/>
          <p:nvPr/>
        </p:nvSpPr>
        <p:spPr>
          <a:xfrm>
            <a:off x="5560924" y="1635337"/>
            <a:ext cx="38405" cy="38405"/>
          </a:xfrm>
          <a:prstGeom prst="ellipse">
            <a:avLst/>
          </a:prstGeom>
          <a:solidFill>
            <a:srgbClr val="1F7A6B"/>
          </a:solidFill>
          <a:ln/>
        </p:spPr>
        <p:txBody>
          <a:bodyPr/>
          <a:lstStyle/>
          <a:p>
            <a:endParaRPr lang="en-US"/>
          </a:p>
        </p:txBody>
      </p:sp>
      <p:sp>
        <p:nvSpPr>
          <p:cNvPr id="94" name="Shape 92"/>
          <p:cNvSpPr/>
          <p:nvPr/>
        </p:nvSpPr>
        <p:spPr>
          <a:xfrm>
            <a:off x="5613502" y="1757546"/>
            <a:ext cx="38405" cy="38405"/>
          </a:xfrm>
          <a:prstGeom prst="ellipse">
            <a:avLst/>
          </a:prstGeom>
          <a:solidFill>
            <a:srgbClr val="1F7A6B"/>
          </a:solidFill>
          <a:ln/>
        </p:spPr>
        <p:txBody>
          <a:bodyPr/>
          <a:lstStyle/>
          <a:p>
            <a:endParaRPr lang="en-US"/>
          </a:p>
        </p:txBody>
      </p:sp>
      <p:sp>
        <p:nvSpPr>
          <p:cNvPr id="95" name="Shape 93"/>
          <p:cNvSpPr/>
          <p:nvPr/>
        </p:nvSpPr>
        <p:spPr>
          <a:xfrm>
            <a:off x="5666080" y="1891612"/>
            <a:ext cx="38405" cy="38405"/>
          </a:xfrm>
          <a:prstGeom prst="ellipse">
            <a:avLst/>
          </a:prstGeom>
          <a:solidFill>
            <a:srgbClr val="1F7A6B"/>
          </a:solidFill>
          <a:ln/>
        </p:spPr>
        <p:txBody>
          <a:bodyPr/>
          <a:lstStyle/>
          <a:p>
            <a:endParaRPr lang="en-US"/>
          </a:p>
        </p:txBody>
      </p:sp>
      <p:sp>
        <p:nvSpPr>
          <p:cNvPr id="96" name="Shape 94"/>
          <p:cNvSpPr/>
          <p:nvPr/>
        </p:nvSpPr>
        <p:spPr>
          <a:xfrm>
            <a:off x="5718658" y="2025782"/>
            <a:ext cx="38405" cy="38405"/>
          </a:xfrm>
          <a:prstGeom prst="ellipse">
            <a:avLst/>
          </a:prstGeom>
          <a:solidFill>
            <a:srgbClr val="1F7A6B"/>
          </a:solidFill>
          <a:ln/>
        </p:spPr>
        <p:txBody>
          <a:bodyPr/>
          <a:lstStyle/>
          <a:p>
            <a:endParaRPr lang="en-US"/>
          </a:p>
        </p:txBody>
      </p:sp>
      <p:sp>
        <p:nvSpPr>
          <p:cNvPr id="97" name="Shape 95"/>
          <p:cNvSpPr/>
          <p:nvPr/>
        </p:nvSpPr>
        <p:spPr>
          <a:xfrm>
            <a:off x="5771236" y="2150104"/>
            <a:ext cx="38405" cy="38405"/>
          </a:xfrm>
          <a:prstGeom prst="ellipse">
            <a:avLst/>
          </a:prstGeom>
          <a:solidFill>
            <a:srgbClr val="1F7A6B"/>
          </a:solidFill>
          <a:ln/>
        </p:spPr>
        <p:txBody>
          <a:bodyPr/>
          <a:lstStyle/>
          <a:p>
            <a:endParaRPr lang="en-US"/>
          </a:p>
        </p:txBody>
      </p:sp>
      <p:sp>
        <p:nvSpPr>
          <p:cNvPr id="98" name="Shape 96"/>
          <p:cNvSpPr/>
          <p:nvPr/>
        </p:nvSpPr>
        <p:spPr>
          <a:xfrm>
            <a:off x="5823814" y="2257261"/>
            <a:ext cx="38405" cy="38405"/>
          </a:xfrm>
          <a:prstGeom prst="ellipse">
            <a:avLst/>
          </a:prstGeom>
          <a:solidFill>
            <a:srgbClr val="1F7A6B"/>
          </a:solidFill>
          <a:ln/>
        </p:spPr>
        <p:txBody>
          <a:bodyPr/>
          <a:lstStyle/>
          <a:p>
            <a:endParaRPr lang="en-US"/>
          </a:p>
        </p:txBody>
      </p:sp>
      <p:sp>
        <p:nvSpPr>
          <p:cNvPr id="99" name="Shape 97"/>
          <p:cNvSpPr/>
          <p:nvPr/>
        </p:nvSpPr>
        <p:spPr>
          <a:xfrm>
            <a:off x="5876392" y="2342710"/>
            <a:ext cx="38405" cy="38405"/>
          </a:xfrm>
          <a:prstGeom prst="ellipse">
            <a:avLst/>
          </a:prstGeom>
          <a:solidFill>
            <a:srgbClr val="1F7A6B"/>
          </a:solidFill>
          <a:ln/>
        </p:spPr>
        <p:txBody>
          <a:bodyPr/>
          <a:lstStyle/>
          <a:p>
            <a:endParaRPr lang="en-US"/>
          </a:p>
        </p:txBody>
      </p:sp>
      <p:sp>
        <p:nvSpPr>
          <p:cNvPr id="100" name="Shape 98"/>
          <p:cNvSpPr/>
          <p:nvPr/>
        </p:nvSpPr>
        <p:spPr>
          <a:xfrm>
            <a:off x="5928970" y="2404228"/>
            <a:ext cx="38405" cy="38405"/>
          </a:xfrm>
          <a:prstGeom prst="ellipse">
            <a:avLst/>
          </a:prstGeom>
          <a:solidFill>
            <a:srgbClr val="1F7A6B"/>
          </a:solidFill>
          <a:ln/>
        </p:spPr>
        <p:txBody>
          <a:bodyPr/>
          <a:lstStyle/>
          <a:p>
            <a:endParaRPr lang="en-US"/>
          </a:p>
        </p:txBody>
      </p:sp>
      <p:sp>
        <p:nvSpPr>
          <p:cNvPr id="101" name="Shape 99"/>
          <p:cNvSpPr/>
          <p:nvPr/>
        </p:nvSpPr>
        <p:spPr>
          <a:xfrm>
            <a:off x="5981548" y="2441122"/>
            <a:ext cx="38405" cy="38405"/>
          </a:xfrm>
          <a:prstGeom prst="ellipse">
            <a:avLst/>
          </a:prstGeom>
          <a:solidFill>
            <a:srgbClr val="1F7A6B"/>
          </a:solidFill>
          <a:ln/>
        </p:spPr>
        <p:txBody>
          <a:bodyPr/>
          <a:lstStyle/>
          <a:p>
            <a:endParaRPr lang="en-US"/>
          </a:p>
        </p:txBody>
      </p:sp>
      <p:sp>
        <p:nvSpPr>
          <p:cNvPr id="102" name="Shape 100"/>
          <p:cNvSpPr/>
          <p:nvPr/>
        </p:nvSpPr>
        <p:spPr>
          <a:xfrm>
            <a:off x="6034126" y="2453395"/>
            <a:ext cx="38405" cy="38405"/>
          </a:xfrm>
          <a:prstGeom prst="ellipse">
            <a:avLst/>
          </a:prstGeom>
          <a:solidFill>
            <a:srgbClr val="1F7A6B"/>
          </a:solidFill>
          <a:ln/>
        </p:spPr>
        <p:txBody>
          <a:bodyPr/>
          <a:lstStyle/>
          <a:p>
            <a:endParaRPr lang="en-US"/>
          </a:p>
        </p:txBody>
      </p:sp>
      <p:sp>
        <p:nvSpPr>
          <p:cNvPr id="103" name="Shape 101"/>
          <p:cNvSpPr/>
          <p:nvPr/>
        </p:nvSpPr>
        <p:spPr>
          <a:xfrm>
            <a:off x="6086704" y="2441122"/>
            <a:ext cx="38405" cy="38405"/>
          </a:xfrm>
          <a:prstGeom prst="ellipse">
            <a:avLst/>
          </a:prstGeom>
          <a:solidFill>
            <a:srgbClr val="1F7A6B"/>
          </a:solidFill>
          <a:ln/>
        </p:spPr>
        <p:txBody>
          <a:bodyPr/>
          <a:lstStyle/>
          <a:p>
            <a:endParaRPr lang="en-US"/>
          </a:p>
        </p:txBody>
      </p:sp>
      <p:sp>
        <p:nvSpPr>
          <p:cNvPr id="104" name="Shape 102"/>
          <p:cNvSpPr/>
          <p:nvPr/>
        </p:nvSpPr>
        <p:spPr>
          <a:xfrm>
            <a:off x="6139282" y="2404228"/>
            <a:ext cx="38405" cy="38405"/>
          </a:xfrm>
          <a:prstGeom prst="ellipse">
            <a:avLst/>
          </a:prstGeom>
          <a:solidFill>
            <a:srgbClr val="1F7A6B"/>
          </a:solidFill>
          <a:ln/>
        </p:spPr>
        <p:txBody>
          <a:bodyPr/>
          <a:lstStyle/>
          <a:p>
            <a:endParaRPr lang="en-US"/>
          </a:p>
        </p:txBody>
      </p:sp>
      <p:sp>
        <p:nvSpPr>
          <p:cNvPr id="105" name="Shape 103"/>
          <p:cNvSpPr/>
          <p:nvPr/>
        </p:nvSpPr>
        <p:spPr>
          <a:xfrm>
            <a:off x="6191860" y="2342710"/>
            <a:ext cx="38405" cy="38405"/>
          </a:xfrm>
          <a:prstGeom prst="ellipse">
            <a:avLst/>
          </a:prstGeom>
          <a:solidFill>
            <a:srgbClr val="1F7A6B"/>
          </a:solidFill>
          <a:ln/>
        </p:spPr>
        <p:txBody>
          <a:bodyPr/>
          <a:lstStyle/>
          <a:p>
            <a:endParaRPr lang="en-US"/>
          </a:p>
        </p:txBody>
      </p:sp>
      <p:sp>
        <p:nvSpPr>
          <p:cNvPr id="106" name="Shape 104"/>
          <p:cNvSpPr/>
          <p:nvPr/>
        </p:nvSpPr>
        <p:spPr>
          <a:xfrm>
            <a:off x="6244438" y="2257261"/>
            <a:ext cx="38405" cy="38405"/>
          </a:xfrm>
          <a:prstGeom prst="ellipse">
            <a:avLst/>
          </a:prstGeom>
          <a:solidFill>
            <a:srgbClr val="1F7A6B"/>
          </a:solidFill>
          <a:ln/>
        </p:spPr>
        <p:txBody>
          <a:bodyPr/>
          <a:lstStyle/>
          <a:p>
            <a:endParaRPr lang="en-US"/>
          </a:p>
        </p:txBody>
      </p:sp>
      <p:sp>
        <p:nvSpPr>
          <p:cNvPr id="107" name="Shape 105"/>
          <p:cNvSpPr/>
          <p:nvPr/>
        </p:nvSpPr>
        <p:spPr>
          <a:xfrm>
            <a:off x="6297016" y="2150104"/>
            <a:ext cx="38405" cy="38405"/>
          </a:xfrm>
          <a:prstGeom prst="ellipse">
            <a:avLst/>
          </a:prstGeom>
          <a:solidFill>
            <a:srgbClr val="1F7A6B"/>
          </a:solidFill>
          <a:ln/>
        </p:spPr>
        <p:txBody>
          <a:bodyPr/>
          <a:lstStyle/>
          <a:p>
            <a:endParaRPr lang="en-US"/>
          </a:p>
        </p:txBody>
      </p:sp>
      <p:sp>
        <p:nvSpPr>
          <p:cNvPr id="108" name="Shape 106"/>
          <p:cNvSpPr/>
          <p:nvPr/>
        </p:nvSpPr>
        <p:spPr>
          <a:xfrm>
            <a:off x="6349594" y="2025782"/>
            <a:ext cx="38405" cy="38405"/>
          </a:xfrm>
          <a:prstGeom prst="ellipse">
            <a:avLst/>
          </a:prstGeom>
          <a:solidFill>
            <a:srgbClr val="1F7A6B"/>
          </a:solidFill>
          <a:ln/>
        </p:spPr>
        <p:txBody>
          <a:bodyPr/>
          <a:lstStyle/>
          <a:p>
            <a:endParaRPr lang="en-US"/>
          </a:p>
        </p:txBody>
      </p:sp>
      <p:sp>
        <p:nvSpPr>
          <p:cNvPr id="109" name="Shape 107"/>
          <p:cNvSpPr/>
          <p:nvPr/>
        </p:nvSpPr>
        <p:spPr>
          <a:xfrm>
            <a:off x="6402172" y="1891612"/>
            <a:ext cx="38405" cy="38405"/>
          </a:xfrm>
          <a:prstGeom prst="ellipse">
            <a:avLst/>
          </a:prstGeom>
          <a:solidFill>
            <a:srgbClr val="1F7A6B"/>
          </a:solidFill>
          <a:ln/>
        </p:spPr>
        <p:txBody>
          <a:bodyPr/>
          <a:lstStyle/>
          <a:p>
            <a:endParaRPr lang="en-US"/>
          </a:p>
        </p:txBody>
      </p:sp>
      <p:sp>
        <p:nvSpPr>
          <p:cNvPr id="110" name="Shape 108"/>
          <p:cNvSpPr/>
          <p:nvPr/>
        </p:nvSpPr>
        <p:spPr>
          <a:xfrm>
            <a:off x="6454750" y="1757546"/>
            <a:ext cx="38405" cy="38405"/>
          </a:xfrm>
          <a:prstGeom prst="ellipse">
            <a:avLst/>
          </a:prstGeom>
          <a:solidFill>
            <a:srgbClr val="1F7A6B"/>
          </a:solidFill>
          <a:ln/>
        </p:spPr>
        <p:txBody>
          <a:bodyPr/>
          <a:lstStyle/>
          <a:p>
            <a:endParaRPr lang="en-US"/>
          </a:p>
        </p:txBody>
      </p:sp>
      <p:sp>
        <p:nvSpPr>
          <p:cNvPr id="111" name="Shape 109"/>
          <p:cNvSpPr/>
          <p:nvPr/>
        </p:nvSpPr>
        <p:spPr>
          <a:xfrm>
            <a:off x="6507328" y="1635338"/>
            <a:ext cx="38405" cy="38405"/>
          </a:xfrm>
          <a:prstGeom prst="ellipse">
            <a:avLst/>
          </a:prstGeom>
          <a:solidFill>
            <a:srgbClr val="1F7A6B"/>
          </a:solidFill>
          <a:ln/>
        </p:spPr>
        <p:txBody>
          <a:bodyPr/>
          <a:lstStyle/>
          <a:p>
            <a:endParaRPr lang="en-US"/>
          </a:p>
        </p:txBody>
      </p:sp>
      <p:sp>
        <p:nvSpPr>
          <p:cNvPr id="112" name="Shape 110"/>
          <p:cNvSpPr/>
          <p:nvPr/>
        </p:nvSpPr>
        <p:spPr>
          <a:xfrm>
            <a:off x="6559906" y="1537059"/>
            <a:ext cx="38405" cy="38405"/>
          </a:xfrm>
          <a:prstGeom prst="ellipse">
            <a:avLst/>
          </a:prstGeom>
          <a:solidFill>
            <a:srgbClr val="1F7A6B"/>
          </a:solidFill>
          <a:ln/>
        </p:spPr>
        <p:txBody>
          <a:bodyPr/>
          <a:lstStyle/>
          <a:p>
            <a:endParaRPr lang="en-US"/>
          </a:p>
        </p:txBody>
      </p:sp>
      <p:sp>
        <p:nvSpPr>
          <p:cNvPr id="113" name="Shape 111"/>
          <p:cNvSpPr/>
          <p:nvPr/>
        </p:nvSpPr>
        <p:spPr>
          <a:xfrm>
            <a:off x="6612484" y="1473255"/>
            <a:ext cx="38405" cy="38405"/>
          </a:xfrm>
          <a:prstGeom prst="ellipse">
            <a:avLst/>
          </a:prstGeom>
          <a:solidFill>
            <a:srgbClr val="1F7A6B"/>
          </a:solidFill>
          <a:ln/>
        </p:spPr>
        <p:txBody>
          <a:bodyPr/>
          <a:lstStyle/>
          <a:p>
            <a:endParaRPr lang="en-US"/>
          </a:p>
        </p:txBody>
      </p:sp>
      <p:sp>
        <p:nvSpPr>
          <p:cNvPr id="114" name="Shape 112"/>
          <p:cNvSpPr/>
          <p:nvPr/>
        </p:nvSpPr>
        <p:spPr>
          <a:xfrm>
            <a:off x="6665062" y="1451139"/>
            <a:ext cx="38405" cy="38405"/>
          </a:xfrm>
          <a:prstGeom prst="ellipse">
            <a:avLst/>
          </a:prstGeom>
          <a:solidFill>
            <a:srgbClr val="1F7A6B"/>
          </a:solidFill>
          <a:ln/>
        </p:spPr>
        <p:txBody>
          <a:bodyPr/>
          <a:lstStyle/>
          <a:p>
            <a:endParaRPr lang="en-US"/>
          </a:p>
        </p:txBody>
      </p:sp>
      <p:sp>
        <p:nvSpPr>
          <p:cNvPr id="115" name="Shape 113"/>
          <p:cNvSpPr/>
          <p:nvPr/>
        </p:nvSpPr>
        <p:spPr>
          <a:xfrm>
            <a:off x="6717640" y="1473284"/>
            <a:ext cx="38405" cy="38405"/>
          </a:xfrm>
          <a:prstGeom prst="ellipse">
            <a:avLst/>
          </a:prstGeom>
          <a:solidFill>
            <a:srgbClr val="1F7A6B"/>
          </a:solidFill>
          <a:ln/>
        </p:spPr>
        <p:txBody>
          <a:bodyPr/>
          <a:lstStyle/>
          <a:p>
            <a:endParaRPr lang="en-US"/>
          </a:p>
        </p:txBody>
      </p:sp>
      <p:sp>
        <p:nvSpPr>
          <p:cNvPr id="116" name="Shape 114"/>
          <p:cNvSpPr/>
          <p:nvPr/>
        </p:nvSpPr>
        <p:spPr>
          <a:xfrm>
            <a:off x="6770218" y="1537140"/>
            <a:ext cx="38405" cy="38405"/>
          </a:xfrm>
          <a:prstGeom prst="ellipse">
            <a:avLst/>
          </a:prstGeom>
          <a:solidFill>
            <a:srgbClr val="1F7A6B"/>
          </a:solidFill>
          <a:ln/>
        </p:spPr>
        <p:txBody>
          <a:bodyPr/>
          <a:lstStyle/>
          <a:p>
            <a:endParaRPr lang="en-US"/>
          </a:p>
        </p:txBody>
      </p:sp>
      <p:sp>
        <p:nvSpPr>
          <p:cNvPr id="117" name="Shape 115"/>
          <p:cNvSpPr/>
          <p:nvPr/>
        </p:nvSpPr>
        <p:spPr>
          <a:xfrm>
            <a:off x="6822796" y="1635530"/>
            <a:ext cx="38405" cy="38405"/>
          </a:xfrm>
          <a:prstGeom prst="ellipse">
            <a:avLst/>
          </a:prstGeom>
          <a:solidFill>
            <a:srgbClr val="1F7A6B"/>
          </a:solidFill>
          <a:ln/>
        </p:spPr>
        <p:txBody>
          <a:bodyPr/>
          <a:lstStyle/>
          <a:p>
            <a:endParaRPr lang="en-US"/>
          </a:p>
        </p:txBody>
      </p:sp>
      <p:sp>
        <p:nvSpPr>
          <p:cNvPr id="118" name="Shape 116"/>
          <p:cNvSpPr/>
          <p:nvPr/>
        </p:nvSpPr>
        <p:spPr>
          <a:xfrm>
            <a:off x="6875374" y="1757978"/>
            <a:ext cx="38405" cy="38405"/>
          </a:xfrm>
          <a:prstGeom prst="ellipse">
            <a:avLst/>
          </a:prstGeom>
          <a:solidFill>
            <a:srgbClr val="1F7A6B"/>
          </a:solidFill>
          <a:ln/>
        </p:spPr>
        <p:txBody>
          <a:bodyPr/>
          <a:lstStyle/>
          <a:p>
            <a:endParaRPr lang="en-US"/>
          </a:p>
        </p:txBody>
      </p:sp>
      <p:sp>
        <p:nvSpPr>
          <p:cNvPr id="119" name="Shape 117"/>
          <p:cNvSpPr/>
          <p:nvPr/>
        </p:nvSpPr>
        <p:spPr>
          <a:xfrm>
            <a:off x="6927952" y="1892543"/>
            <a:ext cx="38405" cy="38405"/>
          </a:xfrm>
          <a:prstGeom prst="ellipse">
            <a:avLst/>
          </a:prstGeom>
          <a:solidFill>
            <a:srgbClr val="1F7A6B"/>
          </a:solidFill>
          <a:ln/>
        </p:spPr>
        <p:txBody>
          <a:bodyPr/>
          <a:lstStyle/>
          <a:p>
            <a:endParaRPr lang="en-US"/>
          </a:p>
        </p:txBody>
      </p:sp>
      <p:sp>
        <p:nvSpPr>
          <p:cNvPr id="120" name="Shape 118"/>
          <p:cNvSpPr/>
          <p:nvPr/>
        </p:nvSpPr>
        <p:spPr>
          <a:xfrm>
            <a:off x="6980530" y="2027712"/>
            <a:ext cx="38405" cy="38405"/>
          </a:xfrm>
          <a:prstGeom prst="ellipse">
            <a:avLst/>
          </a:prstGeom>
          <a:solidFill>
            <a:srgbClr val="1F7A6B"/>
          </a:solidFill>
          <a:ln/>
        </p:spPr>
        <p:txBody>
          <a:bodyPr/>
          <a:lstStyle/>
          <a:p>
            <a:endParaRPr lang="en-US"/>
          </a:p>
        </p:txBody>
      </p:sp>
      <p:sp>
        <p:nvSpPr>
          <p:cNvPr id="121" name="Shape 119"/>
          <p:cNvSpPr/>
          <p:nvPr/>
        </p:nvSpPr>
        <p:spPr>
          <a:xfrm>
            <a:off x="7033108" y="2153947"/>
            <a:ext cx="38405" cy="38405"/>
          </a:xfrm>
          <a:prstGeom prst="ellipse">
            <a:avLst/>
          </a:prstGeom>
          <a:solidFill>
            <a:srgbClr val="1F7A6B"/>
          </a:solidFill>
          <a:ln/>
        </p:spPr>
        <p:txBody>
          <a:bodyPr/>
          <a:lstStyle/>
          <a:p>
            <a:endParaRPr lang="en-US"/>
          </a:p>
        </p:txBody>
      </p:sp>
      <p:sp>
        <p:nvSpPr>
          <p:cNvPr id="122" name="Shape 120"/>
          <p:cNvSpPr/>
          <p:nvPr/>
        </p:nvSpPr>
        <p:spPr>
          <a:xfrm>
            <a:off x="7085686" y="2264620"/>
            <a:ext cx="38405" cy="38405"/>
          </a:xfrm>
          <a:prstGeom prst="ellipse">
            <a:avLst/>
          </a:prstGeom>
          <a:solidFill>
            <a:srgbClr val="1F7A6B"/>
          </a:solidFill>
          <a:ln/>
        </p:spPr>
        <p:txBody>
          <a:bodyPr/>
          <a:lstStyle/>
          <a:p>
            <a:endParaRPr lang="en-US"/>
          </a:p>
        </p:txBody>
      </p:sp>
      <p:sp>
        <p:nvSpPr>
          <p:cNvPr id="123" name="Shape 121"/>
          <p:cNvSpPr/>
          <p:nvPr/>
        </p:nvSpPr>
        <p:spPr>
          <a:xfrm>
            <a:off x="7138264" y="2356256"/>
            <a:ext cx="38405" cy="38405"/>
          </a:xfrm>
          <a:prstGeom prst="ellipse">
            <a:avLst/>
          </a:prstGeom>
          <a:solidFill>
            <a:srgbClr val="1F7A6B"/>
          </a:solidFill>
          <a:ln/>
        </p:spPr>
        <p:txBody>
          <a:bodyPr/>
          <a:lstStyle/>
          <a:p>
            <a:endParaRPr lang="en-US"/>
          </a:p>
        </p:txBody>
      </p:sp>
      <p:sp>
        <p:nvSpPr>
          <p:cNvPr id="124" name="Shape 122"/>
          <p:cNvSpPr/>
          <p:nvPr/>
        </p:nvSpPr>
        <p:spPr>
          <a:xfrm>
            <a:off x="7190842" y="2428202"/>
            <a:ext cx="38405" cy="38405"/>
          </a:xfrm>
          <a:prstGeom prst="ellipse">
            <a:avLst/>
          </a:prstGeom>
          <a:solidFill>
            <a:srgbClr val="1F7A6B"/>
          </a:solidFill>
          <a:ln/>
        </p:spPr>
        <p:txBody>
          <a:bodyPr/>
          <a:lstStyle/>
          <a:p>
            <a:endParaRPr lang="en-US"/>
          </a:p>
        </p:txBody>
      </p:sp>
      <p:sp>
        <p:nvSpPr>
          <p:cNvPr id="125" name="Shape 123"/>
          <p:cNvSpPr/>
          <p:nvPr/>
        </p:nvSpPr>
        <p:spPr>
          <a:xfrm>
            <a:off x="7243420" y="2481912"/>
            <a:ext cx="38405" cy="38405"/>
          </a:xfrm>
          <a:prstGeom prst="ellipse">
            <a:avLst/>
          </a:prstGeom>
          <a:solidFill>
            <a:srgbClr val="1F7A6B"/>
          </a:solidFill>
          <a:ln/>
        </p:spPr>
        <p:txBody>
          <a:bodyPr/>
          <a:lstStyle/>
          <a:p>
            <a:endParaRPr lang="en-US"/>
          </a:p>
        </p:txBody>
      </p:sp>
      <p:sp>
        <p:nvSpPr>
          <p:cNvPr id="126" name="Shape 124"/>
          <p:cNvSpPr/>
          <p:nvPr/>
        </p:nvSpPr>
        <p:spPr>
          <a:xfrm>
            <a:off x="7295998" y="2520116"/>
            <a:ext cx="38405" cy="38405"/>
          </a:xfrm>
          <a:prstGeom prst="ellipse">
            <a:avLst/>
          </a:prstGeom>
          <a:solidFill>
            <a:srgbClr val="1F7A6B"/>
          </a:solidFill>
          <a:ln/>
        </p:spPr>
        <p:txBody>
          <a:bodyPr/>
          <a:lstStyle/>
          <a:p>
            <a:endParaRPr lang="en-US"/>
          </a:p>
        </p:txBody>
      </p:sp>
      <p:sp>
        <p:nvSpPr>
          <p:cNvPr id="127" name="Text 125"/>
          <p:cNvSpPr txBox="1"/>
          <p:nvPr/>
        </p:nvSpPr>
        <p:spPr>
          <a:xfrm>
            <a:off x="1005840" y="2670048"/>
            <a:ext cx="6309360" cy="274320"/>
          </a:xfrm>
          <a:prstGeom prst="rect">
            <a:avLst/>
          </a:prstGeom>
          <a:noFill/>
          <a:ln/>
        </p:spPr>
        <p:txBody>
          <a:bodyPr wrap="square" lIns="0" tIns="0" rIns="0" bIns="0" rtlCol="0" anchor="ctr"/>
          <a:lstStyle/>
          <a:p>
            <a:pPr marL="0" indent="0" algn="ctr">
              <a:buNone/>
            </a:pPr>
            <a:r>
              <a:rPr lang="en-US" sz="1300" dirty="0">
                <a:solidFill>
                  <a:srgbClr val="1F7A6B"/>
                </a:solidFill>
                <a:latin typeface="Cambria Math" pitchFamily="34" charset="0"/>
                <a:ea typeface="Cambria Math" pitchFamily="34" charset="-122"/>
                <a:cs typeface="Cambria Math" pitchFamily="34" charset="-120"/>
              </a:rPr>
              <a:t>p_data  —  the world, five modes</a:t>
            </a:r>
            <a:endParaRPr lang="en-US" sz="1300" dirty="0"/>
          </a:p>
        </p:txBody>
      </p:sp>
      <p:sp>
        <p:nvSpPr>
          <p:cNvPr id="128" name="Shape 126"/>
          <p:cNvSpPr/>
          <p:nvPr/>
        </p:nvSpPr>
        <p:spPr>
          <a:xfrm>
            <a:off x="914400" y="4343400"/>
            <a:ext cx="6492240" cy="16459"/>
          </a:xfrm>
          <a:prstGeom prst="rect">
            <a:avLst/>
          </a:prstGeom>
          <a:solidFill>
            <a:srgbClr val="B6BECB"/>
          </a:solidFill>
          <a:ln/>
        </p:spPr>
        <p:txBody>
          <a:bodyPr/>
          <a:lstStyle/>
          <a:p>
            <a:endParaRPr lang="en-US"/>
          </a:p>
        </p:txBody>
      </p:sp>
      <p:sp>
        <p:nvSpPr>
          <p:cNvPr id="129" name="Shape 127"/>
          <p:cNvSpPr/>
          <p:nvPr/>
        </p:nvSpPr>
        <p:spPr>
          <a:xfrm>
            <a:off x="986638" y="4324198"/>
            <a:ext cx="38405" cy="38405"/>
          </a:xfrm>
          <a:prstGeom prst="ellipse">
            <a:avLst/>
          </a:prstGeom>
          <a:solidFill>
            <a:srgbClr val="9C3D6E"/>
          </a:solidFill>
          <a:ln/>
        </p:spPr>
        <p:txBody>
          <a:bodyPr/>
          <a:lstStyle/>
          <a:p>
            <a:endParaRPr lang="en-US"/>
          </a:p>
        </p:txBody>
      </p:sp>
      <p:sp>
        <p:nvSpPr>
          <p:cNvPr id="130" name="Shape 128"/>
          <p:cNvSpPr/>
          <p:nvPr/>
        </p:nvSpPr>
        <p:spPr>
          <a:xfrm>
            <a:off x="1039216" y="4324198"/>
            <a:ext cx="38405" cy="38405"/>
          </a:xfrm>
          <a:prstGeom prst="ellipse">
            <a:avLst/>
          </a:prstGeom>
          <a:solidFill>
            <a:srgbClr val="9C3D6E"/>
          </a:solidFill>
          <a:ln/>
        </p:spPr>
        <p:txBody>
          <a:bodyPr/>
          <a:lstStyle/>
          <a:p>
            <a:endParaRPr lang="en-US"/>
          </a:p>
        </p:txBody>
      </p:sp>
      <p:sp>
        <p:nvSpPr>
          <p:cNvPr id="131" name="Shape 129"/>
          <p:cNvSpPr/>
          <p:nvPr/>
        </p:nvSpPr>
        <p:spPr>
          <a:xfrm>
            <a:off x="1091794" y="4324198"/>
            <a:ext cx="38405" cy="38405"/>
          </a:xfrm>
          <a:prstGeom prst="ellipse">
            <a:avLst/>
          </a:prstGeom>
          <a:solidFill>
            <a:srgbClr val="9C3D6E"/>
          </a:solidFill>
          <a:ln/>
        </p:spPr>
        <p:txBody>
          <a:bodyPr/>
          <a:lstStyle/>
          <a:p>
            <a:endParaRPr lang="en-US"/>
          </a:p>
        </p:txBody>
      </p:sp>
      <p:sp>
        <p:nvSpPr>
          <p:cNvPr id="132" name="Shape 130"/>
          <p:cNvSpPr/>
          <p:nvPr/>
        </p:nvSpPr>
        <p:spPr>
          <a:xfrm>
            <a:off x="1144372" y="4324198"/>
            <a:ext cx="38405" cy="38405"/>
          </a:xfrm>
          <a:prstGeom prst="ellipse">
            <a:avLst/>
          </a:prstGeom>
          <a:solidFill>
            <a:srgbClr val="9C3D6E"/>
          </a:solidFill>
          <a:ln/>
        </p:spPr>
        <p:txBody>
          <a:bodyPr/>
          <a:lstStyle/>
          <a:p>
            <a:endParaRPr lang="en-US"/>
          </a:p>
        </p:txBody>
      </p:sp>
      <p:sp>
        <p:nvSpPr>
          <p:cNvPr id="133" name="Shape 131"/>
          <p:cNvSpPr/>
          <p:nvPr/>
        </p:nvSpPr>
        <p:spPr>
          <a:xfrm>
            <a:off x="1196950" y="4324198"/>
            <a:ext cx="38405" cy="38405"/>
          </a:xfrm>
          <a:prstGeom prst="ellipse">
            <a:avLst/>
          </a:prstGeom>
          <a:solidFill>
            <a:srgbClr val="9C3D6E"/>
          </a:solidFill>
          <a:ln/>
        </p:spPr>
        <p:txBody>
          <a:bodyPr/>
          <a:lstStyle/>
          <a:p>
            <a:endParaRPr lang="en-US"/>
          </a:p>
        </p:txBody>
      </p:sp>
      <p:sp>
        <p:nvSpPr>
          <p:cNvPr id="134" name="Shape 132"/>
          <p:cNvSpPr/>
          <p:nvPr/>
        </p:nvSpPr>
        <p:spPr>
          <a:xfrm>
            <a:off x="1249528" y="4324198"/>
            <a:ext cx="38405" cy="38405"/>
          </a:xfrm>
          <a:prstGeom prst="ellipse">
            <a:avLst/>
          </a:prstGeom>
          <a:solidFill>
            <a:srgbClr val="9C3D6E"/>
          </a:solidFill>
          <a:ln/>
        </p:spPr>
        <p:txBody>
          <a:bodyPr/>
          <a:lstStyle/>
          <a:p>
            <a:endParaRPr lang="en-US"/>
          </a:p>
        </p:txBody>
      </p:sp>
      <p:sp>
        <p:nvSpPr>
          <p:cNvPr id="135" name="Shape 133"/>
          <p:cNvSpPr/>
          <p:nvPr/>
        </p:nvSpPr>
        <p:spPr>
          <a:xfrm>
            <a:off x="1302106" y="4324198"/>
            <a:ext cx="38405" cy="38405"/>
          </a:xfrm>
          <a:prstGeom prst="ellipse">
            <a:avLst/>
          </a:prstGeom>
          <a:solidFill>
            <a:srgbClr val="9C3D6E"/>
          </a:solidFill>
          <a:ln/>
        </p:spPr>
        <p:txBody>
          <a:bodyPr/>
          <a:lstStyle/>
          <a:p>
            <a:endParaRPr lang="en-US"/>
          </a:p>
        </p:txBody>
      </p:sp>
      <p:sp>
        <p:nvSpPr>
          <p:cNvPr id="136" name="Shape 134"/>
          <p:cNvSpPr/>
          <p:nvPr/>
        </p:nvSpPr>
        <p:spPr>
          <a:xfrm>
            <a:off x="1354684" y="4324198"/>
            <a:ext cx="38405" cy="38405"/>
          </a:xfrm>
          <a:prstGeom prst="ellipse">
            <a:avLst/>
          </a:prstGeom>
          <a:solidFill>
            <a:srgbClr val="9C3D6E"/>
          </a:solidFill>
          <a:ln/>
        </p:spPr>
        <p:txBody>
          <a:bodyPr/>
          <a:lstStyle/>
          <a:p>
            <a:endParaRPr lang="en-US"/>
          </a:p>
        </p:txBody>
      </p:sp>
      <p:sp>
        <p:nvSpPr>
          <p:cNvPr id="137" name="Shape 135"/>
          <p:cNvSpPr/>
          <p:nvPr/>
        </p:nvSpPr>
        <p:spPr>
          <a:xfrm>
            <a:off x="1407262" y="4324198"/>
            <a:ext cx="38405" cy="38405"/>
          </a:xfrm>
          <a:prstGeom prst="ellipse">
            <a:avLst/>
          </a:prstGeom>
          <a:solidFill>
            <a:srgbClr val="9C3D6E"/>
          </a:solidFill>
          <a:ln/>
        </p:spPr>
        <p:txBody>
          <a:bodyPr/>
          <a:lstStyle/>
          <a:p>
            <a:endParaRPr lang="en-US"/>
          </a:p>
        </p:txBody>
      </p:sp>
      <p:sp>
        <p:nvSpPr>
          <p:cNvPr id="138" name="Shape 136"/>
          <p:cNvSpPr/>
          <p:nvPr/>
        </p:nvSpPr>
        <p:spPr>
          <a:xfrm>
            <a:off x="1459840" y="4324198"/>
            <a:ext cx="38405" cy="38405"/>
          </a:xfrm>
          <a:prstGeom prst="ellipse">
            <a:avLst/>
          </a:prstGeom>
          <a:solidFill>
            <a:srgbClr val="9C3D6E"/>
          </a:solidFill>
          <a:ln/>
        </p:spPr>
        <p:txBody>
          <a:bodyPr/>
          <a:lstStyle/>
          <a:p>
            <a:endParaRPr lang="en-US"/>
          </a:p>
        </p:txBody>
      </p:sp>
      <p:sp>
        <p:nvSpPr>
          <p:cNvPr id="139" name="Shape 137"/>
          <p:cNvSpPr/>
          <p:nvPr/>
        </p:nvSpPr>
        <p:spPr>
          <a:xfrm>
            <a:off x="1512418" y="4324198"/>
            <a:ext cx="38405" cy="38405"/>
          </a:xfrm>
          <a:prstGeom prst="ellipse">
            <a:avLst/>
          </a:prstGeom>
          <a:solidFill>
            <a:srgbClr val="9C3D6E"/>
          </a:solidFill>
          <a:ln/>
        </p:spPr>
        <p:txBody>
          <a:bodyPr/>
          <a:lstStyle/>
          <a:p>
            <a:endParaRPr lang="en-US"/>
          </a:p>
        </p:txBody>
      </p:sp>
      <p:sp>
        <p:nvSpPr>
          <p:cNvPr id="140" name="Shape 138"/>
          <p:cNvSpPr/>
          <p:nvPr/>
        </p:nvSpPr>
        <p:spPr>
          <a:xfrm>
            <a:off x="1564996" y="4324198"/>
            <a:ext cx="38405" cy="38405"/>
          </a:xfrm>
          <a:prstGeom prst="ellipse">
            <a:avLst/>
          </a:prstGeom>
          <a:solidFill>
            <a:srgbClr val="9C3D6E"/>
          </a:solidFill>
          <a:ln/>
        </p:spPr>
        <p:txBody>
          <a:bodyPr/>
          <a:lstStyle/>
          <a:p>
            <a:endParaRPr lang="en-US"/>
          </a:p>
        </p:txBody>
      </p:sp>
      <p:sp>
        <p:nvSpPr>
          <p:cNvPr id="141" name="Shape 139"/>
          <p:cNvSpPr/>
          <p:nvPr/>
        </p:nvSpPr>
        <p:spPr>
          <a:xfrm>
            <a:off x="1617574" y="4324198"/>
            <a:ext cx="38405" cy="38405"/>
          </a:xfrm>
          <a:prstGeom prst="ellipse">
            <a:avLst/>
          </a:prstGeom>
          <a:solidFill>
            <a:srgbClr val="9C3D6E"/>
          </a:solidFill>
          <a:ln/>
        </p:spPr>
        <p:txBody>
          <a:bodyPr/>
          <a:lstStyle/>
          <a:p>
            <a:endParaRPr lang="en-US"/>
          </a:p>
        </p:txBody>
      </p:sp>
      <p:sp>
        <p:nvSpPr>
          <p:cNvPr id="142" name="Shape 140"/>
          <p:cNvSpPr/>
          <p:nvPr/>
        </p:nvSpPr>
        <p:spPr>
          <a:xfrm>
            <a:off x="1670152" y="4324198"/>
            <a:ext cx="38405" cy="38405"/>
          </a:xfrm>
          <a:prstGeom prst="ellipse">
            <a:avLst/>
          </a:prstGeom>
          <a:solidFill>
            <a:srgbClr val="9C3D6E"/>
          </a:solidFill>
          <a:ln/>
        </p:spPr>
        <p:txBody>
          <a:bodyPr/>
          <a:lstStyle/>
          <a:p>
            <a:endParaRPr lang="en-US"/>
          </a:p>
        </p:txBody>
      </p:sp>
      <p:sp>
        <p:nvSpPr>
          <p:cNvPr id="143" name="Shape 141"/>
          <p:cNvSpPr/>
          <p:nvPr/>
        </p:nvSpPr>
        <p:spPr>
          <a:xfrm>
            <a:off x="1722730" y="4324198"/>
            <a:ext cx="38405" cy="38405"/>
          </a:xfrm>
          <a:prstGeom prst="ellipse">
            <a:avLst/>
          </a:prstGeom>
          <a:solidFill>
            <a:srgbClr val="9C3D6E"/>
          </a:solidFill>
          <a:ln/>
        </p:spPr>
        <p:txBody>
          <a:bodyPr/>
          <a:lstStyle/>
          <a:p>
            <a:endParaRPr lang="en-US"/>
          </a:p>
        </p:txBody>
      </p:sp>
      <p:sp>
        <p:nvSpPr>
          <p:cNvPr id="144" name="Shape 142"/>
          <p:cNvSpPr/>
          <p:nvPr/>
        </p:nvSpPr>
        <p:spPr>
          <a:xfrm>
            <a:off x="1775308" y="4324198"/>
            <a:ext cx="38405" cy="38405"/>
          </a:xfrm>
          <a:prstGeom prst="ellipse">
            <a:avLst/>
          </a:prstGeom>
          <a:solidFill>
            <a:srgbClr val="9C3D6E"/>
          </a:solidFill>
          <a:ln/>
        </p:spPr>
        <p:txBody>
          <a:bodyPr/>
          <a:lstStyle/>
          <a:p>
            <a:endParaRPr lang="en-US"/>
          </a:p>
        </p:txBody>
      </p:sp>
      <p:sp>
        <p:nvSpPr>
          <p:cNvPr id="145" name="Shape 143"/>
          <p:cNvSpPr/>
          <p:nvPr/>
        </p:nvSpPr>
        <p:spPr>
          <a:xfrm>
            <a:off x="1827886" y="4324198"/>
            <a:ext cx="38405" cy="38405"/>
          </a:xfrm>
          <a:prstGeom prst="ellipse">
            <a:avLst/>
          </a:prstGeom>
          <a:solidFill>
            <a:srgbClr val="9C3D6E"/>
          </a:solidFill>
          <a:ln/>
        </p:spPr>
        <p:txBody>
          <a:bodyPr/>
          <a:lstStyle/>
          <a:p>
            <a:endParaRPr lang="en-US"/>
          </a:p>
        </p:txBody>
      </p:sp>
      <p:sp>
        <p:nvSpPr>
          <p:cNvPr id="146" name="Shape 144"/>
          <p:cNvSpPr/>
          <p:nvPr/>
        </p:nvSpPr>
        <p:spPr>
          <a:xfrm>
            <a:off x="1880464" y="4324198"/>
            <a:ext cx="38405" cy="38405"/>
          </a:xfrm>
          <a:prstGeom prst="ellipse">
            <a:avLst/>
          </a:prstGeom>
          <a:solidFill>
            <a:srgbClr val="9C3D6E"/>
          </a:solidFill>
          <a:ln/>
        </p:spPr>
        <p:txBody>
          <a:bodyPr/>
          <a:lstStyle/>
          <a:p>
            <a:endParaRPr lang="en-US"/>
          </a:p>
        </p:txBody>
      </p:sp>
      <p:sp>
        <p:nvSpPr>
          <p:cNvPr id="147" name="Shape 145"/>
          <p:cNvSpPr/>
          <p:nvPr/>
        </p:nvSpPr>
        <p:spPr>
          <a:xfrm>
            <a:off x="1933042" y="4324198"/>
            <a:ext cx="38405" cy="38405"/>
          </a:xfrm>
          <a:prstGeom prst="ellipse">
            <a:avLst/>
          </a:prstGeom>
          <a:solidFill>
            <a:srgbClr val="9C3D6E"/>
          </a:solidFill>
          <a:ln/>
        </p:spPr>
        <p:txBody>
          <a:bodyPr/>
          <a:lstStyle/>
          <a:p>
            <a:endParaRPr lang="en-US"/>
          </a:p>
        </p:txBody>
      </p:sp>
      <p:sp>
        <p:nvSpPr>
          <p:cNvPr id="148" name="Shape 146"/>
          <p:cNvSpPr/>
          <p:nvPr/>
        </p:nvSpPr>
        <p:spPr>
          <a:xfrm>
            <a:off x="1985620" y="4324198"/>
            <a:ext cx="38405" cy="38405"/>
          </a:xfrm>
          <a:prstGeom prst="ellipse">
            <a:avLst/>
          </a:prstGeom>
          <a:solidFill>
            <a:srgbClr val="9C3D6E"/>
          </a:solidFill>
          <a:ln/>
        </p:spPr>
        <p:txBody>
          <a:bodyPr/>
          <a:lstStyle/>
          <a:p>
            <a:endParaRPr lang="en-US"/>
          </a:p>
        </p:txBody>
      </p:sp>
      <p:sp>
        <p:nvSpPr>
          <p:cNvPr id="149" name="Shape 147"/>
          <p:cNvSpPr/>
          <p:nvPr/>
        </p:nvSpPr>
        <p:spPr>
          <a:xfrm>
            <a:off x="2038198" y="4324198"/>
            <a:ext cx="38405" cy="38405"/>
          </a:xfrm>
          <a:prstGeom prst="ellipse">
            <a:avLst/>
          </a:prstGeom>
          <a:solidFill>
            <a:srgbClr val="9C3D6E"/>
          </a:solidFill>
          <a:ln/>
        </p:spPr>
        <p:txBody>
          <a:bodyPr/>
          <a:lstStyle/>
          <a:p>
            <a:endParaRPr lang="en-US"/>
          </a:p>
        </p:txBody>
      </p:sp>
      <p:sp>
        <p:nvSpPr>
          <p:cNvPr id="150" name="Shape 148"/>
          <p:cNvSpPr/>
          <p:nvPr/>
        </p:nvSpPr>
        <p:spPr>
          <a:xfrm>
            <a:off x="2090776" y="4324198"/>
            <a:ext cx="38405" cy="38405"/>
          </a:xfrm>
          <a:prstGeom prst="ellipse">
            <a:avLst/>
          </a:prstGeom>
          <a:solidFill>
            <a:srgbClr val="9C3D6E"/>
          </a:solidFill>
          <a:ln/>
        </p:spPr>
        <p:txBody>
          <a:bodyPr/>
          <a:lstStyle/>
          <a:p>
            <a:endParaRPr lang="en-US"/>
          </a:p>
        </p:txBody>
      </p:sp>
      <p:sp>
        <p:nvSpPr>
          <p:cNvPr id="151" name="Shape 149"/>
          <p:cNvSpPr/>
          <p:nvPr/>
        </p:nvSpPr>
        <p:spPr>
          <a:xfrm>
            <a:off x="2143354" y="4324198"/>
            <a:ext cx="38405" cy="38405"/>
          </a:xfrm>
          <a:prstGeom prst="ellipse">
            <a:avLst/>
          </a:prstGeom>
          <a:solidFill>
            <a:srgbClr val="9C3D6E"/>
          </a:solidFill>
          <a:ln/>
        </p:spPr>
        <p:txBody>
          <a:bodyPr/>
          <a:lstStyle/>
          <a:p>
            <a:endParaRPr lang="en-US"/>
          </a:p>
        </p:txBody>
      </p:sp>
      <p:sp>
        <p:nvSpPr>
          <p:cNvPr id="152" name="Shape 150"/>
          <p:cNvSpPr/>
          <p:nvPr/>
        </p:nvSpPr>
        <p:spPr>
          <a:xfrm>
            <a:off x="2195932" y="4324198"/>
            <a:ext cx="38405" cy="38405"/>
          </a:xfrm>
          <a:prstGeom prst="ellipse">
            <a:avLst/>
          </a:prstGeom>
          <a:solidFill>
            <a:srgbClr val="9C3D6E"/>
          </a:solidFill>
          <a:ln/>
        </p:spPr>
        <p:txBody>
          <a:bodyPr/>
          <a:lstStyle/>
          <a:p>
            <a:endParaRPr lang="en-US"/>
          </a:p>
        </p:txBody>
      </p:sp>
      <p:sp>
        <p:nvSpPr>
          <p:cNvPr id="153" name="Shape 151"/>
          <p:cNvSpPr/>
          <p:nvPr/>
        </p:nvSpPr>
        <p:spPr>
          <a:xfrm>
            <a:off x="2248510" y="4324198"/>
            <a:ext cx="38405" cy="38405"/>
          </a:xfrm>
          <a:prstGeom prst="ellipse">
            <a:avLst/>
          </a:prstGeom>
          <a:solidFill>
            <a:srgbClr val="9C3D6E"/>
          </a:solidFill>
          <a:ln/>
        </p:spPr>
        <p:txBody>
          <a:bodyPr/>
          <a:lstStyle/>
          <a:p>
            <a:endParaRPr lang="en-US"/>
          </a:p>
        </p:txBody>
      </p:sp>
      <p:sp>
        <p:nvSpPr>
          <p:cNvPr id="154" name="Shape 152"/>
          <p:cNvSpPr/>
          <p:nvPr/>
        </p:nvSpPr>
        <p:spPr>
          <a:xfrm>
            <a:off x="2301088" y="4324198"/>
            <a:ext cx="38405" cy="38405"/>
          </a:xfrm>
          <a:prstGeom prst="ellipse">
            <a:avLst/>
          </a:prstGeom>
          <a:solidFill>
            <a:srgbClr val="9C3D6E"/>
          </a:solidFill>
          <a:ln/>
        </p:spPr>
        <p:txBody>
          <a:bodyPr/>
          <a:lstStyle/>
          <a:p>
            <a:endParaRPr lang="en-US"/>
          </a:p>
        </p:txBody>
      </p:sp>
      <p:sp>
        <p:nvSpPr>
          <p:cNvPr id="155" name="Shape 153"/>
          <p:cNvSpPr/>
          <p:nvPr/>
        </p:nvSpPr>
        <p:spPr>
          <a:xfrm>
            <a:off x="2353666" y="4324198"/>
            <a:ext cx="38405" cy="38405"/>
          </a:xfrm>
          <a:prstGeom prst="ellipse">
            <a:avLst/>
          </a:prstGeom>
          <a:solidFill>
            <a:srgbClr val="9C3D6E"/>
          </a:solidFill>
          <a:ln/>
        </p:spPr>
        <p:txBody>
          <a:bodyPr/>
          <a:lstStyle/>
          <a:p>
            <a:endParaRPr lang="en-US"/>
          </a:p>
        </p:txBody>
      </p:sp>
      <p:sp>
        <p:nvSpPr>
          <p:cNvPr id="156" name="Shape 154"/>
          <p:cNvSpPr/>
          <p:nvPr/>
        </p:nvSpPr>
        <p:spPr>
          <a:xfrm>
            <a:off x="2406244" y="4324198"/>
            <a:ext cx="38405" cy="38405"/>
          </a:xfrm>
          <a:prstGeom prst="ellipse">
            <a:avLst/>
          </a:prstGeom>
          <a:solidFill>
            <a:srgbClr val="9C3D6E"/>
          </a:solidFill>
          <a:ln/>
        </p:spPr>
        <p:txBody>
          <a:bodyPr/>
          <a:lstStyle/>
          <a:p>
            <a:endParaRPr lang="en-US"/>
          </a:p>
        </p:txBody>
      </p:sp>
      <p:sp>
        <p:nvSpPr>
          <p:cNvPr id="157" name="Shape 155"/>
          <p:cNvSpPr/>
          <p:nvPr/>
        </p:nvSpPr>
        <p:spPr>
          <a:xfrm>
            <a:off x="2458822" y="4324198"/>
            <a:ext cx="38405" cy="38405"/>
          </a:xfrm>
          <a:prstGeom prst="ellipse">
            <a:avLst/>
          </a:prstGeom>
          <a:solidFill>
            <a:srgbClr val="9C3D6E"/>
          </a:solidFill>
          <a:ln/>
        </p:spPr>
        <p:txBody>
          <a:bodyPr/>
          <a:lstStyle/>
          <a:p>
            <a:endParaRPr lang="en-US"/>
          </a:p>
        </p:txBody>
      </p:sp>
      <p:sp>
        <p:nvSpPr>
          <p:cNvPr id="158" name="Shape 156"/>
          <p:cNvSpPr/>
          <p:nvPr/>
        </p:nvSpPr>
        <p:spPr>
          <a:xfrm>
            <a:off x="2511400" y="4324198"/>
            <a:ext cx="38405" cy="38405"/>
          </a:xfrm>
          <a:prstGeom prst="ellipse">
            <a:avLst/>
          </a:prstGeom>
          <a:solidFill>
            <a:srgbClr val="9C3D6E"/>
          </a:solidFill>
          <a:ln/>
        </p:spPr>
        <p:txBody>
          <a:bodyPr/>
          <a:lstStyle/>
          <a:p>
            <a:endParaRPr lang="en-US"/>
          </a:p>
        </p:txBody>
      </p:sp>
      <p:sp>
        <p:nvSpPr>
          <p:cNvPr id="159" name="Shape 157"/>
          <p:cNvSpPr/>
          <p:nvPr/>
        </p:nvSpPr>
        <p:spPr>
          <a:xfrm>
            <a:off x="2563978" y="4324198"/>
            <a:ext cx="38405" cy="38405"/>
          </a:xfrm>
          <a:prstGeom prst="ellipse">
            <a:avLst/>
          </a:prstGeom>
          <a:solidFill>
            <a:srgbClr val="9C3D6E"/>
          </a:solidFill>
          <a:ln/>
        </p:spPr>
        <p:txBody>
          <a:bodyPr/>
          <a:lstStyle/>
          <a:p>
            <a:endParaRPr lang="en-US"/>
          </a:p>
        </p:txBody>
      </p:sp>
      <p:sp>
        <p:nvSpPr>
          <p:cNvPr id="160" name="Shape 158"/>
          <p:cNvSpPr/>
          <p:nvPr/>
        </p:nvSpPr>
        <p:spPr>
          <a:xfrm>
            <a:off x="2616556" y="4324198"/>
            <a:ext cx="38405" cy="38405"/>
          </a:xfrm>
          <a:prstGeom prst="ellipse">
            <a:avLst/>
          </a:prstGeom>
          <a:solidFill>
            <a:srgbClr val="9C3D6E"/>
          </a:solidFill>
          <a:ln/>
        </p:spPr>
        <p:txBody>
          <a:bodyPr/>
          <a:lstStyle/>
          <a:p>
            <a:endParaRPr lang="en-US"/>
          </a:p>
        </p:txBody>
      </p:sp>
      <p:sp>
        <p:nvSpPr>
          <p:cNvPr id="161" name="Shape 159"/>
          <p:cNvSpPr/>
          <p:nvPr/>
        </p:nvSpPr>
        <p:spPr>
          <a:xfrm>
            <a:off x="2669134" y="4324198"/>
            <a:ext cx="38405" cy="38405"/>
          </a:xfrm>
          <a:prstGeom prst="ellipse">
            <a:avLst/>
          </a:prstGeom>
          <a:solidFill>
            <a:srgbClr val="9C3D6E"/>
          </a:solidFill>
          <a:ln/>
        </p:spPr>
        <p:txBody>
          <a:bodyPr/>
          <a:lstStyle/>
          <a:p>
            <a:endParaRPr lang="en-US"/>
          </a:p>
        </p:txBody>
      </p:sp>
      <p:sp>
        <p:nvSpPr>
          <p:cNvPr id="162" name="Shape 160"/>
          <p:cNvSpPr/>
          <p:nvPr/>
        </p:nvSpPr>
        <p:spPr>
          <a:xfrm>
            <a:off x="2721712" y="4324198"/>
            <a:ext cx="38405" cy="38405"/>
          </a:xfrm>
          <a:prstGeom prst="ellipse">
            <a:avLst/>
          </a:prstGeom>
          <a:solidFill>
            <a:srgbClr val="9C3D6E"/>
          </a:solidFill>
          <a:ln/>
        </p:spPr>
        <p:txBody>
          <a:bodyPr/>
          <a:lstStyle/>
          <a:p>
            <a:endParaRPr lang="en-US"/>
          </a:p>
        </p:txBody>
      </p:sp>
      <p:sp>
        <p:nvSpPr>
          <p:cNvPr id="163" name="Shape 161"/>
          <p:cNvSpPr/>
          <p:nvPr/>
        </p:nvSpPr>
        <p:spPr>
          <a:xfrm>
            <a:off x="2774290" y="4324198"/>
            <a:ext cx="38405" cy="38405"/>
          </a:xfrm>
          <a:prstGeom prst="ellipse">
            <a:avLst/>
          </a:prstGeom>
          <a:solidFill>
            <a:srgbClr val="9C3D6E"/>
          </a:solidFill>
          <a:ln/>
        </p:spPr>
        <p:txBody>
          <a:bodyPr/>
          <a:lstStyle/>
          <a:p>
            <a:endParaRPr lang="en-US"/>
          </a:p>
        </p:txBody>
      </p:sp>
      <p:sp>
        <p:nvSpPr>
          <p:cNvPr id="164" name="Shape 162"/>
          <p:cNvSpPr/>
          <p:nvPr/>
        </p:nvSpPr>
        <p:spPr>
          <a:xfrm>
            <a:off x="2826868" y="4324198"/>
            <a:ext cx="38405" cy="38405"/>
          </a:xfrm>
          <a:prstGeom prst="ellipse">
            <a:avLst/>
          </a:prstGeom>
          <a:solidFill>
            <a:srgbClr val="9C3D6E"/>
          </a:solidFill>
          <a:ln/>
        </p:spPr>
        <p:txBody>
          <a:bodyPr/>
          <a:lstStyle/>
          <a:p>
            <a:endParaRPr lang="en-US"/>
          </a:p>
        </p:txBody>
      </p:sp>
      <p:sp>
        <p:nvSpPr>
          <p:cNvPr id="165" name="Shape 163"/>
          <p:cNvSpPr/>
          <p:nvPr/>
        </p:nvSpPr>
        <p:spPr>
          <a:xfrm>
            <a:off x="2879446" y="4324198"/>
            <a:ext cx="38405" cy="38405"/>
          </a:xfrm>
          <a:prstGeom prst="ellipse">
            <a:avLst/>
          </a:prstGeom>
          <a:solidFill>
            <a:srgbClr val="9C3D6E"/>
          </a:solidFill>
          <a:ln/>
        </p:spPr>
        <p:txBody>
          <a:bodyPr/>
          <a:lstStyle/>
          <a:p>
            <a:endParaRPr lang="en-US"/>
          </a:p>
        </p:txBody>
      </p:sp>
      <p:sp>
        <p:nvSpPr>
          <p:cNvPr id="166" name="Shape 164"/>
          <p:cNvSpPr/>
          <p:nvPr/>
        </p:nvSpPr>
        <p:spPr>
          <a:xfrm>
            <a:off x="2932024" y="4324198"/>
            <a:ext cx="38405" cy="38405"/>
          </a:xfrm>
          <a:prstGeom prst="ellipse">
            <a:avLst/>
          </a:prstGeom>
          <a:solidFill>
            <a:srgbClr val="9C3D6E"/>
          </a:solidFill>
          <a:ln/>
        </p:spPr>
        <p:txBody>
          <a:bodyPr/>
          <a:lstStyle/>
          <a:p>
            <a:endParaRPr lang="en-US"/>
          </a:p>
        </p:txBody>
      </p:sp>
      <p:sp>
        <p:nvSpPr>
          <p:cNvPr id="167" name="Shape 165"/>
          <p:cNvSpPr/>
          <p:nvPr/>
        </p:nvSpPr>
        <p:spPr>
          <a:xfrm>
            <a:off x="2984602" y="4324198"/>
            <a:ext cx="38405" cy="38405"/>
          </a:xfrm>
          <a:prstGeom prst="ellipse">
            <a:avLst/>
          </a:prstGeom>
          <a:solidFill>
            <a:srgbClr val="9C3D6E"/>
          </a:solidFill>
          <a:ln/>
        </p:spPr>
        <p:txBody>
          <a:bodyPr/>
          <a:lstStyle/>
          <a:p>
            <a:endParaRPr lang="en-US"/>
          </a:p>
        </p:txBody>
      </p:sp>
      <p:sp>
        <p:nvSpPr>
          <p:cNvPr id="168" name="Shape 166"/>
          <p:cNvSpPr/>
          <p:nvPr/>
        </p:nvSpPr>
        <p:spPr>
          <a:xfrm>
            <a:off x="3037180" y="4324198"/>
            <a:ext cx="38405" cy="38405"/>
          </a:xfrm>
          <a:prstGeom prst="ellipse">
            <a:avLst/>
          </a:prstGeom>
          <a:solidFill>
            <a:srgbClr val="9C3D6E"/>
          </a:solidFill>
          <a:ln/>
        </p:spPr>
        <p:txBody>
          <a:bodyPr/>
          <a:lstStyle/>
          <a:p>
            <a:endParaRPr lang="en-US"/>
          </a:p>
        </p:txBody>
      </p:sp>
      <p:sp>
        <p:nvSpPr>
          <p:cNvPr id="169" name="Shape 167"/>
          <p:cNvSpPr/>
          <p:nvPr/>
        </p:nvSpPr>
        <p:spPr>
          <a:xfrm>
            <a:off x="3089758" y="4324197"/>
            <a:ext cx="38405" cy="38405"/>
          </a:xfrm>
          <a:prstGeom prst="ellipse">
            <a:avLst/>
          </a:prstGeom>
          <a:solidFill>
            <a:srgbClr val="9C3D6E"/>
          </a:solidFill>
          <a:ln/>
        </p:spPr>
        <p:txBody>
          <a:bodyPr/>
          <a:lstStyle/>
          <a:p>
            <a:endParaRPr lang="en-US"/>
          </a:p>
        </p:txBody>
      </p:sp>
      <p:sp>
        <p:nvSpPr>
          <p:cNvPr id="170" name="Shape 168"/>
          <p:cNvSpPr/>
          <p:nvPr/>
        </p:nvSpPr>
        <p:spPr>
          <a:xfrm>
            <a:off x="3142336" y="4324196"/>
            <a:ext cx="38405" cy="38405"/>
          </a:xfrm>
          <a:prstGeom prst="ellipse">
            <a:avLst/>
          </a:prstGeom>
          <a:solidFill>
            <a:srgbClr val="9C3D6E"/>
          </a:solidFill>
          <a:ln/>
        </p:spPr>
        <p:txBody>
          <a:bodyPr/>
          <a:lstStyle/>
          <a:p>
            <a:endParaRPr lang="en-US"/>
          </a:p>
        </p:txBody>
      </p:sp>
      <p:sp>
        <p:nvSpPr>
          <p:cNvPr id="171" name="Shape 169"/>
          <p:cNvSpPr/>
          <p:nvPr/>
        </p:nvSpPr>
        <p:spPr>
          <a:xfrm>
            <a:off x="3194914" y="4324193"/>
            <a:ext cx="38405" cy="38405"/>
          </a:xfrm>
          <a:prstGeom prst="ellipse">
            <a:avLst/>
          </a:prstGeom>
          <a:solidFill>
            <a:srgbClr val="9C3D6E"/>
          </a:solidFill>
          <a:ln/>
        </p:spPr>
        <p:txBody>
          <a:bodyPr/>
          <a:lstStyle/>
          <a:p>
            <a:endParaRPr lang="en-US"/>
          </a:p>
        </p:txBody>
      </p:sp>
      <p:sp>
        <p:nvSpPr>
          <p:cNvPr id="172" name="Shape 170"/>
          <p:cNvSpPr/>
          <p:nvPr/>
        </p:nvSpPr>
        <p:spPr>
          <a:xfrm>
            <a:off x="3247492" y="4324180"/>
            <a:ext cx="38405" cy="38405"/>
          </a:xfrm>
          <a:prstGeom prst="ellipse">
            <a:avLst/>
          </a:prstGeom>
          <a:solidFill>
            <a:srgbClr val="9C3D6E"/>
          </a:solidFill>
          <a:ln/>
        </p:spPr>
        <p:txBody>
          <a:bodyPr/>
          <a:lstStyle/>
          <a:p>
            <a:endParaRPr lang="en-US"/>
          </a:p>
        </p:txBody>
      </p:sp>
      <p:sp>
        <p:nvSpPr>
          <p:cNvPr id="173" name="Shape 171"/>
          <p:cNvSpPr/>
          <p:nvPr/>
        </p:nvSpPr>
        <p:spPr>
          <a:xfrm>
            <a:off x="3300070" y="4324134"/>
            <a:ext cx="38405" cy="38405"/>
          </a:xfrm>
          <a:prstGeom prst="ellipse">
            <a:avLst/>
          </a:prstGeom>
          <a:solidFill>
            <a:srgbClr val="9C3D6E"/>
          </a:solidFill>
          <a:ln/>
        </p:spPr>
        <p:txBody>
          <a:bodyPr/>
          <a:lstStyle/>
          <a:p>
            <a:endParaRPr lang="en-US"/>
          </a:p>
        </p:txBody>
      </p:sp>
      <p:sp>
        <p:nvSpPr>
          <p:cNvPr id="174" name="Shape 172"/>
          <p:cNvSpPr/>
          <p:nvPr/>
        </p:nvSpPr>
        <p:spPr>
          <a:xfrm>
            <a:off x="3352648" y="4323988"/>
            <a:ext cx="38405" cy="38405"/>
          </a:xfrm>
          <a:prstGeom prst="ellipse">
            <a:avLst/>
          </a:prstGeom>
          <a:solidFill>
            <a:srgbClr val="9C3D6E"/>
          </a:solidFill>
          <a:ln/>
        </p:spPr>
        <p:txBody>
          <a:bodyPr/>
          <a:lstStyle/>
          <a:p>
            <a:endParaRPr lang="en-US"/>
          </a:p>
        </p:txBody>
      </p:sp>
      <p:sp>
        <p:nvSpPr>
          <p:cNvPr id="175" name="Shape 173"/>
          <p:cNvSpPr/>
          <p:nvPr/>
        </p:nvSpPr>
        <p:spPr>
          <a:xfrm>
            <a:off x="3405226" y="4323556"/>
            <a:ext cx="38405" cy="38405"/>
          </a:xfrm>
          <a:prstGeom prst="ellipse">
            <a:avLst/>
          </a:prstGeom>
          <a:solidFill>
            <a:srgbClr val="9C3D6E"/>
          </a:solidFill>
          <a:ln/>
        </p:spPr>
        <p:txBody>
          <a:bodyPr/>
          <a:lstStyle/>
          <a:p>
            <a:endParaRPr lang="en-US"/>
          </a:p>
        </p:txBody>
      </p:sp>
      <p:sp>
        <p:nvSpPr>
          <p:cNvPr id="176" name="Shape 174"/>
          <p:cNvSpPr/>
          <p:nvPr/>
        </p:nvSpPr>
        <p:spPr>
          <a:xfrm>
            <a:off x="3457804" y="4322379"/>
            <a:ext cx="38405" cy="38405"/>
          </a:xfrm>
          <a:prstGeom prst="ellipse">
            <a:avLst/>
          </a:prstGeom>
          <a:solidFill>
            <a:srgbClr val="9C3D6E"/>
          </a:solidFill>
          <a:ln/>
        </p:spPr>
        <p:txBody>
          <a:bodyPr/>
          <a:lstStyle/>
          <a:p>
            <a:endParaRPr lang="en-US"/>
          </a:p>
        </p:txBody>
      </p:sp>
      <p:sp>
        <p:nvSpPr>
          <p:cNvPr id="177" name="Shape 175"/>
          <p:cNvSpPr/>
          <p:nvPr/>
        </p:nvSpPr>
        <p:spPr>
          <a:xfrm>
            <a:off x="3510382" y="4319425"/>
            <a:ext cx="38405" cy="38405"/>
          </a:xfrm>
          <a:prstGeom prst="ellipse">
            <a:avLst/>
          </a:prstGeom>
          <a:solidFill>
            <a:srgbClr val="9C3D6E"/>
          </a:solidFill>
          <a:ln/>
        </p:spPr>
        <p:txBody>
          <a:bodyPr/>
          <a:lstStyle/>
          <a:p>
            <a:endParaRPr lang="en-US"/>
          </a:p>
        </p:txBody>
      </p:sp>
      <p:sp>
        <p:nvSpPr>
          <p:cNvPr id="178" name="Shape 176"/>
          <p:cNvSpPr/>
          <p:nvPr/>
        </p:nvSpPr>
        <p:spPr>
          <a:xfrm>
            <a:off x="3562960" y="4312607"/>
            <a:ext cx="38405" cy="38405"/>
          </a:xfrm>
          <a:prstGeom prst="ellipse">
            <a:avLst/>
          </a:prstGeom>
          <a:solidFill>
            <a:srgbClr val="9C3D6E"/>
          </a:solidFill>
          <a:ln/>
        </p:spPr>
        <p:txBody>
          <a:bodyPr/>
          <a:lstStyle/>
          <a:p>
            <a:endParaRPr lang="en-US"/>
          </a:p>
        </p:txBody>
      </p:sp>
      <p:sp>
        <p:nvSpPr>
          <p:cNvPr id="179" name="Shape 177"/>
          <p:cNvSpPr/>
          <p:nvPr/>
        </p:nvSpPr>
        <p:spPr>
          <a:xfrm>
            <a:off x="3615538" y="4298139"/>
            <a:ext cx="38405" cy="38405"/>
          </a:xfrm>
          <a:prstGeom prst="ellipse">
            <a:avLst/>
          </a:prstGeom>
          <a:solidFill>
            <a:srgbClr val="9C3D6E"/>
          </a:solidFill>
          <a:ln/>
        </p:spPr>
        <p:txBody>
          <a:bodyPr/>
          <a:lstStyle/>
          <a:p>
            <a:endParaRPr lang="en-US"/>
          </a:p>
        </p:txBody>
      </p:sp>
      <p:sp>
        <p:nvSpPr>
          <p:cNvPr id="180" name="Shape 178"/>
          <p:cNvSpPr/>
          <p:nvPr/>
        </p:nvSpPr>
        <p:spPr>
          <a:xfrm>
            <a:off x="3668116" y="4269960"/>
            <a:ext cx="38405" cy="38405"/>
          </a:xfrm>
          <a:prstGeom prst="ellipse">
            <a:avLst/>
          </a:prstGeom>
          <a:solidFill>
            <a:srgbClr val="9C3D6E"/>
          </a:solidFill>
          <a:ln/>
        </p:spPr>
        <p:txBody>
          <a:bodyPr/>
          <a:lstStyle/>
          <a:p>
            <a:endParaRPr lang="en-US"/>
          </a:p>
        </p:txBody>
      </p:sp>
      <p:sp>
        <p:nvSpPr>
          <p:cNvPr id="181" name="Shape 179"/>
          <p:cNvSpPr/>
          <p:nvPr/>
        </p:nvSpPr>
        <p:spPr>
          <a:xfrm>
            <a:off x="3720694" y="4219692"/>
            <a:ext cx="38405" cy="38405"/>
          </a:xfrm>
          <a:prstGeom prst="ellipse">
            <a:avLst/>
          </a:prstGeom>
          <a:solidFill>
            <a:srgbClr val="9C3D6E"/>
          </a:solidFill>
          <a:ln/>
        </p:spPr>
        <p:txBody>
          <a:bodyPr/>
          <a:lstStyle/>
          <a:p>
            <a:endParaRPr lang="en-US"/>
          </a:p>
        </p:txBody>
      </p:sp>
      <p:sp>
        <p:nvSpPr>
          <p:cNvPr id="182" name="Shape 180"/>
          <p:cNvSpPr/>
          <p:nvPr/>
        </p:nvSpPr>
        <p:spPr>
          <a:xfrm>
            <a:off x="3773272" y="4137789"/>
            <a:ext cx="38405" cy="38405"/>
          </a:xfrm>
          <a:prstGeom prst="ellipse">
            <a:avLst/>
          </a:prstGeom>
          <a:solidFill>
            <a:srgbClr val="9C3D6E"/>
          </a:solidFill>
          <a:ln/>
        </p:spPr>
        <p:txBody>
          <a:bodyPr/>
          <a:lstStyle/>
          <a:p>
            <a:endParaRPr lang="en-US"/>
          </a:p>
        </p:txBody>
      </p:sp>
      <p:sp>
        <p:nvSpPr>
          <p:cNvPr id="183" name="Shape 181"/>
          <p:cNvSpPr/>
          <p:nvPr/>
        </p:nvSpPr>
        <p:spPr>
          <a:xfrm>
            <a:off x="3825850" y="4016387"/>
            <a:ext cx="38405" cy="38405"/>
          </a:xfrm>
          <a:prstGeom prst="ellipse">
            <a:avLst/>
          </a:prstGeom>
          <a:solidFill>
            <a:srgbClr val="9C3D6E"/>
          </a:solidFill>
          <a:ln/>
        </p:spPr>
        <p:txBody>
          <a:bodyPr/>
          <a:lstStyle/>
          <a:p>
            <a:endParaRPr lang="en-US"/>
          </a:p>
        </p:txBody>
      </p:sp>
      <p:sp>
        <p:nvSpPr>
          <p:cNvPr id="184" name="Shape 182"/>
          <p:cNvSpPr/>
          <p:nvPr/>
        </p:nvSpPr>
        <p:spPr>
          <a:xfrm>
            <a:off x="3878428" y="3853664"/>
            <a:ext cx="38405" cy="38405"/>
          </a:xfrm>
          <a:prstGeom prst="ellipse">
            <a:avLst/>
          </a:prstGeom>
          <a:solidFill>
            <a:srgbClr val="9C3D6E"/>
          </a:solidFill>
          <a:ln/>
        </p:spPr>
        <p:txBody>
          <a:bodyPr/>
          <a:lstStyle/>
          <a:p>
            <a:endParaRPr lang="en-US"/>
          </a:p>
        </p:txBody>
      </p:sp>
      <p:sp>
        <p:nvSpPr>
          <p:cNvPr id="185" name="Shape 183"/>
          <p:cNvSpPr/>
          <p:nvPr/>
        </p:nvSpPr>
        <p:spPr>
          <a:xfrm>
            <a:off x="3931006" y="3658331"/>
            <a:ext cx="38405" cy="38405"/>
          </a:xfrm>
          <a:prstGeom prst="ellipse">
            <a:avLst/>
          </a:prstGeom>
          <a:solidFill>
            <a:srgbClr val="9C3D6E"/>
          </a:solidFill>
          <a:ln/>
        </p:spPr>
        <p:txBody>
          <a:bodyPr/>
          <a:lstStyle/>
          <a:p>
            <a:endParaRPr lang="en-US"/>
          </a:p>
        </p:txBody>
      </p:sp>
      <p:sp>
        <p:nvSpPr>
          <p:cNvPr id="186" name="Shape 184"/>
          <p:cNvSpPr/>
          <p:nvPr/>
        </p:nvSpPr>
        <p:spPr>
          <a:xfrm>
            <a:off x="3983584" y="3451883"/>
            <a:ext cx="38405" cy="38405"/>
          </a:xfrm>
          <a:prstGeom prst="ellipse">
            <a:avLst/>
          </a:prstGeom>
          <a:solidFill>
            <a:srgbClr val="9C3D6E"/>
          </a:solidFill>
          <a:ln/>
        </p:spPr>
        <p:txBody>
          <a:bodyPr/>
          <a:lstStyle/>
          <a:p>
            <a:endParaRPr lang="en-US"/>
          </a:p>
        </p:txBody>
      </p:sp>
      <p:sp>
        <p:nvSpPr>
          <p:cNvPr id="187" name="Shape 185"/>
          <p:cNvSpPr/>
          <p:nvPr/>
        </p:nvSpPr>
        <p:spPr>
          <a:xfrm>
            <a:off x="4036162" y="3266286"/>
            <a:ext cx="38405" cy="38405"/>
          </a:xfrm>
          <a:prstGeom prst="ellipse">
            <a:avLst/>
          </a:prstGeom>
          <a:solidFill>
            <a:srgbClr val="9C3D6E"/>
          </a:solidFill>
          <a:ln/>
        </p:spPr>
        <p:txBody>
          <a:bodyPr/>
          <a:lstStyle/>
          <a:p>
            <a:endParaRPr lang="en-US"/>
          </a:p>
        </p:txBody>
      </p:sp>
      <p:sp>
        <p:nvSpPr>
          <p:cNvPr id="188" name="Shape 186"/>
          <p:cNvSpPr/>
          <p:nvPr/>
        </p:nvSpPr>
        <p:spPr>
          <a:xfrm>
            <a:off x="4088740" y="3136476"/>
            <a:ext cx="38405" cy="38405"/>
          </a:xfrm>
          <a:prstGeom prst="ellipse">
            <a:avLst/>
          </a:prstGeom>
          <a:solidFill>
            <a:srgbClr val="9C3D6E"/>
          </a:solidFill>
          <a:ln/>
        </p:spPr>
        <p:txBody>
          <a:bodyPr/>
          <a:lstStyle/>
          <a:p>
            <a:endParaRPr lang="en-US"/>
          </a:p>
        </p:txBody>
      </p:sp>
      <p:sp>
        <p:nvSpPr>
          <p:cNvPr id="189" name="Shape 187"/>
          <p:cNvSpPr/>
          <p:nvPr/>
        </p:nvSpPr>
        <p:spPr>
          <a:xfrm>
            <a:off x="4141318" y="3089758"/>
            <a:ext cx="38405" cy="38405"/>
          </a:xfrm>
          <a:prstGeom prst="ellipse">
            <a:avLst/>
          </a:prstGeom>
          <a:solidFill>
            <a:srgbClr val="9C3D6E"/>
          </a:solidFill>
          <a:ln/>
        </p:spPr>
        <p:txBody>
          <a:bodyPr/>
          <a:lstStyle/>
          <a:p>
            <a:endParaRPr lang="en-US"/>
          </a:p>
        </p:txBody>
      </p:sp>
      <p:sp>
        <p:nvSpPr>
          <p:cNvPr id="190" name="Shape 188"/>
          <p:cNvSpPr/>
          <p:nvPr/>
        </p:nvSpPr>
        <p:spPr>
          <a:xfrm>
            <a:off x="4193896" y="3136476"/>
            <a:ext cx="38405" cy="38405"/>
          </a:xfrm>
          <a:prstGeom prst="ellipse">
            <a:avLst/>
          </a:prstGeom>
          <a:solidFill>
            <a:srgbClr val="9C3D6E"/>
          </a:solidFill>
          <a:ln/>
        </p:spPr>
        <p:txBody>
          <a:bodyPr/>
          <a:lstStyle/>
          <a:p>
            <a:endParaRPr lang="en-US"/>
          </a:p>
        </p:txBody>
      </p:sp>
      <p:sp>
        <p:nvSpPr>
          <p:cNvPr id="191" name="Shape 189"/>
          <p:cNvSpPr/>
          <p:nvPr/>
        </p:nvSpPr>
        <p:spPr>
          <a:xfrm>
            <a:off x="4246474" y="3266286"/>
            <a:ext cx="38405" cy="38405"/>
          </a:xfrm>
          <a:prstGeom prst="ellipse">
            <a:avLst/>
          </a:prstGeom>
          <a:solidFill>
            <a:srgbClr val="9C3D6E"/>
          </a:solidFill>
          <a:ln/>
        </p:spPr>
        <p:txBody>
          <a:bodyPr/>
          <a:lstStyle/>
          <a:p>
            <a:endParaRPr lang="en-US"/>
          </a:p>
        </p:txBody>
      </p:sp>
      <p:sp>
        <p:nvSpPr>
          <p:cNvPr id="192" name="Shape 190"/>
          <p:cNvSpPr/>
          <p:nvPr/>
        </p:nvSpPr>
        <p:spPr>
          <a:xfrm>
            <a:off x="4299052" y="3451883"/>
            <a:ext cx="38405" cy="38405"/>
          </a:xfrm>
          <a:prstGeom prst="ellipse">
            <a:avLst/>
          </a:prstGeom>
          <a:solidFill>
            <a:srgbClr val="9C3D6E"/>
          </a:solidFill>
          <a:ln/>
        </p:spPr>
        <p:txBody>
          <a:bodyPr/>
          <a:lstStyle/>
          <a:p>
            <a:endParaRPr lang="en-US"/>
          </a:p>
        </p:txBody>
      </p:sp>
      <p:sp>
        <p:nvSpPr>
          <p:cNvPr id="193" name="Shape 191"/>
          <p:cNvSpPr/>
          <p:nvPr/>
        </p:nvSpPr>
        <p:spPr>
          <a:xfrm>
            <a:off x="4351630" y="3658331"/>
            <a:ext cx="38405" cy="38405"/>
          </a:xfrm>
          <a:prstGeom prst="ellipse">
            <a:avLst/>
          </a:prstGeom>
          <a:solidFill>
            <a:srgbClr val="9C3D6E"/>
          </a:solidFill>
          <a:ln/>
        </p:spPr>
        <p:txBody>
          <a:bodyPr/>
          <a:lstStyle/>
          <a:p>
            <a:endParaRPr lang="en-US"/>
          </a:p>
        </p:txBody>
      </p:sp>
      <p:sp>
        <p:nvSpPr>
          <p:cNvPr id="194" name="Shape 192"/>
          <p:cNvSpPr/>
          <p:nvPr/>
        </p:nvSpPr>
        <p:spPr>
          <a:xfrm>
            <a:off x="4404208" y="3853664"/>
            <a:ext cx="38405" cy="38405"/>
          </a:xfrm>
          <a:prstGeom prst="ellipse">
            <a:avLst/>
          </a:prstGeom>
          <a:solidFill>
            <a:srgbClr val="9C3D6E"/>
          </a:solidFill>
          <a:ln/>
        </p:spPr>
        <p:txBody>
          <a:bodyPr/>
          <a:lstStyle/>
          <a:p>
            <a:endParaRPr lang="en-US"/>
          </a:p>
        </p:txBody>
      </p:sp>
      <p:sp>
        <p:nvSpPr>
          <p:cNvPr id="195" name="Shape 193"/>
          <p:cNvSpPr/>
          <p:nvPr/>
        </p:nvSpPr>
        <p:spPr>
          <a:xfrm>
            <a:off x="4456786" y="4016387"/>
            <a:ext cx="38405" cy="38405"/>
          </a:xfrm>
          <a:prstGeom prst="ellipse">
            <a:avLst/>
          </a:prstGeom>
          <a:solidFill>
            <a:srgbClr val="9C3D6E"/>
          </a:solidFill>
          <a:ln/>
        </p:spPr>
        <p:txBody>
          <a:bodyPr/>
          <a:lstStyle/>
          <a:p>
            <a:endParaRPr lang="en-US"/>
          </a:p>
        </p:txBody>
      </p:sp>
      <p:sp>
        <p:nvSpPr>
          <p:cNvPr id="196" name="Shape 194"/>
          <p:cNvSpPr/>
          <p:nvPr/>
        </p:nvSpPr>
        <p:spPr>
          <a:xfrm>
            <a:off x="4509364" y="4137789"/>
            <a:ext cx="38405" cy="38405"/>
          </a:xfrm>
          <a:prstGeom prst="ellipse">
            <a:avLst/>
          </a:prstGeom>
          <a:solidFill>
            <a:srgbClr val="9C3D6E"/>
          </a:solidFill>
          <a:ln/>
        </p:spPr>
        <p:txBody>
          <a:bodyPr/>
          <a:lstStyle/>
          <a:p>
            <a:endParaRPr lang="en-US"/>
          </a:p>
        </p:txBody>
      </p:sp>
      <p:sp>
        <p:nvSpPr>
          <p:cNvPr id="197" name="Shape 195"/>
          <p:cNvSpPr/>
          <p:nvPr/>
        </p:nvSpPr>
        <p:spPr>
          <a:xfrm>
            <a:off x="4561942" y="4219692"/>
            <a:ext cx="38405" cy="38405"/>
          </a:xfrm>
          <a:prstGeom prst="ellipse">
            <a:avLst/>
          </a:prstGeom>
          <a:solidFill>
            <a:srgbClr val="9C3D6E"/>
          </a:solidFill>
          <a:ln/>
        </p:spPr>
        <p:txBody>
          <a:bodyPr/>
          <a:lstStyle/>
          <a:p>
            <a:endParaRPr lang="en-US"/>
          </a:p>
        </p:txBody>
      </p:sp>
      <p:sp>
        <p:nvSpPr>
          <p:cNvPr id="198" name="Shape 196"/>
          <p:cNvSpPr/>
          <p:nvPr/>
        </p:nvSpPr>
        <p:spPr>
          <a:xfrm>
            <a:off x="4614520" y="4269960"/>
            <a:ext cx="38405" cy="38405"/>
          </a:xfrm>
          <a:prstGeom prst="ellipse">
            <a:avLst/>
          </a:prstGeom>
          <a:solidFill>
            <a:srgbClr val="9C3D6E"/>
          </a:solidFill>
          <a:ln/>
        </p:spPr>
        <p:txBody>
          <a:bodyPr/>
          <a:lstStyle/>
          <a:p>
            <a:endParaRPr lang="en-US"/>
          </a:p>
        </p:txBody>
      </p:sp>
      <p:sp>
        <p:nvSpPr>
          <p:cNvPr id="199" name="Shape 197"/>
          <p:cNvSpPr/>
          <p:nvPr/>
        </p:nvSpPr>
        <p:spPr>
          <a:xfrm>
            <a:off x="4667098" y="4298139"/>
            <a:ext cx="38405" cy="38405"/>
          </a:xfrm>
          <a:prstGeom prst="ellipse">
            <a:avLst/>
          </a:prstGeom>
          <a:solidFill>
            <a:srgbClr val="9C3D6E"/>
          </a:solidFill>
          <a:ln/>
        </p:spPr>
        <p:txBody>
          <a:bodyPr/>
          <a:lstStyle/>
          <a:p>
            <a:endParaRPr lang="en-US"/>
          </a:p>
        </p:txBody>
      </p:sp>
      <p:sp>
        <p:nvSpPr>
          <p:cNvPr id="200" name="Shape 198"/>
          <p:cNvSpPr/>
          <p:nvPr/>
        </p:nvSpPr>
        <p:spPr>
          <a:xfrm>
            <a:off x="4719676" y="4312607"/>
            <a:ext cx="38405" cy="38405"/>
          </a:xfrm>
          <a:prstGeom prst="ellipse">
            <a:avLst/>
          </a:prstGeom>
          <a:solidFill>
            <a:srgbClr val="9C3D6E"/>
          </a:solidFill>
          <a:ln/>
        </p:spPr>
        <p:txBody>
          <a:bodyPr/>
          <a:lstStyle/>
          <a:p>
            <a:endParaRPr lang="en-US"/>
          </a:p>
        </p:txBody>
      </p:sp>
      <p:sp>
        <p:nvSpPr>
          <p:cNvPr id="201" name="Shape 199"/>
          <p:cNvSpPr/>
          <p:nvPr/>
        </p:nvSpPr>
        <p:spPr>
          <a:xfrm>
            <a:off x="4772254" y="4319425"/>
            <a:ext cx="38405" cy="38405"/>
          </a:xfrm>
          <a:prstGeom prst="ellipse">
            <a:avLst/>
          </a:prstGeom>
          <a:solidFill>
            <a:srgbClr val="9C3D6E"/>
          </a:solidFill>
          <a:ln/>
        </p:spPr>
        <p:txBody>
          <a:bodyPr/>
          <a:lstStyle/>
          <a:p>
            <a:endParaRPr lang="en-US"/>
          </a:p>
        </p:txBody>
      </p:sp>
      <p:sp>
        <p:nvSpPr>
          <p:cNvPr id="202" name="Shape 200"/>
          <p:cNvSpPr/>
          <p:nvPr/>
        </p:nvSpPr>
        <p:spPr>
          <a:xfrm>
            <a:off x="4824832" y="4322379"/>
            <a:ext cx="38405" cy="38405"/>
          </a:xfrm>
          <a:prstGeom prst="ellipse">
            <a:avLst/>
          </a:prstGeom>
          <a:solidFill>
            <a:srgbClr val="9C3D6E"/>
          </a:solidFill>
          <a:ln/>
        </p:spPr>
        <p:txBody>
          <a:bodyPr/>
          <a:lstStyle/>
          <a:p>
            <a:endParaRPr lang="en-US"/>
          </a:p>
        </p:txBody>
      </p:sp>
      <p:sp>
        <p:nvSpPr>
          <p:cNvPr id="203" name="Shape 201"/>
          <p:cNvSpPr/>
          <p:nvPr/>
        </p:nvSpPr>
        <p:spPr>
          <a:xfrm>
            <a:off x="4877410" y="4323556"/>
            <a:ext cx="38405" cy="38405"/>
          </a:xfrm>
          <a:prstGeom prst="ellipse">
            <a:avLst/>
          </a:prstGeom>
          <a:solidFill>
            <a:srgbClr val="9C3D6E"/>
          </a:solidFill>
          <a:ln/>
        </p:spPr>
        <p:txBody>
          <a:bodyPr/>
          <a:lstStyle/>
          <a:p>
            <a:endParaRPr lang="en-US"/>
          </a:p>
        </p:txBody>
      </p:sp>
      <p:sp>
        <p:nvSpPr>
          <p:cNvPr id="204" name="Shape 202"/>
          <p:cNvSpPr/>
          <p:nvPr/>
        </p:nvSpPr>
        <p:spPr>
          <a:xfrm>
            <a:off x="4929988" y="4323988"/>
            <a:ext cx="38405" cy="38405"/>
          </a:xfrm>
          <a:prstGeom prst="ellipse">
            <a:avLst/>
          </a:prstGeom>
          <a:solidFill>
            <a:srgbClr val="9C3D6E"/>
          </a:solidFill>
          <a:ln/>
        </p:spPr>
        <p:txBody>
          <a:bodyPr/>
          <a:lstStyle/>
          <a:p>
            <a:endParaRPr lang="en-US"/>
          </a:p>
        </p:txBody>
      </p:sp>
      <p:sp>
        <p:nvSpPr>
          <p:cNvPr id="205" name="Shape 203"/>
          <p:cNvSpPr/>
          <p:nvPr/>
        </p:nvSpPr>
        <p:spPr>
          <a:xfrm>
            <a:off x="4982566" y="4324134"/>
            <a:ext cx="38405" cy="38405"/>
          </a:xfrm>
          <a:prstGeom prst="ellipse">
            <a:avLst/>
          </a:prstGeom>
          <a:solidFill>
            <a:srgbClr val="9C3D6E"/>
          </a:solidFill>
          <a:ln/>
        </p:spPr>
        <p:txBody>
          <a:bodyPr/>
          <a:lstStyle/>
          <a:p>
            <a:endParaRPr lang="en-US"/>
          </a:p>
        </p:txBody>
      </p:sp>
      <p:sp>
        <p:nvSpPr>
          <p:cNvPr id="206" name="Shape 204"/>
          <p:cNvSpPr/>
          <p:nvPr/>
        </p:nvSpPr>
        <p:spPr>
          <a:xfrm>
            <a:off x="5035144" y="4324180"/>
            <a:ext cx="38405" cy="38405"/>
          </a:xfrm>
          <a:prstGeom prst="ellipse">
            <a:avLst/>
          </a:prstGeom>
          <a:solidFill>
            <a:srgbClr val="9C3D6E"/>
          </a:solidFill>
          <a:ln/>
        </p:spPr>
        <p:txBody>
          <a:bodyPr/>
          <a:lstStyle/>
          <a:p>
            <a:endParaRPr lang="en-US"/>
          </a:p>
        </p:txBody>
      </p:sp>
      <p:sp>
        <p:nvSpPr>
          <p:cNvPr id="207" name="Shape 205"/>
          <p:cNvSpPr/>
          <p:nvPr/>
        </p:nvSpPr>
        <p:spPr>
          <a:xfrm>
            <a:off x="5087722" y="4324193"/>
            <a:ext cx="38405" cy="38405"/>
          </a:xfrm>
          <a:prstGeom prst="ellipse">
            <a:avLst/>
          </a:prstGeom>
          <a:solidFill>
            <a:srgbClr val="9C3D6E"/>
          </a:solidFill>
          <a:ln/>
        </p:spPr>
        <p:txBody>
          <a:bodyPr/>
          <a:lstStyle/>
          <a:p>
            <a:endParaRPr lang="en-US"/>
          </a:p>
        </p:txBody>
      </p:sp>
      <p:sp>
        <p:nvSpPr>
          <p:cNvPr id="208" name="Shape 206"/>
          <p:cNvSpPr/>
          <p:nvPr/>
        </p:nvSpPr>
        <p:spPr>
          <a:xfrm>
            <a:off x="5140300" y="4324196"/>
            <a:ext cx="38405" cy="38405"/>
          </a:xfrm>
          <a:prstGeom prst="ellipse">
            <a:avLst/>
          </a:prstGeom>
          <a:solidFill>
            <a:srgbClr val="9C3D6E"/>
          </a:solidFill>
          <a:ln/>
        </p:spPr>
        <p:txBody>
          <a:bodyPr/>
          <a:lstStyle/>
          <a:p>
            <a:endParaRPr lang="en-US"/>
          </a:p>
        </p:txBody>
      </p:sp>
      <p:sp>
        <p:nvSpPr>
          <p:cNvPr id="209" name="Shape 207"/>
          <p:cNvSpPr/>
          <p:nvPr/>
        </p:nvSpPr>
        <p:spPr>
          <a:xfrm>
            <a:off x="5192878" y="4324197"/>
            <a:ext cx="38405" cy="38405"/>
          </a:xfrm>
          <a:prstGeom prst="ellipse">
            <a:avLst/>
          </a:prstGeom>
          <a:solidFill>
            <a:srgbClr val="9C3D6E"/>
          </a:solidFill>
          <a:ln/>
        </p:spPr>
        <p:txBody>
          <a:bodyPr/>
          <a:lstStyle/>
          <a:p>
            <a:endParaRPr lang="en-US"/>
          </a:p>
        </p:txBody>
      </p:sp>
      <p:sp>
        <p:nvSpPr>
          <p:cNvPr id="210" name="Shape 208"/>
          <p:cNvSpPr/>
          <p:nvPr/>
        </p:nvSpPr>
        <p:spPr>
          <a:xfrm>
            <a:off x="5245456" y="4324198"/>
            <a:ext cx="38405" cy="38405"/>
          </a:xfrm>
          <a:prstGeom prst="ellipse">
            <a:avLst/>
          </a:prstGeom>
          <a:solidFill>
            <a:srgbClr val="9C3D6E"/>
          </a:solidFill>
          <a:ln/>
        </p:spPr>
        <p:txBody>
          <a:bodyPr/>
          <a:lstStyle/>
          <a:p>
            <a:endParaRPr lang="en-US"/>
          </a:p>
        </p:txBody>
      </p:sp>
      <p:sp>
        <p:nvSpPr>
          <p:cNvPr id="211" name="Shape 209"/>
          <p:cNvSpPr/>
          <p:nvPr/>
        </p:nvSpPr>
        <p:spPr>
          <a:xfrm>
            <a:off x="5298034" y="4324198"/>
            <a:ext cx="38405" cy="38405"/>
          </a:xfrm>
          <a:prstGeom prst="ellipse">
            <a:avLst/>
          </a:prstGeom>
          <a:solidFill>
            <a:srgbClr val="9C3D6E"/>
          </a:solidFill>
          <a:ln/>
        </p:spPr>
        <p:txBody>
          <a:bodyPr/>
          <a:lstStyle/>
          <a:p>
            <a:endParaRPr lang="en-US"/>
          </a:p>
        </p:txBody>
      </p:sp>
      <p:sp>
        <p:nvSpPr>
          <p:cNvPr id="212" name="Shape 210"/>
          <p:cNvSpPr/>
          <p:nvPr/>
        </p:nvSpPr>
        <p:spPr>
          <a:xfrm>
            <a:off x="5350612" y="4324198"/>
            <a:ext cx="38405" cy="38405"/>
          </a:xfrm>
          <a:prstGeom prst="ellipse">
            <a:avLst/>
          </a:prstGeom>
          <a:solidFill>
            <a:srgbClr val="9C3D6E"/>
          </a:solidFill>
          <a:ln/>
        </p:spPr>
        <p:txBody>
          <a:bodyPr/>
          <a:lstStyle/>
          <a:p>
            <a:endParaRPr lang="en-US"/>
          </a:p>
        </p:txBody>
      </p:sp>
      <p:sp>
        <p:nvSpPr>
          <p:cNvPr id="213" name="Shape 211"/>
          <p:cNvSpPr/>
          <p:nvPr/>
        </p:nvSpPr>
        <p:spPr>
          <a:xfrm>
            <a:off x="5403190" y="4324198"/>
            <a:ext cx="38405" cy="38405"/>
          </a:xfrm>
          <a:prstGeom prst="ellipse">
            <a:avLst/>
          </a:prstGeom>
          <a:solidFill>
            <a:srgbClr val="9C3D6E"/>
          </a:solidFill>
          <a:ln/>
        </p:spPr>
        <p:txBody>
          <a:bodyPr/>
          <a:lstStyle/>
          <a:p>
            <a:endParaRPr lang="en-US"/>
          </a:p>
        </p:txBody>
      </p:sp>
      <p:sp>
        <p:nvSpPr>
          <p:cNvPr id="214" name="Shape 212"/>
          <p:cNvSpPr/>
          <p:nvPr/>
        </p:nvSpPr>
        <p:spPr>
          <a:xfrm>
            <a:off x="5455768" y="4324198"/>
            <a:ext cx="38405" cy="38405"/>
          </a:xfrm>
          <a:prstGeom prst="ellipse">
            <a:avLst/>
          </a:prstGeom>
          <a:solidFill>
            <a:srgbClr val="9C3D6E"/>
          </a:solidFill>
          <a:ln/>
        </p:spPr>
        <p:txBody>
          <a:bodyPr/>
          <a:lstStyle/>
          <a:p>
            <a:endParaRPr lang="en-US"/>
          </a:p>
        </p:txBody>
      </p:sp>
      <p:sp>
        <p:nvSpPr>
          <p:cNvPr id="215" name="Shape 213"/>
          <p:cNvSpPr/>
          <p:nvPr/>
        </p:nvSpPr>
        <p:spPr>
          <a:xfrm>
            <a:off x="5508346" y="4324198"/>
            <a:ext cx="38405" cy="38405"/>
          </a:xfrm>
          <a:prstGeom prst="ellipse">
            <a:avLst/>
          </a:prstGeom>
          <a:solidFill>
            <a:srgbClr val="9C3D6E"/>
          </a:solidFill>
          <a:ln/>
        </p:spPr>
        <p:txBody>
          <a:bodyPr/>
          <a:lstStyle/>
          <a:p>
            <a:endParaRPr lang="en-US"/>
          </a:p>
        </p:txBody>
      </p:sp>
      <p:sp>
        <p:nvSpPr>
          <p:cNvPr id="216" name="Shape 214"/>
          <p:cNvSpPr/>
          <p:nvPr/>
        </p:nvSpPr>
        <p:spPr>
          <a:xfrm>
            <a:off x="5560924" y="4324198"/>
            <a:ext cx="38405" cy="38405"/>
          </a:xfrm>
          <a:prstGeom prst="ellipse">
            <a:avLst/>
          </a:prstGeom>
          <a:solidFill>
            <a:srgbClr val="9C3D6E"/>
          </a:solidFill>
          <a:ln/>
        </p:spPr>
        <p:txBody>
          <a:bodyPr/>
          <a:lstStyle/>
          <a:p>
            <a:endParaRPr lang="en-US"/>
          </a:p>
        </p:txBody>
      </p:sp>
      <p:sp>
        <p:nvSpPr>
          <p:cNvPr id="217" name="Shape 215"/>
          <p:cNvSpPr/>
          <p:nvPr/>
        </p:nvSpPr>
        <p:spPr>
          <a:xfrm>
            <a:off x="5613502" y="4324198"/>
            <a:ext cx="38405" cy="38405"/>
          </a:xfrm>
          <a:prstGeom prst="ellipse">
            <a:avLst/>
          </a:prstGeom>
          <a:solidFill>
            <a:srgbClr val="9C3D6E"/>
          </a:solidFill>
          <a:ln/>
        </p:spPr>
        <p:txBody>
          <a:bodyPr/>
          <a:lstStyle/>
          <a:p>
            <a:endParaRPr lang="en-US"/>
          </a:p>
        </p:txBody>
      </p:sp>
      <p:sp>
        <p:nvSpPr>
          <p:cNvPr id="218" name="Shape 216"/>
          <p:cNvSpPr/>
          <p:nvPr/>
        </p:nvSpPr>
        <p:spPr>
          <a:xfrm>
            <a:off x="5666080" y="4324198"/>
            <a:ext cx="38405" cy="38405"/>
          </a:xfrm>
          <a:prstGeom prst="ellipse">
            <a:avLst/>
          </a:prstGeom>
          <a:solidFill>
            <a:srgbClr val="9C3D6E"/>
          </a:solidFill>
          <a:ln/>
        </p:spPr>
        <p:txBody>
          <a:bodyPr/>
          <a:lstStyle/>
          <a:p>
            <a:endParaRPr lang="en-US"/>
          </a:p>
        </p:txBody>
      </p:sp>
      <p:sp>
        <p:nvSpPr>
          <p:cNvPr id="219" name="Shape 217"/>
          <p:cNvSpPr/>
          <p:nvPr/>
        </p:nvSpPr>
        <p:spPr>
          <a:xfrm>
            <a:off x="5718658" y="4324198"/>
            <a:ext cx="38405" cy="38405"/>
          </a:xfrm>
          <a:prstGeom prst="ellipse">
            <a:avLst/>
          </a:prstGeom>
          <a:solidFill>
            <a:srgbClr val="9C3D6E"/>
          </a:solidFill>
          <a:ln/>
        </p:spPr>
        <p:txBody>
          <a:bodyPr/>
          <a:lstStyle/>
          <a:p>
            <a:endParaRPr lang="en-US"/>
          </a:p>
        </p:txBody>
      </p:sp>
      <p:sp>
        <p:nvSpPr>
          <p:cNvPr id="220" name="Shape 218"/>
          <p:cNvSpPr/>
          <p:nvPr/>
        </p:nvSpPr>
        <p:spPr>
          <a:xfrm>
            <a:off x="5771236" y="4324198"/>
            <a:ext cx="38405" cy="38405"/>
          </a:xfrm>
          <a:prstGeom prst="ellipse">
            <a:avLst/>
          </a:prstGeom>
          <a:solidFill>
            <a:srgbClr val="9C3D6E"/>
          </a:solidFill>
          <a:ln/>
        </p:spPr>
        <p:txBody>
          <a:bodyPr/>
          <a:lstStyle/>
          <a:p>
            <a:endParaRPr lang="en-US"/>
          </a:p>
        </p:txBody>
      </p:sp>
      <p:sp>
        <p:nvSpPr>
          <p:cNvPr id="221" name="Shape 219"/>
          <p:cNvSpPr/>
          <p:nvPr/>
        </p:nvSpPr>
        <p:spPr>
          <a:xfrm>
            <a:off x="5823814" y="4324198"/>
            <a:ext cx="38405" cy="38405"/>
          </a:xfrm>
          <a:prstGeom prst="ellipse">
            <a:avLst/>
          </a:prstGeom>
          <a:solidFill>
            <a:srgbClr val="9C3D6E"/>
          </a:solidFill>
          <a:ln/>
        </p:spPr>
        <p:txBody>
          <a:bodyPr/>
          <a:lstStyle/>
          <a:p>
            <a:endParaRPr lang="en-US"/>
          </a:p>
        </p:txBody>
      </p:sp>
      <p:sp>
        <p:nvSpPr>
          <p:cNvPr id="222" name="Shape 220"/>
          <p:cNvSpPr/>
          <p:nvPr/>
        </p:nvSpPr>
        <p:spPr>
          <a:xfrm>
            <a:off x="5876392" y="4324198"/>
            <a:ext cx="38405" cy="38405"/>
          </a:xfrm>
          <a:prstGeom prst="ellipse">
            <a:avLst/>
          </a:prstGeom>
          <a:solidFill>
            <a:srgbClr val="9C3D6E"/>
          </a:solidFill>
          <a:ln/>
        </p:spPr>
        <p:txBody>
          <a:bodyPr/>
          <a:lstStyle/>
          <a:p>
            <a:endParaRPr lang="en-US"/>
          </a:p>
        </p:txBody>
      </p:sp>
      <p:sp>
        <p:nvSpPr>
          <p:cNvPr id="223" name="Shape 221"/>
          <p:cNvSpPr/>
          <p:nvPr/>
        </p:nvSpPr>
        <p:spPr>
          <a:xfrm>
            <a:off x="5928970" y="4324198"/>
            <a:ext cx="38405" cy="38405"/>
          </a:xfrm>
          <a:prstGeom prst="ellipse">
            <a:avLst/>
          </a:prstGeom>
          <a:solidFill>
            <a:srgbClr val="9C3D6E"/>
          </a:solidFill>
          <a:ln/>
        </p:spPr>
        <p:txBody>
          <a:bodyPr/>
          <a:lstStyle/>
          <a:p>
            <a:endParaRPr lang="en-US"/>
          </a:p>
        </p:txBody>
      </p:sp>
      <p:sp>
        <p:nvSpPr>
          <p:cNvPr id="224" name="Shape 222"/>
          <p:cNvSpPr/>
          <p:nvPr/>
        </p:nvSpPr>
        <p:spPr>
          <a:xfrm>
            <a:off x="5981548" y="4324198"/>
            <a:ext cx="38405" cy="38405"/>
          </a:xfrm>
          <a:prstGeom prst="ellipse">
            <a:avLst/>
          </a:prstGeom>
          <a:solidFill>
            <a:srgbClr val="9C3D6E"/>
          </a:solidFill>
          <a:ln/>
        </p:spPr>
        <p:txBody>
          <a:bodyPr/>
          <a:lstStyle/>
          <a:p>
            <a:endParaRPr lang="en-US"/>
          </a:p>
        </p:txBody>
      </p:sp>
      <p:sp>
        <p:nvSpPr>
          <p:cNvPr id="225" name="Shape 223"/>
          <p:cNvSpPr/>
          <p:nvPr/>
        </p:nvSpPr>
        <p:spPr>
          <a:xfrm>
            <a:off x="6034126" y="4324198"/>
            <a:ext cx="38405" cy="38405"/>
          </a:xfrm>
          <a:prstGeom prst="ellipse">
            <a:avLst/>
          </a:prstGeom>
          <a:solidFill>
            <a:srgbClr val="9C3D6E"/>
          </a:solidFill>
          <a:ln/>
        </p:spPr>
        <p:txBody>
          <a:bodyPr/>
          <a:lstStyle/>
          <a:p>
            <a:endParaRPr lang="en-US"/>
          </a:p>
        </p:txBody>
      </p:sp>
      <p:sp>
        <p:nvSpPr>
          <p:cNvPr id="226" name="Shape 224"/>
          <p:cNvSpPr/>
          <p:nvPr/>
        </p:nvSpPr>
        <p:spPr>
          <a:xfrm>
            <a:off x="6086704" y="4324198"/>
            <a:ext cx="38405" cy="38405"/>
          </a:xfrm>
          <a:prstGeom prst="ellipse">
            <a:avLst/>
          </a:prstGeom>
          <a:solidFill>
            <a:srgbClr val="9C3D6E"/>
          </a:solidFill>
          <a:ln/>
        </p:spPr>
        <p:txBody>
          <a:bodyPr/>
          <a:lstStyle/>
          <a:p>
            <a:endParaRPr lang="en-US"/>
          </a:p>
        </p:txBody>
      </p:sp>
      <p:sp>
        <p:nvSpPr>
          <p:cNvPr id="227" name="Shape 225"/>
          <p:cNvSpPr/>
          <p:nvPr/>
        </p:nvSpPr>
        <p:spPr>
          <a:xfrm>
            <a:off x="6139282" y="4324198"/>
            <a:ext cx="38405" cy="38405"/>
          </a:xfrm>
          <a:prstGeom prst="ellipse">
            <a:avLst/>
          </a:prstGeom>
          <a:solidFill>
            <a:srgbClr val="9C3D6E"/>
          </a:solidFill>
          <a:ln/>
        </p:spPr>
        <p:txBody>
          <a:bodyPr/>
          <a:lstStyle/>
          <a:p>
            <a:endParaRPr lang="en-US"/>
          </a:p>
        </p:txBody>
      </p:sp>
      <p:sp>
        <p:nvSpPr>
          <p:cNvPr id="228" name="Shape 226"/>
          <p:cNvSpPr/>
          <p:nvPr/>
        </p:nvSpPr>
        <p:spPr>
          <a:xfrm>
            <a:off x="6191860" y="4324198"/>
            <a:ext cx="38405" cy="38405"/>
          </a:xfrm>
          <a:prstGeom prst="ellipse">
            <a:avLst/>
          </a:prstGeom>
          <a:solidFill>
            <a:srgbClr val="9C3D6E"/>
          </a:solidFill>
          <a:ln/>
        </p:spPr>
        <p:txBody>
          <a:bodyPr/>
          <a:lstStyle/>
          <a:p>
            <a:endParaRPr lang="en-US"/>
          </a:p>
        </p:txBody>
      </p:sp>
      <p:sp>
        <p:nvSpPr>
          <p:cNvPr id="229" name="Shape 227"/>
          <p:cNvSpPr/>
          <p:nvPr/>
        </p:nvSpPr>
        <p:spPr>
          <a:xfrm>
            <a:off x="6244438" y="4324198"/>
            <a:ext cx="38405" cy="38405"/>
          </a:xfrm>
          <a:prstGeom prst="ellipse">
            <a:avLst/>
          </a:prstGeom>
          <a:solidFill>
            <a:srgbClr val="9C3D6E"/>
          </a:solidFill>
          <a:ln/>
        </p:spPr>
        <p:txBody>
          <a:bodyPr/>
          <a:lstStyle/>
          <a:p>
            <a:endParaRPr lang="en-US"/>
          </a:p>
        </p:txBody>
      </p:sp>
      <p:sp>
        <p:nvSpPr>
          <p:cNvPr id="230" name="Shape 228"/>
          <p:cNvSpPr/>
          <p:nvPr/>
        </p:nvSpPr>
        <p:spPr>
          <a:xfrm>
            <a:off x="6297016" y="4324198"/>
            <a:ext cx="38405" cy="38405"/>
          </a:xfrm>
          <a:prstGeom prst="ellipse">
            <a:avLst/>
          </a:prstGeom>
          <a:solidFill>
            <a:srgbClr val="9C3D6E"/>
          </a:solidFill>
          <a:ln/>
        </p:spPr>
        <p:txBody>
          <a:bodyPr/>
          <a:lstStyle/>
          <a:p>
            <a:endParaRPr lang="en-US"/>
          </a:p>
        </p:txBody>
      </p:sp>
      <p:sp>
        <p:nvSpPr>
          <p:cNvPr id="231" name="Shape 229"/>
          <p:cNvSpPr/>
          <p:nvPr/>
        </p:nvSpPr>
        <p:spPr>
          <a:xfrm>
            <a:off x="6349594" y="4324198"/>
            <a:ext cx="38405" cy="38405"/>
          </a:xfrm>
          <a:prstGeom prst="ellipse">
            <a:avLst/>
          </a:prstGeom>
          <a:solidFill>
            <a:srgbClr val="9C3D6E"/>
          </a:solidFill>
          <a:ln/>
        </p:spPr>
        <p:txBody>
          <a:bodyPr/>
          <a:lstStyle/>
          <a:p>
            <a:endParaRPr lang="en-US"/>
          </a:p>
        </p:txBody>
      </p:sp>
      <p:sp>
        <p:nvSpPr>
          <p:cNvPr id="232" name="Shape 230"/>
          <p:cNvSpPr/>
          <p:nvPr/>
        </p:nvSpPr>
        <p:spPr>
          <a:xfrm>
            <a:off x="6402172" y="4324198"/>
            <a:ext cx="38405" cy="38405"/>
          </a:xfrm>
          <a:prstGeom prst="ellipse">
            <a:avLst/>
          </a:prstGeom>
          <a:solidFill>
            <a:srgbClr val="9C3D6E"/>
          </a:solidFill>
          <a:ln/>
        </p:spPr>
        <p:txBody>
          <a:bodyPr/>
          <a:lstStyle/>
          <a:p>
            <a:endParaRPr lang="en-US"/>
          </a:p>
        </p:txBody>
      </p:sp>
      <p:sp>
        <p:nvSpPr>
          <p:cNvPr id="233" name="Shape 231"/>
          <p:cNvSpPr/>
          <p:nvPr/>
        </p:nvSpPr>
        <p:spPr>
          <a:xfrm>
            <a:off x="6454750" y="4324198"/>
            <a:ext cx="38405" cy="38405"/>
          </a:xfrm>
          <a:prstGeom prst="ellipse">
            <a:avLst/>
          </a:prstGeom>
          <a:solidFill>
            <a:srgbClr val="9C3D6E"/>
          </a:solidFill>
          <a:ln/>
        </p:spPr>
        <p:txBody>
          <a:bodyPr/>
          <a:lstStyle/>
          <a:p>
            <a:endParaRPr lang="en-US"/>
          </a:p>
        </p:txBody>
      </p:sp>
      <p:sp>
        <p:nvSpPr>
          <p:cNvPr id="234" name="Shape 232"/>
          <p:cNvSpPr/>
          <p:nvPr/>
        </p:nvSpPr>
        <p:spPr>
          <a:xfrm>
            <a:off x="6507328" y="4324198"/>
            <a:ext cx="38405" cy="38405"/>
          </a:xfrm>
          <a:prstGeom prst="ellipse">
            <a:avLst/>
          </a:prstGeom>
          <a:solidFill>
            <a:srgbClr val="9C3D6E"/>
          </a:solidFill>
          <a:ln/>
        </p:spPr>
        <p:txBody>
          <a:bodyPr/>
          <a:lstStyle/>
          <a:p>
            <a:endParaRPr lang="en-US"/>
          </a:p>
        </p:txBody>
      </p:sp>
      <p:sp>
        <p:nvSpPr>
          <p:cNvPr id="235" name="Shape 233"/>
          <p:cNvSpPr/>
          <p:nvPr/>
        </p:nvSpPr>
        <p:spPr>
          <a:xfrm>
            <a:off x="6559906" y="4324198"/>
            <a:ext cx="38405" cy="38405"/>
          </a:xfrm>
          <a:prstGeom prst="ellipse">
            <a:avLst/>
          </a:prstGeom>
          <a:solidFill>
            <a:srgbClr val="9C3D6E"/>
          </a:solidFill>
          <a:ln/>
        </p:spPr>
        <p:txBody>
          <a:bodyPr/>
          <a:lstStyle/>
          <a:p>
            <a:endParaRPr lang="en-US"/>
          </a:p>
        </p:txBody>
      </p:sp>
      <p:sp>
        <p:nvSpPr>
          <p:cNvPr id="236" name="Shape 234"/>
          <p:cNvSpPr/>
          <p:nvPr/>
        </p:nvSpPr>
        <p:spPr>
          <a:xfrm>
            <a:off x="6612484" y="4324198"/>
            <a:ext cx="38405" cy="38405"/>
          </a:xfrm>
          <a:prstGeom prst="ellipse">
            <a:avLst/>
          </a:prstGeom>
          <a:solidFill>
            <a:srgbClr val="9C3D6E"/>
          </a:solidFill>
          <a:ln/>
        </p:spPr>
        <p:txBody>
          <a:bodyPr/>
          <a:lstStyle/>
          <a:p>
            <a:endParaRPr lang="en-US"/>
          </a:p>
        </p:txBody>
      </p:sp>
      <p:sp>
        <p:nvSpPr>
          <p:cNvPr id="237" name="Shape 235"/>
          <p:cNvSpPr/>
          <p:nvPr/>
        </p:nvSpPr>
        <p:spPr>
          <a:xfrm>
            <a:off x="6665062" y="4324198"/>
            <a:ext cx="38405" cy="38405"/>
          </a:xfrm>
          <a:prstGeom prst="ellipse">
            <a:avLst/>
          </a:prstGeom>
          <a:solidFill>
            <a:srgbClr val="9C3D6E"/>
          </a:solidFill>
          <a:ln/>
        </p:spPr>
        <p:txBody>
          <a:bodyPr/>
          <a:lstStyle/>
          <a:p>
            <a:endParaRPr lang="en-US"/>
          </a:p>
        </p:txBody>
      </p:sp>
      <p:sp>
        <p:nvSpPr>
          <p:cNvPr id="238" name="Shape 236"/>
          <p:cNvSpPr/>
          <p:nvPr/>
        </p:nvSpPr>
        <p:spPr>
          <a:xfrm>
            <a:off x="6717640" y="4324198"/>
            <a:ext cx="38405" cy="38405"/>
          </a:xfrm>
          <a:prstGeom prst="ellipse">
            <a:avLst/>
          </a:prstGeom>
          <a:solidFill>
            <a:srgbClr val="9C3D6E"/>
          </a:solidFill>
          <a:ln/>
        </p:spPr>
        <p:txBody>
          <a:bodyPr/>
          <a:lstStyle/>
          <a:p>
            <a:endParaRPr lang="en-US"/>
          </a:p>
        </p:txBody>
      </p:sp>
      <p:sp>
        <p:nvSpPr>
          <p:cNvPr id="239" name="Shape 237"/>
          <p:cNvSpPr/>
          <p:nvPr/>
        </p:nvSpPr>
        <p:spPr>
          <a:xfrm>
            <a:off x="6770218" y="4324198"/>
            <a:ext cx="38405" cy="38405"/>
          </a:xfrm>
          <a:prstGeom prst="ellipse">
            <a:avLst/>
          </a:prstGeom>
          <a:solidFill>
            <a:srgbClr val="9C3D6E"/>
          </a:solidFill>
          <a:ln/>
        </p:spPr>
        <p:txBody>
          <a:bodyPr/>
          <a:lstStyle/>
          <a:p>
            <a:endParaRPr lang="en-US"/>
          </a:p>
        </p:txBody>
      </p:sp>
      <p:sp>
        <p:nvSpPr>
          <p:cNvPr id="240" name="Shape 238"/>
          <p:cNvSpPr/>
          <p:nvPr/>
        </p:nvSpPr>
        <p:spPr>
          <a:xfrm>
            <a:off x="6822796" y="4324198"/>
            <a:ext cx="38405" cy="38405"/>
          </a:xfrm>
          <a:prstGeom prst="ellipse">
            <a:avLst/>
          </a:prstGeom>
          <a:solidFill>
            <a:srgbClr val="9C3D6E"/>
          </a:solidFill>
          <a:ln/>
        </p:spPr>
        <p:txBody>
          <a:bodyPr/>
          <a:lstStyle/>
          <a:p>
            <a:endParaRPr lang="en-US"/>
          </a:p>
        </p:txBody>
      </p:sp>
      <p:sp>
        <p:nvSpPr>
          <p:cNvPr id="241" name="Shape 239"/>
          <p:cNvSpPr/>
          <p:nvPr/>
        </p:nvSpPr>
        <p:spPr>
          <a:xfrm>
            <a:off x="6875374" y="4324198"/>
            <a:ext cx="38405" cy="38405"/>
          </a:xfrm>
          <a:prstGeom prst="ellipse">
            <a:avLst/>
          </a:prstGeom>
          <a:solidFill>
            <a:srgbClr val="9C3D6E"/>
          </a:solidFill>
          <a:ln/>
        </p:spPr>
        <p:txBody>
          <a:bodyPr/>
          <a:lstStyle/>
          <a:p>
            <a:endParaRPr lang="en-US"/>
          </a:p>
        </p:txBody>
      </p:sp>
      <p:sp>
        <p:nvSpPr>
          <p:cNvPr id="242" name="Shape 240"/>
          <p:cNvSpPr/>
          <p:nvPr/>
        </p:nvSpPr>
        <p:spPr>
          <a:xfrm>
            <a:off x="6927952" y="4324198"/>
            <a:ext cx="38405" cy="38405"/>
          </a:xfrm>
          <a:prstGeom prst="ellipse">
            <a:avLst/>
          </a:prstGeom>
          <a:solidFill>
            <a:srgbClr val="9C3D6E"/>
          </a:solidFill>
          <a:ln/>
        </p:spPr>
        <p:txBody>
          <a:bodyPr/>
          <a:lstStyle/>
          <a:p>
            <a:endParaRPr lang="en-US"/>
          </a:p>
        </p:txBody>
      </p:sp>
      <p:sp>
        <p:nvSpPr>
          <p:cNvPr id="243" name="Shape 241"/>
          <p:cNvSpPr/>
          <p:nvPr/>
        </p:nvSpPr>
        <p:spPr>
          <a:xfrm>
            <a:off x="6980530" y="4324198"/>
            <a:ext cx="38405" cy="38405"/>
          </a:xfrm>
          <a:prstGeom prst="ellipse">
            <a:avLst/>
          </a:prstGeom>
          <a:solidFill>
            <a:srgbClr val="9C3D6E"/>
          </a:solidFill>
          <a:ln/>
        </p:spPr>
        <p:txBody>
          <a:bodyPr/>
          <a:lstStyle/>
          <a:p>
            <a:endParaRPr lang="en-US"/>
          </a:p>
        </p:txBody>
      </p:sp>
      <p:sp>
        <p:nvSpPr>
          <p:cNvPr id="244" name="Shape 242"/>
          <p:cNvSpPr/>
          <p:nvPr/>
        </p:nvSpPr>
        <p:spPr>
          <a:xfrm>
            <a:off x="7033108" y="4324198"/>
            <a:ext cx="38405" cy="38405"/>
          </a:xfrm>
          <a:prstGeom prst="ellipse">
            <a:avLst/>
          </a:prstGeom>
          <a:solidFill>
            <a:srgbClr val="9C3D6E"/>
          </a:solidFill>
          <a:ln/>
        </p:spPr>
        <p:txBody>
          <a:bodyPr/>
          <a:lstStyle/>
          <a:p>
            <a:endParaRPr lang="en-US"/>
          </a:p>
        </p:txBody>
      </p:sp>
      <p:sp>
        <p:nvSpPr>
          <p:cNvPr id="245" name="Shape 243"/>
          <p:cNvSpPr/>
          <p:nvPr/>
        </p:nvSpPr>
        <p:spPr>
          <a:xfrm>
            <a:off x="7085686" y="4324198"/>
            <a:ext cx="38405" cy="38405"/>
          </a:xfrm>
          <a:prstGeom prst="ellipse">
            <a:avLst/>
          </a:prstGeom>
          <a:solidFill>
            <a:srgbClr val="9C3D6E"/>
          </a:solidFill>
          <a:ln/>
        </p:spPr>
        <p:txBody>
          <a:bodyPr/>
          <a:lstStyle/>
          <a:p>
            <a:endParaRPr lang="en-US"/>
          </a:p>
        </p:txBody>
      </p:sp>
      <p:sp>
        <p:nvSpPr>
          <p:cNvPr id="246" name="Shape 244"/>
          <p:cNvSpPr/>
          <p:nvPr/>
        </p:nvSpPr>
        <p:spPr>
          <a:xfrm>
            <a:off x="7138264" y="4324198"/>
            <a:ext cx="38405" cy="38405"/>
          </a:xfrm>
          <a:prstGeom prst="ellipse">
            <a:avLst/>
          </a:prstGeom>
          <a:solidFill>
            <a:srgbClr val="9C3D6E"/>
          </a:solidFill>
          <a:ln/>
        </p:spPr>
        <p:txBody>
          <a:bodyPr/>
          <a:lstStyle/>
          <a:p>
            <a:endParaRPr lang="en-US"/>
          </a:p>
        </p:txBody>
      </p:sp>
      <p:sp>
        <p:nvSpPr>
          <p:cNvPr id="247" name="Shape 245"/>
          <p:cNvSpPr/>
          <p:nvPr/>
        </p:nvSpPr>
        <p:spPr>
          <a:xfrm>
            <a:off x="7190842" y="4324198"/>
            <a:ext cx="38405" cy="38405"/>
          </a:xfrm>
          <a:prstGeom prst="ellipse">
            <a:avLst/>
          </a:prstGeom>
          <a:solidFill>
            <a:srgbClr val="9C3D6E"/>
          </a:solidFill>
          <a:ln/>
        </p:spPr>
        <p:txBody>
          <a:bodyPr/>
          <a:lstStyle/>
          <a:p>
            <a:endParaRPr lang="en-US"/>
          </a:p>
        </p:txBody>
      </p:sp>
      <p:sp>
        <p:nvSpPr>
          <p:cNvPr id="248" name="Shape 246"/>
          <p:cNvSpPr/>
          <p:nvPr/>
        </p:nvSpPr>
        <p:spPr>
          <a:xfrm>
            <a:off x="7243420" y="4324198"/>
            <a:ext cx="38405" cy="38405"/>
          </a:xfrm>
          <a:prstGeom prst="ellipse">
            <a:avLst/>
          </a:prstGeom>
          <a:solidFill>
            <a:srgbClr val="9C3D6E"/>
          </a:solidFill>
          <a:ln/>
        </p:spPr>
        <p:txBody>
          <a:bodyPr/>
          <a:lstStyle/>
          <a:p>
            <a:endParaRPr lang="en-US"/>
          </a:p>
        </p:txBody>
      </p:sp>
      <p:sp>
        <p:nvSpPr>
          <p:cNvPr id="249" name="Shape 247"/>
          <p:cNvSpPr/>
          <p:nvPr/>
        </p:nvSpPr>
        <p:spPr>
          <a:xfrm>
            <a:off x="7295998" y="4324198"/>
            <a:ext cx="38405" cy="38405"/>
          </a:xfrm>
          <a:prstGeom prst="ellipse">
            <a:avLst/>
          </a:prstGeom>
          <a:solidFill>
            <a:srgbClr val="9C3D6E"/>
          </a:solidFill>
          <a:ln/>
        </p:spPr>
        <p:txBody>
          <a:bodyPr/>
          <a:lstStyle/>
          <a:p>
            <a:endParaRPr lang="en-US"/>
          </a:p>
        </p:txBody>
      </p:sp>
      <p:sp>
        <p:nvSpPr>
          <p:cNvPr id="250" name="Text 248"/>
          <p:cNvSpPr txBox="1"/>
          <p:nvPr/>
        </p:nvSpPr>
        <p:spPr>
          <a:xfrm>
            <a:off x="1005840" y="4407408"/>
            <a:ext cx="6309360" cy="274320"/>
          </a:xfrm>
          <a:prstGeom prst="rect">
            <a:avLst/>
          </a:prstGeom>
          <a:noFill/>
          <a:ln/>
        </p:spPr>
        <p:txBody>
          <a:bodyPr wrap="square" lIns="0" tIns="0" rIns="0" bIns="0" rtlCol="0" anchor="ctr"/>
          <a:lstStyle/>
          <a:p>
            <a:pPr marL="0" indent="0" algn="ctr">
              <a:buNone/>
            </a:pPr>
            <a:r>
              <a:rPr lang="en-US" sz="1300" dirty="0">
                <a:solidFill>
                  <a:srgbClr val="9C3D6E"/>
                </a:solidFill>
                <a:latin typeface="Cambria Math" pitchFamily="34" charset="0"/>
                <a:ea typeface="Cambria Math" pitchFamily="34" charset="-122"/>
                <a:cs typeface="Cambria Math" pitchFamily="34" charset="-120"/>
              </a:rPr>
              <a:t>p_g  —  the model, one mode, perfectly convincing</a:t>
            </a:r>
            <a:endParaRPr lang="en-US" sz="1300" dirty="0"/>
          </a:p>
        </p:txBody>
      </p:sp>
      <p:sp>
        <p:nvSpPr>
          <p:cNvPr id="251" name="Shape 249"/>
          <p:cNvSpPr/>
          <p:nvPr/>
        </p:nvSpPr>
        <p:spPr>
          <a:xfrm>
            <a:off x="7543800" y="1298448"/>
            <a:ext cx="3986784" cy="1051560"/>
          </a:xfrm>
          <a:prstGeom prst="roundRect">
            <a:avLst>
              <a:gd name="adj" fmla="val 6957"/>
            </a:avLst>
          </a:prstGeom>
          <a:solidFill>
            <a:srgbClr val="E6F2EF"/>
          </a:solidFill>
          <a:ln w="12700">
            <a:solidFill>
              <a:srgbClr val="E6F2EF"/>
            </a:solidFill>
            <a:prstDash val="solid"/>
          </a:ln>
        </p:spPr>
        <p:txBody>
          <a:bodyPr/>
          <a:lstStyle/>
          <a:p>
            <a:endParaRPr lang="en-US"/>
          </a:p>
        </p:txBody>
      </p:sp>
      <p:sp>
        <p:nvSpPr>
          <p:cNvPr id="252" name="Text 250"/>
          <p:cNvSpPr txBox="1"/>
          <p:nvPr/>
        </p:nvSpPr>
        <p:spPr>
          <a:xfrm>
            <a:off x="7790688" y="1408176"/>
            <a:ext cx="3493008" cy="292608"/>
          </a:xfrm>
          <a:prstGeom prst="rect">
            <a:avLst/>
          </a:prstGeom>
          <a:noFill/>
          <a:ln/>
        </p:spPr>
        <p:txBody>
          <a:bodyPr wrap="square" lIns="0" tIns="0" rIns="0" bIns="0" rtlCol="0" anchor="ctr"/>
          <a:lstStyle/>
          <a:p>
            <a:pPr marL="0" indent="0">
              <a:buNone/>
            </a:pPr>
            <a:r>
              <a:rPr lang="en-US" sz="1300" b="1" dirty="0">
                <a:solidFill>
                  <a:srgbClr val="0E131B"/>
                </a:solidFill>
                <a:latin typeface="Cambria" pitchFamily="34" charset="0"/>
                <a:ea typeface="Cambria" pitchFamily="34" charset="-122"/>
                <a:cs typeface="Cambria" pitchFamily="34" charset="-120"/>
              </a:rPr>
              <a:t>Every sample it makes is good</a:t>
            </a:r>
            <a:endParaRPr lang="en-US" sz="1300" dirty="0"/>
          </a:p>
        </p:txBody>
      </p:sp>
      <p:sp>
        <p:nvSpPr>
          <p:cNvPr id="253" name="Text 251"/>
          <p:cNvSpPr txBox="1"/>
          <p:nvPr/>
        </p:nvSpPr>
        <p:spPr>
          <a:xfrm>
            <a:off x="7790688" y="1719072"/>
            <a:ext cx="3493008" cy="566928"/>
          </a:xfrm>
          <a:prstGeom prst="rect">
            <a:avLst/>
          </a:prstGeom>
          <a:noFill/>
          <a:ln/>
        </p:spPr>
        <p:txBody>
          <a:bodyPr wrap="square" lIns="0" tIns="0" rIns="0" bIns="0" rtlCol="0" anchor="ctr"/>
          <a:lstStyle/>
          <a:p>
            <a:pPr marL="0" indent="0">
              <a:lnSpc>
                <a:spcPts val="1350"/>
              </a:lnSpc>
              <a:buNone/>
            </a:pPr>
            <a:r>
              <a:rPr lang="en-US" sz="1050" dirty="0">
                <a:solidFill>
                  <a:srgbClr val="5B6474"/>
                </a:solidFill>
                <a:latin typeface="Calibri" pitchFamily="34" charset="0"/>
                <a:ea typeface="Calibri" pitchFamily="34" charset="-122"/>
                <a:cs typeface="Calibri" pitchFamily="34" charset="-120"/>
              </a:rPr>
              <a:t>The one thing it produces sits squarely on a real mode. Judged one output at a time, the model is flawless. There is no bad sample to point at.</a:t>
            </a:r>
            <a:endParaRPr lang="en-US" sz="1050" dirty="0"/>
          </a:p>
        </p:txBody>
      </p:sp>
      <p:sp>
        <p:nvSpPr>
          <p:cNvPr id="254" name="Shape 252"/>
          <p:cNvSpPr/>
          <p:nvPr/>
        </p:nvSpPr>
        <p:spPr>
          <a:xfrm>
            <a:off x="7543800" y="2423160"/>
            <a:ext cx="3986784" cy="1051560"/>
          </a:xfrm>
          <a:prstGeom prst="roundRect">
            <a:avLst>
              <a:gd name="adj" fmla="val 6957"/>
            </a:avLst>
          </a:prstGeom>
          <a:solidFill>
            <a:srgbClr val="F8EBF2"/>
          </a:solidFill>
          <a:ln w="12700">
            <a:solidFill>
              <a:srgbClr val="F8EBF2"/>
            </a:solidFill>
            <a:prstDash val="solid"/>
          </a:ln>
        </p:spPr>
        <p:txBody>
          <a:bodyPr/>
          <a:lstStyle/>
          <a:p>
            <a:endParaRPr lang="en-US"/>
          </a:p>
        </p:txBody>
      </p:sp>
      <p:sp>
        <p:nvSpPr>
          <p:cNvPr id="255" name="Text 253"/>
          <p:cNvSpPr txBox="1"/>
          <p:nvPr/>
        </p:nvSpPr>
        <p:spPr>
          <a:xfrm>
            <a:off x="7790688" y="2532888"/>
            <a:ext cx="3493008" cy="292608"/>
          </a:xfrm>
          <a:prstGeom prst="rect">
            <a:avLst/>
          </a:prstGeom>
          <a:noFill/>
          <a:ln/>
        </p:spPr>
        <p:txBody>
          <a:bodyPr wrap="square" lIns="0" tIns="0" rIns="0" bIns="0" rtlCol="0" anchor="ctr"/>
          <a:lstStyle/>
          <a:p>
            <a:pPr marL="0" indent="0">
              <a:buNone/>
            </a:pPr>
            <a:r>
              <a:rPr lang="en-US" sz="1300" b="1" dirty="0">
                <a:solidFill>
                  <a:srgbClr val="0E131B"/>
                </a:solidFill>
                <a:latin typeface="Cambria" pitchFamily="34" charset="0"/>
                <a:ea typeface="Cambria" pitchFamily="34" charset="-122"/>
                <a:cs typeface="Cambria" pitchFamily="34" charset="-120"/>
              </a:rPr>
              <a:t>Four fifths of the world is gone</a:t>
            </a:r>
            <a:endParaRPr lang="en-US" sz="1300" dirty="0"/>
          </a:p>
        </p:txBody>
      </p:sp>
      <p:sp>
        <p:nvSpPr>
          <p:cNvPr id="256" name="Text 254"/>
          <p:cNvSpPr txBox="1"/>
          <p:nvPr/>
        </p:nvSpPr>
        <p:spPr>
          <a:xfrm>
            <a:off x="7790688" y="2843784"/>
            <a:ext cx="3493008" cy="566928"/>
          </a:xfrm>
          <a:prstGeom prst="rect">
            <a:avLst/>
          </a:prstGeom>
          <a:noFill/>
          <a:ln/>
        </p:spPr>
        <p:txBody>
          <a:bodyPr wrap="square" lIns="0" tIns="0" rIns="0" bIns="0" rtlCol="0" anchor="ctr"/>
          <a:lstStyle/>
          <a:p>
            <a:pPr marL="0" indent="0">
              <a:lnSpc>
                <a:spcPts val="1350"/>
              </a:lnSpc>
              <a:buNone/>
            </a:pPr>
            <a:r>
              <a:rPr lang="en-US" sz="1050" dirty="0">
                <a:solidFill>
                  <a:srgbClr val="5B6474"/>
                </a:solidFill>
                <a:latin typeface="Calibri" pitchFamily="34" charset="0"/>
                <a:ea typeface="Calibri" pitchFamily="34" charset="-122"/>
                <a:cs typeface="Calibri" pitchFamily="34" charset="-120"/>
              </a:rPr>
              <a:t>Not badly rendered. Absent. The generator assigns essentially zero probability to regions the world visits constantly.</a:t>
            </a:r>
            <a:endParaRPr lang="en-US" sz="1050" dirty="0"/>
          </a:p>
        </p:txBody>
      </p:sp>
      <p:sp>
        <p:nvSpPr>
          <p:cNvPr id="257" name="Shape 255"/>
          <p:cNvSpPr/>
          <p:nvPr/>
        </p:nvSpPr>
        <p:spPr>
          <a:xfrm>
            <a:off x="7543800" y="3547872"/>
            <a:ext cx="3986784" cy="1051560"/>
          </a:xfrm>
          <a:prstGeom prst="roundRect">
            <a:avLst>
              <a:gd name="adj" fmla="val 6957"/>
            </a:avLst>
          </a:prstGeom>
          <a:solidFill>
            <a:srgbClr val="E6F2EF"/>
          </a:solidFill>
          <a:ln w="12700">
            <a:solidFill>
              <a:srgbClr val="E6F2EF"/>
            </a:solidFill>
            <a:prstDash val="solid"/>
          </a:ln>
        </p:spPr>
        <p:txBody>
          <a:bodyPr/>
          <a:lstStyle/>
          <a:p>
            <a:endParaRPr lang="en-US"/>
          </a:p>
        </p:txBody>
      </p:sp>
      <p:sp>
        <p:nvSpPr>
          <p:cNvPr id="258" name="Text 256"/>
          <p:cNvSpPr txBox="1"/>
          <p:nvPr/>
        </p:nvSpPr>
        <p:spPr>
          <a:xfrm>
            <a:off x="7790688" y="3657600"/>
            <a:ext cx="3493008" cy="292608"/>
          </a:xfrm>
          <a:prstGeom prst="rect">
            <a:avLst/>
          </a:prstGeom>
          <a:noFill/>
          <a:ln/>
        </p:spPr>
        <p:txBody>
          <a:bodyPr wrap="square" lIns="0" tIns="0" rIns="0" bIns="0" rtlCol="0" anchor="ctr"/>
          <a:lstStyle/>
          <a:p>
            <a:pPr marL="0" indent="0">
              <a:buNone/>
            </a:pPr>
            <a:r>
              <a:rPr lang="en-US" sz="1300" b="1" dirty="0">
                <a:solidFill>
                  <a:srgbClr val="0E131B"/>
                </a:solidFill>
                <a:latin typeface="Cambria" pitchFamily="34" charset="0"/>
                <a:ea typeface="Cambria" pitchFamily="34" charset="-122"/>
                <a:cs typeface="Cambria" pitchFamily="34" charset="-120"/>
              </a:rPr>
              <a:t>And no single output reveals it</a:t>
            </a:r>
            <a:endParaRPr lang="en-US" sz="1300" dirty="0"/>
          </a:p>
        </p:txBody>
      </p:sp>
      <p:sp>
        <p:nvSpPr>
          <p:cNvPr id="259" name="Text 257"/>
          <p:cNvSpPr txBox="1"/>
          <p:nvPr/>
        </p:nvSpPr>
        <p:spPr>
          <a:xfrm>
            <a:off x="7790688" y="3968496"/>
            <a:ext cx="3493008" cy="566928"/>
          </a:xfrm>
          <a:prstGeom prst="rect">
            <a:avLst/>
          </a:prstGeom>
          <a:noFill/>
          <a:ln/>
        </p:spPr>
        <p:txBody>
          <a:bodyPr wrap="square" lIns="0" tIns="0" rIns="0" bIns="0" rtlCol="0" anchor="ctr"/>
          <a:lstStyle/>
          <a:p>
            <a:pPr marL="0" indent="0">
              <a:lnSpc>
                <a:spcPts val="1350"/>
              </a:lnSpc>
              <a:buNone/>
            </a:pPr>
            <a:r>
              <a:rPr lang="en-US" sz="1050" dirty="0">
                <a:solidFill>
                  <a:srgbClr val="5B6474"/>
                </a:solidFill>
                <a:latin typeface="Calibri" pitchFamily="34" charset="0"/>
                <a:ea typeface="Calibri" pitchFamily="34" charset="-122"/>
                <a:cs typeface="Calibri" pitchFamily="34" charset="-120"/>
              </a:rPr>
              <a:t>Collapse is invisible at the level of the individual case and only appears in the distribution. You cannot detect it by looking harder at one example — you have to count.</a:t>
            </a:r>
            <a:endParaRPr lang="en-US" sz="1050" dirty="0"/>
          </a:p>
        </p:txBody>
      </p:sp>
      <p:sp>
        <p:nvSpPr>
          <p:cNvPr id="260" name="Shape 258"/>
          <p:cNvSpPr/>
          <p:nvPr/>
        </p:nvSpPr>
        <p:spPr>
          <a:xfrm>
            <a:off x="7543800" y="4672584"/>
            <a:ext cx="3986784" cy="1051560"/>
          </a:xfrm>
          <a:prstGeom prst="roundRect">
            <a:avLst>
              <a:gd name="adj" fmla="val 6957"/>
            </a:avLst>
          </a:prstGeom>
          <a:solidFill>
            <a:srgbClr val="0E131B"/>
          </a:solidFill>
          <a:ln w="12700">
            <a:solidFill>
              <a:srgbClr val="0E131B"/>
            </a:solidFill>
            <a:prstDash val="solid"/>
          </a:ln>
        </p:spPr>
        <p:txBody>
          <a:bodyPr/>
          <a:lstStyle/>
          <a:p>
            <a:endParaRPr lang="en-US"/>
          </a:p>
        </p:txBody>
      </p:sp>
      <p:sp>
        <p:nvSpPr>
          <p:cNvPr id="261" name="Text 259"/>
          <p:cNvSpPr txBox="1"/>
          <p:nvPr/>
        </p:nvSpPr>
        <p:spPr>
          <a:xfrm>
            <a:off x="7790688" y="4782312"/>
            <a:ext cx="3493008" cy="292608"/>
          </a:xfrm>
          <a:prstGeom prst="rect">
            <a:avLst/>
          </a:prstGeom>
          <a:noFill/>
          <a:ln/>
        </p:spPr>
        <p:txBody>
          <a:bodyPr wrap="square" lIns="0" tIns="0" rIns="0" bIns="0" rtlCol="0" anchor="ctr"/>
          <a:lstStyle/>
          <a:p>
            <a:pPr marL="0" indent="0">
              <a:buNone/>
            </a:pPr>
            <a:r>
              <a:rPr lang="en-US" sz="1300" b="1" dirty="0">
                <a:solidFill>
                  <a:srgbClr val="DFA9C4"/>
                </a:solidFill>
                <a:latin typeface="Cambria" pitchFamily="34" charset="0"/>
                <a:ea typeface="Cambria" pitchFamily="34" charset="-122"/>
                <a:cs typeface="Cambria" pitchFamily="34" charset="-120"/>
              </a:rPr>
              <a:t>Which is why you generated forty</a:t>
            </a:r>
            <a:endParaRPr lang="en-US" sz="1300" dirty="0"/>
          </a:p>
        </p:txBody>
      </p:sp>
      <p:sp>
        <p:nvSpPr>
          <p:cNvPr id="262" name="Text 260"/>
          <p:cNvSpPr txBox="1"/>
          <p:nvPr/>
        </p:nvSpPr>
        <p:spPr>
          <a:xfrm>
            <a:off x="7790688" y="5093208"/>
            <a:ext cx="3493008" cy="566928"/>
          </a:xfrm>
          <a:prstGeom prst="rect">
            <a:avLst/>
          </a:prstGeom>
          <a:noFill/>
          <a:ln/>
        </p:spPr>
        <p:txBody>
          <a:bodyPr wrap="square" lIns="0" tIns="0" rIns="0" bIns="0" rtlCol="0" anchor="ctr"/>
          <a:lstStyle/>
          <a:p>
            <a:pPr marL="0" indent="0">
              <a:lnSpc>
                <a:spcPts val="1350"/>
              </a:lnSpc>
              <a:buNone/>
            </a:pPr>
            <a:r>
              <a:rPr lang="en-US" sz="1050" dirty="0">
                <a:solidFill>
                  <a:srgbClr val="F2F4F8"/>
                </a:solidFill>
                <a:latin typeface="Calibri" pitchFamily="34" charset="0"/>
                <a:ea typeface="Calibri" pitchFamily="34" charset="-122"/>
                <a:cs typeface="Calibri" pitchFamily="34" charset="-120"/>
              </a:rPr>
              <a:t>One output tells you about quality. Forty tell you about coverage. The exercise was designed to make a distributional property visible to a person.</a:t>
            </a:r>
            <a:endParaRPr lang="en-US" sz="1050" dirty="0"/>
          </a:p>
        </p:txBody>
      </p:sp>
      <p:sp>
        <p:nvSpPr>
          <p:cNvPr id="263" name="Shape 261"/>
          <p:cNvSpPr/>
          <p:nvPr/>
        </p:nvSpPr>
        <p:spPr>
          <a:xfrm>
            <a:off x="640080" y="5074920"/>
            <a:ext cx="6675120" cy="1005840"/>
          </a:xfrm>
          <a:prstGeom prst="roundRect">
            <a:avLst>
              <a:gd name="adj" fmla="val 7273"/>
            </a:avLst>
          </a:prstGeom>
          <a:solidFill>
            <a:srgbClr val="E6F2EF"/>
          </a:solidFill>
          <a:ln w="12700">
            <a:solidFill>
              <a:srgbClr val="E6F2EF"/>
            </a:solidFill>
            <a:prstDash val="solid"/>
          </a:ln>
        </p:spPr>
        <p:txBody>
          <a:bodyPr/>
          <a:lstStyle/>
          <a:p>
            <a:endParaRPr lang="en-US"/>
          </a:p>
        </p:txBody>
      </p:sp>
      <p:sp>
        <p:nvSpPr>
          <p:cNvPr id="264" name="Text 262"/>
          <p:cNvSpPr txBox="1"/>
          <p:nvPr/>
        </p:nvSpPr>
        <p:spPr>
          <a:xfrm>
            <a:off x="960120" y="5074920"/>
            <a:ext cx="6035040" cy="1005840"/>
          </a:xfrm>
          <a:prstGeom prst="rect">
            <a:avLst/>
          </a:prstGeom>
          <a:noFill/>
          <a:ln/>
        </p:spPr>
        <p:txBody>
          <a:bodyPr wrap="square" lIns="0" tIns="0" rIns="0" bIns="0" rtlCol="0" anchor="ctr"/>
          <a:lstStyle/>
          <a:p>
            <a:pPr marL="0" indent="0">
              <a:lnSpc>
                <a:spcPts val="2000"/>
              </a:lnSpc>
              <a:buNone/>
            </a:pPr>
            <a:r>
              <a:rPr lang="en-US" sz="1450" i="1" dirty="0">
                <a:solidFill>
                  <a:srgbClr val="1F7A6B"/>
                </a:solidFill>
                <a:latin typeface="Cambria" pitchFamily="34" charset="0"/>
                <a:ea typeface="Cambria" pitchFamily="34" charset="-122"/>
                <a:cs typeface="Cambria" pitchFamily="34" charset="-120"/>
              </a:rPr>
              <a:t>A mode is a bump: a kind of thing the world regularly produces. Collapse is the loss of bumps, not the loss of quality.</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9C3D6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THE MECHANISM</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0E131B"/>
                </a:solidFill>
                <a:latin typeface="Cambria" pitchFamily="34" charset="0"/>
                <a:ea typeface="Cambria" pitchFamily="34" charset="-122"/>
                <a:cs typeface="Cambria" pitchFamily="34" charset="-120"/>
              </a:rPr>
              <a:t>Why a working optimiser lands here</a:t>
            </a:r>
            <a:endParaRPr lang="en-US" sz="2900" dirty="0"/>
          </a:p>
        </p:txBody>
      </p:sp>
      <p:sp>
        <p:nvSpPr>
          <p:cNvPr id="5" name="Shape 3"/>
          <p:cNvSpPr/>
          <p:nvPr/>
        </p:nvSpPr>
        <p:spPr>
          <a:xfrm>
            <a:off x="640080" y="1325880"/>
            <a:ext cx="10911535" cy="1115568"/>
          </a:xfrm>
          <a:prstGeom prst="roundRect">
            <a:avLst>
              <a:gd name="adj" fmla="val 6557"/>
            </a:avLst>
          </a:prstGeom>
          <a:solidFill>
            <a:srgbClr val="F8EBF2"/>
          </a:solidFill>
          <a:ln w="12700">
            <a:solidFill>
              <a:srgbClr val="F8EBF2"/>
            </a:solidFill>
            <a:prstDash val="solid"/>
          </a:ln>
        </p:spPr>
        <p:txBody>
          <a:bodyPr/>
          <a:lstStyle/>
          <a:p>
            <a:endParaRPr lang="en-US"/>
          </a:p>
        </p:txBody>
      </p:sp>
      <p:sp>
        <p:nvSpPr>
          <p:cNvPr id="6" name="Shape 4"/>
          <p:cNvSpPr/>
          <p:nvPr/>
        </p:nvSpPr>
        <p:spPr>
          <a:xfrm>
            <a:off x="960120" y="1691640"/>
            <a:ext cx="384048" cy="384048"/>
          </a:xfrm>
          <a:prstGeom prst="ellipse">
            <a:avLst/>
          </a:prstGeom>
          <a:solidFill>
            <a:srgbClr val="9C3D6E"/>
          </a:solidFill>
          <a:ln/>
        </p:spPr>
        <p:txBody>
          <a:bodyPr/>
          <a:lstStyle/>
          <a:p>
            <a:endParaRPr lang="en-US"/>
          </a:p>
        </p:txBody>
      </p:sp>
      <p:sp>
        <p:nvSpPr>
          <p:cNvPr id="7" name="Text 5"/>
          <p:cNvSpPr txBox="1"/>
          <p:nvPr/>
        </p:nvSpPr>
        <p:spPr>
          <a:xfrm>
            <a:off x="960120" y="169164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600200" y="1453896"/>
            <a:ext cx="9509760" cy="310896"/>
          </a:xfrm>
          <a:prstGeom prst="rect">
            <a:avLst/>
          </a:prstGeom>
          <a:noFill/>
          <a:ln/>
        </p:spPr>
        <p:txBody>
          <a:bodyPr wrap="square" lIns="0" tIns="0" rIns="0" bIns="0" rtlCol="0" anchor="ctr"/>
          <a:lstStyle/>
          <a:p>
            <a:pPr marL="0" indent="0">
              <a:buNone/>
            </a:pPr>
            <a:r>
              <a:rPr lang="en-US" sz="1600" b="1" dirty="0">
                <a:solidFill>
                  <a:srgbClr val="0E131B"/>
                </a:solidFill>
                <a:latin typeface="Cambria" pitchFamily="34" charset="0"/>
                <a:ea typeface="Cambria" pitchFamily="34" charset="-122"/>
                <a:cs typeface="Cambria" pitchFamily="34" charset="-120"/>
              </a:rPr>
              <a:t>G finds one very convincing output</a:t>
            </a:r>
            <a:endParaRPr lang="en-US" sz="1600" dirty="0"/>
          </a:p>
        </p:txBody>
      </p:sp>
      <p:sp>
        <p:nvSpPr>
          <p:cNvPr id="9" name="Text 7"/>
          <p:cNvSpPr txBox="1"/>
          <p:nvPr/>
        </p:nvSpPr>
        <p:spPr>
          <a:xfrm>
            <a:off x="1600200" y="1801368"/>
            <a:ext cx="9509760" cy="548640"/>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Under the non-saturating objective, G maximises E[log D(G(z))]. If some output x* currently fools D completely, mapping every noise vector z to x* scores maximally. Variety is not rewarded, so variety is not produced.</a:t>
            </a:r>
            <a:endParaRPr lang="en-US" sz="1200" dirty="0"/>
          </a:p>
        </p:txBody>
      </p:sp>
      <p:sp>
        <p:nvSpPr>
          <p:cNvPr id="10" name="Shape 8"/>
          <p:cNvSpPr/>
          <p:nvPr/>
        </p:nvSpPr>
        <p:spPr>
          <a:xfrm>
            <a:off x="640080" y="2514600"/>
            <a:ext cx="10911535" cy="1115568"/>
          </a:xfrm>
          <a:prstGeom prst="roundRect">
            <a:avLst>
              <a:gd name="adj" fmla="val 6557"/>
            </a:avLst>
          </a:prstGeom>
          <a:solidFill>
            <a:srgbClr val="E6F2EF"/>
          </a:solidFill>
          <a:ln w="12700">
            <a:solidFill>
              <a:srgbClr val="E6F2EF"/>
            </a:solidFill>
            <a:prstDash val="solid"/>
          </a:ln>
        </p:spPr>
        <p:txBody>
          <a:bodyPr/>
          <a:lstStyle/>
          <a:p>
            <a:endParaRPr lang="en-US"/>
          </a:p>
        </p:txBody>
      </p:sp>
      <p:sp>
        <p:nvSpPr>
          <p:cNvPr id="11" name="Shape 9"/>
          <p:cNvSpPr/>
          <p:nvPr/>
        </p:nvSpPr>
        <p:spPr>
          <a:xfrm>
            <a:off x="960120" y="2880360"/>
            <a:ext cx="384048" cy="384048"/>
          </a:xfrm>
          <a:prstGeom prst="ellipse">
            <a:avLst/>
          </a:prstGeom>
          <a:solidFill>
            <a:srgbClr val="1F7A6B"/>
          </a:solidFill>
          <a:ln/>
        </p:spPr>
        <p:txBody>
          <a:bodyPr/>
          <a:lstStyle/>
          <a:p>
            <a:endParaRPr lang="en-US"/>
          </a:p>
        </p:txBody>
      </p:sp>
      <p:sp>
        <p:nvSpPr>
          <p:cNvPr id="12" name="Text 10"/>
          <p:cNvSpPr txBox="1"/>
          <p:nvPr/>
        </p:nvSpPr>
        <p:spPr>
          <a:xfrm>
            <a:off x="960120" y="288036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1600200" y="2642616"/>
            <a:ext cx="9509760" cy="310896"/>
          </a:xfrm>
          <a:prstGeom prst="rect">
            <a:avLst/>
          </a:prstGeom>
          <a:noFill/>
          <a:ln/>
        </p:spPr>
        <p:txBody>
          <a:bodyPr wrap="square" lIns="0" tIns="0" rIns="0" bIns="0" rtlCol="0" anchor="ctr"/>
          <a:lstStyle/>
          <a:p>
            <a:pPr marL="0" indent="0">
              <a:buNone/>
            </a:pPr>
            <a:r>
              <a:rPr lang="en-US" sz="1600" b="1" dirty="0">
                <a:solidFill>
                  <a:srgbClr val="0E131B"/>
                </a:solidFill>
                <a:latin typeface="Cambria" pitchFamily="34" charset="0"/>
                <a:ea typeface="Cambria" pitchFamily="34" charset="-122"/>
                <a:cs typeface="Cambria" pitchFamily="34" charset="-120"/>
              </a:rPr>
              <a:t>D notices and starts rejecting x*</a:t>
            </a:r>
            <a:endParaRPr lang="en-US" sz="1600" dirty="0"/>
          </a:p>
        </p:txBody>
      </p:sp>
      <p:sp>
        <p:nvSpPr>
          <p:cNvPr id="14" name="Text 12"/>
          <p:cNvSpPr txBox="1"/>
          <p:nvPr/>
        </p:nvSpPr>
        <p:spPr>
          <a:xfrm>
            <a:off x="1600200" y="2990088"/>
            <a:ext cx="9509760" cy="548640"/>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D is still learning. Once all the fakes look like x*, D learns that x* is fake and D(x*) falls. G’s reward collapses.</a:t>
            </a:r>
            <a:endParaRPr lang="en-US" sz="1200" dirty="0"/>
          </a:p>
        </p:txBody>
      </p:sp>
      <p:sp>
        <p:nvSpPr>
          <p:cNvPr id="15" name="Shape 13"/>
          <p:cNvSpPr/>
          <p:nvPr/>
        </p:nvSpPr>
        <p:spPr>
          <a:xfrm>
            <a:off x="640080" y="3703320"/>
            <a:ext cx="10911535" cy="1115568"/>
          </a:xfrm>
          <a:prstGeom prst="roundRect">
            <a:avLst>
              <a:gd name="adj" fmla="val 6557"/>
            </a:avLst>
          </a:prstGeom>
          <a:solidFill>
            <a:srgbClr val="F8EBF2"/>
          </a:solidFill>
          <a:ln w="12700">
            <a:solidFill>
              <a:srgbClr val="F8EBF2"/>
            </a:solidFill>
            <a:prstDash val="solid"/>
          </a:ln>
        </p:spPr>
        <p:txBody>
          <a:bodyPr/>
          <a:lstStyle/>
          <a:p>
            <a:endParaRPr lang="en-US"/>
          </a:p>
        </p:txBody>
      </p:sp>
      <p:sp>
        <p:nvSpPr>
          <p:cNvPr id="16" name="Shape 14"/>
          <p:cNvSpPr/>
          <p:nvPr/>
        </p:nvSpPr>
        <p:spPr>
          <a:xfrm>
            <a:off x="960120" y="4069080"/>
            <a:ext cx="384048" cy="384048"/>
          </a:xfrm>
          <a:prstGeom prst="ellipse">
            <a:avLst/>
          </a:prstGeom>
          <a:solidFill>
            <a:srgbClr val="9C3D6E"/>
          </a:solidFill>
          <a:ln/>
        </p:spPr>
        <p:txBody>
          <a:bodyPr/>
          <a:lstStyle/>
          <a:p>
            <a:endParaRPr lang="en-US"/>
          </a:p>
        </p:txBody>
      </p:sp>
      <p:sp>
        <p:nvSpPr>
          <p:cNvPr id="17" name="Text 15"/>
          <p:cNvSpPr txBox="1"/>
          <p:nvPr/>
        </p:nvSpPr>
        <p:spPr>
          <a:xfrm>
            <a:off x="960120" y="406908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1600200" y="3831336"/>
            <a:ext cx="9509760" cy="310896"/>
          </a:xfrm>
          <a:prstGeom prst="rect">
            <a:avLst/>
          </a:prstGeom>
          <a:noFill/>
          <a:ln/>
        </p:spPr>
        <p:txBody>
          <a:bodyPr wrap="square" lIns="0" tIns="0" rIns="0" bIns="0" rtlCol="0" anchor="ctr"/>
          <a:lstStyle/>
          <a:p>
            <a:pPr marL="0" indent="0">
              <a:buNone/>
            </a:pPr>
            <a:r>
              <a:rPr lang="en-US" sz="1600" b="1" dirty="0">
                <a:solidFill>
                  <a:srgbClr val="0E131B"/>
                </a:solidFill>
                <a:latin typeface="Cambria" pitchFamily="34" charset="0"/>
                <a:ea typeface="Cambria" pitchFamily="34" charset="-122"/>
                <a:cs typeface="Cambria" pitchFamily="34" charset="-120"/>
              </a:rPr>
              <a:t>G moves to a different single output</a:t>
            </a:r>
            <a:endParaRPr lang="en-US" sz="1600" dirty="0"/>
          </a:p>
        </p:txBody>
      </p:sp>
      <p:sp>
        <p:nvSpPr>
          <p:cNvPr id="19" name="Text 17"/>
          <p:cNvSpPr txBox="1"/>
          <p:nvPr/>
        </p:nvSpPr>
        <p:spPr>
          <a:xfrm>
            <a:off x="1600200" y="4178808"/>
            <a:ext cx="9509760" cy="548640"/>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It does not spread out. It relocates — abandoning x* for some x** that D has not yet caught. This is called mode hopping and it can continue indefinitely.</a:t>
            </a:r>
            <a:endParaRPr lang="en-US" sz="1200" dirty="0"/>
          </a:p>
        </p:txBody>
      </p:sp>
      <p:sp>
        <p:nvSpPr>
          <p:cNvPr id="20" name="Shape 18"/>
          <p:cNvSpPr/>
          <p:nvPr/>
        </p:nvSpPr>
        <p:spPr>
          <a:xfrm>
            <a:off x="640080" y="4892040"/>
            <a:ext cx="10911535" cy="1115568"/>
          </a:xfrm>
          <a:prstGeom prst="roundRect">
            <a:avLst>
              <a:gd name="adj" fmla="val 6557"/>
            </a:avLst>
          </a:prstGeom>
          <a:solidFill>
            <a:srgbClr val="0E131B"/>
          </a:solidFill>
          <a:ln w="12700">
            <a:solidFill>
              <a:srgbClr val="0E131B"/>
            </a:solidFill>
            <a:prstDash val="solid"/>
          </a:ln>
        </p:spPr>
        <p:txBody>
          <a:bodyPr/>
          <a:lstStyle/>
          <a:p>
            <a:endParaRPr lang="en-US"/>
          </a:p>
        </p:txBody>
      </p:sp>
      <p:sp>
        <p:nvSpPr>
          <p:cNvPr id="21" name="Shape 19"/>
          <p:cNvSpPr/>
          <p:nvPr/>
        </p:nvSpPr>
        <p:spPr>
          <a:xfrm>
            <a:off x="960120" y="5257800"/>
            <a:ext cx="384048" cy="384048"/>
          </a:xfrm>
          <a:prstGeom prst="ellipse">
            <a:avLst/>
          </a:prstGeom>
          <a:solidFill>
            <a:srgbClr val="9C3D6E"/>
          </a:solidFill>
          <a:ln/>
        </p:spPr>
        <p:txBody>
          <a:bodyPr/>
          <a:lstStyle/>
          <a:p>
            <a:endParaRPr lang="en-US"/>
          </a:p>
        </p:txBody>
      </p:sp>
      <p:sp>
        <p:nvSpPr>
          <p:cNvPr id="22" name="Text 20"/>
          <p:cNvSpPr txBox="1"/>
          <p:nvPr/>
        </p:nvSpPr>
        <p:spPr>
          <a:xfrm>
            <a:off x="960120" y="525780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3" name="Text 21"/>
          <p:cNvSpPr txBox="1"/>
          <p:nvPr/>
        </p:nvSpPr>
        <p:spPr>
          <a:xfrm>
            <a:off x="1600200" y="5020056"/>
            <a:ext cx="9509760" cy="310896"/>
          </a:xfrm>
          <a:prstGeom prst="rect">
            <a:avLst/>
          </a:prstGeom>
          <a:noFill/>
          <a:ln/>
        </p:spPr>
        <p:txBody>
          <a:bodyPr wrap="square" lIns="0" tIns="0" rIns="0" bIns="0" rtlCol="0" anchor="ctr"/>
          <a:lstStyle/>
          <a:p>
            <a:pPr marL="0" indent="0">
              <a:buNone/>
            </a:pPr>
            <a:r>
              <a:rPr lang="en-US" sz="1600" b="1" dirty="0">
                <a:solidFill>
                  <a:srgbClr val="DFA9C4"/>
                </a:solidFill>
                <a:latin typeface="Cambria" pitchFamily="34" charset="0"/>
                <a:ea typeface="Cambria" pitchFamily="34" charset="-122"/>
                <a:cs typeface="Cambria" pitchFamily="34" charset="-120"/>
              </a:rPr>
              <a:t>Nothing in the game punishes step three</a:t>
            </a:r>
            <a:endParaRPr lang="en-US" sz="1600" dirty="0"/>
          </a:p>
        </p:txBody>
      </p:sp>
      <p:sp>
        <p:nvSpPr>
          <p:cNvPr id="24" name="Text 22"/>
          <p:cNvSpPr txBox="1"/>
          <p:nvPr/>
        </p:nvSpPr>
        <p:spPr>
          <a:xfrm>
            <a:off x="1600200" y="5367528"/>
            <a:ext cx="9509760" cy="548640"/>
          </a:xfrm>
          <a:prstGeom prst="rect">
            <a:avLst/>
          </a:prstGeom>
          <a:noFill/>
          <a:ln/>
        </p:spPr>
        <p:txBody>
          <a:bodyPr wrap="square" lIns="0" tIns="0" rIns="0" bIns="0" rtlCol="0" anchor="ctr"/>
          <a:lstStyle/>
          <a:p>
            <a:pPr marL="0" indent="0">
              <a:lnSpc>
                <a:spcPts val="1600"/>
              </a:lnSpc>
              <a:buNone/>
            </a:pPr>
            <a:r>
              <a:rPr lang="en-US" sz="1200" dirty="0">
                <a:solidFill>
                  <a:srgbClr val="F2F4F8"/>
                </a:solidFill>
                <a:latin typeface="Calibri" pitchFamily="34" charset="0"/>
                <a:ea typeface="Calibri" pitchFamily="34" charset="-122"/>
                <a:cs typeface="Calibri" pitchFamily="34" charset="-120"/>
              </a:rPr>
              <a:t>A generator cycling between single outputs can keep V low forever without ever covering p_data. The equilibrium the theorem describes is never reached, and the objective cannot tell.</a:t>
            </a:r>
            <a:endParaRPr lang="en-US" sz="1200" dirty="0"/>
          </a:p>
        </p:txBody>
      </p:sp>
      <p:sp>
        <p:nvSpPr>
          <p:cNvPr id="25" name="Shape 23"/>
          <p:cNvSpPr/>
          <p:nvPr/>
        </p:nvSpPr>
        <p:spPr>
          <a:xfrm>
            <a:off x="640080" y="5806440"/>
            <a:ext cx="10911535" cy="566928"/>
          </a:xfrm>
          <a:prstGeom prst="roundRect">
            <a:avLst>
              <a:gd name="adj" fmla="val 12903"/>
            </a:avLst>
          </a:prstGeom>
          <a:solidFill>
            <a:srgbClr val="0E131B"/>
          </a:solidFill>
          <a:ln w="12700">
            <a:solidFill>
              <a:srgbClr val="0E131B"/>
            </a:solidFill>
            <a:prstDash val="solid"/>
          </a:ln>
        </p:spPr>
        <p:txBody>
          <a:bodyPr/>
          <a:lstStyle/>
          <a:p>
            <a:endParaRPr lang="en-US"/>
          </a:p>
        </p:txBody>
      </p:sp>
      <p:sp>
        <p:nvSpPr>
          <p:cNvPr id="26" name="Text 24"/>
          <p:cNvSpPr txBox="1"/>
          <p:nvPr/>
        </p:nvSpPr>
        <p:spPr>
          <a:xfrm>
            <a:off x="1005840" y="5971032"/>
            <a:ext cx="10424160" cy="237744"/>
          </a:xfrm>
          <a:prstGeom prst="rect">
            <a:avLst/>
          </a:prstGeom>
          <a:noFill/>
          <a:ln/>
        </p:spPr>
        <p:txBody>
          <a:bodyPr wrap="square" lIns="0" tIns="0" rIns="0" bIns="0" rtlCol="0" anchor="ctr"/>
          <a:lstStyle/>
          <a:p>
            <a:pPr marL="0" indent="0">
              <a:lnSpc>
                <a:spcPts val="2000"/>
              </a:lnSpc>
              <a:buNone/>
            </a:pPr>
            <a:r>
              <a:rPr lang="en-US" sz="1500" dirty="0">
                <a:solidFill>
                  <a:srgbClr val="F2F4F8"/>
                </a:solidFill>
                <a:latin typeface="Cambria" pitchFamily="34" charset="0"/>
                <a:ea typeface="Cambria" pitchFamily="34" charset="-122"/>
                <a:cs typeface="Cambria" pitchFamily="34" charset="-120"/>
              </a:rPr>
              <a:t>Every step is the optimiser doing exactly what last week’s mathematics says it should. There is no malfunction anywhere in this list.</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9C3D6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THE DEEPER REASON</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0E131B"/>
                </a:solidFill>
                <a:latin typeface="Cambria" pitchFamily="34" charset="0"/>
                <a:ea typeface="Cambria" pitchFamily="34" charset="-122"/>
                <a:cs typeface="Cambria" pitchFamily="34" charset="-120"/>
              </a:rPr>
              <a:t>Two ways to be close, and only one of them keeps the modes</a:t>
            </a:r>
            <a:endParaRPr lang="en-US" sz="2900" dirty="0"/>
          </a:p>
        </p:txBody>
      </p:sp>
      <p:sp>
        <p:nvSpPr>
          <p:cNvPr id="5" name="Shape 3"/>
          <p:cNvSpPr/>
          <p:nvPr/>
        </p:nvSpPr>
        <p:spPr>
          <a:xfrm>
            <a:off x="3017520" y="1298448"/>
            <a:ext cx="7040880" cy="868680"/>
          </a:xfrm>
          <a:prstGeom prst="roundRect">
            <a:avLst>
              <a:gd name="adj" fmla="val 6316"/>
            </a:avLst>
          </a:prstGeom>
          <a:solidFill>
            <a:srgbClr val="F5F7FA"/>
          </a:solidFill>
          <a:ln w="12700">
            <a:solidFill>
              <a:srgbClr val="CBD5E1"/>
            </a:solidFill>
            <a:prstDash val="solid"/>
          </a:ln>
        </p:spPr>
        <p:txBody>
          <a:bodyPr/>
          <a:lstStyle/>
          <a:p>
            <a:endParaRPr lang="en-US"/>
          </a:p>
        </p:txBody>
      </p:sp>
      <p:sp>
        <p:nvSpPr>
          <p:cNvPr id="6" name="Text 4"/>
          <p:cNvSpPr txBox="1"/>
          <p:nvPr/>
        </p:nvSpPr>
        <p:spPr>
          <a:xfrm>
            <a:off x="3127248" y="1298448"/>
            <a:ext cx="6821424" cy="868680"/>
          </a:xfrm>
          <a:prstGeom prst="rect">
            <a:avLst/>
          </a:prstGeom>
          <a:noFill/>
          <a:ln/>
        </p:spPr>
        <p:txBody>
          <a:bodyPr wrap="square" lIns="0" tIns="0" rIns="0" bIns="0" rtlCol="0" anchor="ctr"/>
          <a:lstStyle/>
          <a:p>
            <a:pPr marL="0" indent="0" algn="ctr">
              <a:buNone/>
            </a:pPr>
            <a:r>
              <a:rPr lang="en-US" sz="2300" dirty="0">
                <a:solidFill>
                  <a:srgbClr val="0E131B"/>
                </a:solidFill>
                <a:latin typeface="Cambria Math" pitchFamily="34" charset="0"/>
                <a:ea typeface="Cambria Math" pitchFamily="34" charset="-122"/>
                <a:cs typeface="Cambria Math" pitchFamily="34" charset="-120"/>
              </a:rPr>
              <a:t>KL(p ‖ q) = ∑ p(x) log ( p(x) / q(x) )</a:t>
            </a:r>
            <a:endParaRPr lang="en-US" sz="2300" dirty="0"/>
          </a:p>
        </p:txBody>
      </p:sp>
      <p:sp>
        <p:nvSpPr>
          <p:cNvPr id="7" name="Text 5"/>
          <p:cNvSpPr txBox="1"/>
          <p:nvPr/>
        </p:nvSpPr>
        <p:spPr>
          <a:xfrm>
            <a:off x="640080" y="2240280"/>
            <a:ext cx="10881360" cy="310896"/>
          </a:xfrm>
          <a:prstGeom prst="rect">
            <a:avLst/>
          </a:prstGeom>
          <a:noFill/>
          <a:ln/>
        </p:spPr>
        <p:txBody>
          <a:bodyPr wrap="square" lIns="0" tIns="0" rIns="0" bIns="0" rtlCol="0" anchor="ctr"/>
          <a:lstStyle/>
          <a:p>
            <a:pPr marL="0" indent="0" algn="ctr">
              <a:buNone/>
            </a:pPr>
            <a:r>
              <a:rPr lang="en-US" sz="1200" i="1" dirty="0">
                <a:solidFill>
                  <a:srgbClr val="5B6474"/>
                </a:solidFill>
                <a:latin typeface="Calibri" pitchFamily="34" charset="0"/>
                <a:ea typeface="Calibri" pitchFamily="34" charset="-122"/>
                <a:cs typeface="Calibri" pitchFamily="34" charset="-120"/>
              </a:rPr>
              <a:t>“how much you lose by using q when the truth is p” — and it is not symmetric: KL(p‖q) ≠ KL(q‖p)</a:t>
            </a:r>
            <a:endParaRPr lang="en-US" sz="1200" dirty="0"/>
          </a:p>
        </p:txBody>
      </p:sp>
      <p:sp>
        <p:nvSpPr>
          <p:cNvPr id="8" name="Shape 6"/>
          <p:cNvSpPr/>
          <p:nvPr/>
        </p:nvSpPr>
        <p:spPr>
          <a:xfrm>
            <a:off x="640080" y="2651760"/>
            <a:ext cx="5295748" cy="3108960"/>
          </a:xfrm>
          <a:prstGeom prst="roundRect">
            <a:avLst>
              <a:gd name="adj" fmla="val 2353"/>
            </a:avLst>
          </a:prstGeom>
          <a:solidFill>
            <a:srgbClr val="E6F2EF"/>
          </a:solidFill>
          <a:ln w="12700">
            <a:solidFill>
              <a:srgbClr val="E6F2EF"/>
            </a:solidFill>
            <a:prstDash val="solid"/>
          </a:ln>
        </p:spPr>
        <p:txBody>
          <a:bodyPr/>
          <a:lstStyle/>
          <a:p>
            <a:endParaRPr lang="en-US"/>
          </a:p>
        </p:txBody>
      </p:sp>
      <p:sp>
        <p:nvSpPr>
          <p:cNvPr id="9" name="Text 7"/>
          <p:cNvSpPr txBox="1"/>
          <p:nvPr/>
        </p:nvSpPr>
        <p:spPr>
          <a:xfrm>
            <a:off x="914400" y="2816352"/>
            <a:ext cx="4747108" cy="365760"/>
          </a:xfrm>
          <a:prstGeom prst="rect">
            <a:avLst/>
          </a:prstGeom>
          <a:noFill/>
          <a:ln/>
        </p:spPr>
        <p:txBody>
          <a:bodyPr wrap="square" lIns="0" tIns="0" rIns="0" bIns="0" rtlCol="0" anchor="ctr"/>
          <a:lstStyle/>
          <a:p>
            <a:pPr marL="0" indent="0">
              <a:buNone/>
            </a:pPr>
            <a:r>
              <a:rPr lang="en-US" sz="1700" b="1" dirty="0">
                <a:solidFill>
                  <a:srgbClr val="1F7A6B"/>
                </a:solidFill>
                <a:latin typeface="Cambria Math" pitchFamily="34" charset="0"/>
                <a:ea typeface="Cambria Math" pitchFamily="34" charset="-122"/>
                <a:cs typeface="Cambria Math" pitchFamily="34" charset="-120"/>
              </a:rPr>
              <a:t>KL(p_data ‖ p_g)  — forward</a:t>
            </a:r>
            <a:endParaRPr lang="en-US" sz="1700" dirty="0"/>
          </a:p>
        </p:txBody>
      </p:sp>
      <p:sp>
        <p:nvSpPr>
          <p:cNvPr id="10" name="Shape 8"/>
          <p:cNvSpPr/>
          <p:nvPr/>
        </p:nvSpPr>
        <p:spPr>
          <a:xfrm>
            <a:off x="960120" y="4206240"/>
            <a:ext cx="4655668" cy="16459"/>
          </a:xfrm>
          <a:prstGeom prst="rect">
            <a:avLst/>
          </a:prstGeom>
          <a:solidFill>
            <a:srgbClr val="B6BECB"/>
          </a:solidFill>
          <a:ln/>
        </p:spPr>
        <p:txBody>
          <a:bodyPr/>
          <a:lstStyle/>
          <a:p>
            <a:endParaRPr lang="en-US"/>
          </a:p>
        </p:txBody>
      </p:sp>
      <p:sp>
        <p:nvSpPr>
          <p:cNvPr id="11" name="Shape 9"/>
          <p:cNvSpPr/>
          <p:nvPr/>
        </p:nvSpPr>
        <p:spPr>
          <a:xfrm>
            <a:off x="1036930" y="4191116"/>
            <a:ext cx="29261" cy="29261"/>
          </a:xfrm>
          <a:prstGeom prst="ellipse">
            <a:avLst/>
          </a:prstGeom>
          <a:solidFill>
            <a:srgbClr val="A8B0BC"/>
          </a:solidFill>
          <a:ln/>
        </p:spPr>
        <p:txBody>
          <a:bodyPr/>
          <a:lstStyle/>
          <a:p>
            <a:endParaRPr lang="en-US"/>
          </a:p>
        </p:txBody>
      </p:sp>
      <p:sp>
        <p:nvSpPr>
          <p:cNvPr id="12" name="Shape 10"/>
          <p:cNvSpPr/>
          <p:nvPr/>
        </p:nvSpPr>
        <p:spPr>
          <a:xfrm>
            <a:off x="1092839" y="4190554"/>
            <a:ext cx="29261" cy="29261"/>
          </a:xfrm>
          <a:prstGeom prst="ellipse">
            <a:avLst/>
          </a:prstGeom>
          <a:solidFill>
            <a:srgbClr val="A8B0BC"/>
          </a:solidFill>
          <a:ln/>
        </p:spPr>
        <p:txBody>
          <a:bodyPr/>
          <a:lstStyle/>
          <a:p>
            <a:endParaRPr lang="en-US"/>
          </a:p>
        </p:txBody>
      </p:sp>
      <p:sp>
        <p:nvSpPr>
          <p:cNvPr id="13" name="Shape 11"/>
          <p:cNvSpPr/>
          <p:nvPr/>
        </p:nvSpPr>
        <p:spPr>
          <a:xfrm>
            <a:off x="1148749" y="4189443"/>
            <a:ext cx="29261" cy="29261"/>
          </a:xfrm>
          <a:prstGeom prst="ellipse">
            <a:avLst/>
          </a:prstGeom>
          <a:solidFill>
            <a:srgbClr val="A8B0BC"/>
          </a:solidFill>
          <a:ln/>
        </p:spPr>
        <p:txBody>
          <a:bodyPr/>
          <a:lstStyle/>
          <a:p>
            <a:endParaRPr lang="en-US"/>
          </a:p>
        </p:txBody>
      </p:sp>
      <p:sp>
        <p:nvSpPr>
          <p:cNvPr id="14" name="Shape 12"/>
          <p:cNvSpPr/>
          <p:nvPr/>
        </p:nvSpPr>
        <p:spPr>
          <a:xfrm>
            <a:off x="1204659" y="4187338"/>
            <a:ext cx="29261" cy="29261"/>
          </a:xfrm>
          <a:prstGeom prst="ellipse">
            <a:avLst/>
          </a:prstGeom>
          <a:solidFill>
            <a:srgbClr val="A8B0BC"/>
          </a:solidFill>
          <a:ln/>
        </p:spPr>
        <p:txBody>
          <a:bodyPr/>
          <a:lstStyle/>
          <a:p>
            <a:endParaRPr lang="en-US"/>
          </a:p>
        </p:txBody>
      </p:sp>
      <p:sp>
        <p:nvSpPr>
          <p:cNvPr id="15" name="Shape 13"/>
          <p:cNvSpPr/>
          <p:nvPr/>
        </p:nvSpPr>
        <p:spPr>
          <a:xfrm>
            <a:off x="1260569" y="4183524"/>
            <a:ext cx="29261" cy="29261"/>
          </a:xfrm>
          <a:prstGeom prst="ellipse">
            <a:avLst/>
          </a:prstGeom>
          <a:solidFill>
            <a:srgbClr val="A8B0BC"/>
          </a:solidFill>
          <a:ln/>
        </p:spPr>
        <p:txBody>
          <a:bodyPr/>
          <a:lstStyle/>
          <a:p>
            <a:endParaRPr lang="en-US"/>
          </a:p>
        </p:txBody>
      </p:sp>
      <p:sp>
        <p:nvSpPr>
          <p:cNvPr id="16" name="Shape 14"/>
          <p:cNvSpPr/>
          <p:nvPr/>
        </p:nvSpPr>
        <p:spPr>
          <a:xfrm>
            <a:off x="1316479" y="4176913"/>
            <a:ext cx="29261" cy="29261"/>
          </a:xfrm>
          <a:prstGeom prst="ellipse">
            <a:avLst/>
          </a:prstGeom>
          <a:solidFill>
            <a:srgbClr val="A8B0BC"/>
          </a:solidFill>
          <a:ln/>
        </p:spPr>
        <p:txBody>
          <a:bodyPr/>
          <a:lstStyle/>
          <a:p>
            <a:endParaRPr lang="en-US"/>
          </a:p>
        </p:txBody>
      </p:sp>
      <p:sp>
        <p:nvSpPr>
          <p:cNvPr id="17" name="Shape 15"/>
          <p:cNvSpPr/>
          <p:nvPr/>
        </p:nvSpPr>
        <p:spPr>
          <a:xfrm>
            <a:off x="1372389" y="4165960"/>
            <a:ext cx="29261" cy="29261"/>
          </a:xfrm>
          <a:prstGeom prst="ellipse">
            <a:avLst/>
          </a:prstGeom>
          <a:solidFill>
            <a:srgbClr val="A8B0BC"/>
          </a:solidFill>
          <a:ln/>
        </p:spPr>
        <p:txBody>
          <a:bodyPr/>
          <a:lstStyle/>
          <a:p>
            <a:endParaRPr lang="en-US"/>
          </a:p>
        </p:txBody>
      </p:sp>
      <p:sp>
        <p:nvSpPr>
          <p:cNvPr id="18" name="Shape 16"/>
          <p:cNvSpPr/>
          <p:nvPr/>
        </p:nvSpPr>
        <p:spPr>
          <a:xfrm>
            <a:off x="1428299" y="4148629"/>
            <a:ext cx="29261" cy="29261"/>
          </a:xfrm>
          <a:prstGeom prst="ellipse">
            <a:avLst/>
          </a:prstGeom>
          <a:solidFill>
            <a:srgbClr val="A8B0BC"/>
          </a:solidFill>
          <a:ln/>
        </p:spPr>
        <p:txBody>
          <a:bodyPr/>
          <a:lstStyle/>
          <a:p>
            <a:endParaRPr lang="en-US"/>
          </a:p>
        </p:txBody>
      </p:sp>
      <p:sp>
        <p:nvSpPr>
          <p:cNvPr id="19" name="Shape 17"/>
          <p:cNvSpPr/>
          <p:nvPr/>
        </p:nvSpPr>
        <p:spPr>
          <a:xfrm>
            <a:off x="1484208" y="4122457"/>
            <a:ext cx="29261" cy="29261"/>
          </a:xfrm>
          <a:prstGeom prst="ellipse">
            <a:avLst/>
          </a:prstGeom>
          <a:solidFill>
            <a:srgbClr val="A8B0BC"/>
          </a:solidFill>
          <a:ln/>
        </p:spPr>
        <p:txBody>
          <a:bodyPr/>
          <a:lstStyle/>
          <a:p>
            <a:endParaRPr lang="en-US"/>
          </a:p>
        </p:txBody>
      </p:sp>
      <p:sp>
        <p:nvSpPr>
          <p:cNvPr id="20" name="Shape 18"/>
          <p:cNvSpPr/>
          <p:nvPr/>
        </p:nvSpPr>
        <p:spPr>
          <a:xfrm>
            <a:off x="1540118" y="4084779"/>
            <a:ext cx="29261" cy="29261"/>
          </a:xfrm>
          <a:prstGeom prst="ellipse">
            <a:avLst/>
          </a:prstGeom>
          <a:solidFill>
            <a:srgbClr val="A8B0BC"/>
          </a:solidFill>
          <a:ln/>
        </p:spPr>
        <p:txBody>
          <a:bodyPr/>
          <a:lstStyle/>
          <a:p>
            <a:endParaRPr lang="en-US"/>
          </a:p>
        </p:txBody>
      </p:sp>
      <p:sp>
        <p:nvSpPr>
          <p:cNvPr id="21" name="Shape 19"/>
          <p:cNvSpPr/>
          <p:nvPr/>
        </p:nvSpPr>
        <p:spPr>
          <a:xfrm>
            <a:off x="1596028" y="4033145"/>
            <a:ext cx="29261" cy="29261"/>
          </a:xfrm>
          <a:prstGeom prst="ellipse">
            <a:avLst/>
          </a:prstGeom>
          <a:solidFill>
            <a:srgbClr val="A8B0BC"/>
          </a:solidFill>
          <a:ln/>
        </p:spPr>
        <p:txBody>
          <a:bodyPr/>
          <a:lstStyle/>
          <a:p>
            <a:endParaRPr lang="en-US"/>
          </a:p>
        </p:txBody>
      </p:sp>
      <p:sp>
        <p:nvSpPr>
          <p:cNvPr id="22" name="Shape 20"/>
          <p:cNvSpPr/>
          <p:nvPr/>
        </p:nvSpPr>
        <p:spPr>
          <a:xfrm>
            <a:off x="1651938" y="3965919"/>
            <a:ext cx="29261" cy="29261"/>
          </a:xfrm>
          <a:prstGeom prst="ellipse">
            <a:avLst/>
          </a:prstGeom>
          <a:solidFill>
            <a:srgbClr val="A8B0BC"/>
          </a:solidFill>
          <a:ln/>
        </p:spPr>
        <p:txBody>
          <a:bodyPr/>
          <a:lstStyle/>
          <a:p>
            <a:endParaRPr lang="en-US"/>
          </a:p>
        </p:txBody>
      </p:sp>
      <p:sp>
        <p:nvSpPr>
          <p:cNvPr id="23" name="Shape 21"/>
          <p:cNvSpPr/>
          <p:nvPr/>
        </p:nvSpPr>
        <p:spPr>
          <a:xfrm>
            <a:off x="1707848" y="3882976"/>
            <a:ext cx="29261" cy="29261"/>
          </a:xfrm>
          <a:prstGeom prst="ellipse">
            <a:avLst/>
          </a:prstGeom>
          <a:solidFill>
            <a:srgbClr val="A8B0BC"/>
          </a:solidFill>
          <a:ln/>
        </p:spPr>
        <p:txBody>
          <a:bodyPr/>
          <a:lstStyle/>
          <a:p>
            <a:endParaRPr lang="en-US"/>
          </a:p>
        </p:txBody>
      </p:sp>
      <p:sp>
        <p:nvSpPr>
          <p:cNvPr id="24" name="Shape 22"/>
          <p:cNvSpPr/>
          <p:nvPr/>
        </p:nvSpPr>
        <p:spPr>
          <a:xfrm>
            <a:off x="1763758" y="3786363"/>
            <a:ext cx="29261" cy="29261"/>
          </a:xfrm>
          <a:prstGeom prst="ellipse">
            <a:avLst/>
          </a:prstGeom>
          <a:solidFill>
            <a:srgbClr val="A8B0BC"/>
          </a:solidFill>
          <a:ln/>
        </p:spPr>
        <p:txBody>
          <a:bodyPr/>
          <a:lstStyle/>
          <a:p>
            <a:endParaRPr lang="en-US"/>
          </a:p>
        </p:txBody>
      </p:sp>
      <p:sp>
        <p:nvSpPr>
          <p:cNvPr id="25" name="Shape 23"/>
          <p:cNvSpPr/>
          <p:nvPr/>
        </p:nvSpPr>
        <p:spPr>
          <a:xfrm>
            <a:off x="1819667" y="3680703"/>
            <a:ext cx="29261" cy="29261"/>
          </a:xfrm>
          <a:prstGeom prst="ellipse">
            <a:avLst/>
          </a:prstGeom>
          <a:solidFill>
            <a:srgbClr val="A8B0BC"/>
          </a:solidFill>
          <a:ln/>
        </p:spPr>
        <p:txBody>
          <a:bodyPr/>
          <a:lstStyle/>
          <a:p>
            <a:endParaRPr lang="en-US"/>
          </a:p>
        </p:txBody>
      </p:sp>
      <p:sp>
        <p:nvSpPr>
          <p:cNvPr id="26" name="Shape 24"/>
          <p:cNvSpPr/>
          <p:nvPr/>
        </p:nvSpPr>
        <p:spPr>
          <a:xfrm>
            <a:off x="1875577" y="3573150"/>
            <a:ext cx="29261" cy="29261"/>
          </a:xfrm>
          <a:prstGeom prst="ellipse">
            <a:avLst/>
          </a:prstGeom>
          <a:solidFill>
            <a:srgbClr val="A8B0BC"/>
          </a:solidFill>
          <a:ln/>
        </p:spPr>
        <p:txBody>
          <a:bodyPr/>
          <a:lstStyle/>
          <a:p>
            <a:endParaRPr lang="en-US"/>
          </a:p>
        </p:txBody>
      </p:sp>
      <p:sp>
        <p:nvSpPr>
          <p:cNvPr id="27" name="Shape 25"/>
          <p:cNvSpPr/>
          <p:nvPr/>
        </p:nvSpPr>
        <p:spPr>
          <a:xfrm>
            <a:off x="1931487" y="3472777"/>
            <a:ext cx="29261" cy="29261"/>
          </a:xfrm>
          <a:prstGeom prst="ellipse">
            <a:avLst/>
          </a:prstGeom>
          <a:solidFill>
            <a:srgbClr val="A8B0BC"/>
          </a:solidFill>
          <a:ln/>
        </p:spPr>
        <p:txBody>
          <a:bodyPr/>
          <a:lstStyle/>
          <a:p>
            <a:endParaRPr lang="en-US"/>
          </a:p>
        </p:txBody>
      </p:sp>
      <p:sp>
        <p:nvSpPr>
          <p:cNvPr id="28" name="Shape 26"/>
          <p:cNvSpPr/>
          <p:nvPr/>
        </p:nvSpPr>
        <p:spPr>
          <a:xfrm>
            <a:off x="1987397" y="3389394"/>
            <a:ext cx="29261" cy="29261"/>
          </a:xfrm>
          <a:prstGeom prst="ellipse">
            <a:avLst/>
          </a:prstGeom>
          <a:solidFill>
            <a:srgbClr val="A8B0BC"/>
          </a:solidFill>
          <a:ln/>
        </p:spPr>
        <p:txBody>
          <a:bodyPr/>
          <a:lstStyle/>
          <a:p>
            <a:endParaRPr lang="en-US"/>
          </a:p>
        </p:txBody>
      </p:sp>
      <p:sp>
        <p:nvSpPr>
          <p:cNvPr id="29" name="Shape 27"/>
          <p:cNvSpPr/>
          <p:nvPr/>
        </p:nvSpPr>
        <p:spPr>
          <a:xfrm>
            <a:off x="2043307" y="3332000"/>
            <a:ext cx="29261" cy="29261"/>
          </a:xfrm>
          <a:prstGeom prst="ellipse">
            <a:avLst/>
          </a:prstGeom>
          <a:solidFill>
            <a:srgbClr val="A8B0BC"/>
          </a:solidFill>
          <a:ln/>
        </p:spPr>
        <p:txBody>
          <a:bodyPr/>
          <a:lstStyle/>
          <a:p>
            <a:endParaRPr lang="en-US"/>
          </a:p>
        </p:txBody>
      </p:sp>
      <p:sp>
        <p:nvSpPr>
          <p:cNvPr id="30" name="Shape 28"/>
          <p:cNvSpPr/>
          <p:nvPr/>
        </p:nvSpPr>
        <p:spPr>
          <a:xfrm>
            <a:off x="2099217" y="3307190"/>
            <a:ext cx="29261" cy="29261"/>
          </a:xfrm>
          <a:prstGeom prst="ellipse">
            <a:avLst/>
          </a:prstGeom>
          <a:solidFill>
            <a:srgbClr val="A8B0BC"/>
          </a:solidFill>
          <a:ln/>
        </p:spPr>
        <p:txBody>
          <a:bodyPr/>
          <a:lstStyle/>
          <a:p>
            <a:endParaRPr lang="en-US"/>
          </a:p>
        </p:txBody>
      </p:sp>
      <p:sp>
        <p:nvSpPr>
          <p:cNvPr id="31" name="Shape 29"/>
          <p:cNvSpPr/>
          <p:nvPr/>
        </p:nvSpPr>
        <p:spPr>
          <a:xfrm>
            <a:off x="2155126" y="3317909"/>
            <a:ext cx="29261" cy="29261"/>
          </a:xfrm>
          <a:prstGeom prst="ellipse">
            <a:avLst/>
          </a:prstGeom>
          <a:solidFill>
            <a:srgbClr val="A8B0BC"/>
          </a:solidFill>
          <a:ln/>
        </p:spPr>
        <p:txBody>
          <a:bodyPr/>
          <a:lstStyle/>
          <a:p>
            <a:endParaRPr lang="en-US"/>
          </a:p>
        </p:txBody>
      </p:sp>
      <p:sp>
        <p:nvSpPr>
          <p:cNvPr id="32" name="Shape 30"/>
          <p:cNvSpPr/>
          <p:nvPr/>
        </p:nvSpPr>
        <p:spPr>
          <a:xfrm>
            <a:off x="2211036" y="3362879"/>
            <a:ext cx="29261" cy="29261"/>
          </a:xfrm>
          <a:prstGeom prst="ellipse">
            <a:avLst/>
          </a:prstGeom>
          <a:solidFill>
            <a:srgbClr val="A8B0BC"/>
          </a:solidFill>
          <a:ln/>
        </p:spPr>
        <p:txBody>
          <a:bodyPr/>
          <a:lstStyle/>
          <a:p>
            <a:endParaRPr lang="en-US"/>
          </a:p>
        </p:txBody>
      </p:sp>
      <p:sp>
        <p:nvSpPr>
          <p:cNvPr id="33" name="Shape 31"/>
          <p:cNvSpPr/>
          <p:nvPr/>
        </p:nvSpPr>
        <p:spPr>
          <a:xfrm>
            <a:off x="2266946" y="3436845"/>
            <a:ext cx="29261" cy="29261"/>
          </a:xfrm>
          <a:prstGeom prst="ellipse">
            <a:avLst/>
          </a:prstGeom>
          <a:solidFill>
            <a:srgbClr val="A8B0BC"/>
          </a:solidFill>
          <a:ln/>
        </p:spPr>
        <p:txBody>
          <a:bodyPr/>
          <a:lstStyle/>
          <a:p>
            <a:endParaRPr lang="en-US"/>
          </a:p>
        </p:txBody>
      </p:sp>
      <p:sp>
        <p:nvSpPr>
          <p:cNvPr id="34" name="Shape 32"/>
          <p:cNvSpPr/>
          <p:nvPr/>
        </p:nvSpPr>
        <p:spPr>
          <a:xfrm>
            <a:off x="2322856" y="3531591"/>
            <a:ext cx="29261" cy="29261"/>
          </a:xfrm>
          <a:prstGeom prst="ellipse">
            <a:avLst/>
          </a:prstGeom>
          <a:solidFill>
            <a:srgbClr val="A8B0BC"/>
          </a:solidFill>
          <a:ln/>
        </p:spPr>
        <p:txBody>
          <a:bodyPr/>
          <a:lstStyle/>
          <a:p>
            <a:endParaRPr lang="en-US"/>
          </a:p>
        </p:txBody>
      </p:sp>
      <p:sp>
        <p:nvSpPr>
          <p:cNvPr id="35" name="Shape 33"/>
          <p:cNvSpPr/>
          <p:nvPr/>
        </p:nvSpPr>
        <p:spPr>
          <a:xfrm>
            <a:off x="2378766" y="3637433"/>
            <a:ext cx="29261" cy="29261"/>
          </a:xfrm>
          <a:prstGeom prst="ellipse">
            <a:avLst/>
          </a:prstGeom>
          <a:solidFill>
            <a:srgbClr val="A8B0BC"/>
          </a:solidFill>
          <a:ln/>
        </p:spPr>
        <p:txBody>
          <a:bodyPr/>
          <a:lstStyle/>
          <a:p>
            <a:endParaRPr lang="en-US"/>
          </a:p>
        </p:txBody>
      </p:sp>
      <p:sp>
        <p:nvSpPr>
          <p:cNvPr id="36" name="Shape 34"/>
          <p:cNvSpPr/>
          <p:nvPr/>
        </p:nvSpPr>
        <p:spPr>
          <a:xfrm>
            <a:off x="2434676" y="3744837"/>
            <a:ext cx="29261" cy="29261"/>
          </a:xfrm>
          <a:prstGeom prst="ellipse">
            <a:avLst/>
          </a:prstGeom>
          <a:solidFill>
            <a:srgbClr val="A8B0BC"/>
          </a:solidFill>
          <a:ln/>
        </p:spPr>
        <p:txBody>
          <a:bodyPr/>
          <a:lstStyle/>
          <a:p>
            <a:endParaRPr lang="en-US"/>
          </a:p>
        </p:txBody>
      </p:sp>
      <p:sp>
        <p:nvSpPr>
          <p:cNvPr id="37" name="Shape 35"/>
          <p:cNvSpPr/>
          <p:nvPr/>
        </p:nvSpPr>
        <p:spPr>
          <a:xfrm>
            <a:off x="2490586" y="3845772"/>
            <a:ext cx="29261" cy="29261"/>
          </a:xfrm>
          <a:prstGeom prst="ellipse">
            <a:avLst/>
          </a:prstGeom>
          <a:solidFill>
            <a:srgbClr val="A8B0BC"/>
          </a:solidFill>
          <a:ln/>
        </p:spPr>
        <p:txBody>
          <a:bodyPr/>
          <a:lstStyle/>
          <a:p>
            <a:endParaRPr lang="en-US"/>
          </a:p>
        </p:txBody>
      </p:sp>
      <p:sp>
        <p:nvSpPr>
          <p:cNvPr id="38" name="Shape 36"/>
          <p:cNvSpPr/>
          <p:nvPr/>
        </p:nvSpPr>
        <p:spPr>
          <a:xfrm>
            <a:off x="2546495" y="3934567"/>
            <a:ext cx="29261" cy="29261"/>
          </a:xfrm>
          <a:prstGeom prst="ellipse">
            <a:avLst/>
          </a:prstGeom>
          <a:solidFill>
            <a:srgbClr val="A8B0BC"/>
          </a:solidFill>
          <a:ln/>
        </p:spPr>
        <p:txBody>
          <a:bodyPr/>
          <a:lstStyle/>
          <a:p>
            <a:endParaRPr lang="en-US"/>
          </a:p>
        </p:txBody>
      </p:sp>
      <p:sp>
        <p:nvSpPr>
          <p:cNvPr id="39" name="Shape 37"/>
          <p:cNvSpPr/>
          <p:nvPr/>
        </p:nvSpPr>
        <p:spPr>
          <a:xfrm>
            <a:off x="2602405" y="4008174"/>
            <a:ext cx="29261" cy="29261"/>
          </a:xfrm>
          <a:prstGeom prst="ellipse">
            <a:avLst/>
          </a:prstGeom>
          <a:solidFill>
            <a:srgbClr val="A8B0BC"/>
          </a:solidFill>
          <a:ln/>
        </p:spPr>
        <p:txBody>
          <a:bodyPr/>
          <a:lstStyle/>
          <a:p>
            <a:endParaRPr lang="en-US"/>
          </a:p>
        </p:txBody>
      </p:sp>
      <p:sp>
        <p:nvSpPr>
          <p:cNvPr id="40" name="Shape 38"/>
          <p:cNvSpPr/>
          <p:nvPr/>
        </p:nvSpPr>
        <p:spPr>
          <a:xfrm>
            <a:off x="2658315" y="4065917"/>
            <a:ext cx="29261" cy="29261"/>
          </a:xfrm>
          <a:prstGeom prst="ellipse">
            <a:avLst/>
          </a:prstGeom>
          <a:solidFill>
            <a:srgbClr val="A8B0BC"/>
          </a:solidFill>
          <a:ln/>
        </p:spPr>
        <p:txBody>
          <a:bodyPr/>
          <a:lstStyle/>
          <a:p>
            <a:endParaRPr lang="en-US"/>
          </a:p>
        </p:txBody>
      </p:sp>
      <p:sp>
        <p:nvSpPr>
          <p:cNvPr id="41" name="Shape 39"/>
          <p:cNvSpPr/>
          <p:nvPr/>
        </p:nvSpPr>
        <p:spPr>
          <a:xfrm>
            <a:off x="2714225" y="4108914"/>
            <a:ext cx="29261" cy="29261"/>
          </a:xfrm>
          <a:prstGeom prst="ellipse">
            <a:avLst/>
          </a:prstGeom>
          <a:solidFill>
            <a:srgbClr val="A8B0BC"/>
          </a:solidFill>
          <a:ln/>
        </p:spPr>
        <p:txBody>
          <a:bodyPr/>
          <a:lstStyle/>
          <a:p>
            <a:endParaRPr lang="en-US"/>
          </a:p>
        </p:txBody>
      </p:sp>
      <p:sp>
        <p:nvSpPr>
          <p:cNvPr id="42" name="Shape 40"/>
          <p:cNvSpPr/>
          <p:nvPr/>
        </p:nvSpPr>
        <p:spPr>
          <a:xfrm>
            <a:off x="2770135" y="4139370"/>
            <a:ext cx="29261" cy="29261"/>
          </a:xfrm>
          <a:prstGeom prst="ellipse">
            <a:avLst/>
          </a:prstGeom>
          <a:solidFill>
            <a:srgbClr val="A8B0BC"/>
          </a:solidFill>
          <a:ln/>
        </p:spPr>
        <p:txBody>
          <a:bodyPr/>
          <a:lstStyle/>
          <a:p>
            <a:endParaRPr lang="en-US"/>
          </a:p>
        </p:txBody>
      </p:sp>
      <p:sp>
        <p:nvSpPr>
          <p:cNvPr id="43" name="Shape 41"/>
          <p:cNvSpPr/>
          <p:nvPr/>
        </p:nvSpPr>
        <p:spPr>
          <a:xfrm>
            <a:off x="2826045" y="4159923"/>
            <a:ext cx="29261" cy="29261"/>
          </a:xfrm>
          <a:prstGeom prst="ellipse">
            <a:avLst/>
          </a:prstGeom>
          <a:solidFill>
            <a:srgbClr val="A8B0BC"/>
          </a:solidFill>
          <a:ln/>
        </p:spPr>
        <p:txBody>
          <a:bodyPr/>
          <a:lstStyle/>
          <a:p>
            <a:endParaRPr lang="en-US"/>
          </a:p>
        </p:txBody>
      </p:sp>
      <p:sp>
        <p:nvSpPr>
          <p:cNvPr id="44" name="Shape 42"/>
          <p:cNvSpPr/>
          <p:nvPr/>
        </p:nvSpPr>
        <p:spPr>
          <a:xfrm>
            <a:off x="2881954" y="4173156"/>
            <a:ext cx="29261" cy="29261"/>
          </a:xfrm>
          <a:prstGeom prst="ellipse">
            <a:avLst/>
          </a:prstGeom>
          <a:solidFill>
            <a:srgbClr val="A8B0BC"/>
          </a:solidFill>
          <a:ln/>
        </p:spPr>
        <p:txBody>
          <a:bodyPr/>
          <a:lstStyle/>
          <a:p>
            <a:endParaRPr lang="en-US"/>
          </a:p>
        </p:txBody>
      </p:sp>
      <p:sp>
        <p:nvSpPr>
          <p:cNvPr id="45" name="Shape 43"/>
          <p:cNvSpPr/>
          <p:nvPr/>
        </p:nvSpPr>
        <p:spPr>
          <a:xfrm>
            <a:off x="2937864" y="4181290"/>
            <a:ext cx="29261" cy="29261"/>
          </a:xfrm>
          <a:prstGeom prst="ellipse">
            <a:avLst/>
          </a:prstGeom>
          <a:solidFill>
            <a:srgbClr val="A8B0BC"/>
          </a:solidFill>
          <a:ln/>
        </p:spPr>
        <p:txBody>
          <a:bodyPr/>
          <a:lstStyle/>
          <a:p>
            <a:endParaRPr lang="en-US"/>
          </a:p>
        </p:txBody>
      </p:sp>
      <p:sp>
        <p:nvSpPr>
          <p:cNvPr id="46" name="Shape 44"/>
          <p:cNvSpPr/>
          <p:nvPr/>
        </p:nvSpPr>
        <p:spPr>
          <a:xfrm>
            <a:off x="2993774" y="4186068"/>
            <a:ext cx="29261" cy="29261"/>
          </a:xfrm>
          <a:prstGeom prst="ellipse">
            <a:avLst/>
          </a:prstGeom>
          <a:solidFill>
            <a:srgbClr val="A8B0BC"/>
          </a:solidFill>
          <a:ln/>
        </p:spPr>
        <p:txBody>
          <a:bodyPr/>
          <a:lstStyle/>
          <a:p>
            <a:endParaRPr lang="en-US"/>
          </a:p>
        </p:txBody>
      </p:sp>
      <p:sp>
        <p:nvSpPr>
          <p:cNvPr id="47" name="Shape 45"/>
          <p:cNvSpPr/>
          <p:nvPr/>
        </p:nvSpPr>
        <p:spPr>
          <a:xfrm>
            <a:off x="3049684" y="4188750"/>
            <a:ext cx="29261" cy="29261"/>
          </a:xfrm>
          <a:prstGeom prst="ellipse">
            <a:avLst/>
          </a:prstGeom>
          <a:solidFill>
            <a:srgbClr val="A8B0BC"/>
          </a:solidFill>
          <a:ln/>
        </p:spPr>
        <p:txBody>
          <a:bodyPr/>
          <a:lstStyle/>
          <a:p>
            <a:endParaRPr lang="en-US"/>
          </a:p>
        </p:txBody>
      </p:sp>
      <p:sp>
        <p:nvSpPr>
          <p:cNvPr id="48" name="Shape 46"/>
          <p:cNvSpPr/>
          <p:nvPr/>
        </p:nvSpPr>
        <p:spPr>
          <a:xfrm>
            <a:off x="3105594" y="4190187"/>
            <a:ext cx="29261" cy="29261"/>
          </a:xfrm>
          <a:prstGeom prst="ellipse">
            <a:avLst/>
          </a:prstGeom>
          <a:solidFill>
            <a:srgbClr val="A8B0BC"/>
          </a:solidFill>
          <a:ln/>
        </p:spPr>
        <p:txBody>
          <a:bodyPr/>
          <a:lstStyle/>
          <a:p>
            <a:endParaRPr lang="en-US"/>
          </a:p>
        </p:txBody>
      </p:sp>
      <p:sp>
        <p:nvSpPr>
          <p:cNvPr id="49" name="Shape 47"/>
          <p:cNvSpPr/>
          <p:nvPr/>
        </p:nvSpPr>
        <p:spPr>
          <a:xfrm>
            <a:off x="3161504" y="4190915"/>
            <a:ext cx="29261" cy="29261"/>
          </a:xfrm>
          <a:prstGeom prst="ellipse">
            <a:avLst/>
          </a:prstGeom>
          <a:solidFill>
            <a:srgbClr val="A8B0BC"/>
          </a:solidFill>
          <a:ln/>
        </p:spPr>
        <p:txBody>
          <a:bodyPr/>
          <a:lstStyle/>
          <a:p>
            <a:endParaRPr lang="en-US"/>
          </a:p>
        </p:txBody>
      </p:sp>
      <p:sp>
        <p:nvSpPr>
          <p:cNvPr id="50" name="Shape 48"/>
          <p:cNvSpPr/>
          <p:nvPr/>
        </p:nvSpPr>
        <p:spPr>
          <a:xfrm>
            <a:off x="3217414" y="4191246"/>
            <a:ext cx="29261" cy="29261"/>
          </a:xfrm>
          <a:prstGeom prst="ellipse">
            <a:avLst/>
          </a:prstGeom>
          <a:solidFill>
            <a:srgbClr val="A8B0BC"/>
          </a:solidFill>
          <a:ln/>
        </p:spPr>
        <p:txBody>
          <a:bodyPr/>
          <a:lstStyle/>
          <a:p>
            <a:endParaRPr lang="en-US"/>
          </a:p>
        </p:txBody>
      </p:sp>
      <p:sp>
        <p:nvSpPr>
          <p:cNvPr id="51" name="Shape 49"/>
          <p:cNvSpPr/>
          <p:nvPr/>
        </p:nvSpPr>
        <p:spPr>
          <a:xfrm>
            <a:off x="3273323" y="4191341"/>
            <a:ext cx="29261" cy="29261"/>
          </a:xfrm>
          <a:prstGeom prst="ellipse">
            <a:avLst/>
          </a:prstGeom>
          <a:solidFill>
            <a:srgbClr val="A8B0BC"/>
          </a:solidFill>
          <a:ln/>
        </p:spPr>
        <p:txBody>
          <a:bodyPr/>
          <a:lstStyle/>
          <a:p>
            <a:endParaRPr lang="en-US"/>
          </a:p>
        </p:txBody>
      </p:sp>
      <p:sp>
        <p:nvSpPr>
          <p:cNvPr id="52" name="Shape 50"/>
          <p:cNvSpPr/>
          <p:nvPr/>
        </p:nvSpPr>
        <p:spPr>
          <a:xfrm>
            <a:off x="3329233" y="4191246"/>
            <a:ext cx="29261" cy="29261"/>
          </a:xfrm>
          <a:prstGeom prst="ellipse">
            <a:avLst/>
          </a:prstGeom>
          <a:solidFill>
            <a:srgbClr val="A8B0BC"/>
          </a:solidFill>
          <a:ln/>
        </p:spPr>
        <p:txBody>
          <a:bodyPr/>
          <a:lstStyle/>
          <a:p>
            <a:endParaRPr lang="en-US"/>
          </a:p>
        </p:txBody>
      </p:sp>
      <p:sp>
        <p:nvSpPr>
          <p:cNvPr id="53" name="Shape 51"/>
          <p:cNvSpPr/>
          <p:nvPr/>
        </p:nvSpPr>
        <p:spPr>
          <a:xfrm>
            <a:off x="3385143" y="4190915"/>
            <a:ext cx="29261" cy="29261"/>
          </a:xfrm>
          <a:prstGeom prst="ellipse">
            <a:avLst/>
          </a:prstGeom>
          <a:solidFill>
            <a:srgbClr val="A8B0BC"/>
          </a:solidFill>
          <a:ln/>
        </p:spPr>
        <p:txBody>
          <a:bodyPr/>
          <a:lstStyle/>
          <a:p>
            <a:endParaRPr lang="en-US"/>
          </a:p>
        </p:txBody>
      </p:sp>
      <p:sp>
        <p:nvSpPr>
          <p:cNvPr id="54" name="Shape 52"/>
          <p:cNvSpPr/>
          <p:nvPr/>
        </p:nvSpPr>
        <p:spPr>
          <a:xfrm>
            <a:off x="3441053" y="4190187"/>
            <a:ext cx="29261" cy="29261"/>
          </a:xfrm>
          <a:prstGeom prst="ellipse">
            <a:avLst/>
          </a:prstGeom>
          <a:solidFill>
            <a:srgbClr val="A8B0BC"/>
          </a:solidFill>
          <a:ln/>
        </p:spPr>
        <p:txBody>
          <a:bodyPr/>
          <a:lstStyle/>
          <a:p>
            <a:endParaRPr lang="en-US"/>
          </a:p>
        </p:txBody>
      </p:sp>
      <p:sp>
        <p:nvSpPr>
          <p:cNvPr id="55" name="Shape 53"/>
          <p:cNvSpPr/>
          <p:nvPr/>
        </p:nvSpPr>
        <p:spPr>
          <a:xfrm>
            <a:off x="3496963" y="4188750"/>
            <a:ext cx="29261" cy="29261"/>
          </a:xfrm>
          <a:prstGeom prst="ellipse">
            <a:avLst/>
          </a:prstGeom>
          <a:solidFill>
            <a:srgbClr val="A8B0BC"/>
          </a:solidFill>
          <a:ln/>
        </p:spPr>
        <p:txBody>
          <a:bodyPr/>
          <a:lstStyle/>
          <a:p>
            <a:endParaRPr lang="en-US"/>
          </a:p>
        </p:txBody>
      </p:sp>
      <p:sp>
        <p:nvSpPr>
          <p:cNvPr id="56" name="Shape 54"/>
          <p:cNvSpPr/>
          <p:nvPr/>
        </p:nvSpPr>
        <p:spPr>
          <a:xfrm>
            <a:off x="3552873" y="4186068"/>
            <a:ext cx="29261" cy="29261"/>
          </a:xfrm>
          <a:prstGeom prst="ellipse">
            <a:avLst/>
          </a:prstGeom>
          <a:solidFill>
            <a:srgbClr val="A8B0BC"/>
          </a:solidFill>
          <a:ln/>
        </p:spPr>
        <p:txBody>
          <a:bodyPr/>
          <a:lstStyle/>
          <a:p>
            <a:endParaRPr lang="en-US"/>
          </a:p>
        </p:txBody>
      </p:sp>
      <p:sp>
        <p:nvSpPr>
          <p:cNvPr id="57" name="Shape 55"/>
          <p:cNvSpPr/>
          <p:nvPr/>
        </p:nvSpPr>
        <p:spPr>
          <a:xfrm>
            <a:off x="3608782" y="4181290"/>
            <a:ext cx="29261" cy="29261"/>
          </a:xfrm>
          <a:prstGeom prst="ellipse">
            <a:avLst/>
          </a:prstGeom>
          <a:solidFill>
            <a:srgbClr val="A8B0BC"/>
          </a:solidFill>
          <a:ln/>
        </p:spPr>
        <p:txBody>
          <a:bodyPr/>
          <a:lstStyle/>
          <a:p>
            <a:endParaRPr lang="en-US"/>
          </a:p>
        </p:txBody>
      </p:sp>
      <p:sp>
        <p:nvSpPr>
          <p:cNvPr id="58" name="Shape 56"/>
          <p:cNvSpPr/>
          <p:nvPr/>
        </p:nvSpPr>
        <p:spPr>
          <a:xfrm>
            <a:off x="3664692" y="4173156"/>
            <a:ext cx="29261" cy="29261"/>
          </a:xfrm>
          <a:prstGeom prst="ellipse">
            <a:avLst/>
          </a:prstGeom>
          <a:solidFill>
            <a:srgbClr val="A8B0BC"/>
          </a:solidFill>
          <a:ln/>
        </p:spPr>
        <p:txBody>
          <a:bodyPr/>
          <a:lstStyle/>
          <a:p>
            <a:endParaRPr lang="en-US"/>
          </a:p>
        </p:txBody>
      </p:sp>
      <p:sp>
        <p:nvSpPr>
          <p:cNvPr id="59" name="Shape 57"/>
          <p:cNvSpPr/>
          <p:nvPr/>
        </p:nvSpPr>
        <p:spPr>
          <a:xfrm>
            <a:off x="3720602" y="4159923"/>
            <a:ext cx="29261" cy="29261"/>
          </a:xfrm>
          <a:prstGeom prst="ellipse">
            <a:avLst/>
          </a:prstGeom>
          <a:solidFill>
            <a:srgbClr val="A8B0BC"/>
          </a:solidFill>
          <a:ln/>
        </p:spPr>
        <p:txBody>
          <a:bodyPr/>
          <a:lstStyle/>
          <a:p>
            <a:endParaRPr lang="en-US"/>
          </a:p>
        </p:txBody>
      </p:sp>
      <p:sp>
        <p:nvSpPr>
          <p:cNvPr id="60" name="Shape 58"/>
          <p:cNvSpPr/>
          <p:nvPr/>
        </p:nvSpPr>
        <p:spPr>
          <a:xfrm>
            <a:off x="3776512" y="4139370"/>
            <a:ext cx="29261" cy="29261"/>
          </a:xfrm>
          <a:prstGeom prst="ellipse">
            <a:avLst/>
          </a:prstGeom>
          <a:solidFill>
            <a:srgbClr val="A8B0BC"/>
          </a:solidFill>
          <a:ln/>
        </p:spPr>
        <p:txBody>
          <a:bodyPr/>
          <a:lstStyle/>
          <a:p>
            <a:endParaRPr lang="en-US"/>
          </a:p>
        </p:txBody>
      </p:sp>
      <p:sp>
        <p:nvSpPr>
          <p:cNvPr id="61" name="Shape 59"/>
          <p:cNvSpPr/>
          <p:nvPr/>
        </p:nvSpPr>
        <p:spPr>
          <a:xfrm>
            <a:off x="3832422" y="4108914"/>
            <a:ext cx="29261" cy="29261"/>
          </a:xfrm>
          <a:prstGeom prst="ellipse">
            <a:avLst/>
          </a:prstGeom>
          <a:solidFill>
            <a:srgbClr val="A8B0BC"/>
          </a:solidFill>
          <a:ln/>
        </p:spPr>
        <p:txBody>
          <a:bodyPr/>
          <a:lstStyle/>
          <a:p>
            <a:endParaRPr lang="en-US"/>
          </a:p>
        </p:txBody>
      </p:sp>
      <p:sp>
        <p:nvSpPr>
          <p:cNvPr id="62" name="Shape 60"/>
          <p:cNvSpPr/>
          <p:nvPr/>
        </p:nvSpPr>
        <p:spPr>
          <a:xfrm>
            <a:off x="3888332" y="4065917"/>
            <a:ext cx="29261" cy="29261"/>
          </a:xfrm>
          <a:prstGeom prst="ellipse">
            <a:avLst/>
          </a:prstGeom>
          <a:solidFill>
            <a:srgbClr val="A8B0BC"/>
          </a:solidFill>
          <a:ln/>
        </p:spPr>
        <p:txBody>
          <a:bodyPr/>
          <a:lstStyle/>
          <a:p>
            <a:endParaRPr lang="en-US"/>
          </a:p>
        </p:txBody>
      </p:sp>
      <p:sp>
        <p:nvSpPr>
          <p:cNvPr id="63" name="Shape 61"/>
          <p:cNvSpPr/>
          <p:nvPr/>
        </p:nvSpPr>
        <p:spPr>
          <a:xfrm>
            <a:off x="3944242" y="4008174"/>
            <a:ext cx="29261" cy="29261"/>
          </a:xfrm>
          <a:prstGeom prst="ellipse">
            <a:avLst/>
          </a:prstGeom>
          <a:solidFill>
            <a:srgbClr val="A8B0BC"/>
          </a:solidFill>
          <a:ln/>
        </p:spPr>
        <p:txBody>
          <a:bodyPr/>
          <a:lstStyle/>
          <a:p>
            <a:endParaRPr lang="en-US"/>
          </a:p>
        </p:txBody>
      </p:sp>
      <p:sp>
        <p:nvSpPr>
          <p:cNvPr id="64" name="Shape 62"/>
          <p:cNvSpPr/>
          <p:nvPr/>
        </p:nvSpPr>
        <p:spPr>
          <a:xfrm>
            <a:off x="4000151" y="3934567"/>
            <a:ext cx="29261" cy="29261"/>
          </a:xfrm>
          <a:prstGeom prst="ellipse">
            <a:avLst/>
          </a:prstGeom>
          <a:solidFill>
            <a:srgbClr val="A8B0BC"/>
          </a:solidFill>
          <a:ln/>
        </p:spPr>
        <p:txBody>
          <a:bodyPr/>
          <a:lstStyle/>
          <a:p>
            <a:endParaRPr lang="en-US"/>
          </a:p>
        </p:txBody>
      </p:sp>
      <p:sp>
        <p:nvSpPr>
          <p:cNvPr id="65" name="Shape 63"/>
          <p:cNvSpPr/>
          <p:nvPr/>
        </p:nvSpPr>
        <p:spPr>
          <a:xfrm>
            <a:off x="4056061" y="3845772"/>
            <a:ext cx="29261" cy="29261"/>
          </a:xfrm>
          <a:prstGeom prst="ellipse">
            <a:avLst/>
          </a:prstGeom>
          <a:solidFill>
            <a:srgbClr val="A8B0BC"/>
          </a:solidFill>
          <a:ln/>
        </p:spPr>
        <p:txBody>
          <a:bodyPr/>
          <a:lstStyle/>
          <a:p>
            <a:endParaRPr lang="en-US"/>
          </a:p>
        </p:txBody>
      </p:sp>
      <p:sp>
        <p:nvSpPr>
          <p:cNvPr id="66" name="Shape 64"/>
          <p:cNvSpPr/>
          <p:nvPr/>
        </p:nvSpPr>
        <p:spPr>
          <a:xfrm>
            <a:off x="4111971" y="3744837"/>
            <a:ext cx="29261" cy="29261"/>
          </a:xfrm>
          <a:prstGeom prst="ellipse">
            <a:avLst/>
          </a:prstGeom>
          <a:solidFill>
            <a:srgbClr val="A8B0BC"/>
          </a:solidFill>
          <a:ln/>
        </p:spPr>
        <p:txBody>
          <a:bodyPr/>
          <a:lstStyle/>
          <a:p>
            <a:endParaRPr lang="en-US"/>
          </a:p>
        </p:txBody>
      </p:sp>
      <p:sp>
        <p:nvSpPr>
          <p:cNvPr id="67" name="Shape 65"/>
          <p:cNvSpPr/>
          <p:nvPr/>
        </p:nvSpPr>
        <p:spPr>
          <a:xfrm>
            <a:off x="4167881" y="3637433"/>
            <a:ext cx="29261" cy="29261"/>
          </a:xfrm>
          <a:prstGeom prst="ellipse">
            <a:avLst/>
          </a:prstGeom>
          <a:solidFill>
            <a:srgbClr val="A8B0BC"/>
          </a:solidFill>
          <a:ln/>
        </p:spPr>
        <p:txBody>
          <a:bodyPr/>
          <a:lstStyle/>
          <a:p>
            <a:endParaRPr lang="en-US"/>
          </a:p>
        </p:txBody>
      </p:sp>
      <p:sp>
        <p:nvSpPr>
          <p:cNvPr id="68" name="Shape 66"/>
          <p:cNvSpPr/>
          <p:nvPr/>
        </p:nvSpPr>
        <p:spPr>
          <a:xfrm>
            <a:off x="4223791" y="3531591"/>
            <a:ext cx="29261" cy="29261"/>
          </a:xfrm>
          <a:prstGeom prst="ellipse">
            <a:avLst/>
          </a:prstGeom>
          <a:solidFill>
            <a:srgbClr val="A8B0BC"/>
          </a:solidFill>
          <a:ln/>
        </p:spPr>
        <p:txBody>
          <a:bodyPr/>
          <a:lstStyle/>
          <a:p>
            <a:endParaRPr lang="en-US"/>
          </a:p>
        </p:txBody>
      </p:sp>
      <p:sp>
        <p:nvSpPr>
          <p:cNvPr id="69" name="Shape 67"/>
          <p:cNvSpPr/>
          <p:nvPr/>
        </p:nvSpPr>
        <p:spPr>
          <a:xfrm>
            <a:off x="4279701" y="3436845"/>
            <a:ext cx="29261" cy="29261"/>
          </a:xfrm>
          <a:prstGeom prst="ellipse">
            <a:avLst/>
          </a:prstGeom>
          <a:solidFill>
            <a:srgbClr val="A8B0BC"/>
          </a:solidFill>
          <a:ln/>
        </p:spPr>
        <p:txBody>
          <a:bodyPr/>
          <a:lstStyle/>
          <a:p>
            <a:endParaRPr lang="en-US"/>
          </a:p>
        </p:txBody>
      </p:sp>
      <p:sp>
        <p:nvSpPr>
          <p:cNvPr id="70" name="Shape 68"/>
          <p:cNvSpPr/>
          <p:nvPr/>
        </p:nvSpPr>
        <p:spPr>
          <a:xfrm>
            <a:off x="4335610" y="3362879"/>
            <a:ext cx="29261" cy="29261"/>
          </a:xfrm>
          <a:prstGeom prst="ellipse">
            <a:avLst/>
          </a:prstGeom>
          <a:solidFill>
            <a:srgbClr val="A8B0BC"/>
          </a:solidFill>
          <a:ln/>
        </p:spPr>
        <p:txBody>
          <a:bodyPr/>
          <a:lstStyle/>
          <a:p>
            <a:endParaRPr lang="en-US"/>
          </a:p>
        </p:txBody>
      </p:sp>
      <p:sp>
        <p:nvSpPr>
          <p:cNvPr id="71" name="Shape 69"/>
          <p:cNvSpPr/>
          <p:nvPr/>
        </p:nvSpPr>
        <p:spPr>
          <a:xfrm>
            <a:off x="4391520" y="3317909"/>
            <a:ext cx="29261" cy="29261"/>
          </a:xfrm>
          <a:prstGeom prst="ellipse">
            <a:avLst/>
          </a:prstGeom>
          <a:solidFill>
            <a:srgbClr val="A8B0BC"/>
          </a:solidFill>
          <a:ln/>
        </p:spPr>
        <p:txBody>
          <a:bodyPr/>
          <a:lstStyle/>
          <a:p>
            <a:endParaRPr lang="en-US"/>
          </a:p>
        </p:txBody>
      </p:sp>
      <p:sp>
        <p:nvSpPr>
          <p:cNvPr id="72" name="Shape 70"/>
          <p:cNvSpPr/>
          <p:nvPr/>
        </p:nvSpPr>
        <p:spPr>
          <a:xfrm>
            <a:off x="4447430" y="3307190"/>
            <a:ext cx="29261" cy="29261"/>
          </a:xfrm>
          <a:prstGeom prst="ellipse">
            <a:avLst/>
          </a:prstGeom>
          <a:solidFill>
            <a:srgbClr val="A8B0BC"/>
          </a:solidFill>
          <a:ln/>
        </p:spPr>
        <p:txBody>
          <a:bodyPr/>
          <a:lstStyle/>
          <a:p>
            <a:endParaRPr lang="en-US"/>
          </a:p>
        </p:txBody>
      </p:sp>
      <p:sp>
        <p:nvSpPr>
          <p:cNvPr id="73" name="Shape 71"/>
          <p:cNvSpPr/>
          <p:nvPr/>
        </p:nvSpPr>
        <p:spPr>
          <a:xfrm>
            <a:off x="4503340" y="3332000"/>
            <a:ext cx="29261" cy="29261"/>
          </a:xfrm>
          <a:prstGeom prst="ellipse">
            <a:avLst/>
          </a:prstGeom>
          <a:solidFill>
            <a:srgbClr val="A8B0BC"/>
          </a:solidFill>
          <a:ln/>
        </p:spPr>
        <p:txBody>
          <a:bodyPr/>
          <a:lstStyle/>
          <a:p>
            <a:endParaRPr lang="en-US"/>
          </a:p>
        </p:txBody>
      </p:sp>
      <p:sp>
        <p:nvSpPr>
          <p:cNvPr id="74" name="Shape 72"/>
          <p:cNvSpPr/>
          <p:nvPr/>
        </p:nvSpPr>
        <p:spPr>
          <a:xfrm>
            <a:off x="4559250" y="3389394"/>
            <a:ext cx="29261" cy="29261"/>
          </a:xfrm>
          <a:prstGeom prst="ellipse">
            <a:avLst/>
          </a:prstGeom>
          <a:solidFill>
            <a:srgbClr val="A8B0BC"/>
          </a:solidFill>
          <a:ln/>
        </p:spPr>
        <p:txBody>
          <a:bodyPr/>
          <a:lstStyle/>
          <a:p>
            <a:endParaRPr lang="en-US"/>
          </a:p>
        </p:txBody>
      </p:sp>
      <p:sp>
        <p:nvSpPr>
          <p:cNvPr id="75" name="Shape 73"/>
          <p:cNvSpPr/>
          <p:nvPr/>
        </p:nvSpPr>
        <p:spPr>
          <a:xfrm>
            <a:off x="4615160" y="3472777"/>
            <a:ext cx="29261" cy="29261"/>
          </a:xfrm>
          <a:prstGeom prst="ellipse">
            <a:avLst/>
          </a:prstGeom>
          <a:solidFill>
            <a:srgbClr val="A8B0BC"/>
          </a:solidFill>
          <a:ln/>
        </p:spPr>
        <p:txBody>
          <a:bodyPr/>
          <a:lstStyle/>
          <a:p>
            <a:endParaRPr lang="en-US"/>
          </a:p>
        </p:txBody>
      </p:sp>
      <p:sp>
        <p:nvSpPr>
          <p:cNvPr id="76" name="Shape 74"/>
          <p:cNvSpPr/>
          <p:nvPr/>
        </p:nvSpPr>
        <p:spPr>
          <a:xfrm>
            <a:off x="4671070" y="3573150"/>
            <a:ext cx="29261" cy="29261"/>
          </a:xfrm>
          <a:prstGeom prst="ellipse">
            <a:avLst/>
          </a:prstGeom>
          <a:solidFill>
            <a:srgbClr val="A8B0BC"/>
          </a:solidFill>
          <a:ln/>
        </p:spPr>
        <p:txBody>
          <a:bodyPr/>
          <a:lstStyle/>
          <a:p>
            <a:endParaRPr lang="en-US"/>
          </a:p>
        </p:txBody>
      </p:sp>
      <p:sp>
        <p:nvSpPr>
          <p:cNvPr id="77" name="Shape 75"/>
          <p:cNvSpPr/>
          <p:nvPr/>
        </p:nvSpPr>
        <p:spPr>
          <a:xfrm>
            <a:off x="4726979" y="3680703"/>
            <a:ext cx="29261" cy="29261"/>
          </a:xfrm>
          <a:prstGeom prst="ellipse">
            <a:avLst/>
          </a:prstGeom>
          <a:solidFill>
            <a:srgbClr val="A8B0BC"/>
          </a:solidFill>
          <a:ln/>
        </p:spPr>
        <p:txBody>
          <a:bodyPr/>
          <a:lstStyle/>
          <a:p>
            <a:endParaRPr lang="en-US"/>
          </a:p>
        </p:txBody>
      </p:sp>
      <p:sp>
        <p:nvSpPr>
          <p:cNvPr id="78" name="Shape 76"/>
          <p:cNvSpPr/>
          <p:nvPr/>
        </p:nvSpPr>
        <p:spPr>
          <a:xfrm>
            <a:off x="4782889" y="3786363"/>
            <a:ext cx="29261" cy="29261"/>
          </a:xfrm>
          <a:prstGeom prst="ellipse">
            <a:avLst/>
          </a:prstGeom>
          <a:solidFill>
            <a:srgbClr val="A8B0BC"/>
          </a:solidFill>
          <a:ln/>
        </p:spPr>
        <p:txBody>
          <a:bodyPr/>
          <a:lstStyle/>
          <a:p>
            <a:endParaRPr lang="en-US"/>
          </a:p>
        </p:txBody>
      </p:sp>
      <p:sp>
        <p:nvSpPr>
          <p:cNvPr id="79" name="Shape 77"/>
          <p:cNvSpPr/>
          <p:nvPr/>
        </p:nvSpPr>
        <p:spPr>
          <a:xfrm>
            <a:off x="4838799" y="3882976"/>
            <a:ext cx="29261" cy="29261"/>
          </a:xfrm>
          <a:prstGeom prst="ellipse">
            <a:avLst/>
          </a:prstGeom>
          <a:solidFill>
            <a:srgbClr val="A8B0BC"/>
          </a:solidFill>
          <a:ln/>
        </p:spPr>
        <p:txBody>
          <a:bodyPr/>
          <a:lstStyle/>
          <a:p>
            <a:endParaRPr lang="en-US"/>
          </a:p>
        </p:txBody>
      </p:sp>
      <p:sp>
        <p:nvSpPr>
          <p:cNvPr id="80" name="Shape 78"/>
          <p:cNvSpPr/>
          <p:nvPr/>
        </p:nvSpPr>
        <p:spPr>
          <a:xfrm>
            <a:off x="4894709" y="3965919"/>
            <a:ext cx="29261" cy="29261"/>
          </a:xfrm>
          <a:prstGeom prst="ellipse">
            <a:avLst/>
          </a:prstGeom>
          <a:solidFill>
            <a:srgbClr val="A8B0BC"/>
          </a:solidFill>
          <a:ln/>
        </p:spPr>
        <p:txBody>
          <a:bodyPr/>
          <a:lstStyle/>
          <a:p>
            <a:endParaRPr lang="en-US"/>
          </a:p>
        </p:txBody>
      </p:sp>
      <p:sp>
        <p:nvSpPr>
          <p:cNvPr id="81" name="Shape 79"/>
          <p:cNvSpPr/>
          <p:nvPr/>
        </p:nvSpPr>
        <p:spPr>
          <a:xfrm>
            <a:off x="4950619" y="4033145"/>
            <a:ext cx="29261" cy="29261"/>
          </a:xfrm>
          <a:prstGeom prst="ellipse">
            <a:avLst/>
          </a:prstGeom>
          <a:solidFill>
            <a:srgbClr val="A8B0BC"/>
          </a:solidFill>
          <a:ln/>
        </p:spPr>
        <p:txBody>
          <a:bodyPr/>
          <a:lstStyle/>
          <a:p>
            <a:endParaRPr lang="en-US"/>
          </a:p>
        </p:txBody>
      </p:sp>
      <p:sp>
        <p:nvSpPr>
          <p:cNvPr id="82" name="Shape 80"/>
          <p:cNvSpPr/>
          <p:nvPr/>
        </p:nvSpPr>
        <p:spPr>
          <a:xfrm>
            <a:off x="5006529" y="4084779"/>
            <a:ext cx="29261" cy="29261"/>
          </a:xfrm>
          <a:prstGeom prst="ellipse">
            <a:avLst/>
          </a:prstGeom>
          <a:solidFill>
            <a:srgbClr val="A8B0BC"/>
          </a:solidFill>
          <a:ln/>
        </p:spPr>
        <p:txBody>
          <a:bodyPr/>
          <a:lstStyle/>
          <a:p>
            <a:endParaRPr lang="en-US"/>
          </a:p>
        </p:txBody>
      </p:sp>
      <p:sp>
        <p:nvSpPr>
          <p:cNvPr id="83" name="Shape 81"/>
          <p:cNvSpPr/>
          <p:nvPr/>
        </p:nvSpPr>
        <p:spPr>
          <a:xfrm>
            <a:off x="5062438" y="4122457"/>
            <a:ext cx="29261" cy="29261"/>
          </a:xfrm>
          <a:prstGeom prst="ellipse">
            <a:avLst/>
          </a:prstGeom>
          <a:solidFill>
            <a:srgbClr val="A8B0BC"/>
          </a:solidFill>
          <a:ln/>
        </p:spPr>
        <p:txBody>
          <a:bodyPr/>
          <a:lstStyle/>
          <a:p>
            <a:endParaRPr lang="en-US"/>
          </a:p>
        </p:txBody>
      </p:sp>
      <p:sp>
        <p:nvSpPr>
          <p:cNvPr id="84" name="Shape 82"/>
          <p:cNvSpPr/>
          <p:nvPr/>
        </p:nvSpPr>
        <p:spPr>
          <a:xfrm>
            <a:off x="5118348" y="4148629"/>
            <a:ext cx="29261" cy="29261"/>
          </a:xfrm>
          <a:prstGeom prst="ellipse">
            <a:avLst/>
          </a:prstGeom>
          <a:solidFill>
            <a:srgbClr val="A8B0BC"/>
          </a:solidFill>
          <a:ln/>
        </p:spPr>
        <p:txBody>
          <a:bodyPr/>
          <a:lstStyle/>
          <a:p>
            <a:endParaRPr lang="en-US"/>
          </a:p>
        </p:txBody>
      </p:sp>
      <p:sp>
        <p:nvSpPr>
          <p:cNvPr id="85" name="Shape 83"/>
          <p:cNvSpPr/>
          <p:nvPr/>
        </p:nvSpPr>
        <p:spPr>
          <a:xfrm>
            <a:off x="5174258" y="4165960"/>
            <a:ext cx="29261" cy="29261"/>
          </a:xfrm>
          <a:prstGeom prst="ellipse">
            <a:avLst/>
          </a:prstGeom>
          <a:solidFill>
            <a:srgbClr val="A8B0BC"/>
          </a:solidFill>
          <a:ln/>
        </p:spPr>
        <p:txBody>
          <a:bodyPr/>
          <a:lstStyle/>
          <a:p>
            <a:endParaRPr lang="en-US"/>
          </a:p>
        </p:txBody>
      </p:sp>
      <p:sp>
        <p:nvSpPr>
          <p:cNvPr id="86" name="Shape 84"/>
          <p:cNvSpPr/>
          <p:nvPr/>
        </p:nvSpPr>
        <p:spPr>
          <a:xfrm>
            <a:off x="5230168" y="4176913"/>
            <a:ext cx="29261" cy="29261"/>
          </a:xfrm>
          <a:prstGeom prst="ellipse">
            <a:avLst/>
          </a:prstGeom>
          <a:solidFill>
            <a:srgbClr val="A8B0BC"/>
          </a:solidFill>
          <a:ln/>
        </p:spPr>
        <p:txBody>
          <a:bodyPr/>
          <a:lstStyle/>
          <a:p>
            <a:endParaRPr lang="en-US"/>
          </a:p>
        </p:txBody>
      </p:sp>
      <p:sp>
        <p:nvSpPr>
          <p:cNvPr id="87" name="Shape 85"/>
          <p:cNvSpPr/>
          <p:nvPr/>
        </p:nvSpPr>
        <p:spPr>
          <a:xfrm>
            <a:off x="5286078" y="4183524"/>
            <a:ext cx="29261" cy="29261"/>
          </a:xfrm>
          <a:prstGeom prst="ellipse">
            <a:avLst/>
          </a:prstGeom>
          <a:solidFill>
            <a:srgbClr val="A8B0BC"/>
          </a:solidFill>
          <a:ln/>
        </p:spPr>
        <p:txBody>
          <a:bodyPr/>
          <a:lstStyle/>
          <a:p>
            <a:endParaRPr lang="en-US"/>
          </a:p>
        </p:txBody>
      </p:sp>
      <p:sp>
        <p:nvSpPr>
          <p:cNvPr id="88" name="Shape 86"/>
          <p:cNvSpPr/>
          <p:nvPr/>
        </p:nvSpPr>
        <p:spPr>
          <a:xfrm>
            <a:off x="5341988" y="4187338"/>
            <a:ext cx="29261" cy="29261"/>
          </a:xfrm>
          <a:prstGeom prst="ellipse">
            <a:avLst/>
          </a:prstGeom>
          <a:solidFill>
            <a:srgbClr val="A8B0BC"/>
          </a:solidFill>
          <a:ln/>
        </p:spPr>
        <p:txBody>
          <a:bodyPr/>
          <a:lstStyle/>
          <a:p>
            <a:endParaRPr lang="en-US"/>
          </a:p>
        </p:txBody>
      </p:sp>
      <p:sp>
        <p:nvSpPr>
          <p:cNvPr id="89" name="Shape 87"/>
          <p:cNvSpPr/>
          <p:nvPr/>
        </p:nvSpPr>
        <p:spPr>
          <a:xfrm>
            <a:off x="5397898" y="4189443"/>
            <a:ext cx="29261" cy="29261"/>
          </a:xfrm>
          <a:prstGeom prst="ellipse">
            <a:avLst/>
          </a:prstGeom>
          <a:solidFill>
            <a:srgbClr val="A8B0BC"/>
          </a:solidFill>
          <a:ln/>
        </p:spPr>
        <p:txBody>
          <a:bodyPr/>
          <a:lstStyle/>
          <a:p>
            <a:endParaRPr lang="en-US"/>
          </a:p>
        </p:txBody>
      </p:sp>
      <p:sp>
        <p:nvSpPr>
          <p:cNvPr id="90" name="Shape 88"/>
          <p:cNvSpPr/>
          <p:nvPr/>
        </p:nvSpPr>
        <p:spPr>
          <a:xfrm>
            <a:off x="5453807" y="4190554"/>
            <a:ext cx="29261" cy="29261"/>
          </a:xfrm>
          <a:prstGeom prst="ellipse">
            <a:avLst/>
          </a:prstGeom>
          <a:solidFill>
            <a:srgbClr val="A8B0BC"/>
          </a:solidFill>
          <a:ln/>
        </p:spPr>
        <p:txBody>
          <a:bodyPr/>
          <a:lstStyle/>
          <a:p>
            <a:endParaRPr lang="en-US"/>
          </a:p>
        </p:txBody>
      </p:sp>
      <p:sp>
        <p:nvSpPr>
          <p:cNvPr id="91" name="Shape 89"/>
          <p:cNvSpPr/>
          <p:nvPr/>
        </p:nvSpPr>
        <p:spPr>
          <a:xfrm>
            <a:off x="5509717" y="4191116"/>
            <a:ext cx="29261" cy="29261"/>
          </a:xfrm>
          <a:prstGeom prst="ellipse">
            <a:avLst/>
          </a:prstGeom>
          <a:solidFill>
            <a:srgbClr val="A8B0BC"/>
          </a:solidFill>
          <a:ln/>
        </p:spPr>
        <p:txBody>
          <a:bodyPr/>
          <a:lstStyle/>
          <a:p>
            <a:endParaRPr lang="en-US"/>
          </a:p>
        </p:txBody>
      </p:sp>
      <p:sp>
        <p:nvSpPr>
          <p:cNvPr id="92" name="Shape 90"/>
          <p:cNvSpPr/>
          <p:nvPr/>
        </p:nvSpPr>
        <p:spPr>
          <a:xfrm>
            <a:off x="1026414" y="4085806"/>
            <a:ext cx="50292" cy="50292"/>
          </a:xfrm>
          <a:prstGeom prst="ellipse">
            <a:avLst/>
          </a:prstGeom>
          <a:solidFill>
            <a:srgbClr val="1F7A6B"/>
          </a:solidFill>
          <a:ln/>
        </p:spPr>
        <p:txBody>
          <a:bodyPr/>
          <a:lstStyle/>
          <a:p>
            <a:endParaRPr lang="en-US"/>
          </a:p>
        </p:txBody>
      </p:sp>
      <p:sp>
        <p:nvSpPr>
          <p:cNvPr id="93" name="Shape 91"/>
          <p:cNvSpPr/>
          <p:nvPr/>
        </p:nvSpPr>
        <p:spPr>
          <a:xfrm>
            <a:off x="1100960" y="4072457"/>
            <a:ext cx="50292" cy="50292"/>
          </a:xfrm>
          <a:prstGeom prst="ellipse">
            <a:avLst/>
          </a:prstGeom>
          <a:solidFill>
            <a:srgbClr val="1F7A6B"/>
          </a:solidFill>
          <a:ln/>
        </p:spPr>
        <p:txBody>
          <a:bodyPr/>
          <a:lstStyle/>
          <a:p>
            <a:endParaRPr lang="en-US"/>
          </a:p>
        </p:txBody>
      </p:sp>
      <p:sp>
        <p:nvSpPr>
          <p:cNvPr id="94" name="Shape 92"/>
          <p:cNvSpPr/>
          <p:nvPr/>
        </p:nvSpPr>
        <p:spPr>
          <a:xfrm>
            <a:off x="1175507" y="4057787"/>
            <a:ext cx="50292" cy="50292"/>
          </a:xfrm>
          <a:prstGeom prst="ellipse">
            <a:avLst/>
          </a:prstGeom>
          <a:solidFill>
            <a:srgbClr val="1F7A6B"/>
          </a:solidFill>
          <a:ln/>
        </p:spPr>
        <p:txBody>
          <a:bodyPr/>
          <a:lstStyle/>
          <a:p>
            <a:endParaRPr lang="en-US"/>
          </a:p>
        </p:txBody>
      </p:sp>
      <p:sp>
        <p:nvSpPr>
          <p:cNvPr id="95" name="Shape 93"/>
          <p:cNvSpPr/>
          <p:nvPr/>
        </p:nvSpPr>
        <p:spPr>
          <a:xfrm>
            <a:off x="1250053" y="4041756"/>
            <a:ext cx="50292" cy="50292"/>
          </a:xfrm>
          <a:prstGeom prst="ellipse">
            <a:avLst/>
          </a:prstGeom>
          <a:solidFill>
            <a:srgbClr val="1F7A6B"/>
          </a:solidFill>
          <a:ln/>
        </p:spPr>
        <p:txBody>
          <a:bodyPr/>
          <a:lstStyle/>
          <a:p>
            <a:endParaRPr lang="en-US"/>
          </a:p>
        </p:txBody>
      </p:sp>
      <p:sp>
        <p:nvSpPr>
          <p:cNvPr id="96" name="Shape 94"/>
          <p:cNvSpPr/>
          <p:nvPr/>
        </p:nvSpPr>
        <p:spPr>
          <a:xfrm>
            <a:off x="1324600" y="4024339"/>
            <a:ext cx="50292" cy="50292"/>
          </a:xfrm>
          <a:prstGeom prst="ellipse">
            <a:avLst/>
          </a:prstGeom>
          <a:solidFill>
            <a:srgbClr val="1F7A6B"/>
          </a:solidFill>
          <a:ln/>
        </p:spPr>
        <p:txBody>
          <a:bodyPr/>
          <a:lstStyle/>
          <a:p>
            <a:endParaRPr lang="en-US"/>
          </a:p>
        </p:txBody>
      </p:sp>
      <p:sp>
        <p:nvSpPr>
          <p:cNvPr id="97" name="Shape 95"/>
          <p:cNvSpPr/>
          <p:nvPr/>
        </p:nvSpPr>
        <p:spPr>
          <a:xfrm>
            <a:off x="1399146" y="4005528"/>
            <a:ext cx="50292" cy="50292"/>
          </a:xfrm>
          <a:prstGeom prst="ellipse">
            <a:avLst/>
          </a:prstGeom>
          <a:solidFill>
            <a:srgbClr val="1F7A6B"/>
          </a:solidFill>
          <a:ln/>
        </p:spPr>
        <p:txBody>
          <a:bodyPr/>
          <a:lstStyle/>
          <a:p>
            <a:endParaRPr lang="en-US"/>
          </a:p>
        </p:txBody>
      </p:sp>
      <p:sp>
        <p:nvSpPr>
          <p:cNvPr id="98" name="Shape 96"/>
          <p:cNvSpPr/>
          <p:nvPr/>
        </p:nvSpPr>
        <p:spPr>
          <a:xfrm>
            <a:off x="1473693" y="3985331"/>
            <a:ext cx="50292" cy="50292"/>
          </a:xfrm>
          <a:prstGeom prst="ellipse">
            <a:avLst/>
          </a:prstGeom>
          <a:solidFill>
            <a:srgbClr val="1F7A6B"/>
          </a:solidFill>
          <a:ln/>
        </p:spPr>
        <p:txBody>
          <a:bodyPr/>
          <a:lstStyle/>
          <a:p>
            <a:endParaRPr lang="en-US"/>
          </a:p>
        </p:txBody>
      </p:sp>
      <p:sp>
        <p:nvSpPr>
          <p:cNvPr id="99" name="Shape 97"/>
          <p:cNvSpPr/>
          <p:nvPr/>
        </p:nvSpPr>
        <p:spPr>
          <a:xfrm>
            <a:off x="1548239" y="3963779"/>
            <a:ext cx="50292" cy="50292"/>
          </a:xfrm>
          <a:prstGeom prst="ellipse">
            <a:avLst/>
          </a:prstGeom>
          <a:solidFill>
            <a:srgbClr val="1F7A6B"/>
          </a:solidFill>
          <a:ln/>
        </p:spPr>
        <p:txBody>
          <a:bodyPr/>
          <a:lstStyle/>
          <a:p>
            <a:endParaRPr lang="en-US"/>
          </a:p>
        </p:txBody>
      </p:sp>
      <p:sp>
        <p:nvSpPr>
          <p:cNvPr id="100" name="Shape 98"/>
          <p:cNvSpPr/>
          <p:nvPr/>
        </p:nvSpPr>
        <p:spPr>
          <a:xfrm>
            <a:off x="1622786" y="3940924"/>
            <a:ext cx="50292" cy="50292"/>
          </a:xfrm>
          <a:prstGeom prst="ellipse">
            <a:avLst/>
          </a:prstGeom>
          <a:solidFill>
            <a:srgbClr val="1F7A6B"/>
          </a:solidFill>
          <a:ln/>
        </p:spPr>
        <p:txBody>
          <a:bodyPr/>
          <a:lstStyle/>
          <a:p>
            <a:endParaRPr lang="en-US"/>
          </a:p>
        </p:txBody>
      </p:sp>
      <p:sp>
        <p:nvSpPr>
          <p:cNvPr id="101" name="Shape 99"/>
          <p:cNvSpPr/>
          <p:nvPr/>
        </p:nvSpPr>
        <p:spPr>
          <a:xfrm>
            <a:off x="1697332" y="3916842"/>
            <a:ext cx="50292" cy="50292"/>
          </a:xfrm>
          <a:prstGeom prst="ellipse">
            <a:avLst/>
          </a:prstGeom>
          <a:solidFill>
            <a:srgbClr val="1F7A6B"/>
          </a:solidFill>
          <a:ln/>
        </p:spPr>
        <p:txBody>
          <a:bodyPr/>
          <a:lstStyle/>
          <a:p>
            <a:endParaRPr lang="en-US"/>
          </a:p>
        </p:txBody>
      </p:sp>
      <p:sp>
        <p:nvSpPr>
          <p:cNvPr id="102" name="Shape 100"/>
          <p:cNvSpPr/>
          <p:nvPr/>
        </p:nvSpPr>
        <p:spPr>
          <a:xfrm>
            <a:off x="1771879" y="3891635"/>
            <a:ext cx="50292" cy="50292"/>
          </a:xfrm>
          <a:prstGeom prst="ellipse">
            <a:avLst/>
          </a:prstGeom>
          <a:solidFill>
            <a:srgbClr val="1F7A6B"/>
          </a:solidFill>
          <a:ln/>
        </p:spPr>
        <p:txBody>
          <a:bodyPr/>
          <a:lstStyle/>
          <a:p>
            <a:endParaRPr lang="en-US"/>
          </a:p>
        </p:txBody>
      </p:sp>
      <p:sp>
        <p:nvSpPr>
          <p:cNvPr id="103" name="Shape 101"/>
          <p:cNvSpPr/>
          <p:nvPr/>
        </p:nvSpPr>
        <p:spPr>
          <a:xfrm>
            <a:off x="1846425" y="3865429"/>
            <a:ext cx="50292" cy="50292"/>
          </a:xfrm>
          <a:prstGeom prst="ellipse">
            <a:avLst/>
          </a:prstGeom>
          <a:solidFill>
            <a:srgbClr val="1F7A6B"/>
          </a:solidFill>
          <a:ln/>
        </p:spPr>
        <p:txBody>
          <a:bodyPr/>
          <a:lstStyle/>
          <a:p>
            <a:endParaRPr lang="en-US"/>
          </a:p>
        </p:txBody>
      </p:sp>
      <p:sp>
        <p:nvSpPr>
          <p:cNvPr id="104" name="Shape 102"/>
          <p:cNvSpPr/>
          <p:nvPr/>
        </p:nvSpPr>
        <p:spPr>
          <a:xfrm>
            <a:off x="1920972" y="3838378"/>
            <a:ext cx="50292" cy="50292"/>
          </a:xfrm>
          <a:prstGeom prst="ellipse">
            <a:avLst/>
          </a:prstGeom>
          <a:solidFill>
            <a:srgbClr val="1F7A6B"/>
          </a:solidFill>
          <a:ln/>
        </p:spPr>
        <p:txBody>
          <a:bodyPr/>
          <a:lstStyle/>
          <a:p>
            <a:endParaRPr lang="en-US"/>
          </a:p>
        </p:txBody>
      </p:sp>
      <p:sp>
        <p:nvSpPr>
          <p:cNvPr id="105" name="Shape 103"/>
          <p:cNvSpPr/>
          <p:nvPr/>
        </p:nvSpPr>
        <p:spPr>
          <a:xfrm>
            <a:off x="1995518" y="3810658"/>
            <a:ext cx="50292" cy="50292"/>
          </a:xfrm>
          <a:prstGeom prst="ellipse">
            <a:avLst/>
          </a:prstGeom>
          <a:solidFill>
            <a:srgbClr val="1F7A6B"/>
          </a:solidFill>
          <a:ln/>
        </p:spPr>
        <p:txBody>
          <a:bodyPr/>
          <a:lstStyle/>
          <a:p>
            <a:endParaRPr lang="en-US"/>
          </a:p>
        </p:txBody>
      </p:sp>
      <p:sp>
        <p:nvSpPr>
          <p:cNvPr id="106" name="Shape 104"/>
          <p:cNvSpPr/>
          <p:nvPr/>
        </p:nvSpPr>
        <p:spPr>
          <a:xfrm>
            <a:off x="2070064" y="3782472"/>
            <a:ext cx="50292" cy="50292"/>
          </a:xfrm>
          <a:prstGeom prst="ellipse">
            <a:avLst/>
          </a:prstGeom>
          <a:solidFill>
            <a:srgbClr val="1F7A6B"/>
          </a:solidFill>
          <a:ln/>
        </p:spPr>
        <p:txBody>
          <a:bodyPr/>
          <a:lstStyle/>
          <a:p>
            <a:endParaRPr lang="en-US"/>
          </a:p>
        </p:txBody>
      </p:sp>
      <p:sp>
        <p:nvSpPr>
          <p:cNvPr id="107" name="Shape 105"/>
          <p:cNvSpPr/>
          <p:nvPr/>
        </p:nvSpPr>
        <p:spPr>
          <a:xfrm>
            <a:off x="2144611" y="3754043"/>
            <a:ext cx="50292" cy="50292"/>
          </a:xfrm>
          <a:prstGeom prst="ellipse">
            <a:avLst/>
          </a:prstGeom>
          <a:solidFill>
            <a:srgbClr val="1F7A6B"/>
          </a:solidFill>
          <a:ln/>
        </p:spPr>
        <p:txBody>
          <a:bodyPr/>
          <a:lstStyle/>
          <a:p>
            <a:endParaRPr lang="en-US"/>
          </a:p>
        </p:txBody>
      </p:sp>
      <p:sp>
        <p:nvSpPr>
          <p:cNvPr id="108" name="Shape 106"/>
          <p:cNvSpPr/>
          <p:nvPr/>
        </p:nvSpPr>
        <p:spPr>
          <a:xfrm>
            <a:off x="2219157" y="3725616"/>
            <a:ext cx="50292" cy="50292"/>
          </a:xfrm>
          <a:prstGeom prst="ellipse">
            <a:avLst/>
          </a:prstGeom>
          <a:solidFill>
            <a:srgbClr val="1F7A6B"/>
          </a:solidFill>
          <a:ln/>
        </p:spPr>
        <p:txBody>
          <a:bodyPr/>
          <a:lstStyle/>
          <a:p>
            <a:endParaRPr lang="en-US"/>
          </a:p>
        </p:txBody>
      </p:sp>
      <p:sp>
        <p:nvSpPr>
          <p:cNvPr id="109" name="Shape 107"/>
          <p:cNvSpPr/>
          <p:nvPr/>
        </p:nvSpPr>
        <p:spPr>
          <a:xfrm>
            <a:off x="2293704" y="3697451"/>
            <a:ext cx="50292" cy="50292"/>
          </a:xfrm>
          <a:prstGeom prst="ellipse">
            <a:avLst/>
          </a:prstGeom>
          <a:solidFill>
            <a:srgbClr val="1F7A6B"/>
          </a:solidFill>
          <a:ln/>
        </p:spPr>
        <p:txBody>
          <a:bodyPr/>
          <a:lstStyle/>
          <a:p>
            <a:endParaRPr lang="en-US"/>
          </a:p>
        </p:txBody>
      </p:sp>
      <p:sp>
        <p:nvSpPr>
          <p:cNvPr id="110" name="Shape 108"/>
          <p:cNvSpPr/>
          <p:nvPr/>
        </p:nvSpPr>
        <p:spPr>
          <a:xfrm>
            <a:off x="2368250" y="3669821"/>
            <a:ext cx="50292" cy="50292"/>
          </a:xfrm>
          <a:prstGeom prst="ellipse">
            <a:avLst/>
          </a:prstGeom>
          <a:solidFill>
            <a:srgbClr val="1F7A6B"/>
          </a:solidFill>
          <a:ln/>
        </p:spPr>
        <p:txBody>
          <a:bodyPr/>
          <a:lstStyle/>
          <a:p>
            <a:endParaRPr lang="en-US"/>
          </a:p>
        </p:txBody>
      </p:sp>
      <p:sp>
        <p:nvSpPr>
          <p:cNvPr id="111" name="Shape 109"/>
          <p:cNvSpPr/>
          <p:nvPr/>
        </p:nvSpPr>
        <p:spPr>
          <a:xfrm>
            <a:off x="2442797" y="3643010"/>
            <a:ext cx="50292" cy="50292"/>
          </a:xfrm>
          <a:prstGeom prst="ellipse">
            <a:avLst/>
          </a:prstGeom>
          <a:solidFill>
            <a:srgbClr val="1F7A6B"/>
          </a:solidFill>
          <a:ln/>
        </p:spPr>
        <p:txBody>
          <a:bodyPr/>
          <a:lstStyle/>
          <a:p>
            <a:endParaRPr lang="en-US"/>
          </a:p>
        </p:txBody>
      </p:sp>
      <p:sp>
        <p:nvSpPr>
          <p:cNvPr id="112" name="Shape 110"/>
          <p:cNvSpPr/>
          <p:nvPr/>
        </p:nvSpPr>
        <p:spPr>
          <a:xfrm>
            <a:off x="2517343" y="3617304"/>
            <a:ext cx="50292" cy="50292"/>
          </a:xfrm>
          <a:prstGeom prst="ellipse">
            <a:avLst/>
          </a:prstGeom>
          <a:solidFill>
            <a:srgbClr val="1F7A6B"/>
          </a:solidFill>
          <a:ln/>
        </p:spPr>
        <p:txBody>
          <a:bodyPr/>
          <a:lstStyle/>
          <a:p>
            <a:endParaRPr lang="en-US"/>
          </a:p>
        </p:txBody>
      </p:sp>
      <p:sp>
        <p:nvSpPr>
          <p:cNvPr id="113" name="Shape 111"/>
          <p:cNvSpPr/>
          <p:nvPr/>
        </p:nvSpPr>
        <p:spPr>
          <a:xfrm>
            <a:off x="2591890" y="3592990"/>
            <a:ext cx="50292" cy="50292"/>
          </a:xfrm>
          <a:prstGeom prst="ellipse">
            <a:avLst/>
          </a:prstGeom>
          <a:solidFill>
            <a:srgbClr val="1F7A6B"/>
          </a:solidFill>
          <a:ln/>
        </p:spPr>
        <p:txBody>
          <a:bodyPr/>
          <a:lstStyle/>
          <a:p>
            <a:endParaRPr lang="en-US"/>
          </a:p>
        </p:txBody>
      </p:sp>
      <p:sp>
        <p:nvSpPr>
          <p:cNvPr id="114" name="Shape 112"/>
          <p:cNvSpPr/>
          <p:nvPr/>
        </p:nvSpPr>
        <p:spPr>
          <a:xfrm>
            <a:off x="2666436" y="3570348"/>
            <a:ext cx="50292" cy="50292"/>
          </a:xfrm>
          <a:prstGeom prst="ellipse">
            <a:avLst/>
          </a:prstGeom>
          <a:solidFill>
            <a:srgbClr val="1F7A6B"/>
          </a:solidFill>
          <a:ln/>
        </p:spPr>
        <p:txBody>
          <a:bodyPr/>
          <a:lstStyle/>
          <a:p>
            <a:endParaRPr lang="en-US"/>
          </a:p>
        </p:txBody>
      </p:sp>
      <p:sp>
        <p:nvSpPr>
          <p:cNvPr id="115" name="Shape 113"/>
          <p:cNvSpPr/>
          <p:nvPr/>
        </p:nvSpPr>
        <p:spPr>
          <a:xfrm>
            <a:off x="2740983" y="3549647"/>
            <a:ext cx="50292" cy="50292"/>
          </a:xfrm>
          <a:prstGeom prst="ellipse">
            <a:avLst/>
          </a:prstGeom>
          <a:solidFill>
            <a:srgbClr val="1F7A6B"/>
          </a:solidFill>
          <a:ln/>
        </p:spPr>
        <p:txBody>
          <a:bodyPr/>
          <a:lstStyle/>
          <a:p>
            <a:endParaRPr lang="en-US"/>
          </a:p>
        </p:txBody>
      </p:sp>
      <p:sp>
        <p:nvSpPr>
          <p:cNvPr id="116" name="Shape 114"/>
          <p:cNvSpPr/>
          <p:nvPr/>
        </p:nvSpPr>
        <p:spPr>
          <a:xfrm>
            <a:off x="2815529" y="3531139"/>
            <a:ext cx="50292" cy="50292"/>
          </a:xfrm>
          <a:prstGeom prst="ellipse">
            <a:avLst/>
          </a:prstGeom>
          <a:solidFill>
            <a:srgbClr val="1F7A6B"/>
          </a:solidFill>
          <a:ln/>
        </p:spPr>
        <p:txBody>
          <a:bodyPr/>
          <a:lstStyle/>
          <a:p>
            <a:endParaRPr lang="en-US"/>
          </a:p>
        </p:txBody>
      </p:sp>
      <p:sp>
        <p:nvSpPr>
          <p:cNvPr id="117" name="Shape 115"/>
          <p:cNvSpPr/>
          <p:nvPr/>
        </p:nvSpPr>
        <p:spPr>
          <a:xfrm>
            <a:off x="2890076" y="3515055"/>
            <a:ext cx="50292" cy="50292"/>
          </a:xfrm>
          <a:prstGeom prst="ellipse">
            <a:avLst/>
          </a:prstGeom>
          <a:solidFill>
            <a:srgbClr val="1F7A6B"/>
          </a:solidFill>
          <a:ln/>
        </p:spPr>
        <p:txBody>
          <a:bodyPr/>
          <a:lstStyle/>
          <a:p>
            <a:endParaRPr lang="en-US"/>
          </a:p>
        </p:txBody>
      </p:sp>
      <p:sp>
        <p:nvSpPr>
          <p:cNvPr id="118" name="Shape 116"/>
          <p:cNvSpPr/>
          <p:nvPr/>
        </p:nvSpPr>
        <p:spPr>
          <a:xfrm>
            <a:off x="2964622" y="3501600"/>
            <a:ext cx="50292" cy="50292"/>
          </a:xfrm>
          <a:prstGeom prst="ellipse">
            <a:avLst/>
          </a:prstGeom>
          <a:solidFill>
            <a:srgbClr val="1F7A6B"/>
          </a:solidFill>
          <a:ln/>
        </p:spPr>
        <p:txBody>
          <a:bodyPr/>
          <a:lstStyle/>
          <a:p>
            <a:endParaRPr lang="en-US"/>
          </a:p>
        </p:txBody>
      </p:sp>
      <p:sp>
        <p:nvSpPr>
          <p:cNvPr id="119" name="Shape 117"/>
          <p:cNvSpPr/>
          <p:nvPr/>
        </p:nvSpPr>
        <p:spPr>
          <a:xfrm>
            <a:off x="3039168" y="3490948"/>
            <a:ext cx="50292" cy="50292"/>
          </a:xfrm>
          <a:prstGeom prst="ellipse">
            <a:avLst/>
          </a:prstGeom>
          <a:solidFill>
            <a:srgbClr val="1F7A6B"/>
          </a:solidFill>
          <a:ln/>
        </p:spPr>
        <p:txBody>
          <a:bodyPr/>
          <a:lstStyle/>
          <a:p>
            <a:endParaRPr lang="en-US"/>
          </a:p>
        </p:txBody>
      </p:sp>
      <p:sp>
        <p:nvSpPr>
          <p:cNvPr id="120" name="Shape 118"/>
          <p:cNvSpPr/>
          <p:nvPr/>
        </p:nvSpPr>
        <p:spPr>
          <a:xfrm>
            <a:off x="3113715" y="3483237"/>
            <a:ext cx="50292" cy="50292"/>
          </a:xfrm>
          <a:prstGeom prst="ellipse">
            <a:avLst/>
          </a:prstGeom>
          <a:solidFill>
            <a:srgbClr val="1F7A6B"/>
          </a:solidFill>
          <a:ln/>
        </p:spPr>
        <p:txBody>
          <a:bodyPr/>
          <a:lstStyle/>
          <a:p>
            <a:endParaRPr lang="en-US"/>
          </a:p>
        </p:txBody>
      </p:sp>
      <p:sp>
        <p:nvSpPr>
          <p:cNvPr id="121" name="Shape 119"/>
          <p:cNvSpPr/>
          <p:nvPr/>
        </p:nvSpPr>
        <p:spPr>
          <a:xfrm>
            <a:off x="3188261" y="3478569"/>
            <a:ext cx="50292" cy="50292"/>
          </a:xfrm>
          <a:prstGeom prst="ellipse">
            <a:avLst/>
          </a:prstGeom>
          <a:solidFill>
            <a:srgbClr val="1F7A6B"/>
          </a:solidFill>
          <a:ln/>
        </p:spPr>
        <p:txBody>
          <a:bodyPr/>
          <a:lstStyle/>
          <a:p>
            <a:endParaRPr lang="en-US"/>
          </a:p>
        </p:txBody>
      </p:sp>
      <p:sp>
        <p:nvSpPr>
          <p:cNvPr id="122" name="Shape 120"/>
          <p:cNvSpPr/>
          <p:nvPr/>
        </p:nvSpPr>
        <p:spPr>
          <a:xfrm>
            <a:off x="3262808" y="3477006"/>
            <a:ext cx="50292" cy="50292"/>
          </a:xfrm>
          <a:prstGeom prst="ellipse">
            <a:avLst/>
          </a:prstGeom>
          <a:solidFill>
            <a:srgbClr val="1F7A6B"/>
          </a:solidFill>
          <a:ln/>
        </p:spPr>
        <p:txBody>
          <a:bodyPr/>
          <a:lstStyle/>
          <a:p>
            <a:endParaRPr lang="en-US"/>
          </a:p>
        </p:txBody>
      </p:sp>
      <p:sp>
        <p:nvSpPr>
          <p:cNvPr id="123" name="Shape 121"/>
          <p:cNvSpPr/>
          <p:nvPr/>
        </p:nvSpPr>
        <p:spPr>
          <a:xfrm>
            <a:off x="3337354" y="3478569"/>
            <a:ext cx="50292" cy="50292"/>
          </a:xfrm>
          <a:prstGeom prst="ellipse">
            <a:avLst/>
          </a:prstGeom>
          <a:solidFill>
            <a:srgbClr val="1F7A6B"/>
          </a:solidFill>
          <a:ln/>
        </p:spPr>
        <p:txBody>
          <a:bodyPr/>
          <a:lstStyle/>
          <a:p>
            <a:endParaRPr lang="en-US"/>
          </a:p>
        </p:txBody>
      </p:sp>
      <p:sp>
        <p:nvSpPr>
          <p:cNvPr id="124" name="Shape 122"/>
          <p:cNvSpPr/>
          <p:nvPr/>
        </p:nvSpPr>
        <p:spPr>
          <a:xfrm>
            <a:off x="3411901" y="3483237"/>
            <a:ext cx="50292" cy="50292"/>
          </a:xfrm>
          <a:prstGeom prst="ellipse">
            <a:avLst/>
          </a:prstGeom>
          <a:solidFill>
            <a:srgbClr val="1F7A6B"/>
          </a:solidFill>
          <a:ln/>
        </p:spPr>
        <p:txBody>
          <a:bodyPr/>
          <a:lstStyle/>
          <a:p>
            <a:endParaRPr lang="en-US"/>
          </a:p>
        </p:txBody>
      </p:sp>
      <p:sp>
        <p:nvSpPr>
          <p:cNvPr id="125" name="Shape 123"/>
          <p:cNvSpPr/>
          <p:nvPr/>
        </p:nvSpPr>
        <p:spPr>
          <a:xfrm>
            <a:off x="3486447" y="3490948"/>
            <a:ext cx="50292" cy="50292"/>
          </a:xfrm>
          <a:prstGeom prst="ellipse">
            <a:avLst/>
          </a:prstGeom>
          <a:solidFill>
            <a:srgbClr val="1F7A6B"/>
          </a:solidFill>
          <a:ln/>
        </p:spPr>
        <p:txBody>
          <a:bodyPr/>
          <a:lstStyle/>
          <a:p>
            <a:endParaRPr lang="en-US"/>
          </a:p>
        </p:txBody>
      </p:sp>
      <p:sp>
        <p:nvSpPr>
          <p:cNvPr id="126" name="Shape 124"/>
          <p:cNvSpPr/>
          <p:nvPr/>
        </p:nvSpPr>
        <p:spPr>
          <a:xfrm>
            <a:off x="3560994" y="3501600"/>
            <a:ext cx="50292" cy="50292"/>
          </a:xfrm>
          <a:prstGeom prst="ellipse">
            <a:avLst/>
          </a:prstGeom>
          <a:solidFill>
            <a:srgbClr val="1F7A6B"/>
          </a:solidFill>
          <a:ln/>
        </p:spPr>
        <p:txBody>
          <a:bodyPr/>
          <a:lstStyle/>
          <a:p>
            <a:endParaRPr lang="en-US"/>
          </a:p>
        </p:txBody>
      </p:sp>
      <p:sp>
        <p:nvSpPr>
          <p:cNvPr id="127" name="Shape 125"/>
          <p:cNvSpPr/>
          <p:nvPr/>
        </p:nvSpPr>
        <p:spPr>
          <a:xfrm>
            <a:off x="3635540" y="3515055"/>
            <a:ext cx="50292" cy="50292"/>
          </a:xfrm>
          <a:prstGeom prst="ellipse">
            <a:avLst/>
          </a:prstGeom>
          <a:solidFill>
            <a:srgbClr val="1F7A6B"/>
          </a:solidFill>
          <a:ln/>
        </p:spPr>
        <p:txBody>
          <a:bodyPr/>
          <a:lstStyle/>
          <a:p>
            <a:endParaRPr lang="en-US"/>
          </a:p>
        </p:txBody>
      </p:sp>
      <p:sp>
        <p:nvSpPr>
          <p:cNvPr id="128" name="Shape 126"/>
          <p:cNvSpPr/>
          <p:nvPr/>
        </p:nvSpPr>
        <p:spPr>
          <a:xfrm>
            <a:off x="3710087" y="3531139"/>
            <a:ext cx="50292" cy="50292"/>
          </a:xfrm>
          <a:prstGeom prst="ellipse">
            <a:avLst/>
          </a:prstGeom>
          <a:solidFill>
            <a:srgbClr val="1F7A6B"/>
          </a:solidFill>
          <a:ln/>
        </p:spPr>
        <p:txBody>
          <a:bodyPr/>
          <a:lstStyle/>
          <a:p>
            <a:endParaRPr lang="en-US"/>
          </a:p>
        </p:txBody>
      </p:sp>
      <p:sp>
        <p:nvSpPr>
          <p:cNvPr id="129" name="Shape 127"/>
          <p:cNvSpPr/>
          <p:nvPr/>
        </p:nvSpPr>
        <p:spPr>
          <a:xfrm>
            <a:off x="3784633" y="3549647"/>
            <a:ext cx="50292" cy="50292"/>
          </a:xfrm>
          <a:prstGeom prst="ellipse">
            <a:avLst/>
          </a:prstGeom>
          <a:solidFill>
            <a:srgbClr val="1F7A6B"/>
          </a:solidFill>
          <a:ln/>
        </p:spPr>
        <p:txBody>
          <a:bodyPr/>
          <a:lstStyle/>
          <a:p>
            <a:endParaRPr lang="en-US"/>
          </a:p>
        </p:txBody>
      </p:sp>
      <p:sp>
        <p:nvSpPr>
          <p:cNvPr id="130" name="Shape 128"/>
          <p:cNvSpPr/>
          <p:nvPr/>
        </p:nvSpPr>
        <p:spPr>
          <a:xfrm>
            <a:off x="3859179" y="3570348"/>
            <a:ext cx="50292" cy="50292"/>
          </a:xfrm>
          <a:prstGeom prst="ellipse">
            <a:avLst/>
          </a:prstGeom>
          <a:solidFill>
            <a:srgbClr val="1F7A6B"/>
          </a:solidFill>
          <a:ln/>
        </p:spPr>
        <p:txBody>
          <a:bodyPr/>
          <a:lstStyle/>
          <a:p>
            <a:endParaRPr lang="en-US"/>
          </a:p>
        </p:txBody>
      </p:sp>
      <p:sp>
        <p:nvSpPr>
          <p:cNvPr id="131" name="Shape 129"/>
          <p:cNvSpPr/>
          <p:nvPr/>
        </p:nvSpPr>
        <p:spPr>
          <a:xfrm>
            <a:off x="3933726" y="3592990"/>
            <a:ext cx="50292" cy="50292"/>
          </a:xfrm>
          <a:prstGeom prst="ellipse">
            <a:avLst/>
          </a:prstGeom>
          <a:solidFill>
            <a:srgbClr val="1F7A6B"/>
          </a:solidFill>
          <a:ln/>
        </p:spPr>
        <p:txBody>
          <a:bodyPr/>
          <a:lstStyle/>
          <a:p>
            <a:endParaRPr lang="en-US"/>
          </a:p>
        </p:txBody>
      </p:sp>
      <p:sp>
        <p:nvSpPr>
          <p:cNvPr id="132" name="Shape 130"/>
          <p:cNvSpPr/>
          <p:nvPr/>
        </p:nvSpPr>
        <p:spPr>
          <a:xfrm>
            <a:off x="4008272" y="3617304"/>
            <a:ext cx="50292" cy="50292"/>
          </a:xfrm>
          <a:prstGeom prst="ellipse">
            <a:avLst/>
          </a:prstGeom>
          <a:solidFill>
            <a:srgbClr val="1F7A6B"/>
          </a:solidFill>
          <a:ln/>
        </p:spPr>
        <p:txBody>
          <a:bodyPr/>
          <a:lstStyle/>
          <a:p>
            <a:endParaRPr lang="en-US"/>
          </a:p>
        </p:txBody>
      </p:sp>
      <p:sp>
        <p:nvSpPr>
          <p:cNvPr id="133" name="Shape 131"/>
          <p:cNvSpPr/>
          <p:nvPr/>
        </p:nvSpPr>
        <p:spPr>
          <a:xfrm>
            <a:off x="4082819" y="3643010"/>
            <a:ext cx="50292" cy="50292"/>
          </a:xfrm>
          <a:prstGeom prst="ellipse">
            <a:avLst/>
          </a:prstGeom>
          <a:solidFill>
            <a:srgbClr val="1F7A6B"/>
          </a:solidFill>
          <a:ln/>
        </p:spPr>
        <p:txBody>
          <a:bodyPr/>
          <a:lstStyle/>
          <a:p>
            <a:endParaRPr lang="en-US"/>
          </a:p>
        </p:txBody>
      </p:sp>
      <p:sp>
        <p:nvSpPr>
          <p:cNvPr id="134" name="Shape 132"/>
          <p:cNvSpPr/>
          <p:nvPr/>
        </p:nvSpPr>
        <p:spPr>
          <a:xfrm>
            <a:off x="4157365" y="3669821"/>
            <a:ext cx="50292" cy="50292"/>
          </a:xfrm>
          <a:prstGeom prst="ellipse">
            <a:avLst/>
          </a:prstGeom>
          <a:solidFill>
            <a:srgbClr val="1F7A6B"/>
          </a:solidFill>
          <a:ln/>
        </p:spPr>
        <p:txBody>
          <a:bodyPr/>
          <a:lstStyle/>
          <a:p>
            <a:endParaRPr lang="en-US"/>
          </a:p>
        </p:txBody>
      </p:sp>
      <p:sp>
        <p:nvSpPr>
          <p:cNvPr id="135" name="Shape 133"/>
          <p:cNvSpPr/>
          <p:nvPr/>
        </p:nvSpPr>
        <p:spPr>
          <a:xfrm>
            <a:off x="4231912" y="3697451"/>
            <a:ext cx="50292" cy="50292"/>
          </a:xfrm>
          <a:prstGeom prst="ellipse">
            <a:avLst/>
          </a:prstGeom>
          <a:solidFill>
            <a:srgbClr val="1F7A6B"/>
          </a:solidFill>
          <a:ln/>
        </p:spPr>
        <p:txBody>
          <a:bodyPr/>
          <a:lstStyle/>
          <a:p>
            <a:endParaRPr lang="en-US"/>
          </a:p>
        </p:txBody>
      </p:sp>
      <p:sp>
        <p:nvSpPr>
          <p:cNvPr id="136" name="Shape 134"/>
          <p:cNvSpPr/>
          <p:nvPr/>
        </p:nvSpPr>
        <p:spPr>
          <a:xfrm>
            <a:off x="4306458" y="3725616"/>
            <a:ext cx="50292" cy="50292"/>
          </a:xfrm>
          <a:prstGeom prst="ellipse">
            <a:avLst/>
          </a:prstGeom>
          <a:solidFill>
            <a:srgbClr val="1F7A6B"/>
          </a:solidFill>
          <a:ln/>
        </p:spPr>
        <p:txBody>
          <a:bodyPr/>
          <a:lstStyle/>
          <a:p>
            <a:endParaRPr lang="en-US"/>
          </a:p>
        </p:txBody>
      </p:sp>
      <p:sp>
        <p:nvSpPr>
          <p:cNvPr id="137" name="Shape 135"/>
          <p:cNvSpPr/>
          <p:nvPr/>
        </p:nvSpPr>
        <p:spPr>
          <a:xfrm>
            <a:off x="4381005" y="3754043"/>
            <a:ext cx="50292" cy="50292"/>
          </a:xfrm>
          <a:prstGeom prst="ellipse">
            <a:avLst/>
          </a:prstGeom>
          <a:solidFill>
            <a:srgbClr val="1F7A6B"/>
          </a:solidFill>
          <a:ln/>
        </p:spPr>
        <p:txBody>
          <a:bodyPr/>
          <a:lstStyle/>
          <a:p>
            <a:endParaRPr lang="en-US"/>
          </a:p>
        </p:txBody>
      </p:sp>
      <p:sp>
        <p:nvSpPr>
          <p:cNvPr id="138" name="Shape 136"/>
          <p:cNvSpPr/>
          <p:nvPr/>
        </p:nvSpPr>
        <p:spPr>
          <a:xfrm>
            <a:off x="4455551" y="3782472"/>
            <a:ext cx="50292" cy="50292"/>
          </a:xfrm>
          <a:prstGeom prst="ellipse">
            <a:avLst/>
          </a:prstGeom>
          <a:solidFill>
            <a:srgbClr val="1F7A6B"/>
          </a:solidFill>
          <a:ln/>
        </p:spPr>
        <p:txBody>
          <a:bodyPr/>
          <a:lstStyle/>
          <a:p>
            <a:endParaRPr lang="en-US"/>
          </a:p>
        </p:txBody>
      </p:sp>
      <p:sp>
        <p:nvSpPr>
          <p:cNvPr id="139" name="Shape 137"/>
          <p:cNvSpPr/>
          <p:nvPr/>
        </p:nvSpPr>
        <p:spPr>
          <a:xfrm>
            <a:off x="4530098" y="3810658"/>
            <a:ext cx="50292" cy="50292"/>
          </a:xfrm>
          <a:prstGeom prst="ellipse">
            <a:avLst/>
          </a:prstGeom>
          <a:solidFill>
            <a:srgbClr val="1F7A6B"/>
          </a:solidFill>
          <a:ln/>
        </p:spPr>
        <p:txBody>
          <a:bodyPr/>
          <a:lstStyle/>
          <a:p>
            <a:endParaRPr lang="en-US"/>
          </a:p>
        </p:txBody>
      </p:sp>
      <p:sp>
        <p:nvSpPr>
          <p:cNvPr id="140" name="Shape 138"/>
          <p:cNvSpPr/>
          <p:nvPr/>
        </p:nvSpPr>
        <p:spPr>
          <a:xfrm>
            <a:off x="4604644" y="3838378"/>
            <a:ext cx="50292" cy="50292"/>
          </a:xfrm>
          <a:prstGeom prst="ellipse">
            <a:avLst/>
          </a:prstGeom>
          <a:solidFill>
            <a:srgbClr val="1F7A6B"/>
          </a:solidFill>
          <a:ln/>
        </p:spPr>
        <p:txBody>
          <a:bodyPr/>
          <a:lstStyle/>
          <a:p>
            <a:endParaRPr lang="en-US"/>
          </a:p>
        </p:txBody>
      </p:sp>
      <p:sp>
        <p:nvSpPr>
          <p:cNvPr id="141" name="Shape 139"/>
          <p:cNvSpPr/>
          <p:nvPr/>
        </p:nvSpPr>
        <p:spPr>
          <a:xfrm>
            <a:off x="4679191" y="3865429"/>
            <a:ext cx="50292" cy="50292"/>
          </a:xfrm>
          <a:prstGeom prst="ellipse">
            <a:avLst/>
          </a:prstGeom>
          <a:solidFill>
            <a:srgbClr val="1F7A6B"/>
          </a:solidFill>
          <a:ln/>
        </p:spPr>
        <p:txBody>
          <a:bodyPr/>
          <a:lstStyle/>
          <a:p>
            <a:endParaRPr lang="en-US"/>
          </a:p>
        </p:txBody>
      </p:sp>
      <p:sp>
        <p:nvSpPr>
          <p:cNvPr id="142" name="Shape 140"/>
          <p:cNvSpPr/>
          <p:nvPr/>
        </p:nvSpPr>
        <p:spPr>
          <a:xfrm>
            <a:off x="4753737" y="3891635"/>
            <a:ext cx="50292" cy="50292"/>
          </a:xfrm>
          <a:prstGeom prst="ellipse">
            <a:avLst/>
          </a:prstGeom>
          <a:solidFill>
            <a:srgbClr val="1F7A6B"/>
          </a:solidFill>
          <a:ln/>
        </p:spPr>
        <p:txBody>
          <a:bodyPr/>
          <a:lstStyle/>
          <a:p>
            <a:endParaRPr lang="en-US"/>
          </a:p>
        </p:txBody>
      </p:sp>
      <p:sp>
        <p:nvSpPr>
          <p:cNvPr id="143" name="Shape 141"/>
          <p:cNvSpPr/>
          <p:nvPr/>
        </p:nvSpPr>
        <p:spPr>
          <a:xfrm>
            <a:off x="4828283" y="3916842"/>
            <a:ext cx="50292" cy="50292"/>
          </a:xfrm>
          <a:prstGeom prst="ellipse">
            <a:avLst/>
          </a:prstGeom>
          <a:solidFill>
            <a:srgbClr val="1F7A6B"/>
          </a:solidFill>
          <a:ln/>
        </p:spPr>
        <p:txBody>
          <a:bodyPr/>
          <a:lstStyle/>
          <a:p>
            <a:endParaRPr lang="en-US"/>
          </a:p>
        </p:txBody>
      </p:sp>
      <p:sp>
        <p:nvSpPr>
          <p:cNvPr id="144" name="Shape 142"/>
          <p:cNvSpPr/>
          <p:nvPr/>
        </p:nvSpPr>
        <p:spPr>
          <a:xfrm>
            <a:off x="4902830" y="3940924"/>
            <a:ext cx="50292" cy="50292"/>
          </a:xfrm>
          <a:prstGeom prst="ellipse">
            <a:avLst/>
          </a:prstGeom>
          <a:solidFill>
            <a:srgbClr val="1F7A6B"/>
          </a:solidFill>
          <a:ln/>
        </p:spPr>
        <p:txBody>
          <a:bodyPr/>
          <a:lstStyle/>
          <a:p>
            <a:endParaRPr lang="en-US"/>
          </a:p>
        </p:txBody>
      </p:sp>
      <p:sp>
        <p:nvSpPr>
          <p:cNvPr id="145" name="Shape 143"/>
          <p:cNvSpPr/>
          <p:nvPr/>
        </p:nvSpPr>
        <p:spPr>
          <a:xfrm>
            <a:off x="4977376" y="3963779"/>
            <a:ext cx="50292" cy="50292"/>
          </a:xfrm>
          <a:prstGeom prst="ellipse">
            <a:avLst/>
          </a:prstGeom>
          <a:solidFill>
            <a:srgbClr val="1F7A6B"/>
          </a:solidFill>
          <a:ln/>
        </p:spPr>
        <p:txBody>
          <a:bodyPr/>
          <a:lstStyle/>
          <a:p>
            <a:endParaRPr lang="en-US"/>
          </a:p>
        </p:txBody>
      </p:sp>
      <p:sp>
        <p:nvSpPr>
          <p:cNvPr id="146" name="Shape 144"/>
          <p:cNvSpPr/>
          <p:nvPr/>
        </p:nvSpPr>
        <p:spPr>
          <a:xfrm>
            <a:off x="5051923" y="3985331"/>
            <a:ext cx="50292" cy="50292"/>
          </a:xfrm>
          <a:prstGeom prst="ellipse">
            <a:avLst/>
          </a:prstGeom>
          <a:solidFill>
            <a:srgbClr val="1F7A6B"/>
          </a:solidFill>
          <a:ln/>
        </p:spPr>
        <p:txBody>
          <a:bodyPr/>
          <a:lstStyle/>
          <a:p>
            <a:endParaRPr lang="en-US"/>
          </a:p>
        </p:txBody>
      </p:sp>
      <p:sp>
        <p:nvSpPr>
          <p:cNvPr id="147" name="Shape 145"/>
          <p:cNvSpPr/>
          <p:nvPr/>
        </p:nvSpPr>
        <p:spPr>
          <a:xfrm>
            <a:off x="5126469" y="4005528"/>
            <a:ext cx="50292" cy="50292"/>
          </a:xfrm>
          <a:prstGeom prst="ellipse">
            <a:avLst/>
          </a:prstGeom>
          <a:solidFill>
            <a:srgbClr val="1F7A6B"/>
          </a:solidFill>
          <a:ln/>
        </p:spPr>
        <p:txBody>
          <a:bodyPr/>
          <a:lstStyle/>
          <a:p>
            <a:endParaRPr lang="en-US"/>
          </a:p>
        </p:txBody>
      </p:sp>
      <p:sp>
        <p:nvSpPr>
          <p:cNvPr id="148" name="Shape 146"/>
          <p:cNvSpPr/>
          <p:nvPr/>
        </p:nvSpPr>
        <p:spPr>
          <a:xfrm>
            <a:off x="5201016" y="4024339"/>
            <a:ext cx="50292" cy="50292"/>
          </a:xfrm>
          <a:prstGeom prst="ellipse">
            <a:avLst/>
          </a:prstGeom>
          <a:solidFill>
            <a:srgbClr val="1F7A6B"/>
          </a:solidFill>
          <a:ln/>
        </p:spPr>
        <p:txBody>
          <a:bodyPr/>
          <a:lstStyle/>
          <a:p>
            <a:endParaRPr lang="en-US"/>
          </a:p>
        </p:txBody>
      </p:sp>
      <p:sp>
        <p:nvSpPr>
          <p:cNvPr id="149" name="Shape 147"/>
          <p:cNvSpPr/>
          <p:nvPr/>
        </p:nvSpPr>
        <p:spPr>
          <a:xfrm>
            <a:off x="5275562" y="4041756"/>
            <a:ext cx="50292" cy="50292"/>
          </a:xfrm>
          <a:prstGeom prst="ellipse">
            <a:avLst/>
          </a:prstGeom>
          <a:solidFill>
            <a:srgbClr val="1F7A6B"/>
          </a:solidFill>
          <a:ln/>
        </p:spPr>
        <p:txBody>
          <a:bodyPr/>
          <a:lstStyle/>
          <a:p>
            <a:endParaRPr lang="en-US"/>
          </a:p>
        </p:txBody>
      </p:sp>
      <p:sp>
        <p:nvSpPr>
          <p:cNvPr id="150" name="Shape 148"/>
          <p:cNvSpPr/>
          <p:nvPr/>
        </p:nvSpPr>
        <p:spPr>
          <a:xfrm>
            <a:off x="5350109" y="4057787"/>
            <a:ext cx="50292" cy="50292"/>
          </a:xfrm>
          <a:prstGeom prst="ellipse">
            <a:avLst/>
          </a:prstGeom>
          <a:solidFill>
            <a:srgbClr val="1F7A6B"/>
          </a:solidFill>
          <a:ln/>
        </p:spPr>
        <p:txBody>
          <a:bodyPr/>
          <a:lstStyle/>
          <a:p>
            <a:endParaRPr lang="en-US"/>
          </a:p>
        </p:txBody>
      </p:sp>
      <p:sp>
        <p:nvSpPr>
          <p:cNvPr id="151" name="Shape 149"/>
          <p:cNvSpPr/>
          <p:nvPr/>
        </p:nvSpPr>
        <p:spPr>
          <a:xfrm>
            <a:off x="5424655" y="4072457"/>
            <a:ext cx="50292" cy="50292"/>
          </a:xfrm>
          <a:prstGeom prst="ellipse">
            <a:avLst/>
          </a:prstGeom>
          <a:solidFill>
            <a:srgbClr val="1F7A6B"/>
          </a:solidFill>
          <a:ln/>
        </p:spPr>
        <p:txBody>
          <a:bodyPr/>
          <a:lstStyle/>
          <a:p>
            <a:endParaRPr lang="en-US"/>
          </a:p>
        </p:txBody>
      </p:sp>
      <p:sp>
        <p:nvSpPr>
          <p:cNvPr id="152" name="Shape 150"/>
          <p:cNvSpPr/>
          <p:nvPr/>
        </p:nvSpPr>
        <p:spPr>
          <a:xfrm>
            <a:off x="5499202" y="4085806"/>
            <a:ext cx="50292" cy="50292"/>
          </a:xfrm>
          <a:prstGeom prst="ellipse">
            <a:avLst/>
          </a:prstGeom>
          <a:solidFill>
            <a:srgbClr val="1F7A6B"/>
          </a:solidFill>
          <a:ln/>
        </p:spPr>
        <p:txBody>
          <a:bodyPr/>
          <a:lstStyle/>
          <a:p>
            <a:endParaRPr lang="en-US"/>
          </a:p>
        </p:txBody>
      </p:sp>
      <p:sp>
        <p:nvSpPr>
          <p:cNvPr id="153" name="Text 151"/>
          <p:cNvSpPr txBox="1"/>
          <p:nvPr/>
        </p:nvSpPr>
        <p:spPr>
          <a:xfrm>
            <a:off x="1051560" y="3182112"/>
            <a:ext cx="4472788" cy="237744"/>
          </a:xfrm>
          <a:prstGeom prst="rect">
            <a:avLst/>
          </a:prstGeom>
          <a:noFill/>
          <a:ln/>
        </p:spPr>
        <p:txBody>
          <a:bodyPr wrap="square" lIns="0" tIns="0" rIns="0" bIns="0" rtlCol="0" anchor="ctr"/>
          <a:lstStyle/>
          <a:p>
            <a:pPr marL="0" indent="0" algn="r">
              <a:buNone/>
            </a:pPr>
            <a:r>
              <a:rPr lang="en-US" sz="950" i="1" dirty="0">
                <a:solidFill>
                  <a:srgbClr val="8A93A1"/>
                </a:solidFill>
                <a:latin typeface="Calibri" pitchFamily="34" charset="0"/>
                <a:ea typeface="Calibri" pitchFamily="34" charset="-122"/>
                <a:cs typeface="Calibri" pitchFamily="34" charset="-120"/>
              </a:rPr>
              <a:t>grey = p_data</a:t>
            </a:r>
            <a:endParaRPr lang="en-US" sz="950" dirty="0"/>
          </a:p>
        </p:txBody>
      </p:sp>
      <p:sp>
        <p:nvSpPr>
          <p:cNvPr id="154" name="Text 152"/>
          <p:cNvSpPr txBox="1"/>
          <p:nvPr/>
        </p:nvSpPr>
        <p:spPr>
          <a:xfrm>
            <a:off x="1051560" y="3401568"/>
            <a:ext cx="4472788" cy="237744"/>
          </a:xfrm>
          <a:prstGeom prst="rect">
            <a:avLst/>
          </a:prstGeom>
          <a:noFill/>
          <a:ln/>
        </p:spPr>
        <p:txBody>
          <a:bodyPr wrap="square" lIns="0" tIns="0" rIns="0" bIns="0" rtlCol="0" anchor="ctr"/>
          <a:lstStyle/>
          <a:p>
            <a:pPr marL="0" indent="0" algn="r">
              <a:buNone/>
            </a:pPr>
            <a:r>
              <a:rPr lang="en-US" sz="950" b="1" i="1" dirty="0">
                <a:solidFill>
                  <a:srgbClr val="1F7A6B"/>
                </a:solidFill>
                <a:latin typeface="Calibri" pitchFamily="34" charset="0"/>
                <a:ea typeface="Calibri" pitchFamily="34" charset="-122"/>
                <a:cs typeface="Calibri" pitchFamily="34" charset="-120"/>
              </a:rPr>
              <a:t>teal = p_g</a:t>
            </a:r>
            <a:endParaRPr lang="en-US" sz="950" dirty="0"/>
          </a:p>
        </p:txBody>
      </p:sp>
      <p:sp>
        <p:nvSpPr>
          <p:cNvPr id="155" name="Text 153"/>
          <p:cNvSpPr txBox="1"/>
          <p:nvPr/>
        </p:nvSpPr>
        <p:spPr>
          <a:xfrm>
            <a:off x="914400" y="4279392"/>
            <a:ext cx="4747108" cy="274320"/>
          </a:xfrm>
          <a:prstGeom prst="rect">
            <a:avLst/>
          </a:prstGeom>
          <a:noFill/>
          <a:ln/>
        </p:spPr>
        <p:txBody>
          <a:bodyPr wrap="square" lIns="0" tIns="0" rIns="0" bIns="0" rtlCol="0" anchor="ctr"/>
          <a:lstStyle/>
          <a:p>
            <a:pPr marL="0" indent="0" algn="ctr">
              <a:buNone/>
            </a:pPr>
            <a:r>
              <a:rPr lang="en-US" sz="1150" b="1" i="1" dirty="0">
                <a:solidFill>
                  <a:srgbClr val="1F7A6B"/>
                </a:solidFill>
                <a:latin typeface="Calibri" pitchFamily="34" charset="0"/>
                <a:ea typeface="Calibri" pitchFamily="34" charset="-122"/>
                <a:cs typeface="Calibri" pitchFamily="34" charset="-120"/>
              </a:rPr>
              <a:t>covers everything, blurry</a:t>
            </a:r>
            <a:endParaRPr lang="en-US" sz="1150" dirty="0"/>
          </a:p>
        </p:txBody>
      </p:sp>
      <p:sp>
        <p:nvSpPr>
          <p:cNvPr id="156" name="Text 154"/>
          <p:cNvSpPr txBox="1"/>
          <p:nvPr/>
        </p:nvSpPr>
        <p:spPr>
          <a:xfrm>
            <a:off x="914400" y="4572000"/>
            <a:ext cx="4747108" cy="1097280"/>
          </a:xfrm>
          <a:prstGeom prst="rect">
            <a:avLst/>
          </a:prstGeom>
          <a:noFill/>
          <a:ln/>
        </p:spPr>
        <p:txBody>
          <a:bodyPr wrap="square" lIns="0" tIns="0" rIns="0" bIns="0" rtlCol="0" anchor="ctr"/>
          <a:lstStyle/>
          <a:p>
            <a:pPr marL="0" indent="0">
              <a:lnSpc>
                <a:spcPts val="1500"/>
              </a:lnSpc>
              <a:buNone/>
            </a:pPr>
            <a:r>
              <a:rPr lang="en-US" sz="1150" dirty="0">
                <a:solidFill>
                  <a:srgbClr val="5B6474"/>
                </a:solidFill>
                <a:latin typeface="Calibri" pitchFamily="34" charset="0"/>
                <a:ea typeface="Calibri" pitchFamily="34" charset="-122"/>
                <a:cs typeface="Calibri" pitchFamily="34" charset="-120"/>
              </a:rPr>
              <a:t>The sum runs over the real world. Wherever p_data is large and p_g is near zero, the ratio explodes and the penalty is enormous. So the model is forced to put mass everywhere the world does. It covers all modes — and pays for it by smearing across the gaps.</a:t>
            </a:r>
            <a:endParaRPr lang="en-US" sz="1150" dirty="0"/>
          </a:p>
        </p:txBody>
      </p:sp>
      <p:sp>
        <p:nvSpPr>
          <p:cNvPr id="157" name="Shape 155"/>
          <p:cNvSpPr/>
          <p:nvPr/>
        </p:nvSpPr>
        <p:spPr>
          <a:xfrm>
            <a:off x="6255868" y="2651760"/>
            <a:ext cx="5295748" cy="3108960"/>
          </a:xfrm>
          <a:prstGeom prst="roundRect">
            <a:avLst>
              <a:gd name="adj" fmla="val 2353"/>
            </a:avLst>
          </a:prstGeom>
          <a:solidFill>
            <a:srgbClr val="F8EBF2"/>
          </a:solidFill>
          <a:ln w="12700">
            <a:solidFill>
              <a:srgbClr val="F8EBF2"/>
            </a:solidFill>
            <a:prstDash val="solid"/>
          </a:ln>
        </p:spPr>
        <p:txBody>
          <a:bodyPr/>
          <a:lstStyle/>
          <a:p>
            <a:endParaRPr lang="en-US"/>
          </a:p>
        </p:txBody>
      </p:sp>
      <p:sp>
        <p:nvSpPr>
          <p:cNvPr id="158" name="Text 156"/>
          <p:cNvSpPr txBox="1"/>
          <p:nvPr/>
        </p:nvSpPr>
        <p:spPr>
          <a:xfrm>
            <a:off x="6530188" y="2816352"/>
            <a:ext cx="4747108" cy="365760"/>
          </a:xfrm>
          <a:prstGeom prst="rect">
            <a:avLst/>
          </a:prstGeom>
          <a:noFill/>
          <a:ln/>
        </p:spPr>
        <p:txBody>
          <a:bodyPr wrap="square" lIns="0" tIns="0" rIns="0" bIns="0" rtlCol="0" anchor="ctr"/>
          <a:lstStyle/>
          <a:p>
            <a:pPr marL="0" indent="0">
              <a:buNone/>
            </a:pPr>
            <a:r>
              <a:rPr lang="en-US" sz="1700" b="1" dirty="0">
                <a:solidFill>
                  <a:srgbClr val="9C3D6E"/>
                </a:solidFill>
                <a:latin typeface="Cambria Math" pitchFamily="34" charset="0"/>
                <a:ea typeface="Cambria Math" pitchFamily="34" charset="-122"/>
                <a:cs typeface="Cambria Math" pitchFamily="34" charset="-120"/>
              </a:rPr>
              <a:t>KL(p_g ‖ p_data)  — reverse</a:t>
            </a:r>
            <a:endParaRPr lang="en-US" sz="1700" dirty="0"/>
          </a:p>
        </p:txBody>
      </p:sp>
      <p:sp>
        <p:nvSpPr>
          <p:cNvPr id="159" name="Shape 157"/>
          <p:cNvSpPr/>
          <p:nvPr/>
        </p:nvSpPr>
        <p:spPr>
          <a:xfrm>
            <a:off x="6575908" y="4206240"/>
            <a:ext cx="4655668" cy="16459"/>
          </a:xfrm>
          <a:prstGeom prst="rect">
            <a:avLst/>
          </a:prstGeom>
          <a:solidFill>
            <a:srgbClr val="B6BECB"/>
          </a:solidFill>
          <a:ln/>
        </p:spPr>
        <p:txBody>
          <a:bodyPr/>
          <a:lstStyle/>
          <a:p>
            <a:endParaRPr lang="en-US"/>
          </a:p>
        </p:txBody>
      </p:sp>
      <p:sp>
        <p:nvSpPr>
          <p:cNvPr id="160" name="Shape 158"/>
          <p:cNvSpPr/>
          <p:nvPr/>
        </p:nvSpPr>
        <p:spPr>
          <a:xfrm>
            <a:off x="6652717" y="4191116"/>
            <a:ext cx="29261" cy="29261"/>
          </a:xfrm>
          <a:prstGeom prst="ellipse">
            <a:avLst/>
          </a:prstGeom>
          <a:solidFill>
            <a:srgbClr val="A8B0BC"/>
          </a:solidFill>
          <a:ln/>
        </p:spPr>
        <p:txBody>
          <a:bodyPr/>
          <a:lstStyle/>
          <a:p>
            <a:endParaRPr lang="en-US"/>
          </a:p>
        </p:txBody>
      </p:sp>
      <p:sp>
        <p:nvSpPr>
          <p:cNvPr id="161" name="Shape 159"/>
          <p:cNvSpPr/>
          <p:nvPr/>
        </p:nvSpPr>
        <p:spPr>
          <a:xfrm>
            <a:off x="6708627" y="4190554"/>
            <a:ext cx="29261" cy="29261"/>
          </a:xfrm>
          <a:prstGeom prst="ellipse">
            <a:avLst/>
          </a:prstGeom>
          <a:solidFill>
            <a:srgbClr val="A8B0BC"/>
          </a:solidFill>
          <a:ln/>
        </p:spPr>
        <p:txBody>
          <a:bodyPr/>
          <a:lstStyle/>
          <a:p>
            <a:endParaRPr lang="en-US"/>
          </a:p>
        </p:txBody>
      </p:sp>
      <p:sp>
        <p:nvSpPr>
          <p:cNvPr id="162" name="Shape 160"/>
          <p:cNvSpPr/>
          <p:nvPr/>
        </p:nvSpPr>
        <p:spPr>
          <a:xfrm>
            <a:off x="6764537" y="4189443"/>
            <a:ext cx="29261" cy="29261"/>
          </a:xfrm>
          <a:prstGeom prst="ellipse">
            <a:avLst/>
          </a:prstGeom>
          <a:solidFill>
            <a:srgbClr val="A8B0BC"/>
          </a:solidFill>
          <a:ln/>
        </p:spPr>
        <p:txBody>
          <a:bodyPr/>
          <a:lstStyle/>
          <a:p>
            <a:endParaRPr lang="en-US"/>
          </a:p>
        </p:txBody>
      </p:sp>
      <p:sp>
        <p:nvSpPr>
          <p:cNvPr id="163" name="Shape 161"/>
          <p:cNvSpPr/>
          <p:nvPr/>
        </p:nvSpPr>
        <p:spPr>
          <a:xfrm>
            <a:off x="6820447" y="4187338"/>
            <a:ext cx="29261" cy="29261"/>
          </a:xfrm>
          <a:prstGeom prst="ellipse">
            <a:avLst/>
          </a:prstGeom>
          <a:solidFill>
            <a:srgbClr val="A8B0BC"/>
          </a:solidFill>
          <a:ln/>
        </p:spPr>
        <p:txBody>
          <a:bodyPr/>
          <a:lstStyle/>
          <a:p>
            <a:endParaRPr lang="en-US"/>
          </a:p>
        </p:txBody>
      </p:sp>
      <p:sp>
        <p:nvSpPr>
          <p:cNvPr id="164" name="Shape 162"/>
          <p:cNvSpPr/>
          <p:nvPr/>
        </p:nvSpPr>
        <p:spPr>
          <a:xfrm>
            <a:off x="6876357" y="4183524"/>
            <a:ext cx="29261" cy="29261"/>
          </a:xfrm>
          <a:prstGeom prst="ellipse">
            <a:avLst/>
          </a:prstGeom>
          <a:solidFill>
            <a:srgbClr val="A8B0BC"/>
          </a:solidFill>
          <a:ln/>
        </p:spPr>
        <p:txBody>
          <a:bodyPr/>
          <a:lstStyle/>
          <a:p>
            <a:endParaRPr lang="en-US"/>
          </a:p>
        </p:txBody>
      </p:sp>
      <p:sp>
        <p:nvSpPr>
          <p:cNvPr id="165" name="Shape 163"/>
          <p:cNvSpPr/>
          <p:nvPr/>
        </p:nvSpPr>
        <p:spPr>
          <a:xfrm>
            <a:off x="6932266" y="4176913"/>
            <a:ext cx="29261" cy="29261"/>
          </a:xfrm>
          <a:prstGeom prst="ellipse">
            <a:avLst/>
          </a:prstGeom>
          <a:solidFill>
            <a:srgbClr val="A8B0BC"/>
          </a:solidFill>
          <a:ln/>
        </p:spPr>
        <p:txBody>
          <a:bodyPr/>
          <a:lstStyle/>
          <a:p>
            <a:endParaRPr lang="en-US"/>
          </a:p>
        </p:txBody>
      </p:sp>
      <p:sp>
        <p:nvSpPr>
          <p:cNvPr id="166" name="Shape 164"/>
          <p:cNvSpPr/>
          <p:nvPr/>
        </p:nvSpPr>
        <p:spPr>
          <a:xfrm>
            <a:off x="6988176" y="4165960"/>
            <a:ext cx="29261" cy="29261"/>
          </a:xfrm>
          <a:prstGeom prst="ellipse">
            <a:avLst/>
          </a:prstGeom>
          <a:solidFill>
            <a:srgbClr val="A8B0BC"/>
          </a:solidFill>
          <a:ln/>
        </p:spPr>
        <p:txBody>
          <a:bodyPr/>
          <a:lstStyle/>
          <a:p>
            <a:endParaRPr lang="en-US"/>
          </a:p>
        </p:txBody>
      </p:sp>
      <p:sp>
        <p:nvSpPr>
          <p:cNvPr id="167" name="Shape 165"/>
          <p:cNvSpPr/>
          <p:nvPr/>
        </p:nvSpPr>
        <p:spPr>
          <a:xfrm>
            <a:off x="7044086" y="4148629"/>
            <a:ext cx="29261" cy="29261"/>
          </a:xfrm>
          <a:prstGeom prst="ellipse">
            <a:avLst/>
          </a:prstGeom>
          <a:solidFill>
            <a:srgbClr val="A8B0BC"/>
          </a:solidFill>
          <a:ln/>
        </p:spPr>
        <p:txBody>
          <a:bodyPr/>
          <a:lstStyle/>
          <a:p>
            <a:endParaRPr lang="en-US"/>
          </a:p>
        </p:txBody>
      </p:sp>
      <p:sp>
        <p:nvSpPr>
          <p:cNvPr id="168" name="Shape 166"/>
          <p:cNvSpPr/>
          <p:nvPr/>
        </p:nvSpPr>
        <p:spPr>
          <a:xfrm>
            <a:off x="7099996" y="4122457"/>
            <a:ext cx="29261" cy="29261"/>
          </a:xfrm>
          <a:prstGeom prst="ellipse">
            <a:avLst/>
          </a:prstGeom>
          <a:solidFill>
            <a:srgbClr val="A8B0BC"/>
          </a:solidFill>
          <a:ln/>
        </p:spPr>
        <p:txBody>
          <a:bodyPr/>
          <a:lstStyle/>
          <a:p>
            <a:endParaRPr lang="en-US"/>
          </a:p>
        </p:txBody>
      </p:sp>
      <p:sp>
        <p:nvSpPr>
          <p:cNvPr id="169" name="Shape 167"/>
          <p:cNvSpPr/>
          <p:nvPr/>
        </p:nvSpPr>
        <p:spPr>
          <a:xfrm>
            <a:off x="7155906" y="4084779"/>
            <a:ext cx="29261" cy="29261"/>
          </a:xfrm>
          <a:prstGeom prst="ellipse">
            <a:avLst/>
          </a:prstGeom>
          <a:solidFill>
            <a:srgbClr val="A8B0BC"/>
          </a:solidFill>
          <a:ln/>
        </p:spPr>
        <p:txBody>
          <a:bodyPr/>
          <a:lstStyle/>
          <a:p>
            <a:endParaRPr lang="en-US"/>
          </a:p>
        </p:txBody>
      </p:sp>
      <p:sp>
        <p:nvSpPr>
          <p:cNvPr id="170" name="Shape 168"/>
          <p:cNvSpPr/>
          <p:nvPr/>
        </p:nvSpPr>
        <p:spPr>
          <a:xfrm>
            <a:off x="7211816" y="4033145"/>
            <a:ext cx="29261" cy="29261"/>
          </a:xfrm>
          <a:prstGeom prst="ellipse">
            <a:avLst/>
          </a:prstGeom>
          <a:solidFill>
            <a:srgbClr val="A8B0BC"/>
          </a:solidFill>
          <a:ln/>
        </p:spPr>
        <p:txBody>
          <a:bodyPr/>
          <a:lstStyle/>
          <a:p>
            <a:endParaRPr lang="en-US"/>
          </a:p>
        </p:txBody>
      </p:sp>
      <p:sp>
        <p:nvSpPr>
          <p:cNvPr id="171" name="Shape 169"/>
          <p:cNvSpPr/>
          <p:nvPr/>
        </p:nvSpPr>
        <p:spPr>
          <a:xfrm>
            <a:off x="7267725" y="3965919"/>
            <a:ext cx="29261" cy="29261"/>
          </a:xfrm>
          <a:prstGeom prst="ellipse">
            <a:avLst/>
          </a:prstGeom>
          <a:solidFill>
            <a:srgbClr val="A8B0BC"/>
          </a:solidFill>
          <a:ln/>
        </p:spPr>
        <p:txBody>
          <a:bodyPr/>
          <a:lstStyle/>
          <a:p>
            <a:endParaRPr lang="en-US"/>
          </a:p>
        </p:txBody>
      </p:sp>
      <p:sp>
        <p:nvSpPr>
          <p:cNvPr id="172" name="Shape 170"/>
          <p:cNvSpPr/>
          <p:nvPr/>
        </p:nvSpPr>
        <p:spPr>
          <a:xfrm>
            <a:off x="7323635" y="3882976"/>
            <a:ext cx="29261" cy="29261"/>
          </a:xfrm>
          <a:prstGeom prst="ellipse">
            <a:avLst/>
          </a:prstGeom>
          <a:solidFill>
            <a:srgbClr val="A8B0BC"/>
          </a:solidFill>
          <a:ln/>
        </p:spPr>
        <p:txBody>
          <a:bodyPr/>
          <a:lstStyle/>
          <a:p>
            <a:endParaRPr lang="en-US"/>
          </a:p>
        </p:txBody>
      </p:sp>
      <p:sp>
        <p:nvSpPr>
          <p:cNvPr id="173" name="Shape 171"/>
          <p:cNvSpPr/>
          <p:nvPr/>
        </p:nvSpPr>
        <p:spPr>
          <a:xfrm>
            <a:off x="7379545" y="3786363"/>
            <a:ext cx="29261" cy="29261"/>
          </a:xfrm>
          <a:prstGeom prst="ellipse">
            <a:avLst/>
          </a:prstGeom>
          <a:solidFill>
            <a:srgbClr val="A8B0BC"/>
          </a:solidFill>
          <a:ln/>
        </p:spPr>
        <p:txBody>
          <a:bodyPr/>
          <a:lstStyle/>
          <a:p>
            <a:endParaRPr lang="en-US"/>
          </a:p>
        </p:txBody>
      </p:sp>
      <p:sp>
        <p:nvSpPr>
          <p:cNvPr id="174" name="Shape 172"/>
          <p:cNvSpPr/>
          <p:nvPr/>
        </p:nvSpPr>
        <p:spPr>
          <a:xfrm>
            <a:off x="7435455" y="3680703"/>
            <a:ext cx="29261" cy="29261"/>
          </a:xfrm>
          <a:prstGeom prst="ellipse">
            <a:avLst/>
          </a:prstGeom>
          <a:solidFill>
            <a:srgbClr val="A8B0BC"/>
          </a:solidFill>
          <a:ln/>
        </p:spPr>
        <p:txBody>
          <a:bodyPr/>
          <a:lstStyle/>
          <a:p>
            <a:endParaRPr lang="en-US"/>
          </a:p>
        </p:txBody>
      </p:sp>
      <p:sp>
        <p:nvSpPr>
          <p:cNvPr id="175" name="Shape 173"/>
          <p:cNvSpPr/>
          <p:nvPr/>
        </p:nvSpPr>
        <p:spPr>
          <a:xfrm>
            <a:off x="7491365" y="3573150"/>
            <a:ext cx="29261" cy="29261"/>
          </a:xfrm>
          <a:prstGeom prst="ellipse">
            <a:avLst/>
          </a:prstGeom>
          <a:solidFill>
            <a:srgbClr val="A8B0BC"/>
          </a:solidFill>
          <a:ln/>
        </p:spPr>
        <p:txBody>
          <a:bodyPr/>
          <a:lstStyle/>
          <a:p>
            <a:endParaRPr lang="en-US"/>
          </a:p>
        </p:txBody>
      </p:sp>
      <p:sp>
        <p:nvSpPr>
          <p:cNvPr id="176" name="Shape 174"/>
          <p:cNvSpPr/>
          <p:nvPr/>
        </p:nvSpPr>
        <p:spPr>
          <a:xfrm>
            <a:off x="7547275" y="3472777"/>
            <a:ext cx="29261" cy="29261"/>
          </a:xfrm>
          <a:prstGeom prst="ellipse">
            <a:avLst/>
          </a:prstGeom>
          <a:solidFill>
            <a:srgbClr val="A8B0BC"/>
          </a:solidFill>
          <a:ln/>
        </p:spPr>
        <p:txBody>
          <a:bodyPr/>
          <a:lstStyle/>
          <a:p>
            <a:endParaRPr lang="en-US"/>
          </a:p>
        </p:txBody>
      </p:sp>
      <p:sp>
        <p:nvSpPr>
          <p:cNvPr id="177" name="Shape 175"/>
          <p:cNvSpPr/>
          <p:nvPr/>
        </p:nvSpPr>
        <p:spPr>
          <a:xfrm>
            <a:off x="7603185" y="3389394"/>
            <a:ext cx="29261" cy="29261"/>
          </a:xfrm>
          <a:prstGeom prst="ellipse">
            <a:avLst/>
          </a:prstGeom>
          <a:solidFill>
            <a:srgbClr val="A8B0BC"/>
          </a:solidFill>
          <a:ln/>
        </p:spPr>
        <p:txBody>
          <a:bodyPr/>
          <a:lstStyle/>
          <a:p>
            <a:endParaRPr lang="en-US"/>
          </a:p>
        </p:txBody>
      </p:sp>
      <p:sp>
        <p:nvSpPr>
          <p:cNvPr id="178" name="Shape 176"/>
          <p:cNvSpPr/>
          <p:nvPr/>
        </p:nvSpPr>
        <p:spPr>
          <a:xfrm>
            <a:off x="7659094" y="3332000"/>
            <a:ext cx="29261" cy="29261"/>
          </a:xfrm>
          <a:prstGeom prst="ellipse">
            <a:avLst/>
          </a:prstGeom>
          <a:solidFill>
            <a:srgbClr val="A8B0BC"/>
          </a:solidFill>
          <a:ln/>
        </p:spPr>
        <p:txBody>
          <a:bodyPr/>
          <a:lstStyle/>
          <a:p>
            <a:endParaRPr lang="en-US"/>
          </a:p>
        </p:txBody>
      </p:sp>
      <p:sp>
        <p:nvSpPr>
          <p:cNvPr id="179" name="Shape 177"/>
          <p:cNvSpPr/>
          <p:nvPr/>
        </p:nvSpPr>
        <p:spPr>
          <a:xfrm>
            <a:off x="7715004" y="3307190"/>
            <a:ext cx="29261" cy="29261"/>
          </a:xfrm>
          <a:prstGeom prst="ellipse">
            <a:avLst/>
          </a:prstGeom>
          <a:solidFill>
            <a:srgbClr val="A8B0BC"/>
          </a:solidFill>
          <a:ln/>
        </p:spPr>
        <p:txBody>
          <a:bodyPr/>
          <a:lstStyle/>
          <a:p>
            <a:endParaRPr lang="en-US"/>
          </a:p>
        </p:txBody>
      </p:sp>
      <p:sp>
        <p:nvSpPr>
          <p:cNvPr id="180" name="Shape 178"/>
          <p:cNvSpPr/>
          <p:nvPr/>
        </p:nvSpPr>
        <p:spPr>
          <a:xfrm>
            <a:off x="7770914" y="3317909"/>
            <a:ext cx="29261" cy="29261"/>
          </a:xfrm>
          <a:prstGeom prst="ellipse">
            <a:avLst/>
          </a:prstGeom>
          <a:solidFill>
            <a:srgbClr val="A8B0BC"/>
          </a:solidFill>
          <a:ln/>
        </p:spPr>
        <p:txBody>
          <a:bodyPr/>
          <a:lstStyle/>
          <a:p>
            <a:endParaRPr lang="en-US"/>
          </a:p>
        </p:txBody>
      </p:sp>
      <p:sp>
        <p:nvSpPr>
          <p:cNvPr id="181" name="Shape 179"/>
          <p:cNvSpPr/>
          <p:nvPr/>
        </p:nvSpPr>
        <p:spPr>
          <a:xfrm>
            <a:off x="7826824" y="3362879"/>
            <a:ext cx="29261" cy="29261"/>
          </a:xfrm>
          <a:prstGeom prst="ellipse">
            <a:avLst/>
          </a:prstGeom>
          <a:solidFill>
            <a:srgbClr val="A8B0BC"/>
          </a:solidFill>
          <a:ln/>
        </p:spPr>
        <p:txBody>
          <a:bodyPr/>
          <a:lstStyle/>
          <a:p>
            <a:endParaRPr lang="en-US"/>
          </a:p>
        </p:txBody>
      </p:sp>
      <p:sp>
        <p:nvSpPr>
          <p:cNvPr id="182" name="Shape 180"/>
          <p:cNvSpPr/>
          <p:nvPr/>
        </p:nvSpPr>
        <p:spPr>
          <a:xfrm>
            <a:off x="7882734" y="3436845"/>
            <a:ext cx="29261" cy="29261"/>
          </a:xfrm>
          <a:prstGeom prst="ellipse">
            <a:avLst/>
          </a:prstGeom>
          <a:solidFill>
            <a:srgbClr val="A8B0BC"/>
          </a:solidFill>
          <a:ln/>
        </p:spPr>
        <p:txBody>
          <a:bodyPr/>
          <a:lstStyle/>
          <a:p>
            <a:endParaRPr lang="en-US"/>
          </a:p>
        </p:txBody>
      </p:sp>
      <p:sp>
        <p:nvSpPr>
          <p:cNvPr id="183" name="Shape 181"/>
          <p:cNvSpPr/>
          <p:nvPr/>
        </p:nvSpPr>
        <p:spPr>
          <a:xfrm>
            <a:off x="7938644" y="3531591"/>
            <a:ext cx="29261" cy="29261"/>
          </a:xfrm>
          <a:prstGeom prst="ellipse">
            <a:avLst/>
          </a:prstGeom>
          <a:solidFill>
            <a:srgbClr val="A8B0BC"/>
          </a:solidFill>
          <a:ln/>
        </p:spPr>
        <p:txBody>
          <a:bodyPr/>
          <a:lstStyle/>
          <a:p>
            <a:endParaRPr lang="en-US"/>
          </a:p>
        </p:txBody>
      </p:sp>
      <p:sp>
        <p:nvSpPr>
          <p:cNvPr id="184" name="Shape 182"/>
          <p:cNvSpPr/>
          <p:nvPr/>
        </p:nvSpPr>
        <p:spPr>
          <a:xfrm>
            <a:off x="7994553" y="3637433"/>
            <a:ext cx="29261" cy="29261"/>
          </a:xfrm>
          <a:prstGeom prst="ellipse">
            <a:avLst/>
          </a:prstGeom>
          <a:solidFill>
            <a:srgbClr val="A8B0BC"/>
          </a:solidFill>
          <a:ln/>
        </p:spPr>
        <p:txBody>
          <a:bodyPr/>
          <a:lstStyle/>
          <a:p>
            <a:endParaRPr lang="en-US"/>
          </a:p>
        </p:txBody>
      </p:sp>
      <p:sp>
        <p:nvSpPr>
          <p:cNvPr id="185" name="Shape 183"/>
          <p:cNvSpPr/>
          <p:nvPr/>
        </p:nvSpPr>
        <p:spPr>
          <a:xfrm>
            <a:off x="8050463" y="3744837"/>
            <a:ext cx="29261" cy="29261"/>
          </a:xfrm>
          <a:prstGeom prst="ellipse">
            <a:avLst/>
          </a:prstGeom>
          <a:solidFill>
            <a:srgbClr val="A8B0BC"/>
          </a:solidFill>
          <a:ln/>
        </p:spPr>
        <p:txBody>
          <a:bodyPr/>
          <a:lstStyle/>
          <a:p>
            <a:endParaRPr lang="en-US"/>
          </a:p>
        </p:txBody>
      </p:sp>
      <p:sp>
        <p:nvSpPr>
          <p:cNvPr id="186" name="Shape 184"/>
          <p:cNvSpPr/>
          <p:nvPr/>
        </p:nvSpPr>
        <p:spPr>
          <a:xfrm>
            <a:off x="8106373" y="3845772"/>
            <a:ext cx="29261" cy="29261"/>
          </a:xfrm>
          <a:prstGeom prst="ellipse">
            <a:avLst/>
          </a:prstGeom>
          <a:solidFill>
            <a:srgbClr val="A8B0BC"/>
          </a:solidFill>
          <a:ln/>
        </p:spPr>
        <p:txBody>
          <a:bodyPr/>
          <a:lstStyle/>
          <a:p>
            <a:endParaRPr lang="en-US"/>
          </a:p>
        </p:txBody>
      </p:sp>
      <p:sp>
        <p:nvSpPr>
          <p:cNvPr id="187" name="Shape 185"/>
          <p:cNvSpPr/>
          <p:nvPr/>
        </p:nvSpPr>
        <p:spPr>
          <a:xfrm>
            <a:off x="8162283" y="3934567"/>
            <a:ext cx="29261" cy="29261"/>
          </a:xfrm>
          <a:prstGeom prst="ellipse">
            <a:avLst/>
          </a:prstGeom>
          <a:solidFill>
            <a:srgbClr val="A8B0BC"/>
          </a:solidFill>
          <a:ln/>
        </p:spPr>
        <p:txBody>
          <a:bodyPr/>
          <a:lstStyle/>
          <a:p>
            <a:endParaRPr lang="en-US"/>
          </a:p>
        </p:txBody>
      </p:sp>
      <p:sp>
        <p:nvSpPr>
          <p:cNvPr id="188" name="Shape 186"/>
          <p:cNvSpPr/>
          <p:nvPr/>
        </p:nvSpPr>
        <p:spPr>
          <a:xfrm>
            <a:off x="8218193" y="4008174"/>
            <a:ext cx="29261" cy="29261"/>
          </a:xfrm>
          <a:prstGeom prst="ellipse">
            <a:avLst/>
          </a:prstGeom>
          <a:solidFill>
            <a:srgbClr val="A8B0BC"/>
          </a:solidFill>
          <a:ln/>
        </p:spPr>
        <p:txBody>
          <a:bodyPr/>
          <a:lstStyle/>
          <a:p>
            <a:endParaRPr lang="en-US"/>
          </a:p>
        </p:txBody>
      </p:sp>
      <p:sp>
        <p:nvSpPr>
          <p:cNvPr id="189" name="Shape 187"/>
          <p:cNvSpPr/>
          <p:nvPr/>
        </p:nvSpPr>
        <p:spPr>
          <a:xfrm>
            <a:off x="8274103" y="4065917"/>
            <a:ext cx="29261" cy="29261"/>
          </a:xfrm>
          <a:prstGeom prst="ellipse">
            <a:avLst/>
          </a:prstGeom>
          <a:solidFill>
            <a:srgbClr val="A8B0BC"/>
          </a:solidFill>
          <a:ln/>
        </p:spPr>
        <p:txBody>
          <a:bodyPr/>
          <a:lstStyle/>
          <a:p>
            <a:endParaRPr lang="en-US"/>
          </a:p>
        </p:txBody>
      </p:sp>
      <p:sp>
        <p:nvSpPr>
          <p:cNvPr id="190" name="Shape 188"/>
          <p:cNvSpPr/>
          <p:nvPr/>
        </p:nvSpPr>
        <p:spPr>
          <a:xfrm>
            <a:off x="8330013" y="4108914"/>
            <a:ext cx="29261" cy="29261"/>
          </a:xfrm>
          <a:prstGeom prst="ellipse">
            <a:avLst/>
          </a:prstGeom>
          <a:solidFill>
            <a:srgbClr val="A8B0BC"/>
          </a:solidFill>
          <a:ln/>
        </p:spPr>
        <p:txBody>
          <a:bodyPr/>
          <a:lstStyle/>
          <a:p>
            <a:endParaRPr lang="en-US"/>
          </a:p>
        </p:txBody>
      </p:sp>
      <p:sp>
        <p:nvSpPr>
          <p:cNvPr id="191" name="Shape 189"/>
          <p:cNvSpPr/>
          <p:nvPr/>
        </p:nvSpPr>
        <p:spPr>
          <a:xfrm>
            <a:off x="8385922" y="4139370"/>
            <a:ext cx="29261" cy="29261"/>
          </a:xfrm>
          <a:prstGeom prst="ellipse">
            <a:avLst/>
          </a:prstGeom>
          <a:solidFill>
            <a:srgbClr val="A8B0BC"/>
          </a:solidFill>
          <a:ln/>
        </p:spPr>
        <p:txBody>
          <a:bodyPr/>
          <a:lstStyle/>
          <a:p>
            <a:endParaRPr lang="en-US"/>
          </a:p>
        </p:txBody>
      </p:sp>
      <p:sp>
        <p:nvSpPr>
          <p:cNvPr id="192" name="Shape 190"/>
          <p:cNvSpPr/>
          <p:nvPr/>
        </p:nvSpPr>
        <p:spPr>
          <a:xfrm>
            <a:off x="8441832" y="4159923"/>
            <a:ext cx="29261" cy="29261"/>
          </a:xfrm>
          <a:prstGeom prst="ellipse">
            <a:avLst/>
          </a:prstGeom>
          <a:solidFill>
            <a:srgbClr val="A8B0BC"/>
          </a:solidFill>
          <a:ln/>
        </p:spPr>
        <p:txBody>
          <a:bodyPr/>
          <a:lstStyle/>
          <a:p>
            <a:endParaRPr lang="en-US"/>
          </a:p>
        </p:txBody>
      </p:sp>
      <p:sp>
        <p:nvSpPr>
          <p:cNvPr id="193" name="Shape 191"/>
          <p:cNvSpPr/>
          <p:nvPr/>
        </p:nvSpPr>
        <p:spPr>
          <a:xfrm>
            <a:off x="8497742" y="4173156"/>
            <a:ext cx="29261" cy="29261"/>
          </a:xfrm>
          <a:prstGeom prst="ellipse">
            <a:avLst/>
          </a:prstGeom>
          <a:solidFill>
            <a:srgbClr val="A8B0BC"/>
          </a:solidFill>
          <a:ln/>
        </p:spPr>
        <p:txBody>
          <a:bodyPr/>
          <a:lstStyle/>
          <a:p>
            <a:endParaRPr lang="en-US"/>
          </a:p>
        </p:txBody>
      </p:sp>
      <p:sp>
        <p:nvSpPr>
          <p:cNvPr id="194" name="Shape 192"/>
          <p:cNvSpPr/>
          <p:nvPr/>
        </p:nvSpPr>
        <p:spPr>
          <a:xfrm>
            <a:off x="8553652" y="4181290"/>
            <a:ext cx="29261" cy="29261"/>
          </a:xfrm>
          <a:prstGeom prst="ellipse">
            <a:avLst/>
          </a:prstGeom>
          <a:solidFill>
            <a:srgbClr val="A8B0BC"/>
          </a:solidFill>
          <a:ln/>
        </p:spPr>
        <p:txBody>
          <a:bodyPr/>
          <a:lstStyle/>
          <a:p>
            <a:endParaRPr lang="en-US"/>
          </a:p>
        </p:txBody>
      </p:sp>
      <p:sp>
        <p:nvSpPr>
          <p:cNvPr id="195" name="Shape 193"/>
          <p:cNvSpPr/>
          <p:nvPr/>
        </p:nvSpPr>
        <p:spPr>
          <a:xfrm>
            <a:off x="8609562" y="4186068"/>
            <a:ext cx="29261" cy="29261"/>
          </a:xfrm>
          <a:prstGeom prst="ellipse">
            <a:avLst/>
          </a:prstGeom>
          <a:solidFill>
            <a:srgbClr val="A8B0BC"/>
          </a:solidFill>
          <a:ln/>
        </p:spPr>
        <p:txBody>
          <a:bodyPr/>
          <a:lstStyle/>
          <a:p>
            <a:endParaRPr lang="en-US"/>
          </a:p>
        </p:txBody>
      </p:sp>
      <p:sp>
        <p:nvSpPr>
          <p:cNvPr id="196" name="Shape 194"/>
          <p:cNvSpPr/>
          <p:nvPr/>
        </p:nvSpPr>
        <p:spPr>
          <a:xfrm>
            <a:off x="8665472" y="4188750"/>
            <a:ext cx="29261" cy="29261"/>
          </a:xfrm>
          <a:prstGeom prst="ellipse">
            <a:avLst/>
          </a:prstGeom>
          <a:solidFill>
            <a:srgbClr val="A8B0BC"/>
          </a:solidFill>
          <a:ln/>
        </p:spPr>
        <p:txBody>
          <a:bodyPr/>
          <a:lstStyle/>
          <a:p>
            <a:endParaRPr lang="en-US"/>
          </a:p>
        </p:txBody>
      </p:sp>
      <p:sp>
        <p:nvSpPr>
          <p:cNvPr id="197" name="Shape 195"/>
          <p:cNvSpPr/>
          <p:nvPr/>
        </p:nvSpPr>
        <p:spPr>
          <a:xfrm>
            <a:off x="8721381" y="4190187"/>
            <a:ext cx="29261" cy="29261"/>
          </a:xfrm>
          <a:prstGeom prst="ellipse">
            <a:avLst/>
          </a:prstGeom>
          <a:solidFill>
            <a:srgbClr val="A8B0BC"/>
          </a:solidFill>
          <a:ln/>
        </p:spPr>
        <p:txBody>
          <a:bodyPr/>
          <a:lstStyle/>
          <a:p>
            <a:endParaRPr lang="en-US"/>
          </a:p>
        </p:txBody>
      </p:sp>
      <p:sp>
        <p:nvSpPr>
          <p:cNvPr id="198" name="Shape 196"/>
          <p:cNvSpPr/>
          <p:nvPr/>
        </p:nvSpPr>
        <p:spPr>
          <a:xfrm>
            <a:off x="8777291" y="4190915"/>
            <a:ext cx="29261" cy="29261"/>
          </a:xfrm>
          <a:prstGeom prst="ellipse">
            <a:avLst/>
          </a:prstGeom>
          <a:solidFill>
            <a:srgbClr val="A8B0BC"/>
          </a:solidFill>
          <a:ln/>
        </p:spPr>
        <p:txBody>
          <a:bodyPr/>
          <a:lstStyle/>
          <a:p>
            <a:endParaRPr lang="en-US"/>
          </a:p>
        </p:txBody>
      </p:sp>
      <p:sp>
        <p:nvSpPr>
          <p:cNvPr id="199" name="Shape 197"/>
          <p:cNvSpPr/>
          <p:nvPr/>
        </p:nvSpPr>
        <p:spPr>
          <a:xfrm>
            <a:off x="8833201" y="4191246"/>
            <a:ext cx="29261" cy="29261"/>
          </a:xfrm>
          <a:prstGeom prst="ellipse">
            <a:avLst/>
          </a:prstGeom>
          <a:solidFill>
            <a:srgbClr val="A8B0BC"/>
          </a:solidFill>
          <a:ln/>
        </p:spPr>
        <p:txBody>
          <a:bodyPr/>
          <a:lstStyle/>
          <a:p>
            <a:endParaRPr lang="en-US"/>
          </a:p>
        </p:txBody>
      </p:sp>
      <p:sp>
        <p:nvSpPr>
          <p:cNvPr id="200" name="Shape 198"/>
          <p:cNvSpPr/>
          <p:nvPr/>
        </p:nvSpPr>
        <p:spPr>
          <a:xfrm>
            <a:off x="8889111" y="4191341"/>
            <a:ext cx="29261" cy="29261"/>
          </a:xfrm>
          <a:prstGeom prst="ellipse">
            <a:avLst/>
          </a:prstGeom>
          <a:solidFill>
            <a:srgbClr val="A8B0BC"/>
          </a:solidFill>
          <a:ln/>
        </p:spPr>
        <p:txBody>
          <a:bodyPr/>
          <a:lstStyle/>
          <a:p>
            <a:endParaRPr lang="en-US"/>
          </a:p>
        </p:txBody>
      </p:sp>
      <p:sp>
        <p:nvSpPr>
          <p:cNvPr id="201" name="Shape 199"/>
          <p:cNvSpPr/>
          <p:nvPr/>
        </p:nvSpPr>
        <p:spPr>
          <a:xfrm>
            <a:off x="8945021" y="4191246"/>
            <a:ext cx="29261" cy="29261"/>
          </a:xfrm>
          <a:prstGeom prst="ellipse">
            <a:avLst/>
          </a:prstGeom>
          <a:solidFill>
            <a:srgbClr val="A8B0BC"/>
          </a:solidFill>
          <a:ln/>
        </p:spPr>
        <p:txBody>
          <a:bodyPr/>
          <a:lstStyle/>
          <a:p>
            <a:endParaRPr lang="en-US"/>
          </a:p>
        </p:txBody>
      </p:sp>
      <p:sp>
        <p:nvSpPr>
          <p:cNvPr id="202" name="Shape 200"/>
          <p:cNvSpPr/>
          <p:nvPr/>
        </p:nvSpPr>
        <p:spPr>
          <a:xfrm>
            <a:off x="9000931" y="4190915"/>
            <a:ext cx="29261" cy="29261"/>
          </a:xfrm>
          <a:prstGeom prst="ellipse">
            <a:avLst/>
          </a:prstGeom>
          <a:solidFill>
            <a:srgbClr val="A8B0BC"/>
          </a:solidFill>
          <a:ln/>
        </p:spPr>
        <p:txBody>
          <a:bodyPr/>
          <a:lstStyle/>
          <a:p>
            <a:endParaRPr lang="en-US"/>
          </a:p>
        </p:txBody>
      </p:sp>
      <p:sp>
        <p:nvSpPr>
          <p:cNvPr id="203" name="Shape 201"/>
          <p:cNvSpPr/>
          <p:nvPr/>
        </p:nvSpPr>
        <p:spPr>
          <a:xfrm>
            <a:off x="9056841" y="4190187"/>
            <a:ext cx="29261" cy="29261"/>
          </a:xfrm>
          <a:prstGeom prst="ellipse">
            <a:avLst/>
          </a:prstGeom>
          <a:solidFill>
            <a:srgbClr val="A8B0BC"/>
          </a:solidFill>
          <a:ln/>
        </p:spPr>
        <p:txBody>
          <a:bodyPr/>
          <a:lstStyle/>
          <a:p>
            <a:endParaRPr lang="en-US"/>
          </a:p>
        </p:txBody>
      </p:sp>
      <p:sp>
        <p:nvSpPr>
          <p:cNvPr id="204" name="Shape 202"/>
          <p:cNvSpPr/>
          <p:nvPr/>
        </p:nvSpPr>
        <p:spPr>
          <a:xfrm>
            <a:off x="9112750" y="4188750"/>
            <a:ext cx="29261" cy="29261"/>
          </a:xfrm>
          <a:prstGeom prst="ellipse">
            <a:avLst/>
          </a:prstGeom>
          <a:solidFill>
            <a:srgbClr val="A8B0BC"/>
          </a:solidFill>
          <a:ln/>
        </p:spPr>
        <p:txBody>
          <a:bodyPr/>
          <a:lstStyle/>
          <a:p>
            <a:endParaRPr lang="en-US"/>
          </a:p>
        </p:txBody>
      </p:sp>
      <p:sp>
        <p:nvSpPr>
          <p:cNvPr id="205" name="Shape 203"/>
          <p:cNvSpPr/>
          <p:nvPr/>
        </p:nvSpPr>
        <p:spPr>
          <a:xfrm>
            <a:off x="9168660" y="4186068"/>
            <a:ext cx="29261" cy="29261"/>
          </a:xfrm>
          <a:prstGeom prst="ellipse">
            <a:avLst/>
          </a:prstGeom>
          <a:solidFill>
            <a:srgbClr val="A8B0BC"/>
          </a:solidFill>
          <a:ln/>
        </p:spPr>
        <p:txBody>
          <a:bodyPr/>
          <a:lstStyle/>
          <a:p>
            <a:endParaRPr lang="en-US"/>
          </a:p>
        </p:txBody>
      </p:sp>
      <p:sp>
        <p:nvSpPr>
          <p:cNvPr id="206" name="Shape 204"/>
          <p:cNvSpPr/>
          <p:nvPr/>
        </p:nvSpPr>
        <p:spPr>
          <a:xfrm>
            <a:off x="9224570" y="4181290"/>
            <a:ext cx="29261" cy="29261"/>
          </a:xfrm>
          <a:prstGeom prst="ellipse">
            <a:avLst/>
          </a:prstGeom>
          <a:solidFill>
            <a:srgbClr val="A8B0BC"/>
          </a:solidFill>
          <a:ln/>
        </p:spPr>
        <p:txBody>
          <a:bodyPr/>
          <a:lstStyle/>
          <a:p>
            <a:endParaRPr lang="en-US"/>
          </a:p>
        </p:txBody>
      </p:sp>
      <p:sp>
        <p:nvSpPr>
          <p:cNvPr id="207" name="Shape 205"/>
          <p:cNvSpPr/>
          <p:nvPr/>
        </p:nvSpPr>
        <p:spPr>
          <a:xfrm>
            <a:off x="9280480" y="4173156"/>
            <a:ext cx="29261" cy="29261"/>
          </a:xfrm>
          <a:prstGeom prst="ellipse">
            <a:avLst/>
          </a:prstGeom>
          <a:solidFill>
            <a:srgbClr val="A8B0BC"/>
          </a:solidFill>
          <a:ln/>
        </p:spPr>
        <p:txBody>
          <a:bodyPr/>
          <a:lstStyle/>
          <a:p>
            <a:endParaRPr lang="en-US"/>
          </a:p>
        </p:txBody>
      </p:sp>
      <p:sp>
        <p:nvSpPr>
          <p:cNvPr id="208" name="Shape 206"/>
          <p:cNvSpPr/>
          <p:nvPr/>
        </p:nvSpPr>
        <p:spPr>
          <a:xfrm>
            <a:off x="9336390" y="4159923"/>
            <a:ext cx="29261" cy="29261"/>
          </a:xfrm>
          <a:prstGeom prst="ellipse">
            <a:avLst/>
          </a:prstGeom>
          <a:solidFill>
            <a:srgbClr val="A8B0BC"/>
          </a:solidFill>
          <a:ln/>
        </p:spPr>
        <p:txBody>
          <a:bodyPr/>
          <a:lstStyle/>
          <a:p>
            <a:endParaRPr lang="en-US"/>
          </a:p>
        </p:txBody>
      </p:sp>
      <p:sp>
        <p:nvSpPr>
          <p:cNvPr id="209" name="Shape 207"/>
          <p:cNvSpPr/>
          <p:nvPr/>
        </p:nvSpPr>
        <p:spPr>
          <a:xfrm>
            <a:off x="9392300" y="4139370"/>
            <a:ext cx="29261" cy="29261"/>
          </a:xfrm>
          <a:prstGeom prst="ellipse">
            <a:avLst/>
          </a:prstGeom>
          <a:solidFill>
            <a:srgbClr val="A8B0BC"/>
          </a:solidFill>
          <a:ln/>
        </p:spPr>
        <p:txBody>
          <a:bodyPr/>
          <a:lstStyle/>
          <a:p>
            <a:endParaRPr lang="en-US"/>
          </a:p>
        </p:txBody>
      </p:sp>
      <p:sp>
        <p:nvSpPr>
          <p:cNvPr id="210" name="Shape 208"/>
          <p:cNvSpPr/>
          <p:nvPr/>
        </p:nvSpPr>
        <p:spPr>
          <a:xfrm>
            <a:off x="9448209" y="4108914"/>
            <a:ext cx="29261" cy="29261"/>
          </a:xfrm>
          <a:prstGeom prst="ellipse">
            <a:avLst/>
          </a:prstGeom>
          <a:solidFill>
            <a:srgbClr val="A8B0BC"/>
          </a:solidFill>
          <a:ln/>
        </p:spPr>
        <p:txBody>
          <a:bodyPr/>
          <a:lstStyle/>
          <a:p>
            <a:endParaRPr lang="en-US"/>
          </a:p>
        </p:txBody>
      </p:sp>
      <p:sp>
        <p:nvSpPr>
          <p:cNvPr id="211" name="Shape 209"/>
          <p:cNvSpPr/>
          <p:nvPr/>
        </p:nvSpPr>
        <p:spPr>
          <a:xfrm>
            <a:off x="9504119" y="4065917"/>
            <a:ext cx="29261" cy="29261"/>
          </a:xfrm>
          <a:prstGeom prst="ellipse">
            <a:avLst/>
          </a:prstGeom>
          <a:solidFill>
            <a:srgbClr val="A8B0BC"/>
          </a:solidFill>
          <a:ln/>
        </p:spPr>
        <p:txBody>
          <a:bodyPr/>
          <a:lstStyle/>
          <a:p>
            <a:endParaRPr lang="en-US"/>
          </a:p>
        </p:txBody>
      </p:sp>
      <p:sp>
        <p:nvSpPr>
          <p:cNvPr id="212" name="Shape 210"/>
          <p:cNvSpPr/>
          <p:nvPr/>
        </p:nvSpPr>
        <p:spPr>
          <a:xfrm>
            <a:off x="9560029" y="4008174"/>
            <a:ext cx="29261" cy="29261"/>
          </a:xfrm>
          <a:prstGeom prst="ellipse">
            <a:avLst/>
          </a:prstGeom>
          <a:solidFill>
            <a:srgbClr val="A8B0BC"/>
          </a:solidFill>
          <a:ln/>
        </p:spPr>
        <p:txBody>
          <a:bodyPr/>
          <a:lstStyle/>
          <a:p>
            <a:endParaRPr lang="en-US"/>
          </a:p>
        </p:txBody>
      </p:sp>
      <p:sp>
        <p:nvSpPr>
          <p:cNvPr id="213" name="Shape 211"/>
          <p:cNvSpPr/>
          <p:nvPr/>
        </p:nvSpPr>
        <p:spPr>
          <a:xfrm>
            <a:off x="9615939" y="3934567"/>
            <a:ext cx="29261" cy="29261"/>
          </a:xfrm>
          <a:prstGeom prst="ellipse">
            <a:avLst/>
          </a:prstGeom>
          <a:solidFill>
            <a:srgbClr val="A8B0BC"/>
          </a:solidFill>
          <a:ln/>
        </p:spPr>
        <p:txBody>
          <a:bodyPr/>
          <a:lstStyle/>
          <a:p>
            <a:endParaRPr lang="en-US"/>
          </a:p>
        </p:txBody>
      </p:sp>
      <p:sp>
        <p:nvSpPr>
          <p:cNvPr id="214" name="Shape 212"/>
          <p:cNvSpPr/>
          <p:nvPr/>
        </p:nvSpPr>
        <p:spPr>
          <a:xfrm>
            <a:off x="9671849" y="3845772"/>
            <a:ext cx="29261" cy="29261"/>
          </a:xfrm>
          <a:prstGeom prst="ellipse">
            <a:avLst/>
          </a:prstGeom>
          <a:solidFill>
            <a:srgbClr val="A8B0BC"/>
          </a:solidFill>
          <a:ln/>
        </p:spPr>
        <p:txBody>
          <a:bodyPr/>
          <a:lstStyle/>
          <a:p>
            <a:endParaRPr lang="en-US"/>
          </a:p>
        </p:txBody>
      </p:sp>
      <p:sp>
        <p:nvSpPr>
          <p:cNvPr id="215" name="Shape 213"/>
          <p:cNvSpPr/>
          <p:nvPr/>
        </p:nvSpPr>
        <p:spPr>
          <a:xfrm>
            <a:off x="9727759" y="3744837"/>
            <a:ext cx="29261" cy="29261"/>
          </a:xfrm>
          <a:prstGeom prst="ellipse">
            <a:avLst/>
          </a:prstGeom>
          <a:solidFill>
            <a:srgbClr val="A8B0BC"/>
          </a:solidFill>
          <a:ln/>
        </p:spPr>
        <p:txBody>
          <a:bodyPr/>
          <a:lstStyle/>
          <a:p>
            <a:endParaRPr lang="en-US"/>
          </a:p>
        </p:txBody>
      </p:sp>
      <p:sp>
        <p:nvSpPr>
          <p:cNvPr id="216" name="Shape 214"/>
          <p:cNvSpPr/>
          <p:nvPr/>
        </p:nvSpPr>
        <p:spPr>
          <a:xfrm>
            <a:off x="9783669" y="3637433"/>
            <a:ext cx="29261" cy="29261"/>
          </a:xfrm>
          <a:prstGeom prst="ellipse">
            <a:avLst/>
          </a:prstGeom>
          <a:solidFill>
            <a:srgbClr val="A8B0BC"/>
          </a:solidFill>
          <a:ln/>
        </p:spPr>
        <p:txBody>
          <a:bodyPr/>
          <a:lstStyle/>
          <a:p>
            <a:endParaRPr lang="en-US"/>
          </a:p>
        </p:txBody>
      </p:sp>
      <p:sp>
        <p:nvSpPr>
          <p:cNvPr id="217" name="Shape 215"/>
          <p:cNvSpPr/>
          <p:nvPr/>
        </p:nvSpPr>
        <p:spPr>
          <a:xfrm>
            <a:off x="9839578" y="3531591"/>
            <a:ext cx="29261" cy="29261"/>
          </a:xfrm>
          <a:prstGeom prst="ellipse">
            <a:avLst/>
          </a:prstGeom>
          <a:solidFill>
            <a:srgbClr val="A8B0BC"/>
          </a:solidFill>
          <a:ln/>
        </p:spPr>
        <p:txBody>
          <a:bodyPr/>
          <a:lstStyle/>
          <a:p>
            <a:endParaRPr lang="en-US"/>
          </a:p>
        </p:txBody>
      </p:sp>
      <p:sp>
        <p:nvSpPr>
          <p:cNvPr id="218" name="Shape 216"/>
          <p:cNvSpPr/>
          <p:nvPr/>
        </p:nvSpPr>
        <p:spPr>
          <a:xfrm>
            <a:off x="9895488" y="3436845"/>
            <a:ext cx="29261" cy="29261"/>
          </a:xfrm>
          <a:prstGeom prst="ellipse">
            <a:avLst/>
          </a:prstGeom>
          <a:solidFill>
            <a:srgbClr val="A8B0BC"/>
          </a:solidFill>
          <a:ln/>
        </p:spPr>
        <p:txBody>
          <a:bodyPr/>
          <a:lstStyle/>
          <a:p>
            <a:endParaRPr lang="en-US"/>
          </a:p>
        </p:txBody>
      </p:sp>
      <p:sp>
        <p:nvSpPr>
          <p:cNvPr id="219" name="Shape 217"/>
          <p:cNvSpPr/>
          <p:nvPr/>
        </p:nvSpPr>
        <p:spPr>
          <a:xfrm>
            <a:off x="9951398" y="3362879"/>
            <a:ext cx="29261" cy="29261"/>
          </a:xfrm>
          <a:prstGeom prst="ellipse">
            <a:avLst/>
          </a:prstGeom>
          <a:solidFill>
            <a:srgbClr val="A8B0BC"/>
          </a:solidFill>
          <a:ln/>
        </p:spPr>
        <p:txBody>
          <a:bodyPr/>
          <a:lstStyle/>
          <a:p>
            <a:endParaRPr lang="en-US"/>
          </a:p>
        </p:txBody>
      </p:sp>
      <p:sp>
        <p:nvSpPr>
          <p:cNvPr id="220" name="Shape 218"/>
          <p:cNvSpPr/>
          <p:nvPr/>
        </p:nvSpPr>
        <p:spPr>
          <a:xfrm>
            <a:off x="10007308" y="3317909"/>
            <a:ext cx="29261" cy="29261"/>
          </a:xfrm>
          <a:prstGeom prst="ellipse">
            <a:avLst/>
          </a:prstGeom>
          <a:solidFill>
            <a:srgbClr val="A8B0BC"/>
          </a:solidFill>
          <a:ln/>
        </p:spPr>
        <p:txBody>
          <a:bodyPr/>
          <a:lstStyle/>
          <a:p>
            <a:endParaRPr lang="en-US"/>
          </a:p>
        </p:txBody>
      </p:sp>
      <p:sp>
        <p:nvSpPr>
          <p:cNvPr id="221" name="Shape 219"/>
          <p:cNvSpPr/>
          <p:nvPr/>
        </p:nvSpPr>
        <p:spPr>
          <a:xfrm>
            <a:off x="10063218" y="3307190"/>
            <a:ext cx="29261" cy="29261"/>
          </a:xfrm>
          <a:prstGeom prst="ellipse">
            <a:avLst/>
          </a:prstGeom>
          <a:solidFill>
            <a:srgbClr val="A8B0BC"/>
          </a:solidFill>
          <a:ln/>
        </p:spPr>
        <p:txBody>
          <a:bodyPr/>
          <a:lstStyle/>
          <a:p>
            <a:endParaRPr lang="en-US"/>
          </a:p>
        </p:txBody>
      </p:sp>
      <p:sp>
        <p:nvSpPr>
          <p:cNvPr id="222" name="Shape 220"/>
          <p:cNvSpPr/>
          <p:nvPr/>
        </p:nvSpPr>
        <p:spPr>
          <a:xfrm>
            <a:off x="10119128" y="3332000"/>
            <a:ext cx="29261" cy="29261"/>
          </a:xfrm>
          <a:prstGeom prst="ellipse">
            <a:avLst/>
          </a:prstGeom>
          <a:solidFill>
            <a:srgbClr val="A8B0BC"/>
          </a:solidFill>
          <a:ln/>
        </p:spPr>
        <p:txBody>
          <a:bodyPr/>
          <a:lstStyle/>
          <a:p>
            <a:endParaRPr lang="en-US"/>
          </a:p>
        </p:txBody>
      </p:sp>
      <p:sp>
        <p:nvSpPr>
          <p:cNvPr id="223" name="Shape 221"/>
          <p:cNvSpPr/>
          <p:nvPr/>
        </p:nvSpPr>
        <p:spPr>
          <a:xfrm>
            <a:off x="10175037" y="3389394"/>
            <a:ext cx="29261" cy="29261"/>
          </a:xfrm>
          <a:prstGeom prst="ellipse">
            <a:avLst/>
          </a:prstGeom>
          <a:solidFill>
            <a:srgbClr val="A8B0BC"/>
          </a:solidFill>
          <a:ln/>
        </p:spPr>
        <p:txBody>
          <a:bodyPr/>
          <a:lstStyle/>
          <a:p>
            <a:endParaRPr lang="en-US"/>
          </a:p>
        </p:txBody>
      </p:sp>
      <p:sp>
        <p:nvSpPr>
          <p:cNvPr id="224" name="Shape 222"/>
          <p:cNvSpPr/>
          <p:nvPr/>
        </p:nvSpPr>
        <p:spPr>
          <a:xfrm>
            <a:off x="10230947" y="3472777"/>
            <a:ext cx="29261" cy="29261"/>
          </a:xfrm>
          <a:prstGeom prst="ellipse">
            <a:avLst/>
          </a:prstGeom>
          <a:solidFill>
            <a:srgbClr val="A8B0BC"/>
          </a:solidFill>
          <a:ln/>
        </p:spPr>
        <p:txBody>
          <a:bodyPr/>
          <a:lstStyle/>
          <a:p>
            <a:endParaRPr lang="en-US"/>
          </a:p>
        </p:txBody>
      </p:sp>
      <p:sp>
        <p:nvSpPr>
          <p:cNvPr id="225" name="Shape 223"/>
          <p:cNvSpPr/>
          <p:nvPr/>
        </p:nvSpPr>
        <p:spPr>
          <a:xfrm>
            <a:off x="10286857" y="3573150"/>
            <a:ext cx="29261" cy="29261"/>
          </a:xfrm>
          <a:prstGeom prst="ellipse">
            <a:avLst/>
          </a:prstGeom>
          <a:solidFill>
            <a:srgbClr val="A8B0BC"/>
          </a:solidFill>
          <a:ln/>
        </p:spPr>
        <p:txBody>
          <a:bodyPr/>
          <a:lstStyle/>
          <a:p>
            <a:endParaRPr lang="en-US"/>
          </a:p>
        </p:txBody>
      </p:sp>
      <p:sp>
        <p:nvSpPr>
          <p:cNvPr id="226" name="Shape 224"/>
          <p:cNvSpPr/>
          <p:nvPr/>
        </p:nvSpPr>
        <p:spPr>
          <a:xfrm>
            <a:off x="10342767" y="3680703"/>
            <a:ext cx="29261" cy="29261"/>
          </a:xfrm>
          <a:prstGeom prst="ellipse">
            <a:avLst/>
          </a:prstGeom>
          <a:solidFill>
            <a:srgbClr val="A8B0BC"/>
          </a:solidFill>
          <a:ln/>
        </p:spPr>
        <p:txBody>
          <a:bodyPr/>
          <a:lstStyle/>
          <a:p>
            <a:endParaRPr lang="en-US"/>
          </a:p>
        </p:txBody>
      </p:sp>
      <p:sp>
        <p:nvSpPr>
          <p:cNvPr id="227" name="Shape 225"/>
          <p:cNvSpPr/>
          <p:nvPr/>
        </p:nvSpPr>
        <p:spPr>
          <a:xfrm>
            <a:off x="10398677" y="3786363"/>
            <a:ext cx="29261" cy="29261"/>
          </a:xfrm>
          <a:prstGeom prst="ellipse">
            <a:avLst/>
          </a:prstGeom>
          <a:solidFill>
            <a:srgbClr val="A8B0BC"/>
          </a:solidFill>
          <a:ln/>
        </p:spPr>
        <p:txBody>
          <a:bodyPr/>
          <a:lstStyle/>
          <a:p>
            <a:endParaRPr lang="en-US"/>
          </a:p>
        </p:txBody>
      </p:sp>
      <p:sp>
        <p:nvSpPr>
          <p:cNvPr id="228" name="Shape 226"/>
          <p:cNvSpPr/>
          <p:nvPr/>
        </p:nvSpPr>
        <p:spPr>
          <a:xfrm>
            <a:off x="10454587" y="3882976"/>
            <a:ext cx="29261" cy="29261"/>
          </a:xfrm>
          <a:prstGeom prst="ellipse">
            <a:avLst/>
          </a:prstGeom>
          <a:solidFill>
            <a:srgbClr val="A8B0BC"/>
          </a:solidFill>
          <a:ln/>
        </p:spPr>
        <p:txBody>
          <a:bodyPr/>
          <a:lstStyle/>
          <a:p>
            <a:endParaRPr lang="en-US"/>
          </a:p>
        </p:txBody>
      </p:sp>
      <p:sp>
        <p:nvSpPr>
          <p:cNvPr id="229" name="Shape 227"/>
          <p:cNvSpPr/>
          <p:nvPr/>
        </p:nvSpPr>
        <p:spPr>
          <a:xfrm>
            <a:off x="10510497" y="3965919"/>
            <a:ext cx="29261" cy="29261"/>
          </a:xfrm>
          <a:prstGeom prst="ellipse">
            <a:avLst/>
          </a:prstGeom>
          <a:solidFill>
            <a:srgbClr val="A8B0BC"/>
          </a:solidFill>
          <a:ln/>
        </p:spPr>
        <p:txBody>
          <a:bodyPr/>
          <a:lstStyle/>
          <a:p>
            <a:endParaRPr lang="en-US"/>
          </a:p>
        </p:txBody>
      </p:sp>
      <p:sp>
        <p:nvSpPr>
          <p:cNvPr id="230" name="Shape 228"/>
          <p:cNvSpPr/>
          <p:nvPr/>
        </p:nvSpPr>
        <p:spPr>
          <a:xfrm>
            <a:off x="10566406" y="4033145"/>
            <a:ext cx="29261" cy="29261"/>
          </a:xfrm>
          <a:prstGeom prst="ellipse">
            <a:avLst/>
          </a:prstGeom>
          <a:solidFill>
            <a:srgbClr val="A8B0BC"/>
          </a:solidFill>
          <a:ln/>
        </p:spPr>
        <p:txBody>
          <a:bodyPr/>
          <a:lstStyle/>
          <a:p>
            <a:endParaRPr lang="en-US"/>
          </a:p>
        </p:txBody>
      </p:sp>
      <p:sp>
        <p:nvSpPr>
          <p:cNvPr id="231" name="Shape 229"/>
          <p:cNvSpPr/>
          <p:nvPr/>
        </p:nvSpPr>
        <p:spPr>
          <a:xfrm>
            <a:off x="10622316" y="4084779"/>
            <a:ext cx="29261" cy="29261"/>
          </a:xfrm>
          <a:prstGeom prst="ellipse">
            <a:avLst/>
          </a:prstGeom>
          <a:solidFill>
            <a:srgbClr val="A8B0BC"/>
          </a:solidFill>
          <a:ln/>
        </p:spPr>
        <p:txBody>
          <a:bodyPr/>
          <a:lstStyle/>
          <a:p>
            <a:endParaRPr lang="en-US"/>
          </a:p>
        </p:txBody>
      </p:sp>
      <p:sp>
        <p:nvSpPr>
          <p:cNvPr id="232" name="Shape 230"/>
          <p:cNvSpPr/>
          <p:nvPr/>
        </p:nvSpPr>
        <p:spPr>
          <a:xfrm>
            <a:off x="10678226" y="4122457"/>
            <a:ext cx="29261" cy="29261"/>
          </a:xfrm>
          <a:prstGeom prst="ellipse">
            <a:avLst/>
          </a:prstGeom>
          <a:solidFill>
            <a:srgbClr val="A8B0BC"/>
          </a:solidFill>
          <a:ln/>
        </p:spPr>
        <p:txBody>
          <a:bodyPr/>
          <a:lstStyle/>
          <a:p>
            <a:endParaRPr lang="en-US"/>
          </a:p>
        </p:txBody>
      </p:sp>
      <p:sp>
        <p:nvSpPr>
          <p:cNvPr id="233" name="Shape 231"/>
          <p:cNvSpPr/>
          <p:nvPr/>
        </p:nvSpPr>
        <p:spPr>
          <a:xfrm>
            <a:off x="10734136" y="4148629"/>
            <a:ext cx="29261" cy="29261"/>
          </a:xfrm>
          <a:prstGeom prst="ellipse">
            <a:avLst/>
          </a:prstGeom>
          <a:solidFill>
            <a:srgbClr val="A8B0BC"/>
          </a:solidFill>
          <a:ln/>
        </p:spPr>
        <p:txBody>
          <a:bodyPr/>
          <a:lstStyle/>
          <a:p>
            <a:endParaRPr lang="en-US"/>
          </a:p>
        </p:txBody>
      </p:sp>
      <p:sp>
        <p:nvSpPr>
          <p:cNvPr id="234" name="Shape 232"/>
          <p:cNvSpPr/>
          <p:nvPr/>
        </p:nvSpPr>
        <p:spPr>
          <a:xfrm>
            <a:off x="10790046" y="4165960"/>
            <a:ext cx="29261" cy="29261"/>
          </a:xfrm>
          <a:prstGeom prst="ellipse">
            <a:avLst/>
          </a:prstGeom>
          <a:solidFill>
            <a:srgbClr val="A8B0BC"/>
          </a:solidFill>
          <a:ln/>
        </p:spPr>
        <p:txBody>
          <a:bodyPr/>
          <a:lstStyle/>
          <a:p>
            <a:endParaRPr lang="en-US"/>
          </a:p>
        </p:txBody>
      </p:sp>
      <p:sp>
        <p:nvSpPr>
          <p:cNvPr id="235" name="Shape 233"/>
          <p:cNvSpPr/>
          <p:nvPr/>
        </p:nvSpPr>
        <p:spPr>
          <a:xfrm>
            <a:off x="10845956" y="4176913"/>
            <a:ext cx="29261" cy="29261"/>
          </a:xfrm>
          <a:prstGeom prst="ellipse">
            <a:avLst/>
          </a:prstGeom>
          <a:solidFill>
            <a:srgbClr val="A8B0BC"/>
          </a:solidFill>
          <a:ln/>
        </p:spPr>
        <p:txBody>
          <a:bodyPr/>
          <a:lstStyle/>
          <a:p>
            <a:endParaRPr lang="en-US"/>
          </a:p>
        </p:txBody>
      </p:sp>
      <p:sp>
        <p:nvSpPr>
          <p:cNvPr id="236" name="Shape 234"/>
          <p:cNvSpPr/>
          <p:nvPr/>
        </p:nvSpPr>
        <p:spPr>
          <a:xfrm>
            <a:off x="10901865" y="4183524"/>
            <a:ext cx="29261" cy="29261"/>
          </a:xfrm>
          <a:prstGeom prst="ellipse">
            <a:avLst/>
          </a:prstGeom>
          <a:solidFill>
            <a:srgbClr val="A8B0BC"/>
          </a:solidFill>
          <a:ln/>
        </p:spPr>
        <p:txBody>
          <a:bodyPr/>
          <a:lstStyle/>
          <a:p>
            <a:endParaRPr lang="en-US"/>
          </a:p>
        </p:txBody>
      </p:sp>
      <p:sp>
        <p:nvSpPr>
          <p:cNvPr id="237" name="Shape 235"/>
          <p:cNvSpPr/>
          <p:nvPr/>
        </p:nvSpPr>
        <p:spPr>
          <a:xfrm>
            <a:off x="10957775" y="4187338"/>
            <a:ext cx="29261" cy="29261"/>
          </a:xfrm>
          <a:prstGeom prst="ellipse">
            <a:avLst/>
          </a:prstGeom>
          <a:solidFill>
            <a:srgbClr val="A8B0BC"/>
          </a:solidFill>
          <a:ln/>
        </p:spPr>
        <p:txBody>
          <a:bodyPr/>
          <a:lstStyle/>
          <a:p>
            <a:endParaRPr lang="en-US"/>
          </a:p>
        </p:txBody>
      </p:sp>
      <p:sp>
        <p:nvSpPr>
          <p:cNvPr id="238" name="Shape 236"/>
          <p:cNvSpPr/>
          <p:nvPr/>
        </p:nvSpPr>
        <p:spPr>
          <a:xfrm>
            <a:off x="11013685" y="4189443"/>
            <a:ext cx="29261" cy="29261"/>
          </a:xfrm>
          <a:prstGeom prst="ellipse">
            <a:avLst/>
          </a:prstGeom>
          <a:solidFill>
            <a:srgbClr val="A8B0BC"/>
          </a:solidFill>
          <a:ln/>
        </p:spPr>
        <p:txBody>
          <a:bodyPr/>
          <a:lstStyle/>
          <a:p>
            <a:endParaRPr lang="en-US"/>
          </a:p>
        </p:txBody>
      </p:sp>
      <p:sp>
        <p:nvSpPr>
          <p:cNvPr id="239" name="Shape 237"/>
          <p:cNvSpPr/>
          <p:nvPr/>
        </p:nvSpPr>
        <p:spPr>
          <a:xfrm>
            <a:off x="11069595" y="4190554"/>
            <a:ext cx="29261" cy="29261"/>
          </a:xfrm>
          <a:prstGeom prst="ellipse">
            <a:avLst/>
          </a:prstGeom>
          <a:solidFill>
            <a:srgbClr val="A8B0BC"/>
          </a:solidFill>
          <a:ln/>
        </p:spPr>
        <p:txBody>
          <a:bodyPr/>
          <a:lstStyle/>
          <a:p>
            <a:endParaRPr lang="en-US"/>
          </a:p>
        </p:txBody>
      </p:sp>
      <p:sp>
        <p:nvSpPr>
          <p:cNvPr id="240" name="Shape 238"/>
          <p:cNvSpPr/>
          <p:nvPr/>
        </p:nvSpPr>
        <p:spPr>
          <a:xfrm>
            <a:off x="11125505" y="4191116"/>
            <a:ext cx="29261" cy="29261"/>
          </a:xfrm>
          <a:prstGeom prst="ellipse">
            <a:avLst/>
          </a:prstGeom>
          <a:solidFill>
            <a:srgbClr val="A8B0BC"/>
          </a:solidFill>
          <a:ln/>
        </p:spPr>
        <p:txBody>
          <a:bodyPr/>
          <a:lstStyle/>
          <a:p>
            <a:endParaRPr lang="en-US"/>
          </a:p>
        </p:txBody>
      </p:sp>
      <p:sp>
        <p:nvSpPr>
          <p:cNvPr id="241" name="Shape 239"/>
          <p:cNvSpPr/>
          <p:nvPr/>
        </p:nvSpPr>
        <p:spPr>
          <a:xfrm>
            <a:off x="6642202" y="4181020"/>
            <a:ext cx="50292" cy="50292"/>
          </a:xfrm>
          <a:prstGeom prst="ellipse">
            <a:avLst/>
          </a:prstGeom>
          <a:solidFill>
            <a:srgbClr val="9C3D6E"/>
          </a:solidFill>
          <a:ln/>
        </p:spPr>
        <p:txBody>
          <a:bodyPr/>
          <a:lstStyle/>
          <a:p>
            <a:endParaRPr lang="en-US"/>
          </a:p>
        </p:txBody>
      </p:sp>
      <p:sp>
        <p:nvSpPr>
          <p:cNvPr id="242" name="Shape 240"/>
          <p:cNvSpPr/>
          <p:nvPr/>
        </p:nvSpPr>
        <p:spPr>
          <a:xfrm>
            <a:off x="6716748" y="4180830"/>
            <a:ext cx="50292" cy="50292"/>
          </a:xfrm>
          <a:prstGeom prst="ellipse">
            <a:avLst/>
          </a:prstGeom>
          <a:solidFill>
            <a:srgbClr val="9C3D6E"/>
          </a:solidFill>
          <a:ln/>
        </p:spPr>
        <p:txBody>
          <a:bodyPr/>
          <a:lstStyle/>
          <a:p>
            <a:endParaRPr lang="en-US"/>
          </a:p>
        </p:txBody>
      </p:sp>
      <p:sp>
        <p:nvSpPr>
          <p:cNvPr id="243" name="Shape 241"/>
          <p:cNvSpPr/>
          <p:nvPr/>
        </p:nvSpPr>
        <p:spPr>
          <a:xfrm>
            <a:off x="6791295" y="4180230"/>
            <a:ext cx="50292" cy="50292"/>
          </a:xfrm>
          <a:prstGeom prst="ellipse">
            <a:avLst/>
          </a:prstGeom>
          <a:solidFill>
            <a:srgbClr val="9C3D6E"/>
          </a:solidFill>
          <a:ln/>
        </p:spPr>
        <p:txBody>
          <a:bodyPr/>
          <a:lstStyle/>
          <a:p>
            <a:endParaRPr lang="en-US"/>
          </a:p>
        </p:txBody>
      </p:sp>
      <p:sp>
        <p:nvSpPr>
          <p:cNvPr id="244" name="Shape 242"/>
          <p:cNvSpPr/>
          <p:nvPr/>
        </p:nvSpPr>
        <p:spPr>
          <a:xfrm>
            <a:off x="6865841" y="4178517"/>
            <a:ext cx="50292" cy="50292"/>
          </a:xfrm>
          <a:prstGeom prst="ellipse">
            <a:avLst/>
          </a:prstGeom>
          <a:solidFill>
            <a:srgbClr val="9C3D6E"/>
          </a:solidFill>
          <a:ln/>
        </p:spPr>
        <p:txBody>
          <a:bodyPr/>
          <a:lstStyle/>
          <a:p>
            <a:endParaRPr lang="en-US"/>
          </a:p>
        </p:txBody>
      </p:sp>
      <p:sp>
        <p:nvSpPr>
          <p:cNvPr id="245" name="Shape 243"/>
          <p:cNvSpPr/>
          <p:nvPr/>
        </p:nvSpPr>
        <p:spPr>
          <a:xfrm>
            <a:off x="6940387" y="4174082"/>
            <a:ext cx="50292" cy="50292"/>
          </a:xfrm>
          <a:prstGeom prst="ellipse">
            <a:avLst/>
          </a:prstGeom>
          <a:solidFill>
            <a:srgbClr val="9C3D6E"/>
          </a:solidFill>
          <a:ln/>
        </p:spPr>
        <p:txBody>
          <a:bodyPr/>
          <a:lstStyle/>
          <a:p>
            <a:endParaRPr lang="en-US"/>
          </a:p>
        </p:txBody>
      </p:sp>
      <p:sp>
        <p:nvSpPr>
          <p:cNvPr id="246" name="Shape 244"/>
          <p:cNvSpPr/>
          <p:nvPr/>
        </p:nvSpPr>
        <p:spPr>
          <a:xfrm>
            <a:off x="7014934" y="4163691"/>
            <a:ext cx="50292" cy="50292"/>
          </a:xfrm>
          <a:prstGeom prst="ellipse">
            <a:avLst/>
          </a:prstGeom>
          <a:solidFill>
            <a:srgbClr val="9C3D6E"/>
          </a:solidFill>
          <a:ln/>
        </p:spPr>
        <p:txBody>
          <a:bodyPr/>
          <a:lstStyle/>
          <a:p>
            <a:endParaRPr lang="en-US"/>
          </a:p>
        </p:txBody>
      </p:sp>
      <p:sp>
        <p:nvSpPr>
          <p:cNvPr id="247" name="Shape 245"/>
          <p:cNvSpPr/>
          <p:nvPr/>
        </p:nvSpPr>
        <p:spPr>
          <a:xfrm>
            <a:off x="7089480" y="4141688"/>
            <a:ext cx="50292" cy="50292"/>
          </a:xfrm>
          <a:prstGeom prst="ellipse">
            <a:avLst/>
          </a:prstGeom>
          <a:solidFill>
            <a:srgbClr val="9C3D6E"/>
          </a:solidFill>
          <a:ln/>
        </p:spPr>
        <p:txBody>
          <a:bodyPr/>
          <a:lstStyle/>
          <a:p>
            <a:endParaRPr lang="en-US"/>
          </a:p>
        </p:txBody>
      </p:sp>
      <p:sp>
        <p:nvSpPr>
          <p:cNvPr id="248" name="Shape 246"/>
          <p:cNvSpPr/>
          <p:nvPr/>
        </p:nvSpPr>
        <p:spPr>
          <a:xfrm>
            <a:off x="7164027" y="4099696"/>
            <a:ext cx="50292" cy="50292"/>
          </a:xfrm>
          <a:prstGeom prst="ellipse">
            <a:avLst/>
          </a:prstGeom>
          <a:solidFill>
            <a:srgbClr val="9C3D6E"/>
          </a:solidFill>
          <a:ln/>
        </p:spPr>
        <p:txBody>
          <a:bodyPr/>
          <a:lstStyle/>
          <a:p>
            <a:endParaRPr lang="en-US"/>
          </a:p>
        </p:txBody>
      </p:sp>
      <p:sp>
        <p:nvSpPr>
          <p:cNvPr id="249" name="Shape 247"/>
          <p:cNvSpPr/>
          <p:nvPr/>
        </p:nvSpPr>
        <p:spPr>
          <a:xfrm>
            <a:off x="7238573" y="4027709"/>
            <a:ext cx="50292" cy="50292"/>
          </a:xfrm>
          <a:prstGeom prst="ellipse">
            <a:avLst/>
          </a:prstGeom>
          <a:solidFill>
            <a:srgbClr val="9C3D6E"/>
          </a:solidFill>
          <a:ln/>
        </p:spPr>
        <p:txBody>
          <a:bodyPr/>
          <a:lstStyle/>
          <a:p>
            <a:endParaRPr lang="en-US"/>
          </a:p>
        </p:txBody>
      </p:sp>
      <p:sp>
        <p:nvSpPr>
          <p:cNvPr id="250" name="Shape 248"/>
          <p:cNvSpPr/>
          <p:nvPr/>
        </p:nvSpPr>
        <p:spPr>
          <a:xfrm>
            <a:off x="7313120" y="3917414"/>
            <a:ext cx="50292" cy="50292"/>
          </a:xfrm>
          <a:prstGeom prst="ellipse">
            <a:avLst/>
          </a:prstGeom>
          <a:solidFill>
            <a:srgbClr val="9C3D6E"/>
          </a:solidFill>
          <a:ln/>
        </p:spPr>
        <p:txBody>
          <a:bodyPr/>
          <a:lstStyle/>
          <a:p>
            <a:endParaRPr lang="en-US"/>
          </a:p>
        </p:txBody>
      </p:sp>
      <p:sp>
        <p:nvSpPr>
          <p:cNvPr id="251" name="Shape 249"/>
          <p:cNvSpPr/>
          <p:nvPr/>
        </p:nvSpPr>
        <p:spPr>
          <a:xfrm>
            <a:off x="7387666" y="3767581"/>
            <a:ext cx="50292" cy="50292"/>
          </a:xfrm>
          <a:prstGeom prst="ellipse">
            <a:avLst/>
          </a:prstGeom>
          <a:solidFill>
            <a:srgbClr val="9C3D6E"/>
          </a:solidFill>
          <a:ln/>
        </p:spPr>
        <p:txBody>
          <a:bodyPr/>
          <a:lstStyle/>
          <a:p>
            <a:endParaRPr lang="en-US"/>
          </a:p>
        </p:txBody>
      </p:sp>
      <p:sp>
        <p:nvSpPr>
          <p:cNvPr id="252" name="Shape 250"/>
          <p:cNvSpPr/>
          <p:nvPr/>
        </p:nvSpPr>
        <p:spPr>
          <a:xfrm>
            <a:off x="7462213" y="3589503"/>
            <a:ext cx="50292" cy="50292"/>
          </a:xfrm>
          <a:prstGeom prst="ellipse">
            <a:avLst/>
          </a:prstGeom>
          <a:solidFill>
            <a:srgbClr val="9C3D6E"/>
          </a:solidFill>
          <a:ln/>
        </p:spPr>
        <p:txBody>
          <a:bodyPr/>
          <a:lstStyle/>
          <a:p>
            <a:endParaRPr lang="en-US"/>
          </a:p>
        </p:txBody>
      </p:sp>
      <p:sp>
        <p:nvSpPr>
          <p:cNvPr id="253" name="Shape 251"/>
          <p:cNvSpPr/>
          <p:nvPr/>
        </p:nvSpPr>
        <p:spPr>
          <a:xfrm>
            <a:off x="7536759" y="3408993"/>
            <a:ext cx="50292" cy="50292"/>
          </a:xfrm>
          <a:prstGeom prst="ellipse">
            <a:avLst/>
          </a:prstGeom>
          <a:solidFill>
            <a:srgbClr val="9C3D6E"/>
          </a:solidFill>
          <a:ln/>
        </p:spPr>
        <p:txBody>
          <a:bodyPr/>
          <a:lstStyle/>
          <a:p>
            <a:endParaRPr lang="en-US"/>
          </a:p>
        </p:txBody>
      </p:sp>
      <p:sp>
        <p:nvSpPr>
          <p:cNvPr id="254" name="Shape 252"/>
          <p:cNvSpPr/>
          <p:nvPr/>
        </p:nvSpPr>
        <p:spPr>
          <a:xfrm>
            <a:off x="7611306" y="3261817"/>
            <a:ext cx="50292" cy="50292"/>
          </a:xfrm>
          <a:prstGeom prst="ellipse">
            <a:avLst/>
          </a:prstGeom>
          <a:solidFill>
            <a:srgbClr val="9C3D6E"/>
          </a:solidFill>
          <a:ln/>
        </p:spPr>
        <p:txBody>
          <a:bodyPr/>
          <a:lstStyle/>
          <a:p>
            <a:endParaRPr lang="en-US"/>
          </a:p>
        </p:txBody>
      </p:sp>
      <p:sp>
        <p:nvSpPr>
          <p:cNvPr id="255" name="Shape 253"/>
          <p:cNvSpPr/>
          <p:nvPr/>
        </p:nvSpPr>
        <p:spPr>
          <a:xfrm>
            <a:off x="7685852" y="3182616"/>
            <a:ext cx="50292" cy="50292"/>
          </a:xfrm>
          <a:prstGeom prst="ellipse">
            <a:avLst/>
          </a:prstGeom>
          <a:solidFill>
            <a:srgbClr val="9C3D6E"/>
          </a:solidFill>
          <a:ln/>
        </p:spPr>
        <p:txBody>
          <a:bodyPr/>
          <a:lstStyle/>
          <a:p>
            <a:endParaRPr lang="en-US"/>
          </a:p>
        </p:txBody>
      </p:sp>
      <p:sp>
        <p:nvSpPr>
          <p:cNvPr id="256" name="Shape 254"/>
          <p:cNvSpPr/>
          <p:nvPr/>
        </p:nvSpPr>
        <p:spPr>
          <a:xfrm>
            <a:off x="7760399" y="3191743"/>
            <a:ext cx="50292" cy="50292"/>
          </a:xfrm>
          <a:prstGeom prst="ellipse">
            <a:avLst/>
          </a:prstGeom>
          <a:solidFill>
            <a:srgbClr val="9C3D6E"/>
          </a:solidFill>
          <a:ln/>
        </p:spPr>
        <p:txBody>
          <a:bodyPr/>
          <a:lstStyle/>
          <a:p>
            <a:endParaRPr lang="en-US"/>
          </a:p>
        </p:txBody>
      </p:sp>
      <p:sp>
        <p:nvSpPr>
          <p:cNvPr id="257" name="Shape 255"/>
          <p:cNvSpPr/>
          <p:nvPr/>
        </p:nvSpPr>
        <p:spPr>
          <a:xfrm>
            <a:off x="7834945" y="3286796"/>
            <a:ext cx="50292" cy="50292"/>
          </a:xfrm>
          <a:prstGeom prst="ellipse">
            <a:avLst/>
          </a:prstGeom>
          <a:solidFill>
            <a:srgbClr val="9C3D6E"/>
          </a:solidFill>
          <a:ln/>
        </p:spPr>
        <p:txBody>
          <a:bodyPr/>
          <a:lstStyle/>
          <a:p>
            <a:endParaRPr lang="en-US"/>
          </a:p>
        </p:txBody>
      </p:sp>
      <p:sp>
        <p:nvSpPr>
          <p:cNvPr id="258" name="Shape 256"/>
          <p:cNvSpPr/>
          <p:nvPr/>
        </p:nvSpPr>
        <p:spPr>
          <a:xfrm>
            <a:off x="7909491" y="3443641"/>
            <a:ext cx="50292" cy="50292"/>
          </a:xfrm>
          <a:prstGeom prst="ellipse">
            <a:avLst/>
          </a:prstGeom>
          <a:solidFill>
            <a:srgbClr val="9C3D6E"/>
          </a:solidFill>
          <a:ln/>
        </p:spPr>
        <p:txBody>
          <a:bodyPr/>
          <a:lstStyle/>
          <a:p>
            <a:endParaRPr lang="en-US"/>
          </a:p>
        </p:txBody>
      </p:sp>
      <p:sp>
        <p:nvSpPr>
          <p:cNvPr id="259" name="Shape 257"/>
          <p:cNvSpPr/>
          <p:nvPr/>
        </p:nvSpPr>
        <p:spPr>
          <a:xfrm>
            <a:off x="7984038" y="3626333"/>
            <a:ext cx="50292" cy="50292"/>
          </a:xfrm>
          <a:prstGeom prst="ellipse">
            <a:avLst/>
          </a:prstGeom>
          <a:solidFill>
            <a:srgbClr val="9C3D6E"/>
          </a:solidFill>
          <a:ln/>
        </p:spPr>
        <p:txBody>
          <a:bodyPr/>
          <a:lstStyle/>
          <a:p>
            <a:endParaRPr lang="en-US"/>
          </a:p>
        </p:txBody>
      </p:sp>
      <p:sp>
        <p:nvSpPr>
          <p:cNvPr id="260" name="Shape 258"/>
          <p:cNvSpPr/>
          <p:nvPr/>
        </p:nvSpPr>
        <p:spPr>
          <a:xfrm>
            <a:off x="8058584" y="3800381"/>
            <a:ext cx="50292" cy="50292"/>
          </a:xfrm>
          <a:prstGeom prst="ellipse">
            <a:avLst/>
          </a:prstGeom>
          <a:solidFill>
            <a:srgbClr val="9C3D6E"/>
          </a:solidFill>
          <a:ln/>
        </p:spPr>
        <p:txBody>
          <a:bodyPr/>
          <a:lstStyle/>
          <a:p>
            <a:endParaRPr lang="en-US"/>
          </a:p>
        </p:txBody>
      </p:sp>
      <p:sp>
        <p:nvSpPr>
          <p:cNvPr id="261" name="Shape 259"/>
          <p:cNvSpPr/>
          <p:nvPr/>
        </p:nvSpPr>
        <p:spPr>
          <a:xfrm>
            <a:off x="8133131" y="3942748"/>
            <a:ext cx="50292" cy="50292"/>
          </a:xfrm>
          <a:prstGeom prst="ellipse">
            <a:avLst/>
          </a:prstGeom>
          <a:solidFill>
            <a:srgbClr val="9C3D6E"/>
          </a:solidFill>
          <a:ln/>
        </p:spPr>
        <p:txBody>
          <a:bodyPr/>
          <a:lstStyle/>
          <a:p>
            <a:endParaRPr lang="en-US"/>
          </a:p>
        </p:txBody>
      </p:sp>
      <p:sp>
        <p:nvSpPr>
          <p:cNvPr id="262" name="Shape 260"/>
          <p:cNvSpPr/>
          <p:nvPr/>
        </p:nvSpPr>
        <p:spPr>
          <a:xfrm>
            <a:off x="8207677" y="4044968"/>
            <a:ext cx="50292" cy="50292"/>
          </a:xfrm>
          <a:prstGeom prst="ellipse">
            <a:avLst/>
          </a:prstGeom>
          <a:solidFill>
            <a:srgbClr val="9C3D6E"/>
          </a:solidFill>
          <a:ln/>
        </p:spPr>
        <p:txBody>
          <a:bodyPr/>
          <a:lstStyle/>
          <a:p>
            <a:endParaRPr lang="en-US"/>
          </a:p>
        </p:txBody>
      </p:sp>
      <p:sp>
        <p:nvSpPr>
          <p:cNvPr id="263" name="Shape 261"/>
          <p:cNvSpPr/>
          <p:nvPr/>
        </p:nvSpPr>
        <p:spPr>
          <a:xfrm>
            <a:off x="8282224" y="4110170"/>
            <a:ext cx="50292" cy="50292"/>
          </a:xfrm>
          <a:prstGeom prst="ellipse">
            <a:avLst/>
          </a:prstGeom>
          <a:solidFill>
            <a:srgbClr val="9C3D6E"/>
          </a:solidFill>
          <a:ln/>
        </p:spPr>
        <p:txBody>
          <a:bodyPr/>
          <a:lstStyle/>
          <a:p>
            <a:endParaRPr lang="en-US"/>
          </a:p>
        </p:txBody>
      </p:sp>
      <p:sp>
        <p:nvSpPr>
          <p:cNvPr id="264" name="Shape 262"/>
          <p:cNvSpPr/>
          <p:nvPr/>
        </p:nvSpPr>
        <p:spPr>
          <a:xfrm>
            <a:off x="8356770" y="4147384"/>
            <a:ext cx="50292" cy="50292"/>
          </a:xfrm>
          <a:prstGeom prst="ellipse">
            <a:avLst/>
          </a:prstGeom>
          <a:solidFill>
            <a:srgbClr val="9C3D6E"/>
          </a:solidFill>
          <a:ln/>
        </p:spPr>
        <p:txBody>
          <a:bodyPr/>
          <a:lstStyle/>
          <a:p>
            <a:endParaRPr lang="en-US"/>
          </a:p>
        </p:txBody>
      </p:sp>
      <p:sp>
        <p:nvSpPr>
          <p:cNvPr id="265" name="Shape 263"/>
          <p:cNvSpPr/>
          <p:nvPr/>
        </p:nvSpPr>
        <p:spPr>
          <a:xfrm>
            <a:off x="8431317" y="4166477"/>
            <a:ext cx="50292" cy="50292"/>
          </a:xfrm>
          <a:prstGeom prst="ellipse">
            <a:avLst/>
          </a:prstGeom>
          <a:solidFill>
            <a:srgbClr val="9C3D6E"/>
          </a:solidFill>
          <a:ln/>
        </p:spPr>
        <p:txBody>
          <a:bodyPr/>
          <a:lstStyle/>
          <a:p>
            <a:endParaRPr lang="en-US"/>
          </a:p>
        </p:txBody>
      </p:sp>
      <p:sp>
        <p:nvSpPr>
          <p:cNvPr id="266" name="Shape 264"/>
          <p:cNvSpPr/>
          <p:nvPr/>
        </p:nvSpPr>
        <p:spPr>
          <a:xfrm>
            <a:off x="8505863" y="4175312"/>
            <a:ext cx="50292" cy="50292"/>
          </a:xfrm>
          <a:prstGeom prst="ellipse">
            <a:avLst/>
          </a:prstGeom>
          <a:solidFill>
            <a:srgbClr val="9C3D6E"/>
          </a:solidFill>
          <a:ln/>
        </p:spPr>
        <p:txBody>
          <a:bodyPr/>
          <a:lstStyle/>
          <a:p>
            <a:endParaRPr lang="en-US"/>
          </a:p>
        </p:txBody>
      </p:sp>
      <p:sp>
        <p:nvSpPr>
          <p:cNvPr id="267" name="Shape 265"/>
          <p:cNvSpPr/>
          <p:nvPr/>
        </p:nvSpPr>
        <p:spPr>
          <a:xfrm>
            <a:off x="8580410" y="4179008"/>
            <a:ext cx="50292" cy="50292"/>
          </a:xfrm>
          <a:prstGeom prst="ellipse">
            <a:avLst/>
          </a:prstGeom>
          <a:solidFill>
            <a:srgbClr val="9C3D6E"/>
          </a:solidFill>
          <a:ln/>
        </p:spPr>
        <p:txBody>
          <a:bodyPr/>
          <a:lstStyle/>
          <a:p>
            <a:endParaRPr lang="en-US"/>
          </a:p>
        </p:txBody>
      </p:sp>
      <p:sp>
        <p:nvSpPr>
          <p:cNvPr id="268" name="Shape 266"/>
          <p:cNvSpPr/>
          <p:nvPr/>
        </p:nvSpPr>
        <p:spPr>
          <a:xfrm>
            <a:off x="8654956" y="4180407"/>
            <a:ext cx="50292" cy="50292"/>
          </a:xfrm>
          <a:prstGeom prst="ellipse">
            <a:avLst/>
          </a:prstGeom>
          <a:solidFill>
            <a:srgbClr val="9C3D6E"/>
          </a:solidFill>
          <a:ln/>
        </p:spPr>
        <p:txBody>
          <a:bodyPr/>
          <a:lstStyle/>
          <a:p>
            <a:endParaRPr lang="en-US"/>
          </a:p>
        </p:txBody>
      </p:sp>
      <p:sp>
        <p:nvSpPr>
          <p:cNvPr id="269" name="Shape 267"/>
          <p:cNvSpPr/>
          <p:nvPr/>
        </p:nvSpPr>
        <p:spPr>
          <a:xfrm>
            <a:off x="8729502" y="4180888"/>
            <a:ext cx="50292" cy="50292"/>
          </a:xfrm>
          <a:prstGeom prst="ellipse">
            <a:avLst/>
          </a:prstGeom>
          <a:solidFill>
            <a:srgbClr val="9C3D6E"/>
          </a:solidFill>
          <a:ln/>
        </p:spPr>
        <p:txBody>
          <a:bodyPr/>
          <a:lstStyle/>
          <a:p>
            <a:endParaRPr lang="en-US"/>
          </a:p>
        </p:txBody>
      </p:sp>
      <p:sp>
        <p:nvSpPr>
          <p:cNvPr id="270" name="Shape 268"/>
          <p:cNvSpPr/>
          <p:nvPr/>
        </p:nvSpPr>
        <p:spPr>
          <a:xfrm>
            <a:off x="8804049" y="4181037"/>
            <a:ext cx="50292" cy="50292"/>
          </a:xfrm>
          <a:prstGeom prst="ellipse">
            <a:avLst/>
          </a:prstGeom>
          <a:solidFill>
            <a:srgbClr val="9C3D6E"/>
          </a:solidFill>
          <a:ln/>
        </p:spPr>
        <p:txBody>
          <a:bodyPr/>
          <a:lstStyle/>
          <a:p>
            <a:endParaRPr lang="en-US"/>
          </a:p>
        </p:txBody>
      </p:sp>
      <p:sp>
        <p:nvSpPr>
          <p:cNvPr id="271" name="Shape 269"/>
          <p:cNvSpPr/>
          <p:nvPr/>
        </p:nvSpPr>
        <p:spPr>
          <a:xfrm>
            <a:off x="8878595" y="4181080"/>
            <a:ext cx="50292" cy="50292"/>
          </a:xfrm>
          <a:prstGeom prst="ellipse">
            <a:avLst/>
          </a:prstGeom>
          <a:solidFill>
            <a:srgbClr val="9C3D6E"/>
          </a:solidFill>
          <a:ln/>
        </p:spPr>
        <p:txBody>
          <a:bodyPr/>
          <a:lstStyle/>
          <a:p>
            <a:endParaRPr lang="en-US"/>
          </a:p>
        </p:txBody>
      </p:sp>
      <p:sp>
        <p:nvSpPr>
          <p:cNvPr id="272" name="Shape 270"/>
          <p:cNvSpPr/>
          <p:nvPr/>
        </p:nvSpPr>
        <p:spPr>
          <a:xfrm>
            <a:off x="8953142" y="4181091"/>
            <a:ext cx="50292" cy="50292"/>
          </a:xfrm>
          <a:prstGeom prst="ellipse">
            <a:avLst/>
          </a:prstGeom>
          <a:solidFill>
            <a:srgbClr val="9C3D6E"/>
          </a:solidFill>
          <a:ln/>
        </p:spPr>
        <p:txBody>
          <a:bodyPr/>
          <a:lstStyle/>
          <a:p>
            <a:endParaRPr lang="en-US"/>
          </a:p>
        </p:txBody>
      </p:sp>
      <p:sp>
        <p:nvSpPr>
          <p:cNvPr id="273" name="Shape 271"/>
          <p:cNvSpPr/>
          <p:nvPr/>
        </p:nvSpPr>
        <p:spPr>
          <a:xfrm>
            <a:off x="9027688" y="4181093"/>
            <a:ext cx="50292" cy="50292"/>
          </a:xfrm>
          <a:prstGeom prst="ellipse">
            <a:avLst/>
          </a:prstGeom>
          <a:solidFill>
            <a:srgbClr val="9C3D6E"/>
          </a:solidFill>
          <a:ln/>
        </p:spPr>
        <p:txBody>
          <a:bodyPr/>
          <a:lstStyle/>
          <a:p>
            <a:endParaRPr lang="en-US"/>
          </a:p>
        </p:txBody>
      </p:sp>
      <p:sp>
        <p:nvSpPr>
          <p:cNvPr id="274" name="Shape 272"/>
          <p:cNvSpPr/>
          <p:nvPr/>
        </p:nvSpPr>
        <p:spPr>
          <a:xfrm>
            <a:off x="9102235" y="4181094"/>
            <a:ext cx="50292" cy="50292"/>
          </a:xfrm>
          <a:prstGeom prst="ellipse">
            <a:avLst/>
          </a:prstGeom>
          <a:solidFill>
            <a:srgbClr val="9C3D6E"/>
          </a:solidFill>
          <a:ln/>
        </p:spPr>
        <p:txBody>
          <a:bodyPr/>
          <a:lstStyle/>
          <a:p>
            <a:endParaRPr lang="en-US"/>
          </a:p>
        </p:txBody>
      </p:sp>
      <p:sp>
        <p:nvSpPr>
          <p:cNvPr id="275" name="Shape 273"/>
          <p:cNvSpPr/>
          <p:nvPr/>
        </p:nvSpPr>
        <p:spPr>
          <a:xfrm>
            <a:off x="9176781" y="4181094"/>
            <a:ext cx="50292" cy="50292"/>
          </a:xfrm>
          <a:prstGeom prst="ellipse">
            <a:avLst/>
          </a:prstGeom>
          <a:solidFill>
            <a:srgbClr val="9C3D6E"/>
          </a:solidFill>
          <a:ln/>
        </p:spPr>
        <p:txBody>
          <a:bodyPr/>
          <a:lstStyle/>
          <a:p>
            <a:endParaRPr lang="en-US"/>
          </a:p>
        </p:txBody>
      </p:sp>
      <p:sp>
        <p:nvSpPr>
          <p:cNvPr id="276" name="Shape 274"/>
          <p:cNvSpPr/>
          <p:nvPr/>
        </p:nvSpPr>
        <p:spPr>
          <a:xfrm>
            <a:off x="9251328" y="4181094"/>
            <a:ext cx="50292" cy="50292"/>
          </a:xfrm>
          <a:prstGeom prst="ellipse">
            <a:avLst/>
          </a:prstGeom>
          <a:solidFill>
            <a:srgbClr val="9C3D6E"/>
          </a:solidFill>
          <a:ln/>
        </p:spPr>
        <p:txBody>
          <a:bodyPr/>
          <a:lstStyle/>
          <a:p>
            <a:endParaRPr lang="en-US"/>
          </a:p>
        </p:txBody>
      </p:sp>
      <p:sp>
        <p:nvSpPr>
          <p:cNvPr id="277" name="Shape 275"/>
          <p:cNvSpPr/>
          <p:nvPr/>
        </p:nvSpPr>
        <p:spPr>
          <a:xfrm>
            <a:off x="9325874" y="4181094"/>
            <a:ext cx="50292" cy="50292"/>
          </a:xfrm>
          <a:prstGeom prst="ellipse">
            <a:avLst/>
          </a:prstGeom>
          <a:solidFill>
            <a:srgbClr val="9C3D6E"/>
          </a:solidFill>
          <a:ln/>
        </p:spPr>
        <p:txBody>
          <a:bodyPr/>
          <a:lstStyle/>
          <a:p>
            <a:endParaRPr lang="en-US"/>
          </a:p>
        </p:txBody>
      </p:sp>
      <p:sp>
        <p:nvSpPr>
          <p:cNvPr id="278" name="Shape 276"/>
          <p:cNvSpPr/>
          <p:nvPr/>
        </p:nvSpPr>
        <p:spPr>
          <a:xfrm>
            <a:off x="9400421" y="4181094"/>
            <a:ext cx="50292" cy="50292"/>
          </a:xfrm>
          <a:prstGeom prst="ellipse">
            <a:avLst/>
          </a:prstGeom>
          <a:solidFill>
            <a:srgbClr val="9C3D6E"/>
          </a:solidFill>
          <a:ln/>
        </p:spPr>
        <p:txBody>
          <a:bodyPr/>
          <a:lstStyle/>
          <a:p>
            <a:endParaRPr lang="en-US"/>
          </a:p>
        </p:txBody>
      </p:sp>
      <p:sp>
        <p:nvSpPr>
          <p:cNvPr id="279" name="Shape 277"/>
          <p:cNvSpPr/>
          <p:nvPr/>
        </p:nvSpPr>
        <p:spPr>
          <a:xfrm>
            <a:off x="9474967" y="4181094"/>
            <a:ext cx="50292" cy="50292"/>
          </a:xfrm>
          <a:prstGeom prst="ellipse">
            <a:avLst/>
          </a:prstGeom>
          <a:solidFill>
            <a:srgbClr val="9C3D6E"/>
          </a:solidFill>
          <a:ln/>
        </p:spPr>
        <p:txBody>
          <a:bodyPr/>
          <a:lstStyle/>
          <a:p>
            <a:endParaRPr lang="en-US"/>
          </a:p>
        </p:txBody>
      </p:sp>
      <p:sp>
        <p:nvSpPr>
          <p:cNvPr id="280" name="Shape 278"/>
          <p:cNvSpPr/>
          <p:nvPr/>
        </p:nvSpPr>
        <p:spPr>
          <a:xfrm>
            <a:off x="9549514" y="4181094"/>
            <a:ext cx="50292" cy="50292"/>
          </a:xfrm>
          <a:prstGeom prst="ellipse">
            <a:avLst/>
          </a:prstGeom>
          <a:solidFill>
            <a:srgbClr val="9C3D6E"/>
          </a:solidFill>
          <a:ln/>
        </p:spPr>
        <p:txBody>
          <a:bodyPr/>
          <a:lstStyle/>
          <a:p>
            <a:endParaRPr lang="en-US"/>
          </a:p>
        </p:txBody>
      </p:sp>
      <p:sp>
        <p:nvSpPr>
          <p:cNvPr id="281" name="Shape 279"/>
          <p:cNvSpPr/>
          <p:nvPr/>
        </p:nvSpPr>
        <p:spPr>
          <a:xfrm>
            <a:off x="9624060" y="4181094"/>
            <a:ext cx="50292" cy="50292"/>
          </a:xfrm>
          <a:prstGeom prst="ellipse">
            <a:avLst/>
          </a:prstGeom>
          <a:solidFill>
            <a:srgbClr val="9C3D6E"/>
          </a:solidFill>
          <a:ln/>
        </p:spPr>
        <p:txBody>
          <a:bodyPr/>
          <a:lstStyle/>
          <a:p>
            <a:endParaRPr lang="en-US"/>
          </a:p>
        </p:txBody>
      </p:sp>
      <p:sp>
        <p:nvSpPr>
          <p:cNvPr id="282" name="Shape 280"/>
          <p:cNvSpPr/>
          <p:nvPr/>
        </p:nvSpPr>
        <p:spPr>
          <a:xfrm>
            <a:off x="9698606" y="4181094"/>
            <a:ext cx="50292" cy="50292"/>
          </a:xfrm>
          <a:prstGeom prst="ellipse">
            <a:avLst/>
          </a:prstGeom>
          <a:solidFill>
            <a:srgbClr val="9C3D6E"/>
          </a:solidFill>
          <a:ln/>
        </p:spPr>
        <p:txBody>
          <a:bodyPr/>
          <a:lstStyle/>
          <a:p>
            <a:endParaRPr lang="en-US"/>
          </a:p>
        </p:txBody>
      </p:sp>
      <p:sp>
        <p:nvSpPr>
          <p:cNvPr id="283" name="Shape 281"/>
          <p:cNvSpPr/>
          <p:nvPr/>
        </p:nvSpPr>
        <p:spPr>
          <a:xfrm>
            <a:off x="9773153" y="4181094"/>
            <a:ext cx="50292" cy="50292"/>
          </a:xfrm>
          <a:prstGeom prst="ellipse">
            <a:avLst/>
          </a:prstGeom>
          <a:solidFill>
            <a:srgbClr val="9C3D6E"/>
          </a:solidFill>
          <a:ln/>
        </p:spPr>
        <p:txBody>
          <a:bodyPr/>
          <a:lstStyle/>
          <a:p>
            <a:endParaRPr lang="en-US"/>
          </a:p>
        </p:txBody>
      </p:sp>
      <p:sp>
        <p:nvSpPr>
          <p:cNvPr id="284" name="Shape 282"/>
          <p:cNvSpPr/>
          <p:nvPr/>
        </p:nvSpPr>
        <p:spPr>
          <a:xfrm>
            <a:off x="9847699" y="4181094"/>
            <a:ext cx="50292" cy="50292"/>
          </a:xfrm>
          <a:prstGeom prst="ellipse">
            <a:avLst/>
          </a:prstGeom>
          <a:solidFill>
            <a:srgbClr val="9C3D6E"/>
          </a:solidFill>
          <a:ln/>
        </p:spPr>
        <p:txBody>
          <a:bodyPr/>
          <a:lstStyle/>
          <a:p>
            <a:endParaRPr lang="en-US"/>
          </a:p>
        </p:txBody>
      </p:sp>
      <p:sp>
        <p:nvSpPr>
          <p:cNvPr id="285" name="Shape 283"/>
          <p:cNvSpPr/>
          <p:nvPr/>
        </p:nvSpPr>
        <p:spPr>
          <a:xfrm>
            <a:off x="9922246" y="4181094"/>
            <a:ext cx="50292" cy="50292"/>
          </a:xfrm>
          <a:prstGeom prst="ellipse">
            <a:avLst/>
          </a:prstGeom>
          <a:solidFill>
            <a:srgbClr val="9C3D6E"/>
          </a:solidFill>
          <a:ln/>
        </p:spPr>
        <p:txBody>
          <a:bodyPr/>
          <a:lstStyle/>
          <a:p>
            <a:endParaRPr lang="en-US"/>
          </a:p>
        </p:txBody>
      </p:sp>
      <p:sp>
        <p:nvSpPr>
          <p:cNvPr id="286" name="Shape 284"/>
          <p:cNvSpPr/>
          <p:nvPr/>
        </p:nvSpPr>
        <p:spPr>
          <a:xfrm>
            <a:off x="9996792" y="4181094"/>
            <a:ext cx="50292" cy="50292"/>
          </a:xfrm>
          <a:prstGeom prst="ellipse">
            <a:avLst/>
          </a:prstGeom>
          <a:solidFill>
            <a:srgbClr val="9C3D6E"/>
          </a:solidFill>
          <a:ln/>
        </p:spPr>
        <p:txBody>
          <a:bodyPr/>
          <a:lstStyle/>
          <a:p>
            <a:endParaRPr lang="en-US"/>
          </a:p>
        </p:txBody>
      </p:sp>
      <p:sp>
        <p:nvSpPr>
          <p:cNvPr id="287" name="Shape 285"/>
          <p:cNvSpPr/>
          <p:nvPr/>
        </p:nvSpPr>
        <p:spPr>
          <a:xfrm>
            <a:off x="10071339" y="4181094"/>
            <a:ext cx="50292" cy="50292"/>
          </a:xfrm>
          <a:prstGeom prst="ellipse">
            <a:avLst/>
          </a:prstGeom>
          <a:solidFill>
            <a:srgbClr val="9C3D6E"/>
          </a:solidFill>
          <a:ln/>
        </p:spPr>
        <p:txBody>
          <a:bodyPr/>
          <a:lstStyle/>
          <a:p>
            <a:endParaRPr lang="en-US"/>
          </a:p>
        </p:txBody>
      </p:sp>
      <p:sp>
        <p:nvSpPr>
          <p:cNvPr id="288" name="Shape 286"/>
          <p:cNvSpPr/>
          <p:nvPr/>
        </p:nvSpPr>
        <p:spPr>
          <a:xfrm>
            <a:off x="10145885" y="4181094"/>
            <a:ext cx="50292" cy="50292"/>
          </a:xfrm>
          <a:prstGeom prst="ellipse">
            <a:avLst/>
          </a:prstGeom>
          <a:solidFill>
            <a:srgbClr val="9C3D6E"/>
          </a:solidFill>
          <a:ln/>
        </p:spPr>
        <p:txBody>
          <a:bodyPr/>
          <a:lstStyle/>
          <a:p>
            <a:endParaRPr lang="en-US"/>
          </a:p>
        </p:txBody>
      </p:sp>
      <p:sp>
        <p:nvSpPr>
          <p:cNvPr id="289" name="Shape 287"/>
          <p:cNvSpPr/>
          <p:nvPr/>
        </p:nvSpPr>
        <p:spPr>
          <a:xfrm>
            <a:off x="10220432" y="4181094"/>
            <a:ext cx="50292" cy="50292"/>
          </a:xfrm>
          <a:prstGeom prst="ellipse">
            <a:avLst/>
          </a:prstGeom>
          <a:solidFill>
            <a:srgbClr val="9C3D6E"/>
          </a:solidFill>
          <a:ln/>
        </p:spPr>
        <p:txBody>
          <a:bodyPr/>
          <a:lstStyle/>
          <a:p>
            <a:endParaRPr lang="en-US"/>
          </a:p>
        </p:txBody>
      </p:sp>
      <p:sp>
        <p:nvSpPr>
          <p:cNvPr id="290" name="Shape 288"/>
          <p:cNvSpPr/>
          <p:nvPr/>
        </p:nvSpPr>
        <p:spPr>
          <a:xfrm>
            <a:off x="10294978" y="4181094"/>
            <a:ext cx="50292" cy="50292"/>
          </a:xfrm>
          <a:prstGeom prst="ellipse">
            <a:avLst/>
          </a:prstGeom>
          <a:solidFill>
            <a:srgbClr val="9C3D6E"/>
          </a:solidFill>
          <a:ln/>
        </p:spPr>
        <p:txBody>
          <a:bodyPr/>
          <a:lstStyle/>
          <a:p>
            <a:endParaRPr lang="en-US"/>
          </a:p>
        </p:txBody>
      </p:sp>
      <p:sp>
        <p:nvSpPr>
          <p:cNvPr id="291" name="Shape 289"/>
          <p:cNvSpPr/>
          <p:nvPr/>
        </p:nvSpPr>
        <p:spPr>
          <a:xfrm>
            <a:off x="10369525" y="4181094"/>
            <a:ext cx="50292" cy="50292"/>
          </a:xfrm>
          <a:prstGeom prst="ellipse">
            <a:avLst/>
          </a:prstGeom>
          <a:solidFill>
            <a:srgbClr val="9C3D6E"/>
          </a:solidFill>
          <a:ln/>
        </p:spPr>
        <p:txBody>
          <a:bodyPr/>
          <a:lstStyle/>
          <a:p>
            <a:endParaRPr lang="en-US"/>
          </a:p>
        </p:txBody>
      </p:sp>
      <p:sp>
        <p:nvSpPr>
          <p:cNvPr id="292" name="Shape 290"/>
          <p:cNvSpPr/>
          <p:nvPr/>
        </p:nvSpPr>
        <p:spPr>
          <a:xfrm>
            <a:off x="10444071" y="4181094"/>
            <a:ext cx="50292" cy="50292"/>
          </a:xfrm>
          <a:prstGeom prst="ellipse">
            <a:avLst/>
          </a:prstGeom>
          <a:solidFill>
            <a:srgbClr val="9C3D6E"/>
          </a:solidFill>
          <a:ln/>
        </p:spPr>
        <p:txBody>
          <a:bodyPr/>
          <a:lstStyle/>
          <a:p>
            <a:endParaRPr lang="en-US"/>
          </a:p>
        </p:txBody>
      </p:sp>
      <p:sp>
        <p:nvSpPr>
          <p:cNvPr id="293" name="Shape 291"/>
          <p:cNvSpPr/>
          <p:nvPr/>
        </p:nvSpPr>
        <p:spPr>
          <a:xfrm>
            <a:off x="10518618" y="4181094"/>
            <a:ext cx="50292" cy="50292"/>
          </a:xfrm>
          <a:prstGeom prst="ellipse">
            <a:avLst/>
          </a:prstGeom>
          <a:solidFill>
            <a:srgbClr val="9C3D6E"/>
          </a:solidFill>
          <a:ln/>
        </p:spPr>
        <p:txBody>
          <a:bodyPr/>
          <a:lstStyle/>
          <a:p>
            <a:endParaRPr lang="en-US"/>
          </a:p>
        </p:txBody>
      </p:sp>
      <p:sp>
        <p:nvSpPr>
          <p:cNvPr id="294" name="Shape 292"/>
          <p:cNvSpPr/>
          <p:nvPr/>
        </p:nvSpPr>
        <p:spPr>
          <a:xfrm>
            <a:off x="10593164" y="4181094"/>
            <a:ext cx="50292" cy="50292"/>
          </a:xfrm>
          <a:prstGeom prst="ellipse">
            <a:avLst/>
          </a:prstGeom>
          <a:solidFill>
            <a:srgbClr val="9C3D6E"/>
          </a:solidFill>
          <a:ln/>
        </p:spPr>
        <p:txBody>
          <a:bodyPr/>
          <a:lstStyle/>
          <a:p>
            <a:endParaRPr lang="en-US"/>
          </a:p>
        </p:txBody>
      </p:sp>
      <p:sp>
        <p:nvSpPr>
          <p:cNvPr id="295" name="Shape 293"/>
          <p:cNvSpPr/>
          <p:nvPr/>
        </p:nvSpPr>
        <p:spPr>
          <a:xfrm>
            <a:off x="10667710" y="4181094"/>
            <a:ext cx="50292" cy="50292"/>
          </a:xfrm>
          <a:prstGeom prst="ellipse">
            <a:avLst/>
          </a:prstGeom>
          <a:solidFill>
            <a:srgbClr val="9C3D6E"/>
          </a:solidFill>
          <a:ln/>
        </p:spPr>
        <p:txBody>
          <a:bodyPr/>
          <a:lstStyle/>
          <a:p>
            <a:endParaRPr lang="en-US"/>
          </a:p>
        </p:txBody>
      </p:sp>
      <p:sp>
        <p:nvSpPr>
          <p:cNvPr id="296" name="Shape 294"/>
          <p:cNvSpPr/>
          <p:nvPr/>
        </p:nvSpPr>
        <p:spPr>
          <a:xfrm>
            <a:off x="10742257" y="4181094"/>
            <a:ext cx="50292" cy="50292"/>
          </a:xfrm>
          <a:prstGeom prst="ellipse">
            <a:avLst/>
          </a:prstGeom>
          <a:solidFill>
            <a:srgbClr val="9C3D6E"/>
          </a:solidFill>
          <a:ln/>
        </p:spPr>
        <p:txBody>
          <a:bodyPr/>
          <a:lstStyle/>
          <a:p>
            <a:endParaRPr lang="en-US"/>
          </a:p>
        </p:txBody>
      </p:sp>
      <p:sp>
        <p:nvSpPr>
          <p:cNvPr id="297" name="Shape 295"/>
          <p:cNvSpPr/>
          <p:nvPr/>
        </p:nvSpPr>
        <p:spPr>
          <a:xfrm>
            <a:off x="10816803" y="4181094"/>
            <a:ext cx="50292" cy="50292"/>
          </a:xfrm>
          <a:prstGeom prst="ellipse">
            <a:avLst/>
          </a:prstGeom>
          <a:solidFill>
            <a:srgbClr val="9C3D6E"/>
          </a:solidFill>
          <a:ln/>
        </p:spPr>
        <p:txBody>
          <a:bodyPr/>
          <a:lstStyle/>
          <a:p>
            <a:endParaRPr lang="en-US"/>
          </a:p>
        </p:txBody>
      </p:sp>
      <p:sp>
        <p:nvSpPr>
          <p:cNvPr id="298" name="Shape 296"/>
          <p:cNvSpPr/>
          <p:nvPr/>
        </p:nvSpPr>
        <p:spPr>
          <a:xfrm>
            <a:off x="10891350" y="4181094"/>
            <a:ext cx="50292" cy="50292"/>
          </a:xfrm>
          <a:prstGeom prst="ellipse">
            <a:avLst/>
          </a:prstGeom>
          <a:solidFill>
            <a:srgbClr val="9C3D6E"/>
          </a:solidFill>
          <a:ln/>
        </p:spPr>
        <p:txBody>
          <a:bodyPr/>
          <a:lstStyle/>
          <a:p>
            <a:endParaRPr lang="en-US"/>
          </a:p>
        </p:txBody>
      </p:sp>
      <p:sp>
        <p:nvSpPr>
          <p:cNvPr id="299" name="Shape 297"/>
          <p:cNvSpPr/>
          <p:nvPr/>
        </p:nvSpPr>
        <p:spPr>
          <a:xfrm>
            <a:off x="10965896" y="4181094"/>
            <a:ext cx="50292" cy="50292"/>
          </a:xfrm>
          <a:prstGeom prst="ellipse">
            <a:avLst/>
          </a:prstGeom>
          <a:solidFill>
            <a:srgbClr val="9C3D6E"/>
          </a:solidFill>
          <a:ln/>
        </p:spPr>
        <p:txBody>
          <a:bodyPr/>
          <a:lstStyle/>
          <a:p>
            <a:endParaRPr lang="en-US"/>
          </a:p>
        </p:txBody>
      </p:sp>
      <p:sp>
        <p:nvSpPr>
          <p:cNvPr id="300" name="Shape 298"/>
          <p:cNvSpPr/>
          <p:nvPr/>
        </p:nvSpPr>
        <p:spPr>
          <a:xfrm>
            <a:off x="11040443" y="4181094"/>
            <a:ext cx="50292" cy="50292"/>
          </a:xfrm>
          <a:prstGeom prst="ellipse">
            <a:avLst/>
          </a:prstGeom>
          <a:solidFill>
            <a:srgbClr val="9C3D6E"/>
          </a:solidFill>
          <a:ln/>
        </p:spPr>
        <p:txBody>
          <a:bodyPr/>
          <a:lstStyle/>
          <a:p>
            <a:endParaRPr lang="en-US"/>
          </a:p>
        </p:txBody>
      </p:sp>
      <p:sp>
        <p:nvSpPr>
          <p:cNvPr id="301" name="Shape 299"/>
          <p:cNvSpPr/>
          <p:nvPr/>
        </p:nvSpPr>
        <p:spPr>
          <a:xfrm>
            <a:off x="11114989" y="4181094"/>
            <a:ext cx="50292" cy="50292"/>
          </a:xfrm>
          <a:prstGeom prst="ellipse">
            <a:avLst/>
          </a:prstGeom>
          <a:solidFill>
            <a:srgbClr val="9C3D6E"/>
          </a:solidFill>
          <a:ln/>
        </p:spPr>
        <p:txBody>
          <a:bodyPr/>
          <a:lstStyle/>
          <a:p>
            <a:endParaRPr lang="en-US"/>
          </a:p>
        </p:txBody>
      </p:sp>
      <p:sp>
        <p:nvSpPr>
          <p:cNvPr id="302" name="Text 300"/>
          <p:cNvSpPr txBox="1"/>
          <p:nvPr/>
        </p:nvSpPr>
        <p:spPr>
          <a:xfrm>
            <a:off x="6667348" y="3182112"/>
            <a:ext cx="4472788" cy="237744"/>
          </a:xfrm>
          <a:prstGeom prst="rect">
            <a:avLst/>
          </a:prstGeom>
          <a:noFill/>
          <a:ln/>
        </p:spPr>
        <p:txBody>
          <a:bodyPr wrap="square" lIns="0" tIns="0" rIns="0" bIns="0" rtlCol="0" anchor="ctr"/>
          <a:lstStyle/>
          <a:p>
            <a:pPr marL="0" indent="0" algn="r">
              <a:buNone/>
            </a:pPr>
            <a:r>
              <a:rPr lang="en-US" sz="950" i="1" dirty="0">
                <a:solidFill>
                  <a:srgbClr val="8A93A1"/>
                </a:solidFill>
                <a:latin typeface="Calibri" pitchFamily="34" charset="0"/>
                <a:ea typeface="Calibri" pitchFamily="34" charset="-122"/>
                <a:cs typeface="Calibri" pitchFamily="34" charset="-120"/>
              </a:rPr>
              <a:t>grey = p_data</a:t>
            </a:r>
            <a:endParaRPr lang="en-US" sz="950" dirty="0"/>
          </a:p>
        </p:txBody>
      </p:sp>
      <p:sp>
        <p:nvSpPr>
          <p:cNvPr id="303" name="Text 301"/>
          <p:cNvSpPr txBox="1"/>
          <p:nvPr/>
        </p:nvSpPr>
        <p:spPr>
          <a:xfrm>
            <a:off x="6667348" y="3401568"/>
            <a:ext cx="4472788" cy="237744"/>
          </a:xfrm>
          <a:prstGeom prst="rect">
            <a:avLst/>
          </a:prstGeom>
          <a:noFill/>
          <a:ln/>
        </p:spPr>
        <p:txBody>
          <a:bodyPr wrap="square" lIns="0" tIns="0" rIns="0" bIns="0" rtlCol="0" anchor="ctr"/>
          <a:lstStyle/>
          <a:p>
            <a:pPr marL="0" indent="0" algn="r">
              <a:buNone/>
            </a:pPr>
            <a:r>
              <a:rPr lang="en-US" sz="950" b="1" i="1" dirty="0">
                <a:solidFill>
                  <a:srgbClr val="9C3D6E"/>
                </a:solidFill>
                <a:latin typeface="Calibri" pitchFamily="34" charset="0"/>
                <a:ea typeface="Calibri" pitchFamily="34" charset="-122"/>
                <a:cs typeface="Calibri" pitchFamily="34" charset="-120"/>
              </a:rPr>
              <a:t>magenta = p_g</a:t>
            </a:r>
            <a:endParaRPr lang="en-US" sz="950" dirty="0"/>
          </a:p>
        </p:txBody>
      </p:sp>
      <p:sp>
        <p:nvSpPr>
          <p:cNvPr id="304" name="Text 302"/>
          <p:cNvSpPr txBox="1"/>
          <p:nvPr/>
        </p:nvSpPr>
        <p:spPr>
          <a:xfrm>
            <a:off x="6530188" y="4279392"/>
            <a:ext cx="4747108" cy="274320"/>
          </a:xfrm>
          <a:prstGeom prst="rect">
            <a:avLst/>
          </a:prstGeom>
          <a:noFill/>
          <a:ln/>
        </p:spPr>
        <p:txBody>
          <a:bodyPr wrap="square" lIns="0" tIns="0" rIns="0" bIns="0" rtlCol="0" anchor="ctr"/>
          <a:lstStyle/>
          <a:p>
            <a:pPr marL="0" indent="0" algn="ctr">
              <a:buNone/>
            </a:pPr>
            <a:r>
              <a:rPr lang="en-US" sz="1150" b="1" i="1" dirty="0">
                <a:solidFill>
                  <a:srgbClr val="9C3D6E"/>
                </a:solidFill>
                <a:latin typeface="Calibri" pitchFamily="34" charset="0"/>
                <a:ea typeface="Calibri" pitchFamily="34" charset="-122"/>
                <a:cs typeface="Calibri" pitchFamily="34" charset="-120"/>
              </a:rPr>
              <a:t>picks one mode, sharp</a:t>
            </a:r>
            <a:endParaRPr lang="en-US" sz="1150" dirty="0"/>
          </a:p>
        </p:txBody>
      </p:sp>
      <p:sp>
        <p:nvSpPr>
          <p:cNvPr id="305" name="Text 303"/>
          <p:cNvSpPr txBox="1"/>
          <p:nvPr/>
        </p:nvSpPr>
        <p:spPr>
          <a:xfrm>
            <a:off x="6530188" y="4572000"/>
            <a:ext cx="4747108" cy="1097280"/>
          </a:xfrm>
          <a:prstGeom prst="rect">
            <a:avLst/>
          </a:prstGeom>
          <a:noFill/>
          <a:ln/>
        </p:spPr>
        <p:txBody>
          <a:bodyPr wrap="square" lIns="0" tIns="0" rIns="0" bIns="0" rtlCol="0" anchor="ctr"/>
          <a:lstStyle/>
          <a:p>
            <a:pPr marL="0" indent="0">
              <a:lnSpc>
                <a:spcPts val="1500"/>
              </a:lnSpc>
              <a:buNone/>
            </a:pPr>
            <a:r>
              <a:rPr lang="en-US" sz="1150" dirty="0">
                <a:solidFill>
                  <a:srgbClr val="5B6474"/>
                </a:solidFill>
                <a:latin typeface="Calibri" pitchFamily="34" charset="0"/>
                <a:ea typeface="Calibri" pitchFamily="34" charset="-122"/>
                <a:cs typeface="Calibri" pitchFamily="34" charset="-120"/>
              </a:rPr>
              <a:t>The sum runs over the model. Regions the model never visits cost nothing at all, because p_g = 0 there kills the term. The only penalty is for producing things the world does not. So: pick one real mode, sit on it, never stray.</a:t>
            </a:r>
            <a:endParaRPr lang="en-US" sz="1150" dirty="0"/>
          </a:p>
        </p:txBody>
      </p:sp>
      <p:sp>
        <p:nvSpPr>
          <p:cNvPr id="306" name="Text 304"/>
          <p:cNvSpPr txBox="1"/>
          <p:nvPr/>
        </p:nvSpPr>
        <p:spPr>
          <a:xfrm>
            <a:off x="640080" y="5870448"/>
            <a:ext cx="10881360" cy="365760"/>
          </a:xfrm>
          <a:prstGeom prst="rect">
            <a:avLst/>
          </a:prstGeom>
          <a:noFill/>
          <a:ln/>
        </p:spPr>
        <p:txBody>
          <a:bodyPr wrap="square" lIns="0" tIns="0" rIns="0" bIns="0" rtlCol="0" anchor="ctr"/>
          <a:lstStyle/>
          <a:p>
            <a:pPr marL="0" indent="0">
              <a:buNone/>
            </a:pPr>
            <a:r>
              <a:rPr lang="en-US" sz="1350" i="1" dirty="0">
                <a:solidFill>
                  <a:srgbClr val="0E131B"/>
                </a:solidFill>
                <a:latin typeface="Cambria" pitchFamily="34" charset="0"/>
                <a:ea typeface="Cambria" pitchFamily="34" charset="-122"/>
                <a:cs typeface="Cambria" pitchFamily="34" charset="-120"/>
              </a:rPr>
              <a:t>Maximum-likelihood training minimises the forward direction, which is why those models blur. The GAN’s practical objective behaves much more like the reverse direction — which is why these models drop modes and look sharp.</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9C3D6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FOR COMPLETENESS</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0E131B"/>
                </a:solidFill>
                <a:latin typeface="Cambria" pitchFamily="34" charset="0"/>
                <a:ea typeface="Cambria" pitchFamily="34" charset="-122"/>
                <a:cs typeface="Cambria" pitchFamily="34" charset="-120"/>
              </a:rPr>
              <a:t>What the GAN objective is actually minimising</a:t>
            </a:r>
            <a:endParaRPr lang="en-US" sz="2900" dirty="0"/>
          </a:p>
        </p:txBody>
      </p:sp>
      <p:sp>
        <p:nvSpPr>
          <p:cNvPr id="5" name="Shape 3"/>
          <p:cNvSpPr/>
          <p:nvPr/>
        </p:nvSpPr>
        <p:spPr>
          <a:xfrm>
            <a:off x="1920240" y="1298448"/>
            <a:ext cx="9235440" cy="960120"/>
          </a:xfrm>
          <a:prstGeom prst="roundRect">
            <a:avLst>
              <a:gd name="adj" fmla="val 5714"/>
            </a:avLst>
          </a:prstGeom>
          <a:solidFill>
            <a:srgbClr val="F5F7FA"/>
          </a:solidFill>
          <a:ln w="12700">
            <a:solidFill>
              <a:srgbClr val="CBD5E1"/>
            </a:solidFill>
            <a:prstDash val="solid"/>
          </a:ln>
        </p:spPr>
        <p:txBody>
          <a:bodyPr/>
          <a:lstStyle/>
          <a:p>
            <a:endParaRPr lang="en-US"/>
          </a:p>
        </p:txBody>
      </p:sp>
      <p:sp>
        <p:nvSpPr>
          <p:cNvPr id="6" name="Text 4"/>
          <p:cNvSpPr txBox="1"/>
          <p:nvPr/>
        </p:nvSpPr>
        <p:spPr>
          <a:xfrm>
            <a:off x="2029968" y="1298448"/>
            <a:ext cx="9015984" cy="960120"/>
          </a:xfrm>
          <a:prstGeom prst="rect">
            <a:avLst/>
          </a:prstGeom>
          <a:noFill/>
          <a:ln/>
        </p:spPr>
        <p:txBody>
          <a:bodyPr wrap="square" lIns="0" tIns="0" rIns="0" bIns="0" rtlCol="0" anchor="ctr"/>
          <a:lstStyle/>
          <a:p>
            <a:pPr marL="0" indent="0" algn="ctr">
              <a:buNone/>
            </a:pPr>
            <a:r>
              <a:rPr lang="en-US" sz="2200" dirty="0">
                <a:solidFill>
                  <a:srgbClr val="0E131B"/>
                </a:solidFill>
                <a:latin typeface="Cambria Math" pitchFamily="34" charset="0"/>
                <a:ea typeface="Cambria Math" pitchFamily="34" charset="-122"/>
                <a:cs typeface="Cambria Math" pitchFamily="34" charset="-120"/>
              </a:rPr>
              <a:t>JSD(p ‖ q) = ½ KL(p ‖ m) + ½ KL(q ‖ m),   m = ½(p + q)</a:t>
            </a:r>
            <a:endParaRPr lang="en-US" sz="2200" dirty="0"/>
          </a:p>
        </p:txBody>
      </p:sp>
      <p:sp>
        <p:nvSpPr>
          <p:cNvPr id="7" name="Text 5"/>
          <p:cNvSpPr txBox="1"/>
          <p:nvPr/>
        </p:nvSpPr>
        <p:spPr>
          <a:xfrm>
            <a:off x="640080" y="2331720"/>
            <a:ext cx="10881360" cy="310896"/>
          </a:xfrm>
          <a:prstGeom prst="rect">
            <a:avLst/>
          </a:prstGeom>
          <a:noFill/>
          <a:ln/>
        </p:spPr>
        <p:txBody>
          <a:bodyPr wrap="square" lIns="0" tIns="0" rIns="0" bIns="0" rtlCol="0" anchor="ctr"/>
          <a:lstStyle/>
          <a:p>
            <a:pPr marL="0" indent="0" algn="ctr">
              <a:buNone/>
            </a:pPr>
            <a:r>
              <a:rPr lang="en-US" sz="1250" i="1" dirty="0">
                <a:solidFill>
                  <a:srgbClr val="1F7A6B"/>
                </a:solidFill>
                <a:latin typeface="Calibri" pitchFamily="34" charset="0"/>
                <a:ea typeface="Calibri" pitchFamily="34" charset="-122"/>
                <a:cs typeface="Calibri" pitchFamily="34" charset="-120"/>
              </a:rPr>
              <a:t>“measure each distribution against their average, and split the difference”</a:t>
            </a:r>
            <a:endParaRPr lang="en-US" sz="1250" dirty="0"/>
          </a:p>
        </p:txBody>
      </p:sp>
      <p:sp>
        <p:nvSpPr>
          <p:cNvPr id="8" name="Shape 6"/>
          <p:cNvSpPr/>
          <p:nvPr/>
        </p:nvSpPr>
        <p:spPr>
          <a:xfrm>
            <a:off x="640080" y="2743200"/>
            <a:ext cx="3454298" cy="2240280"/>
          </a:xfrm>
          <a:prstGeom prst="roundRect">
            <a:avLst>
              <a:gd name="adj" fmla="val 3265"/>
            </a:avLst>
          </a:prstGeom>
          <a:solidFill>
            <a:srgbClr val="E6F2EF"/>
          </a:solidFill>
          <a:ln w="12700">
            <a:solidFill>
              <a:srgbClr val="E6F2EF"/>
            </a:solidFill>
            <a:prstDash val="solid"/>
          </a:ln>
        </p:spPr>
        <p:txBody>
          <a:bodyPr/>
          <a:lstStyle/>
          <a:p>
            <a:endParaRPr lang="en-US"/>
          </a:p>
        </p:txBody>
      </p:sp>
      <p:sp>
        <p:nvSpPr>
          <p:cNvPr id="9" name="Text 7"/>
          <p:cNvSpPr txBox="1"/>
          <p:nvPr/>
        </p:nvSpPr>
        <p:spPr>
          <a:xfrm>
            <a:off x="914400" y="2926080"/>
            <a:ext cx="2905658" cy="566928"/>
          </a:xfrm>
          <a:prstGeom prst="rect">
            <a:avLst/>
          </a:prstGeom>
          <a:noFill/>
          <a:ln/>
        </p:spPr>
        <p:txBody>
          <a:bodyPr wrap="square" lIns="0" tIns="0" rIns="0" bIns="0" rtlCol="0" anchor="ctr"/>
          <a:lstStyle/>
          <a:p>
            <a:pPr marL="0" indent="0">
              <a:lnSpc>
                <a:spcPts val="2000"/>
              </a:lnSpc>
              <a:buNone/>
            </a:pPr>
            <a:r>
              <a:rPr lang="en-US" sz="1600" b="1" dirty="0">
                <a:solidFill>
                  <a:srgbClr val="0E131B"/>
                </a:solidFill>
                <a:latin typeface="Cambria" pitchFamily="34" charset="0"/>
                <a:ea typeface="Cambria" pitchFamily="34" charset="-122"/>
                <a:cs typeface="Cambria" pitchFamily="34" charset="-120"/>
              </a:rPr>
              <a:t>Symmetric, and always finite</a:t>
            </a:r>
            <a:endParaRPr lang="en-US" sz="1600" dirty="0"/>
          </a:p>
        </p:txBody>
      </p:sp>
      <p:sp>
        <p:nvSpPr>
          <p:cNvPr id="10" name="Text 8"/>
          <p:cNvSpPr txBox="1"/>
          <p:nvPr/>
        </p:nvSpPr>
        <p:spPr>
          <a:xfrm>
            <a:off x="914400" y="3566160"/>
            <a:ext cx="2905658" cy="1197864"/>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Unlike KL, JSD(p‖q) = JSD(q‖p), and it never blows up to infinity even when one distribution assigns zero where the other does not. It is bounded above by log 2.</a:t>
            </a:r>
            <a:endParaRPr lang="en-US" sz="1200" dirty="0"/>
          </a:p>
        </p:txBody>
      </p:sp>
      <p:sp>
        <p:nvSpPr>
          <p:cNvPr id="11" name="Shape 9"/>
          <p:cNvSpPr/>
          <p:nvPr/>
        </p:nvSpPr>
        <p:spPr>
          <a:xfrm>
            <a:off x="4368698" y="2743200"/>
            <a:ext cx="3454298" cy="2240280"/>
          </a:xfrm>
          <a:prstGeom prst="roundRect">
            <a:avLst>
              <a:gd name="adj" fmla="val 3265"/>
            </a:avLst>
          </a:prstGeom>
          <a:solidFill>
            <a:srgbClr val="F8EBF2"/>
          </a:solidFill>
          <a:ln w="12700">
            <a:solidFill>
              <a:srgbClr val="F8EBF2"/>
            </a:solidFill>
            <a:prstDash val="solid"/>
          </a:ln>
        </p:spPr>
        <p:txBody>
          <a:bodyPr/>
          <a:lstStyle/>
          <a:p>
            <a:endParaRPr lang="en-US"/>
          </a:p>
        </p:txBody>
      </p:sp>
      <p:sp>
        <p:nvSpPr>
          <p:cNvPr id="12" name="Text 10"/>
          <p:cNvSpPr txBox="1"/>
          <p:nvPr/>
        </p:nvSpPr>
        <p:spPr>
          <a:xfrm>
            <a:off x="4643018" y="2926080"/>
            <a:ext cx="2905658" cy="566928"/>
          </a:xfrm>
          <a:prstGeom prst="rect">
            <a:avLst/>
          </a:prstGeom>
          <a:noFill/>
          <a:ln/>
        </p:spPr>
        <p:txBody>
          <a:bodyPr wrap="square" lIns="0" tIns="0" rIns="0" bIns="0" rtlCol="0" anchor="ctr"/>
          <a:lstStyle/>
          <a:p>
            <a:pPr marL="0" indent="0">
              <a:lnSpc>
                <a:spcPts val="2000"/>
              </a:lnSpc>
              <a:buNone/>
            </a:pPr>
            <a:r>
              <a:rPr lang="en-US" sz="1600" b="1" dirty="0">
                <a:solidFill>
                  <a:srgbClr val="0E131B"/>
                </a:solidFill>
                <a:latin typeface="Cambria" pitchFamily="34" charset="0"/>
                <a:ea typeface="Cambria" pitchFamily="34" charset="-122"/>
                <a:cs typeface="Cambria" pitchFamily="34" charset="-120"/>
              </a:rPr>
              <a:t>It is what C(G) reduces to</a:t>
            </a:r>
            <a:endParaRPr lang="en-US" sz="1600" dirty="0"/>
          </a:p>
        </p:txBody>
      </p:sp>
      <p:sp>
        <p:nvSpPr>
          <p:cNvPr id="13" name="Text 11"/>
          <p:cNvSpPr txBox="1"/>
          <p:nvPr/>
        </p:nvSpPr>
        <p:spPr>
          <a:xfrm>
            <a:off x="4643018" y="3566160"/>
            <a:ext cx="2905658" cy="1197864"/>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Substituting the optimal critic back into the game gives C(G) = −log 4 + 2·JSD(p_data ‖ p_g). Minimising the game is minimising a genuine distance between the world and the model.</a:t>
            </a:r>
            <a:endParaRPr lang="en-US" sz="1200" dirty="0"/>
          </a:p>
        </p:txBody>
      </p:sp>
      <p:sp>
        <p:nvSpPr>
          <p:cNvPr id="14" name="Shape 12"/>
          <p:cNvSpPr/>
          <p:nvPr/>
        </p:nvSpPr>
        <p:spPr>
          <a:xfrm>
            <a:off x="8097317" y="2743200"/>
            <a:ext cx="3454298" cy="2240280"/>
          </a:xfrm>
          <a:prstGeom prst="roundRect">
            <a:avLst>
              <a:gd name="adj" fmla="val 3265"/>
            </a:avLst>
          </a:prstGeom>
          <a:solidFill>
            <a:srgbClr val="E6F2EF"/>
          </a:solidFill>
          <a:ln w="12700">
            <a:solidFill>
              <a:srgbClr val="E6F2EF"/>
            </a:solidFill>
            <a:prstDash val="solid"/>
          </a:ln>
        </p:spPr>
        <p:txBody>
          <a:bodyPr/>
          <a:lstStyle/>
          <a:p>
            <a:endParaRPr lang="en-US"/>
          </a:p>
        </p:txBody>
      </p:sp>
      <p:sp>
        <p:nvSpPr>
          <p:cNvPr id="15" name="Text 13"/>
          <p:cNvSpPr txBox="1"/>
          <p:nvPr/>
        </p:nvSpPr>
        <p:spPr>
          <a:xfrm>
            <a:off x="8371637" y="2926080"/>
            <a:ext cx="2905658" cy="566928"/>
          </a:xfrm>
          <a:prstGeom prst="rect">
            <a:avLst/>
          </a:prstGeom>
          <a:noFill/>
          <a:ln/>
        </p:spPr>
        <p:txBody>
          <a:bodyPr wrap="square" lIns="0" tIns="0" rIns="0" bIns="0" rtlCol="0" anchor="ctr"/>
          <a:lstStyle/>
          <a:p>
            <a:pPr marL="0" indent="0">
              <a:lnSpc>
                <a:spcPts val="2000"/>
              </a:lnSpc>
              <a:buNone/>
            </a:pPr>
            <a:r>
              <a:rPr lang="en-US" sz="1600" b="1" dirty="0">
                <a:solidFill>
                  <a:srgbClr val="0E131B"/>
                </a:solidFill>
                <a:latin typeface="Cambria" pitchFamily="34" charset="0"/>
                <a:ea typeface="Cambria" pitchFamily="34" charset="-122"/>
                <a:cs typeface="Cambria" pitchFamily="34" charset="-120"/>
              </a:rPr>
              <a:t>So why does collapse happen anyway?</a:t>
            </a:r>
            <a:endParaRPr lang="en-US" sz="1600" dirty="0"/>
          </a:p>
        </p:txBody>
      </p:sp>
      <p:sp>
        <p:nvSpPr>
          <p:cNvPr id="16" name="Text 14"/>
          <p:cNvSpPr txBox="1"/>
          <p:nvPr/>
        </p:nvSpPr>
        <p:spPr>
          <a:xfrm>
            <a:off x="8371637" y="3566160"/>
            <a:ext cx="2905658" cy="1197864"/>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Because that identity assumes the optimal D. In practice D is a finite network, trained a few steps at a time, always slightly behind. G is optimising against an imperfect critic, and an imperfect critic can be satisfied narrowly.</a:t>
            </a:r>
            <a:endParaRPr lang="en-US" sz="1200" dirty="0"/>
          </a:p>
        </p:txBody>
      </p:sp>
      <p:sp>
        <p:nvSpPr>
          <p:cNvPr id="17" name="Shape 15"/>
          <p:cNvSpPr/>
          <p:nvPr/>
        </p:nvSpPr>
        <p:spPr>
          <a:xfrm>
            <a:off x="640080" y="5166360"/>
            <a:ext cx="10911535" cy="1143000"/>
          </a:xfrm>
          <a:prstGeom prst="roundRect">
            <a:avLst>
              <a:gd name="adj" fmla="val 6400"/>
            </a:avLst>
          </a:prstGeom>
          <a:solidFill>
            <a:srgbClr val="0E131B"/>
          </a:solidFill>
          <a:ln w="12700">
            <a:solidFill>
              <a:srgbClr val="0E131B"/>
            </a:solidFill>
            <a:prstDash val="solid"/>
          </a:ln>
        </p:spPr>
        <p:txBody>
          <a:bodyPr/>
          <a:lstStyle/>
          <a:p>
            <a:endParaRPr lang="en-US"/>
          </a:p>
        </p:txBody>
      </p:sp>
      <p:sp>
        <p:nvSpPr>
          <p:cNvPr id="18" name="Text 16"/>
          <p:cNvSpPr txBox="1"/>
          <p:nvPr/>
        </p:nvSpPr>
        <p:spPr>
          <a:xfrm>
            <a:off x="1005840" y="5330952"/>
            <a:ext cx="10424160" cy="813816"/>
          </a:xfrm>
          <a:prstGeom prst="rect">
            <a:avLst/>
          </a:prstGeom>
          <a:noFill/>
          <a:ln/>
        </p:spPr>
        <p:txBody>
          <a:bodyPr wrap="square" lIns="0" tIns="0" rIns="0" bIns="0" rtlCol="0" anchor="ctr"/>
          <a:lstStyle/>
          <a:p>
            <a:pPr marL="0" indent="0">
              <a:lnSpc>
                <a:spcPts val="2000"/>
              </a:lnSpc>
              <a:buNone/>
            </a:pPr>
            <a:r>
              <a:rPr lang="en-US" sz="1500" dirty="0">
                <a:solidFill>
                  <a:srgbClr val="F2F4F8"/>
                </a:solidFill>
                <a:latin typeface="Cambria" pitchFamily="34" charset="0"/>
                <a:ea typeface="Cambria" pitchFamily="34" charset="-122"/>
                <a:cs typeface="Cambria" pitchFamily="34" charset="-120"/>
              </a:rPr>
              <a:t>The theory says the game measures a real distance. The practice says the game measures whatever this particular critic currently notices. Mode collapse is the difference between those two sentences, made visible.</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9C3D6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PROPOSED REPAIRS</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0E131B"/>
                </a:solidFill>
                <a:latin typeface="Cambria" pitchFamily="34" charset="0"/>
                <a:ea typeface="Cambria" pitchFamily="34" charset="-122"/>
                <a:cs typeface="Cambria" pitchFamily="34" charset="-120"/>
              </a:rPr>
              <a:t>Each one adds a term, and the term needs a weight</a:t>
            </a:r>
            <a:endParaRPr lang="en-US" sz="2900" dirty="0"/>
          </a:p>
        </p:txBody>
      </p:sp>
      <p:sp>
        <p:nvSpPr>
          <p:cNvPr id="5" name="Shape 3"/>
          <p:cNvSpPr/>
          <p:nvPr/>
        </p:nvSpPr>
        <p:spPr>
          <a:xfrm>
            <a:off x="640080" y="1325880"/>
            <a:ext cx="2556434" cy="3108960"/>
          </a:xfrm>
          <a:prstGeom prst="roundRect">
            <a:avLst>
              <a:gd name="adj" fmla="val 2861"/>
            </a:avLst>
          </a:prstGeom>
          <a:solidFill>
            <a:srgbClr val="E6F2EF"/>
          </a:solidFill>
          <a:ln w="12700">
            <a:solidFill>
              <a:srgbClr val="E6F2EF"/>
            </a:solidFill>
            <a:prstDash val="solid"/>
          </a:ln>
        </p:spPr>
        <p:txBody>
          <a:bodyPr/>
          <a:lstStyle/>
          <a:p>
            <a:endParaRPr lang="en-US"/>
          </a:p>
        </p:txBody>
      </p:sp>
      <p:sp>
        <p:nvSpPr>
          <p:cNvPr id="6" name="Text 4"/>
          <p:cNvSpPr txBox="1"/>
          <p:nvPr/>
        </p:nvSpPr>
        <p:spPr>
          <a:xfrm>
            <a:off x="896112" y="1517904"/>
            <a:ext cx="2044370" cy="658368"/>
          </a:xfrm>
          <a:prstGeom prst="rect">
            <a:avLst/>
          </a:prstGeom>
          <a:noFill/>
          <a:ln/>
        </p:spPr>
        <p:txBody>
          <a:bodyPr wrap="square" lIns="0" tIns="0" rIns="0" bIns="0" rtlCol="0" anchor="ctr"/>
          <a:lstStyle/>
          <a:p>
            <a:pPr marL="0" indent="0">
              <a:lnSpc>
                <a:spcPts val="2000"/>
              </a:lnSpc>
              <a:buNone/>
            </a:pPr>
            <a:r>
              <a:rPr lang="en-US" sz="1550" b="1" dirty="0">
                <a:solidFill>
                  <a:srgbClr val="0E131B"/>
                </a:solidFill>
                <a:latin typeface="Cambria" pitchFamily="34" charset="0"/>
                <a:ea typeface="Cambria" pitchFamily="34" charset="-122"/>
                <a:cs typeface="Cambria" pitchFamily="34" charset="-120"/>
              </a:rPr>
              <a:t>Minibatch discrimination</a:t>
            </a:r>
            <a:endParaRPr lang="en-US" sz="1550" dirty="0"/>
          </a:p>
        </p:txBody>
      </p:sp>
      <p:sp>
        <p:nvSpPr>
          <p:cNvPr id="7" name="Text 5"/>
          <p:cNvSpPr txBox="1"/>
          <p:nvPr/>
        </p:nvSpPr>
        <p:spPr>
          <a:xfrm>
            <a:off x="896112" y="2240280"/>
            <a:ext cx="2044370" cy="2057400"/>
          </a:xfrm>
          <a:prstGeom prst="rect">
            <a:avLst/>
          </a:prstGeom>
          <a:noFill/>
          <a:ln/>
        </p:spPr>
        <p:txBody>
          <a:bodyPr wrap="square" lIns="0" tIns="0" rIns="0" bIns="0" rtlCol="0" anchor="ctr"/>
          <a:lstStyle/>
          <a:p>
            <a:pPr marL="0" indent="0">
              <a:lnSpc>
                <a:spcPts val="1500"/>
              </a:lnSpc>
              <a:buNone/>
            </a:pPr>
            <a:r>
              <a:rPr lang="en-US" sz="1150" dirty="0">
                <a:solidFill>
                  <a:srgbClr val="5B6474"/>
                </a:solidFill>
                <a:latin typeface="Calibri" pitchFamily="34" charset="0"/>
                <a:ea typeface="Calibri" pitchFamily="34" charset="-122"/>
                <a:cs typeface="Calibri" pitchFamily="34" charset="-120"/>
              </a:rPr>
              <a:t>Let D look at a batch of generated samples together, rather than one at a time, so that “all of these are identical” becomes visible evidence of fakery. Diversity finally enters the objective — indirectly, through the critic.</a:t>
            </a:r>
            <a:endParaRPr lang="en-US" sz="1150" dirty="0"/>
          </a:p>
        </p:txBody>
      </p:sp>
      <p:sp>
        <p:nvSpPr>
          <p:cNvPr id="8" name="Shape 6"/>
          <p:cNvSpPr/>
          <p:nvPr/>
        </p:nvSpPr>
        <p:spPr>
          <a:xfrm>
            <a:off x="3425114" y="1325880"/>
            <a:ext cx="2556434" cy="3108960"/>
          </a:xfrm>
          <a:prstGeom prst="roundRect">
            <a:avLst>
              <a:gd name="adj" fmla="val 2861"/>
            </a:avLst>
          </a:prstGeom>
          <a:solidFill>
            <a:srgbClr val="F8EBF2"/>
          </a:solidFill>
          <a:ln w="12700">
            <a:solidFill>
              <a:srgbClr val="F8EBF2"/>
            </a:solidFill>
            <a:prstDash val="solid"/>
          </a:ln>
        </p:spPr>
        <p:txBody>
          <a:bodyPr/>
          <a:lstStyle/>
          <a:p>
            <a:endParaRPr lang="en-US"/>
          </a:p>
        </p:txBody>
      </p:sp>
      <p:sp>
        <p:nvSpPr>
          <p:cNvPr id="9" name="Text 7"/>
          <p:cNvSpPr txBox="1"/>
          <p:nvPr/>
        </p:nvSpPr>
        <p:spPr>
          <a:xfrm>
            <a:off x="3681146" y="1517904"/>
            <a:ext cx="2044370" cy="658368"/>
          </a:xfrm>
          <a:prstGeom prst="rect">
            <a:avLst/>
          </a:prstGeom>
          <a:noFill/>
          <a:ln/>
        </p:spPr>
        <p:txBody>
          <a:bodyPr wrap="square" lIns="0" tIns="0" rIns="0" bIns="0" rtlCol="0" anchor="ctr"/>
          <a:lstStyle/>
          <a:p>
            <a:pPr marL="0" indent="0">
              <a:lnSpc>
                <a:spcPts val="2000"/>
              </a:lnSpc>
              <a:buNone/>
            </a:pPr>
            <a:r>
              <a:rPr lang="en-US" sz="1550" b="1" dirty="0">
                <a:solidFill>
                  <a:srgbClr val="0E131B"/>
                </a:solidFill>
                <a:latin typeface="Cambria" pitchFamily="34" charset="0"/>
                <a:ea typeface="Cambria" pitchFamily="34" charset="-122"/>
                <a:cs typeface="Cambria" pitchFamily="34" charset="-120"/>
              </a:rPr>
              <a:t>Unrolled GANs</a:t>
            </a:r>
            <a:endParaRPr lang="en-US" sz="1550" dirty="0"/>
          </a:p>
        </p:txBody>
      </p:sp>
      <p:sp>
        <p:nvSpPr>
          <p:cNvPr id="10" name="Text 8"/>
          <p:cNvSpPr txBox="1"/>
          <p:nvPr/>
        </p:nvSpPr>
        <p:spPr>
          <a:xfrm>
            <a:off x="3681146" y="2240280"/>
            <a:ext cx="2044370" cy="2057400"/>
          </a:xfrm>
          <a:prstGeom prst="rect">
            <a:avLst/>
          </a:prstGeom>
          <a:noFill/>
          <a:ln/>
        </p:spPr>
        <p:txBody>
          <a:bodyPr wrap="square" lIns="0" tIns="0" rIns="0" bIns="0" rtlCol="0" anchor="ctr"/>
          <a:lstStyle/>
          <a:p>
            <a:pPr marL="0" indent="0">
              <a:lnSpc>
                <a:spcPts val="1500"/>
              </a:lnSpc>
              <a:buNone/>
            </a:pPr>
            <a:r>
              <a:rPr lang="en-US" sz="1150" dirty="0">
                <a:solidFill>
                  <a:srgbClr val="5B6474"/>
                </a:solidFill>
                <a:latin typeface="Calibri" pitchFamily="34" charset="0"/>
                <a:ea typeface="Calibri" pitchFamily="34" charset="-122"/>
                <a:cs typeface="Calibri" pitchFamily="34" charset="-120"/>
              </a:rPr>
              <a:t>Let G optimise against where D is about to be, several steps ahead, rather than where D is now. This removes the incentive to chase a critic’s momentary blind spot.</a:t>
            </a:r>
            <a:endParaRPr lang="en-US" sz="1150" dirty="0"/>
          </a:p>
        </p:txBody>
      </p:sp>
      <p:sp>
        <p:nvSpPr>
          <p:cNvPr id="11" name="Shape 9"/>
          <p:cNvSpPr/>
          <p:nvPr/>
        </p:nvSpPr>
        <p:spPr>
          <a:xfrm>
            <a:off x="6210148" y="1325880"/>
            <a:ext cx="2556434" cy="3108960"/>
          </a:xfrm>
          <a:prstGeom prst="roundRect">
            <a:avLst>
              <a:gd name="adj" fmla="val 2861"/>
            </a:avLst>
          </a:prstGeom>
          <a:solidFill>
            <a:srgbClr val="E6F2EF"/>
          </a:solidFill>
          <a:ln w="12700">
            <a:solidFill>
              <a:srgbClr val="E6F2EF"/>
            </a:solidFill>
            <a:prstDash val="solid"/>
          </a:ln>
        </p:spPr>
        <p:txBody>
          <a:bodyPr/>
          <a:lstStyle/>
          <a:p>
            <a:endParaRPr lang="en-US"/>
          </a:p>
        </p:txBody>
      </p:sp>
      <p:sp>
        <p:nvSpPr>
          <p:cNvPr id="12" name="Text 10"/>
          <p:cNvSpPr txBox="1"/>
          <p:nvPr/>
        </p:nvSpPr>
        <p:spPr>
          <a:xfrm>
            <a:off x="6466180" y="1517904"/>
            <a:ext cx="2044370" cy="658368"/>
          </a:xfrm>
          <a:prstGeom prst="rect">
            <a:avLst/>
          </a:prstGeom>
          <a:noFill/>
          <a:ln/>
        </p:spPr>
        <p:txBody>
          <a:bodyPr wrap="square" lIns="0" tIns="0" rIns="0" bIns="0" rtlCol="0" anchor="ctr"/>
          <a:lstStyle/>
          <a:p>
            <a:pPr marL="0" indent="0">
              <a:lnSpc>
                <a:spcPts val="2000"/>
              </a:lnSpc>
              <a:buNone/>
            </a:pPr>
            <a:r>
              <a:rPr lang="en-US" sz="1550" b="1" dirty="0">
                <a:solidFill>
                  <a:srgbClr val="0E131B"/>
                </a:solidFill>
                <a:latin typeface="Cambria" pitchFamily="34" charset="0"/>
                <a:ea typeface="Cambria" pitchFamily="34" charset="-122"/>
                <a:cs typeface="Cambria" pitchFamily="34" charset="-120"/>
              </a:rPr>
              <a:t>Wasserstein GAN</a:t>
            </a:r>
            <a:endParaRPr lang="en-US" sz="1550" dirty="0"/>
          </a:p>
        </p:txBody>
      </p:sp>
      <p:sp>
        <p:nvSpPr>
          <p:cNvPr id="13" name="Text 11"/>
          <p:cNvSpPr txBox="1"/>
          <p:nvPr/>
        </p:nvSpPr>
        <p:spPr>
          <a:xfrm>
            <a:off x="6466180" y="2240280"/>
            <a:ext cx="2044370" cy="2057400"/>
          </a:xfrm>
          <a:prstGeom prst="rect">
            <a:avLst/>
          </a:prstGeom>
          <a:noFill/>
          <a:ln/>
        </p:spPr>
        <p:txBody>
          <a:bodyPr wrap="square" lIns="0" tIns="0" rIns="0" bIns="0" rtlCol="0" anchor="ctr"/>
          <a:lstStyle/>
          <a:p>
            <a:pPr marL="0" indent="0">
              <a:lnSpc>
                <a:spcPts val="1500"/>
              </a:lnSpc>
              <a:buNone/>
            </a:pPr>
            <a:r>
              <a:rPr lang="en-US" sz="1150" dirty="0">
                <a:solidFill>
                  <a:srgbClr val="5B6474"/>
                </a:solidFill>
                <a:latin typeface="Calibri" pitchFamily="34" charset="0"/>
                <a:ea typeface="Calibri" pitchFamily="34" charset="-122"/>
                <a:cs typeface="Calibri" pitchFamily="34" charset="-120"/>
              </a:rPr>
              <a:t>Replace the JSD-flavoured objective with a distance that still gives useful gradients when the two distributions barely overlap, so G is not rewarded for hiding in a single place.</a:t>
            </a:r>
            <a:endParaRPr lang="en-US" sz="1150" dirty="0"/>
          </a:p>
        </p:txBody>
      </p:sp>
      <p:sp>
        <p:nvSpPr>
          <p:cNvPr id="14" name="Shape 12"/>
          <p:cNvSpPr/>
          <p:nvPr/>
        </p:nvSpPr>
        <p:spPr>
          <a:xfrm>
            <a:off x="8995181" y="1325880"/>
            <a:ext cx="2556434" cy="3108960"/>
          </a:xfrm>
          <a:prstGeom prst="roundRect">
            <a:avLst>
              <a:gd name="adj" fmla="val 2861"/>
            </a:avLst>
          </a:prstGeom>
          <a:solidFill>
            <a:srgbClr val="0E131B"/>
          </a:solidFill>
          <a:ln w="12700">
            <a:solidFill>
              <a:srgbClr val="0E131B"/>
            </a:solidFill>
            <a:prstDash val="solid"/>
          </a:ln>
        </p:spPr>
        <p:txBody>
          <a:bodyPr/>
          <a:lstStyle/>
          <a:p>
            <a:endParaRPr lang="en-US"/>
          </a:p>
        </p:txBody>
      </p:sp>
      <p:sp>
        <p:nvSpPr>
          <p:cNvPr id="15" name="Text 13"/>
          <p:cNvSpPr txBox="1"/>
          <p:nvPr/>
        </p:nvSpPr>
        <p:spPr>
          <a:xfrm>
            <a:off x="9251213" y="1517904"/>
            <a:ext cx="2044370" cy="658368"/>
          </a:xfrm>
          <a:prstGeom prst="rect">
            <a:avLst/>
          </a:prstGeom>
          <a:noFill/>
          <a:ln/>
        </p:spPr>
        <p:txBody>
          <a:bodyPr wrap="square" lIns="0" tIns="0" rIns="0" bIns="0" rtlCol="0" anchor="ctr"/>
          <a:lstStyle/>
          <a:p>
            <a:pPr marL="0" indent="0">
              <a:lnSpc>
                <a:spcPts val="2000"/>
              </a:lnSpc>
              <a:buNone/>
            </a:pPr>
            <a:r>
              <a:rPr lang="en-US" sz="1550" b="1" dirty="0">
                <a:solidFill>
                  <a:srgbClr val="DFA9C4"/>
                </a:solidFill>
                <a:latin typeface="Cambria" pitchFamily="34" charset="0"/>
                <a:ea typeface="Cambria" pitchFamily="34" charset="-122"/>
                <a:cs typeface="Cambria" pitchFamily="34" charset="-120"/>
              </a:rPr>
              <a:t>And the general shape</a:t>
            </a:r>
            <a:endParaRPr lang="en-US" sz="1550" dirty="0"/>
          </a:p>
        </p:txBody>
      </p:sp>
      <p:sp>
        <p:nvSpPr>
          <p:cNvPr id="16" name="Text 14"/>
          <p:cNvSpPr txBox="1"/>
          <p:nvPr/>
        </p:nvSpPr>
        <p:spPr>
          <a:xfrm>
            <a:off x="9251213" y="2240280"/>
            <a:ext cx="2044370" cy="2057400"/>
          </a:xfrm>
          <a:prstGeom prst="rect">
            <a:avLst/>
          </a:prstGeom>
          <a:noFill/>
          <a:ln/>
        </p:spPr>
        <p:txBody>
          <a:bodyPr wrap="square" lIns="0" tIns="0" rIns="0" bIns="0" rtlCol="0" anchor="ctr"/>
          <a:lstStyle/>
          <a:p>
            <a:pPr marL="0" indent="0">
              <a:lnSpc>
                <a:spcPts val="1500"/>
              </a:lnSpc>
              <a:buNone/>
            </a:pPr>
            <a:r>
              <a:rPr lang="en-US" sz="1150" dirty="0">
                <a:solidFill>
                  <a:srgbClr val="F2F4F8"/>
                </a:solidFill>
                <a:latin typeface="Calibri" pitchFamily="34" charset="0"/>
                <a:ea typeface="Calibri" pitchFamily="34" charset="-122"/>
                <a:cs typeface="Calibri" pitchFamily="34" charset="-120"/>
              </a:rPr>
              <a:t>L′ = L + λ · diversity-ish-term. Which is exactly last week’s impact regulariser: you must define the new term, choose λ, and accept whatever the new term leaves out.</a:t>
            </a:r>
            <a:endParaRPr lang="en-US" sz="1150" dirty="0"/>
          </a:p>
        </p:txBody>
      </p:sp>
      <p:sp>
        <p:nvSpPr>
          <p:cNvPr id="17" name="Shape 15"/>
          <p:cNvSpPr/>
          <p:nvPr/>
        </p:nvSpPr>
        <p:spPr>
          <a:xfrm>
            <a:off x="640080" y="4663440"/>
            <a:ext cx="10911535" cy="1554480"/>
          </a:xfrm>
          <a:prstGeom prst="roundRect">
            <a:avLst>
              <a:gd name="adj" fmla="val 4706"/>
            </a:avLst>
          </a:prstGeom>
          <a:solidFill>
            <a:srgbClr val="0E131B"/>
          </a:solidFill>
          <a:ln w="12700">
            <a:solidFill>
              <a:srgbClr val="0E131B"/>
            </a:solidFill>
            <a:prstDash val="solid"/>
          </a:ln>
        </p:spPr>
        <p:txBody>
          <a:bodyPr/>
          <a:lstStyle/>
          <a:p>
            <a:endParaRPr lang="en-US"/>
          </a:p>
        </p:txBody>
      </p:sp>
      <p:sp>
        <p:nvSpPr>
          <p:cNvPr id="18" name="Text 16"/>
          <p:cNvSpPr txBox="1"/>
          <p:nvPr/>
        </p:nvSpPr>
        <p:spPr>
          <a:xfrm>
            <a:off x="1005840" y="4828032"/>
            <a:ext cx="10424160" cy="274320"/>
          </a:xfrm>
          <a:prstGeom prst="rect">
            <a:avLst/>
          </a:prstGeom>
          <a:noFill/>
          <a:ln/>
        </p:spPr>
        <p:txBody>
          <a:bodyPr wrap="square" lIns="0" tIns="0" rIns="0" bIns="0" rtlCol="0" anchor="ctr"/>
          <a:lstStyle/>
          <a:p>
            <a:pPr marL="0" indent="0">
              <a:buNone/>
            </a:pPr>
            <a:r>
              <a:rPr lang="en-US" sz="1150" b="1" kern="0" spc="140" dirty="0">
                <a:solidFill>
                  <a:srgbClr val="DFA9C4"/>
                </a:solidFill>
                <a:latin typeface="Calibri" pitchFamily="34" charset="0"/>
                <a:ea typeface="Calibri" pitchFamily="34" charset="-122"/>
                <a:cs typeface="Calibri" pitchFamily="34" charset="-120"/>
              </a:rPr>
              <a:t>The pattern, for the second week running</a:t>
            </a:r>
            <a:endParaRPr lang="en-US" sz="1150" dirty="0"/>
          </a:p>
        </p:txBody>
      </p:sp>
      <p:sp>
        <p:nvSpPr>
          <p:cNvPr id="19" name="Text 17"/>
          <p:cNvSpPr txBox="1"/>
          <p:nvPr/>
        </p:nvSpPr>
        <p:spPr>
          <a:xfrm>
            <a:off x="1005840" y="5157216"/>
            <a:ext cx="10424160" cy="896112"/>
          </a:xfrm>
          <a:prstGeom prst="rect">
            <a:avLst/>
          </a:prstGeom>
          <a:noFill/>
          <a:ln/>
        </p:spPr>
        <p:txBody>
          <a:bodyPr wrap="square" lIns="0" tIns="0" rIns="0" bIns="0" rtlCol="0" anchor="ctr"/>
          <a:lstStyle/>
          <a:p>
            <a:pPr marL="0" indent="0">
              <a:lnSpc>
                <a:spcPts val="2000"/>
              </a:lnSpc>
              <a:buNone/>
            </a:pPr>
            <a:r>
              <a:rPr lang="en-US" sz="1500" dirty="0">
                <a:solidFill>
                  <a:srgbClr val="F2F4F8"/>
                </a:solidFill>
                <a:latin typeface="Cambria" pitchFamily="34" charset="0"/>
                <a:ea typeface="Cambria" pitchFamily="34" charset="-122"/>
                <a:cs typeface="Cambria" pitchFamily="34" charset="-120"/>
              </a:rPr>
              <a:t>Nobody forgot about diversity. The repairs exist, they are ingenious, and several of them work well. What none of them does is make the problem go away, because each one requires somebody to write down what variety means, in a form a gradient can read, and weight it against quality. That specification problem is not solved by any of these — it is relocated.</a:t>
            </a:r>
            <a:endParaRPr lang="en-US" sz="1500" dirty="0"/>
          </a:p>
        </p:txBody>
      </p:sp>
      <p:sp>
        <p:nvSpPr>
          <p:cNvPr id="20" name="Text 18"/>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B6474"/>
                </a:solidFill>
                <a:latin typeface="Calibri" pitchFamily="34" charset="0"/>
                <a:ea typeface="Calibri" pitchFamily="34" charset="-122"/>
                <a:cs typeface="Calibri" pitchFamily="34" charset="-120"/>
              </a:rPr>
              <a:t>Salimans et al. (2016) on minibatch discrimination; Metz et al. (2016) on unrolling; Arjovsky et al. (2017) on Wasserstein GAN.</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4">
    <p:bg>
      <p:bgPr>
        <a:solidFill>
          <a:srgbClr val="0E131B"/>
        </a:solidFill>
        <a:effectLst/>
      </p:bgPr>
    </p:bg>
    <p:spTree>
      <p:nvGrpSpPr>
        <p:cNvPr id="1" name=""/>
        <p:cNvGrpSpPr/>
        <p:nvPr/>
      </p:nvGrpSpPr>
      <p:grpSpPr>
        <a:xfrm>
          <a:off x="0" y="0"/>
          <a:ext cx="0" cy="0"/>
          <a:chOff x="0" y="0"/>
          <a:chExt cx="0" cy="0"/>
        </a:xfrm>
      </p:grpSpPr>
      <p:sp>
        <p:nvSpPr>
          <p:cNvPr id="2" name="Shape 0"/>
          <p:cNvSpPr/>
          <p:nvPr/>
        </p:nvSpPr>
        <p:spPr>
          <a:xfrm>
            <a:off x="8778240" y="1417320"/>
            <a:ext cx="2651760" cy="2651760"/>
          </a:xfrm>
          <a:prstGeom prst="ellipse">
            <a:avLst/>
          </a:prstGeom>
          <a:solidFill>
            <a:srgbClr val="9C3D6E">
              <a:alpha val="70000"/>
            </a:srgbClr>
          </a:solidFill>
          <a:ln/>
        </p:spPr>
        <p:txBody>
          <a:bodyPr/>
          <a:lstStyle/>
          <a:p>
            <a:endParaRPr lang="en-US"/>
          </a:p>
        </p:txBody>
      </p:sp>
      <p:sp>
        <p:nvSpPr>
          <p:cNvPr id="3" name="Shape 1"/>
          <p:cNvSpPr/>
          <p:nvPr/>
        </p:nvSpPr>
        <p:spPr>
          <a:xfrm>
            <a:off x="9646920" y="2286000"/>
            <a:ext cx="1188720" cy="1188720"/>
          </a:xfrm>
          <a:prstGeom prst="ellipse">
            <a:avLst/>
          </a:prstGeom>
          <a:solidFill>
            <a:srgbClr val="1F7A6B">
              <a:alpha val="75000"/>
            </a:srgbClr>
          </a:solidFill>
          <a:ln/>
        </p:spPr>
        <p:txBody>
          <a:bodyPr/>
          <a:lstStyle/>
          <a:p>
            <a:endParaRPr lang="en-US"/>
          </a:p>
        </p:txBody>
      </p:sp>
      <p:sp>
        <p:nvSpPr>
          <p:cNvPr id="4" name="Text 2"/>
          <p:cNvSpPr txBox="1"/>
          <p:nvPr/>
        </p:nvSpPr>
        <p:spPr>
          <a:xfrm>
            <a:off x="640080" y="1920240"/>
            <a:ext cx="7315200" cy="320040"/>
          </a:xfrm>
          <a:prstGeom prst="rect">
            <a:avLst/>
          </a:prstGeom>
          <a:noFill/>
          <a:ln/>
        </p:spPr>
        <p:txBody>
          <a:bodyPr wrap="square" lIns="0" tIns="0" rIns="0" bIns="0" rtlCol="0" anchor="ctr"/>
          <a:lstStyle/>
          <a:p>
            <a:pPr marL="0" indent="0">
              <a:buNone/>
            </a:pPr>
            <a:r>
              <a:rPr lang="en-US" sz="1300" b="1" kern="0" spc="220" dirty="0">
                <a:solidFill>
                  <a:srgbClr val="DFA9C4"/>
                </a:solidFill>
                <a:latin typeface="Calibri" pitchFamily="34" charset="0"/>
                <a:ea typeface="Calibri" pitchFamily="34" charset="-122"/>
                <a:cs typeface="Calibri" pitchFamily="34" charset="-120"/>
              </a:rPr>
              <a:t>PART FOUR</a:t>
            </a:r>
            <a:endParaRPr lang="en-US" sz="1300" dirty="0"/>
          </a:p>
        </p:txBody>
      </p:sp>
      <p:sp>
        <p:nvSpPr>
          <p:cNvPr id="5" name="Text 3"/>
          <p:cNvSpPr txBox="1"/>
          <p:nvPr/>
        </p:nvSpPr>
        <p:spPr>
          <a:xfrm>
            <a:off x="640080" y="2331720"/>
            <a:ext cx="7680960" cy="914400"/>
          </a:xfrm>
          <a:prstGeom prst="rect">
            <a:avLst/>
          </a:prstGeom>
          <a:noFill/>
          <a:ln/>
        </p:spPr>
        <p:txBody>
          <a:bodyPr wrap="square" lIns="0" tIns="0" rIns="0" bIns="0" rtlCol="0" anchor="ctr"/>
          <a:lstStyle/>
          <a:p>
            <a:pPr marL="0" indent="0">
              <a:buNone/>
            </a:pPr>
            <a:r>
              <a:rPr lang="en-US" sz="3600" b="1" dirty="0">
                <a:solidFill>
                  <a:srgbClr val="F2F4F8"/>
                </a:solidFill>
                <a:latin typeface="Cambria" pitchFamily="34" charset="0"/>
                <a:ea typeface="Cambria" pitchFamily="34" charset="-122"/>
                <a:cs typeface="Cambria" pitchFamily="34" charset="-120"/>
              </a:rPr>
              <a:t>Measuring what died</a:t>
            </a:r>
            <a:endParaRPr lang="en-US" sz="3600" dirty="0"/>
          </a:p>
        </p:txBody>
      </p:sp>
      <p:sp>
        <p:nvSpPr>
          <p:cNvPr id="6" name="Text 4"/>
          <p:cNvSpPr txBox="1"/>
          <p:nvPr/>
        </p:nvSpPr>
        <p:spPr>
          <a:xfrm>
            <a:off x="640080" y="3310128"/>
            <a:ext cx="768096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Entropy, and effective modes  ·  2:40–3:10</a:t>
            </a:r>
            <a:endParaRPr lang="en-US" sz="1500" dirty="0"/>
          </a:p>
        </p:txBody>
      </p:sp>
      <p:sp>
        <p:nvSpPr>
          <p:cNvPr id="7" name="Shape 5"/>
          <p:cNvSpPr/>
          <p:nvPr/>
        </p:nvSpPr>
        <p:spPr>
          <a:xfrm>
            <a:off x="640080" y="3913632"/>
            <a:ext cx="2377440" cy="18288"/>
          </a:xfrm>
          <a:prstGeom prst="rect">
            <a:avLst/>
          </a:prstGeom>
          <a:solidFill>
            <a:srgbClr val="84CCBD"/>
          </a:solidFill>
          <a:ln/>
        </p:spPr>
        <p:txBody>
          <a:bodyPr/>
          <a:lstStyle/>
          <a:p>
            <a:endParaRPr lang="en-US"/>
          </a:p>
        </p:txBody>
      </p:sp>
      <p:sp>
        <p:nvSpPr>
          <p:cNvPr id="8" name="Text 6"/>
          <p:cNvSpPr txBox="1"/>
          <p:nvPr/>
        </p:nvSpPr>
        <p:spPr>
          <a:xfrm>
            <a:off x="640080" y="4133088"/>
            <a:ext cx="7680960" cy="777240"/>
          </a:xfrm>
          <a:prstGeom prst="rect">
            <a:avLst/>
          </a:prstGeom>
          <a:noFill/>
          <a:ln/>
        </p:spPr>
        <p:txBody>
          <a:bodyPr wrap="square" lIns="0" tIns="0" rIns="0" bIns="0" rtlCol="0" anchor="ctr"/>
          <a:lstStyle/>
          <a:p>
            <a:pPr marL="0" indent="0">
              <a:lnSpc>
                <a:spcPts val="2500"/>
              </a:lnSpc>
              <a:buNone/>
            </a:pPr>
            <a:r>
              <a:rPr lang="en-US" sz="1850" i="1" dirty="0">
                <a:solidFill>
                  <a:srgbClr val="84CCBD"/>
                </a:solidFill>
                <a:latin typeface="Cambria" pitchFamily="34" charset="0"/>
                <a:ea typeface="Cambria" pitchFamily="34" charset="-122"/>
                <a:cs typeface="Cambria" pitchFamily="34" charset="-120"/>
              </a:rPr>
              <a:t>A statistic you can compute by hand, on your own pages, in four minutes.</a:t>
            </a:r>
            <a:endParaRPr lang="en-US" sz="1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9C3D6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THE MEASURE</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0E131B"/>
                </a:solidFill>
                <a:latin typeface="Cambria" pitchFamily="34" charset="0"/>
                <a:ea typeface="Cambria" pitchFamily="34" charset="-122"/>
                <a:cs typeface="Cambria" pitchFamily="34" charset="-120"/>
              </a:rPr>
              <a:t>Entropy: how spread out a set of outputs is</a:t>
            </a:r>
            <a:endParaRPr lang="en-US" sz="2900" dirty="0"/>
          </a:p>
        </p:txBody>
      </p:sp>
      <p:sp>
        <p:nvSpPr>
          <p:cNvPr id="5" name="Shape 3"/>
          <p:cNvSpPr/>
          <p:nvPr/>
        </p:nvSpPr>
        <p:spPr>
          <a:xfrm>
            <a:off x="3291840" y="1298448"/>
            <a:ext cx="6492240" cy="960120"/>
          </a:xfrm>
          <a:prstGeom prst="roundRect">
            <a:avLst>
              <a:gd name="adj" fmla="val 5714"/>
            </a:avLst>
          </a:prstGeom>
          <a:solidFill>
            <a:srgbClr val="F5F7FA"/>
          </a:solidFill>
          <a:ln w="12700">
            <a:solidFill>
              <a:srgbClr val="CBD5E1"/>
            </a:solidFill>
            <a:prstDash val="solid"/>
          </a:ln>
        </p:spPr>
        <p:txBody>
          <a:bodyPr/>
          <a:lstStyle/>
          <a:p>
            <a:endParaRPr lang="en-US"/>
          </a:p>
        </p:txBody>
      </p:sp>
      <p:sp>
        <p:nvSpPr>
          <p:cNvPr id="6" name="Text 4"/>
          <p:cNvSpPr txBox="1"/>
          <p:nvPr/>
        </p:nvSpPr>
        <p:spPr>
          <a:xfrm>
            <a:off x="3401568" y="1298448"/>
            <a:ext cx="6272784" cy="960120"/>
          </a:xfrm>
          <a:prstGeom prst="rect">
            <a:avLst/>
          </a:prstGeom>
          <a:noFill/>
          <a:ln/>
        </p:spPr>
        <p:txBody>
          <a:bodyPr wrap="square" lIns="0" tIns="0" rIns="0" bIns="0" rtlCol="0" anchor="ctr"/>
          <a:lstStyle/>
          <a:p>
            <a:pPr marL="0" indent="0" algn="ctr">
              <a:buNone/>
            </a:pPr>
            <a:r>
              <a:rPr lang="en-US" sz="3200" dirty="0">
                <a:solidFill>
                  <a:srgbClr val="0E131B"/>
                </a:solidFill>
                <a:latin typeface="Cambria Math" pitchFamily="34" charset="0"/>
                <a:ea typeface="Cambria Math" pitchFamily="34" charset="-122"/>
                <a:cs typeface="Cambria Math" pitchFamily="34" charset="-120"/>
              </a:rPr>
              <a:t>H = − ∑ pᵢ log pᵢ</a:t>
            </a:r>
            <a:endParaRPr lang="en-US" sz="3200" dirty="0"/>
          </a:p>
        </p:txBody>
      </p:sp>
      <p:sp>
        <p:nvSpPr>
          <p:cNvPr id="7" name="Text 5"/>
          <p:cNvSpPr txBox="1"/>
          <p:nvPr/>
        </p:nvSpPr>
        <p:spPr>
          <a:xfrm>
            <a:off x="1188720" y="2331720"/>
            <a:ext cx="10698480" cy="329184"/>
          </a:xfrm>
          <a:prstGeom prst="rect">
            <a:avLst/>
          </a:prstGeom>
          <a:noFill/>
          <a:ln/>
        </p:spPr>
        <p:txBody>
          <a:bodyPr wrap="square" lIns="0" tIns="0" rIns="0" bIns="0" rtlCol="0" anchor="ctr"/>
          <a:lstStyle/>
          <a:p>
            <a:pPr marL="0" indent="0" algn="ctr">
              <a:buNone/>
            </a:pPr>
            <a:r>
              <a:rPr lang="en-US" sz="1250" i="1" dirty="0">
                <a:solidFill>
                  <a:srgbClr val="1F7A6B"/>
                </a:solidFill>
                <a:latin typeface="Calibri" pitchFamily="34" charset="0"/>
                <a:ea typeface="Calibri" pitchFamily="34" charset="-122"/>
                <a:cs typeface="Calibri" pitchFamily="34" charset="-120"/>
              </a:rPr>
              <a:t>“for each kind of output, multiply how often it appeared by the log of how often it appeared, add them all up, flip the sign.”</a:t>
            </a:r>
            <a:endParaRPr lang="en-US" sz="1250" dirty="0"/>
          </a:p>
        </p:txBody>
      </p:sp>
      <p:sp>
        <p:nvSpPr>
          <p:cNvPr id="8" name="Shape 6"/>
          <p:cNvSpPr/>
          <p:nvPr/>
        </p:nvSpPr>
        <p:spPr>
          <a:xfrm>
            <a:off x="640080" y="2834640"/>
            <a:ext cx="2021373" cy="22860"/>
          </a:xfrm>
          <a:prstGeom prst="rect">
            <a:avLst/>
          </a:prstGeom>
          <a:solidFill>
            <a:srgbClr val="1F7A6B"/>
          </a:solidFill>
          <a:ln/>
        </p:spPr>
        <p:txBody>
          <a:bodyPr/>
          <a:lstStyle/>
          <a:p>
            <a:endParaRPr lang="en-US"/>
          </a:p>
        </p:txBody>
      </p:sp>
      <p:sp>
        <p:nvSpPr>
          <p:cNvPr id="9" name="Text 7"/>
          <p:cNvSpPr txBox="1"/>
          <p:nvPr/>
        </p:nvSpPr>
        <p:spPr>
          <a:xfrm>
            <a:off x="640080" y="2926080"/>
            <a:ext cx="2021373" cy="384048"/>
          </a:xfrm>
          <a:prstGeom prst="rect">
            <a:avLst/>
          </a:prstGeom>
          <a:noFill/>
          <a:ln/>
        </p:spPr>
        <p:txBody>
          <a:bodyPr wrap="square" lIns="0" tIns="0" rIns="0" bIns="0" rtlCol="0" anchor="ctr"/>
          <a:lstStyle/>
          <a:p>
            <a:pPr marL="0" indent="0" algn="ctr">
              <a:buNone/>
            </a:pPr>
            <a:r>
              <a:rPr lang="en-US" sz="2100" b="1" dirty="0">
                <a:solidFill>
                  <a:srgbClr val="1F7A6B"/>
                </a:solidFill>
                <a:latin typeface="Cambria Math" pitchFamily="34" charset="0"/>
                <a:ea typeface="Cambria Math" pitchFamily="34" charset="-122"/>
                <a:cs typeface="Cambria Math" pitchFamily="34" charset="-120"/>
              </a:rPr>
              <a:t>pᵢ</a:t>
            </a:r>
            <a:endParaRPr lang="en-US" sz="2100" dirty="0"/>
          </a:p>
        </p:txBody>
      </p:sp>
      <p:sp>
        <p:nvSpPr>
          <p:cNvPr id="10" name="Text 8"/>
          <p:cNvSpPr txBox="1"/>
          <p:nvPr/>
        </p:nvSpPr>
        <p:spPr>
          <a:xfrm>
            <a:off x="640080" y="3364992"/>
            <a:ext cx="2021373" cy="1005840"/>
          </a:xfrm>
          <a:prstGeom prst="rect">
            <a:avLst/>
          </a:prstGeom>
          <a:noFill/>
          <a:ln/>
        </p:spPr>
        <p:txBody>
          <a:bodyPr wrap="square" lIns="0" tIns="0" rIns="0" bIns="0" rtlCol="0" anchor="ctr"/>
          <a:lstStyle/>
          <a:p>
            <a:pPr marL="0" indent="0" algn="ctr">
              <a:lnSpc>
                <a:spcPts val="1400"/>
              </a:lnSpc>
              <a:buNone/>
            </a:pPr>
            <a:r>
              <a:rPr lang="en-US" sz="1100" dirty="0">
                <a:solidFill>
                  <a:srgbClr val="5B6474"/>
                </a:solidFill>
                <a:latin typeface="Calibri" pitchFamily="34" charset="0"/>
                <a:ea typeface="Calibri" pitchFamily="34" charset="-122"/>
                <a:cs typeface="Calibri" pitchFamily="34" charset="-120"/>
              </a:rPr>
              <a:t>the fraction of your forty outputs that fell into category i.</a:t>
            </a:r>
            <a:endParaRPr lang="en-US" sz="1100" dirty="0"/>
          </a:p>
        </p:txBody>
      </p:sp>
      <p:sp>
        <p:nvSpPr>
          <p:cNvPr id="11" name="Shape 9"/>
          <p:cNvSpPr/>
          <p:nvPr/>
        </p:nvSpPr>
        <p:spPr>
          <a:xfrm>
            <a:off x="2862621" y="2834640"/>
            <a:ext cx="2021373" cy="22860"/>
          </a:xfrm>
          <a:prstGeom prst="rect">
            <a:avLst/>
          </a:prstGeom>
          <a:solidFill>
            <a:srgbClr val="9C3D6E"/>
          </a:solidFill>
          <a:ln/>
        </p:spPr>
        <p:txBody>
          <a:bodyPr/>
          <a:lstStyle/>
          <a:p>
            <a:endParaRPr lang="en-US"/>
          </a:p>
        </p:txBody>
      </p:sp>
      <p:sp>
        <p:nvSpPr>
          <p:cNvPr id="12" name="Text 10"/>
          <p:cNvSpPr txBox="1"/>
          <p:nvPr/>
        </p:nvSpPr>
        <p:spPr>
          <a:xfrm>
            <a:off x="2862621" y="2926080"/>
            <a:ext cx="2021373" cy="384048"/>
          </a:xfrm>
          <a:prstGeom prst="rect">
            <a:avLst/>
          </a:prstGeom>
          <a:noFill/>
          <a:ln/>
        </p:spPr>
        <p:txBody>
          <a:bodyPr wrap="square" lIns="0" tIns="0" rIns="0" bIns="0" rtlCol="0" anchor="ctr"/>
          <a:lstStyle/>
          <a:p>
            <a:pPr marL="0" indent="0" algn="ctr">
              <a:buNone/>
            </a:pPr>
            <a:r>
              <a:rPr lang="en-US" sz="2100" b="1" dirty="0">
                <a:solidFill>
                  <a:srgbClr val="9C3D6E"/>
                </a:solidFill>
                <a:latin typeface="Cambria Math" pitchFamily="34" charset="0"/>
                <a:ea typeface="Cambria Math" pitchFamily="34" charset="-122"/>
                <a:cs typeface="Cambria Math" pitchFamily="34" charset="-120"/>
              </a:rPr>
              <a:t>log</a:t>
            </a:r>
            <a:endParaRPr lang="en-US" sz="2100" dirty="0"/>
          </a:p>
        </p:txBody>
      </p:sp>
      <p:sp>
        <p:nvSpPr>
          <p:cNvPr id="13" name="Text 11"/>
          <p:cNvSpPr txBox="1"/>
          <p:nvPr/>
        </p:nvSpPr>
        <p:spPr>
          <a:xfrm>
            <a:off x="2862621" y="3364992"/>
            <a:ext cx="2021373" cy="1005840"/>
          </a:xfrm>
          <a:prstGeom prst="rect">
            <a:avLst/>
          </a:prstGeom>
          <a:noFill/>
          <a:ln/>
        </p:spPr>
        <p:txBody>
          <a:bodyPr wrap="square" lIns="0" tIns="0" rIns="0" bIns="0" rtlCol="0" anchor="ctr"/>
          <a:lstStyle/>
          <a:p>
            <a:pPr marL="0" indent="0" algn="ctr">
              <a:lnSpc>
                <a:spcPts val="1400"/>
              </a:lnSpc>
              <a:buNone/>
            </a:pPr>
            <a:r>
              <a:rPr lang="en-US" sz="1100" dirty="0">
                <a:solidFill>
                  <a:srgbClr val="5B6474"/>
                </a:solidFill>
                <a:latin typeface="Calibri" pitchFamily="34" charset="0"/>
                <a:ea typeface="Calibri" pitchFamily="34" charset="-122"/>
                <a:cs typeface="Calibri" pitchFamily="34" charset="-120"/>
              </a:rPr>
              <a:t>natural log here, so H comes out in nats. Any base works; it just rescales.</a:t>
            </a:r>
            <a:endParaRPr lang="en-US" sz="1100" dirty="0"/>
          </a:p>
        </p:txBody>
      </p:sp>
      <p:sp>
        <p:nvSpPr>
          <p:cNvPr id="14" name="Shape 12"/>
          <p:cNvSpPr/>
          <p:nvPr/>
        </p:nvSpPr>
        <p:spPr>
          <a:xfrm>
            <a:off x="5085161" y="2834640"/>
            <a:ext cx="2021373" cy="22860"/>
          </a:xfrm>
          <a:prstGeom prst="rect">
            <a:avLst/>
          </a:prstGeom>
          <a:solidFill>
            <a:srgbClr val="1F7A6B"/>
          </a:solidFill>
          <a:ln/>
        </p:spPr>
        <p:txBody>
          <a:bodyPr/>
          <a:lstStyle/>
          <a:p>
            <a:endParaRPr lang="en-US"/>
          </a:p>
        </p:txBody>
      </p:sp>
      <p:sp>
        <p:nvSpPr>
          <p:cNvPr id="15" name="Text 13"/>
          <p:cNvSpPr txBox="1"/>
          <p:nvPr/>
        </p:nvSpPr>
        <p:spPr>
          <a:xfrm>
            <a:off x="5085161" y="2926080"/>
            <a:ext cx="2021373" cy="384048"/>
          </a:xfrm>
          <a:prstGeom prst="rect">
            <a:avLst/>
          </a:prstGeom>
          <a:noFill/>
          <a:ln/>
        </p:spPr>
        <p:txBody>
          <a:bodyPr wrap="square" lIns="0" tIns="0" rIns="0" bIns="0" rtlCol="0" anchor="ctr"/>
          <a:lstStyle/>
          <a:p>
            <a:pPr marL="0" indent="0" algn="ctr">
              <a:buNone/>
            </a:pPr>
            <a:r>
              <a:rPr lang="en-US" sz="2100" b="1" dirty="0">
                <a:solidFill>
                  <a:srgbClr val="1F7A6B"/>
                </a:solidFill>
                <a:latin typeface="Cambria Math" pitchFamily="34" charset="0"/>
                <a:ea typeface="Cambria Math" pitchFamily="34" charset="-122"/>
                <a:cs typeface="Cambria Math" pitchFamily="34" charset="-120"/>
              </a:rPr>
              <a:t>the minus</a:t>
            </a:r>
            <a:endParaRPr lang="en-US" sz="2100" dirty="0"/>
          </a:p>
        </p:txBody>
      </p:sp>
      <p:sp>
        <p:nvSpPr>
          <p:cNvPr id="16" name="Text 14"/>
          <p:cNvSpPr txBox="1"/>
          <p:nvPr/>
        </p:nvSpPr>
        <p:spPr>
          <a:xfrm>
            <a:off x="5085161" y="3364992"/>
            <a:ext cx="2021373" cy="1005840"/>
          </a:xfrm>
          <a:prstGeom prst="rect">
            <a:avLst/>
          </a:prstGeom>
          <a:noFill/>
          <a:ln/>
        </p:spPr>
        <p:txBody>
          <a:bodyPr wrap="square" lIns="0" tIns="0" rIns="0" bIns="0" rtlCol="0" anchor="ctr"/>
          <a:lstStyle/>
          <a:p>
            <a:pPr marL="0" indent="0" algn="ctr">
              <a:lnSpc>
                <a:spcPts val="1400"/>
              </a:lnSpc>
              <a:buNone/>
            </a:pPr>
            <a:r>
              <a:rPr lang="en-US" sz="1100" dirty="0">
                <a:solidFill>
                  <a:srgbClr val="5B6474"/>
                </a:solidFill>
                <a:latin typeface="Calibri" pitchFamily="34" charset="0"/>
                <a:ea typeface="Calibri" pitchFamily="34" charset="-122"/>
                <a:cs typeface="Calibri" pitchFamily="34" charset="-120"/>
              </a:rPr>
              <a:t>logs of fractions are negative, so the minus makes H positive.</a:t>
            </a:r>
            <a:endParaRPr lang="en-US" sz="1100" dirty="0"/>
          </a:p>
        </p:txBody>
      </p:sp>
      <p:sp>
        <p:nvSpPr>
          <p:cNvPr id="17" name="Shape 15"/>
          <p:cNvSpPr/>
          <p:nvPr/>
        </p:nvSpPr>
        <p:spPr>
          <a:xfrm>
            <a:off x="7307702" y="2834640"/>
            <a:ext cx="2021373" cy="22860"/>
          </a:xfrm>
          <a:prstGeom prst="rect">
            <a:avLst/>
          </a:prstGeom>
          <a:solidFill>
            <a:srgbClr val="9C3D6E"/>
          </a:solidFill>
          <a:ln/>
        </p:spPr>
        <p:txBody>
          <a:bodyPr/>
          <a:lstStyle/>
          <a:p>
            <a:endParaRPr lang="en-US"/>
          </a:p>
        </p:txBody>
      </p:sp>
      <p:sp>
        <p:nvSpPr>
          <p:cNvPr id="18" name="Text 16"/>
          <p:cNvSpPr txBox="1"/>
          <p:nvPr/>
        </p:nvSpPr>
        <p:spPr>
          <a:xfrm>
            <a:off x="7307702" y="2926080"/>
            <a:ext cx="2021373" cy="384048"/>
          </a:xfrm>
          <a:prstGeom prst="rect">
            <a:avLst/>
          </a:prstGeom>
          <a:noFill/>
          <a:ln/>
        </p:spPr>
        <p:txBody>
          <a:bodyPr wrap="square" lIns="0" tIns="0" rIns="0" bIns="0" rtlCol="0" anchor="ctr"/>
          <a:lstStyle/>
          <a:p>
            <a:pPr marL="0" indent="0" algn="ctr">
              <a:buNone/>
            </a:pPr>
            <a:r>
              <a:rPr lang="en-US" sz="2100" b="1" dirty="0">
                <a:solidFill>
                  <a:srgbClr val="9C3D6E"/>
                </a:solidFill>
                <a:latin typeface="Cambria Math" pitchFamily="34" charset="0"/>
                <a:ea typeface="Cambria Math" pitchFamily="34" charset="-122"/>
                <a:cs typeface="Cambria Math" pitchFamily="34" charset="-120"/>
              </a:rPr>
              <a:t>H = 0</a:t>
            </a:r>
            <a:endParaRPr lang="en-US" sz="2100" dirty="0"/>
          </a:p>
        </p:txBody>
      </p:sp>
      <p:sp>
        <p:nvSpPr>
          <p:cNvPr id="19" name="Text 17"/>
          <p:cNvSpPr txBox="1"/>
          <p:nvPr/>
        </p:nvSpPr>
        <p:spPr>
          <a:xfrm>
            <a:off x="7307702" y="3364992"/>
            <a:ext cx="2021373" cy="1005840"/>
          </a:xfrm>
          <a:prstGeom prst="rect">
            <a:avLst/>
          </a:prstGeom>
          <a:noFill/>
          <a:ln/>
        </p:spPr>
        <p:txBody>
          <a:bodyPr wrap="square" lIns="0" tIns="0" rIns="0" bIns="0" rtlCol="0" anchor="ctr"/>
          <a:lstStyle/>
          <a:p>
            <a:pPr marL="0" indent="0" algn="ctr">
              <a:lnSpc>
                <a:spcPts val="1400"/>
              </a:lnSpc>
              <a:buNone/>
            </a:pPr>
            <a:r>
              <a:rPr lang="en-US" sz="1100" dirty="0">
                <a:solidFill>
                  <a:srgbClr val="5B6474"/>
                </a:solidFill>
                <a:latin typeface="Calibri" pitchFamily="34" charset="0"/>
                <a:ea typeface="Calibri" pitchFamily="34" charset="-122"/>
                <a:cs typeface="Calibri" pitchFamily="34" charset="-120"/>
              </a:rPr>
              <a:t>every single output identical. Total collapse, measured.</a:t>
            </a:r>
            <a:endParaRPr lang="en-US" sz="1100" dirty="0"/>
          </a:p>
        </p:txBody>
      </p:sp>
      <p:sp>
        <p:nvSpPr>
          <p:cNvPr id="20" name="Shape 18"/>
          <p:cNvSpPr/>
          <p:nvPr/>
        </p:nvSpPr>
        <p:spPr>
          <a:xfrm>
            <a:off x="9530243" y="2834640"/>
            <a:ext cx="2021373" cy="22860"/>
          </a:xfrm>
          <a:prstGeom prst="rect">
            <a:avLst/>
          </a:prstGeom>
          <a:solidFill>
            <a:srgbClr val="1F7A6B"/>
          </a:solidFill>
          <a:ln/>
        </p:spPr>
        <p:txBody>
          <a:bodyPr/>
          <a:lstStyle/>
          <a:p>
            <a:endParaRPr lang="en-US"/>
          </a:p>
        </p:txBody>
      </p:sp>
      <p:sp>
        <p:nvSpPr>
          <p:cNvPr id="21" name="Text 19"/>
          <p:cNvSpPr txBox="1"/>
          <p:nvPr/>
        </p:nvSpPr>
        <p:spPr>
          <a:xfrm>
            <a:off x="9530243" y="2926080"/>
            <a:ext cx="2021373" cy="384048"/>
          </a:xfrm>
          <a:prstGeom prst="rect">
            <a:avLst/>
          </a:prstGeom>
          <a:noFill/>
          <a:ln/>
        </p:spPr>
        <p:txBody>
          <a:bodyPr wrap="square" lIns="0" tIns="0" rIns="0" bIns="0" rtlCol="0" anchor="ctr"/>
          <a:lstStyle/>
          <a:p>
            <a:pPr marL="0" indent="0" algn="ctr">
              <a:buNone/>
            </a:pPr>
            <a:r>
              <a:rPr lang="en-US" sz="2100" b="1" dirty="0">
                <a:solidFill>
                  <a:srgbClr val="1F7A6B"/>
                </a:solidFill>
                <a:latin typeface="Cambria Math" pitchFamily="34" charset="0"/>
                <a:ea typeface="Cambria Math" pitchFamily="34" charset="-122"/>
                <a:cs typeface="Cambria Math" pitchFamily="34" charset="-120"/>
              </a:rPr>
              <a:t>H maximal</a:t>
            </a:r>
            <a:endParaRPr lang="en-US" sz="2100" dirty="0"/>
          </a:p>
        </p:txBody>
      </p:sp>
      <p:sp>
        <p:nvSpPr>
          <p:cNvPr id="22" name="Text 20"/>
          <p:cNvSpPr txBox="1"/>
          <p:nvPr/>
        </p:nvSpPr>
        <p:spPr>
          <a:xfrm>
            <a:off x="9530243" y="3364992"/>
            <a:ext cx="2021373" cy="1005840"/>
          </a:xfrm>
          <a:prstGeom prst="rect">
            <a:avLst/>
          </a:prstGeom>
          <a:noFill/>
          <a:ln/>
        </p:spPr>
        <p:txBody>
          <a:bodyPr wrap="square" lIns="0" tIns="0" rIns="0" bIns="0" rtlCol="0" anchor="ctr"/>
          <a:lstStyle/>
          <a:p>
            <a:pPr marL="0" indent="0" algn="ctr">
              <a:lnSpc>
                <a:spcPts val="1400"/>
              </a:lnSpc>
              <a:buNone/>
            </a:pPr>
            <a:r>
              <a:rPr lang="en-US" sz="1100" dirty="0">
                <a:solidFill>
                  <a:srgbClr val="5B6474"/>
                </a:solidFill>
                <a:latin typeface="Calibri" pitchFamily="34" charset="0"/>
                <a:ea typeface="Calibri" pitchFamily="34" charset="-122"/>
                <a:cs typeface="Calibri" pitchFamily="34" charset="-120"/>
              </a:rPr>
              <a:t>perfectly even spread across all the categories you found.</a:t>
            </a:r>
            <a:endParaRPr lang="en-US" sz="1100" dirty="0"/>
          </a:p>
        </p:txBody>
      </p:sp>
      <p:sp>
        <p:nvSpPr>
          <p:cNvPr id="23" name="Shape 21"/>
          <p:cNvSpPr/>
          <p:nvPr/>
        </p:nvSpPr>
        <p:spPr>
          <a:xfrm>
            <a:off x="640080" y="4617720"/>
            <a:ext cx="5349240" cy="1600200"/>
          </a:xfrm>
          <a:prstGeom prst="roundRect">
            <a:avLst>
              <a:gd name="adj" fmla="val 4571"/>
            </a:avLst>
          </a:prstGeom>
          <a:solidFill>
            <a:srgbClr val="F8EBF2"/>
          </a:solidFill>
          <a:ln w="12700">
            <a:solidFill>
              <a:srgbClr val="F8EBF2"/>
            </a:solidFill>
            <a:prstDash val="solid"/>
          </a:ln>
        </p:spPr>
        <p:txBody>
          <a:bodyPr/>
          <a:lstStyle/>
          <a:p>
            <a:endParaRPr lang="en-US"/>
          </a:p>
        </p:txBody>
      </p:sp>
      <p:sp>
        <p:nvSpPr>
          <p:cNvPr id="24" name="Text 22"/>
          <p:cNvSpPr txBox="1"/>
          <p:nvPr/>
        </p:nvSpPr>
        <p:spPr>
          <a:xfrm>
            <a:off x="960120" y="4773168"/>
            <a:ext cx="4709160" cy="310896"/>
          </a:xfrm>
          <a:prstGeom prst="rect">
            <a:avLst/>
          </a:prstGeom>
          <a:noFill/>
          <a:ln/>
        </p:spPr>
        <p:txBody>
          <a:bodyPr wrap="square" lIns="0" tIns="0" rIns="0" bIns="0" rtlCol="0" anchor="ctr"/>
          <a:lstStyle/>
          <a:p>
            <a:pPr marL="0" indent="0">
              <a:buNone/>
            </a:pPr>
            <a:r>
              <a:rPr lang="en-US" sz="1600" b="1" dirty="0">
                <a:solidFill>
                  <a:srgbClr val="0E131B"/>
                </a:solidFill>
                <a:latin typeface="Cambria" pitchFamily="34" charset="0"/>
                <a:ea typeface="Cambria" pitchFamily="34" charset="-122"/>
                <a:cs typeface="Cambria" pitchFamily="34" charset="-120"/>
              </a:rPr>
              <a:t>And a number you can interpret</a:t>
            </a:r>
            <a:endParaRPr lang="en-US" sz="1600" dirty="0"/>
          </a:p>
        </p:txBody>
      </p:sp>
      <p:sp>
        <p:nvSpPr>
          <p:cNvPr id="25" name="Shape 23"/>
          <p:cNvSpPr/>
          <p:nvPr/>
        </p:nvSpPr>
        <p:spPr>
          <a:xfrm>
            <a:off x="914400" y="5120640"/>
            <a:ext cx="4800600" cy="621792"/>
          </a:xfrm>
          <a:prstGeom prst="roundRect">
            <a:avLst>
              <a:gd name="adj" fmla="val 8824"/>
            </a:avLst>
          </a:prstGeom>
          <a:solidFill>
            <a:srgbClr val="FFFFFF"/>
          </a:solidFill>
          <a:ln w="12700">
            <a:solidFill>
              <a:srgbClr val="CBD5E1"/>
            </a:solidFill>
            <a:prstDash val="solid"/>
          </a:ln>
        </p:spPr>
        <p:txBody>
          <a:bodyPr/>
          <a:lstStyle/>
          <a:p>
            <a:endParaRPr lang="en-US"/>
          </a:p>
        </p:txBody>
      </p:sp>
      <p:sp>
        <p:nvSpPr>
          <p:cNvPr id="26" name="Text 24"/>
          <p:cNvSpPr txBox="1"/>
          <p:nvPr/>
        </p:nvSpPr>
        <p:spPr>
          <a:xfrm>
            <a:off x="1024128" y="5120640"/>
            <a:ext cx="4581144" cy="621792"/>
          </a:xfrm>
          <a:prstGeom prst="rect">
            <a:avLst/>
          </a:prstGeom>
          <a:noFill/>
          <a:ln/>
        </p:spPr>
        <p:txBody>
          <a:bodyPr wrap="square" lIns="0" tIns="0" rIns="0" bIns="0" rtlCol="0" anchor="ctr"/>
          <a:lstStyle/>
          <a:p>
            <a:pPr marL="0" indent="0" algn="ctr">
              <a:buNone/>
            </a:pPr>
            <a:r>
              <a:rPr lang="en-US" sz="1900" dirty="0">
                <a:solidFill>
                  <a:srgbClr val="0E131B"/>
                </a:solidFill>
                <a:latin typeface="Cambria Math" pitchFamily="34" charset="0"/>
                <a:ea typeface="Cambria Math" pitchFamily="34" charset="-122"/>
                <a:cs typeface="Cambria Math" pitchFamily="34" charset="-120"/>
              </a:rPr>
              <a:t>effective modes = exp(H)</a:t>
            </a:r>
            <a:endParaRPr lang="en-US" sz="1900" dirty="0"/>
          </a:p>
        </p:txBody>
      </p:sp>
      <p:sp>
        <p:nvSpPr>
          <p:cNvPr id="27" name="Text 25"/>
          <p:cNvSpPr txBox="1"/>
          <p:nvPr/>
        </p:nvSpPr>
        <p:spPr>
          <a:xfrm>
            <a:off x="960120" y="5797296"/>
            <a:ext cx="4709160" cy="274320"/>
          </a:xfrm>
          <a:prstGeom prst="rect">
            <a:avLst/>
          </a:prstGeom>
          <a:noFill/>
          <a:ln/>
        </p:spPr>
        <p:txBody>
          <a:bodyPr wrap="square" lIns="0" tIns="0" rIns="0" bIns="0" rtlCol="0" anchor="ctr"/>
          <a:lstStyle/>
          <a:p>
            <a:pPr marL="0" indent="0" algn="ctr">
              <a:buNone/>
            </a:pPr>
            <a:r>
              <a:rPr lang="en-US" sz="1100" i="1" dirty="0">
                <a:solidFill>
                  <a:srgbClr val="5B6474"/>
                </a:solidFill>
                <a:latin typeface="Calibri" pitchFamily="34" charset="0"/>
                <a:ea typeface="Calibri" pitchFamily="34" charset="-122"/>
                <a:cs typeface="Calibri" pitchFamily="34" charset="-120"/>
              </a:rPr>
              <a:t>how many equally-likely kinds your set behaves like</a:t>
            </a:r>
            <a:endParaRPr lang="en-US" sz="1100" dirty="0"/>
          </a:p>
        </p:txBody>
      </p:sp>
      <p:sp>
        <p:nvSpPr>
          <p:cNvPr id="28" name="Shape 26"/>
          <p:cNvSpPr/>
          <p:nvPr/>
        </p:nvSpPr>
        <p:spPr>
          <a:xfrm>
            <a:off x="6217920" y="4617720"/>
            <a:ext cx="5312664" cy="1600200"/>
          </a:xfrm>
          <a:prstGeom prst="roundRect">
            <a:avLst>
              <a:gd name="adj" fmla="val 4571"/>
            </a:avLst>
          </a:prstGeom>
          <a:solidFill>
            <a:srgbClr val="0E131B"/>
          </a:solidFill>
          <a:ln w="12700">
            <a:solidFill>
              <a:srgbClr val="0E131B"/>
            </a:solidFill>
            <a:prstDash val="solid"/>
          </a:ln>
        </p:spPr>
        <p:txBody>
          <a:bodyPr/>
          <a:lstStyle/>
          <a:p>
            <a:endParaRPr lang="en-US"/>
          </a:p>
        </p:txBody>
      </p:sp>
      <p:sp>
        <p:nvSpPr>
          <p:cNvPr id="29" name="Text 27"/>
          <p:cNvSpPr txBox="1"/>
          <p:nvPr/>
        </p:nvSpPr>
        <p:spPr>
          <a:xfrm>
            <a:off x="6537960" y="4773168"/>
            <a:ext cx="4672584" cy="292608"/>
          </a:xfrm>
          <a:prstGeom prst="rect">
            <a:avLst/>
          </a:prstGeom>
          <a:noFill/>
          <a:ln/>
        </p:spPr>
        <p:txBody>
          <a:bodyPr wrap="square" lIns="0" tIns="0" rIns="0" bIns="0" rtlCol="0" anchor="ctr"/>
          <a:lstStyle/>
          <a:p>
            <a:pPr marL="0" indent="0">
              <a:buNone/>
            </a:pPr>
            <a:r>
              <a:rPr lang="en-US" sz="1150" b="1" kern="0" spc="140" dirty="0">
                <a:solidFill>
                  <a:srgbClr val="DFA9C4"/>
                </a:solidFill>
                <a:latin typeface="Calibri" pitchFamily="34" charset="0"/>
                <a:ea typeface="Calibri" pitchFamily="34" charset="-122"/>
                <a:cs typeface="Calibri" pitchFamily="34" charset="-120"/>
              </a:rPr>
              <a:t>Why exp(H) and not just H</a:t>
            </a:r>
            <a:endParaRPr lang="en-US" sz="1150" dirty="0"/>
          </a:p>
        </p:txBody>
      </p:sp>
      <p:sp>
        <p:nvSpPr>
          <p:cNvPr id="30" name="Text 28"/>
          <p:cNvSpPr txBox="1"/>
          <p:nvPr/>
        </p:nvSpPr>
        <p:spPr>
          <a:xfrm>
            <a:off x="6537960" y="5120640"/>
            <a:ext cx="4672584" cy="1005840"/>
          </a:xfrm>
          <a:prstGeom prst="rect">
            <a:avLst/>
          </a:prstGeom>
          <a:noFill/>
          <a:ln/>
        </p:spPr>
        <p:txBody>
          <a:bodyPr wrap="square" lIns="0" tIns="0" rIns="0" bIns="0" rtlCol="0" anchor="ctr"/>
          <a:lstStyle/>
          <a:p>
            <a:pPr marL="0" indent="0">
              <a:lnSpc>
                <a:spcPts val="1600"/>
              </a:lnSpc>
              <a:buNone/>
            </a:pPr>
            <a:r>
              <a:rPr lang="en-US" sz="1200" dirty="0">
                <a:solidFill>
                  <a:srgbClr val="F2F4F8"/>
                </a:solidFill>
                <a:latin typeface="Calibri" pitchFamily="34" charset="0"/>
                <a:ea typeface="Calibri" pitchFamily="34" charset="-122"/>
                <a:cs typeface="Calibri" pitchFamily="34" charset="-120"/>
              </a:rPr>
              <a:t>H is in awkward units. Exponentiating turns it into a count: “this set of forty behaves like a fair choice among about three and a half things.” That is a sentence a person can argue with, which is what we want.</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9C3D6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WORKED EXAMPLE</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0E131B"/>
                </a:solidFill>
                <a:latin typeface="Cambria" pitchFamily="34" charset="0"/>
                <a:ea typeface="Cambria" pitchFamily="34" charset="-122"/>
                <a:cs typeface="Cambria" pitchFamily="34" charset="-120"/>
              </a:rPr>
              <a:t>Forty outputs, five categories, one number</a:t>
            </a:r>
            <a:endParaRPr lang="en-US" sz="2900" dirty="0"/>
          </a:p>
        </p:txBody>
      </p:sp>
      <p:sp>
        <p:nvSpPr>
          <p:cNvPr id="5" name="Shape 3"/>
          <p:cNvSpPr/>
          <p:nvPr/>
        </p:nvSpPr>
        <p:spPr>
          <a:xfrm>
            <a:off x="1005840" y="1719072"/>
            <a:ext cx="566928" cy="1536192"/>
          </a:xfrm>
          <a:prstGeom prst="rect">
            <a:avLst/>
          </a:prstGeom>
          <a:solidFill>
            <a:srgbClr val="9C3D6E"/>
          </a:solidFill>
          <a:ln/>
        </p:spPr>
        <p:txBody>
          <a:bodyPr/>
          <a:lstStyle/>
          <a:p>
            <a:endParaRPr lang="en-US"/>
          </a:p>
        </p:txBody>
      </p:sp>
      <p:sp>
        <p:nvSpPr>
          <p:cNvPr id="6" name="Text 4"/>
          <p:cNvSpPr txBox="1"/>
          <p:nvPr/>
        </p:nvSpPr>
        <p:spPr>
          <a:xfrm>
            <a:off x="914400" y="1444752"/>
            <a:ext cx="749808" cy="256032"/>
          </a:xfrm>
          <a:prstGeom prst="rect">
            <a:avLst/>
          </a:prstGeom>
          <a:noFill/>
          <a:ln/>
        </p:spPr>
        <p:txBody>
          <a:bodyPr wrap="square" lIns="0" tIns="0" rIns="0" bIns="0" rtlCol="0" anchor="ctr"/>
          <a:lstStyle/>
          <a:p>
            <a:pPr marL="0" indent="0" algn="ctr">
              <a:buNone/>
            </a:pPr>
            <a:r>
              <a:rPr lang="en-US" sz="1100" b="1" dirty="0">
                <a:solidFill>
                  <a:srgbClr val="0E131B"/>
                </a:solidFill>
                <a:latin typeface="Consolas" pitchFamily="34" charset="0"/>
                <a:ea typeface="Consolas" pitchFamily="34" charset="-122"/>
                <a:cs typeface="Consolas" pitchFamily="34" charset="-120"/>
              </a:rPr>
              <a:t>22</a:t>
            </a:r>
            <a:endParaRPr lang="en-US" sz="1100" dirty="0"/>
          </a:p>
        </p:txBody>
      </p:sp>
      <p:sp>
        <p:nvSpPr>
          <p:cNvPr id="7" name="Text 5"/>
          <p:cNvSpPr txBox="1"/>
          <p:nvPr/>
        </p:nvSpPr>
        <p:spPr>
          <a:xfrm>
            <a:off x="914400" y="3328416"/>
            <a:ext cx="749808" cy="256032"/>
          </a:xfrm>
          <a:prstGeom prst="rect">
            <a:avLst/>
          </a:prstGeom>
          <a:noFill/>
          <a:ln/>
        </p:spPr>
        <p:txBody>
          <a:bodyPr wrap="square" lIns="0" tIns="0" rIns="0" bIns="0" rtlCol="0" anchor="ctr"/>
          <a:lstStyle/>
          <a:p>
            <a:pPr marL="0" indent="0" algn="ctr">
              <a:buNone/>
            </a:pPr>
            <a:r>
              <a:rPr lang="en-US" sz="1300" dirty="0">
                <a:solidFill>
                  <a:srgbClr val="5B6474"/>
                </a:solidFill>
                <a:latin typeface="Cambria Math" pitchFamily="34" charset="0"/>
                <a:ea typeface="Cambria Math" pitchFamily="34" charset="-122"/>
                <a:cs typeface="Cambria Math" pitchFamily="34" charset="-120"/>
              </a:rPr>
              <a:t>A</a:t>
            </a:r>
            <a:endParaRPr lang="en-US" sz="1300" dirty="0"/>
          </a:p>
        </p:txBody>
      </p:sp>
      <p:sp>
        <p:nvSpPr>
          <p:cNvPr id="8" name="Shape 6"/>
          <p:cNvSpPr/>
          <p:nvPr/>
        </p:nvSpPr>
        <p:spPr>
          <a:xfrm>
            <a:off x="1828800" y="2626822"/>
            <a:ext cx="566928" cy="628442"/>
          </a:xfrm>
          <a:prstGeom prst="rect">
            <a:avLst/>
          </a:prstGeom>
          <a:solidFill>
            <a:srgbClr val="DFA9C4"/>
          </a:solidFill>
          <a:ln/>
        </p:spPr>
        <p:txBody>
          <a:bodyPr/>
          <a:lstStyle/>
          <a:p>
            <a:endParaRPr lang="en-US"/>
          </a:p>
        </p:txBody>
      </p:sp>
      <p:sp>
        <p:nvSpPr>
          <p:cNvPr id="9" name="Text 7"/>
          <p:cNvSpPr txBox="1"/>
          <p:nvPr/>
        </p:nvSpPr>
        <p:spPr>
          <a:xfrm>
            <a:off x="1737360" y="2352502"/>
            <a:ext cx="749808" cy="256032"/>
          </a:xfrm>
          <a:prstGeom prst="rect">
            <a:avLst/>
          </a:prstGeom>
          <a:noFill/>
          <a:ln/>
        </p:spPr>
        <p:txBody>
          <a:bodyPr wrap="square" lIns="0" tIns="0" rIns="0" bIns="0" rtlCol="0" anchor="ctr"/>
          <a:lstStyle/>
          <a:p>
            <a:pPr marL="0" indent="0" algn="ctr">
              <a:buNone/>
            </a:pPr>
            <a:r>
              <a:rPr lang="en-US" sz="1100" b="1" dirty="0">
                <a:solidFill>
                  <a:srgbClr val="0E131B"/>
                </a:solidFill>
                <a:latin typeface="Consolas" pitchFamily="34" charset="0"/>
                <a:ea typeface="Consolas" pitchFamily="34" charset="-122"/>
                <a:cs typeface="Consolas" pitchFamily="34" charset="-120"/>
              </a:rPr>
              <a:t>9</a:t>
            </a:r>
            <a:endParaRPr lang="en-US" sz="1100" dirty="0"/>
          </a:p>
        </p:txBody>
      </p:sp>
      <p:sp>
        <p:nvSpPr>
          <p:cNvPr id="10" name="Text 8"/>
          <p:cNvSpPr txBox="1"/>
          <p:nvPr/>
        </p:nvSpPr>
        <p:spPr>
          <a:xfrm>
            <a:off x="1737360" y="3328416"/>
            <a:ext cx="749808" cy="256032"/>
          </a:xfrm>
          <a:prstGeom prst="rect">
            <a:avLst/>
          </a:prstGeom>
          <a:noFill/>
          <a:ln/>
        </p:spPr>
        <p:txBody>
          <a:bodyPr wrap="square" lIns="0" tIns="0" rIns="0" bIns="0" rtlCol="0" anchor="ctr"/>
          <a:lstStyle/>
          <a:p>
            <a:pPr marL="0" indent="0" algn="ctr">
              <a:buNone/>
            </a:pPr>
            <a:r>
              <a:rPr lang="en-US" sz="1300" dirty="0">
                <a:solidFill>
                  <a:srgbClr val="5B6474"/>
                </a:solidFill>
                <a:latin typeface="Cambria Math" pitchFamily="34" charset="0"/>
                <a:ea typeface="Cambria Math" pitchFamily="34" charset="-122"/>
                <a:cs typeface="Cambria Math" pitchFamily="34" charset="-120"/>
              </a:rPr>
              <a:t>B</a:t>
            </a:r>
            <a:endParaRPr lang="en-US" sz="1300" dirty="0"/>
          </a:p>
        </p:txBody>
      </p:sp>
      <p:sp>
        <p:nvSpPr>
          <p:cNvPr id="11" name="Shape 9"/>
          <p:cNvSpPr/>
          <p:nvPr/>
        </p:nvSpPr>
        <p:spPr>
          <a:xfrm>
            <a:off x="2651760" y="2906129"/>
            <a:ext cx="566928" cy="349135"/>
          </a:xfrm>
          <a:prstGeom prst="rect">
            <a:avLst/>
          </a:prstGeom>
          <a:solidFill>
            <a:srgbClr val="DFA9C4"/>
          </a:solidFill>
          <a:ln/>
        </p:spPr>
        <p:txBody>
          <a:bodyPr/>
          <a:lstStyle/>
          <a:p>
            <a:endParaRPr lang="en-US"/>
          </a:p>
        </p:txBody>
      </p:sp>
      <p:sp>
        <p:nvSpPr>
          <p:cNvPr id="12" name="Text 10"/>
          <p:cNvSpPr txBox="1"/>
          <p:nvPr/>
        </p:nvSpPr>
        <p:spPr>
          <a:xfrm>
            <a:off x="2560320" y="2631809"/>
            <a:ext cx="749808" cy="256032"/>
          </a:xfrm>
          <a:prstGeom prst="rect">
            <a:avLst/>
          </a:prstGeom>
          <a:noFill/>
          <a:ln/>
        </p:spPr>
        <p:txBody>
          <a:bodyPr wrap="square" lIns="0" tIns="0" rIns="0" bIns="0" rtlCol="0" anchor="ctr"/>
          <a:lstStyle/>
          <a:p>
            <a:pPr marL="0" indent="0" algn="ctr">
              <a:buNone/>
            </a:pPr>
            <a:r>
              <a:rPr lang="en-US" sz="1100" b="1" dirty="0">
                <a:solidFill>
                  <a:srgbClr val="0E131B"/>
                </a:solidFill>
                <a:latin typeface="Consolas" pitchFamily="34" charset="0"/>
                <a:ea typeface="Consolas" pitchFamily="34" charset="-122"/>
                <a:cs typeface="Consolas" pitchFamily="34" charset="-120"/>
              </a:rPr>
              <a:t>5</a:t>
            </a:r>
            <a:endParaRPr lang="en-US" sz="1100" dirty="0"/>
          </a:p>
        </p:txBody>
      </p:sp>
      <p:sp>
        <p:nvSpPr>
          <p:cNvPr id="13" name="Text 11"/>
          <p:cNvSpPr txBox="1"/>
          <p:nvPr/>
        </p:nvSpPr>
        <p:spPr>
          <a:xfrm>
            <a:off x="2560320" y="3328416"/>
            <a:ext cx="749808" cy="256032"/>
          </a:xfrm>
          <a:prstGeom prst="rect">
            <a:avLst/>
          </a:prstGeom>
          <a:noFill/>
          <a:ln/>
        </p:spPr>
        <p:txBody>
          <a:bodyPr wrap="square" lIns="0" tIns="0" rIns="0" bIns="0" rtlCol="0" anchor="ctr"/>
          <a:lstStyle/>
          <a:p>
            <a:pPr marL="0" indent="0" algn="ctr">
              <a:buNone/>
            </a:pPr>
            <a:r>
              <a:rPr lang="en-US" sz="1300" dirty="0">
                <a:solidFill>
                  <a:srgbClr val="5B6474"/>
                </a:solidFill>
                <a:latin typeface="Cambria Math" pitchFamily="34" charset="0"/>
                <a:ea typeface="Cambria Math" pitchFamily="34" charset="-122"/>
                <a:cs typeface="Cambria Math" pitchFamily="34" charset="-120"/>
              </a:rPr>
              <a:t>C</a:t>
            </a:r>
            <a:endParaRPr lang="en-US" sz="1300" dirty="0"/>
          </a:p>
        </p:txBody>
      </p:sp>
      <p:sp>
        <p:nvSpPr>
          <p:cNvPr id="14" name="Shape 12"/>
          <p:cNvSpPr/>
          <p:nvPr/>
        </p:nvSpPr>
        <p:spPr>
          <a:xfrm>
            <a:off x="3474720" y="3045783"/>
            <a:ext cx="566928" cy="209481"/>
          </a:xfrm>
          <a:prstGeom prst="rect">
            <a:avLst/>
          </a:prstGeom>
          <a:solidFill>
            <a:srgbClr val="DFA9C4"/>
          </a:solidFill>
          <a:ln/>
        </p:spPr>
        <p:txBody>
          <a:bodyPr/>
          <a:lstStyle/>
          <a:p>
            <a:endParaRPr lang="en-US"/>
          </a:p>
        </p:txBody>
      </p:sp>
      <p:sp>
        <p:nvSpPr>
          <p:cNvPr id="15" name="Text 13"/>
          <p:cNvSpPr txBox="1"/>
          <p:nvPr/>
        </p:nvSpPr>
        <p:spPr>
          <a:xfrm>
            <a:off x="3383280" y="2771463"/>
            <a:ext cx="749808" cy="256032"/>
          </a:xfrm>
          <a:prstGeom prst="rect">
            <a:avLst/>
          </a:prstGeom>
          <a:noFill/>
          <a:ln/>
        </p:spPr>
        <p:txBody>
          <a:bodyPr wrap="square" lIns="0" tIns="0" rIns="0" bIns="0" rtlCol="0" anchor="ctr"/>
          <a:lstStyle/>
          <a:p>
            <a:pPr marL="0" indent="0" algn="ctr">
              <a:buNone/>
            </a:pPr>
            <a:r>
              <a:rPr lang="en-US" sz="1100" b="1" dirty="0">
                <a:solidFill>
                  <a:srgbClr val="0E131B"/>
                </a:solidFill>
                <a:latin typeface="Consolas" pitchFamily="34" charset="0"/>
                <a:ea typeface="Consolas" pitchFamily="34" charset="-122"/>
                <a:cs typeface="Consolas" pitchFamily="34" charset="-120"/>
              </a:rPr>
              <a:t>3</a:t>
            </a:r>
            <a:endParaRPr lang="en-US" sz="1100" dirty="0"/>
          </a:p>
        </p:txBody>
      </p:sp>
      <p:sp>
        <p:nvSpPr>
          <p:cNvPr id="16" name="Text 14"/>
          <p:cNvSpPr txBox="1"/>
          <p:nvPr/>
        </p:nvSpPr>
        <p:spPr>
          <a:xfrm>
            <a:off x="3383280" y="3328416"/>
            <a:ext cx="749808" cy="256032"/>
          </a:xfrm>
          <a:prstGeom prst="rect">
            <a:avLst/>
          </a:prstGeom>
          <a:noFill/>
          <a:ln/>
        </p:spPr>
        <p:txBody>
          <a:bodyPr wrap="square" lIns="0" tIns="0" rIns="0" bIns="0" rtlCol="0" anchor="ctr"/>
          <a:lstStyle/>
          <a:p>
            <a:pPr marL="0" indent="0" algn="ctr">
              <a:buNone/>
            </a:pPr>
            <a:r>
              <a:rPr lang="en-US" sz="1300" dirty="0">
                <a:solidFill>
                  <a:srgbClr val="5B6474"/>
                </a:solidFill>
                <a:latin typeface="Cambria Math" pitchFamily="34" charset="0"/>
                <a:ea typeface="Cambria Math" pitchFamily="34" charset="-122"/>
                <a:cs typeface="Cambria Math" pitchFamily="34" charset="-120"/>
              </a:rPr>
              <a:t>D</a:t>
            </a:r>
            <a:endParaRPr lang="en-US" sz="1300" dirty="0"/>
          </a:p>
        </p:txBody>
      </p:sp>
      <p:sp>
        <p:nvSpPr>
          <p:cNvPr id="17" name="Shape 15"/>
          <p:cNvSpPr/>
          <p:nvPr/>
        </p:nvSpPr>
        <p:spPr>
          <a:xfrm>
            <a:off x="4297680" y="3185437"/>
            <a:ext cx="566928" cy="69827"/>
          </a:xfrm>
          <a:prstGeom prst="rect">
            <a:avLst/>
          </a:prstGeom>
          <a:solidFill>
            <a:srgbClr val="DFA9C4"/>
          </a:solidFill>
          <a:ln/>
        </p:spPr>
        <p:txBody>
          <a:bodyPr/>
          <a:lstStyle/>
          <a:p>
            <a:endParaRPr lang="en-US"/>
          </a:p>
        </p:txBody>
      </p:sp>
      <p:sp>
        <p:nvSpPr>
          <p:cNvPr id="18" name="Text 16"/>
          <p:cNvSpPr txBox="1"/>
          <p:nvPr/>
        </p:nvSpPr>
        <p:spPr>
          <a:xfrm>
            <a:off x="4206240" y="2911117"/>
            <a:ext cx="749808" cy="256032"/>
          </a:xfrm>
          <a:prstGeom prst="rect">
            <a:avLst/>
          </a:prstGeom>
          <a:noFill/>
          <a:ln/>
        </p:spPr>
        <p:txBody>
          <a:bodyPr wrap="square" lIns="0" tIns="0" rIns="0" bIns="0" rtlCol="0" anchor="ctr"/>
          <a:lstStyle/>
          <a:p>
            <a:pPr marL="0" indent="0" algn="ctr">
              <a:buNone/>
            </a:pPr>
            <a:r>
              <a:rPr lang="en-US" sz="1100" b="1" dirty="0">
                <a:solidFill>
                  <a:srgbClr val="0E131B"/>
                </a:solidFill>
                <a:latin typeface="Consolas" pitchFamily="34" charset="0"/>
                <a:ea typeface="Consolas" pitchFamily="34" charset="-122"/>
                <a:cs typeface="Consolas" pitchFamily="34" charset="-120"/>
              </a:rPr>
              <a:t>1</a:t>
            </a:r>
            <a:endParaRPr lang="en-US" sz="1100" dirty="0"/>
          </a:p>
        </p:txBody>
      </p:sp>
      <p:sp>
        <p:nvSpPr>
          <p:cNvPr id="19" name="Text 17"/>
          <p:cNvSpPr txBox="1"/>
          <p:nvPr/>
        </p:nvSpPr>
        <p:spPr>
          <a:xfrm>
            <a:off x="4206240" y="3328416"/>
            <a:ext cx="749808" cy="256032"/>
          </a:xfrm>
          <a:prstGeom prst="rect">
            <a:avLst/>
          </a:prstGeom>
          <a:noFill/>
          <a:ln/>
        </p:spPr>
        <p:txBody>
          <a:bodyPr wrap="square" lIns="0" tIns="0" rIns="0" bIns="0" rtlCol="0" anchor="ctr"/>
          <a:lstStyle/>
          <a:p>
            <a:pPr marL="0" indent="0" algn="ctr">
              <a:buNone/>
            </a:pPr>
            <a:r>
              <a:rPr lang="en-US" sz="1300" dirty="0">
                <a:solidFill>
                  <a:srgbClr val="5B6474"/>
                </a:solidFill>
                <a:latin typeface="Cambria Math" pitchFamily="34" charset="0"/>
                <a:ea typeface="Cambria Math" pitchFamily="34" charset="-122"/>
                <a:cs typeface="Cambria Math" pitchFamily="34" charset="-120"/>
              </a:rPr>
              <a:t>E</a:t>
            </a:r>
            <a:endParaRPr lang="en-US" sz="1300" dirty="0"/>
          </a:p>
        </p:txBody>
      </p:sp>
      <p:sp>
        <p:nvSpPr>
          <p:cNvPr id="20" name="Text 18"/>
          <p:cNvSpPr txBox="1"/>
          <p:nvPr/>
        </p:nvSpPr>
        <p:spPr>
          <a:xfrm>
            <a:off x="822960" y="3639312"/>
            <a:ext cx="4206240" cy="274320"/>
          </a:xfrm>
          <a:prstGeom prst="rect">
            <a:avLst/>
          </a:prstGeom>
          <a:noFill/>
          <a:ln/>
        </p:spPr>
        <p:txBody>
          <a:bodyPr wrap="square" lIns="0" tIns="0" rIns="0" bIns="0" rtlCol="0" anchor="ctr"/>
          <a:lstStyle/>
          <a:p>
            <a:pPr marL="0" indent="0">
              <a:buNone/>
            </a:pPr>
            <a:r>
              <a:rPr lang="en-US" sz="1100" i="1" dirty="0">
                <a:solidFill>
                  <a:srgbClr val="5B6474"/>
                </a:solidFill>
                <a:latin typeface="Calibri" pitchFamily="34" charset="0"/>
                <a:ea typeface="Calibri" pitchFamily="34" charset="-122"/>
                <a:cs typeface="Calibri" pitchFamily="34" charset="-120"/>
              </a:rPr>
              <a:t>counts across 40 generated outputs</a:t>
            </a:r>
            <a:endParaRPr lang="en-US" sz="1100" dirty="0"/>
          </a:p>
        </p:txBody>
      </p:sp>
      <p:sp>
        <p:nvSpPr>
          <p:cNvPr id="21" name="Shape 19"/>
          <p:cNvSpPr/>
          <p:nvPr/>
        </p:nvSpPr>
        <p:spPr>
          <a:xfrm>
            <a:off x="5349240" y="1325880"/>
            <a:ext cx="1185611" cy="402336"/>
          </a:xfrm>
          <a:prstGeom prst="roundRect">
            <a:avLst>
              <a:gd name="adj" fmla="val 18182"/>
            </a:avLst>
          </a:prstGeom>
          <a:solidFill>
            <a:srgbClr val="0E131B"/>
          </a:solidFill>
          <a:ln w="12700">
            <a:solidFill>
              <a:srgbClr val="0E131B"/>
            </a:solidFill>
            <a:prstDash val="solid"/>
          </a:ln>
        </p:spPr>
        <p:txBody>
          <a:bodyPr/>
          <a:lstStyle/>
          <a:p>
            <a:endParaRPr lang="en-US"/>
          </a:p>
        </p:txBody>
      </p:sp>
      <p:sp>
        <p:nvSpPr>
          <p:cNvPr id="22" name="Text 20"/>
          <p:cNvSpPr txBox="1"/>
          <p:nvPr/>
        </p:nvSpPr>
        <p:spPr>
          <a:xfrm>
            <a:off x="5349240" y="1325880"/>
            <a:ext cx="1185611" cy="402336"/>
          </a:xfrm>
          <a:prstGeom prst="rect">
            <a:avLst/>
          </a:prstGeom>
          <a:noFill/>
          <a:ln/>
        </p:spPr>
        <p:txBody>
          <a:bodyPr wrap="square" lIns="0" tIns="0" rIns="0" bIns="0" rtlCol="0" anchor="ctr"/>
          <a:lstStyle/>
          <a:p>
            <a:pPr marL="0" indent="0" algn="ctr">
              <a:buNone/>
            </a:pPr>
            <a:r>
              <a:rPr lang="en-US" sz="1200" b="1" dirty="0">
                <a:solidFill>
                  <a:srgbClr val="DFA9C4"/>
                </a:solidFill>
                <a:latin typeface="Cambria Math" pitchFamily="34" charset="0"/>
                <a:ea typeface="Cambria Math" pitchFamily="34" charset="-122"/>
                <a:cs typeface="Cambria Math" pitchFamily="34" charset="-120"/>
              </a:rPr>
              <a:t>category</a:t>
            </a:r>
            <a:endParaRPr lang="en-US" sz="1200" dirty="0"/>
          </a:p>
        </p:txBody>
      </p:sp>
      <p:sp>
        <p:nvSpPr>
          <p:cNvPr id="23" name="Shape 21"/>
          <p:cNvSpPr/>
          <p:nvPr/>
        </p:nvSpPr>
        <p:spPr>
          <a:xfrm>
            <a:off x="6589715" y="1325880"/>
            <a:ext cx="1185611" cy="402336"/>
          </a:xfrm>
          <a:prstGeom prst="roundRect">
            <a:avLst>
              <a:gd name="adj" fmla="val 18182"/>
            </a:avLst>
          </a:prstGeom>
          <a:solidFill>
            <a:srgbClr val="0E131B"/>
          </a:solidFill>
          <a:ln w="12700">
            <a:solidFill>
              <a:srgbClr val="0E131B"/>
            </a:solidFill>
            <a:prstDash val="solid"/>
          </a:ln>
        </p:spPr>
        <p:txBody>
          <a:bodyPr/>
          <a:lstStyle/>
          <a:p>
            <a:endParaRPr lang="en-US"/>
          </a:p>
        </p:txBody>
      </p:sp>
      <p:sp>
        <p:nvSpPr>
          <p:cNvPr id="24" name="Text 22"/>
          <p:cNvSpPr txBox="1"/>
          <p:nvPr/>
        </p:nvSpPr>
        <p:spPr>
          <a:xfrm>
            <a:off x="6589715" y="1325880"/>
            <a:ext cx="1185611" cy="402336"/>
          </a:xfrm>
          <a:prstGeom prst="rect">
            <a:avLst/>
          </a:prstGeom>
          <a:noFill/>
          <a:ln/>
        </p:spPr>
        <p:txBody>
          <a:bodyPr wrap="square" lIns="0" tIns="0" rIns="0" bIns="0" rtlCol="0" anchor="ctr"/>
          <a:lstStyle/>
          <a:p>
            <a:pPr marL="0" indent="0" algn="ctr">
              <a:buNone/>
            </a:pPr>
            <a:r>
              <a:rPr lang="en-US" sz="1200" b="1" dirty="0">
                <a:solidFill>
                  <a:srgbClr val="DFA9C4"/>
                </a:solidFill>
                <a:latin typeface="Cambria Math" pitchFamily="34" charset="0"/>
                <a:ea typeface="Cambria Math" pitchFamily="34" charset="-122"/>
                <a:cs typeface="Cambria Math" pitchFamily="34" charset="-120"/>
              </a:rPr>
              <a:t>count</a:t>
            </a:r>
            <a:endParaRPr lang="en-US" sz="1200" dirty="0"/>
          </a:p>
        </p:txBody>
      </p:sp>
      <p:sp>
        <p:nvSpPr>
          <p:cNvPr id="25" name="Shape 23"/>
          <p:cNvSpPr/>
          <p:nvPr/>
        </p:nvSpPr>
        <p:spPr>
          <a:xfrm>
            <a:off x="7830190" y="1325880"/>
            <a:ext cx="1185611" cy="402336"/>
          </a:xfrm>
          <a:prstGeom prst="roundRect">
            <a:avLst>
              <a:gd name="adj" fmla="val 18182"/>
            </a:avLst>
          </a:prstGeom>
          <a:solidFill>
            <a:srgbClr val="0E131B"/>
          </a:solidFill>
          <a:ln w="12700">
            <a:solidFill>
              <a:srgbClr val="0E131B"/>
            </a:solidFill>
            <a:prstDash val="solid"/>
          </a:ln>
        </p:spPr>
        <p:txBody>
          <a:bodyPr/>
          <a:lstStyle/>
          <a:p>
            <a:endParaRPr lang="en-US"/>
          </a:p>
        </p:txBody>
      </p:sp>
      <p:sp>
        <p:nvSpPr>
          <p:cNvPr id="26" name="Text 24"/>
          <p:cNvSpPr txBox="1"/>
          <p:nvPr/>
        </p:nvSpPr>
        <p:spPr>
          <a:xfrm>
            <a:off x="7830190" y="1325880"/>
            <a:ext cx="1185611" cy="402336"/>
          </a:xfrm>
          <a:prstGeom prst="rect">
            <a:avLst/>
          </a:prstGeom>
          <a:noFill/>
          <a:ln/>
        </p:spPr>
        <p:txBody>
          <a:bodyPr wrap="square" lIns="0" tIns="0" rIns="0" bIns="0" rtlCol="0" anchor="ctr"/>
          <a:lstStyle/>
          <a:p>
            <a:pPr marL="0" indent="0" algn="ctr">
              <a:buNone/>
            </a:pPr>
            <a:r>
              <a:rPr lang="en-US" sz="1200" b="1" dirty="0">
                <a:solidFill>
                  <a:srgbClr val="DFA9C4"/>
                </a:solidFill>
                <a:latin typeface="Cambria Math" pitchFamily="34" charset="0"/>
                <a:ea typeface="Cambria Math" pitchFamily="34" charset="-122"/>
                <a:cs typeface="Cambria Math" pitchFamily="34" charset="-120"/>
              </a:rPr>
              <a:t>pᵢ</a:t>
            </a:r>
            <a:endParaRPr lang="en-US" sz="1200" dirty="0"/>
          </a:p>
        </p:txBody>
      </p:sp>
      <p:sp>
        <p:nvSpPr>
          <p:cNvPr id="27" name="Shape 25"/>
          <p:cNvSpPr/>
          <p:nvPr/>
        </p:nvSpPr>
        <p:spPr>
          <a:xfrm>
            <a:off x="9070665" y="1325880"/>
            <a:ext cx="1185611" cy="402336"/>
          </a:xfrm>
          <a:prstGeom prst="roundRect">
            <a:avLst>
              <a:gd name="adj" fmla="val 18182"/>
            </a:avLst>
          </a:prstGeom>
          <a:solidFill>
            <a:srgbClr val="0E131B"/>
          </a:solidFill>
          <a:ln w="12700">
            <a:solidFill>
              <a:srgbClr val="0E131B"/>
            </a:solidFill>
            <a:prstDash val="solid"/>
          </a:ln>
        </p:spPr>
        <p:txBody>
          <a:bodyPr/>
          <a:lstStyle/>
          <a:p>
            <a:endParaRPr lang="en-US"/>
          </a:p>
        </p:txBody>
      </p:sp>
      <p:sp>
        <p:nvSpPr>
          <p:cNvPr id="28" name="Text 26"/>
          <p:cNvSpPr txBox="1"/>
          <p:nvPr/>
        </p:nvSpPr>
        <p:spPr>
          <a:xfrm>
            <a:off x="9070665" y="1325880"/>
            <a:ext cx="1185611" cy="402336"/>
          </a:xfrm>
          <a:prstGeom prst="rect">
            <a:avLst/>
          </a:prstGeom>
          <a:noFill/>
          <a:ln/>
        </p:spPr>
        <p:txBody>
          <a:bodyPr wrap="square" lIns="0" tIns="0" rIns="0" bIns="0" rtlCol="0" anchor="ctr"/>
          <a:lstStyle/>
          <a:p>
            <a:pPr marL="0" indent="0" algn="ctr">
              <a:buNone/>
            </a:pPr>
            <a:r>
              <a:rPr lang="en-US" sz="1200" b="1" dirty="0">
                <a:solidFill>
                  <a:srgbClr val="DFA9C4"/>
                </a:solidFill>
                <a:latin typeface="Cambria Math" pitchFamily="34" charset="0"/>
                <a:ea typeface="Cambria Math" pitchFamily="34" charset="-122"/>
                <a:cs typeface="Cambria Math" pitchFamily="34" charset="-120"/>
              </a:rPr>
              <a:t>log pᵢ</a:t>
            </a:r>
            <a:endParaRPr lang="en-US" sz="1200" dirty="0"/>
          </a:p>
        </p:txBody>
      </p:sp>
      <p:sp>
        <p:nvSpPr>
          <p:cNvPr id="29" name="Shape 27"/>
          <p:cNvSpPr/>
          <p:nvPr/>
        </p:nvSpPr>
        <p:spPr>
          <a:xfrm>
            <a:off x="10311140" y="1325880"/>
            <a:ext cx="1185611" cy="402336"/>
          </a:xfrm>
          <a:prstGeom prst="roundRect">
            <a:avLst>
              <a:gd name="adj" fmla="val 18182"/>
            </a:avLst>
          </a:prstGeom>
          <a:solidFill>
            <a:srgbClr val="0E131B"/>
          </a:solidFill>
          <a:ln w="12700">
            <a:solidFill>
              <a:srgbClr val="0E131B"/>
            </a:solidFill>
            <a:prstDash val="solid"/>
          </a:ln>
        </p:spPr>
        <p:txBody>
          <a:bodyPr/>
          <a:lstStyle/>
          <a:p>
            <a:endParaRPr lang="en-US"/>
          </a:p>
        </p:txBody>
      </p:sp>
      <p:sp>
        <p:nvSpPr>
          <p:cNvPr id="30" name="Text 28"/>
          <p:cNvSpPr txBox="1"/>
          <p:nvPr/>
        </p:nvSpPr>
        <p:spPr>
          <a:xfrm>
            <a:off x="10311140" y="1325880"/>
            <a:ext cx="1185611" cy="402336"/>
          </a:xfrm>
          <a:prstGeom prst="rect">
            <a:avLst/>
          </a:prstGeom>
          <a:noFill/>
          <a:ln/>
        </p:spPr>
        <p:txBody>
          <a:bodyPr wrap="square" lIns="0" tIns="0" rIns="0" bIns="0" rtlCol="0" anchor="ctr"/>
          <a:lstStyle/>
          <a:p>
            <a:pPr marL="0" indent="0" algn="ctr">
              <a:buNone/>
            </a:pPr>
            <a:r>
              <a:rPr lang="en-US" sz="1200" b="1" dirty="0">
                <a:solidFill>
                  <a:srgbClr val="DFA9C4"/>
                </a:solidFill>
                <a:latin typeface="Cambria Math" pitchFamily="34" charset="0"/>
                <a:ea typeface="Cambria Math" pitchFamily="34" charset="-122"/>
                <a:cs typeface="Cambria Math" pitchFamily="34" charset="-120"/>
              </a:rPr>
              <a:t>− pᵢ log pᵢ</a:t>
            </a:r>
            <a:endParaRPr lang="en-US" sz="1200" dirty="0"/>
          </a:p>
        </p:txBody>
      </p:sp>
      <p:sp>
        <p:nvSpPr>
          <p:cNvPr id="31" name="Shape 29"/>
          <p:cNvSpPr/>
          <p:nvPr/>
        </p:nvSpPr>
        <p:spPr>
          <a:xfrm>
            <a:off x="5349240" y="1773936"/>
            <a:ext cx="1185611" cy="402336"/>
          </a:xfrm>
          <a:prstGeom prst="roundRect">
            <a:avLst>
              <a:gd name="adj" fmla="val 18182"/>
            </a:avLst>
          </a:prstGeom>
          <a:solidFill>
            <a:srgbClr val="F8EBF2"/>
          </a:solidFill>
          <a:ln w="12700">
            <a:solidFill>
              <a:srgbClr val="F8EBF2"/>
            </a:solidFill>
            <a:prstDash val="solid"/>
          </a:ln>
        </p:spPr>
        <p:txBody>
          <a:bodyPr/>
          <a:lstStyle/>
          <a:p>
            <a:endParaRPr lang="en-US"/>
          </a:p>
        </p:txBody>
      </p:sp>
      <p:sp>
        <p:nvSpPr>
          <p:cNvPr id="32" name="Text 30"/>
          <p:cNvSpPr txBox="1"/>
          <p:nvPr/>
        </p:nvSpPr>
        <p:spPr>
          <a:xfrm>
            <a:off x="5349240" y="1773936"/>
            <a:ext cx="1185611" cy="402336"/>
          </a:xfrm>
          <a:prstGeom prst="rect">
            <a:avLst/>
          </a:prstGeom>
          <a:noFill/>
          <a:ln/>
        </p:spPr>
        <p:txBody>
          <a:bodyPr wrap="square" lIns="0" tIns="0" rIns="0" bIns="0" rtlCol="0" anchor="ctr"/>
          <a:lstStyle/>
          <a:p>
            <a:pPr marL="0" indent="0" algn="ctr">
              <a:buNone/>
            </a:pPr>
            <a:r>
              <a:rPr lang="en-US" sz="1100" dirty="0">
                <a:solidFill>
                  <a:srgbClr val="0E131B"/>
                </a:solidFill>
                <a:latin typeface="Consolas" pitchFamily="34" charset="0"/>
                <a:ea typeface="Consolas" pitchFamily="34" charset="-122"/>
                <a:cs typeface="Consolas" pitchFamily="34" charset="-120"/>
              </a:rPr>
              <a:t>A</a:t>
            </a:r>
            <a:endParaRPr lang="en-US" sz="1100" dirty="0"/>
          </a:p>
        </p:txBody>
      </p:sp>
      <p:sp>
        <p:nvSpPr>
          <p:cNvPr id="33" name="Shape 31"/>
          <p:cNvSpPr/>
          <p:nvPr/>
        </p:nvSpPr>
        <p:spPr>
          <a:xfrm>
            <a:off x="6589715" y="1773936"/>
            <a:ext cx="1185611" cy="402336"/>
          </a:xfrm>
          <a:prstGeom prst="roundRect">
            <a:avLst>
              <a:gd name="adj" fmla="val 18182"/>
            </a:avLst>
          </a:prstGeom>
          <a:solidFill>
            <a:srgbClr val="F8EBF2"/>
          </a:solidFill>
          <a:ln w="12700">
            <a:solidFill>
              <a:srgbClr val="F8EBF2"/>
            </a:solidFill>
            <a:prstDash val="solid"/>
          </a:ln>
        </p:spPr>
        <p:txBody>
          <a:bodyPr/>
          <a:lstStyle/>
          <a:p>
            <a:endParaRPr lang="en-US"/>
          </a:p>
        </p:txBody>
      </p:sp>
      <p:sp>
        <p:nvSpPr>
          <p:cNvPr id="34" name="Text 32"/>
          <p:cNvSpPr txBox="1"/>
          <p:nvPr/>
        </p:nvSpPr>
        <p:spPr>
          <a:xfrm>
            <a:off x="6589715" y="1773936"/>
            <a:ext cx="1185611" cy="402336"/>
          </a:xfrm>
          <a:prstGeom prst="rect">
            <a:avLst/>
          </a:prstGeom>
          <a:noFill/>
          <a:ln/>
        </p:spPr>
        <p:txBody>
          <a:bodyPr wrap="square" lIns="0" tIns="0" rIns="0" bIns="0" rtlCol="0" anchor="ctr"/>
          <a:lstStyle/>
          <a:p>
            <a:pPr marL="0" indent="0" algn="ctr">
              <a:buNone/>
            </a:pPr>
            <a:r>
              <a:rPr lang="en-US" sz="1100" dirty="0">
                <a:solidFill>
                  <a:srgbClr val="0E131B"/>
                </a:solidFill>
                <a:latin typeface="Consolas" pitchFamily="34" charset="0"/>
                <a:ea typeface="Consolas" pitchFamily="34" charset="-122"/>
                <a:cs typeface="Consolas" pitchFamily="34" charset="-120"/>
              </a:rPr>
              <a:t>22</a:t>
            </a:r>
            <a:endParaRPr lang="en-US" sz="1100" dirty="0"/>
          </a:p>
        </p:txBody>
      </p:sp>
      <p:sp>
        <p:nvSpPr>
          <p:cNvPr id="35" name="Shape 33"/>
          <p:cNvSpPr/>
          <p:nvPr/>
        </p:nvSpPr>
        <p:spPr>
          <a:xfrm>
            <a:off x="7830190" y="1773936"/>
            <a:ext cx="1185611" cy="402336"/>
          </a:xfrm>
          <a:prstGeom prst="roundRect">
            <a:avLst>
              <a:gd name="adj" fmla="val 18182"/>
            </a:avLst>
          </a:prstGeom>
          <a:solidFill>
            <a:srgbClr val="F8EBF2"/>
          </a:solidFill>
          <a:ln w="12700">
            <a:solidFill>
              <a:srgbClr val="F8EBF2"/>
            </a:solidFill>
            <a:prstDash val="solid"/>
          </a:ln>
        </p:spPr>
        <p:txBody>
          <a:bodyPr/>
          <a:lstStyle/>
          <a:p>
            <a:endParaRPr lang="en-US"/>
          </a:p>
        </p:txBody>
      </p:sp>
      <p:sp>
        <p:nvSpPr>
          <p:cNvPr id="36" name="Text 34"/>
          <p:cNvSpPr txBox="1"/>
          <p:nvPr/>
        </p:nvSpPr>
        <p:spPr>
          <a:xfrm>
            <a:off x="7830190" y="1773936"/>
            <a:ext cx="1185611" cy="402336"/>
          </a:xfrm>
          <a:prstGeom prst="rect">
            <a:avLst/>
          </a:prstGeom>
          <a:noFill/>
          <a:ln/>
        </p:spPr>
        <p:txBody>
          <a:bodyPr wrap="square" lIns="0" tIns="0" rIns="0" bIns="0" rtlCol="0" anchor="ctr"/>
          <a:lstStyle/>
          <a:p>
            <a:pPr marL="0" indent="0" algn="ctr">
              <a:buNone/>
            </a:pPr>
            <a:r>
              <a:rPr lang="en-US" sz="1100" dirty="0">
                <a:solidFill>
                  <a:srgbClr val="0E131B"/>
                </a:solidFill>
                <a:latin typeface="Consolas" pitchFamily="34" charset="0"/>
                <a:ea typeface="Consolas" pitchFamily="34" charset="-122"/>
                <a:cs typeface="Consolas" pitchFamily="34" charset="-120"/>
              </a:rPr>
              <a:t>0.550</a:t>
            </a:r>
            <a:endParaRPr lang="en-US" sz="1100" dirty="0"/>
          </a:p>
        </p:txBody>
      </p:sp>
      <p:sp>
        <p:nvSpPr>
          <p:cNvPr id="37" name="Shape 35"/>
          <p:cNvSpPr/>
          <p:nvPr/>
        </p:nvSpPr>
        <p:spPr>
          <a:xfrm>
            <a:off x="9070665" y="1773936"/>
            <a:ext cx="1185611" cy="402336"/>
          </a:xfrm>
          <a:prstGeom prst="roundRect">
            <a:avLst>
              <a:gd name="adj" fmla="val 18182"/>
            </a:avLst>
          </a:prstGeom>
          <a:solidFill>
            <a:srgbClr val="F8EBF2"/>
          </a:solidFill>
          <a:ln w="12700">
            <a:solidFill>
              <a:srgbClr val="F8EBF2"/>
            </a:solidFill>
            <a:prstDash val="solid"/>
          </a:ln>
        </p:spPr>
        <p:txBody>
          <a:bodyPr/>
          <a:lstStyle/>
          <a:p>
            <a:endParaRPr lang="en-US"/>
          </a:p>
        </p:txBody>
      </p:sp>
      <p:sp>
        <p:nvSpPr>
          <p:cNvPr id="38" name="Text 36"/>
          <p:cNvSpPr txBox="1"/>
          <p:nvPr/>
        </p:nvSpPr>
        <p:spPr>
          <a:xfrm>
            <a:off x="9070665" y="1773936"/>
            <a:ext cx="1185611" cy="402336"/>
          </a:xfrm>
          <a:prstGeom prst="rect">
            <a:avLst/>
          </a:prstGeom>
          <a:noFill/>
          <a:ln/>
        </p:spPr>
        <p:txBody>
          <a:bodyPr wrap="square" lIns="0" tIns="0" rIns="0" bIns="0" rtlCol="0" anchor="ctr"/>
          <a:lstStyle/>
          <a:p>
            <a:pPr marL="0" indent="0" algn="ctr">
              <a:buNone/>
            </a:pPr>
            <a:r>
              <a:rPr lang="en-US" sz="1100" dirty="0">
                <a:solidFill>
                  <a:srgbClr val="0E131B"/>
                </a:solidFill>
                <a:latin typeface="Consolas" pitchFamily="34" charset="0"/>
                <a:ea typeface="Consolas" pitchFamily="34" charset="-122"/>
                <a:cs typeface="Consolas" pitchFamily="34" charset="-120"/>
              </a:rPr>
              <a:t>−0.598</a:t>
            </a:r>
            <a:endParaRPr lang="en-US" sz="1100" dirty="0"/>
          </a:p>
        </p:txBody>
      </p:sp>
      <p:sp>
        <p:nvSpPr>
          <p:cNvPr id="39" name="Shape 37"/>
          <p:cNvSpPr/>
          <p:nvPr/>
        </p:nvSpPr>
        <p:spPr>
          <a:xfrm>
            <a:off x="10311140" y="1773936"/>
            <a:ext cx="1185611" cy="402336"/>
          </a:xfrm>
          <a:prstGeom prst="roundRect">
            <a:avLst>
              <a:gd name="adj" fmla="val 18182"/>
            </a:avLst>
          </a:prstGeom>
          <a:solidFill>
            <a:srgbClr val="F8EBF2"/>
          </a:solidFill>
          <a:ln w="12700">
            <a:solidFill>
              <a:srgbClr val="F8EBF2"/>
            </a:solidFill>
            <a:prstDash val="solid"/>
          </a:ln>
        </p:spPr>
        <p:txBody>
          <a:bodyPr/>
          <a:lstStyle/>
          <a:p>
            <a:endParaRPr lang="en-US"/>
          </a:p>
        </p:txBody>
      </p:sp>
      <p:sp>
        <p:nvSpPr>
          <p:cNvPr id="40" name="Text 38"/>
          <p:cNvSpPr txBox="1"/>
          <p:nvPr/>
        </p:nvSpPr>
        <p:spPr>
          <a:xfrm>
            <a:off x="10311140" y="1773936"/>
            <a:ext cx="1185611" cy="402336"/>
          </a:xfrm>
          <a:prstGeom prst="rect">
            <a:avLst/>
          </a:prstGeom>
          <a:noFill/>
          <a:ln/>
        </p:spPr>
        <p:txBody>
          <a:bodyPr wrap="square" lIns="0" tIns="0" rIns="0" bIns="0" rtlCol="0" anchor="ctr"/>
          <a:lstStyle/>
          <a:p>
            <a:pPr marL="0" indent="0" algn="ctr">
              <a:buNone/>
            </a:pPr>
            <a:r>
              <a:rPr lang="en-US" sz="1100" dirty="0">
                <a:solidFill>
                  <a:srgbClr val="0E131B"/>
                </a:solidFill>
                <a:latin typeface="Consolas" pitchFamily="34" charset="0"/>
                <a:ea typeface="Consolas" pitchFamily="34" charset="-122"/>
                <a:cs typeface="Consolas" pitchFamily="34" charset="-120"/>
              </a:rPr>
              <a:t>0.329</a:t>
            </a:r>
            <a:endParaRPr lang="en-US" sz="1100" dirty="0"/>
          </a:p>
        </p:txBody>
      </p:sp>
      <p:sp>
        <p:nvSpPr>
          <p:cNvPr id="41" name="Shape 39"/>
          <p:cNvSpPr/>
          <p:nvPr/>
        </p:nvSpPr>
        <p:spPr>
          <a:xfrm>
            <a:off x="5349240" y="2221992"/>
            <a:ext cx="1185611" cy="402336"/>
          </a:xfrm>
          <a:prstGeom prst="roundRect">
            <a:avLst>
              <a:gd name="adj" fmla="val 18182"/>
            </a:avLst>
          </a:prstGeom>
          <a:solidFill>
            <a:srgbClr val="E6F2EF"/>
          </a:solidFill>
          <a:ln w="12700">
            <a:solidFill>
              <a:srgbClr val="E6F2EF"/>
            </a:solidFill>
            <a:prstDash val="solid"/>
          </a:ln>
        </p:spPr>
        <p:txBody>
          <a:bodyPr/>
          <a:lstStyle/>
          <a:p>
            <a:endParaRPr lang="en-US"/>
          </a:p>
        </p:txBody>
      </p:sp>
      <p:sp>
        <p:nvSpPr>
          <p:cNvPr id="42" name="Text 40"/>
          <p:cNvSpPr txBox="1"/>
          <p:nvPr/>
        </p:nvSpPr>
        <p:spPr>
          <a:xfrm>
            <a:off x="5349240" y="2221992"/>
            <a:ext cx="1185611" cy="402336"/>
          </a:xfrm>
          <a:prstGeom prst="rect">
            <a:avLst/>
          </a:prstGeom>
          <a:noFill/>
          <a:ln/>
        </p:spPr>
        <p:txBody>
          <a:bodyPr wrap="square" lIns="0" tIns="0" rIns="0" bIns="0" rtlCol="0" anchor="ctr"/>
          <a:lstStyle/>
          <a:p>
            <a:pPr marL="0" indent="0" algn="ctr">
              <a:buNone/>
            </a:pPr>
            <a:r>
              <a:rPr lang="en-US" sz="1100" dirty="0">
                <a:solidFill>
                  <a:srgbClr val="0E131B"/>
                </a:solidFill>
                <a:latin typeface="Consolas" pitchFamily="34" charset="0"/>
                <a:ea typeface="Consolas" pitchFamily="34" charset="-122"/>
                <a:cs typeface="Consolas" pitchFamily="34" charset="-120"/>
              </a:rPr>
              <a:t>B</a:t>
            </a:r>
            <a:endParaRPr lang="en-US" sz="1100" dirty="0"/>
          </a:p>
        </p:txBody>
      </p:sp>
      <p:sp>
        <p:nvSpPr>
          <p:cNvPr id="43" name="Shape 41"/>
          <p:cNvSpPr/>
          <p:nvPr/>
        </p:nvSpPr>
        <p:spPr>
          <a:xfrm>
            <a:off x="6589715" y="2221992"/>
            <a:ext cx="1185611" cy="402336"/>
          </a:xfrm>
          <a:prstGeom prst="roundRect">
            <a:avLst>
              <a:gd name="adj" fmla="val 18182"/>
            </a:avLst>
          </a:prstGeom>
          <a:solidFill>
            <a:srgbClr val="E6F2EF"/>
          </a:solidFill>
          <a:ln w="12700">
            <a:solidFill>
              <a:srgbClr val="E6F2EF"/>
            </a:solidFill>
            <a:prstDash val="solid"/>
          </a:ln>
        </p:spPr>
        <p:txBody>
          <a:bodyPr/>
          <a:lstStyle/>
          <a:p>
            <a:endParaRPr lang="en-US"/>
          </a:p>
        </p:txBody>
      </p:sp>
      <p:sp>
        <p:nvSpPr>
          <p:cNvPr id="44" name="Text 42"/>
          <p:cNvSpPr txBox="1"/>
          <p:nvPr/>
        </p:nvSpPr>
        <p:spPr>
          <a:xfrm>
            <a:off x="6589715" y="2221992"/>
            <a:ext cx="1185611" cy="402336"/>
          </a:xfrm>
          <a:prstGeom prst="rect">
            <a:avLst/>
          </a:prstGeom>
          <a:noFill/>
          <a:ln/>
        </p:spPr>
        <p:txBody>
          <a:bodyPr wrap="square" lIns="0" tIns="0" rIns="0" bIns="0" rtlCol="0" anchor="ctr"/>
          <a:lstStyle/>
          <a:p>
            <a:pPr marL="0" indent="0" algn="ctr">
              <a:buNone/>
            </a:pPr>
            <a:r>
              <a:rPr lang="en-US" sz="1100" dirty="0">
                <a:solidFill>
                  <a:srgbClr val="0E131B"/>
                </a:solidFill>
                <a:latin typeface="Consolas" pitchFamily="34" charset="0"/>
                <a:ea typeface="Consolas" pitchFamily="34" charset="-122"/>
                <a:cs typeface="Consolas" pitchFamily="34" charset="-120"/>
              </a:rPr>
              <a:t>9</a:t>
            </a:r>
            <a:endParaRPr lang="en-US" sz="1100" dirty="0"/>
          </a:p>
        </p:txBody>
      </p:sp>
      <p:sp>
        <p:nvSpPr>
          <p:cNvPr id="45" name="Shape 43"/>
          <p:cNvSpPr/>
          <p:nvPr/>
        </p:nvSpPr>
        <p:spPr>
          <a:xfrm>
            <a:off x="7830190" y="2221992"/>
            <a:ext cx="1185611" cy="402336"/>
          </a:xfrm>
          <a:prstGeom prst="roundRect">
            <a:avLst>
              <a:gd name="adj" fmla="val 18182"/>
            </a:avLst>
          </a:prstGeom>
          <a:solidFill>
            <a:srgbClr val="E6F2EF"/>
          </a:solidFill>
          <a:ln w="12700">
            <a:solidFill>
              <a:srgbClr val="E6F2EF"/>
            </a:solidFill>
            <a:prstDash val="solid"/>
          </a:ln>
        </p:spPr>
        <p:txBody>
          <a:bodyPr/>
          <a:lstStyle/>
          <a:p>
            <a:endParaRPr lang="en-US"/>
          </a:p>
        </p:txBody>
      </p:sp>
      <p:sp>
        <p:nvSpPr>
          <p:cNvPr id="46" name="Text 44"/>
          <p:cNvSpPr txBox="1"/>
          <p:nvPr/>
        </p:nvSpPr>
        <p:spPr>
          <a:xfrm>
            <a:off x="7830190" y="2221992"/>
            <a:ext cx="1185611" cy="402336"/>
          </a:xfrm>
          <a:prstGeom prst="rect">
            <a:avLst/>
          </a:prstGeom>
          <a:noFill/>
          <a:ln/>
        </p:spPr>
        <p:txBody>
          <a:bodyPr wrap="square" lIns="0" tIns="0" rIns="0" bIns="0" rtlCol="0" anchor="ctr"/>
          <a:lstStyle/>
          <a:p>
            <a:pPr marL="0" indent="0" algn="ctr">
              <a:buNone/>
            </a:pPr>
            <a:r>
              <a:rPr lang="en-US" sz="1100" dirty="0">
                <a:solidFill>
                  <a:srgbClr val="0E131B"/>
                </a:solidFill>
                <a:latin typeface="Consolas" pitchFamily="34" charset="0"/>
                <a:ea typeface="Consolas" pitchFamily="34" charset="-122"/>
                <a:cs typeface="Consolas" pitchFamily="34" charset="-120"/>
              </a:rPr>
              <a:t>0.225</a:t>
            </a:r>
            <a:endParaRPr lang="en-US" sz="1100" dirty="0"/>
          </a:p>
        </p:txBody>
      </p:sp>
      <p:sp>
        <p:nvSpPr>
          <p:cNvPr id="47" name="Shape 45"/>
          <p:cNvSpPr/>
          <p:nvPr/>
        </p:nvSpPr>
        <p:spPr>
          <a:xfrm>
            <a:off x="9070665" y="2221992"/>
            <a:ext cx="1185611" cy="402336"/>
          </a:xfrm>
          <a:prstGeom prst="roundRect">
            <a:avLst>
              <a:gd name="adj" fmla="val 18182"/>
            </a:avLst>
          </a:prstGeom>
          <a:solidFill>
            <a:srgbClr val="E6F2EF"/>
          </a:solidFill>
          <a:ln w="12700">
            <a:solidFill>
              <a:srgbClr val="E6F2EF"/>
            </a:solidFill>
            <a:prstDash val="solid"/>
          </a:ln>
        </p:spPr>
        <p:txBody>
          <a:bodyPr/>
          <a:lstStyle/>
          <a:p>
            <a:endParaRPr lang="en-US"/>
          </a:p>
        </p:txBody>
      </p:sp>
      <p:sp>
        <p:nvSpPr>
          <p:cNvPr id="48" name="Text 46"/>
          <p:cNvSpPr txBox="1"/>
          <p:nvPr/>
        </p:nvSpPr>
        <p:spPr>
          <a:xfrm>
            <a:off x="9070665" y="2221992"/>
            <a:ext cx="1185611" cy="402336"/>
          </a:xfrm>
          <a:prstGeom prst="rect">
            <a:avLst/>
          </a:prstGeom>
          <a:noFill/>
          <a:ln/>
        </p:spPr>
        <p:txBody>
          <a:bodyPr wrap="square" lIns="0" tIns="0" rIns="0" bIns="0" rtlCol="0" anchor="ctr"/>
          <a:lstStyle/>
          <a:p>
            <a:pPr marL="0" indent="0" algn="ctr">
              <a:buNone/>
            </a:pPr>
            <a:r>
              <a:rPr lang="en-US" sz="1100" dirty="0">
                <a:solidFill>
                  <a:srgbClr val="0E131B"/>
                </a:solidFill>
                <a:latin typeface="Consolas" pitchFamily="34" charset="0"/>
                <a:ea typeface="Consolas" pitchFamily="34" charset="-122"/>
                <a:cs typeface="Consolas" pitchFamily="34" charset="-120"/>
              </a:rPr>
              <a:t>−1.492</a:t>
            </a:r>
            <a:endParaRPr lang="en-US" sz="1100" dirty="0"/>
          </a:p>
        </p:txBody>
      </p:sp>
      <p:sp>
        <p:nvSpPr>
          <p:cNvPr id="49" name="Shape 47"/>
          <p:cNvSpPr/>
          <p:nvPr/>
        </p:nvSpPr>
        <p:spPr>
          <a:xfrm>
            <a:off x="10311140" y="2221992"/>
            <a:ext cx="1185611" cy="402336"/>
          </a:xfrm>
          <a:prstGeom prst="roundRect">
            <a:avLst>
              <a:gd name="adj" fmla="val 18182"/>
            </a:avLst>
          </a:prstGeom>
          <a:solidFill>
            <a:srgbClr val="E6F2EF"/>
          </a:solidFill>
          <a:ln w="12700">
            <a:solidFill>
              <a:srgbClr val="E6F2EF"/>
            </a:solidFill>
            <a:prstDash val="solid"/>
          </a:ln>
        </p:spPr>
        <p:txBody>
          <a:bodyPr/>
          <a:lstStyle/>
          <a:p>
            <a:endParaRPr lang="en-US"/>
          </a:p>
        </p:txBody>
      </p:sp>
      <p:sp>
        <p:nvSpPr>
          <p:cNvPr id="50" name="Text 48"/>
          <p:cNvSpPr txBox="1"/>
          <p:nvPr/>
        </p:nvSpPr>
        <p:spPr>
          <a:xfrm>
            <a:off x="10311140" y="2221992"/>
            <a:ext cx="1185611" cy="402336"/>
          </a:xfrm>
          <a:prstGeom prst="rect">
            <a:avLst/>
          </a:prstGeom>
          <a:noFill/>
          <a:ln/>
        </p:spPr>
        <p:txBody>
          <a:bodyPr wrap="square" lIns="0" tIns="0" rIns="0" bIns="0" rtlCol="0" anchor="ctr"/>
          <a:lstStyle/>
          <a:p>
            <a:pPr marL="0" indent="0" algn="ctr">
              <a:buNone/>
            </a:pPr>
            <a:r>
              <a:rPr lang="en-US" sz="1100" dirty="0">
                <a:solidFill>
                  <a:srgbClr val="0E131B"/>
                </a:solidFill>
                <a:latin typeface="Consolas" pitchFamily="34" charset="0"/>
                <a:ea typeface="Consolas" pitchFamily="34" charset="-122"/>
                <a:cs typeface="Consolas" pitchFamily="34" charset="-120"/>
              </a:rPr>
              <a:t>0.336</a:t>
            </a:r>
            <a:endParaRPr lang="en-US" sz="1100" dirty="0"/>
          </a:p>
        </p:txBody>
      </p:sp>
      <p:sp>
        <p:nvSpPr>
          <p:cNvPr id="51" name="Shape 49"/>
          <p:cNvSpPr/>
          <p:nvPr/>
        </p:nvSpPr>
        <p:spPr>
          <a:xfrm>
            <a:off x="5349240" y="2670048"/>
            <a:ext cx="1185611" cy="402336"/>
          </a:xfrm>
          <a:prstGeom prst="roundRect">
            <a:avLst>
              <a:gd name="adj" fmla="val 18182"/>
            </a:avLst>
          </a:prstGeom>
          <a:solidFill>
            <a:srgbClr val="F8EBF2"/>
          </a:solidFill>
          <a:ln w="12700">
            <a:solidFill>
              <a:srgbClr val="F8EBF2"/>
            </a:solidFill>
            <a:prstDash val="solid"/>
          </a:ln>
        </p:spPr>
        <p:txBody>
          <a:bodyPr/>
          <a:lstStyle/>
          <a:p>
            <a:endParaRPr lang="en-US"/>
          </a:p>
        </p:txBody>
      </p:sp>
      <p:sp>
        <p:nvSpPr>
          <p:cNvPr id="52" name="Text 50"/>
          <p:cNvSpPr txBox="1"/>
          <p:nvPr/>
        </p:nvSpPr>
        <p:spPr>
          <a:xfrm>
            <a:off x="5349240" y="2670048"/>
            <a:ext cx="1185611" cy="402336"/>
          </a:xfrm>
          <a:prstGeom prst="rect">
            <a:avLst/>
          </a:prstGeom>
          <a:noFill/>
          <a:ln/>
        </p:spPr>
        <p:txBody>
          <a:bodyPr wrap="square" lIns="0" tIns="0" rIns="0" bIns="0" rtlCol="0" anchor="ctr"/>
          <a:lstStyle/>
          <a:p>
            <a:pPr marL="0" indent="0" algn="ctr">
              <a:buNone/>
            </a:pPr>
            <a:r>
              <a:rPr lang="en-US" sz="1100" dirty="0">
                <a:solidFill>
                  <a:srgbClr val="0E131B"/>
                </a:solidFill>
                <a:latin typeface="Consolas" pitchFamily="34" charset="0"/>
                <a:ea typeface="Consolas" pitchFamily="34" charset="-122"/>
                <a:cs typeface="Consolas" pitchFamily="34" charset="-120"/>
              </a:rPr>
              <a:t>C</a:t>
            </a:r>
            <a:endParaRPr lang="en-US" sz="1100" dirty="0"/>
          </a:p>
        </p:txBody>
      </p:sp>
      <p:sp>
        <p:nvSpPr>
          <p:cNvPr id="53" name="Shape 51"/>
          <p:cNvSpPr/>
          <p:nvPr/>
        </p:nvSpPr>
        <p:spPr>
          <a:xfrm>
            <a:off x="6589715" y="2670048"/>
            <a:ext cx="1185611" cy="402336"/>
          </a:xfrm>
          <a:prstGeom prst="roundRect">
            <a:avLst>
              <a:gd name="adj" fmla="val 18182"/>
            </a:avLst>
          </a:prstGeom>
          <a:solidFill>
            <a:srgbClr val="F8EBF2"/>
          </a:solidFill>
          <a:ln w="12700">
            <a:solidFill>
              <a:srgbClr val="F8EBF2"/>
            </a:solidFill>
            <a:prstDash val="solid"/>
          </a:ln>
        </p:spPr>
        <p:txBody>
          <a:bodyPr/>
          <a:lstStyle/>
          <a:p>
            <a:endParaRPr lang="en-US"/>
          </a:p>
        </p:txBody>
      </p:sp>
      <p:sp>
        <p:nvSpPr>
          <p:cNvPr id="54" name="Text 52"/>
          <p:cNvSpPr txBox="1"/>
          <p:nvPr/>
        </p:nvSpPr>
        <p:spPr>
          <a:xfrm>
            <a:off x="6589715" y="2670048"/>
            <a:ext cx="1185611" cy="402336"/>
          </a:xfrm>
          <a:prstGeom prst="rect">
            <a:avLst/>
          </a:prstGeom>
          <a:noFill/>
          <a:ln/>
        </p:spPr>
        <p:txBody>
          <a:bodyPr wrap="square" lIns="0" tIns="0" rIns="0" bIns="0" rtlCol="0" anchor="ctr"/>
          <a:lstStyle/>
          <a:p>
            <a:pPr marL="0" indent="0" algn="ctr">
              <a:buNone/>
            </a:pPr>
            <a:r>
              <a:rPr lang="en-US" sz="1100" dirty="0">
                <a:solidFill>
                  <a:srgbClr val="0E131B"/>
                </a:solidFill>
                <a:latin typeface="Consolas" pitchFamily="34" charset="0"/>
                <a:ea typeface="Consolas" pitchFamily="34" charset="-122"/>
                <a:cs typeface="Consolas" pitchFamily="34" charset="-120"/>
              </a:rPr>
              <a:t>5</a:t>
            </a:r>
            <a:endParaRPr lang="en-US" sz="1100" dirty="0"/>
          </a:p>
        </p:txBody>
      </p:sp>
      <p:sp>
        <p:nvSpPr>
          <p:cNvPr id="55" name="Shape 53"/>
          <p:cNvSpPr/>
          <p:nvPr/>
        </p:nvSpPr>
        <p:spPr>
          <a:xfrm>
            <a:off x="7830190" y="2670048"/>
            <a:ext cx="1185611" cy="402336"/>
          </a:xfrm>
          <a:prstGeom prst="roundRect">
            <a:avLst>
              <a:gd name="adj" fmla="val 18182"/>
            </a:avLst>
          </a:prstGeom>
          <a:solidFill>
            <a:srgbClr val="F8EBF2"/>
          </a:solidFill>
          <a:ln w="12700">
            <a:solidFill>
              <a:srgbClr val="F8EBF2"/>
            </a:solidFill>
            <a:prstDash val="solid"/>
          </a:ln>
        </p:spPr>
        <p:txBody>
          <a:bodyPr/>
          <a:lstStyle/>
          <a:p>
            <a:endParaRPr lang="en-US"/>
          </a:p>
        </p:txBody>
      </p:sp>
      <p:sp>
        <p:nvSpPr>
          <p:cNvPr id="56" name="Text 54"/>
          <p:cNvSpPr txBox="1"/>
          <p:nvPr/>
        </p:nvSpPr>
        <p:spPr>
          <a:xfrm>
            <a:off x="7830190" y="2670048"/>
            <a:ext cx="1185611" cy="402336"/>
          </a:xfrm>
          <a:prstGeom prst="rect">
            <a:avLst/>
          </a:prstGeom>
          <a:noFill/>
          <a:ln/>
        </p:spPr>
        <p:txBody>
          <a:bodyPr wrap="square" lIns="0" tIns="0" rIns="0" bIns="0" rtlCol="0" anchor="ctr"/>
          <a:lstStyle/>
          <a:p>
            <a:pPr marL="0" indent="0" algn="ctr">
              <a:buNone/>
            </a:pPr>
            <a:r>
              <a:rPr lang="en-US" sz="1100" dirty="0">
                <a:solidFill>
                  <a:srgbClr val="0E131B"/>
                </a:solidFill>
                <a:latin typeface="Consolas" pitchFamily="34" charset="0"/>
                <a:ea typeface="Consolas" pitchFamily="34" charset="-122"/>
                <a:cs typeface="Consolas" pitchFamily="34" charset="-120"/>
              </a:rPr>
              <a:t>0.125</a:t>
            </a:r>
            <a:endParaRPr lang="en-US" sz="1100" dirty="0"/>
          </a:p>
        </p:txBody>
      </p:sp>
      <p:sp>
        <p:nvSpPr>
          <p:cNvPr id="57" name="Shape 55"/>
          <p:cNvSpPr/>
          <p:nvPr/>
        </p:nvSpPr>
        <p:spPr>
          <a:xfrm>
            <a:off x="9070665" y="2670048"/>
            <a:ext cx="1185611" cy="402336"/>
          </a:xfrm>
          <a:prstGeom prst="roundRect">
            <a:avLst>
              <a:gd name="adj" fmla="val 18182"/>
            </a:avLst>
          </a:prstGeom>
          <a:solidFill>
            <a:srgbClr val="F8EBF2"/>
          </a:solidFill>
          <a:ln w="12700">
            <a:solidFill>
              <a:srgbClr val="F8EBF2"/>
            </a:solidFill>
            <a:prstDash val="solid"/>
          </a:ln>
        </p:spPr>
        <p:txBody>
          <a:bodyPr/>
          <a:lstStyle/>
          <a:p>
            <a:endParaRPr lang="en-US"/>
          </a:p>
        </p:txBody>
      </p:sp>
      <p:sp>
        <p:nvSpPr>
          <p:cNvPr id="58" name="Text 56"/>
          <p:cNvSpPr txBox="1"/>
          <p:nvPr/>
        </p:nvSpPr>
        <p:spPr>
          <a:xfrm>
            <a:off x="9070665" y="2670048"/>
            <a:ext cx="1185611" cy="402336"/>
          </a:xfrm>
          <a:prstGeom prst="rect">
            <a:avLst/>
          </a:prstGeom>
          <a:noFill/>
          <a:ln/>
        </p:spPr>
        <p:txBody>
          <a:bodyPr wrap="square" lIns="0" tIns="0" rIns="0" bIns="0" rtlCol="0" anchor="ctr"/>
          <a:lstStyle/>
          <a:p>
            <a:pPr marL="0" indent="0" algn="ctr">
              <a:buNone/>
            </a:pPr>
            <a:r>
              <a:rPr lang="en-US" sz="1100" dirty="0">
                <a:solidFill>
                  <a:srgbClr val="0E131B"/>
                </a:solidFill>
                <a:latin typeface="Consolas" pitchFamily="34" charset="0"/>
                <a:ea typeface="Consolas" pitchFamily="34" charset="-122"/>
                <a:cs typeface="Consolas" pitchFamily="34" charset="-120"/>
              </a:rPr>
              <a:t>−2.079</a:t>
            </a:r>
            <a:endParaRPr lang="en-US" sz="1100" dirty="0"/>
          </a:p>
        </p:txBody>
      </p:sp>
      <p:sp>
        <p:nvSpPr>
          <p:cNvPr id="59" name="Shape 57"/>
          <p:cNvSpPr/>
          <p:nvPr/>
        </p:nvSpPr>
        <p:spPr>
          <a:xfrm>
            <a:off x="10311140" y="2670048"/>
            <a:ext cx="1185611" cy="402336"/>
          </a:xfrm>
          <a:prstGeom prst="roundRect">
            <a:avLst>
              <a:gd name="adj" fmla="val 18182"/>
            </a:avLst>
          </a:prstGeom>
          <a:solidFill>
            <a:srgbClr val="F8EBF2"/>
          </a:solidFill>
          <a:ln w="12700">
            <a:solidFill>
              <a:srgbClr val="F8EBF2"/>
            </a:solidFill>
            <a:prstDash val="solid"/>
          </a:ln>
        </p:spPr>
        <p:txBody>
          <a:bodyPr/>
          <a:lstStyle/>
          <a:p>
            <a:endParaRPr lang="en-US"/>
          </a:p>
        </p:txBody>
      </p:sp>
      <p:sp>
        <p:nvSpPr>
          <p:cNvPr id="60" name="Text 58"/>
          <p:cNvSpPr txBox="1"/>
          <p:nvPr/>
        </p:nvSpPr>
        <p:spPr>
          <a:xfrm>
            <a:off x="10311140" y="2670048"/>
            <a:ext cx="1185611" cy="402336"/>
          </a:xfrm>
          <a:prstGeom prst="rect">
            <a:avLst/>
          </a:prstGeom>
          <a:noFill/>
          <a:ln/>
        </p:spPr>
        <p:txBody>
          <a:bodyPr wrap="square" lIns="0" tIns="0" rIns="0" bIns="0" rtlCol="0" anchor="ctr"/>
          <a:lstStyle/>
          <a:p>
            <a:pPr marL="0" indent="0" algn="ctr">
              <a:buNone/>
            </a:pPr>
            <a:r>
              <a:rPr lang="en-US" sz="1100" dirty="0">
                <a:solidFill>
                  <a:srgbClr val="0E131B"/>
                </a:solidFill>
                <a:latin typeface="Consolas" pitchFamily="34" charset="0"/>
                <a:ea typeface="Consolas" pitchFamily="34" charset="-122"/>
                <a:cs typeface="Consolas" pitchFamily="34" charset="-120"/>
              </a:rPr>
              <a:t>0.260</a:t>
            </a:r>
            <a:endParaRPr lang="en-US" sz="1100" dirty="0"/>
          </a:p>
        </p:txBody>
      </p:sp>
      <p:sp>
        <p:nvSpPr>
          <p:cNvPr id="61" name="Shape 59"/>
          <p:cNvSpPr/>
          <p:nvPr/>
        </p:nvSpPr>
        <p:spPr>
          <a:xfrm>
            <a:off x="5349240" y="3118104"/>
            <a:ext cx="1185611" cy="402336"/>
          </a:xfrm>
          <a:prstGeom prst="roundRect">
            <a:avLst>
              <a:gd name="adj" fmla="val 18182"/>
            </a:avLst>
          </a:prstGeom>
          <a:solidFill>
            <a:srgbClr val="E6F2EF"/>
          </a:solidFill>
          <a:ln w="12700">
            <a:solidFill>
              <a:srgbClr val="E6F2EF"/>
            </a:solidFill>
            <a:prstDash val="solid"/>
          </a:ln>
        </p:spPr>
        <p:txBody>
          <a:bodyPr/>
          <a:lstStyle/>
          <a:p>
            <a:endParaRPr lang="en-US"/>
          </a:p>
        </p:txBody>
      </p:sp>
      <p:sp>
        <p:nvSpPr>
          <p:cNvPr id="62" name="Text 60"/>
          <p:cNvSpPr txBox="1"/>
          <p:nvPr/>
        </p:nvSpPr>
        <p:spPr>
          <a:xfrm>
            <a:off x="5349240" y="3118104"/>
            <a:ext cx="1185611" cy="402336"/>
          </a:xfrm>
          <a:prstGeom prst="rect">
            <a:avLst/>
          </a:prstGeom>
          <a:noFill/>
          <a:ln/>
        </p:spPr>
        <p:txBody>
          <a:bodyPr wrap="square" lIns="0" tIns="0" rIns="0" bIns="0" rtlCol="0" anchor="ctr"/>
          <a:lstStyle/>
          <a:p>
            <a:pPr marL="0" indent="0" algn="ctr">
              <a:buNone/>
            </a:pPr>
            <a:r>
              <a:rPr lang="en-US" sz="1100" dirty="0">
                <a:solidFill>
                  <a:srgbClr val="0E131B"/>
                </a:solidFill>
                <a:latin typeface="Consolas" pitchFamily="34" charset="0"/>
                <a:ea typeface="Consolas" pitchFamily="34" charset="-122"/>
                <a:cs typeface="Consolas" pitchFamily="34" charset="-120"/>
              </a:rPr>
              <a:t>D</a:t>
            </a:r>
            <a:endParaRPr lang="en-US" sz="1100" dirty="0"/>
          </a:p>
        </p:txBody>
      </p:sp>
      <p:sp>
        <p:nvSpPr>
          <p:cNvPr id="63" name="Shape 61"/>
          <p:cNvSpPr/>
          <p:nvPr/>
        </p:nvSpPr>
        <p:spPr>
          <a:xfrm>
            <a:off x="6589715" y="3118104"/>
            <a:ext cx="1185611" cy="402336"/>
          </a:xfrm>
          <a:prstGeom prst="roundRect">
            <a:avLst>
              <a:gd name="adj" fmla="val 18182"/>
            </a:avLst>
          </a:prstGeom>
          <a:solidFill>
            <a:srgbClr val="E6F2EF"/>
          </a:solidFill>
          <a:ln w="12700">
            <a:solidFill>
              <a:srgbClr val="E6F2EF"/>
            </a:solidFill>
            <a:prstDash val="solid"/>
          </a:ln>
        </p:spPr>
        <p:txBody>
          <a:bodyPr/>
          <a:lstStyle/>
          <a:p>
            <a:endParaRPr lang="en-US"/>
          </a:p>
        </p:txBody>
      </p:sp>
      <p:sp>
        <p:nvSpPr>
          <p:cNvPr id="64" name="Text 62"/>
          <p:cNvSpPr txBox="1"/>
          <p:nvPr/>
        </p:nvSpPr>
        <p:spPr>
          <a:xfrm>
            <a:off x="6589715" y="3118104"/>
            <a:ext cx="1185611" cy="402336"/>
          </a:xfrm>
          <a:prstGeom prst="rect">
            <a:avLst/>
          </a:prstGeom>
          <a:noFill/>
          <a:ln/>
        </p:spPr>
        <p:txBody>
          <a:bodyPr wrap="square" lIns="0" tIns="0" rIns="0" bIns="0" rtlCol="0" anchor="ctr"/>
          <a:lstStyle/>
          <a:p>
            <a:pPr marL="0" indent="0" algn="ctr">
              <a:buNone/>
            </a:pPr>
            <a:r>
              <a:rPr lang="en-US" sz="1100" dirty="0">
                <a:solidFill>
                  <a:srgbClr val="0E131B"/>
                </a:solidFill>
                <a:latin typeface="Consolas" pitchFamily="34" charset="0"/>
                <a:ea typeface="Consolas" pitchFamily="34" charset="-122"/>
                <a:cs typeface="Consolas" pitchFamily="34" charset="-120"/>
              </a:rPr>
              <a:t>3</a:t>
            </a:r>
            <a:endParaRPr lang="en-US" sz="1100" dirty="0"/>
          </a:p>
        </p:txBody>
      </p:sp>
      <p:sp>
        <p:nvSpPr>
          <p:cNvPr id="65" name="Shape 63"/>
          <p:cNvSpPr/>
          <p:nvPr/>
        </p:nvSpPr>
        <p:spPr>
          <a:xfrm>
            <a:off x="7830190" y="3118104"/>
            <a:ext cx="1185611" cy="402336"/>
          </a:xfrm>
          <a:prstGeom prst="roundRect">
            <a:avLst>
              <a:gd name="adj" fmla="val 18182"/>
            </a:avLst>
          </a:prstGeom>
          <a:solidFill>
            <a:srgbClr val="E6F2EF"/>
          </a:solidFill>
          <a:ln w="12700">
            <a:solidFill>
              <a:srgbClr val="E6F2EF"/>
            </a:solidFill>
            <a:prstDash val="solid"/>
          </a:ln>
        </p:spPr>
        <p:txBody>
          <a:bodyPr/>
          <a:lstStyle/>
          <a:p>
            <a:endParaRPr lang="en-US"/>
          </a:p>
        </p:txBody>
      </p:sp>
      <p:sp>
        <p:nvSpPr>
          <p:cNvPr id="66" name="Text 64"/>
          <p:cNvSpPr txBox="1"/>
          <p:nvPr/>
        </p:nvSpPr>
        <p:spPr>
          <a:xfrm>
            <a:off x="7830190" y="3118104"/>
            <a:ext cx="1185611" cy="402336"/>
          </a:xfrm>
          <a:prstGeom prst="rect">
            <a:avLst/>
          </a:prstGeom>
          <a:noFill/>
          <a:ln/>
        </p:spPr>
        <p:txBody>
          <a:bodyPr wrap="square" lIns="0" tIns="0" rIns="0" bIns="0" rtlCol="0" anchor="ctr"/>
          <a:lstStyle/>
          <a:p>
            <a:pPr marL="0" indent="0" algn="ctr">
              <a:buNone/>
            </a:pPr>
            <a:r>
              <a:rPr lang="en-US" sz="1100" dirty="0">
                <a:solidFill>
                  <a:srgbClr val="0E131B"/>
                </a:solidFill>
                <a:latin typeface="Consolas" pitchFamily="34" charset="0"/>
                <a:ea typeface="Consolas" pitchFamily="34" charset="-122"/>
                <a:cs typeface="Consolas" pitchFamily="34" charset="-120"/>
              </a:rPr>
              <a:t>0.075</a:t>
            </a:r>
            <a:endParaRPr lang="en-US" sz="1100" dirty="0"/>
          </a:p>
        </p:txBody>
      </p:sp>
      <p:sp>
        <p:nvSpPr>
          <p:cNvPr id="67" name="Shape 65"/>
          <p:cNvSpPr/>
          <p:nvPr/>
        </p:nvSpPr>
        <p:spPr>
          <a:xfrm>
            <a:off x="9070665" y="3118104"/>
            <a:ext cx="1185611" cy="402336"/>
          </a:xfrm>
          <a:prstGeom prst="roundRect">
            <a:avLst>
              <a:gd name="adj" fmla="val 18182"/>
            </a:avLst>
          </a:prstGeom>
          <a:solidFill>
            <a:srgbClr val="E6F2EF"/>
          </a:solidFill>
          <a:ln w="12700">
            <a:solidFill>
              <a:srgbClr val="E6F2EF"/>
            </a:solidFill>
            <a:prstDash val="solid"/>
          </a:ln>
        </p:spPr>
        <p:txBody>
          <a:bodyPr/>
          <a:lstStyle/>
          <a:p>
            <a:endParaRPr lang="en-US"/>
          </a:p>
        </p:txBody>
      </p:sp>
      <p:sp>
        <p:nvSpPr>
          <p:cNvPr id="68" name="Text 66"/>
          <p:cNvSpPr txBox="1"/>
          <p:nvPr/>
        </p:nvSpPr>
        <p:spPr>
          <a:xfrm>
            <a:off x="9070665" y="3118104"/>
            <a:ext cx="1185611" cy="402336"/>
          </a:xfrm>
          <a:prstGeom prst="rect">
            <a:avLst/>
          </a:prstGeom>
          <a:noFill/>
          <a:ln/>
        </p:spPr>
        <p:txBody>
          <a:bodyPr wrap="square" lIns="0" tIns="0" rIns="0" bIns="0" rtlCol="0" anchor="ctr"/>
          <a:lstStyle/>
          <a:p>
            <a:pPr marL="0" indent="0" algn="ctr">
              <a:buNone/>
            </a:pPr>
            <a:r>
              <a:rPr lang="en-US" sz="1100" dirty="0">
                <a:solidFill>
                  <a:srgbClr val="0E131B"/>
                </a:solidFill>
                <a:latin typeface="Consolas" pitchFamily="34" charset="0"/>
                <a:ea typeface="Consolas" pitchFamily="34" charset="-122"/>
                <a:cs typeface="Consolas" pitchFamily="34" charset="-120"/>
              </a:rPr>
              <a:t>−2.590</a:t>
            </a:r>
            <a:endParaRPr lang="en-US" sz="1100" dirty="0"/>
          </a:p>
        </p:txBody>
      </p:sp>
      <p:sp>
        <p:nvSpPr>
          <p:cNvPr id="69" name="Shape 67"/>
          <p:cNvSpPr/>
          <p:nvPr/>
        </p:nvSpPr>
        <p:spPr>
          <a:xfrm>
            <a:off x="10311140" y="3118104"/>
            <a:ext cx="1185611" cy="402336"/>
          </a:xfrm>
          <a:prstGeom prst="roundRect">
            <a:avLst>
              <a:gd name="adj" fmla="val 18182"/>
            </a:avLst>
          </a:prstGeom>
          <a:solidFill>
            <a:srgbClr val="E6F2EF"/>
          </a:solidFill>
          <a:ln w="12700">
            <a:solidFill>
              <a:srgbClr val="E6F2EF"/>
            </a:solidFill>
            <a:prstDash val="solid"/>
          </a:ln>
        </p:spPr>
        <p:txBody>
          <a:bodyPr/>
          <a:lstStyle/>
          <a:p>
            <a:endParaRPr lang="en-US"/>
          </a:p>
        </p:txBody>
      </p:sp>
      <p:sp>
        <p:nvSpPr>
          <p:cNvPr id="70" name="Text 68"/>
          <p:cNvSpPr txBox="1"/>
          <p:nvPr/>
        </p:nvSpPr>
        <p:spPr>
          <a:xfrm>
            <a:off x="10311140" y="3118104"/>
            <a:ext cx="1185611" cy="402336"/>
          </a:xfrm>
          <a:prstGeom prst="rect">
            <a:avLst/>
          </a:prstGeom>
          <a:noFill/>
          <a:ln/>
        </p:spPr>
        <p:txBody>
          <a:bodyPr wrap="square" lIns="0" tIns="0" rIns="0" bIns="0" rtlCol="0" anchor="ctr"/>
          <a:lstStyle/>
          <a:p>
            <a:pPr marL="0" indent="0" algn="ctr">
              <a:buNone/>
            </a:pPr>
            <a:r>
              <a:rPr lang="en-US" sz="1100" dirty="0">
                <a:solidFill>
                  <a:srgbClr val="0E131B"/>
                </a:solidFill>
                <a:latin typeface="Consolas" pitchFamily="34" charset="0"/>
                <a:ea typeface="Consolas" pitchFamily="34" charset="-122"/>
                <a:cs typeface="Consolas" pitchFamily="34" charset="-120"/>
              </a:rPr>
              <a:t>0.194</a:t>
            </a:r>
            <a:endParaRPr lang="en-US" sz="1100" dirty="0"/>
          </a:p>
        </p:txBody>
      </p:sp>
      <p:sp>
        <p:nvSpPr>
          <p:cNvPr id="71" name="Shape 69"/>
          <p:cNvSpPr/>
          <p:nvPr/>
        </p:nvSpPr>
        <p:spPr>
          <a:xfrm>
            <a:off x="5349240" y="3566160"/>
            <a:ext cx="1185611" cy="402336"/>
          </a:xfrm>
          <a:prstGeom prst="roundRect">
            <a:avLst>
              <a:gd name="adj" fmla="val 18182"/>
            </a:avLst>
          </a:prstGeom>
          <a:solidFill>
            <a:srgbClr val="F8EBF2"/>
          </a:solidFill>
          <a:ln w="12700">
            <a:solidFill>
              <a:srgbClr val="F8EBF2"/>
            </a:solidFill>
            <a:prstDash val="solid"/>
          </a:ln>
        </p:spPr>
        <p:txBody>
          <a:bodyPr/>
          <a:lstStyle/>
          <a:p>
            <a:endParaRPr lang="en-US"/>
          </a:p>
        </p:txBody>
      </p:sp>
      <p:sp>
        <p:nvSpPr>
          <p:cNvPr id="72" name="Text 70"/>
          <p:cNvSpPr txBox="1"/>
          <p:nvPr/>
        </p:nvSpPr>
        <p:spPr>
          <a:xfrm>
            <a:off x="5349240" y="3566160"/>
            <a:ext cx="1185611" cy="402336"/>
          </a:xfrm>
          <a:prstGeom prst="rect">
            <a:avLst/>
          </a:prstGeom>
          <a:noFill/>
          <a:ln/>
        </p:spPr>
        <p:txBody>
          <a:bodyPr wrap="square" lIns="0" tIns="0" rIns="0" bIns="0" rtlCol="0" anchor="ctr"/>
          <a:lstStyle/>
          <a:p>
            <a:pPr marL="0" indent="0" algn="ctr">
              <a:buNone/>
            </a:pPr>
            <a:r>
              <a:rPr lang="en-US" sz="1100" dirty="0">
                <a:solidFill>
                  <a:srgbClr val="0E131B"/>
                </a:solidFill>
                <a:latin typeface="Consolas" pitchFamily="34" charset="0"/>
                <a:ea typeface="Consolas" pitchFamily="34" charset="-122"/>
                <a:cs typeface="Consolas" pitchFamily="34" charset="-120"/>
              </a:rPr>
              <a:t>E</a:t>
            </a:r>
            <a:endParaRPr lang="en-US" sz="1100" dirty="0"/>
          </a:p>
        </p:txBody>
      </p:sp>
      <p:sp>
        <p:nvSpPr>
          <p:cNvPr id="73" name="Shape 71"/>
          <p:cNvSpPr/>
          <p:nvPr/>
        </p:nvSpPr>
        <p:spPr>
          <a:xfrm>
            <a:off x="6589715" y="3566160"/>
            <a:ext cx="1185611" cy="402336"/>
          </a:xfrm>
          <a:prstGeom prst="roundRect">
            <a:avLst>
              <a:gd name="adj" fmla="val 18182"/>
            </a:avLst>
          </a:prstGeom>
          <a:solidFill>
            <a:srgbClr val="F8EBF2"/>
          </a:solidFill>
          <a:ln w="12700">
            <a:solidFill>
              <a:srgbClr val="F8EBF2"/>
            </a:solidFill>
            <a:prstDash val="solid"/>
          </a:ln>
        </p:spPr>
        <p:txBody>
          <a:bodyPr/>
          <a:lstStyle/>
          <a:p>
            <a:endParaRPr lang="en-US"/>
          </a:p>
        </p:txBody>
      </p:sp>
      <p:sp>
        <p:nvSpPr>
          <p:cNvPr id="74" name="Text 72"/>
          <p:cNvSpPr txBox="1"/>
          <p:nvPr/>
        </p:nvSpPr>
        <p:spPr>
          <a:xfrm>
            <a:off x="6589715" y="3566160"/>
            <a:ext cx="1185611" cy="402336"/>
          </a:xfrm>
          <a:prstGeom prst="rect">
            <a:avLst/>
          </a:prstGeom>
          <a:noFill/>
          <a:ln/>
        </p:spPr>
        <p:txBody>
          <a:bodyPr wrap="square" lIns="0" tIns="0" rIns="0" bIns="0" rtlCol="0" anchor="ctr"/>
          <a:lstStyle/>
          <a:p>
            <a:pPr marL="0" indent="0" algn="ctr">
              <a:buNone/>
            </a:pPr>
            <a:r>
              <a:rPr lang="en-US" sz="1100" dirty="0">
                <a:solidFill>
                  <a:srgbClr val="0E131B"/>
                </a:solidFill>
                <a:latin typeface="Consolas" pitchFamily="34" charset="0"/>
                <a:ea typeface="Consolas" pitchFamily="34" charset="-122"/>
                <a:cs typeface="Consolas" pitchFamily="34" charset="-120"/>
              </a:rPr>
              <a:t>1</a:t>
            </a:r>
            <a:endParaRPr lang="en-US" sz="1100" dirty="0"/>
          </a:p>
        </p:txBody>
      </p:sp>
      <p:sp>
        <p:nvSpPr>
          <p:cNvPr id="75" name="Shape 73"/>
          <p:cNvSpPr/>
          <p:nvPr/>
        </p:nvSpPr>
        <p:spPr>
          <a:xfrm>
            <a:off x="7830190" y="3566160"/>
            <a:ext cx="1185611" cy="402336"/>
          </a:xfrm>
          <a:prstGeom prst="roundRect">
            <a:avLst>
              <a:gd name="adj" fmla="val 18182"/>
            </a:avLst>
          </a:prstGeom>
          <a:solidFill>
            <a:srgbClr val="F8EBF2"/>
          </a:solidFill>
          <a:ln w="12700">
            <a:solidFill>
              <a:srgbClr val="F8EBF2"/>
            </a:solidFill>
            <a:prstDash val="solid"/>
          </a:ln>
        </p:spPr>
        <p:txBody>
          <a:bodyPr/>
          <a:lstStyle/>
          <a:p>
            <a:endParaRPr lang="en-US"/>
          </a:p>
        </p:txBody>
      </p:sp>
      <p:sp>
        <p:nvSpPr>
          <p:cNvPr id="76" name="Text 74"/>
          <p:cNvSpPr txBox="1"/>
          <p:nvPr/>
        </p:nvSpPr>
        <p:spPr>
          <a:xfrm>
            <a:off x="7830190" y="3566160"/>
            <a:ext cx="1185611" cy="402336"/>
          </a:xfrm>
          <a:prstGeom prst="rect">
            <a:avLst/>
          </a:prstGeom>
          <a:noFill/>
          <a:ln/>
        </p:spPr>
        <p:txBody>
          <a:bodyPr wrap="square" lIns="0" tIns="0" rIns="0" bIns="0" rtlCol="0" anchor="ctr"/>
          <a:lstStyle/>
          <a:p>
            <a:pPr marL="0" indent="0" algn="ctr">
              <a:buNone/>
            </a:pPr>
            <a:r>
              <a:rPr lang="en-US" sz="1100" dirty="0">
                <a:solidFill>
                  <a:srgbClr val="0E131B"/>
                </a:solidFill>
                <a:latin typeface="Consolas" pitchFamily="34" charset="0"/>
                <a:ea typeface="Consolas" pitchFamily="34" charset="-122"/>
                <a:cs typeface="Consolas" pitchFamily="34" charset="-120"/>
              </a:rPr>
              <a:t>0.025</a:t>
            </a:r>
            <a:endParaRPr lang="en-US" sz="1100" dirty="0"/>
          </a:p>
        </p:txBody>
      </p:sp>
      <p:sp>
        <p:nvSpPr>
          <p:cNvPr id="77" name="Shape 75"/>
          <p:cNvSpPr/>
          <p:nvPr/>
        </p:nvSpPr>
        <p:spPr>
          <a:xfrm>
            <a:off x="9070665" y="3566160"/>
            <a:ext cx="1185611" cy="402336"/>
          </a:xfrm>
          <a:prstGeom prst="roundRect">
            <a:avLst>
              <a:gd name="adj" fmla="val 18182"/>
            </a:avLst>
          </a:prstGeom>
          <a:solidFill>
            <a:srgbClr val="F8EBF2"/>
          </a:solidFill>
          <a:ln w="12700">
            <a:solidFill>
              <a:srgbClr val="F8EBF2"/>
            </a:solidFill>
            <a:prstDash val="solid"/>
          </a:ln>
        </p:spPr>
        <p:txBody>
          <a:bodyPr/>
          <a:lstStyle/>
          <a:p>
            <a:endParaRPr lang="en-US"/>
          </a:p>
        </p:txBody>
      </p:sp>
      <p:sp>
        <p:nvSpPr>
          <p:cNvPr id="78" name="Text 76"/>
          <p:cNvSpPr txBox="1"/>
          <p:nvPr/>
        </p:nvSpPr>
        <p:spPr>
          <a:xfrm>
            <a:off x="9070665" y="3566160"/>
            <a:ext cx="1185611" cy="402336"/>
          </a:xfrm>
          <a:prstGeom prst="rect">
            <a:avLst/>
          </a:prstGeom>
          <a:noFill/>
          <a:ln/>
        </p:spPr>
        <p:txBody>
          <a:bodyPr wrap="square" lIns="0" tIns="0" rIns="0" bIns="0" rtlCol="0" anchor="ctr"/>
          <a:lstStyle/>
          <a:p>
            <a:pPr marL="0" indent="0" algn="ctr">
              <a:buNone/>
            </a:pPr>
            <a:r>
              <a:rPr lang="en-US" sz="1100" dirty="0">
                <a:solidFill>
                  <a:srgbClr val="0E131B"/>
                </a:solidFill>
                <a:latin typeface="Consolas" pitchFamily="34" charset="0"/>
                <a:ea typeface="Consolas" pitchFamily="34" charset="-122"/>
                <a:cs typeface="Consolas" pitchFamily="34" charset="-120"/>
              </a:rPr>
              <a:t>−3.689</a:t>
            </a:r>
            <a:endParaRPr lang="en-US" sz="1100" dirty="0"/>
          </a:p>
        </p:txBody>
      </p:sp>
      <p:sp>
        <p:nvSpPr>
          <p:cNvPr id="79" name="Shape 77"/>
          <p:cNvSpPr/>
          <p:nvPr/>
        </p:nvSpPr>
        <p:spPr>
          <a:xfrm>
            <a:off x="10311140" y="3566160"/>
            <a:ext cx="1185611" cy="402336"/>
          </a:xfrm>
          <a:prstGeom prst="roundRect">
            <a:avLst>
              <a:gd name="adj" fmla="val 18182"/>
            </a:avLst>
          </a:prstGeom>
          <a:solidFill>
            <a:srgbClr val="F8EBF2"/>
          </a:solidFill>
          <a:ln w="12700">
            <a:solidFill>
              <a:srgbClr val="F8EBF2"/>
            </a:solidFill>
            <a:prstDash val="solid"/>
          </a:ln>
        </p:spPr>
        <p:txBody>
          <a:bodyPr/>
          <a:lstStyle/>
          <a:p>
            <a:endParaRPr lang="en-US"/>
          </a:p>
        </p:txBody>
      </p:sp>
      <p:sp>
        <p:nvSpPr>
          <p:cNvPr id="80" name="Text 78"/>
          <p:cNvSpPr txBox="1"/>
          <p:nvPr/>
        </p:nvSpPr>
        <p:spPr>
          <a:xfrm>
            <a:off x="10311140" y="3566160"/>
            <a:ext cx="1185611" cy="402336"/>
          </a:xfrm>
          <a:prstGeom prst="rect">
            <a:avLst/>
          </a:prstGeom>
          <a:noFill/>
          <a:ln/>
        </p:spPr>
        <p:txBody>
          <a:bodyPr wrap="square" lIns="0" tIns="0" rIns="0" bIns="0" rtlCol="0" anchor="ctr"/>
          <a:lstStyle/>
          <a:p>
            <a:pPr marL="0" indent="0" algn="ctr">
              <a:buNone/>
            </a:pPr>
            <a:r>
              <a:rPr lang="en-US" sz="1100" dirty="0">
                <a:solidFill>
                  <a:srgbClr val="0E131B"/>
                </a:solidFill>
                <a:latin typeface="Consolas" pitchFamily="34" charset="0"/>
                <a:ea typeface="Consolas" pitchFamily="34" charset="-122"/>
                <a:cs typeface="Consolas" pitchFamily="34" charset="-120"/>
              </a:rPr>
              <a:t>0.092</a:t>
            </a:r>
            <a:endParaRPr lang="en-US" sz="1100" dirty="0"/>
          </a:p>
        </p:txBody>
      </p:sp>
      <p:sp>
        <p:nvSpPr>
          <p:cNvPr id="81" name="Shape 79"/>
          <p:cNvSpPr/>
          <p:nvPr/>
        </p:nvSpPr>
        <p:spPr>
          <a:xfrm>
            <a:off x="5349240" y="4069080"/>
            <a:ext cx="6147511" cy="502920"/>
          </a:xfrm>
          <a:prstGeom prst="roundRect">
            <a:avLst>
              <a:gd name="adj" fmla="val 14545"/>
            </a:avLst>
          </a:prstGeom>
          <a:solidFill>
            <a:srgbClr val="0E131B"/>
          </a:solidFill>
          <a:ln w="12700">
            <a:solidFill>
              <a:srgbClr val="0E131B"/>
            </a:solidFill>
            <a:prstDash val="solid"/>
          </a:ln>
        </p:spPr>
        <p:txBody>
          <a:bodyPr/>
          <a:lstStyle/>
          <a:p>
            <a:endParaRPr lang="en-US"/>
          </a:p>
        </p:txBody>
      </p:sp>
      <p:sp>
        <p:nvSpPr>
          <p:cNvPr id="82" name="Text 80"/>
          <p:cNvSpPr txBox="1"/>
          <p:nvPr/>
        </p:nvSpPr>
        <p:spPr>
          <a:xfrm>
            <a:off x="5349240" y="4069080"/>
            <a:ext cx="6147511" cy="502920"/>
          </a:xfrm>
          <a:prstGeom prst="rect">
            <a:avLst/>
          </a:prstGeom>
          <a:noFill/>
          <a:ln/>
        </p:spPr>
        <p:txBody>
          <a:bodyPr wrap="square" lIns="0" tIns="0" rIns="0" bIns="0" rtlCol="0" anchor="ctr"/>
          <a:lstStyle/>
          <a:p>
            <a:pPr marL="0" indent="0" algn="ctr">
              <a:buNone/>
            </a:pPr>
            <a:r>
              <a:rPr lang="en-US" sz="1600" b="1" dirty="0">
                <a:solidFill>
                  <a:srgbClr val="DFA9C4"/>
                </a:solidFill>
                <a:latin typeface="Cambria Math" pitchFamily="34" charset="0"/>
                <a:ea typeface="Cambria Math" pitchFamily="34" charset="-122"/>
                <a:cs typeface="Cambria Math" pitchFamily="34" charset="-120"/>
              </a:rPr>
              <a:t>H = 1.211 nats      exp(H) = 3.36 effective modes</a:t>
            </a:r>
            <a:endParaRPr lang="en-US" sz="1600" dirty="0"/>
          </a:p>
        </p:txBody>
      </p:sp>
      <p:sp>
        <p:nvSpPr>
          <p:cNvPr id="83" name="Shape 81"/>
          <p:cNvSpPr/>
          <p:nvPr/>
        </p:nvSpPr>
        <p:spPr>
          <a:xfrm>
            <a:off x="640080" y="4069080"/>
            <a:ext cx="4206240" cy="1691640"/>
          </a:xfrm>
          <a:prstGeom prst="roundRect">
            <a:avLst>
              <a:gd name="adj" fmla="val 4324"/>
            </a:avLst>
          </a:prstGeom>
          <a:solidFill>
            <a:srgbClr val="E6F2EF"/>
          </a:solidFill>
          <a:ln w="12700">
            <a:solidFill>
              <a:srgbClr val="E6F2EF"/>
            </a:solidFill>
            <a:prstDash val="solid"/>
          </a:ln>
        </p:spPr>
        <p:txBody>
          <a:bodyPr/>
          <a:lstStyle/>
          <a:p>
            <a:endParaRPr lang="en-US"/>
          </a:p>
        </p:txBody>
      </p:sp>
      <p:sp>
        <p:nvSpPr>
          <p:cNvPr id="84" name="Text 82"/>
          <p:cNvSpPr txBox="1"/>
          <p:nvPr/>
        </p:nvSpPr>
        <p:spPr>
          <a:xfrm>
            <a:off x="914400" y="4224528"/>
            <a:ext cx="3657600" cy="310896"/>
          </a:xfrm>
          <a:prstGeom prst="rect">
            <a:avLst/>
          </a:prstGeom>
          <a:noFill/>
          <a:ln/>
        </p:spPr>
        <p:txBody>
          <a:bodyPr wrap="square" lIns="0" tIns="0" rIns="0" bIns="0" rtlCol="0" anchor="ctr"/>
          <a:lstStyle/>
          <a:p>
            <a:pPr marL="0" indent="0">
              <a:buNone/>
            </a:pPr>
            <a:r>
              <a:rPr lang="en-US" sz="1600" b="1" dirty="0">
                <a:solidFill>
                  <a:srgbClr val="0E131B"/>
                </a:solidFill>
                <a:latin typeface="Cambria" pitchFamily="34" charset="0"/>
                <a:ea typeface="Cambria" pitchFamily="34" charset="-122"/>
                <a:cs typeface="Cambria" pitchFamily="34" charset="-120"/>
              </a:rPr>
              <a:t>How to read it</a:t>
            </a:r>
            <a:endParaRPr lang="en-US" sz="1600" dirty="0"/>
          </a:p>
        </p:txBody>
      </p:sp>
      <p:sp>
        <p:nvSpPr>
          <p:cNvPr id="85" name="Text 83"/>
          <p:cNvSpPr txBox="1"/>
          <p:nvPr/>
        </p:nvSpPr>
        <p:spPr>
          <a:xfrm>
            <a:off x="914400" y="4572000"/>
            <a:ext cx="3657600" cy="1097280"/>
          </a:xfrm>
          <a:prstGeom prst="rect">
            <a:avLst/>
          </a:prstGeom>
          <a:noFill/>
          <a:ln/>
        </p:spPr>
        <p:txBody>
          <a:bodyPr wrap="square" lIns="0" tIns="0" rIns="0" bIns="0" rtlCol="0" anchor="ctr"/>
          <a:lstStyle/>
          <a:p>
            <a:pPr marL="0" indent="0">
              <a:lnSpc>
                <a:spcPts val="1500"/>
              </a:lnSpc>
              <a:buNone/>
            </a:pPr>
            <a:r>
              <a:rPr lang="en-US" sz="1150" dirty="0">
                <a:solidFill>
                  <a:srgbClr val="5B6474"/>
                </a:solidFill>
                <a:latin typeface="Calibri" pitchFamily="34" charset="0"/>
                <a:ea typeface="Calibri" pitchFamily="34" charset="-122"/>
                <a:cs typeface="Calibri" pitchFamily="34" charset="-120"/>
              </a:rPr>
              <a:t>Five distinct kinds appeared. But the distribution behaves like a fair choice among 3.36. If all five had been equally common, exp(H) would be exactly 5 — so roughly a third of the apparent variety is not really there.</a:t>
            </a:r>
            <a:endParaRPr lang="en-US" sz="1150" dirty="0"/>
          </a:p>
        </p:txBody>
      </p:sp>
      <p:sp>
        <p:nvSpPr>
          <p:cNvPr id="86" name="Shape 84"/>
          <p:cNvSpPr/>
          <p:nvPr/>
        </p:nvSpPr>
        <p:spPr>
          <a:xfrm>
            <a:off x="640080" y="5870448"/>
            <a:ext cx="10911535" cy="548640"/>
          </a:xfrm>
          <a:prstGeom prst="roundRect">
            <a:avLst>
              <a:gd name="adj" fmla="val 13333"/>
            </a:avLst>
          </a:prstGeom>
          <a:solidFill>
            <a:srgbClr val="0E131B"/>
          </a:solidFill>
          <a:ln w="12700">
            <a:solidFill>
              <a:srgbClr val="0E131B"/>
            </a:solidFill>
            <a:prstDash val="solid"/>
          </a:ln>
        </p:spPr>
        <p:txBody>
          <a:bodyPr/>
          <a:lstStyle/>
          <a:p>
            <a:endParaRPr lang="en-US"/>
          </a:p>
        </p:txBody>
      </p:sp>
      <p:sp>
        <p:nvSpPr>
          <p:cNvPr id="87" name="Text 85"/>
          <p:cNvSpPr txBox="1"/>
          <p:nvPr/>
        </p:nvSpPr>
        <p:spPr>
          <a:xfrm>
            <a:off x="1005840" y="6035040"/>
            <a:ext cx="10424160" cy="219456"/>
          </a:xfrm>
          <a:prstGeom prst="rect">
            <a:avLst/>
          </a:prstGeom>
          <a:noFill/>
          <a:ln/>
        </p:spPr>
        <p:txBody>
          <a:bodyPr wrap="square" lIns="0" tIns="0" rIns="0" bIns="0" rtlCol="0" anchor="ctr"/>
          <a:lstStyle/>
          <a:p>
            <a:pPr marL="0" indent="0">
              <a:lnSpc>
                <a:spcPts val="2000"/>
              </a:lnSpc>
              <a:buNone/>
            </a:pPr>
            <a:r>
              <a:rPr lang="en-US" sz="1500" dirty="0">
                <a:solidFill>
                  <a:srgbClr val="F2F4F8"/>
                </a:solidFill>
                <a:latin typeface="Cambria" pitchFamily="34" charset="0"/>
                <a:ea typeface="Cambria" pitchFamily="34" charset="-122"/>
                <a:cs typeface="Cambria" pitchFamily="34" charset="-120"/>
              </a:rPr>
              <a:t>Now do this with your own forty. Define your categories first, write the rule down, then count.</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7">
    <p:bg>
      <p:bgPr>
        <a:solidFill>
          <a:srgbClr val="0E131B"/>
        </a:solidFill>
        <a:effectLst/>
      </p:bgPr>
    </p:bg>
    <p:spTree>
      <p:nvGrpSpPr>
        <p:cNvPr id="1" name=""/>
        <p:cNvGrpSpPr/>
        <p:nvPr/>
      </p:nvGrpSpPr>
      <p:grpSpPr>
        <a:xfrm>
          <a:off x="0" y="0"/>
          <a:ext cx="0" cy="0"/>
          <a:chOff x="0" y="0"/>
          <a:chExt cx="0" cy="0"/>
        </a:xfrm>
      </p:grpSpPr>
      <p:sp>
        <p:nvSpPr>
          <p:cNvPr id="2" name="Shape 0"/>
          <p:cNvSpPr/>
          <p:nvPr/>
        </p:nvSpPr>
        <p:spPr>
          <a:xfrm>
            <a:off x="8778240" y="1417320"/>
            <a:ext cx="2651760" cy="2651760"/>
          </a:xfrm>
          <a:prstGeom prst="ellipse">
            <a:avLst/>
          </a:prstGeom>
          <a:solidFill>
            <a:srgbClr val="9C3D6E">
              <a:alpha val="70000"/>
            </a:srgbClr>
          </a:solidFill>
          <a:ln/>
        </p:spPr>
        <p:txBody>
          <a:bodyPr/>
          <a:lstStyle/>
          <a:p>
            <a:endParaRPr lang="en-US"/>
          </a:p>
        </p:txBody>
      </p:sp>
      <p:sp>
        <p:nvSpPr>
          <p:cNvPr id="3" name="Shape 1"/>
          <p:cNvSpPr/>
          <p:nvPr/>
        </p:nvSpPr>
        <p:spPr>
          <a:xfrm>
            <a:off x="9646920" y="2286000"/>
            <a:ext cx="1188720" cy="1188720"/>
          </a:xfrm>
          <a:prstGeom prst="ellipse">
            <a:avLst/>
          </a:prstGeom>
          <a:solidFill>
            <a:srgbClr val="1F7A6B">
              <a:alpha val="75000"/>
            </a:srgbClr>
          </a:solidFill>
          <a:ln/>
        </p:spPr>
        <p:txBody>
          <a:bodyPr/>
          <a:lstStyle/>
          <a:p>
            <a:endParaRPr lang="en-US"/>
          </a:p>
        </p:txBody>
      </p:sp>
      <p:sp>
        <p:nvSpPr>
          <p:cNvPr id="4" name="Text 2"/>
          <p:cNvSpPr txBox="1"/>
          <p:nvPr/>
        </p:nvSpPr>
        <p:spPr>
          <a:xfrm>
            <a:off x="640080" y="1920240"/>
            <a:ext cx="7315200" cy="320040"/>
          </a:xfrm>
          <a:prstGeom prst="rect">
            <a:avLst/>
          </a:prstGeom>
          <a:noFill/>
          <a:ln/>
        </p:spPr>
        <p:txBody>
          <a:bodyPr wrap="square" lIns="0" tIns="0" rIns="0" bIns="0" rtlCol="0" anchor="ctr"/>
          <a:lstStyle/>
          <a:p>
            <a:pPr marL="0" indent="0">
              <a:buNone/>
            </a:pPr>
            <a:r>
              <a:rPr lang="en-US" sz="1300" b="1" kern="0" spc="220" dirty="0">
                <a:solidFill>
                  <a:srgbClr val="DFA9C4"/>
                </a:solidFill>
                <a:latin typeface="Calibri" pitchFamily="34" charset="0"/>
                <a:ea typeface="Calibri" pitchFamily="34" charset="-122"/>
                <a:cs typeface="Calibri" pitchFamily="34" charset="-120"/>
              </a:rPr>
              <a:t>PART FIVE</a:t>
            </a:r>
            <a:endParaRPr lang="en-US" sz="1300" dirty="0"/>
          </a:p>
        </p:txBody>
      </p:sp>
      <p:sp>
        <p:nvSpPr>
          <p:cNvPr id="5" name="Text 3"/>
          <p:cNvSpPr txBox="1"/>
          <p:nvPr/>
        </p:nvSpPr>
        <p:spPr>
          <a:xfrm>
            <a:off x="640080" y="2331720"/>
            <a:ext cx="7680960" cy="914400"/>
          </a:xfrm>
          <a:prstGeom prst="rect">
            <a:avLst/>
          </a:prstGeom>
          <a:noFill/>
          <a:ln/>
        </p:spPr>
        <p:txBody>
          <a:bodyPr wrap="square" lIns="0" tIns="0" rIns="0" bIns="0" rtlCol="0" anchor="ctr"/>
          <a:lstStyle/>
          <a:p>
            <a:pPr marL="0" indent="0">
              <a:buNone/>
            </a:pPr>
            <a:r>
              <a:rPr lang="en-US" sz="3600" b="1" dirty="0">
                <a:solidFill>
                  <a:srgbClr val="F2F4F8"/>
                </a:solidFill>
                <a:latin typeface="Cambria" pitchFamily="34" charset="0"/>
                <a:ea typeface="Cambria" pitchFamily="34" charset="-122"/>
                <a:cs typeface="Cambria" pitchFamily="34" charset="-120"/>
              </a:rPr>
              <a:t>Diagnose what died</a:t>
            </a:r>
            <a:endParaRPr lang="en-US" sz="3600" dirty="0"/>
          </a:p>
        </p:txBody>
      </p:sp>
      <p:sp>
        <p:nvSpPr>
          <p:cNvPr id="6" name="Text 4"/>
          <p:cNvSpPr txBox="1"/>
          <p:nvPr/>
        </p:nvSpPr>
        <p:spPr>
          <a:xfrm>
            <a:off x="640080" y="3310128"/>
            <a:ext cx="768096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Group work on your own outputs  ·  3:10–3:45</a:t>
            </a:r>
            <a:endParaRPr lang="en-US" sz="1500" dirty="0"/>
          </a:p>
        </p:txBody>
      </p:sp>
      <p:sp>
        <p:nvSpPr>
          <p:cNvPr id="7" name="Shape 5"/>
          <p:cNvSpPr/>
          <p:nvPr/>
        </p:nvSpPr>
        <p:spPr>
          <a:xfrm>
            <a:off x="640080" y="3913632"/>
            <a:ext cx="2377440" cy="18288"/>
          </a:xfrm>
          <a:prstGeom prst="rect">
            <a:avLst/>
          </a:prstGeom>
          <a:solidFill>
            <a:srgbClr val="84CCBD"/>
          </a:solidFill>
          <a:ln/>
        </p:spPr>
        <p:txBody>
          <a:bodyPr/>
          <a:lstStyle/>
          <a:p>
            <a:endParaRPr lang="en-US"/>
          </a:p>
        </p:txBody>
      </p:sp>
      <p:sp>
        <p:nvSpPr>
          <p:cNvPr id="8" name="Text 6"/>
          <p:cNvSpPr txBox="1"/>
          <p:nvPr/>
        </p:nvSpPr>
        <p:spPr>
          <a:xfrm>
            <a:off x="640080" y="4133088"/>
            <a:ext cx="7680960" cy="777240"/>
          </a:xfrm>
          <a:prstGeom prst="rect">
            <a:avLst/>
          </a:prstGeom>
          <a:noFill/>
          <a:ln/>
        </p:spPr>
        <p:txBody>
          <a:bodyPr wrap="square" lIns="0" tIns="0" rIns="0" bIns="0" rtlCol="0" anchor="ctr"/>
          <a:lstStyle/>
          <a:p>
            <a:pPr marL="0" indent="0">
              <a:lnSpc>
                <a:spcPts val="2500"/>
              </a:lnSpc>
              <a:buNone/>
            </a:pPr>
            <a:r>
              <a:rPr lang="en-US" sz="1850" i="1" dirty="0">
                <a:solidFill>
                  <a:srgbClr val="84CCBD"/>
                </a:solidFill>
                <a:latin typeface="Cambria" pitchFamily="34" charset="0"/>
                <a:ea typeface="Cambria" pitchFamily="34" charset="-122"/>
                <a:cs typeface="Cambria" pitchFamily="34" charset="-120"/>
              </a:rPr>
              <a:t>You now have the vocabulary you were denied at 0:20.</a:t>
            </a:r>
            <a:endParaRPr lang="en-US" sz="1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8">
    <p:bg>
      <p:bgPr>
        <a:solidFill>
          <a:srgbClr val="0E131B"/>
        </a:solidFill>
        <a:effectLst/>
      </p:bgPr>
    </p:bg>
    <p:spTree>
      <p:nvGrpSpPr>
        <p:cNvPr id="1" name=""/>
        <p:cNvGrpSpPr/>
        <p:nvPr/>
      </p:nvGrpSpPr>
      <p:grpSpPr>
        <a:xfrm>
          <a:off x="0" y="0"/>
          <a:ext cx="0" cy="0"/>
          <a:chOff x="0" y="0"/>
          <a:chExt cx="0" cy="0"/>
        </a:xfrm>
      </p:grpSpPr>
      <p:sp>
        <p:nvSpPr>
          <p:cNvPr id="2" name="Shape 0"/>
          <p:cNvSpPr/>
          <p:nvPr/>
        </p:nvSpPr>
        <p:spPr>
          <a:xfrm>
            <a:off x="640080" y="502920"/>
            <a:ext cx="137160" cy="137160"/>
          </a:xfrm>
          <a:prstGeom prst="ellipse">
            <a:avLst/>
          </a:prstGeom>
          <a:solidFill>
            <a:srgbClr val="DFA9C4"/>
          </a:solidFill>
          <a:ln/>
        </p:spPr>
        <p:txBody>
          <a:bodyPr/>
          <a:lstStyle/>
          <a:p>
            <a:endParaRPr lang="en-US"/>
          </a:p>
        </p:txBody>
      </p:sp>
      <p:sp>
        <p:nvSpPr>
          <p:cNvPr id="3" name="Text 1"/>
          <p:cNvSpPr txBox="1"/>
          <p:nvPr/>
        </p:nvSpPr>
        <p:spPr>
          <a:xfrm>
            <a:off x="886968" y="438912"/>
            <a:ext cx="10515600" cy="274320"/>
          </a:xfrm>
          <a:prstGeom prst="rect">
            <a:avLst/>
          </a:prstGeom>
          <a:noFill/>
          <a:ln/>
        </p:spPr>
        <p:txBody>
          <a:bodyPr wrap="square" lIns="0" tIns="0" rIns="0" bIns="0" rtlCol="0" anchor="ctr"/>
          <a:lstStyle/>
          <a:p>
            <a:pPr marL="0" indent="0">
              <a:buNone/>
            </a:pPr>
            <a:r>
              <a:rPr lang="en-US" sz="1100" b="1" kern="0" spc="160" dirty="0">
                <a:solidFill>
                  <a:srgbClr val="DFA9C4"/>
                </a:solidFill>
                <a:latin typeface="Calibri" pitchFamily="34" charset="0"/>
                <a:ea typeface="Calibri" pitchFamily="34" charset="-122"/>
                <a:cs typeface="Calibri" pitchFamily="34" charset="-120"/>
              </a:rPr>
              <a:t>GROUP WORK · GROUPS OF FOUR · TWENTY MINUTES, THEN REPORT</a:t>
            </a:r>
            <a:endParaRPr lang="en-US" sz="1100" dirty="0"/>
          </a:p>
        </p:txBody>
      </p:sp>
      <p:sp>
        <p:nvSpPr>
          <p:cNvPr id="4" name="Text 2"/>
          <p:cNvSpPr txBox="1"/>
          <p:nvPr/>
        </p:nvSpPr>
        <p:spPr>
          <a:xfrm>
            <a:off x="640080" y="868680"/>
            <a:ext cx="10911535" cy="640080"/>
          </a:xfrm>
          <a:prstGeom prst="rect">
            <a:avLst/>
          </a:prstGeom>
          <a:noFill/>
          <a:ln/>
        </p:spPr>
        <p:txBody>
          <a:bodyPr wrap="square" lIns="0" tIns="0" rIns="0" bIns="0" rtlCol="0" anchor="ctr"/>
          <a:lstStyle/>
          <a:p>
            <a:pPr marL="0" indent="0">
              <a:buNone/>
            </a:pPr>
            <a:r>
              <a:rPr lang="en-US" sz="3300" b="1" dirty="0">
                <a:solidFill>
                  <a:srgbClr val="F2F4F8"/>
                </a:solidFill>
                <a:latin typeface="Cambria" pitchFamily="34" charset="0"/>
                <a:ea typeface="Cambria" pitchFamily="34" charset="-122"/>
                <a:cs typeface="Cambria" pitchFamily="34" charset="-120"/>
              </a:rPr>
              <a:t>Diagnose what died</a:t>
            </a:r>
            <a:endParaRPr lang="en-US" sz="3300" dirty="0"/>
          </a:p>
        </p:txBody>
      </p:sp>
      <p:sp>
        <p:nvSpPr>
          <p:cNvPr id="5" name="Shape 3"/>
          <p:cNvSpPr/>
          <p:nvPr/>
        </p:nvSpPr>
        <p:spPr>
          <a:xfrm>
            <a:off x="640080" y="1627632"/>
            <a:ext cx="5309464" cy="1508760"/>
          </a:xfrm>
          <a:prstGeom prst="roundRect">
            <a:avLst>
              <a:gd name="adj" fmla="val 4848"/>
            </a:avLst>
          </a:prstGeom>
          <a:solidFill>
            <a:srgbClr val="1C2430"/>
          </a:solidFill>
          <a:ln w="12700">
            <a:solidFill>
              <a:srgbClr val="1C2430"/>
            </a:solidFill>
            <a:prstDash val="solid"/>
          </a:ln>
        </p:spPr>
        <p:txBody>
          <a:bodyPr/>
          <a:lstStyle/>
          <a:p>
            <a:endParaRPr lang="en-US"/>
          </a:p>
        </p:txBody>
      </p:sp>
      <p:sp>
        <p:nvSpPr>
          <p:cNvPr id="6" name="Shape 4"/>
          <p:cNvSpPr/>
          <p:nvPr/>
        </p:nvSpPr>
        <p:spPr>
          <a:xfrm>
            <a:off x="932688" y="1901952"/>
            <a:ext cx="384048" cy="384048"/>
          </a:xfrm>
          <a:prstGeom prst="ellipse">
            <a:avLst/>
          </a:prstGeom>
          <a:solidFill>
            <a:srgbClr val="1F7A6B"/>
          </a:solidFill>
          <a:ln/>
        </p:spPr>
        <p:txBody>
          <a:bodyPr/>
          <a:lstStyle/>
          <a:p>
            <a:endParaRPr lang="en-US"/>
          </a:p>
        </p:txBody>
      </p:sp>
      <p:sp>
        <p:nvSpPr>
          <p:cNvPr id="7" name="Text 5"/>
          <p:cNvSpPr txBox="1"/>
          <p:nvPr/>
        </p:nvSpPr>
        <p:spPr>
          <a:xfrm>
            <a:off x="932688" y="190195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554480" y="1920240"/>
            <a:ext cx="4120744" cy="329184"/>
          </a:xfrm>
          <a:prstGeom prst="rect">
            <a:avLst/>
          </a:prstGeom>
          <a:noFill/>
          <a:ln/>
        </p:spPr>
        <p:txBody>
          <a:bodyPr wrap="square" lIns="0" tIns="0" rIns="0" bIns="0" rtlCol="0" anchor="ctr"/>
          <a:lstStyle/>
          <a:p>
            <a:pPr marL="0" indent="0">
              <a:buNone/>
            </a:pPr>
            <a:r>
              <a:rPr lang="en-US" sz="1700" b="1" dirty="0">
                <a:solidFill>
                  <a:srgbClr val="F2F4F8"/>
                </a:solidFill>
                <a:latin typeface="Cambria" pitchFamily="34" charset="0"/>
                <a:ea typeface="Cambria" pitchFamily="34" charset="-122"/>
                <a:cs typeface="Cambria" pitchFamily="34" charset="-120"/>
              </a:rPr>
              <a:t>Pool and categorise</a:t>
            </a:r>
            <a:endParaRPr lang="en-US" sz="1700" dirty="0"/>
          </a:p>
        </p:txBody>
      </p:sp>
      <p:sp>
        <p:nvSpPr>
          <p:cNvPr id="9" name="Text 7"/>
          <p:cNvSpPr txBox="1"/>
          <p:nvPr/>
        </p:nvSpPr>
        <p:spPr>
          <a:xfrm>
            <a:off x="932688" y="2377440"/>
            <a:ext cx="4724248" cy="694944"/>
          </a:xfrm>
          <a:prstGeom prst="rect">
            <a:avLst/>
          </a:prstGeom>
          <a:noFill/>
          <a:ln/>
        </p:spPr>
        <p:txBody>
          <a:bodyPr wrap="square" lIns="0" tIns="0" rIns="0" bIns="0" rtlCol="0" anchor="ctr"/>
          <a:lstStyle/>
          <a:p>
            <a:pPr marL="0" indent="0">
              <a:lnSpc>
                <a:spcPts val="1600"/>
              </a:lnSpc>
              <a:buNone/>
            </a:pPr>
            <a:r>
              <a:rPr lang="en-US" sz="1200" dirty="0">
                <a:solidFill>
                  <a:srgbClr val="FFFFFF"/>
                </a:solidFill>
                <a:latin typeface="Calibri" pitchFamily="34" charset="0"/>
                <a:ea typeface="Calibri" pitchFamily="34" charset="-122"/>
                <a:cs typeface="Calibri" pitchFamily="34" charset="-120"/>
              </a:rPr>
              <a:t>Put all your outputs together. Agree a category rule and write it down in one sentence. Then count, compute H, and compute exp(H) for the pooled set and for each individual’s forty.</a:t>
            </a:r>
            <a:endParaRPr lang="en-US" sz="1200" dirty="0"/>
          </a:p>
        </p:txBody>
      </p:sp>
      <p:sp>
        <p:nvSpPr>
          <p:cNvPr id="10" name="Shape 8"/>
          <p:cNvSpPr/>
          <p:nvPr/>
        </p:nvSpPr>
        <p:spPr>
          <a:xfrm>
            <a:off x="6242152" y="1627632"/>
            <a:ext cx="5309464" cy="1508760"/>
          </a:xfrm>
          <a:prstGeom prst="roundRect">
            <a:avLst>
              <a:gd name="adj" fmla="val 4848"/>
            </a:avLst>
          </a:prstGeom>
          <a:solidFill>
            <a:srgbClr val="1C2430"/>
          </a:solidFill>
          <a:ln w="12700">
            <a:solidFill>
              <a:srgbClr val="1C2430"/>
            </a:solidFill>
            <a:prstDash val="solid"/>
          </a:ln>
        </p:spPr>
        <p:txBody>
          <a:bodyPr/>
          <a:lstStyle/>
          <a:p>
            <a:endParaRPr lang="en-US"/>
          </a:p>
        </p:txBody>
      </p:sp>
      <p:sp>
        <p:nvSpPr>
          <p:cNvPr id="11" name="Shape 9"/>
          <p:cNvSpPr/>
          <p:nvPr/>
        </p:nvSpPr>
        <p:spPr>
          <a:xfrm>
            <a:off x="6534760" y="1901952"/>
            <a:ext cx="384048" cy="384048"/>
          </a:xfrm>
          <a:prstGeom prst="ellipse">
            <a:avLst/>
          </a:prstGeom>
          <a:solidFill>
            <a:srgbClr val="9C3D6E"/>
          </a:solidFill>
          <a:ln/>
        </p:spPr>
        <p:txBody>
          <a:bodyPr/>
          <a:lstStyle/>
          <a:p>
            <a:endParaRPr lang="en-US"/>
          </a:p>
        </p:txBody>
      </p:sp>
      <p:sp>
        <p:nvSpPr>
          <p:cNvPr id="12" name="Text 10"/>
          <p:cNvSpPr txBox="1"/>
          <p:nvPr/>
        </p:nvSpPr>
        <p:spPr>
          <a:xfrm>
            <a:off x="6534760" y="190195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7156552" y="1920240"/>
            <a:ext cx="4120744" cy="329184"/>
          </a:xfrm>
          <a:prstGeom prst="rect">
            <a:avLst/>
          </a:prstGeom>
          <a:noFill/>
          <a:ln/>
        </p:spPr>
        <p:txBody>
          <a:bodyPr wrap="square" lIns="0" tIns="0" rIns="0" bIns="0" rtlCol="0" anchor="ctr"/>
          <a:lstStyle/>
          <a:p>
            <a:pPr marL="0" indent="0">
              <a:buNone/>
            </a:pPr>
            <a:r>
              <a:rPr lang="en-US" sz="1700" b="1" dirty="0">
                <a:solidFill>
                  <a:srgbClr val="F2F4F8"/>
                </a:solidFill>
                <a:latin typeface="Cambria" pitchFamily="34" charset="0"/>
                <a:ea typeface="Cambria" pitchFamily="34" charset="-122"/>
                <a:cs typeface="Cambria" pitchFamily="34" charset="-120"/>
              </a:rPr>
              <a:t>Find the silent absence</a:t>
            </a:r>
            <a:endParaRPr lang="en-US" sz="1700" dirty="0"/>
          </a:p>
        </p:txBody>
      </p:sp>
      <p:sp>
        <p:nvSpPr>
          <p:cNvPr id="14" name="Text 12"/>
          <p:cNvSpPr txBox="1"/>
          <p:nvPr/>
        </p:nvSpPr>
        <p:spPr>
          <a:xfrm>
            <a:off x="6534760" y="2377440"/>
            <a:ext cx="4724248" cy="694944"/>
          </a:xfrm>
          <a:prstGeom prst="rect">
            <a:avLst/>
          </a:prstGeom>
          <a:noFill/>
          <a:ln/>
        </p:spPr>
        <p:txBody>
          <a:bodyPr wrap="square" lIns="0" tIns="0" rIns="0" bIns="0" rtlCol="0" anchor="ctr"/>
          <a:lstStyle/>
          <a:p>
            <a:pPr marL="0" indent="0">
              <a:lnSpc>
                <a:spcPts val="1600"/>
              </a:lnSpc>
              <a:buNone/>
            </a:pPr>
            <a:r>
              <a:rPr lang="en-US" sz="1200" dirty="0">
                <a:solidFill>
                  <a:srgbClr val="FFFFFF"/>
                </a:solidFill>
                <a:latin typeface="Calibri" pitchFamily="34" charset="0"/>
                <a:ea typeface="Calibri" pitchFamily="34" charset="-122"/>
                <a:cs typeface="Calibri" pitchFamily="34" charset="-120"/>
              </a:rPr>
              <a:t>Name one thing that plainly belongs to the prompt’s space and appears nowhere across all your outputs. Then say how you know it belongs — what makes it part of the space?</a:t>
            </a:r>
            <a:endParaRPr lang="en-US" sz="1200" dirty="0"/>
          </a:p>
        </p:txBody>
      </p:sp>
      <p:sp>
        <p:nvSpPr>
          <p:cNvPr id="15" name="Shape 13"/>
          <p:cNvSpPr/>
          <p:nvPr/>
        </p:nvSpPr>
        <p:spPr>
          <a:xfrm>
            <a:off x="640080" y="3319272"/>
            <a:ext cx="5309464" cy="1508760"/>
          </a:xfrm>
          <a:prstGeom prst="roundRect">
            <a:avLst>
              <a:gd name="adj" fmla="val 4848"/>
            </a:avLst>
          </a:prstGeom>
          <a:solidFill>
            <a:srgbClr val="1C2430"/>
          </a:solidFill>
          <a:ln w="12700">
            <a:solidFill>
              <a:srgbClr val="1C2430"/>
            </a:solidFill>
            <a:prstDash val="solid"/>
          </a:ln>
        </p:spPr>
        <p:txBody>
          <a:bodyPr/>
          <a:lstStyle/>
          <a:p>
            <a:endParaRPr lang="en-US"/>
          </a:p>
        </p:txBody>
      </p:sp>
      <p:sp>
        <p:nvSpPr>
          <p:cNvPr id="16" name="Shape 14"/>
          <p:cNvSpPr/>
          <p:nvPr/>
        </p:nvSpPr>
        <p:spPr>
          <a:xfrm>
            <a:off x="932688" y="3593592"/>
            <a:ext cx="384048" cy="384048"/>
          </a:xfrm>
          <a:prstGeom prst="ellipse">
            <a:avLst/>
          </a:prstGeom>
          <a:solidFill>
            <a:srgbClr val="1F7A6B"/>
          </a:solidFill>
          <a:ln/>
        </p:spPr>
        <p:txBody>
          <a:bodyPr/>
          <a:lstStyle/>
          <a:p>
            <a:endParaRPr lang="en-US"/>
          </a:p>
        </p:txBody>
      </p:sp>
      <p:sp>
        <p:nvSpPr>
          <p:cNvPr id="17" name="Text 15"/>
          <p:cNvSpPr txBox="1"/>
          <p:nvPr/>
        </p:nvSpPr>
        <p:spPr>
          <a:xfrm>
            <a:off x="932688" y="359359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1554480" y="3611880"/>
            <a:ext cx="4120744" cy="329184"/>
          </a:xfrm>
          <a:prstGeom prst="rect">
            <a:avLst/>
          </a:prstGeom>
          <a:noFill/>
          <a:ln/>
        </p:spPr>
        <p:txBody>
          <a:bodyPr wrap="square" lIns="0" tIns="0" rIns="0" bIns="0" rtlCol="0" anchor="ctr"/>
          <a:lstStyle/>
          <a:p>
            <a:pPr marL="0" indent="0">
              <a:buNone/>
            </a:pPr>
            <a:r>
              <a:rPr lang="en-US" sz="1700" b="1" dirty="0">
                <a:solidFill>
                  <a:srgbClr val="F2F4F8"/>
                </a:solidFill>
                <a:latin typeface="Cambria" pitchFamily="34" charset="0"/>
                <a:ea typeface="Cambria" pitchFamily="34" charset="-122"/>
                <a:cs typeface="Cambria" pitchFamily="34" charset="-120"/>
              </a:rPr>
              <a:t>Locate the critic</a:t>
            </a:r>
            <a:endParaRPr lang="en-US" sz="1700" dirty="0"/>
          </a:p>
        </p:txBody>
      </p:sp>
      <p:sp>
        <p:nvSpPr>
          <p:cNvPr id="19" name="Text 17"/>
          <p:cNvSpPr txBox="1"/>
          <p:nvPr/>
        </p:nvSpPr>
        <p:spPr>
          <a:xfrm>
            <a:off x="932688" y="4069080"/>
            <a:ext cx="4724248" cy="694944"/>
          </a:xfrm>
          <a:prstGeom prst="rect">
            <a:avLst/>
          </a:prstGeom>
          <a:noFill/>
          <a:ln/>
        </p:spPr>
        <p:txBody>
          <a:bodyPr wrap="square" lIns="0" tIns="0" rIns="0" bIns="0" rtlCol="0" anchor="ctr"/>
          <a:lstStyle/>
          <a:p>
            <a:pPr marL="0" indent="0">
              <a:lnSpc>
                <a:spcPts val="1600"/>
              </a:lnSpc>
              <a:buNone/>
            </a:pPr>
            <a:r>
              <a:rPr lang="en-US" sz="1200" dirty="0">
                <a:solidFill>
                  <a:srgbClr val="FFFFFF"/>
                </a:solidFill>
                <a:latin typeface="Calibri" pitchFamily="34" charset="0"/>
                <a:ea typeface="Calibri" pitchFamily="34" charset="-122"/>
                <a:cs typeface="Calibri" pitchFamily="34" charset="-120"/>
              </a:rPr>
              <a:t>What was playing the role of D here? Name it concretely. Training data, a preference model, a safety layer, your own prompt, your own sense of a good answer. There is more than one.</a:t>
            </a:r>
            <a:endParaRPr lang="en-US" sz="1200" dirty="0"/>
          </a:p>
        </p:txBody>
      </p:sp>
      <p:sp>
        <p:nvSpPr>
          <p:cNvPr id="20" name="Shape 18"/>
          <p:cNvSpPr/>
          <p:nvPr/>
        </p:nvSpPr>
        <p:spPr>
          <a:xfrm>
            <a:off x="6242152" y="3319272"/>
            <a:ext cx="5309464" cy="1508760"/>
          </a:xfrm>
          <a:prstGeom prst="roundRect">
            <a:avLst>
              <a:gd name="adj" fmla="val 4848"/>
            </a:avLst>
          </a:prstGeom>
          <a:solidFill>
            <a:srgbClr val="1C2430"/>
          </a:solidFill>
          <a:ln w="12700">
            <a:solidFill>
              <a:srgbClr val="1C2430"/>
            </a:solidFill>
            <a:prstDash val="solid"/>
          </a:ln>
        </p:spPr>
        <p:txBody>
          <a:bodyPr/>
          <a:lstStyle/>
          <a:p>
            <a:endParaRPr lang="en-US"/>
          </a:p>
        </p:txBody>
      </p:sp>
      <p:sp>
        <p:nvSpPr>
          <p:cNvPr id="21" name="Shape 19"/>
          <p:cNvSpPr/>
          <p:nvPr/>
        </p:nvSpPr>
        <p:spPr>
          <a:xfrm>
            <a:off x="6534760" y="3593592"/>
            <a:ext cx="384048" cy="384048"/>
          </a:xfrm>
          <a:prstGeom prst="ellipse">
            <a:avLst/>
          </a:prstGeom>
          <a:solidFill>
            <a:srgbClr val="9C3D6E"/>
          </a:solidFill>
          <a:ln/>
        </p:spPr>
        <p:txBody>
          <a:bodyPr/>
          <a:lstStyle/>
          <a:p>
            <a:endParaRPr lang="en-US"/>
          </a:p>
        </p:txBody>
      </p:sp>
      <p:sp>
        <p:nvSpPr>
          <p:cNvPr id="22" name="Text 20"/>
          <p:cNvSpPr txBox="1"/>
          <p:nvPr/>
        </p:nvSpPr>
        <p:spPr>
          <a:xfrm>
            <a:off x="6534760" y="359359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3" name="Text 21"/>
          <p:cNvSpPr txBox="1"/>
          <p:nvPr/>
        </p:nvSpPr>
        <p:spPr>
          <a:xfrm>
            <a:off x="7156552" y="3611880"/>
            <a:ext cx="4120744" cy="329184"/>
          </a:xfrm>
          <a:prstGeom prst="rect">
            <a:avLst/>
          </a:prstGeom>
          <a:noFill/>
          <a:ln/>
        </p:spPr>
        <p:txBody>
          <a:bodyPr wrap="square" lIns="0" tIns="0" rIns="0" bIns="0" rtlCol="0" anchor="ctr"/>
          <a:lstStyle/>
          <a:p>
            <a:pPr marL="0" indent="0">
              <a:buNone/>
            </a:pPr>
            <a:r>
              <a:rPr lang="en-US" sz="1700" b="1" dirty="0">
                <a:solidFill>
                  <a:srgbClr val="F2F4F8"/>
                </a:solidFill>
                <a:latin typeface="Cambria" pitchFamily="34" charset="0"/>
                <a:ea typeface="Cambria" pitchFamily="34" charset="-122"/>
                <a:cs typeface="Cambria" pitchFamily="34" charset="-120"/>
              </a:rPr>
              <a:t>Test the mechanism</a:t>
            </a:r>
            <a:endParaRPr lang="en-US" sz="1700" dirty="0"/>
          </a:p>
        </p:txBody>
      </p:sp>
      <p:sp>
        <p:nvSpPr>
          <p:cNvPr id="24" name="Text 22"/>
          <p:cNvSpPr txBox="1"/>
          <p:nvPr/>
        </p:nvSpPr>
        <p:spPr>
          <a:xfrm>
            <a:off x="6534760" y="4069080"/>
            <a:ext cx="4724248" cy="694944"/>
          </a:xfrm>
          <a:prstGeom prst="rect">
            <a:avLst/>
          </a:prstGeom>
          <a:noFill/>
          <a:ln/>
        </p:spPr>
        <p:txBody>
          <a:bodyPr wrap="square" lIns="0" tIns="0" rIns="0" bIns="0" rtlCol="0" anchor="ctr"/>
          <a:lstStyle/>
          <a:p>
            <a:pPr marL="0" indent="0">
              <a:lnSpc>
                <a:spcPts val="1600"/>
              </a:lnSpc>
              <a:buNone/>
            </a:pPr>
            <a:r>
              <a:rPr lang="en-US" sz="1200" dirty="0">
                <a:solidFill>
                  <a:srgbClr val="FFFFFF"/>
                </a:solidFill>
                <a:latin typeface="Calibri" pitchFamily="34" charset="0"/>
                <a:ea typeface="Calibri" pitchFamily="34" charset="-122"/>
                <a:cs typeface="Calibri" pitchFamily="34" charset="-120"/>
              </a:rPr>
              <a:t>Does the §3 story actually fit what you see — a small set of outputs that reliably satisfy a critic? Or is something else going on? Argue for a verdict.</a:t>
            </a:r>
            <a:endParaRPr lang="en-US" sz="1200" dirty="0"/>
          </a:p>
        </p:txBody>
      </p:sp>
      <p:sp>
        <p:nvSpPr>
          <p:cNvPr id="25" name="Shape 23"/>
          <p:cNvSpPr/>
          <p:nvPr/>
        </p:nvSpPr>
        <p:spPr>
          <a:xfrm>
            <a:off x="640080" y="5074920"/>
            <a:ext cx="10911535" cy="960120"/>
          </a:xfrm>
          <a:prstGeom prst="roundRect">
            <a:avLst>
              <a:gd name="adj" fmla="val 7619"/>
            </a:avLst>
          </a:prstGeom>
          <a:solidFill>
            <a:srgbClr val="1F7A6B"/>
          </a:solidFill>
          <a:ln w="12700">
            <a:solidFill>
              <a:srgbClr val="1F7A6B"/>
            </a:solidFill>
            <a:prstDash val="solid"/>
          </a:ln>
        </p:spPr>
        <p:txBody>
          <a:bodyPr/>
          <a:lstStyle/>
          <a:p>
            <a:endParaRPr lang="en-US"/>
          </a:p>
        </p:txBody>
      </p:sp>
      <p:sp>
        <p:nvSpPr>
          <p:cNvPr id="26" name="Text 24"/>
          <p:cNvSpPr txBox="1"/>
          <p:nvPr/>
        </p:nvSpPr>
        <p:spPr>
          <a:xfrm>
            <a:off x="1005840" y="5074920"/>
            <a:ext cx="10424160" cy="96012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Report three minutes each: your category rule, your exp(H), and the one absence you are most confident about.</a:t>
            </a:r>
            <a:endParaRPr lang="en-US" sz="15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0">
    <p:bg>
      <p:bgPr>
        <a:solidFill>
          <a:srgbClr val="0E131B"/>
        </a:solidFill>
        <a:effectLst/>
      </p:bgPr>
    </p:bg>
    <p:spTree>
      <p:nvGrpSpPr>
        <p:cNvPr id="1" name=""/>
        <p:cNvGrpSpPr/>
        <p:nvPr/>
      </p:nvGrpSpPr>
      <p:grpSpPr>
        <a:xfrm>
          <a:off x="0" y="0"/>
          <a:ext cx="0" cy="0"/>
          <a:chOff x="0" y="0"/>
          <a:chExt cx="0" cy="0"/>
        </a:xfrm>
      </p:grpSpPr>
      <p:sp>
        <p:nvSpPr>
          <p:cNvPr id="2" name="Shape 0"/>
          <p:cNvSpPr/>
          <p:nvPr/>
        </p:nvSpPr>
        <p:spPr>
          <a:xfrm>
            <a:off x="8778240" y="1417320"/>
            <a:ext cx="2651760" cy="2651760"/>
          </a:xfrm>
          <a:prstGeom prst="ellipse">
            <a:avLst/>
          </a:prstGeom>
          <a:solidFill>
            <a:srgbClr val="9C3D6E">
              <a:alpha val="70000"/>
            </a:srgbClr>
          </a:solidFill>
          <a:ln/>
        </p:spPr>
        <p:txBody>
          <a:bodyPr/>
          <a:lstStyle/>
          <a:p>
            <a:endParaRPr lang="en-US"/>
          </a:p>
        </p:txBody>
      </p:sp>
      <p:sp>
        <p:nvSpPr>
          <p:cNvPr id="3" name="Shape 1"/>
          <p:cNvSpPr/>
          <p:nvPr/>
        </p:nvSpPr>
        <p:spPr>
          <a:xfrm>
            <a:off x="9646920" y="2286000"/>
            <a:ext cx="1188720" cy="1188720"/>
          </a:xfrm>
          <a:prstGeom prst="ellipse">
            <a:avLst/>
          </a:prstGeom>
          <a:solidFill>
            <a:srgbClr val="1F7A6B">
              <a:alpha val="75000"/>
            </a:srgbClr>
          </a:solidFill>
          <a:ln/>
        </p:spPr>
        <p:txBody>
          <a:bodyPr/>
          <a:lstStyle/>
          <a:p>
            <a:endParaRPr lang="en-US"/>
          </a:p>
        </p:txBody>
      </p:sp>
      <p:sp>
        <p:nvSpPr>
          <p:cNvPr id="4" name="Text 2"/>
          <p:cNvSpPr txBox="1"/>
          <p:nvPr/>
        </p:nvSpPr>
        <p:spPr>
          <a:xfrm>
            <a:off x="640080" y="1920240"/>
            <a:ext cx="7315200" cy="320040"/>
          </a:xfrm>
          <a:prstGeom prst="rect">
            <a:avLst/>
          </a:prstGeom>
          <a:noFill/>
          <a:ln/>
        </p:spPr>
        <p:txBody>
          <a:bodyPr wrap="square" lIns="0" tIns="0" rIns="0" bIns="0" rtlCol="0" anchor="ctr"/>
          <a:lstStyle/>
          <a:p>
            <a:pPr marL="0" indent="0">
              <a:buNone/>
            </a:pPr>
            <a:r>
              <a:rPr lang="en-US" sz="1300" b="1" kern="0" spc="220" dirty="0">
                <a:solidFill>
                  <a:srgbClr val="DFA9C4"/>
                </a:solidFill>
                <a:latin typeface="Calibri" pitchFamily="34" charset="0"/>
                <a:ea typeface="Calibri" pitchFamily="34" charset="-122"/>
                <a:cs typeface="Calibri" pitchFamily="34" charset="-120"/>
              </a:rPr>
              <a:t>PART SIX</a:t>
            </a:r>
            <a:endParaRPr lang="en-US" sz="1300" dirty="0"/>
          </a:p>
        </p:txBody>
      </p:sp>
      <p:sp>
        <p:nvSpPr>
          <p:cNvPr id="5" name="Text 3"/>
          <p:cNvSpPr txBox="1"/>
          <p:nvPr/>
        </p:nvSpPr>
        <p:spPr>
          <a:xfrm>
            <a:off x="640080" y="2331720"/>
            <a:ext cx="7680960" cy="914400"/>
          </a:xfrm>
          <a:prstGeom prst="rect">
            <a:avLst/>
          </a:prstGeom>
          <a:noFill/>
          <a:ln/>
        </p:spPr>
        <p:txBody>
          <a:bodyPr wrap="square" lIns="0" tIns="0" rIns="0" bIns="0" rtlCol="0" anchor="ctr"/>
          <a:lstStyle/>
          <a:p>
            <a:pPr marL="0" indent="0">
              <a:buNone/>
            </a:pPr>
            <a:r>
              <a:rPr lang="en-US" sz="3600" b="1" dirty="0">
                <a:solidFill>
                  <a:srgbClr val="F2F4F8"/>
                </a:solidFill>
                <a:latin typeface="Cambria" pitchFamily="34" charset="0"/>
                <a:ea typeface="Cambria" pitchFamily="34" charset="-122"/>
                <a:cs typeface="Cambria" pitchFamily="34" charset="-120"/>
              </a:rPr>
              <a:t>The same shape, larger</a:t>
            </a:r>
            <a:endParaRPr lang="en-US" sz="3600" dirty="0"/>
          </a:p>
        </p:txBody>
      </p:sp>
      <p:sp>
        <p:nvSpPr>
          <p:cNvPr id="6" name="Text 4"/>
          <p:cNvSpPr txBox="1"/>
          <p:nvPr/>
        </p:nvSpPr>
        <p:spPr>
          <a:xfrm>
            <a:off x="640080" y="3310128"/>
            <a:ext cx="768096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Bender et al. and Ruha Benjamin  ·  3:55–4:30</a:t>
            </a:r>
            <a:endParaRPr lang="en-US" sz="1500" dirty="0"/>
          </a:p>
        </p:txBody>
      </p:sp>
      <p:sp>
        <p:nvSpPr>
          <p:cNvPr id="7" name="Shape 5"/>
          <p:cNvSpPr/>
          <p:nvPr/>
        </p:nvSpPr>
        <p:spPr>
          <a:xfrm>
            <a:off x="640080" y="3913632"/>
            <a:ext cx="2377440" cy="18288"/>
          </a:xfrm>
          <a:prstGeom prst="rect">
            <a:avLst/>
          </a:prstGeom>
          <a:solidFill>
            <a:srgbClr val="84CCBD"/>
          </a:solidFill>
          <a:ln/>
        </p:spPr>
        <p:txBody>
          <a:bodyPr/>
          <a:lstStyle/>
          <a:p>
            <a:endParaRPr lang="en-US"/>
          </a:p>
        </p:txBody>
      </p:sp>
      <p:sp>
        <p:nvSpPr>
          <p:cNvPr id="8" name="Text 6"/>
          <p:cNvSpPr txBox="1"/>
          <p:nvPr/>
        </p:nvSpPr>
        <p:spPr>
          <a:xfrm>
            <a:off x="640080" y="4133088"/>
            <a:ext cx="7680960" cy="777240"/>
          </a:xfrm>
          <a:prstGeom prst="rect">
            <a:avLst/>
          </a:prstGeom>
          <a:noFill/>
          <a:ln/>
        </p:spPr>
        <p:txBody>
          <a:bodyPr wrap="square" lIns="0" tIns="0" rIns="0" bIns="0" rtlCol="0" anchor="ctr"/>
          <a:lstStyle/>
          <a:p>
            <a:pPr marL="0" indent="0">
              <a:lnSpc>
                <a:spcPts val="2500"/>
              </a:lnSpc>
              <a:buNone/>
            </a:pPr>
            <a:r>
              <a:rPr lang="en-US" sz="1850" i="1" dirty="0">
                <a:solidFill>
                  <a:srgbClr val="84CCBD"/>
                </a:solidFill>
                <a:latin typeface="Cambria" pitchFamily="34" charset="0"/>
                <a:ea typeface="Cambria" pitchFamily="34" charset="-122"/>
                <a:cs typeface="Cambria" pitchFamily="34" charset="-120"/>
              </a:rPr>
              <a:t>Two accounts of narrowing that do not need a generator to happen.</a:t>
            </a:r>
            <a:endParaRPr lang="en-US" sz="1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9C3D6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BENDER ET AL.</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0E131B"/>
                </a:solidFill>
                <a:latin typeface="Cambria" pitchFamily="34" charset="0"/>
                <a:ea typeface="Cambria" pitchFamily="34" charset="-122"/>
                <a:cs typeface="Cambria" pitchFamily="34" charset="-120"/>
              </a:rPr>
              <a:t>Large is not the same as diverse</a:t>
            </a:r>
            <a:endParaRPr lang="en-US" sz="2900" dirty="0"/>
          </a:p>
        </p:txBody>
      </p:sp>
      <p:sp>
        <p:nvSpPr>
          <p:cNvPr id="5" name="Shape 3"/>
          <p:cNvSpPr/>
          <p:nvPr/>
        </p:nvSpPr>
        <p:spPr>
          <a:xfrm>
            <a:off x="640080" y="1325880"/>
            <a:ext cx="5295748" cy="1737360"/>
          </a:xfrm>
          <a:prstGeom prst="roundRect">
            <a:avLst>
              <a:gd name="adj" fmla="val 4211"/>
            </a:avLst>
          </a:prstGeom>
          <a:solidFill>
            <a:srgbClr val="E6F2EF"/>
          </a:solidFill>
          <a:ln w="12700">
            <a:solidFill>
              <a:srgbClr val="E6F2EF"/>
            </a:solidFill>
            <a:prstDash val="solid"/>
          </a:ln>
        </p:spPr>
        <p:txBody>
          <a:bodyPr/>
          <a:lstStyle/>
          <a:p>
            <a:endParaRPr lang="en-US"/>
          </a:p>
        </p:txBody>
      </p:sp>
      <p:sp>
        <p:nvSpPr>
          <p:cNvPr id="6" name="Shape 4"/>
          <p:cNvSpPr/>
          <p:nvPr/>
        </p:nvSpPr>
        <p:spPr>
          <a:xfrm>
            <a:off x="932688" y="1563624"/>
            <a:ext cx="347472" cy="347472"/>
          </a:xfrm>
          <a:prstGeom prst="ellipse">
            <a:avLst/>
          </a:prstGeom>
          <a:solidFill>
            <a:srgbClr val="1F7A6B"/>
          </a:solidFill>
          <a:ln/>
        </p:spPr>
        <p:txBody>
          <a:bodyPr/>
          <a:lstStyle/>
          <a:p>
            <a:endParaRPr lang="en-US"/>
          </a:p>
        </p:txBody>
      </p:sp>
      <p:sp>
        <p:nvSpPr>
          <p:cNvPr id="7" name="Text 5"/>
          <p:cNvSpPr txBox="1"/>
          <p:nvPr/>
        </p:nvSpPr>
        <p:spPr>
          <a:xfrm>
            <a:off x="932688" y="1563624"/>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417320" y="1545336"/>
            <a:ext cx="4244188" cy="566928"/>
          </a:xfrm>
          <a:prstGeom prst="rect">
            <a:avLst/>
          </a:prstGeom>
          <a:noFill/>
          <a:ln/>
        </p:spPr>
        <p:txBody>
          <a:bodyPr wrap="square" lIns="0" tIns="0" rIns="0" bIns="0" rtlCol="0" anchor="ctr"/>
          <a:lstStyle/>
          <a:p>
            <a:pPr marL="0" indent="0">
              <a:lnSpc>
                <a:spcPts val="1900"/>
              </a:lnSpc>
              <a:buNone/>
            </a:pPr>
            <a:r>
              <a:rPr lang="en-US" sz="1550" b="1" dirty="0">
                <a:solidFill>
                  <a:srgbClr val="0E131B"/>
                </a:solidFill>
                <a:latin typeface="Cambria" pitchFamily="34" charset="0"/>
                <a:ea typeface="Cambria" pitchFamily="34" charset="-122"/>
                <a:cs typeface="Cambria" pitchFamily="34" charset="-120"/>
              </a:rPr>
              <a:t>Scale does not confer representativeness</a:t>
            </a:r>
            <a:endParaRPr lang="en-US" sz="1550" dirty="0"/>
          </a:p>
        </p:txBody>
      </p:sp>
      <p:sp>
        <p:nvSpPr>
          <p:cNvPr id="9" name="Text 7"/>
          <p:cNvSpPr txBox="1"/>
          <p:nvPr/>
        </p:nvSpPr>
        <p:spPr>
          <a:xfrm>
            <a:off x="932688" y="2167128"/>
            <a:ext cx="4710532" cy="804672"/>
          </a:xfrm>
          <a:prstGeom prst="rect">
            <a:avLst/>
          </a:prstGeom>
          <a:noFill/>
          <a:ln/>
        </p:spPr>
        <p:txBody>
          <a:bodyPr wrap="square" lIns="0" tIns="0" rIns="0" bIns="0" rtlCol="0" anchor="ctr"/>
          <a:lstStyle/>
          <a:p>
            <a:pPr marL="0" indent="0">
              <a:lnSpc>
                <a:spcPts val="1500"/>
              </a:lnSpc>
              <a:buNone/>
            </a:pPr>
            <a:r>
              <a:rPr lang="en-US" sz="1150" dirty="0">
                <a:solidFill>
                  <a:srgbClr val="5B6474"/>
                </a:solidFill>
                <a:latin typeface="Calibri" pitchFamily="34" charset="0"/>
                <a:ea typeface="Calibri" pitchFamily="34" charset="-122"/>
                <a:cs typeface="Calibri" pitchFamily="34" charset="-120"/>
              </a:rPr>
              <a:t>A very large web corpus is not a sample of humanity. It overrepresents the already-connected, the already-published and the already-dominant. Size is being used as a proxy for coverage, and it is a bad one.</a:t>
            </a:r>
            <a:endParaRPr lang="en-US" sz="1150" dirty="0"/>
          </a:p>
        </p:txBody>
      </p:sp>
      <p:sp>
        <p:nvSpPr>
          <p:cNvPr id="10" name="Shape 8"/>
          <p:cNvSpPr/>
          <p:nvPr/>
        </p:nvSpPr>
        <p:spPr>
          <a:xfrm>
            <a:off x="6255868" y="1325880"/>
            <a:ext cx="5295748" cy="1737360"/>
          </a:xfrm>
          <a:prstGeom prst="roundRect">
            <a:avLst>
              <a:gd name="adj" fmla="val 4211"/>
            </a:avLst>
          </a:prstGeom>
          <a:solidFill>
            <a:srgbClr val="F8EBF2"/>
          </a:solidFill>
          <a:ln w="12700">
            <a:solidFill>
              <a:srgbClr val="F8EBF2"/>
            </a:solidFill>
            <a:prstDash val="solid"/>
          </a:ln>
        </p:spPr>
        <p:txBody>
          <a:bodyPr/>
          <a:lstStyle/>
          <a:p>
            <a:endParaRPr lang="en-US"/>
          </a:p>
        </p:txBody>
      </p:sp>
      <p:sp>
        <p:nvSpPr>
          <p:cNvPr id="11" name="Shape 9"/>
          <p:cNvSpPr/>
          <p:nvPr/>
        </p:nvSpPr>
        <p:spPr>
          <a:xfrm>
            <a:off x="6548476" y="1563624"/>
            <a:ext cx="347472" cy="347472"/>
          </a:xfrm>
          <a:prstGeom prst="ellipse">
            <a:avLst/>
          </a:prstGeom>
          <a:solidFill>
            <a:srgbClr val="9C3D6E"/>
          </a:solidFill>
          <a:ln/>
        </p:spPr>
        <p:txBody>
          <a:bodyPr/>
          <a:lstStyle/>
          <a:p>
            <a:endParaRPr lang="en-US"/>
          </a:p>
        </p:txBody>
      </p:sp>
      <p:sp>
        <p:nvSpPr>
          <p:cNvPr id="12" name="Text 10"/>
          <p:cNvSpPr txBox="1"/>
          <p:nvPr/>
        </p:nvSpPr>
        <p:spPr>
          <a:xfrm>
            <a:off x="6548476" y="1563624"/>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7033108" y="1545336"/>
            <a:ext cx="4244188" cy="566928"/>
          </a:xfrm>
          <a:prstGeom prst="rect">
            <a:avLst/>
          </a:prstGeom>
          <a:noFill/>
          <a:ln/>
        </p:spPr>
        <p:txBody>
          <a:bodyPr wrap="square" lIns="0" tIns="0" rIns="0" bIns="0" rtlCol="0" anchor="ctr"/>
          <a:lstStyle/>
          <a:p>
            <a:pPr marL="0" indent="0">
              <a:lnSpc>
                <a:spcPts val="1900"/>
              </a:lnSpc>
              <a:buNone/>
            </a:pPr>
            <a:r>
              <a:rPr lang="en-US" sz="1550" b="1" dirty="0">
                <a:solidFill>
                  <a:srgbClr val="0E131B"/>
                </a:solidFill>
                <a:latin typeface="Cambria" pitchFamily="34" charset="0"/>
                <a:ea typeface="Cambria" pitchFamily="34" charset="-122"/>
                <a:cs typeface="Cambria" pitchFamily="34" charset="-120"/>
              </a:rPr>
              <a:t>Filtering narrows it again</a:t>
            </a:r>
            <a:endParaRPr lang="en-US" sz="1550" dirty="0"/>
          </a:p>
        </p:txBody>
      </p:sp>
      <p:sp>
        <p:nvSpPr>
          <p:cNvPr id="14" name="Text 12"/>
          <p:cNvSpPr txBox="1"/>
          <p:nvPr/>
        </p:nvSpPr>
        <p:spPr>
          <a:xfrm>
            <a:off x="6548476" y="2167128"/>
            <a:ext cx="4710532" cy="804672"/>
          </a:xfrm>
          <a:prstGeom prst="rect">
            <a:avLst/>
          </a:prstGeom>
          <a:noFill/>
          <a:ln/>
        </p:spPr>
        <p:txBody>
          <a:bodyPr wrap="square" lIns="0" tIns="0" rIns="0" bIns="0" rtlCol="0" anchor="ctr"/>
          <a:lstStyle/>
          <a:p>
            <a:pPr marL="0" indent="0">
              <a:lnSpc>
                <a:spcPts val="1500"/>
              </a:lnSpc>
              <a:buNone/>
            </a:pPr>
            <a:r>
              <a:rPr lang="en-US" sz="1150" dirty="0">
                <a:solidFill>
                  <a:srgbClr val="5B6474"/>
                </a:solidFill>
                <a:latin typeface="Calibri" pitchFamily="34" charset="0"/>
                <a:ea typeface="Calibri" pitchFamily="34" charset="-122"/>
                <a:cs typeface="Calibri" pitchFamily="34" charset="-120"/>
              </a:rPr>
              <a:t>Cleaning pipelines built to remove harmful content also remove the language of the communities that reclaim slurs and discuss their own lives. The filter is a second critic, and it has preferences nobody wrote down.</a:t>
            </a:r>
            <a:endParaRPr lang="en-US" sz="1150" dirty="0"/>
          </a:p>
        </p:txBody>
      </p:sp>
      <p:sp>
        <p:nvSpPr>
          <p:cNvPr id="15" name="Shape 13"/>
          <p:cNvSpPr/>
          <p:nvPr/>
        </p:nvSpPr>
        <p:spPr>
          <a:xfrm>
            <a:off x="640080" y="3246120"/>
            <a:ext cx="5295748" cy="1737360"/>
          </a:xfrm>
          <a:prstGeom prst="roundRect">
            <a:avLst>
              <a:gd name="adj" fmla="val 4211"/>
            </a:avLst>
          </a:prstGeom>
          <a:solidFill>
            <a:srgbClr val="E6F2EF"/>
          </a:solidFill>
          <a:ln w="12700">
            <a:solidFill>
              <a:srgbClr val="E6F2EF"/>
            </a:solidFill>
            <a:prstDash val="solid"/>
          </a:ln>
        </p:spPr>
        <p:txBody>
          <a:bodyPr/>
          <a:lstStyle/>
          <a:p>
            <a:endParaRPr lang="en-US"/>
          </a:p>
        </p:txBody>
      </p:sp>
      <p:sp>
        <p:nvSpPr>
          <p:cNvPr id="16" name="Shape 14"/>
          <p:cNvSpPr/>
          <p:nvPr/>
        </p:nvSpPr>
        <p:spPr>
          <a:xfrm>
            <a:off x="932688" y="3483864"/>
            <a:ext cx="347472" cy="347472"/>
          </a:xfrm>
          <a:prstGeom prst="ellipse">
            <a:avLst/>
          </a:prstGeom>
          <a:solidFill>
            <a:srgbClr val="1F7A6B"/>
          </a:solidFill>
          <a:ln/>
        </p:spPr>
        <p:txBody>
          <a:bodyPr/>
          <a:lstStyle/>
          <a:p>
            <a:endParaRPr lang="en-US"/>
          </a:p>
        </p:txBody>
      </p:sp>
      <p:sp>
        <p:nvSpPr>
          <p:cNvPr id="17" name="Text 15"/>
          <p:cNvSpPr txBox="1"/>
          <p:nvPr/>
        </p:nvSpPr>
        <p:spPr>
          <a:xfrm>
            <a:off x="932688" y="3483864"/>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1417320" y="3465576"/>
            <a:ext cx="4244188" cy="566928"/>
          </a:xfrm>
          <a:prstGeom prst="rect">
            <a:avLst/>
          </a:prstGeom>
          <a:noFill/>
          <a:ln/>
        </p:spPr>
        <p:txBody>
          <a:bodyPr wrap="square" lIns="0" tIns="0" rIns="0" bIns="0" rtlCol="0" anchor="ctr"/>
          <a:lstStyle/>
          <a:p>
            <a:pPr marL="0" indent="0">
              <a:lnSpc>
                <a:spcPts val="1900"/>
              </a:lnSpc>
              <a:buNone/>
            </a:pPr>
            <a:r>
              <a:rPr lang="en-US" sz="1550" b="1" dirty="0">
                <a:solidFill>
                  <a:srgbClr val="0E131B"/>
                </a:solidFill>
                <a:latin typeface="Cambria" pitchFamily="34" charset="0"/>
                <a:ea typeface="Cambria" pitchFamily="34" charset="-122"/>
                <a:cs typeface="Cambria" pitchFamily="34" charset="-120"/>
              </a:rPr>
              <a:t>The snapshot is frozen</a:t>
            </a:r>
            <a:endParaRPr lang="en-US" sz="1550" dirty="0"/>
          </a:p>
        </p:txBody>
      </p:sp>
      <p:sp>
        <p:nvSpPr>
          <p:cNvPr id="19" name="Text 17"/>
          <p:cNvSpPr txBox="1"/>
          <p:nvPr/>
        </p:nvSpPr>
        <p:spPr>
          <a:xfrm>
            <a:off x="932688" y="4087368"/>
            <a:ext cx="4710532" cy="804672"/>
          </a:xfrm>
          <a:prstGeom prst="rect">
            <a:avLst/>
          </a:prstGeom>
          <a:noFill/>
          <a:ln/>
        </p:spPr>
        <p:txBody>
          <a:bodyPr wrap="square" lIns="0" tIns="0" rIns="0" bIns="0" rtlCol="0" anchor="ctr"/>
          <a:lstStyle/>
          <a:p>
            <a:pPr marL="0" indent="0">
              <a:lnSpc>
                <a:spcPts val="1500"/>
              </a:lnSpc>
              <a:buNone/>
            </a:pPr>
            <a:r>
              <a:rPr lang="en-US" sz="1150" dirty="0">
                <a:solidFill>
                  <a:srgbClr val="5B6474"/>
                </a:solidFill>
                <a:latin typeface="Calibri" pitchFamily="34" charset="0"/>
                <a:ea typeface="Calibri" pitchFamily="34" charset="-122"/>
                <a:cs typeface="Calibri" pitchFamily="34" charset="-120"/>
              </a:rPr>
              <a:t>A corpus captures the world as it was during collection. Movements that change how people speak arrive after the freeze. The model keeps producing the earlier distribution — what the authors call value lock.</a:t>
            </a:r>
            <a:endParaRPr lang="en-US" sz="1150" dirty="0"/>
          </a:p>
        </p:txBody>
      </p:sp>
      <p:sp>
        <p:nvSpPr>
          <p:cNvPr id="20" name="Shape 18"/>
          <p:cNvSpPr/>
          <p:nvPr/>
        </p:nvSpPr>
        <p:spPr>
          <a:xfrm>
            <a:off x="6255868" y="3246120"/>
            <a:ext cx="5295748" cy="1737360"/>
          </a:xfrm>
          <a:prstGeom prst="roundRect">
            <a:avLst>
              <a:gd name="adj" fmla="val 4211"/>
            </a:avLst>
          </a:prstGeom>
          <a:solidFill>
            <a:srgbClr val="F8EBF2"/>
          </a:solidFill>
          <a:ln w="12700">
            <a:solidFill>
              <a:srgbClr val="F8EBF2"/>
            </a:solidFill>
            <a:prstDash val="solid"/>
          </a:ln>
        </p:spPr>
        <p:txBody>
          <a:bodyPr/>
          <a:lstStyle/>
          <a:p>
            <a:endParaRPr lang="en-US"/>
          </a:p>
        </p:txBody>
      </p:sp>
      <p:sp>
        <p:nvSpPr>
          <p:cNvPr id="21" name="Shape 19"/>
          <p:cNvSpPr/>
          <p:nvPr/>
        </p:nvSpPr>
        <p:spPr>
          <a:xfrm>
            <a:off x="6548476" y="3483864"/>
            <a:ext cx="347472" cy="347472"/>
          </a:xfrm>
          <a:prstGeom prst="ellipse">
            <a:avLst/>
          </a:prstGeom>
          <a:solidFill>
            <a:srgbClr val="9C3D6E"/>
          </a:solidFill>
          <a:ln/>
        </p:spPr>
        <p:txBody>
          <a:bodyPr/>
          <a:lstStyle/>
          <a:p>
            <a:endParaRPr lang="en-US"/>
          </a:p>
        </p:txBody>
      </p:sp>
      <p:sp>
        <p:nvSpPr>
          <p:cNvPr id="22" name="Text 20"/>
          <p:cNvSpPr txBox="1"/>
          <p:nvPr/>
        </p:nvSpPr>
        <p:spPr>
          <a:xfrm>
            <a:off x="6548476" y="3483864"/>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3" name="Text 21"/>
          <p:cNvSpPr txBox="1"/>
          <p:nvPr/>
        </p:nvSpPr>
        <p:spPr>
          <a:xfrm>
            <a:off x="7033108" y="3465576"/>
            <a:ext cx="4244188" cy="566928"/>
          </a:xfrm>
          <a:prstGeom prst="rect">
            <a:avLst/>
          </a:prstGeom>
          <a:noFill/>
          <a:ln/>
        </p:spPr>
        <p:txBody>
          <a:bodyPr wrap="square" lIns="0" tIns="0" rIns="0" bIns="0" rtlCol="0" anchor="ctr"/>
          <a:lstStyle/>
          <a:p>
            <a:pPr marL="0" indent="0">
              <a:lnSpc>
                <a:spcPts val="1900"/>
              </a:lnSpc>
              <a:buNone/>
            </a:pPr>
            <a:r>
              <a:rPr lang="en-US" sz="1550" b="1" dirty="0">
                <a:solidFill>
                  <a:srgbClr val="0E131B"/>
                </a:solidFill>
                <a:latin typeface="Cambria" pitchFamily="34" charset="0"/>
                <a:ea typeface="Cambria" pitchFamily="34" charset="-122"/>
                <a:cs typeface="Cambria" pitchFamily="34" charset="-120"/>
              </a:rPr>
              <a:t>And fluency reads as understanding</a:t>
            </a:r>
            <a:endParaRPr lang="en-US" sz="1550" dirty="0"/>
          </a:p>
        </p:txBody>
      </p:sp>
      <p:sp>
        <p:nvSpPr>
          <p:cNvPr id="24" name="Text 22"/>
          <p:cNvSpPr txBox="1"/>
          <p:nvPr/>
        </p:nvSpPr>
        <p:spPr>
          <a:xfrm>
            <a:off x="6548476" y="4087368"/>
            <a:ext cx="4710532" cy="804672"/>
          </a:xfrm>
          <a:prstGeom prst="rect">
            <a:avLst/>
          </a:prstGeom>
          <a:noFill/>
          <a:ln/>
        </p:spPr>
        <p:txBody>
          <a:bodyPr wrap="square" lIns="0" tIns="0" rIns="0" bIns="0" rtlCol="0" anchor="ctr"/>
          <a:lstStyle/>
          <a:p>
            <a:pPr marL="0" indent="0">
              <a:lnSpc>
                <a:spcPts val="1500"/>
              </a:lnSpc>
              <a:buNone/>
            </a:pPr>
            <a:r>
              <a:rPr lang="en-US" sz="1150" dirty="0">
                <a:solidFill>
                  <a:srgbClr val="5B6474"/>
                </a:solidFill>
                <a:latin typeface="Calibri" pitchFamily="34" charset="0"/>
                <a:ea typeface="Calibri" pitchFamily="34" charset="-122"/>
                <a:cs typeface="Calibri" pitchFamily="34" charset="-120"/>
              </a:rPr>
              <a:t>Output is coherent because we supply the coherence. Form is stitched together from observed patterns without reference to meaning, and a reader’s interpretive generosity finishes the job.</a:t>
            </a:r>
            <a:endParaRPr lang="en-US" sz="1150" dirty="0"/>
          </a:p>
        </p:txBody>
      </p:sp>
      <p:sp>
        <p:nvSpPr>
          <p:cNvPr id="25" name="Shape 23"/>
          <p:cNvSpPr/>
          <p:nvPr/>
        </p:nvSpPr>
        <p:spPr>
          <a:xfrm>
            <a:off x="640080" y="5212080"/>
            <a:ext cx="10911535" cy="1005840"/>
          </a:xfrm>
          <a:prstGeom prst="roundRect">
            <a:avLst>
              <a:gd name="adj" fmla="val 7273"/>
            </a:avLst>
          </a:prstGeom>
          <a:solidFill>
            <a:srgbClr val="0E131B"/>
          </a:solidFill>
          <a:ln w="12700">
            <a:solidFill>
              <a:srgbClr val="0E131B"/>
            </a:solidFill>
            <a:prstDash val="solid"/>
          </a:ln>
        </p:spPr>
        <p:txBody>
          <a:bodyPr/>
          <a:lstStyle/>
          <a:p>
            <a:endParaRPr lang="en-US"/>
          </a:p>
        </p:txBody>
      </p:sp>
      <p:sp>
        <p:nvSpPr>
          <p:cNvPr id="26" name="Text 24"/>
          <p:cNvSpPr txBox="1"/>
          <p:nvPr/>
        </p:nvSpPr>
        <p:spPr>
          <a:xfrm>
            <a:off x="978131" y="5262867"/>
            <a:ext cx="10424160" cy="274320"/>
          </a:xfrm>
          <a:prstGeom prst="rect">
            <a:avLst/>
          </a:prstGeom>
          <a:noFill/>
          <a:ln/>
        </p:spPr>
        <p:txBody>
          <a:bodyPr wrap="square" lIns="0" tIns="0" rIns="0" bIns="0" rtlCol="0" anchor="ctr"/>
          <a:lstStyle/>
          <a:p>
            <a:pPr marL="0" indent="0">
              <a:buNone/>
            </a:pPr>
            <a:r>
              <a:rPr lang="en-US" sz="1150" b="1" kern="0" spc="140" dirty="0">
                <a:solidFill>
                  <a:srgbClr val="DFA9C4"/>
                </a:solidFill>
                <a:latin typeface="Calibri" pitchFamily="34" charset="0"/>
                <a:ea typeface="Calibri" pitchFamily="34" charset="-122"/>
                <a:cs typeface="Calibri" pitchFamily="34" charset="-120"/>
              </a:rPr>
              <a:t>What the paper is and is not arguing</a:t>
            </a:r>
            <a:endParaRPr lang="en-US" sz="1150" dirty="0"/>
          </a:p>
        </p:txBody>
      </p:sp>
      <p:sp>
        <p:nvSpPr>
          <p:cNvPr id="27" name="Text 25"/>
          <p:cNvSpPr txBox="1"/>
          <p:nvPr/>
        </p:nvSpPr>
        <p:spPr>
          <a:xfrm>
            <a:off x="1005840" y="5705856"/>
            <a:ext cx="10424160" cy="347472"/>
          </a:xfrm>
          <a:prstGeom prst="rect">
            <a:avLst/>
          </a:prstGeom>
          <a:noFill/>
          <a:ln/>
        </p:spPr>
        <p:txBody>
          <a:bodyPr wrap="square" lIns="0" tIns="0" rIns="0" bIns="0" rtlCol="0" anchor="ctr"/>
          <a:lstStyle/>
          <a:p>
            <a:pPr marL="0" indent="0">
              <a:lnSpc>
                <a:spcPts val="2000"/>
              </a:lnSpc>
              <a:buNone/>
            </a:pPr>
            <a:r>
              <a:rPr lang="en-US" sz="1500" dirty="0">
                <a:solidFill>
                  <a:srgbClr val="F2F4F8"/>
                </a:solidFill>
                <a:latin typeface="Cambria" pitchFamily="34" charset="0"/>
                <a:ea typeface="Cambria" pitchFamily="34" charset="-122"/>
                <a:cs typeface="Cambria" pitchFamily="34" charset="-120"/>
              </a:rPr>
              <a:t>It is an argument about data, documentation, cost and accountability, with concrete recommendations — datasheets, data statements, budgeting for curation. It is not a claim about an optimiser collapsing. Keep the two separate for the next forty minutes.</a:t>
            </a:r>
            <a:endParaRPr lang="en-US" sz="1500" dirty="0"/>
          </a:p>
        </p:txBody>
      </p:sp>
      <p:sp>
        <p:nvSpPr>
          <p:cNvPr id="28" name="Text 26"/>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B6474"/>
                </a:solidFill>
                <a:latin typeface="Calibri" pitchFamily="34" charset="0"/>
                <a:ea typeface="Calibri" pitchFamily="34" charset="-122"/>
                <a:cs typeface="Calibri" pitchFamily="34" charset="-120"/>
              </a:rPr>
              <a:t>Bender, Gebru, McMillan-Major and Shmitchell, “On the Dangers of Stochastic Parrots: Can Language Models Be Too Big?” FAccT 2021.</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9C3D6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RUHA BENJAMIN</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0E131B"/>
                </a:solidFill>
                <a:latin typeface="Cambria" pitchFamily="34" charset="0"/>
                <a:ea typeface="Cambria" pitchFamily="34" charset="-122"/>
                <a:cs typeface="Cambria" pitchFamily="34" charset="-120"/>
              </a:rPr>
              <a:t>The New Jim Code, and the defence of the default</a:t>
            </a:r>
            <a:endParaRPr lang="en-US" sz="2900" dirty="0"/>
          </a:p>
        </p:txBody>
      </p:sp>
      <p:sp>
        <p:nvSpPr>
          <p:cNvPr id="5" name="Shape 3"/>
          <p:cNvSpPr/>
          <p:nvPr/>
        </p:nvSpPr>
        <p:spPr>
          <a:xfrm>
            <a:off x="640080" y="1325880"/>
            <a:ext cx="5852160" cy="2011680"/>
          </a:xfrm>
          <a:prstGeom prst="roundRect">
            <a:avLst>
              <a:gd name="adj" fmla="val 3636"/>
            </a:avLst>
          </a:prstGeom>
          <a:solidFill>
            <a:srgbClr val="0E131B"/>
          </a:solidFill>
          <a:ln w="12700">
            <a:solidFill>
              <a:srgbClr val="0E131B"/>
            </a:solidFill>
            <a:prstDash val="solid"/>
          </a:ln>
        </p:spPr>
        <p:txBody>
          <a:bodyPr/>
          <a:lstStyle/>
          <a:p>
            <a:endParaRPr lang="en-US"/>
          </a:p>
        </p:txBody>
      </p:sp>
      <p:sp>
        <p:nvSpPr>
          <p:cNvPr id="6" name="Text 4"/>
          <p:cNvSpPr txBox="1"/>
          <p:nvPr/>
        </p:nvSpPr>
        <p:spPr>
          <a:xfrm>
            <a:off x="1005840" y="1490472"/>
            <a:ext cx="5120640" cy="292608"/>
          </a:xfrm>
          <a:prstGeom prst="rect">
            <a:avLst/>
          </a:prstGeom>
          <a:noFill/>
          <a:ln/>
        </p:spPr>
        <p:txBody>
          <a:bodyPr wrap="square" lIns="0" tIns="0" rIns="0" bIns="0" rtlCol="0" anchor="ctr"/>
          <a:lstStyle/>
          <a:p>
            <a:pPr marL="0" indent="0">
              <a:buNone/>
            </a:pPr>
            <a:r>
              <a:rPr lang="en-US" sz="1150" b="1" kern="0" spc="140" dirty="0">
                <a:solidFill>
                  <a:srgbClr val="DFA9C4"/>
                </a:solidFill>
                <a:latin typeface="Calibri" pitchFamily="34" charset="0"/>
                <a:ea typeface="Calibri" pitchFamily="34" charset="-122"/>
                <a:cs typeface="Calibri" pitchFamily="34" charset="-120"/>
              </a:rPr>
              <a:t>The central term</a:t>
            </a:r>
            <a:endParaRPr lang="en-US" sz="1150" dirty="0"/>
          </a:p>
        </p:txBody>
      </p:sp>
      <p:sp>
        <p:nvSpPr>
          <p:cNvPr id="7" name="Text 5"/>
          <p:cNvSpPr txBox="1"/>
          <p:nvPr/>
        </p:nvSpPr>
        <p:spPr>
          <a:xfrm>
            <a:off x="1005840" y="1874520"/>
            <a:ext cx="5166360" cy="1325880"/>
          </a:xfrm>
          <a:prstGeom prst="rect">
            <a:avLst/>
          </a:prstGeom>
          <a:noFill/>
          <a:ln/>
        </p:spPr>
        <p:txBody>
          <a:bodyPr wrap="square" lIns="0" tIns="0" rIns="0" bIns="0" rtlCol="0" anchor="ctr"/>
          <a:lstStyle/>
          <a:p>
            <a:pPr marL="0" indent="0">
              <a:lnSpc>
                <a:spcPts val="2000"/>
              </a:lnSpc>
              <a:buNone/>
            </a:pPr>
            <a:r>
              <a:rPr lang="en-US" sz="1450" dirty="0">
                <a:solidFill>
                  <a:srgbClr val="F2F4F8"/>
                </a:solidFill>
                <a:latin typeface="Cambria" pitchFamily="34" charset="0"/>
                <a:ea typeface="Cambria" pitchFamily="34" charset="-122"/>
                <a:cs typeface="Cambria" pitchFamily="34" charset="-120"/>
              </a:rPr>
              <a:t>The New Jim Code: new technologies that reproduce existing inequities while being promoted and perceived as more objective or progressive than the discriminatory systems they replace. The claim to neutrality is part of the mechanism, not separate from it.</a:t>
            </a:r>
            <a:endParaRPr lang="en-US" sz="1450" dirty="0"/>
          </a:p>
        </p:txBody>
      </p:sp>
      <p:sp>
        <p:nvSpPr>
          <p:cNvPr id="8" name="Shape 6"/>
          <p:cNvSpPr/>
          <p:nvPr/>
        </p:nvSpPr>
        <p:spPr>
          <a:xfrm>
            <a:off x="6812280" y="1325880"/>
            <a:ext cx="4718304" cy="1170432"/>
          </a:xfrm>
          <a:prstGeom prst="roundRect">
            <a:avLst>
              <a:gd name="adj" fmla="val 6250"/>
            </a:avLst>
          </a:prstGeom>
          <a:solidFill>
            <a:srgbClr val="E6F2EF"/>
          </a:solidFill>
          <a:ln w="12700">
            <a:solidFill>
              <a:srgbClr val="E6F2EF"/>
            </a:solidFill>
            <a:prstDash val="solid"/>
          </a:ln>
        </p:spPr>
        <p:txBody>
          <a:bodyPr/>
          <a:lstStyle/>
          <a:p>
            <a:endParaRPr lang="en-US"/>
          </a:p>
        </p:txBody>
      </p:sp>
      <p:sp>
        <p:nvSpPr>
          <p:cNvPr id="9" name="Text 7"/>
          <p:cNvSpPr txBox="1"/>
          <p:nvPr/>
        </p:nvSpPr>
        <p:spPr>
          <a:xfrm>
            <a:off x="7086600" y="1453896"/>
            <a:ext cx="4169664" cy="292608"/>
          </a:xfrm>
          <a:prstGeom prst="rect">
            <a:avLst/>
          </a:prstGeom>
          <a:noFill/>
          <a:ln/>
        </p:spPr>
        <p:txBody>
          <a:bodyPr wrap="square" lIns="0" tIns="0" rIns="0" bIns="0" rtlCol="0" anchor="ctr"/>
          <a:lstStyle/>
          <a:p>
            <a:pPr marL="0" indent="0">
              <a:buNone/>
            </a:pPr>
            <a:r>
              <a:rPr lang="en-US" sz="1400" b="1" dirty="0">
                <a:solidFill>
                  <a:srgbClr val="0E131B"/>
                </a:solidFill>
                <a:latin typeface="Cambria" pitchFamily="34" charset="0"/>
                <a:ea typeface="Cambria" pitchFamily="34" charset="-122"/>
                <a:cs typeface="Cambria" pitchFamily="34" charset="-120"/>
              </a:rPr>
              <a:t>Default discrimination</a:t>
            </a:r>
            <a:endParaRPr lang="en-US" sz="1400" dirty="0"/>
          </a:p>
        </p:txBody>
      </p:sp>
      <p:sp>
        <p:nvSpPr>
          <p:cNvPr id="10" name="Text 8"/>
          <p:cNvSpPr txBox="1"/>
          <p:nvPr/>
        </p:nvSpPr>
        <p:spPr>
          <a:xfrm>
            <a:off x="7086600" y="1783080"/>
            <a:ext cx="4169664" cy="640080"/>
          </a:xfrm>
          <a:prstGeom prst="rect">
            <a:avLst/>
          </a:prstGeom>
          <a:noFill/>
          <a:ln/>
        </p:spPr>
        <p:txBody>
          <a:bodyPr wrap="square" lIns="0" tIns="0" rIns="0" bIns="0" rtlCol="0" anchor="ctr"/>
          <a:lstStyle/>
          <a:p>
            <a:pPr marL="0" indent="0">
              <a:lnSpc>
                <a:spcPts val="1400"/>
              </a:lnSpc>
              <a:buNone/>
            </a:pPr>
            <a:r>
              <a:rPr lang="en-US" sz="1100" dirty="0">
                <a:solidFill>
                  <a:srgbClr val="5B6474"/>
                </a:solidFill>
                <a:latin typeface="Calibri" pitchFamily="34" charset="0"/>
                <a:ea typeface="Calibri" pitchFamily="34" charset="-122"/>
                <a:cs typeface="Calibri" pitchFamily="34" charset="-120"/>
              </a:rPr>
              <a:t>Systems reproduce inequity without anyone intending it, because they inherit a social terrain and treat its current arrangement as the baseline. The default is never neutral; it is a position that has stopped being visible as one.</a:t>
            </a:r>
            <a:endParaRPr lang="en-US" sz="1100" dirty="0"/>
          </a:p>
        </p:txBody>
      </p:sp>
      <p:sp>
        <p:nvSpPr>
          <p:cNvPr id="11" name="Shape 9"/>
          <p:cNvSpPr/>
          <p:nvPr/>
        </p:nvSpPr>
        <p:spPr>
          <a:xfrm>
            <a:off x="6812280" y="2578608"/>
            <a:ext cx="4718304" cy="1170432"/>
          </a:xfrm>
          <a:prstGeom prst="roundRect">
            <a:avLst>
              <a:gd name="adj" fmla="val 6250"/>
            </a:avLst>
          </a:prstGeom>
          <a:solidFill>
            <a:srgbClr val="E6F2EF"/>
          </a:solidFill>
          <a:ln w="12700">
            <a:solidFill>
              <a:srgbClr val="E6F2EF"/>
            </a:solidFill>
            <a:prstDash val="solid"/>
          </a:ln>
        </p:spPr>
        <p:txBody>
          <a:bodyPr/>
          <a:lstStyle/>
          <a:p>
            <a:endParaRPr lang="en-US"/>
          </a:p>
        </p:txBody>
      </p:sp>
      <p:sp>
        <p:nvSpPr>
          <p:cNvPr id="12" name="Text 10"/>
          <p:cNvSpPr txBox="1"/>
          <p:nvPr/>
        </p:nvSpPr>
        <p:spPr>
          <a:xfrm>
            <a:off x="7086600" y="2706624"/>
            <a:ext cx="4169664" cy="292608"/>
          </a:xfrm>
          <a:prstGeom prst="rect">
            <a:avLst/>
          </a:prstGeom>
          <a:noFill/>
          <a:ln/>
        </p:spPr>
        <p:txBody>
          <a:bodyPr wrap="square" lIns="0" tIns="0" rIns="0" bIns="0" rtlCol="0" anchor="ctr"/>
          <a:lstStyle/>
          <a:p>
            <a:pPr marL="0" indent="0">
              <a:buNone/>
            </a:pPr>
            <a:r>
              <a:rPr lang="en-US" sz="1400" b="1" dirty="0">
                <a:solidFill>
                  <a:srgbClr val="0E131B"/>
                </a:solidFill>
                <a:latin typeface="Cambria" pitchFamily="34" charset="0"/>
                <a:ea typeface="Cambria" pitchFamily="34" charset="-122"/>
                <a:cs typeface="Cambria" pitchFamily="34" charset="-120"/>
              </a:rPr>
              <a:t>Racism is not a glitch</a:t>
            </a:r>
            <a:endParaRPr lang="en-US" sz="1400" dirty="0"/>
          </a:p>
        </p:txBody>
      </p:sp>
      <p:sp>
        <p:nvSpPr>
          <p:cNvPr id="13" name="Text 11"/>
          <p:cNvSpPr txBox="1"/>
          <p:nvPr/>
        </p:nvSpPr>
        <p:spPr>
          <a:xfrm>
            <a:off x="7086600" y="3035808"/>
            <a:ext cx="4169664" cy="640080"/>
          </a:xfrm>
          <a:prstGeom prst="rect">
            <a:avLst/>
          </a:prstGeom>
          <a:noFill/>
          <a:ln/>
        </p:spPr>
        <p:txBody>
          <a:bodyPr wrap="square" lIns="0" tIns="0" rIns="0" bIns="0" rtlCol="0" anchor="ctr"/>
          <a:lstStyle/>
          <a:p>
            <a:pPr marL="0" indent="0">
              <a:lnSpc>
                <a:spcPts val="1400"/>
              </a:lnSpc>
              <a:buNone/>
            </a:pPr>
            <a:r>
              <a:rPr lang="en-US" sz="1100" dirty="0">
                <a:solidFill>
                  <a:srgbClr val="5B6474"/>
                </a:solidFill>
                <a:latin typeface="Calibri" pitchFamily="34" charset="0"/>
                <a:ea typeface="Calibri" pitchFamily="34" charset="-122"/>
                <a:cs typeface="Calibri" pitchFamily="34" charset="-120"/>
              </a:rPr>
              <a:t>Benjamin rejects the framing in which discriminatory output is a malfunction to be patched. A system producing unequal outcomes may be working precisely as built, on the materials it was given.</a:t>
            </a:r>
            <a:endParaRPr lang="en-US" sz="1100" dirty="0"/>
          </a:p>
        </p:txBody>
      </p:sp>
      <p:sp>
        <p:nvSpPr>
          <p:cNvPr id="14" name="Shape 12"/>
          <p:cNvSpPr/>
          <p:nvPr/>
        </p:nvSpPr>
        <p:spPr>
          <a:xfrm>
            <a:off x="6812280" y="3831336"/>
            <a:ext cx="4718304" cy="1170432"/>
          </a:xfrm>
          <a:prstGeom prst="roundRect">
            <a:avLst>
              <a:gd name="adj" fmla="val 6250"/>
            </a:avLst>
          </a:prstGeom>
          <a:solidFill>
            <a:srgbClr val="F8EBF2"/>
          </a:solidFill>
          <a:ln w="12700">
            <a:solidFill>
              <a:srgbClr val="F8EBF2"/>
            </a:solidFill>
            <a:prstDash val="solid"/>
          </a:ln>
        </p:spPr>
        <p:txBody>
          <a:bodyPr/>
          <a:lstStyle/>
          <a:p>
            <a:endParaRPr lang="en-US"/>
          </a:p>
        </p:txBody>
      </p:sp>
      <p:sp>
        <p:nvSpPr>
          <p:cNvPr id="15" name="Text 13"/>
          <p:cNvSpPr txBox="1"/>
          <p:nvPr/>
        </p:nvSpPr>
        <p:spPr>
          <a:xfrm>
            <a:off x="7086600" y="3959352"/>
            <a:ext cx="4169664" cy="292608"/>
          </a:xfrm>
          <a:prstGeom prst="rect">
            <a:avLst/>
          </a:prstGeom>
          <a:noFill/>
          <a:ln/>
        </p:spPr>
        <p:txBody>
          <a:bodyPr wrap="square" lIns="0" tIns="0" rIns="0" bIns="0" rtlCol="0" anchor="ctr"/>
          <a:lstStyle/>
          <a:p>
            <a:pPr marL="0" indent="0">
              <a:buNone/>
            </a:pPr>
            <a:r>
              <a:rPr lang="en-US" sz="1400" b="1" dirty="0">
                <a:solidFill>
                  <a:srgbClr val="9C3D6E"/>
                </a:solidFill>
                <a:latin typeface="Cambria" pitchFamily="34" charset="0"/>
                <a:ea typeface="Cambria" pitchFamily="34" charset="-122"/>
                <a:cs typeface="Cambria" pitchFamily="34" charset="-120"/>
              </a:rPr>
              <a:t>Which should sound familiar</a:t>
            </a:r>
            <a:endParaRPr lang="en-US" sz="1400" dirty="0"/>
          </a:p>
        </p:txBody>
      </p:sp>
      <p:sp>
        <p:nvSpPr>
          <p:cNvPr id="16" name="Text 14"/>
          <p:cNvSpPr txBox="1"/>
          <p:nvPr/>
        </p:nvSpPr>
        <p:spPr>
          <a:xfrm>
            <a:off x="7086600" y="4288536"/>
            <a:ext cx="4169664" cy="640080"/>
          </a:xfrm>
          <a:prstGeom prst="rect">
            <a:avLst/>
          </a:prstGeom>
          <a:noFill/>
          <a:ln/>
        </p:spPr>
        <p:txBody>
          <a:bodyPr wrap="square" lIns="0" tIns="0" rIns="0" bIns="0" rtlCol="0" anchor="ctr"/>
          <a:lstStyle/>
          <a:p>
            <a:pPr marL="0" indent="0">
              <a:lnSpc>
                <a:spcPts val="1400"/>
              </a:lnSpc>
              <a:buNone/>
            </a:pPr>
            <a:r>
              <a:rPr lang="en-US" sz="1100" dirty="0">
                <a:solidFill>
                  <a:srgbClr val="5B6474"/>
                </a:solidFill>
                <a:latin typeface="Calibri" pitchFamily="34" charset="0"/>
                <a:ea typeface="Calibri" pitchFamily="34" charset="-122"/>
                <a:cs typeface="Calibri" pitchFamily="34" charset="-120"/>
              </a:rPr>
              <a:t>It has not broken. It is succeeding. That sentence is the instructor’s description of a collapsed generator and it is also, in a different register and with a different politics behind it, Benjamin’s argument about technology.</a:t>
            </a:r>
            <a:endParaRPr lang="en-US" sz="1100" dirty="0"/>
          </a:p>
        </p:txBody>
      </p:sp>
      <p:sp>
        <p:nvSpPr>
          <p:cNvPr id="17" name="Shape 15"/>
          <p:cNvSpPr/>
          <p:nvPr/>
        </p:nvSpPr>
        <p:spPr>
          <a:xfrm>
            <a:off x="6812280" y="5084064"/>
            <a:ext cx="4718304" cy="1170432"/>
          </a:xfrm>
          <a:prstGeom prst="roundRect">
            <a:avLst>
              <a:gd name="adj" fmla="val 6250"/>
            </a:avLst>
          </a:prstGeom>
          <a:solidFill>
            <a:srgbClr val="E6F2EF"/>
          </a:solidFill>
          <a:ln w="12700">
            <a:solidFill>
              <a:srgbClr val="E6F2EF"/>
            </a:solidFill>
            <a:prstDash val="solid"/>
          </a:ln>
        </p:spPr>
        <p:txBody>
          <a:bodyPr/>
          <a:lstStyle/>
          <a:p>
            <a:endParaRPr lang="en-US"/>
          </a:p>
        </p:txBody>
      </p:sp>
      <p:sp>
        <p:nvSpPr>
          <p:cNvPr id="18" name="Text 16"/>
          <p:cNvSpPr txBox="1"/>
          <p:nvPr/>
        </p:nvSpPr>
        <p:spPr>
          <a:xfrm>
            <a:off x="7086600" y="5212080"/>
            <a:ext cx="4169664" cy="292608"/>
          </a:xfrm>
          <a:prstGeom prst="rect">
            <a:avLst/>
          </a:prstGeom>
          <a:noFill/>
          <a:ln/>
        </p:spPr>
        <p:txBody>
          <a:bodyPr wrap="square" lIns="0" tIns="0" rIns="0" bIns="0" rtlCol="0" anchor="ctr"/>
          <a:lstStyle/>
          <a:p>
            <a:pPr marL="0" indent="0">
              <a:buNone/>
            </a:pPr>
            <a:r>
              <a:rPr lang="en-US" sz="1400" b="1" dirty="0">
                <a:solidFill>
                  <a:srgbClr val="0E131B"/>
                </a:solidFill>
                <a:latin typeface="Cambria" pitchFamily="34" charset="0"/>
                <a:ea typeface="Cambria" pitchFamily="34" charset="-122"/>
                <a:cs typeface="Cambria" pitchFamily="34" charset="-120"/>
              </a:rPr>
              <a:t>And imagination is the intervention</a:t>
            </a:r>
            <a:endParaRPr lang="en-US" sz="1400" dirty="0"/>
          </a:p>
        </p:txBody>
      </p:sp>
      <p:sp>
        <p:nvSpPr>
          <p:cNvPr id="19" name="Text 17"/>
          <p:cNvSpPr txBox="1"/>
          <p:nvPr/>
        </p:nvSpPr>
        <p:spPr>
          <a:xfrm>
            <a:off x="7086600" y="5541264"/>
            <a:ext cx="4169664" cy="640080"/>
          </a:xfrm>
          <a:prstGeom prst="rect">
            <a:avLst/>
          </a:prstGeom>
          <a:noFill/>
          <a:ln/>
        </p:spPr>
        <p:txBody>
          <a:bodyPr wrap="square" lIns="0" tIns="0" rIns="0" bIns="0" rtlCol="0" anchor="ctr"/>
          <a:lstStyle/>
          <a:p>
            <a:pPr marL="0" indent="0">
              <a:lnSpc>
                <a:spcPts val="1400"/>
              </a:lnSpc>
              <a:buNone/>
            </a:pPr>
            <a:r>
              <a:rPr lang="en-US" sz="1100" dirty="0">
                <a:solidFill>
                  <a:srgbClr val="5B6474"/>
                </a:solidFill>
                <a:latin typeface="Calibri" pitchFamily="34" charset="0"/>
                <a:ea typeface="Calibri" pitchFamily="34" charset="-122"/>
                <a:cs typeface="Calibri" pitchFamily="34" charset="-120"/>
              </a:rPr>
              <a:t>Her abolitionist framing is not only diagnostic. What can be imagined constrains what gets built, so the contest over the imaginable is itself a site of action — which is a claim about narrowing that owes nothing to any optimiser.</a:t>
            </a:r>
            <a:endParaRPr lang="en-US" sz="1100" dirty="0"/>
          </a:p>
        </p:txBody>
      </p:sp>
      <p:sp>
        <p:nvSpPr>
          <p:cNvPr id="20" name="Shape 18"/>
          <p:cNvSpPr/>
          <p:nvPr/>
        </p:nvSpPr>
        <p:spPr>
          <a:xfrm>
            <a:off x="640080" y="3520440"/>
            <a:ext cx="5852160" cy="2240280"/>
          </a:xfrm>
          <a:prstGeom prst="roundRect">
            <a:avLst>
              <a:gd name="adj" fmla="val 3265"/>
            </a:avLst>
          </a:prstGeom>
          <a:solidFill>
            <a:srgbClr val="E6F2EF"/>
          </a:solidFill>
          <a:ln w="12700">
            <a:solidFill>
              <a:srgbClr val="E6F2EF"/>
            </a:solidFill>
            <a:prstDash val="solid"/>
          </a:ln>
        </p:spPr>
        <p:txBody>
          <a:bodyPr/>
          <a:lstStyle/>
          <a:p>
            <a:endParaRPr lang="en-US"/>
          </a:p>
        </p:txBody>
      </p:sp>
      <p:sp>
        <p:nvSpPr>
          <p:cNvPr id="21" name="Text 19"/>
          <p:cNvSpPr txBox="1"/>
          <p:nvPr/>
        </p:nvSpPr>
        <p:spPr>
          <a:xfrm>
            <a:off x="1005840" y="3703320"/>
            <a:ext cx="5120640" cy="310896"/>
          </a:xfrm>
          <a:prstGeom prst="rect">
            <a:avLst/>
          </a:prstGeom>
          <a:noFill/>
          <a:ln/>
        </p:spPr>
        <p:txBody>
          <a:bodyPr wrap="square" lIns="0" tIns="0" rIns="0" bIns="0" rtlCol="0" anchor="ctr"/>
          <a:lstStyle/>
          <a:p>
            <a:pPr marL="0" indent="0">
              <a:buNone/>
            </a:pPr>
            <a:r>
              <a:rPr lang="en-US" sz="1600" b="1" dirty="0">
                <a:solidFill>
                  <a:srgbClr val="0E131B"/>
                </a:solidFill>
                <a:latin typeface="Cambria" pitchFamily="34" charset="0"/>
                <a:ea typeface="Cambria" pitchFamily="34" charset="-122"/>
                <a:cs typeface="Cambria" pitchFamily="34" charset="-120"/>
              </a:rPr>
              <a:t>What her argument requires that ours does not</a:t>
            </a:r>
            <a:endParaRPr lang="en-US" sz="1600" dirty="0"/>
          </a:p>
        </p:txBody>
      </p:sp>
      <p:sp>
        <p:nvSpPr>
          <p:cNvPr id="22" name="Text 20"/>
          <p:cNvSpPr txBox="1"/>
          <p:nvPr/>
        </p:nvSpPr>
        <p:spPr>
          <a:xfrm>
            <a:off x="1005840" y="4096512"/>
            <a:ext cx="5120640" cy="1463040"/>
          </a:xfrm>
          <a:prstGeom prst="rect">
            <a:avLst/>
          </a:prstGeom>
          <a:noFill/>
          <a:ln/>
        </p:spPr>
        <p:txBody>
          <a:bodyPr wrap="square" lIns="0" tIns="0" rIns="0" bIns="0" rtlCol="0" anchor="ctr"/>
          <a:lstStyle/>
          <a:p>
            <a:pPr marL="0" indent="0">
              <a:lnSpc>
                <a:spcPts val="1700"/>
              </a:lnSpc>
              <a:buNone/>
            </a:pPr>
            <a:r>
              <a:rPr lang="en-US" sz="1250" dirty="0">
                <a:solidFill>
                  <a:srgbClr val="5B6474"/>
                </a:solidFill>
                <a:latin typeface="Calibri" pitchFamily="34" charset="0"/>
                <a:ea typeface="Calibri" pitchFamily="34" charset="-122"/>
                <a:cs typeface="Calibri" pitchFamily="34" charset="-120"/>
              </a:rPr>
              <a:t>History. Institutions. Interests. Law. People who benefit and people who are harmed, named as such. A gradient has none of these, and a story about gradients cannot supply them. If you take one thing from this slide into the next block, take that.</a:t>
            </a:r>
            <a:endParaRPr lang="en-US" sz="1250" dirty="0"/>
          </a:p>
        </p:txBody>
      </p:sp>
      <p:sp>
        <p:nvSpPr>
          <p:cNvPr id="23" name="Text 21"/>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B6474"/>
                </a:solidFill>
                <a:latin typeface="Calibri" pitchFamily="34" charset="0"/>
                <a:ea typeface="Calibri" pitchFamily="34" charset="-122"/>
                <a:cs typeface="Calibri" pitchFamily="34" charset="-120"/>
              </a:rPr>
              <a:t>Ruha Benjamin, Race After Technology: Abolitionist Tools for the New Jim Code (Polity, 2019).</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3">
    <p:bg>
      <p:bgPr>
        <a:solidFill>
          <a:srgbClr val="0E131B"/>
        </a:solidFill>
        <a:effectLst/>
      </p:bgPr>
    </p:bg>
    <p:spTree>
      <p:nvGrpSpPr>
        <p:cNvPr id="1" name=""/>
        <p:cNvGrpSpPr/>
        <p:nvPr/>
      </p:nvGrpSpPr>
      <p:grpSpPr>
        <a:xfrm>
          <a:off x="0" y="0"/>
          <a:ext cx="0" cy="0"/>
          <a:chOff x="0" y="0"/>
          <a:chExt cx="0" cy="0"/>
        </a:xfrm>
      </p:grpSpPr>
      <p:sp>
        <p:nvSpPr>
          <p:cNvPr id="2" name="Shape 0"/>
          <p:cNvSpPr/>
          <p:nvPr/>
        </p:nvSpPr>
        <p:spPr>
          <a:xfrm>
            <a:off x="8778240" y="1417320"/>
            <a:ext cx="2651760" cy="2651760"/>
          </a:xfrm>
          <a:prstGeom prst="ellipse">
            <a:avLst/>
          </a:prstGeom>
          <a:solidFill>
            <a:srgbClr val="9C3D6E">
              <a:alpha val="70000"/>
            </a:srgbClr>
          </a:solidFill>
          <a:ln/>
        </p:spPr>
        <p:txBody>
          <a:bodyPr/>
          <a:lstStyle/>
          <a:p>
            <a:endParaRPr lang="en-US"/>
          </a:p>
        </p:txBody>
      </p:sp>
      <p:sp>
        <p:nvSpPr>
          <p:cNvPr id="3" name="Shape 1"/>
          <p:cNvSpPr/>
          <p:nvPr/>
        </p:nvSpPr>
        <p:spPr>
          <a:xfrm>
            <a:off x="9646920" y="2286000"/>
            <a:ext cx="1188720" cy="1188720"/>
          </a:xfrm>
          <a:prstGeom prst="ellipse">
            <a:avLst/>
          </a:prstGeom>
          <a:solidFill>
            <a:srgbClr val="1F7A6B">
              <a:alpha val="75000"/>
            </a:srgbClr>
          </a:solidFill>
          <a:ln/>
        </p:spPr>
        <p:txBody>
          <a:bodyPr/>
          <a:lstStyle/>
          <a:p>
            <a:endParaRPr lang="en-US"/>
          </a:p>
        </p:txBody>
      </p:sp>
      <p:sp>
        <p:nvSpPr>
          <p:cNvPr id="4" name="Text 2"/>
          <p:cNvSpPr txBox="1"/>
          <p:nvPr/>
        </p:nvSpPr>
        <p:spPr>
          <a:xfrm>
            <a:off x="640080" y="1920240"/>
            <a:ext cx="7315200" cy="320040"/>
          </a:xfrm>
          <a:prstGeom prst="rect">
            <a:avLst/>
          </a:prstGeom>
          <a:noFill/>
          <a:ln/>
        </p:spPr>
        <p:txBody>
          <a:bodyPr wrap="square" lIns="0" tIns="0" rIns="0" bIns="0" rtlCol="0" anchor="ctr"/>
          <a:lstStyle/>
          <a:p>
            <a:pPr marL="0" indent="0">
              <a:buNone/>
            </a:pPr>
            <a:r>
              <a:rPr lang="en-US" sz="1300" b="1" kern="0" spc="220" dirty="0">
                <a:solidFill>
                  <a:srgbClr val="DFA9C4"/>
                </a:solidFill>
                <a:latin typeface="Calibri" pitchFamily="34" charset="0"/>
                <a:ea typeface="Calibri" pitchFamily="34" charset="-122"/>
                <a:cs typeface="Calibri" pitchFamily="34" charset="-120"/>
              </a:rPr>
              <a:t>PART SEVEN</a:t>
            </a:r>
            <a:endParaRPr lang="en-US" sz="1300" dirty="0"/>
          </a:p>
        </p:txBody>
      </p:sp>
      <p:sp>
        <p:nvSpPr>
          <p:cNvPr id="5" name="Text 3"/>
          <p:cNvSpPr txBox="1"/>
          <p:nvPr/>
        </p:nvSpPr>
        <p:spPr>
          <a:xfrm>
            <a:off x="640080" y="2331720"/>
            <a:ext cx="7680960" cy="914400"/>
          </a:xfrm>
          <a:prstGeom prst="rect">
            <a:avLst/>
          </a:prstGeom>
          <a:noFill/>
          <a:ln/>
        </p:spPr>
        <p:txBody>
          <a:bodyPr wrap="square" lIns="0" tIns="0" rIns="0" bIns="0" rtlCol="0" anchor="ctr"/>
          <a:lstStyle/>
          <a:p>
            <a:pPr marL="0" indent="0">
              <a:buNone/>
            </a:pPr>
            <a:r>
              <a:rPr lang="en-US" sz="3600" b="1" dirty="0">
                <a:solidFill>
                  <a:srgbClr val="F2F4F8"/>
                </a:solidFill>
                <a:latin typeface="Cambria" pitchFamily="34" charset="0"/>
                <a:ea typeface="Cambria" pitchFamily="34" charset="-122"/>
                <a:cs typeface="Cambria" pitchFamily="34" charset="-120"/>
              </a:rPr>
              <a:t>Being suspicious of the metaphor</a:t>
            </a:r>
            <a:endParaRPr lang="en-US" sz="3600" dirty="0"/>
          </a:p>
        </p:txBody>
      </p:sp>
      <p:sp>
        <p:nvSpPr>
          <p:cNvPr id="6" name="Text 4"/>
          <p:cNvSpPr txBox="1"/>
          <p:nvPr/>
        </p:nvSpPr>
        <p:spPr>
          <a:xfrm>
            <a:off x="640080" y="3310128"/>
            <a:ext cx="768096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The instructor’s real demand</a:t>
            </a:r>
            <a:endParaRPr lang="en-US" sz="1500" dirty="0"/>
          </a:p>
        </p:txBody>
      </p:sp>
      <p:sp>
        <p:nvSpPr>
          <p:cNvPr id="7" name="Shape 5"/>
          <p:cNvSpPr/>
          <p:nvPr/>
        </p:nvSpPr>
        <p:spPr>
          <a:xfrm>
            <a:off x="640080" y="3913632"/>
            <a:ext cx="2377440" cy="18288"/>
          </a:xfrm>
          <a:prstGeom prst="rect">
            <a:avLst/>
          </a:prstGeom>
          <a:solidFill>
            <a:srgbClr val="84CCBD"/>
          </a:solidFill>
          <a:ln/>
        </p:spPr>
        <p:txBody>
          <a:bodyPr/>
          <a:lstStyle/>
          <a:p>
            <a:endParaRPr lang="en-US"/>
          </a:p>
        </p:txBody>
      </p:sp>
      <p:sp>
        <p:nvSpPr>
          <p:cNvPr id="8" name="Text 6"/>
          <p:cNvSpPr txBox="1"/>
          <p:nvPr/>
        </p:nvSpPr>
        <p:spPr>
          <a:xfrm>
            <a:off x="640080" y="4133088"/>
            <a:ext cx="7680960" cy="777240"/>
          </a:xfrm>
          <a:prstGeom prst="rect">
            <a:avLst/>
          </a:prstGeom>
          <a:noFill/>
          <a:ln/>
        </p:spPr>
        <p:txBody>
          <a:bodyPr wrap="square" lIns="0" tIns="0" rIns="0" bIns="0" rtlCol="0" anchor="ctr"/>
          <a:lstStyle/>
          <a:p>
            <a:pPr marL="0" indent="0">
              <a:lnSpc>
                <a:spcPts val="2500"/>
              </a:lnSpc>
              <a:buNone/>
            </a:pPr>
            <a:r>
              <a:rPr lang="en-US" sz="1850" i="1" dirty="0">
                <a:solidFill>
                  <a:srgbClr val="84CCBD"/>
                </a:solidFill>
                <a:latin typeface="Cambria" pitchFamily="34" charset="0"/>
                <a:ea typeface="Cambria" pitchFamily="34" charset="-122"/>
                <a:cs typeface="Cambria" pitchFamily="34" charset="-120"/>
              </a:rPr>
              <a:t>A figure that fits too well is usually doing less work than it appears to.</a:t>
            </a:r>
            <a:endParaRPr lang="en-US" sz="1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9C3D6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THE AUDIT</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0E131B"/>
                </a:solidFill>
                <a:latin typeface="Cambria" pitchFamily="34" charset="0"/>
                <a:ea typeface="Cambria" pitchFamily="34" charset="-122"/>
                <a:cs typeface="Cambria" pitchFamily="34" charset="-120"/>
              </a:rPr>
              <a:t>Four things the metaphor carries, and four it does not</a:t>
            </a:r>
            <a:endParaRPr lang="en-US" sz="2900" dirty="0"/>
          </a:p>
        </p:txBody>
      </p:sp>
      <p:sp>
        <p:nvSpPr>
          <p:cNvPr id="5" name="Shape 3"/>
          <p:cNvSpPr/>
          <p:nvPr/>
        </p:nvSpPr>
        <p:spPr>
          <a:xfrm>
            <a:off x="640080" y="1325880"/>
            <a:ext cx="5349240" cy="4160520"/>
          </a:xfrm>
          <a:prstGeom prst="roundRect">
            <a:avLst>
              <a:gd name="adj" fmla="val 1758"/>
            </a:avLst>
          </a:prstGeom>
          <a:solidFill>
            <a:srgbClr val="E6F2EF"/>
          </a:solidFill>
          <a:ln w="12700">
            <a:solidFill>
              <a:srgbClr val="E6F2EF"/>
            </a:solidFill>
            <a:prstDash val="solid"/>
          </a:ln>
        </p:spPr>
        <p:txBody>
          <a:bodyPr/>
          <a:lstStyle/>
          <a:p>
            <a:endParaRPr lang="en-US"/>
          </a:p>
        </p:txBody>
      </p:sp>
      <p:sp>
        <p:nvSpPr>
          <p:cNvPr id="6" name="Text 4"/>
          <p:cNvSpPr txBox="1"/>
          <p:nvPr/>
        </p:nvSpPr>
        <p:spPr>
          <a:xfrm>
            <a:off x="1005840" y="1499616"/>
            <a:ext cx="4617720" cy="365760"/>
          </a:xfrm>
          <a:prstGeom prst="rect">
            <a:avLst/>
          </a:prstGeom>
          <a:noFill/>
          <a:ln/>
        </p:spPr>
        <p:txBody>
          <a:bodyPr wrap="square" lIns="0" tIns="0" rIns="0" bIns="0" rtlCol="0" anchor="ctr"/>
          <a:lstStyle/>
          <a:p>
            <a:pPr marL="0" indent="0">
              <a:buNone/>
            </a:pPr>
            <a:r>
              <a:rPr lang="en-US" sz="1800" b="1" dirty="0">
                <a:solidFill>
                  <a:srgbClr val="1F7A6B"/>
                </a:solidFill>
                <a:latin typeface="Cambria" pitchFamily="34" charset="0"/>
                <a:ea typeface="Cambria" pitchFamily="34" charset="-122"/>
                <a:cs typeface="Cambria" pitchFamily="34" charset="-120"/>
              </a:rPr>
              <a:t>What transfers</a:t>
            </a:r>
            <a:endParaRPr lang="en-US" sz="1800" dirty="0"/>
          </a:p>
        </p:txBody>
      </p:sp>
      <p:sp>
        <p:nvSpPr>
          <p:cNvPr id="7" name="Shape 5"/>
          <p:cNvSpPr/>
          <p:nvPr/>
        </p:nvSpPr>
        <p:spPr>
          <a:xfrm>
            <a:off x="1024128" y="2103120"/>
            <a:ext cx="118872" cy="118872"/>
          </a:xfrm>
          <a:prstGeom prst="ellipse">
            <a:avLst/>
          </a:prstGeom>
          <a:solidFill>
            <a:srgbClr val="1F7A6B"/>
          </a:solidFill>
          <a:ln/>
        </p:spPr>
        <p:txBody>
          <a:bodyPr/>
          <a:lstStyle/>
          <a:p>
            <a:endParaRPr lang="en-US"/>
          </a:p>
        </p:txBody>
      </p:sp>
      <p:sp>
        <p:nvSpPr>
          <p:cNvPr id="8" name="Text 6"/>
          <p:cNvSpPr txBox="1"/>
          <p:nvPr/>
        </p:nvSpPr>
        <p:spPr>
          <a:xfrm>
            <a:off x="1298448" y="1993392"/>
            <a:ext cx="4343400" cy="777240"/>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A narrow set of outputs that reliably satisfy a critic, produced to the exclusion of others.</a:t>
            </a:r>
            <a:endParaRPr lang="en-US" sz="1200" dirty="0"/>
          </a:p>
        </p:txBody>
      </p:sp>
      <p:sp>
        <p:nvSpPr>
          <p:cNvPr id="9" name="Shape 7"/>
          <p:cNvSpPr/>
          <p:nvPr/>
        </p:nvSpPr>
        <p:spPr>
          <a:xfrm>
            <a:off x="1024128" y="2971800"/>
            <a:ext cx="118872" cy="118872"/>
          </a:xfrm>
          <a:prstGeom prst="ellipse">
            <a:avLst/>
          </a:prstGeom>
          <a:solidFill>
            <a:srgbClr val="1F7A6B"/>
          </a:solidFill>
          <a:ln/>
        </p:spPr>
        <p:txBody>
          <a:bodyPr/>
          <a:lstStyle/>
          <a:p>
            <a:endParaRPr lang="en-US"/>
          </a:p>
        </p:txBody>
      </p:sp>
      <p:sp>
        <p:nvSpPr>
          <p:cNvPr id="10" name="Text 8"/>
          <p:cNvSpPr txBox="1"/>
          <p:nvPr/>
        </p:nvSpPr>
        <p:spPr>
          <a:xfrm>
            <a:off x="1298448" y="2862072"/>
            <a:ext cx="4343400" cy="777240"/>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Excellence at the level of the individual case, coexisting with total failure at the level of coverage.</a:t>
            </a:r>
            <a:endParaRPr lang="en-US" sz="1200" dirty="0"/>
          </a:p>
        </p:txBody>
      </p:sp>
      <p:sp>
        <p:nvSpPr>
          <p:cNvPr id="11" name="Shape 9"/>
          <p:cNvSpPr/>
          <p:nvPr/>
        </p:nvSpPr>
        <p:spPr>
          <a:xfrm>
            <a:off x="1024128" y="3840480"/>
            <a:ext cx="118872" cy="118872"/>
          </a:xfrm>
          <a:prstGeom prst="ellipse">
            <a:avLst/>
          </a:prstGeom>
          <a:solidFill>
            <a:srgbClr val="1F7A6B"/>
          </a:solidFill>
          <a:ln/>
        </p:spPr>
        <p:txBody>
          <a:bodyPr/>
          <a:lstStyle/>
          <a:p>
            <a:endParaRPr lang="en-US"/>
          </a:p>
        </p:txBody>
      </p:sp>
      <p:sp>
        <p:nvSpPr>
          <p:cNvPr id="12" name="Text 10"/>
          <p:cNvSpPr txBox="1"/>
          <p:nvPr/>
        </p:nvSpPr>
        <p:spPr>
          <a:xfrm>
            <a:off x="1298448" y="3730752"/>
            <a:ext cx="4343400" cy="777240"/>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Invisibility: no single output reveals it. You have to count.</a:t>
            </a:r>
            <a:endParaRPr lang="en-US" sz="1200" dirty="0"/>
          </a:p>
        </p:txBody>
      </p:sp>
      <p:sp>
        <p:nvSpPr>
          <p:cNvPr id="13" name="Shape 11"/>
          <p:cNvSpPr/>
          <p:nvPr/>
        </p:nvSpPr>
        <p:spPr>
          <a:xfrm>
            <a:off x="1024128" y="4709160"/>
            <a:ext cx="118872" cy="118872"/>
          </a:xfrm>
          <a:prstGeom prst="ellipse">
            <a:avLst/>
          </a:prstGeom>
          <a:solidFill>
            <a:srgbClr val="1F7A6B"/>
          </a:solidFill>
          <a:ln/>
        </p:spPr>
        <p:txBody>
          <a:bodyPr/>
          <a:lstStyle/>
          <a:p>
            <a:endParaRPr lang="en-US"/>
          </a:p>
        </p:txBody>
      </p:sp>
      <p:sp>
        <p:nvSpPr>
          <p:cNvPr id="14" name="Text 12"/>
          <p:cNvSpPr txBox="1"/>
          <p:nvPr/>
        </p:nvSpPr>
        <p:spPr>
          <a:xfrm>
            <a:off x="1298448" y="4599432"/>
            <a:ext cx="4343400" cy="777240"/>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An objective with no term for variety, so variety is free to spend.</a:t>
            </a:r>
            <a:endParaRPr lang="en-US" sz="1200" dirty="0"/>
          </a:p>
        </p:txBody>
      </p:sp>
      <p:sp>
        <p:nvSpPr>
          <p:cNvPr id="15" name="Shape 13"/>
          <p:cNvSpPr/>
          <p:nvPr/>
        </p:nvSpPr>
        <p:spPr>
          <a:xfrm>
            <a:off x="6217920" y="1325880"/>
            <a:ext cx="5312664" cy="4160520"/>
          </a:xfrm>
          <a:prstGeom prst="roundRect">
            <a:avLst>
              <a:gd name="adj" fmla="val 1758"/>
            </a:avLst>
          </a:prstGeom>
          <a:solidFill>
            <a:srgbClr val="F8EBF2"/>
          </a:solidFill>
          <a:ln w="12700">
            <a:solidFill>
              <a:srgbClr val="F8EBF2"/>
            </a:solidFill>
            <a:prstDash val="solid"/>
          </a:ln>
        </p:spPr>
        <p:txBody>
          <a:bodyPr/>
          <a:lstStyle/>
          <a:p>
            <a:endParaRPr lang="en-US"/>
          </a:p>
        </p:txBody>
      </p:sp>
      <p:sp>
        <p:nvSpPr>
          <p:cNvPr id="16" name="Text 14"/>
          <p:cNvSpPr txBox="1"/>
          <p:nvPr/>
        </p:nvSpPr>
        <p:spPr>
          <a:xfrm>
            <a:off x="6583680" y="1499616"/>
            <a:ext cx="4581144" cy="365760"/>
          </a:xfrm>
          <a:prstGeom prst="rect">
            <a:avLst/>
          </a:prstGeom>
          <a:noFill/>
          <a:ln/>
        </p:spPr>
        <p:txBody>
          <a:bodyPr wrap="square" lIns="0" tIns="0" rIns="0" bIns="0" rtlCol="0" anchor="ctr"/>
          <a:lstStyle/>
          <a:p>
            <a:pPr marL="0" indent="0">
              <a:buNone/>
            </a:pPr>
            <a:r>
              <a:rPr lang="en-US" sz="1800" b="1" dirty="0">
                <a:solidFill>
                  <a:srgbClr val="9C3D6E"/>
                </a:solidFill>
                <a:latin typeface="Cambria" pitchFamily="34" charset="0"/>
                <a:ea typeface="Cambria" pitchFamily="34" charset="-122"/>
                <a:cs typeface="Cambria" pitchFamily="34" charset="-120"/>
              </a:rPr>
              <a:t>What does not</a:t>
            </a:r>
            <a:endParaRPr lang="en-US" sz="1800" dirty="0"/>
          </a:p>
        </p:txBody>
      </p:sp>
      <p:sp>
        <p:nvSpPr>
          <p:cNvPr id="17" name="Shape 15"/>
          <p:cNvSpPr/>
          <p:nvPr/>
        </p:nvSpPr>
        <p:spPr>
          <a:xfrm>
            <a:off x="6601968" y="2103120"/>
            <a:ext cx="118872" cy="118872"/>
          </a:xfrm>
          <a:prstGeom prst="ellipse">
            <a:avLst/>
          </a:prstGeom>
          <a:solidFill>
            <a:srgbClr val="9C3D6E"/>
          </a:solidFill>
          <a:ln/>
        </p:spPr>
        <p:txBody>
          <a:bodyPr/>
          <a:lstStyle/>
          <a:p>
            <a:endParaRPr lang="en-US"/>
          </a:p>
        </p:txBody>
      </p:sp>
      <p:sp>
        <p:nvSpPr>
          <p:cNvPr id="18" name="Text 16"/>
          <p:cNvSpPr txBox="1"/>
          <p:nvPr/>
        </p:nvSpPr>
        <p:spPr>
          <a:xfrm>
            <a:off x="6876288" y="1993392"/>
            <a:ext cx="4306824" cy="777240"/>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A generator has one critic with a scalar output. A person has many, they conflict, and they can be argued with.</a:t>
            </a:r>
            <a:endParaRPr lang="en-US" sz="1200" dirty="0"/>
          </a:p>
        </p:txBody>
      </p:sp>
      <p:sp>
        <p:nvSpPr>
          <p:cNvPr id="19" name="Shape 17"/>
          <p:cNvSpPr/>
          <p:nvPr/>
        </p:nvSpPr>
        <p:spPr>
          <a:xfrm>
            <a:off x="6601968" y="2971800"/>
            <a:ext cx="118872" cy="118872"/>
          </a:xfrm>
          <a:prstGeom prst="ellipse">
            <a:avLst/>
          </a:prstGeom>
          <a:solidFill>
            <a:srgbClr val="9C3D6E"/>
          </a:solidFill>
          <a:ln/>
        </p:spPr>
        <p:txBody>
          <a:bodyPr/>
          <a:lstStyle/>
          <a:p>
            <a:endParaRPr lang="en-US"/>
          </a:p>
        </p:txBody>
      </p:sp>
      <p:sp>
        <p:nvSpPr>
          <p:cNvPr id="20" name="Text 18"/>
          <p:cNvSpPr txBox="1"/>
          <p:nvPr/>
        </p:nvSpPr>
        <p:spPr>
          <a:xfrm>
            <a:off x="6876288" y="2862072"/>
            <a:ext cx="4306824" cy="777240"/>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p_data is well defined for a generator. “The diversity of the world” for a writer or a culture is not a distribution anyone can write down.</a:t>
            </a:r>
            <a:endParaRPr lang="en-US" sz="1200" dirty="0"/>
          </a:p>
        </p:txBody>
      </p:sp>
      <p:sp>
        <p:nvSpPr>
          <p:cNvPr id="21" name="Shape 19"/>
          <p:cNvSpPr/>
          <p:nvPr/>
        </p:nvSpPr>
        <p:spPr>
          <a:xfrm>
            <a:off x="6601968" y="3840480"/>
            <a:ext cx="118872" cy="118872"/>
          </a:xfrm>
          <a:prstGeom prst="ellipse">
            <a:avLst/>
          </a:prstGeom>
          <a:solidFill>
            <a:srgbClr val="9C3D6E"/>
          </a:solidFill>
          <a:ln/>
        </p:spPr>
        <p:txBody>
          <a:bodyPr/>
          <a:lstStyle/>
          <a:p>
            <a:endParaRPr lang="en-US"/>
          </a:p>
        </p:txBody>
      </p:sp>
      <p:sp>
        <p:nvSpPr>
          <p:cNvPr id="22" name="Text 20"/>
          <p:cNvSpPr txBox="1"/>
          <p:nvPr/>
        </p:nvSpPr>
        <p:spPr>
          <a:xfrm>
            <a:off x="6876288" y="3730752"/>
            <a:ext cx="4306824" cy="777240"/>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Collapse is reversible by retraining. Institutional and cultural narrowing involves law, money, careers and harm, and does not reset.</a:t>
            </a:r>
            <a:endParaRPr lang="en-US" sz="1200" dirty="0"/>
          </a:p>
        </p:txBody>
      </p:sp>
      <p:sp>
        <p:nvSpPr>
          <p:cNvPr id="23" name="Shape 21"/>
          <p:cNvSpPr/>
          <p:nvPr/>
        </p:nvSpPr>
        <p:spPr>
          <a:xfrm>
            <a:off x="6601968" y="4709160"/>
            <a:ext cx="118872" cy="118872"/>
          </a:xfrm>
          <a:prstGeom prst="ellipse">
            <a:avLst/>
          </a:prstGeom>
          <a:solidFill>
            <a:srgbClr val="9C3D6E"/>
          </a:solidFill>
          <a:ln/>
        </p:spPr>
        <p:txBody>
          <a:bodyPr/>
          <a:lstStyle/>
          <a:p>
            <a:endParaRPr lang="en-US"/>
          </a:p>
        </p:txBody>
      </p:sp>
      <p:sp>
        <p:nvSpPr>
          <p:cNvPr id="24" name="Text 22"/>
          <p:cNvSpPr txBox="1"/>
          <p:nvPr/>
        </p:nvSpPr>
        <p:spPr>
          <a:xfrm>
            <a:off x="6876288" y="4599432"/>
            <a:ext cx="4306824" cy="777240"/>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Nobody benefits from a collapsed GAN. Somebody usually benefits from a narrowed culture, and Benjamin insists we name them.</a:t>
            </a:r>
            <a:endParaRPr lang="en-US" sz="1200" dirty="0"/>
          </a:p>
        </p:txBody>
      </p:sp>
      <p:sp>
        <p:nvSpPr>
          <p:cNvPr id="25" name="Shape 23"/>
          <p:cNvSpPr/>
          <p:nvPr/>
        </p:nvSpPr>
        <p:spPr>
          <a:xfrm>
            <a:off x="640080" y="5623560"/>
            <a:ext cx="10911535" cy="685800"/>
          </a:xfrm>
          <a:prstGeom prst="roundRect">
            <a:avLst>
              <a:gd name="adj" fmla="val 10667"/>
            </a:avLst>
          </a:prstGeom>
          <a:solidFill>
            <a:srgbClr val="0E131B"/>
          </a:solidFill>
          <a:ln w="12700">
            <a:solidFill>
              <a:srgbClr val="0E131B"/>
            </a:solidFill>
            <a:prstDash val="solid"/>
          </a:ln>
        </p:spPr>
        <p:txBody>
          <a:bodyPr/>
          <a:lstStyle/>
          <a:p>
            <a:endParaRPr lang="en-US"/>
          </a:p>
        </p:txBody>
      </p:sp>
      <p:sp>
        <p:nvSpPr>
          <p:cNvPr id="26" name="Text 24"/>
          <p:cNvSpPr txBox="1"/>
          <p:nvPr/>
        </p:nvSpPr>
        <p:spPr>
          <a:xfrm>
            <a:off x="1005840" y="5788152"/>
            <a:ext cx="10424160" cy="356616"/>
          </a:xfrm>
          <a:prstGeom prst="rect">
            <a:avLst/>
          </a:prstGeom>
          <a:noFill/>
          <a:ln/>
        </p:spPr>
        <p:txBody>
          <a:bodyPr wrap="square" lIns="0" tIns="0" rIns="0" bIns="0" rtlCol="0" anchor="ctr"/>
          <a:lstStyle/>
          <a:p>
            <a:pPr marL="0" indent="0">
              <a:lnSpc>
                <a:spcPts val="2000"/>
              </a:lnSpc>
              <a:buNone/>
            </a:pPr>
            <a:r>
              <a:rPr lang="en-US" sz="1500" dirty="0">
                <a:solidFill>
                  <a:srgbClr val="F2F4F8"/>
                </a:solidFill>
                <a:latin typeface="Cambria" pitchFamily="34" charset="0"/>
                <a:ea typeface="Cambria" pitchFamily="34" charset="-122"/>
                <a:cs typeface="Cambria" pitchFamily="34" charset="-120"/>
              </a:rPr>
              <a:t>A metaphor you can audit like this is worth using. One you cannot is just a word borrowed for its authority.</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9C3D6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THE SPECIFIC DANGER</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0E131B"/>
                </a:solidFill>
                <a:latin typeface="Cambria" pitchFamily="34" charset="0"/>
                <a:ea typeface="Cambria" pitchFamily="34" charset="-122"/>
                <a:cs typeface="Cambria" pitchFamily="34" charset="-120"/>
              </a:rPr>
              <a:t>What the metaphor can be used to do</a:t>
            </a:r>
            <a:endParaRPr lang="en-US" sz="2900" dirty="0"/>
          </a:p>
        </p:txBody>
      </p:sp>
      <p:sp>
        <p:nvSpPr>
          <p:cNvPr id="5" name="Shape 3"/>
          <p:cNvSpPr/>
          <p:nvPr/>
        </p:nvSpPr>
        <p:spPr>
          <a:xfrm>
            <a:off x="640080" y="1325880"/>
            <a:ext cx="3454298" cy="2788920"/>
          </a:xfrm>
          <a:prstGeom prst="roundRect">
            <a:avLst>
              <a:gd name="adj" fmla="val 2623"/>
            </a:avLst>
          </a:prstGeom>
          <a:solidFill>
            <a:srgbClr val="E6F2EF"/>
          </a:solidFill>
          <a:ln w="12700">
            <a:solidFill>
              <a:srgbClr val="E6F2EF"/>
            </a:solidFill>
            <a:prstDash val="solid"/>
          </a:ln>
        </p:spPr>
        <p:txBody>
          <a:bodyPr/>
          <a:lstStyle/>
          <a:p>
            <a:endParaRPr lang="en-US"/>
          </a:p>
        </p:txBody>
      </p:sp>
      <p:sp>
        <p:nvSpPr>
          <p:cNvPr id="6" name="Text 4"/>
          <p:cNvSpPr txBox="1"/>
          <p:nvPr/>
        </p:nvSpPr>
        <p:spPr>
          <a:xfrm>
            <a:off x="914400" y="1508760"/>
            <a:ext cx="2905658" cy="566928"/>
          </a:xfrm>
          <a:prstGeom prst="rect">
            <a:avLst/>
          </a:prstGeom>
          <a:noFill/>
          <a:ln/>
        </p:spPr>
        <p:txBody>
          <a:bodyPr wrap="square" lIns="0" tIns="0" rIns="0" bIns="0" rtlCol="0" anchor="ctr"/>
          <a:lstStyle/>
          <a:p>
            <a:pPr marL="0" indent="0">
              <a:lnSpc>
                <a:spcPts val="2000"/>
              </a:lnSpc>
              <a:buNone/>
            </a:pPr>
            <a:r>
              <a:rPr lang="en-US" sz="1550" b="1" dirty="0">
                <a:solidFill>
                  <a:srgbClr val="0E131B"/>
                </a:solidFill>
                <a:latin typeface="Cambria" pitchFamily="34" charset="0"/>
                <a:ea typeface="Cambria" pitchFamily="34" charset="-122"/>
                <a:cs typeface="Cambria" pitchFamily="34" charset="-120"/>
              </a:rPr>
              <a:t>It can make a political situation sound like a tuning problem</a:t>
            </a:r>
            <a:endParaRPr lang="en-US" sz="1550" dirty="0"/>
          </a:p>
        </p:txBody>
      </p:sp>
      <p:sp>
        <p:nvSpPr>
          <p:cNvPr id="7" name="Text 5"/>
          <p:cNvSpPr txBox="1"/>
          <p:nvPr/>
        </p:nvSpPr>
        <p:spPr>
          <a:xfrm>
            <a:off x="914400" y="2148840"/>
            <a:ext cx="2905658" cy="1746504"/>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If a culture’s narrowing is mode collapse, the implied remedy is a better objective and a larger λ. That framing has the enormous advantage of requiring nobody to give anything up, which is a reason to distrust it.</a:t>
            </a:r>
            <a:endParaRPr lang="en-US" sz="1200" dirty="0"/>
          </a:p>
        </p:txBody>
      </p:sp>
      <p:sp>
        <p:nvSpPr>
          <p:cNvPr id="8" name="Shape 6"/>
          <p:cNvSpPr/>
          <p:nvPr/>
        </p:nvSpPr>
        <p:spPr>
          <a:xfrm>
            <a:off x="4368698" y="1325880"/>
            <a:ext cx="3454298" cy="2788920"/>
          </a:xfrm>
          <a:prstGeom prst="roundRect">
            <a:avLst>
              <a:gd name="adj" fmla="val 2623"/>
            </a:avLst>
          </a:prstGeom>
          <a:solidFill>
            <a:srgbClr val="F8EBF2"/>
          </a:solidFill>
          <a:ln w="12700">
            <a:solidFill>
              <a:srgbClr val="F8EBF2"/>
            </a:solidFill>
            <a:prstDash val="solid"/>
          </a:ln>
        </p:spPr>
        <p:txBody>
          <a:bodyPr/>
          <a:lstStyle/>
          <a:p>
            <a:endParaRPr lang="en-US"/>
          </a:p>
        </p:txBody>
      </p:sp>
      <p:sp>
        <p:nvSpPr>
          <p:cNvPr id="9" name="Text 7"/>
          <p:cNvSpPr txBox="1"/>
          <p:nvPr/>
        </p:nvSpPr>
        <p:spPr>
          <a:xfrm>
            <a:off x="4643018" y="1508760"/>
            <a:ext cx="2905658" cy="566928"/>
          </a:xfrm>
          <a:prstGeom prst="rect">
            <a:avLst/>
          </a:prstGeom>
          <a:noFill/>
          <a:ln/>
        </p:spPr>
        <p:txBody>
          <a:bodyPr wrap="square" lIns="0" tIns="0" rIns="0" bIns="0" rtlCol="0" anchor="ctr"/>
          <a:lstStyle/>
          <a:p>
            <a:pPr marL="0" indent="0">
              <a:lnSpc>
                <a:spcPts val="2000"/>
              </a:lnSpc>
              <a:buNone/>
            </a:pPr>
            <a:r>
              <a:rPr lang="en-US" sz="1550" b="1" dirty="0">
                <a:solidFill>
                  <a:srgbClr val="0E131B"/>
                </a:solidFill>
                <a:latin typeface="Cambria" pitchFamily="34" charset="0"/>
                <a:ea typeface="Cambria" pitchFamily="34" charset="-122"/>
                <a:cs typeface="Cambria" pitchFamily="34" charset="-120"/>
              </a:rPr>
              <a:t>It can launder the critic</a:t>
            </a:r>
            <a:endParaRPr lang="en-US" sz="1550" dirty="0"/>
          </a:p>
        </p:txBody>
      </p:sp>
      <p:sp>
        <p:nvSpPr>
          <p:cNvPr id="10" name="Text 8"/>
          <p:cNvSpPr txBox="1"/>
          <p:nvPr/>
        </p:nvSpPr>
        <p:spPr>
          <a:xfrm>
            <a:off x="4643018" y="2148840"/>
            <a:ext cx="2905658" cy="1746504"/>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Saying a system “optimised for approval” makes approval sound like a natural force. Approval has a source. Someone is approving, for reasons, and benefits from what they approve of. The technical phrasing hides that grammar.</a:t>
            </a:r>
            <a:endParaRPr lang="en-US" sz="1200" dirty="0"/>
          </a:p>
        </p:txBody>
      </p:sp>
      <p:sp>
        <p:nvSpPr>
          <p:cNvPr id="11" name="Shape 9"/>
          <p:cNvSpPr/>
          <p:nvPr/>
        </p:nvSpPr>
        <p:spPr>
          <a:xfrm>
            <a:off x="8097317" y="1325880"/>
            <a:ext cx="3454298" cy="2788920"/>
          </a:xfrm>
          <a:prstGeom prst="roundRect">
            <a:avLst>
              <a:gd name="adj" fmla="val 2623"/>
            </a:avLst>
          </a:prstGeom>
          <a:solidFill>
            <a:srgbClr val="E6F2EF"/>
          </a:solidFill>
          <a:ln w="12700">
            <a:solidFill>
              <a:srgbClr val="E6F2EF"/>
            </a:solidFill>
            <a:prstDash val="solid"/>
          </a:ln>
        </p:spPr>
        <p:txBody>
          <a:bodyPr/>
          <a:lstStyle/>
          <a:p>
            <a:endParaRPr lang="en-US"/>
          </a:p>
        </p:txBody>
      </p:sp>
      <p:sp>
        <p:nvSpPr>
          <p:cNvPr id="12" name="Text 10"/>
          <p:cNvSpPr txBox="1"/>
          <p:nvPr/>
        </p:nvSpPr>
        <p:spPr>
          <a:xfrm>
            <a:off x="8371637" y="1508760"/>
            <a:ext cx="2905658" cy="566928"/>
          </a:xfrm>
          <a:prstGeom prst="rect">
            <a:avLst/>
          </a:prstGeom>
          <a:noFill/>
          <a:ln/>
        </p:spPr>
        <p:txBody>
          <a:bodyPr wrap="square" lIns="0" tIns="0" rIns="0" bIns="0" rtlCol="0" anchor="ctr"/>
          <a:lstStyle/>
          <a:p>
            <a:pPr marL="0" indent="0">
              <a:lnSpc>
                <a:spcPts val="2000"/>
              </a:lnSpc>
              <a:buNone/>
            </a:pPr>
            <a:r>
              <a:rPr lang="en-US" sz="1550" b="1" dirty="0">
                <a:solidFill>
                  <a:srgbClr val="0E131B"/>
                </a:solidFill>
                <a:latin typeface="Cambria" pitchFamily="34" charset="0"/>
                <a:ea typeface="Cambria" pitchFamily="34" charset="-122"/>
                <a:cs typeface="Cambria" pitchFamily="34" charset="-120"/>
              </a:rPr>
              <a:t>It can flatter the person using it</a:t>
            </a:r>
            <a:endParaRPr lang="en-US" sz="1550" dirty="0"/>
          </a:p>
        </p:txBody>
      </p:sp>
      <p:sp>
        <p:nvSpPr>
          <p:cNvPr id="13" name="Text 11"/>
          <p:cNvSpPr txBox="1"/>
          <p:nvPr/>
        </p:nvSpPr>
        <p:spPr>
          <a:xfrm>
            <a:off x="8371637" y="2148840"/>
            <a:ext cx="2905658" cy="1746504"/>
          </a:xfrm>
          <a:prstGeom prst="rect">
            <a:avLst/>
          </a:prstGeom>
          <a:noFill/>
          <a:ln/>
        </p:spPr>
        <p:txBody>
          <a:bodyPr wrap="square" lIns="0" tIns="0" rIns="0" bIns="0" rtlCol="0" anchor="ctr"/>
          <a:lstStyle/>
          <a:p>
            <a:pPr marL="0" indent="0">
              <a:lnSpc>
                <a:spcPts val="1600"/>
              </a:lnSpc>
              <a:buNone/>
            </a:pPr>
            <a:r>
              <a:rPr lang="en-US" sz="1200" dirty="0">
                <a:solidFill>
                  <a:srgbClr val="5B6474"/>
                </a:solidFill>
                <a:latin typeface="Calibri" pitchFamily="34" charset="0"/>
                <a:ea typeface="Calibri" pitchFamily="34" charset="-122"/>
                <a:cs typeface="Calibri" pitchFamily="34" charset="-120"/>
              </a:rPr>
              <a:t>Reaching for a mechanism you understand to explain a situation you do not is a comfortable move and it produces a feeling of insight that is very hard to distinguish from the real thing.</a:t>
            </a:r>
            <a:endParaRPr lang="en-US" sz="1200" dirty="0"/>
          </a:p>
        </p:txBody>
      </p:sp>
      <p:sp>
        <p:nvSpPr>
          <p:cNvPr id="14" name="Shape 12"/>
          <p:cNvSpPr/>
          <p:nvPr/>
        </p:nvSpPr>
        <p:spPr>
          <a:xfrm>
            <a:off x="640080" y="4343400"/>
            <a:ext cx="10911535" cy="1783080"/>
          </a:xfrm>
          <a:prstGeom prst="roundRect">
            <a:avLst>
              <a:gd name="adj" fmla="val 4103"/>
            </a:avLst>
          </a:prstGeom>
          <a:solidFill>
            <a:srgbClr val="0E131B"/>
          </a:solidFill>
          <a:ln w="12700">
            <a:solidFill>
              <a:srgbClr val="0E131B"/>
            </a:solidFill>
            <a:prstDash val="solid"/>
          </a:ln>
        </p:spPr>
        <p:txBody>
          <a:bodyPr/>
          <a:lstStyle/>
          <a:p>
            <a:endParaRPr lang="en-US"/>
          </a:p>
        </p:txBody>
      </p:sp>
      <p:sp>
        <p:nvSpPr>
          <p:cNvPr id="15" name="Text 13"/>
          <p:cNvSpPr txBox="1"/>
          <p:nvPr/>
        </p:nvSpPr>
        <p:spPr>
          <a:xfrm>
            <a:off x="1005840" y="4507992"/>
            <a:ext cx="10424160" cy="274320"/>
          </a:xfrm>
          <a:prstGeom prst="rect">
            <a:avLst/>
          </a:prstGeom>
          <a:noFill/>
          <a:ln/>
        </p:spPr>
        <p:txBody>
          <a:bodyPr wrap="square" lIns="0" tIns="0" rIns="0" bIns="0" rtlCol="0" anchor="ctr"/>
          <a:lstStyle/>
          <a:p>
            <a:pPr marL="0" indent="0">
              <a:buNone/>
            </a:pPr>
            <a:r>
              <a:rPr lang="en-US" sz="1150" b="1" kern="0" spc="140" dirty="0">
                <a:solidFill>
                  <a:srgbClr val="DFA9C4"/>
                </a:solidFill>
                <a:latin typeface="Calibri" pitchFamily="34" charset="0"/>
                <a:ea typeface="Calibri" pitchFamily="34" charset="-122"/>
                <a:cs typeface="Calibri" pitchFamily="34" charset="-120"/>
              </a:rPr>
              <a:t>But the alternative is not to refuse the analogy</a:t>
            </a:r>
            <a:endParaRPr lang="en-US" sz="1150" dirty="0"/>
          </a:p>
        </p:txBody>
      </p:sp>
      <p:sp>
        <p:nvSpPr>
          <p:cNvPr id="16" name="Text 14"/>
          <p:cNvSpPr txBox="1"/>
          <p:nvPr/>
        </p:nvSpPr>
        <p:spPr>
          <a:xfrm>
            <a:off x="1005840" y="4837176"/>
            <a:ext cx="10424160" cy="1124712"/>
          </a:xfrm>
          <a:prstGeom prst="rect">
            <a:avLst/>
          </a:prstGeom>
          <a:noFill/>
          <a:ln/>
        </p:spPr>
        <p:txBody>
          <a:bodyPr wrap="square" lIns="0" tIns="0" rIns="0" bIns="0" rtlCol="0" anchor="ctr"/>
          <a:lstStyle/>
          <a:p>
            <a:pPr marL="0" indent="0">
              <a:lnSpc>
                <a:spcPts val="2000"/>
              </a:lnSpc>
              <a:buNone/>
            </a:pPr>
            <a:r>
              <a:rPr lang="en-US" sz="1500" dirty="0">
                <a:solidFill>
                  <a:srgbClr val="F2F4F8"/>
                </a:solidFill>
                <a:latin typeface="Cambria" pitchFamily="34" charset="0"/>
                <a:ea typeface="Cambria" pitchFamily="34" charset="-122"/>
                <a:cs typeface="Cambria" pitchFamily="34" charset="-120"/>
              </a:rPr>
              <a:t>The instructor’s demand is harder than that: use the figure, and hold the mechanism in your hand while you use it, so that you can say at any moment which part of the claim is doing work and which part is decoration. That is the difference between a critical vocabulary and a fashionable one, and it is most of what this course is for.</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9C3D6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B6474"/>
                </a:solidFill>
                <a:latin typeface="Calibri" pitchFamily="34" charset="0"/>
                <a:ea typeface="Calibri" pitchFamily="34" charset="-122"/>
                <a:cs typeface="Calibri" pitchFamily="34" charset="-120"/>
              </a:rPr>
              <a:t>THE KEY QUESTION</a:t>
            </a:r>
            <a:endParaRPr lang="en-US" sz="1100" dirty="0"/>
          </a:p>
        </p:txBody>
      </p:sp>
      <p:sp>
        <p:nvSpPr>
          <p:cNvPr id="4" name="Text 2"/>
          <p:cNvSpPr txBox="1"/>
          <p:nvPr/>
        </p:nvSpPr>
        <p:spPr>
          <a:xfrm>
            <a:off x="640080" y="713232"/>
            <a:ext cx="10911535" cy="621792"/>
          </a:xfrm>
          <a:prstGeom prst="rect">
            <a:avLst/>
          </a:prstGeom>
          <a:noFill/>
          <a:ln/>
        </p:spPr>
        <p:txBody>
          <a:bodyPr wrap="square" lIns="0" tIns="0" rIns="0" bIns="0" rtlCol="0" anchor="ctr"/>
          <a:lstStyle/>
          <a:p>
            <a:pPr marL="0" indent="0">
              <a:buNone/>
            </a:pPr>
            <a:r>
              <a:rPr lang="en-US" sz="2900" b="1" dirty="0">
                <a:solidFill>
                  <a:srgbClr val="0E131B"/>
                </a:solidFill>
                <a:latin typeface="Cambria" pitchFamily="34" charset="0"/>
                <a:ea typeface="Cambria" pitchFamily="34" charset="-122"/>
                <a:cs typeface="Cambria" pitchFamily="34" charset="-120"/>
              </a:rPr>
              <a:t>What disappears when a system optimises for approval?</a:t>
            </a:r>
            <a:endParaRPr lang="en-US" sz="2900" dirty="0"/>
          </a:p>
        </p:txBody>
      </p:sp>
      <p:sp>
        <p:nvSpPr>
          <p:cNvPr id="5" name="Shape 3"/>
          <p:cNvSpPr/>
          <p:nvPr/>
        </p:nvSpPr>
        <p:spPr>
          <a:xfrm>
            <a:off x="640080" y="1298448"/>
            <a:ext cx="10911535" cy="1417320"/>
          </a:xfrm>
          <a:prstGeom prst="roundRect">
            <a:avLst>
              <a:gd name="adj" fmla="val 5161"/>
            </a:avLst>
          </a:prstGeom>
          <a:solidFill>
            <a:srgbClr val="E6F2EF"/>
          </a:solidFill>
          <a:ln w="12700">
            <a:solidFill>
              <a:srgbClr val="E6F2EF"/>
            </a:solidFill>
            <a:prstDash val="solid"/>
          </a:ln>
        </p:spPr>
        <p:txBody>
          <a:bodyPr/>
          <a:lstStyle/>
          <a:p>
            <a:endParaRPr lang="en-US"/>
          </a:p>
        </p:txBody>
      </p:sp>
      <p:sp>
        <p:nvSpPr>
          <p:cNvPr id="6" name="Shape 4"/>
          <p:cNvSpPr/>
          <p:nvPr/>
        </p:nvSpPr>
        <p:spPr>
          <a:xfrm>
            <a:off x="960120" y="1828800"/>
            <a:ext cx="384048" cy="384048"/>
          </a:xfrm>
          <a:prstGeom prst="ellipse">
            <a:avLst/>
          </a:prstGeom>
          <a:solidFill>
            <a:srgbClr val="1F7A6B"/>
          </a:solidFill>
          <a:ln/>
        </p:spPr>
        <p:txBody>
          <a:bodyPr/>
          <a:lstStyle/>
          <a:p>
            <a:endParaRPr lang="en-US"/>
          </a:p>
        </p:txBody>
      </p:sp>
      <p:sp>
        <p:nvSpPr>
          <p:cNvPr id="7" name="Text 5"/>
          <p:cNvSpPr txBox="1"/>
          <p:nvPr/>
        </p:nvSpPr>
        <p:spPr>
          <a:xfrm>
            <a:off x="960120" y="182880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600200" y="1463040"/>
            <a:ext cx="9509760" cy="384048"/>
          </a:xfrm>
          <a:prstGeom prst="rect">
            <a:avLst/>
          </a:prstGeom>
          <a:noFill/>
          <a:ln/>
        </p:spPr>
        <p:txBody>
          <a:bodyPr wrap="square" lIns="0" tIns="0" rIns="0" bIns="0" rtlCol="0" anchor="ctr"/>
          <a:lstStyle/>
          <a:p>
            <a:pPr marL="0" indent="0">
              <a:buNone/>
            </a:pPr>
            <a:r>
              <a:rPr lang="en-US" sz="1750" b="1" dirty="0">
                <a:solidFill>
                  <a:srgbClr val="0E131B"/>
                </a:solidFill>
                <a:latin typeface="Cambria" pitchFamily="34" charset="0"/>
                <a:ea typeface="Cambria" pitchFamily="34" charset="-122"/>
                <a:cs typeface="Cambria" pitchFamily="34" charset="-120"/>
              </a:rPr>
              <a:t>In the generator: everything the critic does not check</a:t>
            </a:r>
            <a:endParaRPr lang="en-US" sz="1750" dirty="0"/>
          </a:p>
        </p:txBody>
      </p:sp>
      <p:sp>
        <p:nvSpPr>
          <p:cNvPr id="9" name="Text 7"/>
          <p:cNvSpPr txBox="1"/>
          <p:nvPr/>
        </p:nvSpPr>
        <p:spPr>
          <a:xfrm>
            <a:off x="1600200" y="1883664"/>
            <a:ext cx="9509760" cy="804672"/>
          </a:xfrm>
          <a:prstGeom prst="rect">
            <a:avLst/>
          </a:prstGeom>
          <a:noFill/>
          <a:ln/>
        </p:spPr>
        <p:txBody>
          <a:bodyPr wrap="square" lIns="0" tIns="0" rIns="0" bIns="0" rtlCol="0" anchor="ctr"/>
          <a:lstStyle/>
          <a:p>
            <a:pPr marL="0" indent="0">
              <a:lnSpc>
                <a:spcPts val="1700"/>
              </a:lnSpc>
              <a:buNone/>
            </a:pPr>
            <a:r>
              <a:rPr lang="en-US" sz="1250" dirty="0">
                <a:solidFill>
                  <a:srgbClr val="5B6474"/>
                </a:solidFill>
                <a:latin typeface="Calibri" pitchFamily="34" charset="0"/>
                <a:ea typeface="Calibri" pitchFamily="34" charset="-122"/>
                <a:cs typeface="Calibri" pitchFamily="34" charset="-120"/>
              </a:rPr>
              <a:t>Not the things it does badly — the things it never attempts. The objective V contains no term for coverage, so coverage is available to be spent in exchange for more of what is measured. The model is not wrong. It is narrow, and being narrow costs it nothing.</a:t>
            </a:r>
            <a:endParaRPr lang="en-US" sz="1250" dirty="0"/>
          </a:p>
        </p:txBody>
      </p:sp>
      <p:sp>
        <p:nvSpPr>
          <p:cNvPr id="10" name="Shape 8"/>
          <p:cNvSpPr/>
          <p:nvPr/>
        </p:nvSpPr>
        <p:spPr>
          <a:xfrm>
            <a:off x="640080" y="2788920"/>
            <a:ext cx="10911535" cy="1417320"/>
          </a:xfrm>
          <a:prstGeom prst="roundRect">
            <a:avLst>
              <a:gd name="adj" fmla="val 5161"/>
            </a:avLst>
          </a:prstGeom>
          <a:solidFill>
            <a:srgbClr val="F8EBF2"/>
          </a:solidFill>
          <a:ln w="12700">
            <a:solidFill>
              <a:srgbClr val="F8EBF2"/>
            </a:solidFill>
            <a:prstDash val="solid"/>
          </a:ln>
        </p:spPr>
        <p:txBody>
          <a:bodyPr/>
          <a:lstStyle/>
          <a:p>
            <a:endParaRPr lang="en-US"/>
          </a:p>
        </p:txBody>
      </p:sp>
      <p:sp>
        <p:nvSpPr>
          <p:cNvPr id="11" name="Shape 9"/>
          <p:cNvSpPr/>
          <p:nvPr/>
        </p:nvSpPr>
        <p:spPr>
          <a:xfrm>
            <a:off x="960120" y="3319272"/>
            <a:ext cx="384048" cy="384048"/>
          </a:xfrm>
          <a:prstGeom prst="ellipse">
            <a:avLst/>
          </a:prstGeom>
          <a:solidFill>
            <a:srgbClr val="9C3D6E"/>
          </a:solidFill>
          <a:ln/>
        </p:spPr>
        <p:txBody>
          <a:bodyPr/>
          <a:lstStyle/>
          <a:p>
            <a:endParaRPr lang="en-US"/>
          </a:p>
        </p:txBody>
      </p:sp>
      <p:sp>
        <p:nvSpPr>
          <p:cNvPr id="12" name="Text 10"/>
          <p:cNvSpPr txBox="1"/>
          <p:nvPr/>
        </p:nvSpPr>
        <p:spPr>
          <a:xfrm>
            <a:off x="960120" y="331927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1600200" y="2953512"/>
            <a:ext cx="9509760" cy="384048"/>
          </a:xfrm>
          <a:prstGeom prst="rect">
            <a:avLst/>
          </a:prstGeom>
          <a:noFill/>
          <a:ln/>
        </p:spPr>
        <p:txBody>
          <a:bodyPr wrap="square" lIns="0" tIns="0" rIns="0" bIns="0" rtlCol="0" anchor="ctr"/>
          <a:lstStyle/>
          <a:p>
            <a:pPr marL="0" indent="0">
              <a:buNone/>
            </a:pPr>
            <a:r>
              <a:rPr lang="en-US" sz="1750" b="1" dirty="0">
                <a:solidFill>
                  <a:srgbClr val="0E131B"/>
                </a:solidFill>
                <a:latin typeface="Cambria" pitchFamily="34" charset="0"/>
                <a:ea typeface="Cambria" pitchFamily="34" charset="-122"/>
                <a:cs typeface="Cambria" pitchFamily="34" charset="-120"/>
              </a:rPr>
              <a:t>In the corpus: everything the collection missed, then everything the filter cut</a:t>
            </a:r>
            <a:endParaRPr lang="en-US" sz="1750" dirty="0"/>
          </a:p>
        </p:txBody>
      </p:sp>
      <p:sp>
        <p:nvSpPr>
          <p:cNvPr id="14" name="Text 12"/>
          <p:cNvSpPr txBox="1"/>
          <p:nvPr/>
        </p:nvSpPr>
        <p:spPr>
          <a:xfrm>
            <a:off x="1600200" y="3374136"/>
            <a:ext cx="9509760" cy="804672"/>
          </a:xfrm>
          <a:prstGeom prst="rect">
            <a:avLst/>
          </a:prstGeom>
          <a:noFill/>
          <a:ln/>
        </p:spPr>
        <p:txBody>
          <a:bodyPr wrap="square" lIns="0" tIns="0" rIns="0" bIns="0" rtlCol="0" anchor="ctr"/>
          <a:lstStyle/>
          <a:p>
            <a:pPr marL="0" indent="0">
              <a:lnSpc>
                <a:spcPts val="1700"/>
              </a:lnSpc>
              <a:buNone/>
            </a:pPr>
            <a:r>
              <a:rPr lang="en-US" sz="1250" dirty="0">
                <a:solidFill>
                  <a:srgbClr val="5B6474"/>
                </a:solidFill>
                <a:latin typeface="Calibri" pitchFamily="34" charset="0"/>
                <a:ea typeface="Calibri" pitchFamily="34" charset="-122"/>
                <a:cs typeface="Calibri" pitchFamily="34" charset="-120"/>
              </a:rPr>
              <a:t>Bender’s argument adds a stage the GAN story does not have. Before any optimisation, somebody decided what to gather and what to remove, and both decisions preferentially removed the already-marginal. The distribution was narrowed before training began.</a:t>
            </a:r>
            <a:endParaRPr lang="en-US" sz="1250" dirty="0"/>
          </a:p>
        </p:txBody>
      </p:sp>
      <p:sp>
        <p:nvSpPr>
          <p:cNvPr id="15" name="Shape 13"/>
          <p:cNvSpPr/>
          <p:nvPr/>
        </p:nvSpPr>
        <p:spPr>
          <a:xfrm>
            <a:off x="640080" y="4279392"/>
            <a:ext cx="10911535" cy="1417320"/>
          </a:xfrm>
          <a:prstGeom prst="roundRect">
            <a:avLst>
              <a:gd name="adj" fmla="val 5161"/>
            </a:avLst>
          </a:prstGeom>
          <a:solidFill>
            <a:srgbClr val="0E131B"/>
          </a:solidFill>
          <a:ln w="12700">
            <a:solidFill>
              <a:srgbClr val="0E131B"/>
            </a:solidFill>
            <a:prstDash val="solid"/>
          </a:ln>
        </p:spPr>
        <p:txBody>
          <a:bodyPr/>
          <a:lstStyle/>
          <a:p>
            <a:endParaRPr lang="en-US"/>
          </a:p>
        </p:txBody>
      </p:sp>
      <p:sp>
        <p:nvSpPr>
          <p:cNvPr id="16" name="Shape 14"/>
          <p:cNvSpPr/>
          <p:nvPr/>
        </p:nvSpPr>
        <p:spPr>
          <a:xfrm>
            <a:off x="960120" y="4809744"/>
            <a:ext cx="384048" cy="384048"/>
          </a:xfrm>
          <a:prstGeom prst="ellipse">
            <a:avLst/>
          </a:prstGeom>
          <a:solidFill>
            <a:srgbClr val="9C3D6E"/>
          </a:solidFill>
          <a:ln/>
        </p:spPr>
        <p:txBody>
          <a:bodyPr/>
          <a:lstStyle/>
          <a:p>
            <a:endParaRPr lang="en-US"/>
          </a:p>
        </p:txBody>
      </p:sp>
      <p:sp>
        <p:nvSpPr>
          <p:cNvPr id="17" name="Text 15"/>
          <p:cNvSpPr txBox="1"/>
          <p:nvPr/>
        </p:nvSpPr>
        <p:spPr>
          <a:xfrm>
            <a:off x="960120" y="480974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1600200" y="4443984"/>
            <a:ext cx="9509760" cy="384048"/>
          </a:xfrm>
          <a:prstGeom prst="rect">
            <a:avLst/>
          </a:prstGeom>
          <a:noFill/>
          <a:ln/>
        </p:spPr>
        <p:txBody>
          <a:bodyPr wrap="square" lIns="0" tIns="0" rIns="0" bIns="0" rtlCol="0" anchor="ctr"/>
          <a:lstStyle/>
          <a:p>
            <a:pPr marL="0" indent="0">
              <a:buNone/>
            </a:pPr>
            <a:r>
              <a:rPr lang="en-US" sz="1750" b="1" dirty="0">
                <a:solidFill>
                  <a:srgbClr val="DFA9C4"/>
                </a:solidFill>
                <a:latin typeface="Cambria" pitchFamily="34" charset="0"/>
                <a:ea typeface="Cambria" pitchFamily="34" charset="-122"/>
                <a:cs typeface="Cambria" pitchFamily="34" charset="-120"/>
              </a:rPr>
              <a:t>In the world: whatever the default was already excluding</a:t>
            </a:r>
            <a:endParaRPr lang="en-US" sz="1750" dirty="0"/>
          </a:p>
        </p:txBody>
      </p:sp>
      <p:sp>
        <p:nvSpPr>
          <p:cNvPr id="19" name="Text 17"/>
          <p:cNvSpPr txBox="1"/>
          <p:nvPr/>
        </p:nvSpPr>
        <p:spPr>
          <a:xfrm>
            <a:off x="1600200" y="4864608"/>
            <a:ext cx="9509760" cy="804672"/>
          </a:xfrm>
          <a:prstGeom prst="rect">
            <a:avLst/>
          </a:prstGeom>
          <a:noFill/>
          <a:ln/>
        </p:spPr>
        <p:txBody>
          <a:bodyPr wrap="square" lIns="0" tIns="0" rIns="0" bIns="0" rtlCol="0" anchor="ctr"/>
          <a:lstStyle/>
          <a:p>
            <a:pPr marL="0" indent="0">
              <a:lnSpc>
                <a:spcPts val="1700"/>
              </a:lnSpc>
              <a:buNone/>
            </a:pPr>
            <a:r>
              <a:rPr lang="en-US" sz="1250" dirty="0">
                <a:solidFill>
                  <a:srgbClr val="F2F4F8"/>
                </a:solidFill>
                <a:latin typeface="Calibri" pitchFamily="34" charset="0"/>
                <a:ea typeface="Calibri" pitchFamily="34" charset="-122"/>
                <a:cs typeface="Calibri" pitchFamily="34" charset="-120"/>
              </a:rPr>
              <a:t>Benjamin’s addition is that the baseline is not a neutral starting point but an inherited arrangement with beneficiaries. A system that reproduces it faithfully is not malfunctioning, and calling the result a collapse risks making it sound accidental when it is not.</a:t>
            </a:r>
            <a:endParaRPr lang="en-US" sz="1250" dirty="0"/>
          </a:p>
        </p:txBody>
      </p:sp>
      <p:sp>
        <p:nvSpPr>
          <p:cNvPr id="20" name="Shape 18"/>
          <p:cNvSpPr/>
          <p:nvPr/>
        </p:nvSpPr>
        <p:spPr>
          <a:xfrm>
            <a:off x="640080" y="5833872"/>
            <a:ext cx="10911535" cy="548640"/>
          </a:xfrm>
          <a:prstGeom prst="roundRect">
            <a:avLst>
              <a:gd name="adj" fmla="val 13333"/>
            </a:avLst>
          </a:prstGeom>
          <a:solidFill>
            <a:srgbClr val="E6F2EF"/>
          </a:solidFill>
          <a:ln w="12700">
            <a:solidFill>
              <a:srgbClr val="E6F2EF"/>
            </a:solidFill>
            <a:prstDash val="solid"/>
          </a:ln>
        </p:spPr>
        <p:txBody>
          <a:bodyPr/>
          <a:lstStyle/>
          <a:p>
            <a:endParaRPr lang="en-US"/>
          </a:p>
        </p:txBody>
      </p:sp>
      <p:sp>
        <p:nvSpPr>
          <p:cNvPr id="21" name="Text 19"/>
          <p:cNvSpPr txBox="1"/>
          <p:nvPr/>
        </p:nvSpPr>
        <p:spPr>
          <a:xfrm>
            <a:off x="1005840" y="5833872"/>
            <a:ext cx="10424160" cy="548640"/>
          </a:xfrm>
          <a:prstGeom prst="rect">
            <a:avLst/>
          </a:prstGeom>
          <a:noFill/>
          <a:ln/>
        </p:spPr>
        <p:txBody>
          <a:bodyPr wrap="square" lIns="0" tIns="0" rIns="0" bIns="0" rtlCol="0" anchor="ctr"/>
          <a:lstStyle/>
          <a:p>
            <a:pPr marL="0" indent="0">
              <a:buNone/>
            </a:pPr>
            <a:r>
              <a:rPr lang="en-US" sz="1500" i="1" dirty="0">
                <a:solidFill>
                  <a:srgbClr val="1F7A6B"/>
                </a:solidFill>
                <a:latin typeface="Cambria" pitchFamily="34" charset="0"/>
                <a:ea typeface="Cambria" pitchFamily="34" charset="-122"/>
                <a:cs typeface="Cambria" pitchFamily="34" charset="-120"/>
              </a:rPr>
              <a:t>Three different mechanisms. One shape. Saying which you mean, every time, is the skill.</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7">
    <p:bg>
      <p:bgPr>
        <a:solidFill>
          <a:srgbClr val="0E131B"/>
        </a:solidFill>
        <a:effectLst/>
      </p:bgPr>
    </p:bg>
    <p:spTree>
      <p:nvGrpSpPr>
        <p:cNvPr id="1" name=""/>
        <p:cNvGrpSpPr/>
        <p:nvPr/>
      </p:nvGrpSpPr>
      <p:grpSpPr>
        <a:xfrm>
          <a:off x="0" y="0"/>
          <a:ext cx="0" cy="0"/>
          <a:chOff x="0" y="0"/>
          <a:chExt cx="0" cy="0"/>
        </a:xfrm>
      </p:grpSpPr>
      <p:sp>
        <p:nvSpPr>
          <p:cNvPr id="2" name="Shape 0"/>
          <p:cNvSpPr/>
          <p:nvPr/>
        </p:nvSpPr>
        <p:spPr>
          <a:xfrm>
            <a:off x="640080" y="502920"/>
            <a:ext cx="137160" cy="137160"/>
          </a:xfrm>
          <a:prstGeom prst="ellipse">
            <a:avLst/>
          </a:prstGeom>
          <a:solidFill>
            <a:srgbClr val="DFA9C4"/>
          </a:solidFill>
          <a:ln/>
        </p:spPr>
        <p:txBody>
          <a:bodyPr/>
          <a:lstStyle/>
          <a:p>
            <a:endParaRPr lang="en-US"/>
          </a:p>
        </p:txBody>
      </p:sp>
      <p:sp>
        <p:nvSpPr>
          <p:cNvPr id="3" name="Text 1"/>
          <p:cNvSpPr txBox="1"/>
          <p:nvPr/>
        </p:nvSpPr>
        <p:spPr>
          <a:xfrm>
            <a:off x="886968" y="438912"/>
            <a:ext cx="10515600" cy="274320"/>
          </a:xfrm>
          <a:prstGeom prst="rect">
            <a:avLst/>
          </a:prstGeom>
          <a:noFill/>
          <a:ln/>
        </p:spPr>
        <p:txBody>
          <a:bodyPr wrap="square" lIns="0" tIns="0" rIns="0" bIns="0" rtlCol="0" anchor="ctr"/>
          <a:lstStyle/>
          <a:p>
            <a:pPr marL="0" indent="0">
              <a:buNone/>
            </a:pPr>
            <a:r>
              <a:rPr lang="en-US" sz="1100" b="1" kern="0" spc="160" dirty="0">
                <a:solidFill>
                  <a:srgbClr val="DFA9C4"/>
                </a:solidFill>
                <a:latin typeface="Calibri" pitchFamily="34" charset="0"/>
                <a:ea typeface="Calibri" pitchFamily="34" charset="-122"/>
                <a:cs typeface="Calibri" pitchFamily="34" charset="-120"/>
              </a:rPr>
              <a:t>EXIT TICKET · TEN MINUTES · HANDED IN</a:t>
            </a:r>
            <a:endParaRPr lang="en-US" sz="1100" dirty="0"/>
          </a:p>
        </p:txBody>
      </p:sp>
      <p:sp>
        <p:nvSpPr>
          <p:cNvPr id="4" name="Text 2"/>
          <p:cNvSpPr txBox="1"/>
          <p:nvPr/>
        </p:nvSpPr>
        <p:spPr>
          <a:xfrm>
            <a:off x="640080" y="868680"/>
            <a:ext cx="10911535" cy="640080"/>
          </a:xfrm>
          <a:prstGeom prst="rect">
            <a:avLst/>
          </a:prstGeom>
          <a:noFill/>
          <a:ln/>
        </p:spPr>
        <p:txBody>
          <a:bodyPr wrap="square" lIns="0" tIns="0" rIns="0" bIns="0" rtlCol="0" anchor="ctr"/>
          <a:lstStyle/>
          <a:p>
            <a:pPr marL="0" indent="0">
              <a:buNone/>
            </a:pPr>
            <a:r>
              <a:rPr lang="en-US" sz="3300" b="1" dirty="0">
                <a:solidFill>
                  <a:srgbClr val="F2F4F8"/>
                </a:solidFill>
                <a:latin typeface="Cambria" pitchFamily="34" charset="0"/>
                <a:ea typeface="Cambria" pitchFamily="34" charset="-122"/>
                <a:cs typeface="Cambria" pitchFamily="34" charset="-120"/>
              </a:rPr>
              <a:t>Rewrite your warm-up</a:t>
            </a:r>
            <a:endParaRPr lang="en-US" sz="3300" dirty="0"/>
          </a:p>
        </p:txBody>
      </p:sp>
      <p:sp>
        <p:nvSpPr>
          <p:cNvPr id="5" name="Shape 3"/>
          <p:cNvSpPr/>
          <p:nvPr/>
        </p:nvSpPr>
        <p:spPr>
          <a:xfrm>
            <a:off x="640080" y="1737360"/>
            <a:ext cx="6675120" cy="2331720"/>
          </a:xfrm>
          <a:prstGeom prst="roundRect">
            <a:avLst>
              <a:gd name="adj" fmla="val 3137"/>
            </a:avLst>
          </a:prstGeom>
          <a:solidFill>
            <a:srgbClr val="1C2430"/>
          </a:solidFill>
          <a:ln w="12700">
            <a:solidFill>
              <a:srgbClr val="1C2430"/>
            </a:solidFill>
            <a:prstDash val="solid"/>
          </a:ln>
        </p:spPr>
        <p:txBody>
          <a:bodyPr/>
          <a:lstStyle/>
          <a:p>
            <a:endParaRPr lang="en-US"/>
          </a:p>
        </p:txBody>
      </p:sp>
      <p:sp>
        <p:nvSpPr>
          <p:cNvPr id="6" name="Text 4"/>
          <p:cNvSpPr txBox="1"/>
          <p:nvPr/>
        </p:nvSpPr>
        <p:spPr>
          <a:xfrm>
            <a:off x="1024128" y="1920240"/>
            <a:ext cx="5897880" cy="2011680"/>
          </a:xfrm>
          <a:prstGeom prst="rect">
            <a:avLst/>
          </a:prstGeom>
          <a:noFill/>
          <a:ln/>
        </p:spPr>
        <p:txBody>
          <a:bodyPr wrap="square" lIns="0" tIns="0" rIns="0" bIns="0" rtlCol="0" anchor="ctr"/>
          <a:lstStyle/>
          <a:p>
            <a:pPr marL="0" indent="0">
              <a:lnSpc>
                <a:spcPts val="2200"/>
              </a:lnSpc>
              <a:buNone/>
            </a:pPr>
            <a:r>
              <a:rPr lang="en-US" sz="1550" dirty="0">
                <a:solidFill>
                  <a:srgbClr val="FFFFFF"/>
                </a:solidFill>
                <a:latin typeface="Cambria" pitchFamily="34" charset="0"/>
                <a:ea typeface="Cambria" pitchFamily="34" charset="-122"/>
                <a:cs typeface="Cambria" pitchFamily="34" charset="-120"/>
              </a:rPr>
              <a:t>Return to the audience whose approval you learned, and what stopped coming out. Rewrite it using this session’s vocabulary — name the critic, name the objective, name what was never in it.</a:t>
            </a:r>
            <a:endParaRPr lang="en-US" sz="1550" dirty="0"/>
          </a:p>
          <a:p>
            <a:pPr marL="0" indent="0">
              <a:lnSpc>
                <a:spcPts val="2200"/>
              </a:lnSpc>
              <a:buNone/>
            </a:pPr>
            <a:endParaRPr lang="en-US" sz="1550" dirty="0"/>
          </a:p>
          <a:p>
            <a:pPr marL="0" indent="0">
              <a:lnSpc>
                <a:spcPts val="2200"/>
              </a:lnSpc>
              <a:buNone/>
            </a:pPr>
            <a:r>
              <a:rPr lang="en-US" sz="1550" dirty="0">
                <a:solidFill>
                  <a:srgbClr val="FFFFFF"/>
                </a:solidFill>
                <a:latin typeface="Cambria" pitchFamily="34" charset="0"/>
                <a:ea typeface="Cambria" pitchFamily="34" charset="-122"/>
                <a:cs typeface="Cambria" pitchFamily="34" charset="-120"/>
              </a:rPr>
              <a:t>Then do the harder half: state one respect in which mode collapse is the wrong word for what happened to you, and say what would be a better one.</a:t>
            </a:r>
            <a:endParaRPr lang="en-US" sz="1550" dirty="0"/>
          </a:p>
        </p:txBody>
      </p:sp>
      <p:sp>
        <p:nvSpPr>
          <p:cNvPr id="7" name="Shape 5"/>
          <p:cNvSpPr/>
          <p:nvPr/>
        </p:nvSpPr>
        <p:spPr>
          <a:xfrm>
            <a:off x="7635240" y="1737360"/>
            <a:ext cx="3895344" cy="2331720"/>
          </a:xfrm>
          <a:prstGeom prst="roundRect">
            <a:avLst>
              <a:gd name="adj" fmla="val 3137"/>
            </a:avLst>
          </a:prstGeom>
          <a:solidFill>
            <a:srgbClr val="1F7A6B"/>
          </a:solidFill>
          <a:ln w="12700">
            <a:solidFill>
              <a:srgbClr val="1F7A6B"/>
            </a:solidFill>
            <a:prstDash val="solid"/>
          </a:ln>
        </p:spPr>
        <p:txBody>
          <a:bodyPr/>
          <a:lstStyle/>
          <a:p>
            <a:endParaRPr lang="en-US"/>
          </a:p>
        </p:txBody>
      </p:sp>
      <p:sp>
        <p:nvSpPr>
          <p:cNvPr id="8" name="Text 6"/>
          <p:cNvSpPr txBox="1"/>
          <p:nvPr/>
        </p:nvSpPr>
        <p:spPr>
          <a:xfrm>
            <a:off x="7955280" y="1938528"/>
            <a:ext cx="3291840" cy="292608"/>
          </a:xfrm>
          <a:prstGeom prst="rect">
            <a:avLst/>
          </a:prstGeom>
          <a:noFill/>
          <a:ln/>
        </p:spPr>
        <p:txBody>
          <a:bodyPr wrap="square" lIns="0" tIns="0" rIns="0" bIns="0" rtlCol="0" anchor="ctr"/>
          <a:lstStyle/>
          <a:p>
            <a:pPr marL="0" indent="0">
              <a:buNone/>
            </a:pPr>
            <a:r>
              <a:rPr lang="en-US" sz="1150" b="1" kern="0" spc="130" dirty="0">
                <a:solidFill>
                  <a:srgbClr val="FFFFFF"/>
                </a:solidFill>
                <a:latin typeface="Calibri" pitchFamily="34" charset="0"/>
                <a:ea typeface="Calibri" pitchFamily="34" charset="-122"/>
                <a:cs typeface="Calibri" pitchFamily="34" charset="-120"/>
              </a:rPr>
              <a:t>A “Reasonable</a:t>
            </a:r>
            <a:r>
              <a:rPr lang="en-US" sz="1150" b="1" kern="0" spc="130">
                <a:solidFill>
                  <a:srgbClr val="FFFFFF"/>
                </a:solidFill>
                <a:latin typeface="Calibri" pitchFamily="34" charset="0"/>
                <a:ea typeface="Calibri" pitchFamily="34" charset="-122"/>
                <a:cs typeface="Calibri" pitchFamily="34" charset="-120"/>
              </a:rPr>
              <a:t>” Answer:</a:t>
            </a:r>
            <a:endParaRPr lang="en-US" sz="1150" dirty="0"/>
          </a:p>
        </p:txBody>
      </p:sp>
      <p:sp>
        <p:nvSpPr>
          <p:cNvPr id="9" name="Text 7"/>
          <p:cNvSpPr txBox="1"/>
          <p:nvPr/>
        </p:nvSpPr>
        <p:spPr>
          <a:xfrm>
            <a:off x="7955280" y="2359152"/>
            <a:ext cx="3291840" cy="1554480"/>
          </a:xfrm>
          <a:prstGeom prst="rect">
            <a:avLst/>
          </a:prstGeom>
          <a:noFill/>
          <a:ln/>
        </p:spPr>
        <p:txBody>
          <a:bodyPr wrap="square" lIns="0" tIns="0" rIns="0" bIns="0" rtlCol="0" anchor="ctr"/>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The second half. Anyone can apply a new term. The paragraph that identifies precisely where the term stops fitting, and proposes a replacement, is the one doing the work this unit was designed to teach.</a:t>
            </a:r>
            <a:endParaRPr lang="en-US" sz="1250" dirty="0"/>
          </a:p>
        </p:txBody>
      </p:sp>
      <p:sp>
        <p:nvSpPr>
          <p:cNvPr id="17" name="Text 15"/>
          <p:cNvSpPr txBox="1"/>
          <p:nvPr/>
        </p:nvSpPr>
        <p:spPr>
          <a:xfrm>
            <a:off x="640080" y="6291072"/>
            <a:ext cx="10881360" cy="274320"/>
          </a:xfrm>
          <a:prstGeom prst="rect">
            <a:avLst/>
          </a:prstGeom>
          <a:noFill/>
          <a:ln/>
        </p:spPr>
        <p:txBody>
          <a:bodyPr wrap="square" lIns="0" tIns="0" rIns="0" bIns="0" rtlCol="0" anchor="ctr"/>
          <a:lstStyle/>
          <a:p>
            <a:pPr marL="0" indent="0">
              <a:buNone/>
            </a:pPr>
            <a:r>
              <a:rPr lang="en-US" sz="1000" i="1" dirty="0">
                <a:solidFill>
                  <a:srgbClr val="5B6474"/>
                </a:solidFill>
                <a:latin typeface="Calibri" pitchFamily="34" charset="0"/>
                <a:ea typeface="Calibri" pitchFamily="34" charset="-122"/>
                <a:cs typeface="Calibri" pitchFamily="34" charset="-120"/>
              </a:rPr>
              <a:t>Texts: Goodfellow et al. (NeurIPS 2014); Bender, Gebru, McMillan-Major and Shmitchell (FAccT 2021); Benjamin, Race After Technology (Polity, 2019).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7313</Words>
  <Application>Microsoft Office PowerPoint</Application>
  <PresentationFormat>Widescreen</PresentationFormat>
  <Paragraphs>484</Paragraphs>
  <Slides>33</Slides>
  <Notes>33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Cambria</vt:lpstr>
      <vt:lpstr>Cambria Math</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 Collapse</dc:title>
  <dc:subject>PptxGenJS Presentation</dc:subject>
  <dc:creator>Course materials</dc:creator>
  <cp:lastModifiedBy>Ashley Y. Gao</cp:lastModifiedBy>
  <cp:revision>3</cp:revision>
  <dcterms:created xsi:type="dcterms:W3CDTF">2026-09-16T12:32:11Z</dcterms:created>
  <dcterms:modified xsi:type="dcterms:W3CDTF">2026-09-16T14:00:16Z</dcterms:modified>
</cp:coreProperties>
</file>