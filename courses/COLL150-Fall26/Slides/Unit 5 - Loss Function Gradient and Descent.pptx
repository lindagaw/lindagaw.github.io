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4"/>
  </p:notesMasterIdLst>
  <p:sldIdLst>
    <p:sldId id="256" r:id="rId2"/>
    <p:sldId id="258"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5" r:id="rId18"/>
    <p:sldId id="276" r:id="rId19"/>
    <p:sldId id="277" r:id="rId20"/>
    <p:sldId id="278" r:id="rId21"/>
    <p:sldId id="279" r:id="rId22"/>
    <p:sldId id="280" r:id="rId23"/>
    <p:sldId id="281" r:id="rId24"/>
    <p:sldId id="282" r:id="rId25"/>
    <p:sldId id="283" r:id="rId26"/>
    <p:sldId id="285" r:id="rId27"/>
    <p:sldId id="286" r:id="rId28"/>
    <p:sldId id="287" r:id="rId29"/>
    <p:sldId id="288" r:id="rId30"/>
    <p:sldId id="289" r:id="rId31"/>
    <p:sldId id="290" r:id="rId32"/>
    <p:sldId id="292" r:id="rId33"/>
    <p:sldId id="293" r:id="rId34"/>
    <p:sldId id="294" r:id="rId35"/>
    <p:sldId id="295" r:id="rId36"/>
    <p:sldId id="296" r:id="rId37"/>
    <p:sldId id="297" r:id="rId38"/>
    <p:sldId id="298" r:id="rId39"/>
    <p:sldId id="299" r:id="rId40"/>
    <p:sldId id="300" r:id="rId41"/>
    <p:sldId id="301" r:id="rId42"/>
    <p:sldId id="303" r:id="rId4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9" d="100"/>
          <a:sy n="119" d="100"/>
        </p:scale>
        <p:origin x="50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2493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equation on the title slide is the whole session in six characters, and it is deliberately there from minute zero so that the room gets used to looking at it. By 2:25 every student should be able to read it aloud in English. Tell them that is the target, out loud, early — a concrete and achievable goal defuses most of the anxiety a humanities room brings to a technical week.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Honour the third card the first time someone uses it. The room is testing whether the invitation was real, and everything that follows depends on their verdict.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this. The answer we build toward is that the remainder is not neutral: an optimiser does not ignore what was left out, it spends it, because anything unmeasured is free to consume in service of what is measured.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equation up and say plainly that it is unreadable right now and will not be in two hours. Naming the destination converts the notation from a threat into a puzzle. The third card is the instructor’s framing and the thesis of the week — read it rather than paraphrasing.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Fifteen minutes. Print the decoder slide and hand it out, or leave it on a side screen. Students will refer back to it constantly and having to flip back through slides breaks the flow.</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symbol out loud with its name — theta, sigma, nabla, eta. A surprising amount of technical anxiety comes from not knowing how to pronounce something and therefore not being able to think about it or ask about it. Naming them out loud costs ninety seconds and removes that barrier entirely.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does more for a mixed-background room than any amount of reassurance. Students who fear mathematics usually believe the symbols contain something the words do not. Saying explicitly that the three registers are equivalent, and then keeping that promise all session, is what lets them relax enough to learn.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Forty-five minutes. Go slowly and check comprehension out loud at the checkpoint. Nobody should leave this block unsure what the number is a number of.</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that nobody can explain how they recognise a three deserves a full minute; it explains why this approach exists at all. People tried to write the rules first, for decades, and it did not work.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three cells and read their numbers aloud. Students who have never done this genuinely do not know that an image is a list of numbers, and five seconds of demonstration saves an hour of confusion. The third card introduces the idea of notation as labour-saving rather than as gatekeeping.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takeaway is the first appearance of the week’s argument and it is deliberately early, before any equation. Two human judgements are baked in and made unrevisable: the labels and the label set. Flag it now, collect it at 3:00.</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addition on the board. Ninety seconds, and the mystery is permanently gone. Then promise explicitly that the next slide adds no new content — keeping that promise is what makes the notation feel safe.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one term of the sum out loud against the previous slide’s table — j equals three, a is 0.72, y is 1, difference is minus 0.28, squared is 0.0784. Watching a symbol resolve into a number they have already seen is the moment most students stop being afraid of the notation.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that last sentence plainly. Students often believe notation exists to exclude them; it exists because fifty thousand lines will not fit on a page. Framing it as compression rather than code makes the rest of the day much easier.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where the humanities argument first becomes technically precise, and it is worth ten minutes. Ask the room which of the three they would want used on a system grading their work, and make them say why — they will discover they have strong opinions about an exponent.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Actually stop and make someone say it back. In a from-zero room about a third will have quietly substituted “C is how bad the AI is,” which is the misunderstanding the rest of the session exists to prevent. The C(θ) rather than C(x) point is the hinge of the whole unit — take it at half speed.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Fifty-five minutes and the mathematical heart of the session. Build one knob, then two, then many, in that order, without skipping. Each step earns one new symbol.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cures calculus anxiety if you let it breathe. Say explicitly that the limit notation is not concealing anything — it is the same nudge-and-look, with the nudge taken as small as you like. Students who were told in school that derivatives were difficult find this genuinely liberating.</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annotations on the curve — slope negative, slope zero at the bottom — are the ones to point at physically. Having a symbol attached to a place on a picture is what makes the symbol stop being abstract.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mixing-desk analogy works well here: a sound engineer with a thousand faders asking what one fader does to the mix, with every other fader taped in place. That is a partial derivative and most students find it immediately obvious once it has a physical form.</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Contour maps are familiar to anyone who has used a walking map, and leaning on that is far more effective than attempting a three-dimensional surface. The fourth card is where the minus sign in the update rule gets earned — point at it again when the rule appears.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asks whether the gradient is “really” a vector or a list, the honest answer is that it is a list which behaves usefully like an arrow, and that the arrow intuition from the two-knob contour map carries over exactly. Resist the temptation to do vector calculus — nothing today needs it.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slide for the whole mathematical arc. Have the room read it aloud in English, together, once. It sounds ridiculous and it works — students remember things they have said out loud, and the equation stops being alien at exactly that moment.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middle panel is worth pointing at: with too large a step the loss goes up, which surprises students who assume optimisation always improves things. It is also a good moment to say that most of practical machine learning is this kind of craft rather than derivation.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room do step five with you on the board — give them a slope of 0.070 and let them compute 0.319 minus 0.007. It takes twenty seconds and it converts the update rule from a symbol into something they have personally executed.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Twenty-five minutes. This is the block to compress if you are behind — students can take backpropagation on trust without damaging the argument.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gear ratios make this land in about a minute. Do not attempt a derivation. What students need is the conviction that the slope for a deeply buried weight is computable without magic, and the gear chain gives them that.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smoothness point is one of the best ideas in the videos and students routinely miss it. It is also the most portable observation of the day: the shape of a made thing is frequently determined by what its making process could handle, not by what anyone wanted.</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on screen for the whole of the second half and refer back to it. Students who can map a claim in the argument onto a line on this page are doing exactly what the unit is for.</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takeaway is the sentence of the session, and it now has a referent: C is on the board, defined, with a formula. Write the sentence under the key question and leave both up.</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collect the warm-up. Take two or three read-outs and label each live: goal, proxy, gap. The concept becomes permanent the moment it is applied to their own grievance about a grade or a review.</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Forty minutes. The gallery is fun and the fun is functional — it buys attention for the taxonomy, which is what students will use in their essays.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right-hand card is the sentence to slow down on: an unmeasured value is not neutral under optimisation, it is a resource. Being on fire was affordable because nothing in C charged for it.</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two or three aloud and let the room laugh — then ask what the laugh is doing. We laugh because the behaviour is obviously not what was meant, which means we all have access to the intended goal and none of us could write it into C. That is the problem, stated exactly.</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rebellion card is essential in this particular course, because four weeks of fiction have primed exactly that reading. Say plainly that the Frankenstein frame is the wrong one here — then spend Part Five showing which part of the Frankenstein frame is the right one.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students explicitly that reward hacking gets its own full section just past the end of the assigned reading, and that it is the section most directly about today’s gallery. The ones who read it will write better essays.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λ slide is where students see that the fix reproduces the original problem one level up: a new term, a new weighting, a new set of things left out. The last box is genuinely open — nobody knows whether specification is a hard problem that will be solved or a structurally endless one, and saying so honestly is more useful than optimism or doom.</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two is the deep one — it asks where tacit knowledge lives, and it connects this unit to the whole humanities half of the course. If a pair gets somewhere good with it, give them extra airtime.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minutes. This is the instructor’s question and it is genuinely open; the last slide of the block exists to keep the analogy honest.</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out loud that the equation is a reading device we invented, not something in the novel. The scale decision is the detail that makes this more than a clever overlay: it is exactly the kind of choice engineers make constantly — adopted for tractability, invisible in the specification, permanent in the artefact — and Shelley put it in the text.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hard on the right-hand column. A room that has spent four weeks on fiction will want the analogy tighter than it is, and the discipline of saying where a comparison fails is the most transferable skill this course teaches.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 of four undocumented judgements in the first card is the payoff for having done the mathematics properly. Students who did not sit through the derivation could not make that list, and making it is the whole reason a literature course spent three hours on calculus.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722"/>
        </a:solidFill>
        <a:effectLst/>
      </p:bgPr>
    </p:bg>
    <p:spTree>
      <p:nvGrpSpPr>
        <p:cNvPr id="1" name=""/>
        <p:cNvGrpSpPr/>
        <p:nvPr/>
      </p:nvGrpSpPr>
      <p:grpSpPr>
        <a:xfrm>
          <a:off x="0" y="0"/>
          <a:ext cx="0" cy="0"/>
          <a:chOff x="0" y="0"/>
          <a:chExt cx="0" cy="0"/>
        </a:xfrm>
      </p:grpSpPr>
      <p:sp>
        <p:nvSpPr>
          <p:cNvPr id="2" name="Shape 0"/>
          <p:cNvSpPr/>
          <p:nvPr/>
        </p:nvSpPr>
        <p:spPr>
          <a:xfrm>
            <a:off x="7612380" y="1714500"/>
            <a:ext cx="45720" cy="45720"/>
          </a:xfrm>
          <a:prstGeom prst="ellipse">
            <a:avLst/>
          </a:prstGeom>
          <a:solidFill>
            <a:srgbClr val="8FB4DE"/>
          </a:solidFill>
          <a:ln/>
        </p:spPr>
        <p:txBody>
          <a:bodyPr/>
          <a:lstStyle/>
          <a:p>
            <a:endParaRPr lang="en-US"/>
          </a:p>
        </p:txBody>
      </p:sp>
      <p:sp>
        <p:nvSpPr>
          <p:cNvPr id="3" name="Shape 1"/>
          <p:cNvSpPr/>
          <p:nvPr/>
        </p:nvSpPr>
        <p:spPr>
          <a:xfrm>
            <a:off x="7674864" y="1834388"/>
            <a:ext cx="45720" cy="45720"/>
          </a:xfrm>
          <a:prstGeom prst="ellipse">
            <a:avLst/>
          </a:prstGeom>
          <a:solidFill>
            <a:srgbClr val="8FB4DE"/>
          </a:solidFill>
          <a:ln/>
        </p:spPr>
        <p:txBody>
          <a:bodyPr/>
          <a:lstStyle/>
          <a:p>
            <a:endParaRPr lang="en-US"/>
          </a:p>
        </p:txBody>
      </p:sp>
      <p:sp>
        <p:nvSpPr>
          <p:cNvPr id="4" name="Shape 2"/>
          <p:cNvSpPr/>
          <p:nvPr/>
        </p:nvSpPr>
        <p:spPr>
          <a:xfrm>
            <a:off x="7737348" y="1950212"/>
            <a:ext cx="45720" cy="45720"/>
          </a:xfrm>
          <a:prstGeom prst="ellipse">
            <a:avLst/>
          </a:prstGeom>
          <a:solidFill>
            <a:srgbClr val="8FB4DE"/>
          </a:solidFill>
          <a:ln/>
        </p:spPr>
        <p:txBody>
          <a:bodyPr/>
          <a:lstStyle/>
          <a:p>
            <a:endParaRPr lang="en-US"/>
          </a:p>
        </p:txBody>
      </p:sp>
      <p:sp>
        <p:nvSpPr>
          <p:cNvPr id="5" name="Shape 3"/>
          <p:cNvSpPr/>
          <p:nvPr/>
        </p:nvSpPr>
        <p:spPr>
          <a:xfrm>
            <a:off x="7799832" y="2061972"/>
            <a:ext cx="45720" cy="45720"/>
          </a:xfrm>
          <a:prstGeom prst="ellipse">
            <a:avLst/>
          </a:prstGeom>
          <a:solidFill>
            <a:srgbClr val="8FB4DE"/>
          </a:solidFill>
          <a:ln/>
        </p:spPr>
        <p:txBody>
          <a:bodyPr/>
          <a:lstStyle/>
          <a:p>
            <a:endParaRPr lang="en-US"/>
          </a:p>
        </p:txBody>
      </p:sp>
      <p:sp>
        <p:nvSpPr>
          <p:cNvPr id="6" name="Shape 4"/>
          <p:cNvSpPr/>
          <p:nvPr/>
        </p:nvSpPr>
        <p:spPr>
          <a:xfrm>
            <a:off x="7862316" y="2169668"/>
            <a:ext cx="45720" cy="45720"/>
          </a:xfrm>
          <a:prstGeom prst="ellipse">
            <a:avLst/>
          </a:prstGeom>
          <a:solidFill>
            <a:srgbClr val="8FB4DE"/>
          </a:solidFill>
          <a:ln/>
        </p:spPr>
        <p:txBody>
          <a:bodyPr/>
          <a:lstStyle/>
          <a:p>
            <a:endParaRPr lang="en-US"/>
          </a:p>
        </p:txBody>
      </p:sp>
      <p:sp>
        <p:nvSpPr>
          <p:cNvPr id="7" name="Shape 5"/>
          <p:cNvSpPr/>
          <p:nvPr/>
        </p:nvSpPr>
        <p:spPr>
          <a:xfrm>
            <a:off x="7924800" y="2273300"/>
            <a:ext cx="45720" cy="45720"/>
          </a:xfrm>
          <a:prstGeom prst="ellipse">
            <a:avLst/>
          </a:prstGeom>
          <a:solidFill>
            <a:srgbClr val="8FB4DE"/>
          </a:solidFill>
          <a:ln/>
        </p:spPr>
        <p:txBody>
          <a:bodyPr/>
          <a:lstStyle/>
          <a:p>
            <a:endParaRPr lang="en-US"/>
          </a:p>
        </p:txBody>
      </p:sp>
      <p:sp>
        <p:nvSpPr>
          <p:cNvPr id="8" name="Shape 6"/>
          <p:cNvSpPr/>
          <p:nvPr/>
        </p:nvSpPr>
        <p:spPr>
          <a:xfrm>
            <a:off x="7987284" y="2372868"/>
            <a:ext cx="45720" cy="45720"/>
          </a:xfrm>
          <a:prstGeom prst="ellipse">
            <a:avLst/>
          </a:prstGeom>
          <a:solidFill>
            <a:srgbClr val="8FB4DE"/>
          </a:solidFill>
          <a:ln/>
        </p:spPr>
        <p:txBody>
          <a:bodyPr/>
          <a:lstStyle/>
          <a:p>
            <a:endParaRPr lang="en-US"/>
          </a:p>
        </p:txBody>
      </p:sp>
      <p:sp>
        <p:nvSpPr>
          <p:cNvPr id="9" name="Shape 7"/>
          <p:cNvSpPr/>
          <p:nvPr/>
        </p:nvSpPr>
        <p:spPr>
          <a:xfrm>
            <a:off x="8049768" y="2468372"/>
            <a:ext cx="45720" cy="45720"/>
          </a:xfrm>
          <a:prstGeom prst="ellipse">
            <a:avLst/>
          </a:prstGeom>
          <a:solidFill>
            <a:srgbClr val="8FB4DE"/>
          </a:solidFill>
          <a:ln/>
        </p:spPr>
        <p:txBody>
          <a:bodyPr/>
          <a:lstStyle/>
          <a:p>
            <a:endParaRPr lang="en-US"/>
          </a:p>
        </p:txBody>
      </p:sp>
      <p:sp>
        <p:nvSpPr>
          <p:cNvPr id="10" name="Shape 8"/>
          <p:cNvSpPr/>
          <p:nvPr/>
        </p:nvSpPr>
        <p:spPr>
          <a:xfrm>
            <a:off x="8112252" y="2559812"/>
            <a:ext cx="45720" cy="45720"/>
          </a:xfrm>
          <a:prstGeom prst="ellipse">
            <a:avLst/>
          </a:prstGeom>
          <a:solidFill>
            <a:srgbClr val="8FB4DE"/>
          </a:solidFill>
          <a:ln/>
        </p:spPr>
        <p:txBody>
          <a:bodyPr/>
          <a:lstStyle/>
          <a:p>
            <a:endParaRPr lang="en-US"/>
          </a:p>
        </p:txBody>
      </p:sp>
      <p:sp>
        <p:nvSpPr>
          <p:cNvPr id="11" name="Shape 9"/>
          <p:cNvSpPr/>
          <p:nvPr/>
        </p:nvSpPr>
        <p:spPr>
          <a:xfrm>
            <a:off x="8174736" y="2647188"/>
            <a:ext cx="45720" cy="45720"/>
          </a:xfrm>
          <a:prstGeom prst="ellipse">
            <a:avLst/>
          </a:prstGeom>
          <a:solidFill>
            <a:srgbClr val="8FB4DE"/>
          </a:solidFill>
          <a:ln/>
        </p:spPr>
        <p:txBody>
          <a:bodyPr/>
          <a:lstStyle/>
          <a:p>
            <a:endParaRPr lang="en-US"/>
          </a:p>
        </p:txBody>
      </p:sp>
      <p:sp>
        <p:nvSpPr>
          <p:cNvPr id="12" name="Shape 10"/>
          <p:cNvSpPr/>
          <p:nvPr/>
        </p:nvSpPr>
        <p:spPr>
          <a:xfrm>
            <a:off x="8237220" y="2730500"/>
            <a:ext cx="45720" cy="45720"/>
          </a:xfrm>
          <a:prstGeom prst="ellipse">
            <a:avLst/>
          </a:prstGeom>
          <a:solidFill>
            <a:srgbClr val="8FB4DE"/>
          </a:solidFill>
          <a:ln/>
        </p:spPr>
        <p:txBody>
          <a:bodyPr/>
          <a:lstStyle/>
          <a:p>
            <a:endParaRPr lang="en-US"/>
          </a:p>
        </p:txBody>
      </p:sp>
      <p:sp>
        <p:nvSpPr>
          <p:cNvPr id="13" name="Shape 11"/>
          <p:cNvSpPr/>
          <p:nvPr/>
        </p:nvSpPr>
        <p:spPr>
          <a:xfrm>
            <a:off x="8299704" y="2809748"/>
            <a:ext cx="45720" cy="45720"/>
          </a:xfrm>
          <a:prstGeom prst="ellipse">
            <a:avLst/>
          </a:prstGeom>
          <a:solidFill>
            <a:srgbClr val="8FB4DE"/>
          </a:solidFill>
          <a:ln/>
        </p:spPr>
        <p:txBody>
          <a:bodyPr/>
          <a:lstStyle/>
          <a:p>
            <a:endParaRPr lang="en-US"/>
          </a:p>
        </p:txBody>
      </p:sp>
      <p:sp>
        <p:nvSpPr>
          <p:cNvPr id="14" name="Shape 12"/>
          <p:cNvSpPr/>
          <p:nvPr/>
        </p:nvSpPr>
        <p:spPr>
          <a:xfrm>
            <a:off x="8362188" y="2884932"/>
            <a:ext cx="45720" cy="45720"/>
          </a:xfrm>
          <a:prstGeom prst="ellipse">
            <a:avLst/>
          </a:prstGeom>
          <a:solidFill>
            <a:srgbClr val="8FB4DE"/>
          </a:solidFill>
          <a:ln/>
        </p:spPr>
        <p:txBody>
          <a:bodyPr/>
          <a:lstStyle/>
          <a:p>
            <a:endParaRPr lang="en-US"/>
          </a:p>
        </p:txBody>
      </p:sp>
      <p:sp>
        <p:nvSpPr>
          <p:cNvPr id="15" name="Shape 13"/>
          <p:cNvSpPr/>
          <p:nvPr/>
        </p:nvSpPr>
        <p:spPr>
          <a:xfrm>
            <a:off x="8424672" y="2956052"/>
            <a:ext cx="45720" cy="45720"/>
          </a:xfrm>
          <a:prstGeom prst="ellipse">
            <a:avLst/>
          </a:prstGeom>
          <a:solidFill>
            <a:srgbClr val="8FB4DE"/>
          </a:solidFill>
          <a:ln/>
        </p:spPr>
        <p:txBody>
          <a:bodyPr/>
          <a:lstStyle/>
          <a:p>
            <a:endParaRPr lang="en-US"/>
          </a:p>
        </p:txBody>
      </p:sp>
      <p:sp>
        <p:nvSpPr>
          <p:cNvPr id="16" name="Shape 14"/>
          <p:cNvSpPr/>
          <p:nvPr/>
        </p:nvSpPr>
        <p:spPr>
          <a:xfrm>
            <a:off x="8487156" y="3023108"/>
            <a:ext cx="45720" cy="45720"/>
          </a:xfrm>
          <a:prstGeom prst="ellipse">
            <a:avLst/>
          </a:prstGeom>
          <a:solidFill>
            <a:srgbClr val="8FB4DE"/>
          </a:solidFill>
          <a:ln/>
        </p:spPr>
        <p:txBody>
          <a:bodyPr/>
          <a:lstStyle/>
          <a:p>
            <a:endParaRPr lang="en-US"/>
          </a:p>
        </p:txBody>
      </p:sp>
      <p:sp>
        <p:nvSpPr>
          <p:cNvPr id="17" name="Shape 15"/>
          <p:cNvSpPr/>
          <p:nvPr/>
        </p:nvSpPr>
        <p:spPr>
          <a:xfrm>
            <a:off x="8549640" y="3086100"/>
            <a:ext cx="45720" cy="45720"/>
          </a:xfrm>
          <a:prstGeom prst="ellipse">
            <a:avLst/>
          </a:prstGeom>
          <a:solidFill>
            <a:srgbClr val="8FB4DE"/>
          </a:solidFill>
          <a:ln/>
        </p:spPr>
        <p:txBody>
          <a:bodyPr/>
          <a:lstStyle/>
          <a:p>
            <a:endParaRPr lang="en-US"/>
          </a:p>
        </p:txBody>
      </p:sp>
      <p:sp>
        <p:nvSpPr>
          <p:cNvPr id="18" name="Shape 16"/>
          <p:cNvSpPr/>
          <p:nvPr/>
        </p:nvSpPr>
        <p:spPr>
          <a:xfrm>
            <a:off x="8612124" y="3145028"/>
            <a:ext cx="45720" cy="45720"/>
          </a:xfrm>
          <a:prstGeom prst="ellipse">
            <a:avLst/>
          </a:prstGeom>
          <a:solidFill>
            <a:srgbClr val="8FB4DE"/>
          </a:solidFill>
          <a:ln/>
        </p:spPr>
        <p:txBody>
          <a:bodyPr/>
          <a:lstStyle/>
          <a:p>
            <a:endParaRPr lang="en-US"/>
          </a:p>
        </p:txBody>
      </p:sp>
      <p:sp>
        <p:nvSpPr>
          <p:cNvPr id="19" name="Shape 17"/>
          <p:cNvSpPr/>
          <p:nvPr/>
        </p:nvSpPr>
        <p:spPr>
          <a:xfrm>
            <a:off x="8674608" y="3199892"/>
            <a:ext cx="45720" cy="45720"/>
          </a:xfrm>
          <a:prstGeom prst="ellipse">
            <a:avLst/>
          </a:prstGeom>
          <a:solidFill>
            <a:srgbClr val="8FB4DE"/>
          </a:solidFill>
          <a:ln/>
        </p:spPr>
        <p:txBody>
          <a:bodyPr/>
          <a:lstStyle/>
          <a:p>
            <a:endParaRPr lang="en-US"/>
          </a:p>
        </p:txBody>
      </p:sp>
      <p:sp>
        <p:nvSpPr>
          <p:cNvPr id="20" name="Shape 18"/>
          <p:cNvSpPr/>
          <p:nvPr/>
        </p:nvSpPr>
        <p:spPr>
          <a:xfrm>
            <a:off x="8737092" y="3250692"/>
            <a:ext cx="45720" cy="45720"/>
          </a:xfrm>
          <a:prstGeom prst="ellipse">
            <a:avLst/>
          </a:prstGeom>
          <a:solidFill>
            <a:srgbClr val="8FB4DE"/>
          </a:solidFill>
          <a:ln/>
        </p:spPr>
        <p:txBody>
          <a:bodyPr/>
          <a:lstStyle/>
          <a:p>
            <a:endParaRPr lang="en-US"/>
          </a:p>
        </p:txBody>
      </p:sp>
      <p:sp>
        <p:nvSpPr>
          <p:cNvPr id="21" name="Shape 19"/>
          <p:cNvSpPr/>
          <p:nvPr/>
        </p:nvSpPr>
        <p:spPr>
          <a:xfrm>
            <a:off x="8799576" y="3297428"/>
            <a:ext cx="45720" cy="45720"/>
          </a:xfrm>
          <a:prstGeom prst="ellipse">
            <a:avLst/>
          </a:prstGeom>
          <a:solidFill>
            <a:srgbClr val="8FB4DE"/>
          </a:solidFill>
          <a:ln/>
        </p:spPr>
        <p:txBody>
          <a:bodyPr/>
          <a:lstStyle/>
          <a:p>
            <a:endParaRPr lang="en-US"/>
          </a:p>
        </p:txBody>
      </p:sp>
      <p:sp>
        <p:nvSpPr>
          <p:cNvPr id="22" name="Shape 20"/>
          <p:cNvSpPr/>
          <p:nvPr/>
        </p:nvSpPr>
        <p:spPr>
          <a:xfrm>
            <a:off x="8862060" y="3340100"/>
            <a:ext cx="45720" cy="45720"/>
          </a:xfrm>
          <a:prstGeom prst="ellipse">
            <a:avLst/>
          </a:prstGeom>
          <a:solidFill>
            <a:srgbClr val="8FB4DE"/>
          </a:solidFill>
          <a:ln/>
        </p:spPr>
        <p:txBody>
          <a:bodyPr/>
          <a:lstStyle/>
          <a:p>
            <a:endParaRPr lang="en-US"/>
          </a:p>
        </p:txBody>
      </p:sp>
      <p:sp>
        <p:nvSpPr>
          <p:cNvPr id="23" name="Shape 21"/>
          <p:cNvSpPr/>
          <p:nvPr/>
        </p:nvSpPr>
        <p:spPr>
          <a:xfrm>
            <a:off x="8924544" y="3378708"/>
            <a:ext cx="45720" cy="45720"/>
          </a:xfrm>
          <a:prstGeom prst="ellipse">
            <a:avLst/>
          </a:prstGeom>
          <a:solidFill>
            <a:srgbClr val="8FB4DE"/>
          </a:solidFill>
          <a:ln/>
        </p:spPr>
        <p:txBody>
          <a:bodyPr/>
          <a:lstStyle/>
          <a:p>
            <a:endParaRPr lang="en-US"/>
          </a:p>
        </p:txBody>
      </p:sp>
      <p:sp>
        <p:nvSpPr>
          <p:cNvPr id="24" name="Shape 22"/>
          <p:cNvSpPr/>
          <p:nvPr/>
        </p:nvSpPr>
        <p:spPr>
          <a:xfrm>
            <a:off x="8987028" y="3413252"/>
            <a:ext cx="45720" cy="45720"/>
          </a:xfrm>
          <a:prstGeom prst="ellipse">
            <a:avLst/>
          </a:prstGeom>
          <a:solidFill>
            <a:srgbClr val="8FB4DE"/>
          </a:solidFill>
          <a:ln/>
        </p:spPr>
        <p:txBody>
          <a:bodyPr/>
          <a:lstStyle/>
          <a:p>
            <a:endParaRPr lang="en-US"/>
          </a:p>
        </p:txBody>
      </p:sp>
      <p:sp>
        <p:nvSpPr>
          <p:cNvPr id="25" name="Shape 23"/>
          <p:cNvSpPr/>
          <p:nvPr/>
        </p:nvSpPr>
        <p:spPr>
          <a:xfrm>
            <a:off x="9049512" y="3443732"/>
            <a:ext cx="45720" cy="45720"/>
          </a:xfrm>
          <a:prstGeom prst="ellipse">
            <a:avLst/>
          </a:prstGeom>
          <a:solidFill>
            <a:srgbClr val="8FB4DE"/>
          </a:solidFill>
          <a:ln/>
        </p:spPr>
        <p:txBody>
          <a:bodyPr/>
          <a:lstStyle/>
          <a:p>
            <a:endParaRPr lang="en-US"/>
          </a:p>
        </p:txBody>
      </p:sp>
      <p:sp>
        <p:nvSpPr>
          <p:cNvPr id="26" name="Shape 24"/>
          <p:cNvSpPr/>
          <p:nvPr/>
        </p:nvSpPr>
        <p:spPr>
          <a:xfrm>
            <a:off x="9111996" y="3470148"/>
            <a:ext cx="45720" cy="45720"/>
          </a:xfrm>
          <a:prstGeom prst="ellipse">
            <a:avLst/>
          </a:prstGeom>
          <a:solidFill>
            <a:srgbClr val="8FB4DE"/>
          </a:solidFill>
          <a:ln/>
        </p:spPr>
        <p:txBody>
          <a:bodyPr/>
          <a:lstStyle/>
          <a:p>
            <a:endParaRPr lang="en-US"/>
          </a:p>
        </p:txBody>
      </p:sp>
      <p:sp>
        <p:nvSpPr>
          <p:cNvPr id="27" name="Shape 25"/>
          <p:cNvSpPr/>
          <p:nvPr/>
        </p:nvSpPr>
        <p:spPr>
          <a:xfrm>
            <a:off x="9174480" y="3492500"/>
            <a:ext cx="45720" cy="45720"/>
          </a:xfrm>
          <a:prstGeom prst="ellipse">
            <a:avLst/>
          </a:prstGeom>
          <a:solidFill>
            <a:srgbClr val="8FB4DE"/>
          </a:solidFill>
          <a:ln/>
        </p:spPr>
        <p:txBody>
          <a:bodyPr/>
          <a:lstStyle/>
          <a:p>
            <a:endParaRPr lang="en-US"/>
          </a:p>
        </p:txBody>
      </p:sp>
      <p:sp>
        <p:nvSpPr>
          <p:cNvPr id="28" name="Shape 26"/>
          <p:cNvSpPr/>
          <p:nvPr/>
        </p:nvSpPr>
        <p:spPr>
          <a:xfrm>
            <a:off x="9236964" y="3510788"/>
            <a:ext cx="45720" cy="45720"/>
          </a:xfrm>
          <a:prstGeom prst="ellipse">
            <a:avLst/>
          </a:prstGeom>
          <a:solidFill>
            <a:srgbClr val="8FB4DE"/>
          </a:solidFill>
          <a:ln/>
        </p:spPr>
        <p:txBody>
          <a:bodyPr/>
          <a:lstStyle/>
          <a:p>
            <a:endParaRPr lang="en-US"/>
          </a:p>
        </p:txBody>
      </p:sp>
      <p:sp>
        <p:nvSpPr>
          <p:cNvPr id="29" name="Shape 27"/>
          <p:cNvSpPr/>
          <p:nvPr/>
        </p:nvSpPr>
        <p:spPr>
          <a:xfrm>
            <a:off x="9299448" y="3525012"/>
            <a:ext cx="45720" cy="45720"/>
          </a:xfrm>
          <a:prstGeom prst="ellipse">
            <a:avLst/>
          </a:prstGeom>
          <a:solidFill>
            <a:srgbClr val="8FB4DE"/>
          </a:solidFill>
          <a:ln/>
        </p:spPr>
        <p:txBody>
          <a:bodyPr/>
          <a:lstStyle/>
          <a:p>
            <a:endParaRPr lang="en-US"/>
          </a:p>
        </p:txBody>
      </p:sp>
      <p:sp>
        <p:nvSpPr>
          <p:cNvPr id="30" name="Shape 28"/>
          <p:cNvSpPr/>
          <p:nvPr/>
        </p:nvSpPr>
        <p:spPr>
          <a:xfrm>
            <a:off x="9361932" y="3535172"/>
            <a:ext cx="45720" cy="45720"/>
          </a:xfrm>
          <a:prstGeom prst="ellipse">
            <a:avLst/>
          </a:prstGeom>
          <a:solidFill>
            <a:srgbClr val="8FB4DE"/>
          </a:solidFill>
          <a:ln/>
        </p:spPr>
        <p:txBody>
          <a:bodyPr/>
          <a:lstStyle/>
          <a:p>
            <a:endParaRPr lang="en-US"/>
          </a:p>
        </p:txBody>
      </p:sp>
      <p:sp>
        <p:nvSpPr>
          <p:cNvPr id="31" name="Shape 29"/>
          <p:cNvSpPr/>
          <p:nvPr/>
        </p:nvSpPr>
        <p:spPr>
          <a:xfrm>
            <a:off x="9424416" y="3541268"/>
            <a:ext cx="45720" cy="45720"/>
          </a:xfrm>
          <a:prstGeom prst="ellipse">
            <a:avLst/>
          </a:prstGeom>
          <a:solidFill>
            <a:srgbClr val="8FB4DE"/>
          </a:solidFill>
          <a:ln/>
        </p:spPr>
        <p:txBody>
          <a:bodyPr/>
          <a:lstStyle/>
          <a:p>
            <a:endParaRPr lang="en-US"/>
          </a:p>
        </p:txBody>
      </p:sp>
      <p:sp>
        <p:nvSpPr>
          <p:cNvPr id="32" name="Shape 30"/>
          <p:cNvSpPr/>
          <p:nvPr/>
        </p:nvSpPr>
        <p:spPr>
          <a:xfrm>
            <a:off x="9486900" y="3543300"/>
            <a:ext cx="45720" cy="45720"/>
          </a:xfrm>
          <a:prstGeom prst="ellipse">
            <a:avLst/>
          </a:prstGeom>
          <a:solidFill>
            <a:srgbClr val="8FB4DE"/>
          </a:solidFill>
          <a:ln/>
        </p:spPr>
        <p:txBody>
          <a:bodyPr/>
          <a:lstStyle/>
          <a:p>
            <a:endParaRPr lang="en-US"/>
          </a:p>
        </p:txBody>
      </p:sp>
      <p:sp>
        <p:nvSpPr>
          <p:cNvPr id="33" name="Shape 31"/>
          <p:cNvSpPr/>
          <p:nvPr/>
        </p:nvSpPr>
        <p:spPr>
          <a:xfrm>
            <a:off x="9549384" y="3541268"/>
            <a:ext cx="45720" cy="45720"/>
          </a:xfrm>
          <a:prstGeom prst="ellipse">
            <a:avLst/>
          </a:prstGeom>
          <a:solidFill>
            <a:srgbClr val="8FB4DE"/>
          </a:solidFill>
          <a:ln/>
        </p:spPr>
        <p:txBody>
          <a:bodyPr/>
          <a:lstStyle/>
          <a:p>
            <a:endParaRPr lang="en-US"/>
          </a:p>
        </p:txBody>
      </p:sp>
      <p:sp>
        <p:nvSpPr>
          <p:cNvPr id="34" name="Shape 32"/>
          <p:cNvSpPr/>
          <p:nvPr/>
        </p:nvSpPr>
        <p:spPr>
          <a:xfrm>
            <a:off x="9611868" y="3535172"/>
            <a:ext cx="45720" cy="45720"/>
          </a:xfrm>
          <a:prstGeom prst="ellipse">
            <a:avLst/>
          </a:prstGeom>
          <a:solidFill>
            <a:srgbClr val="8FB4DE"/>
          </a:solidFill>
          <a:ln/>
        </p:spPr>
        <p:txBody>
          <a:bodyPr/>
          <a:lstStyle/>
          <a:p>
            <a:endParaRPr lang="en-US"/>
          </a:p>
        </p:txBody>
      </p:sp>
      <p:sp>
        <p:nvSpPr>
          <p:cNvPr id="35" name="Shape 33"/>
          <p:cNvSpPr/>
          <p:nvPr/>
        </p:nvSpPr>
        <p:spPr>
          <a:xfrm>
            <a:off x="9674352" y="3525012"/>
            <a:ext cx="45720" cy="45720"/>
          </a:xfrm>
          <a:prstGeom prst="ellipse">
            <a:avLst/>
          </a:prstGeom>
          <a:solidFill>
            <a:srgbClr val="8FB4DE"/>
          </a:solidFill>
          <a:ln/>
        </p:spPr>
        <p:txBody>
          <a:bodyPr/>
          <a:lstStyle/>
          <a:p>
            <a:endParaRPr lang="en-US"/>
          </a:p>
        </p:txBody>
      </p:sp>
      <p:sp>
        <p:nvSpPr>
          <p:cNvPr id="36" name="Shape 34"/>
          <p:cNvSpPr/>
          <p:nvPr/>
        </p:nvSpPr>
        <p:spPr>
          <a:xfrm>
            <a:off x="9736836" y="3510788"/>
            <a:ext cx="45720" cy="45720"/>
          </a:xfrm>
          <a:prstGeom prst="ellipse">
            <a:avLst/>
          </a:prstGeom>
          <a:solidFill>
            <a:srgbClr val="8FB4DE"/>
          </a:solidFill>
          <a:ln/>
        </p:spPr>
        <p:txBody>
          <a:bodyPr/>
          <a:lstStyle/>
          <a:p>
            <a:endParaRPr lang="en-US"/>
          </a:p>
        </p:txBody>
      </p:sp>
      <p:sp>
        <p:nvSpPr>
          <p:cNvPr id="37" name="Shape 35"/>
          <p:cNvSpPr/>
          <p:nvPr/>
        </p:nvSpPr>
        <p:spPr>
          <a:xfrm>
            <a:off x="9799320" y="3492500"/>
            <a:ext cx="45720" cy="45720"/>
          </a:xfrm>
          <a:prstGeom prst="ellipse">
            <a:avLst/>
          </a:prstGeom>
          <a:solidFill>
            <a:srgbClr val="8FB4DE"/>
          </a:solidFill>
          <a:ln/>
        </p:spPr>
        <p:txBody>
          <a:bodyPr/>
          <a:lstStyle/>
          <a:p>
            <a:endParaRPr lang="en-US"/>
          </a:p>
        </p:txBody>
      </p:sp>
      <p:sp>
        <p:nvSpPr>
          <p:cNvPr id="38" name="Shape 36"/>
          <p:cNvSpPr/>
          <p:nvPr/>
        </p:nvSpPr>
        <p:spPr>
          <a:xfrm>
            <a:off x="9861804" y="3470148"/>
            <a:ext cx="45720" cy="45720"/>
          </a:xfrm>
          <a:prstGeom prst="ellipse">
            <a:avLst/>
          </a:prstGeom>
          <a:solidFill>
            <a:srgbClr val="8FB4DE"/>
          </a:solidFill>
          <a:ln/>
        </p:spPr>
        <p:txBody>
          <a:bodyPr/>
          <a:lstStyle/>
          <a:p>
            <a:endParaRPr lang="en-US"/>
          </a:p>
        </p:txBody>
      </p:sp>
      <p:sp>
        <p:nvSpPr>
          <p:cNvPr id="39" name="Shape 37"/>
          <p:cNvSpPr/>
          <p:nvPr/>
        </p:nvSpPr>
        <p:spPr>
          <a:xfrm>
            <a:off x="9924288" y="3443732"/>
            <a:ext cx="45720" cy="45720"/>
          </a:xfrm>
          <a:prstGeom prst="ellipse">
            <a:avLst/>
          </a:prstGeom>
          <a:solidFill>
            <a:srgbClr val="8FB4DE"/>
          </a:solidFill>
          <a:ln/>
        </p:spPr>
        <p:txBody>
          <a:bodyPr/>
          <a:lstStyle/>
          <a:p>
            <a:endParaRPr lang="en-US"/>
          </a:p>
        </p:txBody>
      </p:sp>
      <p:sp>
        <p:nvSpPr>
          <p:cNvPr id="40" name="Shape 38"/>
          <p:cNvSpPr/>
          <p:nvPr/>
        </p:nvSpPr>
        <p:spPr>
          <a:xfrm>
            <a:off x="9986772" y="3413252"/>
            <a:ext cx="45720" cy="45720"/>
          </a:xfrm>
          <a:prstGeom prst="ellipse">
            <a:avLst/>
          </a:prstGeom>
          <a:solidFill>
            <a:srgbClr val="8FB4DE"/>
          </a:solidFill>
          <a:ln/>
        </p:spPr>
        <p:txBody>
          <a:bodyPr/>
          <a:lstStyle/>
          <a:p>
            <a:endParaRPr lang="en-US"/>
          </a:p>
        </p:txBody>
      </p:sp>
      <p:sp>
        <p:nvSpPr>
          <p:cNvPr id="41" name="Shape 39"/>
          <p:cNvSpPr/>
          <p:nvPr/>
        </p:nvSpPr>
        <p:spPr>
          <a:xfrm>
            <a:off x="10049256" y="3378708"/>
            <a:ext cx="45720" cy="45720"/>
          </a:xfrm>
          <a:prstGeom prst="ellipse">
            <a:avLst/>
          </a:prstGeom>
          <a:solidFill>
            <a:srgbClr val="8FB4DE"/>
          </a:solidFill>
          <a:ln/>
        </p:spPr>
        <p:txBody>
          <a:bodyPr/>
          <a:lstStyle/>
          <a:p>
            <a:endParaRPr lang="en-US"/>
          </a:p>
        </p:txBody>
      </p:sp>
      <p:sp>
        <p:nvSpPr>
          <p:cNvPr id="42" name="Shape 40"/>
          <p:cNvSpPr/>
          <p:nvPr/>
        </p:nvSpPr>
        <p:spPr>
          <a:xfrm>
            <a:off x="10111740" y="3340100"/>
            <a:ext cx="45720" cy="45720"/>
          </a:xfrm>
          <a:prstGeom prst="ellipse">
            <a:avLst/>
          </a:prstGeom>
          <a:solidFill>
            <a:srgbClr val="8FB4DE"/>
          </a:solidFill>
          <a:ln/>
        </p:spPr>
        <p:txBody>
          <a:bodyPr/>
          <a:lstStyle/>
          <a:p>
            <a:endParaRPr lang="en-US"/>
          </a:p>
        </p:txBody>
      </p:sp>
      <p:sp>
        <p:nvSpPr>
          <p:cNvPr id="43" name="Shape 41"/>
          <p:cNvSpPr/>
          <p:nvPr/>
        </p:nvSpPr>
        <p:spPr>
          <a:xfrm>
            <a:off x="10174224" y="3297428"/>
            <a:ext cx="45720" cy="45720"/>
          </a:xfrm>
          <a:prstGeom prst="ellipse">
            <a:avLst/>
          </a:prstGeom>
          <a:solidFill>
            <a:srgbClr val="8FB4DE"/>
          </a:solidFill>
          <a:ln/>
        </p:spPr>
        <p:txBody>
          <a:bodyPr/>
          <a:lstStyle/>
          <a:p>
            <a:endParaRPr lang="en-US"/>
          </a:p>
        </p:txBody>
      </p:sp>
      <p:sp>
        <p:nvSpPr>
          <p:cNvPr id="44" name="Shape 42"/>
          <p:cNvSpPr/>
          <p:nvPr/>
        </p:nvSpPr>
        <p:spPr>
          <a:xfrm>
            <a:off x="10236708" y="3250692"/>
            <a:ext cx="45720" cy="45720"/>
          </a:xfrm>
          <a:prstGeom prst="ellipse">
            <a:avLst/>
          </a:prstGeom>
          <a:solidFill>
            <a:srgbClr val="8FB4DE"/>
          </a:solidFill>
          <a:ln/>
        </p:spPr>
        <p:txBody>
          <a:bodyPr/>
          <a:lstStyle/>
          <a:p>
            <a:endParaRPr lang="en-US"/>
          </a:p>
        </p:txBody>
      </p:sp>
      <p:sp>
        <p:nvSpPr>
          <p:cNvPr id="45" name="Shape 43"/>
          <p:cNvSpPr/>
          <p:nvPr/>
        </p:nvSpPr>
        <p:spPr>
          <a:xfrm>
            <a:off x="10299192" y="3199892"/>
            <a:ext cx="45720" cy="45720"/>
          </a:xfrm>
          <a:prstGeom prst="ellipse">
            <a:avLst/>
          </a:prstGeom>
          <a:solidFill>
            <a:srgbClr val="8FB4DE"/>
          </a:solidFill>
          <a:ln/>
        </p:spPr>
        <p:txBody>
          <a:bodyPr/>
          <a:lstStyle/>
          <a:p>
            <a:endParaRPr lang="en-US"/>
          </a:p>
        </p:txBody>
      </p:sp>
      <p:sp>
        <p:nvSpPr>
          <p:cNvPr id="46" name="Shape 44"/>
          <p:cNvSpPr/>
          <p:nvPr/>
        </p:nvSpPr>
        <p:spPr>
          <a:xfrm>
            <a:off x="10361676" y="3145028"/>
            <a:ext cx="45720" cy="45720"/>
          </a:xfrm>
          <a:prstGeom prst="ellipse">
            <a:avLst/>
          </a:prstGeom>
          <a:solidFill>
            <a:srgbClr val="8FB4DE"/>
          </a:solidFill>
          <a:ln/>
        </p:spPr>
        <p:txBody>
          <a:bodyPr/>
          <a:lstStyle/>
          <a:p>
            <a:endParaRPr lang="en-US"/>
          </a:p>
        </p:txBody>
      </p:sp>
      <p:sp>
        <p:nvSpPr>
          <p:cNvPr id="47" name="Shape 45"/>
          <p:cNvSpPr/>
          <p:nvPr/>
        </p:nvSpPr>
        <p:spPr>
          <a:xfrm>
            <a:off x="10424160" y="3086100"/>
            <a:ext cx="45720" cy="45720"/>
          </a:xfrm>
          <a:prstGeom prst="ellipse">
            <a:avLst/>
          </a:prstGeom>
          <a:solidFill>
            <a:srgbClr val="8FB4DE"/>
          </a:solidFill>
          <a:ln/>
        </p:spPr>
        <p:txBody>
          <a:bodyPr/>
          <a:lstStyle/>
          <a:p>
            <a:endParaRPr lang="en-US"/>
          </a:p>
        </p:txBody>
      </p:sp>
      <p:sp>
        <p:nvSpPr>
          <p:cNvPr id="48" name="Shape 46"/>
          <p:cNvSpPr/>
          <p:nvPr/>
        </p:nvSpPr>
        <p:spPr>
          <a:xfrm>
            <a:off x="10486644" y="3023108"/>
            <a:ext cx="45720" cy="45720"/>
          </a:xfrm>
          <a:prstGeom prst="ellipse">
            <a:avLst/>
          </a:prstGeom>
          <a:solidFill>
            <a:srgbClr val="8FB4DE"/>
          </a:solidFill>
          <a:ln/>
        </p:spPr>
        <p:txBody>
          <a:bodyPr/>
          <a:lstStyle/>
          <a:p>
            <a:endParaRPr lang="en-US"/>
          </a:p>
        </p:txBody>
      </p:sp>
      <p:sp>
        <p:nvSpPr>
          <p:cNvPr id="49" name="Shape 47"/>
          <p:cNvSpPr/>
          <p:nvPr/>
        </p:nvSpPr>
        <p:spPr>
          <a:xfrm>
            <a:off x="10549128" y="2956052"/>
            <a:ext cx="45720" cy="45720"/>
          </a:xfrm>
          <a:prstGeom prst="ellipse">
            <a:avLst/>
          </a:prstGeom>
          <a:solidFill>
            <a:srgbClr val="8FB4DE"/>
          </a:solidFill>
          <a:ln/>
        </p:spPr>
        <p:txBody>
          <a:bodyPr/>
          <a:lstStyle/>
          <a:p>
            <a:endParaRPr lang="en-US"/>
          </a:p>
        </p:txBody>
      </p:sp>
      <p:sp>
        <p:nvSpPr>
          <p:cNvPr id="50" name="Shape 48"/>
          <p:cNvSpPr/>
          <p:nvPr/>
        </p:nvSpPr>
        <p:spPr>
          <a:xfrm>
            <a:off x="10611612" y="2884932"/>
            <a:ext cx="45720" cy="45720"/>
          </a:xfrm>
          <a:prstGeom prst="ellipse">
            <a:avLst/>
          </a:prstGeom>
          <a:solidFill>
            <a:srgbClr val="8FB4DE"/>
          </a:solidFill>
          <a:ln/>
        </p:spPr>
        <p:txBody>
          <a:bodyPr/>
          <a:lstStyle/>
          <a:p>
            <a:endParaRPr lang="en-US"/>
          </a:p>
        </p:txBody>
      </p:sp>
      <p:sp>
        <p:nvSpPr>
          <p:cNvPr id="51" name="Shape 49"/>
          <p:cNvSpPr/>
          <p:nvPr/>
        </p:nvSpPr>
        <p:spPr>
          <a:xfrm>
            <a:off x="10674096" y="2809748"/>
            <a:ext cx="45720" cy="45720"/>
          </a:xfrm>
          <a:prstGeom prst="ellipse">
            <a:avLst/>
          </a:prstGeom>
          <a:solidFill>
            <a:srgbClr val="8FB4DE"/>
          </a:solidFill>
          <a:ln/>
        </p:spPr>
        <p:txBody>
          <a:bodyPr/>
          <a:lstStyle/>
          <a:p>
            <a:endParaRPr lang="en-US"/>
          </a:p>
        </p:txBody>
      </p:sp>
      <p:sp>
        <p:nvSpPr>
          <p:cNvPr id="52" name="Shape 50"/>
          <p:cNvSpPr/>
          <p:nvPr/>
        </p:nvSpPr>
        <p:spPr>
          <a:xfrm>
            <a:off x="10736580" y="2730500"/>
            <a:ext cx="45720" cy="45720"/>
          </a:xfrm>
          <a:prstGeom prst="ellipse">
            <a:avLst/>
          </a:prstGeom>
          <a:solidFill>
            <a:srgbClr val="8FB4DE"/>
          </a:solidFill>
          <a:ln/>
        </p:spPr>
        <p:txBody>
          <a:bodyPr/>
          <a:lstStyle/>
          <a:p>
            <a:endParaRPr lang="en-US"/>
          </a:p>
        </p:txBody>
      </p:sp>
      <p:sp>
        <p:nvSpPr>
          <p:cNvPr id="53" name="Shape 51"/>
          <p:cNvSpPr/>
          <p:nvPr/>
        </p:nvSpPr>
        <p:spPr>
          <a:xfrm>
            <a:off x="10799064" y="2647188"/>
            <a:ext cx="45720" cy="45720"/>
          </a:xfrm>
          <a:prstGeom prst="ellipse">
            <a:avLst/>
          </a:prstGeom>
          <a:solidFill>
            <a:srgbClr val="8FB4DE"/>
          </a:solidFill>
          <a:ln/>
        </p:spPr>
        <p:txBody>
          <a:bodyPr/>
          <a:lstStyle/>
          <a:p>
            <a:endParaRPr lang="en-US"/>
          </a:p>
        </p:txBody>
      </p:sp>
      <p:sp>
        <p:nvSpPr>
          <p:cNvPr id="54" name="Shape 52"/>
          <p:cNvSpPr/>
          <p:nvPr/>
        </p:nvSpPr>
        <p:spPr>
          <a:xfrm>
            <a:off x="10861548" y="2559812"/>
            <a:ext cx="45720" cy="45720"/>
          </a:xfrm>
          <a:prstGeom prst="ellipse">
            <a:avLst/>
          </a:prstGeom>
          <a:solidFill>
            <a:srgbClr val="8FB4DE"/>
          </a:solidFill>
          <a:ln/>
        </p:spPr>
        <p:txBody>
          <a:bodyPr/>
          <a:lstStyle/>
          <a:p>
            <a:endParaRPr lang="en-US"/>
          </a:p>
        </p:txBody>
      </p:sp>
      <p:sp>
        <p:nvSpPr>
          <p:cNvPr id="55" name="Shape 53"/>
          <p:cNvSpPr/>
          <p:nvPr/>
        </p:nvSpPr>
        <p:spPr>
          <a:xfrm>
            <a:off x="10924032" y="2468372"/>
            <a:ext cx="45720" cy="45720"/>
          </a:xfrm>
          <a:prstGeom prst="ellipse">
            <a:avLst/>
          </a:prstGeom>
          <a:solidFill>
            <a:srgbClr val="8FB4DE"/>
          </a:solidFill>
          <a:ln/>
        </p:spPr>
        <p:txBody>
          <a:bodyPr/>
          <a:lstStyle/>
          <a:p>
            <a:endParaRPr lang="en-US"/>
          </a:p>
        </p:txBody>
      </p:sp>
      <p:sp>
        <p:nvSpPr>
          <p:cNvPr id="56" name="Shape 54"/>
          <p:cNvSpPr/>
          <p:nvPr/>
        </p:nvSpPr>
        <p:spPr>
          <a:xfrm>
            <a:off x="10986516" y="2372868"/>
            <a:ext cx="45720" cy="45720"/>
          </a:xfrm>
          <a:prstGeom prst="ellipse">
            <a:avLst/>
          </a:prstGeom>
          <a:solidFill>
            <a:srgbClr val="8FB4DE"/>
          </a:solidFill>
          <a:ln/>
        </p:spPr>
        <p:txBody>
          <a:bodyPr/>
          <a:lstStyle/>
          <a:p>
            <a:endParaRPr lang="en-US"/>
          </a:p>
        </p:txBody>
      </p:sp>
      <p:sp>
        <p:nvSpPr>
          <p:cNvPr id="57" name="Shape 55"/>
          <p:cNvSpPr/>
          <p:nvPr/>
        </p:nvSpPr>
        <p:spPr>
          <a:xfrm>
            <a:off x="11049000" y="2273300"/>
            <a:ext cx="45720" cy="45720"/>
          </a:xfrm>
          <a:prstGeom prst="ellipse">
            <a:avLst/>
          </a:prstGeom>
          <a:solidFill>
            <a:srgbClr val="8FB4DE"/>
          </a:solidFill>
          <a:ln/>
        </p:spPr>
        <p:txBody>
          <a:bodyPr/>
          <a:lstStyle/>
          <a:p>
            <a:endParaRPr lang="en-US"/>
          </a:p>
        </p:txBody>
      </p:sp>
      <p:sp>
        <p:nvSpPr>
          <p:cNvPr id="58" name="Shape 56"/>
          <p:cNvSpPr/>
          <p:nvPr/>
        </p:nvSpPr>
        <p:spPr>
          <a:xfrm>
            <a:off x="11111484" y="2169668"/>
            <a:ext cx="45720" cy="45720"/>
          </a:xfrm>
          <a:prstGeom prst="ellipse">
            <a:avLst/>
          </a:prstGeom>
          <a:solidFill>
            <a:srgbClr val="8FB4DE"/>
          </a:solidFill>
          <a:ln/>
        </p:spPr>
        <p:txBody>
          <a:bodyPr/>
          <a:lstStyle/>
          <a:p>
            <a:endParaRPr lang="en-US"/>
          </a:p>
        </p:txBody>
      </p:sp>
      <p:sp>
        <p:nvSpPr>
          <p:cNvPr id="59" name="Shape 57"/>
          <p:cNvSpPr/>
          <p:nvPr/>
        </p:nvSpPr>
        <p:spPr>
          <a:xfrm>
            <a:off x="11173968" y="2061972"/>
            <a:ext cx="45720" cy="45720"/>
          </a:xfrm>
          <a:prstGeom prst="ellipse">
            <a:avLst/>
          </a:prstGeom>
          <a:solidFill>
            <a:srgbClr val="8FB4DE"/>
          </a:solidFill>
          <a:ln/>
        </p:spPr>
        <p:txBody>
          <a:bodyPr/>
          <a:lstStyle/>
          <a:p>
            <a:endParaRPr lang="en-US"/>
          </a:p>
        </p:txBody>
      </p:sp>
      <p:sp>
        <p:nvSpPr>
          <p:cNvPr id="60" name="Shape 58"/>
          <p:cNvSpPr/>
          <p:nvPr/>
        </p:nvSpPr>
        <p:spPr>
          <a:xfrm>
            <a:off x="11236452" y="1950212"/>
            <a:ext cx="45720" cy="45720"/>
          </a:xfrm>
          <a:prstGeom prst="ellipse">
            <a:avLst/>
          </a:prstGeom>
          <a:solidFill>
            <a:srgbClr val="8FB4DE"/>
          </a:solidFill>
          <a:ln/>
        </p:spPr>
        <p:txBody>
          <a:bodyPr/>
          <a:lstStyle/>
          <a:p>
            <a:endParaRPr lang="en-US"/>
          </a:p>
        </p:txBody>
      </p:sp>
      <p:sp>
        <p:nvSpPr>
          <p:cNvPr id="61" name="Shape 59"/>
          <p:cNvSpPr/>
          <p:nvPr/>
        </p:nvSpPr>
        <p:spPr>
          <a:xfrm>
            <a:off x="11298936" y="1834388"/>
            <a:ext cx="45720" cy="45720"/>
          </a:xfrm>
          <a:prstGeom prst="ellipse">
            <a:avLst/>
          </a:prstGeom>
          <a:solidFill>
            <a:srgbClr val="8FB4DE"/>
          </a:solidFill>
          <a:ln/>
        </p:spPr>
        <p:txBody>
          <a:bodyPr/>
          <a:lstStyle/>
          <a:p>
            <a:endParaRPr lang="en-US"/>
          </a:p>
        </p:txBody>
      </p:sp>
      <p:sp>
        <p:nvSpPr>
          <p:cNvPr id="62" name="Shape 60"/>
          <p:cNvSpPr/>
          <p:nvPr/>
        </p:nvSpPr>
        <p:spPr>
          <a:xfrm>
            <a:off x="11361420" y="1714500"/>
            <a:ext cx="45720" cy="45720"/>
          </a:xfrm>
          <a:prstGeom prst="ellipse">
            <a:avLst/>
          </a:prstGeom>
          <a:solidFill>
            <a:srgbClr val="8FB4DE"/>
          </a:solidFill>
          <a:ln/>
        </p:spPr>
        <p:txBody>
          <a:bodyPr/>
          <a:lstStyle/>
          <a:p>
            <a:endParaRPr lang="en-US"/>
          </a:p>
        </p:txBody>
      </p:sp>
      <p:sp>
        <p:nvSpPr>
          <p:cNvPr id="63" name="Shape 61"/>
          <p:cNvSpPr/>
          <p:nvPr/>
        </p:nvSpPr>
        <p:spPr>
          <a:xfrm>
            <a:off x="7932420" y="2318004"/>
            <a:ext cx="155448" cy="155448"/>
          </a:xfrm>
          <a:prstGeom prst="ellipse">
            <a:avLst/>
          </a:prstGeom>
          <a:solidFill>
            <a:srgbClr val="E9AC53"/>
          </a:solidFill>
          <a:ln/>
        </p:spPr>
        <p:txBody>
          <a:bodyPr/>
          <a:lstStyle/>
          <a:p>
            <a:endParaRPr lang="en-US"/>
          </a:p>
        </p:txBody>
      </p:sp>
      <p:sp>
        <p:nvSpPr>
          <p:cNvPr id="64" name="Shape 62"/>
          <p:cNvSpPr/>
          <p:nvPr/>
        </p:nvSpPr>
        <p:spPr>
          <a:xfrm>
            <a:off x="8307324" y="2830068"/>
            <a:ext cx="155448" cy="155448"/>
          </a:xfrm>
          <a:prstGeom prst="ellipse">
            <a:avLst/>
          </a:prstGeom>
          <a:solidFill>
            <a:srgbClr val="E9AC53"/>
          </a:solidFill>
          <a:ln/>
        </p:spPr>
        <p:txBody>
          <a:bodyPr/>
          <a:lstStyle/>
          <a:p>
            <a:endParaRPr lang="en-US"/>
          </a:p>
        </p:txBody>
      </p:sp>
      <p:sp>
        <p:nvSpPr>
          <p:cNvPr id="65" name="Shape 63"/>
          <p:cNvSpPr/>
          <p:nvPr/>
        </p:nvSpPr>
        <p:spPr>
          <a:xfrm>
            <a:off x="8682228" y="3195828"/>
            <a:ext cx="155448" cy="155448"/>
          </a:xfrm>
          <a:prstGeom prst="ellipse">
            <a:avLst/>
          </a:prstGeom>
          <a:solidFill>
            <a:srgbClr val="E9AC53"/>
          </a:solidFill>
          <a:ln/>
        </p:spPr>
        <p:txBody>
          <a:bodyPr/>
          <a:lstStyle/>
          <a:p>
            <a:endParaRPr lang="en-US"/>
          </a:p>
        </p:txBody>
      </p:sp>
      <p:sp>
        <p:nvSpPr>
          <p:cNvPr id="66" name="Shape 64"/>
          <p:cNvSpPr/>
          <p:nvPr/>
        </p:nvSpPr>
        <p:spPr>
          <a:xfrm>
            <a:off x="9000896" y="3391692"/>
            <a:ext cx="155448" cy="155448"/>
          </a:xfrm>
          <a:prstGeom prst="ellipse">
            <a:avLst/>
          </a:prstGeom>
          <a:solidFill>
            <a:srgbClr val="E9AC53"/>
          </a:solidFill>
          <a:ln/>
        </p:spPr>
        <p:txBody>
          <a:bodyPr/>
          <a:lstStyle/>
          <a:p>
            <a:endParaRPr lang="en-US"/>
          </a:p>
        </p:txBody>
      </p:sp>
      <p:sp>
        <p:nvSpPr>
          <p:cNvPr id="67" name="Shape 65"/>
          <p:cNvSpPr/>
          <p:nvPr/>
        </p:nvSpPr>
        <p:spPr>
          <a:xfrm>
            <a:off x="9207094" y="3462101"/>
            <a:ext cx="155448" cy="155448"/>
          </a:xfrm>
          <a:prstGeom prst="ellipse">
            <a:avLst/>
          </a:prstGeom>
          <a:solidFill>
            <a:srgbClr val="E9AC53"/>
          </a:solidFill>
          <a:ln/>
        </p:spPr>
        <p:txBody>
          <a:bodyPr/>
          <a:lstStyle/>
          <a:p>
            <a:endParaRPr lang="en-US"/>
          </a:p>
        </p:txBody>
      </p:sp>
      <p:sp>
        <p:nvSpPr>
          <p:cNvPr id="68" name="Shape 66"/>
          <p:cNvSpPr/>
          <p:nvPr/>
        </p:nvSpPr>
        <p:spPr>
          <a:xfrm>
            <a:off x="9338310" y="3483864"/>
            <a:ext cx="155448" cy="155448"/>
          </a:xfrm>
          <a:prstGeom prst="ellipse">
            <a:avLst/>
          </a:prstGeom>
          <a:solidFill>
            <a:srgbClr val="E9AC53"/>
          </a:solidFill>
          <a:ln/>
        </p:spPr>
        <p:txBody>
          <a:bodyPr/>
          <a:lstStyle/>
          <a:p>
            <a:endParaRPr lang="en-US"/>
          </a:p>
        </p:txBody>
      </p:sp>
      <p:sp>
        <p:nvSpPr>
          <p:cNvPr id="69" name="Text 67"/>
          <p:cNvSpPr txBox="1"/>
          <p:nvPr/>
        </p:nvSpPr>
        <p:spPr>
          <a:xfrm>
            <a:off x="7635240" y="3977640"/>
            <a:ext cx="3749040" cy="457200"/>
          </a:xfrm>
          <a:prstGeom prst="rect">
            <a:avLst/>
          </a:prstGeom>
          <a:noFill/>
          <a:ln/>
        </p:spPr>
        <p:txBody>
          <a:bodyPr wrap="square" lIns="0" tIns="0" rIns="0" bIns="0" rtlCol="0" anchor="ctr"/>
          <a:lstStyle/>
          <a:p>
            <a:pPr marL="0" indent="0" algn="ctr">
              <a:buNone/>
            </a:pPr>
            <a:r>
              <a:rPr lang="en-US" sz="2400" dirty="0">
                <a:solidFill>
                  <a:srgbClr val="F2F4F8"/>
                </a:solidFill>
                <a:latin typeface="Cambria Math" pitchFamily="34" charset="0"/>
                <a:ea typeface="Cambria Math" pitchFamily="34" charset="-122"/>
                <a:cs typeface="Cambria Math" pitchFamily="34" charset="-120"/>
              </a:rPr>
              <a:t>θ ← θ − η ∇C(θ)</a:t>
            </a:r>
            <a:endParaRPr lang="en-US" sz="2400" dirty="0"/>
          </a:p>
        </p:txBody>
      </p:sp>
      <p:sp>
        <p:nvSpPr>
          <p:cNvPr id="70" name="Text 68"/>
          <p:cNvSpPr txBox="1"/>
          <p:nvPr/>
        </p:nvSpPr>
        <p:spPr>
          <a:xfrm>
            <a:off x="640080" y="1371600"/>
            <a:ext cx="7315200" cy="292608"/>
          </a:xfrm>
          <a:prstGeom prst="rect">
            <a:avLst/>
          </a:prstGeom>
          <a:noFill/>
          <a:ln/>
        </p:spPr>
        <p:txBody>
          <a:bodyPr wrap="square" lIns="0" tIns="0" rIns="0" bIns="0" rtlCol="0" anchor="ctr"/>
          <a:lstStyle/>
          <a:p>
            <a:pPr marL="0" indent="0">
              <a:buNone/>
            </a:pPr>
            <a:r>
              <a:rPr lang="en-US" sz="1200" b="1" kern="0" spc="180" dirty="0">
                <a:solidFill>
                  <a:srgbClr val="E9AC53"/>
                </a:solidFill>
                <a:latin typeface="Calibri" pitchFamily="34" charset="0"/>
                <a:ea typeface="Calibri" pitchFamily="34" charset="-122"/>
                <a:cs typeface="Calibri" pitchFamily="34" charset="-120"/>
              </a:rPr>
              <a:t>AI IN SPECULATIVE MEDIA AND LITERATURES · WEEK 5</a:t>
            </a:r>
            <a:endParaRPr lang="en-US" sz="1200" dirty="0"/>
          </a:p>
        </p:txBody>
      </p:sp>
      <p:sp>
        <p:nvSpPr>
          <p:cNvPr id="71" name="Text 69"/>
          <p:cNvSpPr txBox="1"/>
          <p:nvPr/>
        </p:nvSpPr>
        <p:spPr>
          <a:xfrm>
            <a:off x="640080" y="1801368"/>
            <a:ext cx="6766560" cy="1463040"/>
          </a:xfrm>
          <a:prstGeom prst="rect">
            <a:avLst/>
          </a:prstGeom>
          <a:noFill/>
          <a:ln/>
        </p:spPr>
        <p:txBody>
          <a:bodyPr wrap="square" lIns="0" tIns="0" rIns="0" bIns="0" rtlCol="0" anchor="ctr"/>
          <a:lstStyle/>
          <a:p>
            <a:pPr marL="0" indent="0">
              <a:lnSpc>
                <a:spcPts val="5000"/>
              </a:lnSpc>
              <a:buNone/>
            </a:pPr>
            <a:r>
              <a:rPr lang="en-US" sz="4200" b="1" dirty="0">
                <a:solidFill>
                  <a:srgbClr val="F2F4F8"/>
                </a:solidFill>
                <a:latin typeface="Cambria" pitchFamily="34" charset="0"/>
                <a:ea typeface="Cambria" pitchFamily="34" charset="-122"/>
                <a:cs typeface="Cambria" pitchFamily="34" charset="-120"/>
              </a:rPr>
              <a:t>Loss Function and</a:t>
            </a:r>
            <a:endParaRPr lang="en-US" sz="4200" dirty="0"/>
          </a:p>
          <a:p>
            <a:pPr marL="0" indent="0">
              <a:lnSpc>
                <a:spcPts val="5000"/>
              </a:lnSpc>
              <a:buNone/>
            </a:pPr>
            <a:r>
              <a:rPr lang="en-US" sz="4200" b="1" dirty="0">
                <a:solidFill>
                  <a:srgbClr val="F2F4F8"/>
                </a:solidFill>
                <a:latin typeface="Cambria" pitchFamily="34" charset="0"/>
                <a:ea typeface="Cambria" pitchFamily="34" charset="-122"/>
                <a:cs typeface="Cambria" pitchFamily="34" charset="-120"/>
              </a:rPr>
              <a:t>Gradient Descent</a:t>
            </a:r>
            <a:endParaRPr lang="en-US" sz="4200" dirty="0"/>
          </a:p>
        </p:txBody>
      </p:sp>
      <p:sp>
        <p:nvSpPr>
          <p:cNvPr id="72" name="Shape 70"/>
          <p:cNvSpPr/>
          <p:nvPr/>
        </p:nvSpPr>
        <p:spPr>
          <a:xfrm>
            <a:off x="640080" y="3401568"/>
            <a:ext cx="2834640" cy="18288"/>
          </a:xfrm>
          <a:prstGeom prst="rect">
            <a:avLst/>
          </a:prstGeom>
          <a:solidFill>
            <a:srgbClr val="C07414"/>
          </a:solidFill>
          <a:ln/>
        </p:spPr>
        <p:txBody>
          <a:bodyPr/>
          <a:lstStyle/>
          <a:p>
            <a:endParaRPr lang="en-US"/>
          </a:p>
        </p:txBody>
      </p:sp>
      <p:sp>
        <p:nvSpPr>
          <p:cNvPr id="73" name="Text 71"/>
          <p:cNvSpPr txBox="1"/>
          <p:nvPr/>
        </p:nvSpPr>
        <p:spPr>
          <a:xfrm>
            <a:off x="640080" y="3703320"/>
            <a:ext cx="6766560" cy="1463040"/>
          </a:xfrm>
          <a:prstGeom prst="rect">
            <a:avLst/>
          </a:prstGeom>
          <a:noFill/>
          <a:ln/>
        </p:spPr>
        <p:txBody>
          <a:bodyPr wrap="square" lIns="0" tIns="0" rIns="0" bIns="0" rtlCol="0" anchor="ctr"/>
          <a:lstStyle/>
          <a:p>
            <a:pPr marL="0" indent="0">
              <a:lnSpc>
                <a:spcPts val="2200"/>
              </a:lnSpc>
              <a:buNone/>
            </a:pPr>
            <a:r>
              <a:rPr lang="en-US" sz="1300" dirty="0">
                <a:solidFill>
                  <a:srgbClr val="F2F4F8"/>
                </a:solidFill>
                <a:latin typeface="Calibri" pitchFamily="34" charset="0"/>
                <a:ea typeface="Calibri" pitchFamily="34" charset="-122"/>
                <a:cs typeface="Calibri" pitchFamily="34" charset="-120"/>
              </a:rPr>
              <a:t>First technical unit. Taught from zero — no background assumed.</a:t>
            </a:r>
            <a:endParaRPr lang="en-US" sz="1300" dirty="0"/>
          </a:p>
          <a:p>
            <a:pPr marL="0" indent="0">
              <a:lnSpc>
                <a:spcPts val="2200"/>
              </a:lnSpc>
              <a:buNone/>
            </a:pPr>
            <a:r>
              <a:rPr lang="en-US" sz="1300" dirty="0">
                <a:solidFill>
                  <a:srgbClr val="F2F4F8"/>
                </a:solidFill>
                <a:latin typeface="Calibri" pitchFamily="34" charset="0"/>
                <a:ea typeface="Calibri" pitchFamily="34" charset="-122"/>
                <a:cs typeface="Calibri" pitchFamily="34" charset="-120"/>
              </a:rPr>
              <a:t>Every formula is decoded symbol by symbol before it is used.</a:t>
            </a:r>
            <a:endParaRPr lang="en-US" sz="1300" dirty="0"/>
          </a:p>
          <a:p>
            <a:pPr marL="0" indent="0">
              <a:lnSpc>
                <a:spcPts val="2200"/>
              </a:lnSpc>
              <a:buNone/>
            </a:pPr>
            <a:r>
              <a:rPr lang="en-US" sz="1300" dirty="0">
                <a:solidFill>
                  <a:srgbClr val="F2F4F8"/>
                </a:solidFill>
                <a:latin typeface="Calibri" pitchFamily="34" charset="0"/>
                <a:ea typeface="Calibri" pitchFamily="34" charset="-122"/>
                <a:cs typeface="Calibri" pitchFamily="34" charset="-120"/>
              </a:rPr>
              <a:t>3Blue1Brown chs. 1–2  ·  Amodei et al., §§1–3  ·  Krakovna et al., specification gaming</a:t>
            </a:r>
            <a:endParaRPr lang="en-US" sz="1300" dirty="0"/>
          </a:p>
        </p:txBody>
      </p:sp>
      <p:sp>
        <p:nvSpPr>
          <p:cNvPr id="74" name="Text 72"/>
          <p:cNvSpPr txBox="1"/>
          <p:nvPr/>
        </p:nvSpPr>
        <p:spPr>
          <a:xfrm>
            <a:off x="640080" y="5285232"/>
            <a:ext cx="6766560" cy="548640"/>
          </a:xfrm>
          <a:prstGeom prst="rect">
            <a:avLst/>
          </a:prstGeom>
          <a:noFill/>
          <a:ln/>
        </p:spPr>
        <p:txBody>
          <a:bodyPr wrap="square" lIns="0" tIns="0" rIns="0" bIns="0" rtlCol="0" anchor="ctr"/>
          <a:lstStyle/>
          <a:p>
            <a:pPr marL="0" indent="0">
              <a:lnSpc>
                <a:spcPts val="1800"/>
              </a:lnSpc>
              <a:buNone/>
            </a:pPr>
            <a:r>
              <a:rPr lang="en-US" sz="1250" i="1" dirty="0">
                <a:solidFill>
                  <a:srgbClr val="8FB4DE"/>
                </a:solidFill>
                <a:latin typeface="Calibri" pitchFamily="34" charset="0"/>
                <a:ea typeface="Calibri" pitchFamily="34" charset="-122"/>
                <a:cs typeface="Calibri" pitchFamily="34" charset="-120"/>
              </a:rPr>
              <a:t>Key question: who writes the definition of “wrong,” and what happens to everything they left out?</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741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BEFORE WE START</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11722"/>
                </a:solidFill>
                <a:latin typeface="Cambria" pitchFamily="34" charset="0"/>
                <a:ea typeface="Cambria" pitchFamily="34" charset="-122"/>
                <a:cs typeface="Cambria" pitchFamily="34" charset="-120"/>
              </a:rPr>
              <a:t>What today asks of you, and what it does not</a:t>
            </a:r>
            <a:endParaRPr lang="en-US" sz="2900" dirty="0"/>
          </a:p>
        </p:txBody>
      </p:sp>
      <p:sp>
        <p:nvSpPr>
          <p:cNvPr id="5" name="Shape 3"/>
          <p:cNvSpPr/>
          <p:nvPr/>
        </p:nvSpPr>
        <p:spPr>
          <a:xfrm>
            <a:off x="640080" y="1481328"/>
            <a:ext cx="3454298" cy="2286000"/>
          </a:xfrm>
          <a:prstGeom prst="roundRect">
            <a:avLst>
              <a:gd name="adj" fmla="val 3200"/>
            </a:avLst>
          </a:prstGeom>
          <a:solidFill>
            <a:srgbClr val="E7EEF8"/>
          </a:solidFill>
          <a:ln w="12700">
            <a:solidFill>
              <a:srgbClr val="E7EEF8"/>
            </a:solidFill>
            <a:prstDash val="solid"/>
          </a:ln>
        </p:spPr>
        <p:txBody>
          <a:bodyPr/>
          <a:lstStyle/>
          <a:p>
            <a:endParaRPr lang="en-US"/>
          </a:p>
        </p:txBody>
      </p:sp>
      <p:sp>
        <p:nvSpPr>
          <p:cNvPr id="6" name="Text 4"/>
          <p:cNvSpPr txBox="1"/>
          <p:nvPr/>
        </p:nvSpPr>
        <p:spPr>
          <a:xfrm>
            <a:off x="914400" y="1664208"/>
            <a:ext cx="2905658" cy="566928"/>
          </a:xfrm>
          <a:prstGeom prst="rect">
            <a:avLst/>
          </a:prstGeom>
          <a:noFill/>
          <a:ln/>
        </p:spPr>
        <p:txBody>
          <a:bodyPr wrap="square" lIns="0" tIns="0" rIns="0" bIns="0" rtlCol="0" anchor="ctr"/>
          <a:lstStyle/>
          <a:p>
            <a:pPr marL="0" indent="0">
              <a:lnSpc>
                <a:spcPts val="2000"/>
              </a:lnSpc>
              <a:buNone/>
            </a:pPr>
            <a:r>
              <a:rPr lang="en-US" sz="1600" b="1" dirty="0">
                <a:solidFill>
                  <a:srgbClr val="111722"/>
                </a:solidFill>
                <a:latin typeface="Cambria" pitchFamily="34" charset="0"/>
                <a:ea typeface="Cambria" pitchFamily="34" charset="-122"/>
                <a:cs typeface="Cambria" pitchFamily="34" charset="-120"/>
              </a:rPr>
              <a:t>There will be symbols, and they are all defined</a:t>
            </a:r>
            <a:endParaRPr lang="en-US" sz="1600" dirty="0"/>
          </a:p>
        </p:txBody>
      </p:sp>
      <p:sp>
        <p:nvSpPr>
          <p:cNvPr id="7" name="Text 5"/>
          <p:cNvSpPr txBox="1"/>
          <p:nvPr/>
        </p:nvSpPr>
        <p:spPr>
          <a:xfrm>
            <a:off x="914400" y="2304288"/>
            <a:ext cx="2905658" cy="1243584"/>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You will see ∂, ∑ and ∇ today. Every one is decoded before it is used, and the decoder stays on screen. A symbol is an abbreviation for a sentence, not a test of whether you belong here.</a:t>
            </a:r>
            <a:endParaRPr lang="en-US" sz="1200" dirty="0"/>
          </a:p>
        </p:txBody>
      </p:sp>
      <p:sp>
        <p:nvSpPr>
          <p:cNvPr id="8" name="Shape 6"/>
          <p:cNvSpPr/>
          <p:nvPr/>
        </p:nvSpPr>
        <p:spPr>
          <a:xfrm>
            <a:off x="4368698" y="1481328"/>
            <a:ext cx="3454298" cy="2286000"/>
          </a:xfrm>
          <a:prstGeom prst="roundRect">
            <a:avLst>
              <a:gd name="adj" fmla="val 3200"/>
            </a:avLst>
          </a:prstGeom>
          <a:solidFill>
            <a:srgbClr val="FAF0DE"/>
          </a:solidFill>
          <a:ln w="12700">
            <a:solidFill>
              <a:srgbClr val="FAF0DE"/>
            </a:solidFill>
            <a:prstDash val="solid"/>
          </a:ln>
        </p:spPr>
        <p:txBody>
          <a:bodyPr/>
          <a:lstStyle/>
          <a:p>
            <a:endParaRPr lang="en-US"/>
          </a:p>
        </p:txBody>
      </p:sp>
      <p:sp>
        <p:nvSpPr>
          <p:cNvPr id="9" name="Text 7"/>
          <p:cNvSpPr txBox="1"/>
          <p:nvPr/>
        </p:nvSpPr>
        <p:spPr>
          <a:xfrm>
            <a:off x="4643018" y="1664208"/>
            <a:ext cx="2905658" cy="566928"/>
          </a:xfrm>
          <a:prstGeom prst="rect">
            <a:avLst/>
          </a:prstGeom>
          <a:noFill/>
          <a:ln/>
        </p:spPr>
        <p:txBody>
          <a:bodyPr wrap="square" lIns="0" tIns="0" rIns="0" bIns="0" rtlCol="0" anchor="ctr"/>
          <a:lstStyle/>
          <a:p>
            <a:pPr marL="0" indent="0">
              <a:lnSpc>
                <a:spcPts val="2000"/>
              </a:lnSpc>
              <a:buNone/>
            </a:pPr>
            <a:r>
              <a:rPr lang="en-US" sz="1600" b="1" dirty="0">
                <a:solidFill>
                  <a:srgbClr val="111722"/>
                </a:solidFill>
                <a:latin typeface="Cambria" pitchFamily="34" charset="0"/>
                <a:ea typeface="Cambria" pitchFamily="34" charset="-122"/>
                <a:cs typeface="Cambria" pitchFamily="34" charset="-120"/>
              </a:rPr>
              <a:t>The arithmetic is arithmetic</a:t>
            </a:r>
            <a:endParaRPr lang="en-US" sz="1600" dirty="0"/>
          </a:p>
        </p:txBody>
      </p:sp>
      <p:sp>
        <p:nvSpPr>
          <p:cNvPr id="10" name="Text 8"/>
          <p:cNvSpPr txBox="1"/>
          <p:nvPr/>
        </p:nvSpPr>
        <p:spPr>
          <a:xfrm>
            <a:off x="4643018" y="2304288"/>
            <a:ext cx="2905658" cy="1243584"/>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Subtraction, multiplication, averaging. Nothing today requires you to have taken calculus. Where a mathematician would prove something, we will draw it and say what it means.</a:t>
            </a:r>
            <a:endParaRPr lang="en-US" sz="1200" dirty="0"/>
          </a:p>
        </p:txBody>
      </p:sp>
      <p:sp>
        <p:nvSpPr>
          <p:cNvPr id="11" name="Shape 9"/>
          <p:cNvSpPr/>
          <p:nvPr/>
        </p:nvSpPr>
        <p:spPr>
          <a:xfrm>
            <a:off x="8097317" y="1481328"/>
            <a:ext cx="3454298" cy="2286000"/>
          </a:xfrm>
          <a:prstGeom prst="roundRect">
            <a:avLst>
              <a:gd name="adj" fmla="val 3200"/>
            </a:avLst>
          </a:prstGeom>
          <a:solidFill>
            <a:srgbClr val="E7EEF8"/>
          </a:solidFill>
          <a:ln w="12700">
            <a:solidFill>
              <a:srgbClr val="E7EEF8"/>
            </a:solidFill>
            <a:prstDash val="solid"/>
          </a:ln>
        </p:spPr>
        <p:txBody>
          <a:bodyPr/>
          <a:lstStyle/>
          <a:p>
            <a:endParaRPr lang="en-US"/>
          </a:p>
        </p:txBody>
      </p:sp>
      <p:sp>
        <p:nvSpPr>
          <p:cNvPr id="12" name="Text 10"/>
          <p:cNvSpPr txBox="1"/>
          <p:nvPr/>
        </p:nvSpPr>
        <p:spPr>
          <a:xfrm>
            <a:off x="8371637" y="1664208"/>
            <a:ext cx="2905658" cy="566928"/>
          </a:xfrm>
          <a:prstGeom prst="rect">
            <a:avLst/>
          </a:prstGeom>
          <a:noFill/>
          <a:ln/>
        </p:spPr>
        <p:txBody>
          <a:bodyPr wrap="square" lIns="0" tIns="0" rIns="0" bIns="0" rtlCol="0" anchor="ctr"/>
          <a:lstStyle/>
          <a:p>
            <a:pPr marL="0" indent="0">
              <a:lnSpc>
                <a:spcPts val="2000"/>
              </a:lnSpc>
              <a:buNone/>
            </a:pPr>
            <a:r>
              <a:rPr lang="en-US" sz="1600" b="1" dirty="0">
                <a:solidFill>
                  <a:srgbClr val="111722"/>
                </a:solidFill>
                <a:latin typeface="Cambria" pitchFamily="34" charset="0"/>
                <a:ea typeface="Cambria" pitchFamily="34" charset="-122"/>
                <a:cs typeface="Cambria" pitchFamily="34" charset="-120"/>
              </a:rPr>
              <a:t>Interrupt immediately</a:t>
            </a:r>
            <a:endParaRPr lang="en-US" sz="1600" dirty="0"/>
          </a:p>
        </p:txBody>
      </p:sp>
      <p:sp>
        <p:nvSpPr>
          <p:cNvPr id="13" name="Text 11"/>
          <p:cNvSpPr txBox="1"/>
          <p:nvPr/>
        </p:nvSpPr>
        <p:spPr>
          <a:xfrm>
            <a:off x="8371637" y="2304288"/>
            <a:ext cx="2905658" cy="1243584"/>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The commonest failure in a first technical session is a student who loses the thread at minute nine and stays politely lost for five hours. Stop me at the sentence where it goes.</a:t>
            </a:r>
            <a:endParaRPr lang="en-US" sz="1200" dirty="0"/>
          </a:p>
        </p:txBody>
      </p:sp>
      <p:sp>
        <p:nvSpPr>
          <p:cNvPr id="14" name="Shape 12"/>
          <p:cNvSpPr/>
          <p:nvPr/>
        </p:nvSpPr>
        <p:spPr>
          <a:xfrm>
            <a:off x="640080" y="3977640"/>
            <a:ext cx="10911535" cy="1828800"/>
          </a:xfrm>
          <a:prstGeom prst="roundRect">
            <a:avLst>
              <a:gd name="adj" fmla="val 4000"/>
            </a:avLst>
          </a:prstGeom>
          <a:solidFill>
            <a:srgbClr val="111722"/>
          </a:solidFill>
          <a:ln w="12700">
            <a:solidFill>
              <a:srgbClr val="111722"/>
            </a:solidFill>
            <a:prstDash val="solid"/>
          </a:ln>
        </p:spPr>
        <p:txBody>
          <a:bodyPr/>
          <a:lstStyle/>
          <a:p>
            <a:endParaRPr lang="en-US"/>
          </a:p>
        </p:txBody>
      </p:sp>
      <p:sp>
        <p:nvSpPr>
          <p:cNvPr id="15" name="Text 13"/>
          <p:cNvSpPr txBox="1"/>
          <p:nvPr/>
        </p:nvSpPr>
        <p:spPr>
          <a:xfrm>
            <a:off x="1005840" y="4142232"/>
            <a:ext cx="10424160" cy="274320"/>
          </a:xfrm>
          <a:prstGeom prst="rect">
            <a:avLst/>
          </a:prstGeom>
          <a:noFill/>
          <a:ln/>
        </p:spPr>
        <p:txBody>
          <a:bodyPr wrap="square" lIns="0" tIns="0" rIns="0" bIns="0" rtlCol="0" anchor="ctr"/>
          <a:lstStyle/>
          <a:p>
            <a:pPr marL="0" indent="0">
              <a:buNone/>
            </a:pPr>
            <a:r>
              <a:rPr lang="en-US" sz="1150" b="1" kern="0" spc="140" dirty="0">
                <a:solidFill>
                  <a:srgbClr val="E9AC53"/>
                </a:solidFill>
                <a:latin typeface="Calibri" pitchFamily="34" charset="0"/>
                <a:ea typeface="Calibri" pitchFamily="34" charset="-122"/>
                <a:cs typeface="Calibri" pitchFamily="34" charset="-120"/>
              </a:rPr>
              <a:t>And why a technical unit belongs in a literature course</a:t>
            </a:r>
            <a:endParaRPr lang="en-US" sz="1150" dirty="0"/>
          </a:p>
        </p:txBody>
      </p:sp>
      <p:sp>
        <p:nvSpPr>
          <p:cNvPr id="16" name="Text 14"/>
          <p:cNvSpPr txBox="1"/>
          <p:nvPr/>
        </p:nvSpPr>
        <p:spPr>
          <a:xfrm>
            <a:off x="1005840" y="4471416"/>
            <a:ext cx="10424160" cy="1170432"/>
          </a:xfrm>
          <a:prstGeom prst="rect">
            <a:avLst/>
          </a:prstGeom>
          <a:noFill/>
          <a:ln/>
        </p:spPr>
        <p:txBody>
          <a:bodyPr wrap="square" lIns="0" tIns="0" rIns="0" bIns="0" rtlCol="0" anchor="ctr"/>
          <a:lstStyle/>
          <a:p>
            <a:pPr marL="0" indent="0">
              <a:lnSpc>
                <a:spcPts val="2000"/>
              </a:lnSpc>
              <a:buNone/>
            </a:pPr>
            <a:r>
              <a:rPr lang="en-US" sz="1500" dirty="0">
                <a:solidFill>
                  <a:srgbClr val="F2F4F8"/>
                </a:solidFill>
                <a:latin typeface="Cambria" pitchFamily="34" charset="0"/>
                <a:ea typeface="Cambria" pitchFamily="34" charset="-122"/>
                <a:cs typeface="Cambria" pitchFamily="34" charset="-120"/>
              </a:rPr>
              <a:t>Because the claim this course has been making — that a maker’s choices become the made thing’s nature — stops being a metaphor here. In a loss function those choices are written down, in a file, in a specific order, by someone with a name and a deadline. This is the one week where we get to read the source. To read it, we need the notation.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bg>
      <p:bgPr>
        <a:solidFill>
          <a:srgbClr val="111722"/>
        </a:solidFill>
        <a:effectLst/>
      </p:bgPr>
    </p:bg>
    <p:spTree>
      <p:nvGrpSpPr>
        <p:cNvPr id="1" name=""/>
        <p:cNvGrpSpPr/>
        <p:nvPr/>
      </p:nvGrpSpPr>
      <p:grpSpPr>
        <a:xfrm>
          <a:off x="0" y="0"/>
          <a:ext cx="0" cy="0"/>
          <a:chOff x="0" y="0"/>
          <a:chExt cx="0" cy="0"/>
        </a:xfrm>
      </p:grpSpPr>
      <p:sp>
        <p:nvSpPr>
          <p:cNvPr id="2" name="Shape 0"/>
          <p:cNvSpPr/>
          <p:nvPr/>
        </p:nvSpPr>
        <p:spPr>
          <a:xfrm>
            <a:off x="640080" y="1234440"/>
            <a:ext cx="137160" cy="137160"/>
          </a:xfrm>
          <a:prstGeom prst="ellipse">
            <a:avLst/>
          </a:prstGeom>
          <a:solidFill>
            <a:srgbClr val="E9AC53"/>
          </a:solidFill>
          <a:ln/>
        </p:spPr>
        <p:txBody>
          <a:bodyPr/>
          <a:lstStyle/>
          <a:p>
            <a:endParaRPr lang="en-US"/>
          </a:p>
        </p:txBody>
      </p:sp>
      <p:sp>
        <p:nvSpPr>
          <p:cNvPr id="3" name="Text 1"/>
          <p:cNvSpPr txBox="1"/>
          <p:nvPr/>
        </p:nvSpPr>
        <p:spPr>
          <a:xfrm>
            <a:off x="886968" y="1170432"/>
            <a:ext cx="9144000" cy="274320"/>
          </a:xfrm>
          <a:prstGeom prst="rect">
            <a:avLst/>
          </a:prstGeom>
          <a:noFill/>
          <a:ln/>
        </p:spPr>
        <p:txBody>
          <a:bodyPr wrap="square" lIns="0" tIns="0" rIns="0" bIns="0" rtlCol="0" anchor="ctr"/>
          <a:lstStyle/>
          <a:p>
            <a:pPr marL="0" indent="0">
              <a:buNone/>
            </a:pPr>
            <a:r>
              <a:rPr lang="en-US" sz="1200" b="1" kern="0" spc="200" dirty="0">
                <a:solidFill>
                  <a:srgbClr val="E9AC53"/>
                </a:solidFill>
                <a:latin typeface="Calibri" pitchFamily="34" charset="0"/>
                <a:ea typeface="Calibri" pitchFamily="34" charset="-122"/>
                <a:cs typeface="Calibri" pitchFamily="34" charset="-120"/>
              </a:rPr>
              <a:t>KEY QUESTION FOR THE WEEK</a:t>
            </a:r>
            <a:endParaRPr lang="en-US" sz="1200" dirty="0"/>
          </a:p>
        </p:txBody>
      </p:sp>
      <p:sp>
        <p:nvSpPr>
          <p:cNvPr id="4" name="Text 2"/>
          <p:cNvSpPr txBox="1"/>
          <p:nvPr/>
        </p:nvSpPr>
        <p:spPr>
          <a:xfrm>
            <a:off x="640080" y="1645920"/>
            <a:ext cx="10881360" cy="2468880"/>
          </a:xfrm>
          <a:prstGeom prst="rect">
            <a:avLst/>
          </a:prstGeom>
          <a:noFill/>
          <a:ln/>
        </p:spPr>
        <p:txBody>
          <a:bodyPr wrap="square" lIns="0" tIns="0" rIns="0" bIns="0" rtlCol="0" anchor="ctr"/>
          <a:lstStyle/>
          <a:p>
            <a:pPr marL="0" indent="0">
              <a:lnSpc>
                <a:spcPts val="4800"/>
              </a:lnSpc>
              <a:buNone/>
            </a:pPr>
            <a:r>
              <a:rPr lang="en-US" sz="3600" b="1" dirty="0">
                <a:solidFill>
                  <a:srgbClr val="F2F4F8"/>
                </a:solidFill>
                <a:latin typeface="Cambria" pitchFamily="34" charset="0"/>
                <a:ea typeface="Cambria" pitchFamily="34" charset="-122"/>
                <a:cs typeface="Cambria" pitchFamily="34" charset="-120"/>
              </a:rPr>
              <a:t>Who writes the definition of “wrong,”</a:t>
            </a:r>
            <a:endParaRPr lang="en-US" sz="3600" dirty="0"/>
          </a:p>
          <a:p>
            <a:pPr marL="0" indent="0">
              <a:lnSpc>
                <a:spcPts val="4800"/>
              </a:lnSpc>
              <a:buNone/>
            </a:pPr>
            <a:r>
              <a:rPr lang="en-US" sz="3600" b="1" dirty="0">
                <a:solidFill>
                  <a:srgbClr val="F2F4F8"/>
                </a:solidFill>
                <a:latin typeface="Cambria" pitchFamily="34" charset="0"/>
                <a:ea typeface="Cambria" pitchFamily="34" charset="-122"/>
                <a:cs typeface="Cambria" pitchFamily="34" charset="-120"/>
              </a:rPr>
              <a:t>and what happens to everything</a:t>
            </a:r>
            <a:endParaRPr lang="en-US" sz="3600" dirty="0"/>
          </a:p>
          <a:p>
            <a:pPr marL="0" indent="0">
              <a:lnSpc>
                <a:spcPts val="4800"/>
              </a:lnSpc>
              <a:buNone/>
            </a:pPr>
            <a:r>
              <a:rPr lang="en-US" sz="3600" b="1" dirty="0">
                <a:solidFill>
                  <a:srgbClr val="F2F4F8"/>
                </a:solidFill>
                <a:latin typeface="Cambria" pitchFamily="34" charset="0"/>
                <a:ea typeface="Cambria" pitchFamily="34" charset="-122"/>
                <a:cs typeface="Cambria" pitchFamily="34" charset="-120"/>
              </a:rPr>
              <a:t>they left out?</a:t>
            </a:r>
            <a:endParaRPr lang="en-US" sz="3600" dirty="0"/>
          </a:p>
        </p:txBody>
      </p:sp>
      <p:sp>
        <p:nvSpPr>
          <p:cNvPr id="5" name="Shape 3"/>
          <p:cNvSpPr/>
          <p:nvPr/>
        </p:nvSpPr>
        <p:spPr>
          <a:xfrm>
            <a:off x="640080" y="4343400"/>
            <a:ext cx="3108960" cy="18288"/>
          </a:xfrm>
          <a:prstGeom prst="rect">
            <a:avLst/>
          </a:prstGeom>
          <a:solidFill>
            <a:srgbClr val="C07414"/>
          </a:solidFill>
          <a:ln/>
        </p:spPr>
        <p:txBody>
          <a:bodyPr/>
          <a:lstStyle/>
          <a:p>
            <a:endParaRPr lang="en-US"/>
          </a:p>
        </p:txBody>
      </p:sp>
      <p:sp>
        <p:nvSpPr>
          <p:cNvPr id="6" name="Text 4"/>
          <p:cNvSpPr txBox="1"/>
          <p:nvPr/>
        </p:nvSpPr>
        <p:spPr>
          <a:xfrm>
            <a:off x="640080" y="4663440"/>
            <a:ext cx="9875520" cy="1097280"/>
          </a:xfrm>
          <a:prstGeom prst="rect">
            <a:avLst/>
          </a:prstGeom>
          <a:noFill/>
          <a:ln/>
        </p:spPr>
        <p:txBody>
          <a:bodyPr wrap="square" lIns="0" tIns="0" rIns="0" bIns="0" rtlCol="0" anchor="ctr"/>
          <a:lstStyle/>
          <a:p>
            <a:pPr marL="0" indent="0">
              <a:lnSpc>
                <a:spcPts val="2500"/>
              </a:lnSpc>
              <a:buNone/>
            </a:pPr>
            <a:r>
              <a:rPr lang="en-US" sz="1700" dirty="0">
                <a:solidFill>
                  <a:srgbClr val="8FB4DE"/>
                </a:solidFill>
                <a:latin typeface="Cambria" pitchFamily="34" charset="0"/>
                <a:ea typeface="Cambria" pitchFamily="34" charset="-122"/>
                <a:cs typeface="Cambria" pitchFamily="34" charset="-120"/>
              </a:rPr>
              <a:t>Both halves are load-bearing. The first is a question about authorship, which we have been asking for four weeks. The second is about remainder — what a specification does to the things it does not mention — and that one is new today.</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741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ORIENTATION</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11722"/>
                </a:solidFill>
                <a:latin typeface="Cambria" pitchFamily="34" charset="0"/>
                <a:ea typeface="Cambria" pitchFamily="34" charset="-122"/>
                <a:cs typeface="Cambria" pitchFamily="34" charset="-120"/>
              </a:rPr>
              <a:t>The entire unit, in two sentences and one line of symbols</a:t>
            </a:r>
            <a:endParaRPr lang="en-US" sz="2900" dirty="0"/>
          </a:p>
        </p:txBody>
      </p:sp>
      <p:sp>
        <p:nvSpPr>
          <p:cNvPr id="5" name="Shape 3"/>
          <p:cNvSpPr/>
          <p:nvPr/>
        </p:nvSpPr>
        <p:spPr>
          <a:xfrm>
            <a:off x="640080" y="1417320"/>
            <a:ext cx="10911535" cy="1371600"/>
          </a:xfrm>
          <a:prstGeom prst="roundRect">
            <a:avLst>
              <a:gd name="adj" fmla="val 5333"/>
            </a:avLst>
          </a:prstGeom>
          <a:solidFill>
            <a:srgbClr val="111722"/>
          </a:solidFill>
          <a:ln w="12700">
            <a:solidFill>
              <a:srgbClr val="111722"/>
            </a:solidFill>
            <a:prstDash val="solid"/>
          </a:ln>
        </p:spPr>
        <p:txBody>
          <a:bodyPr/>
          <a:lstStyle/>
          <a:p>
            <a:endParaRPr lang="en-US"/>
          </a:p>
        </p:txBody>
      </p:sp>
      <p:sp>
        <p:nvSpPr>
          <p:cNvPr id="6" name="Text 4"/>
          <p:cNvSpPr txBox="1"/>
          <p:nvPr/>
        </p:nvSpPr>
        <p:spPr>
          <a:xfrm>
            <a:off x="1097280" y="1417320"/>
            <a:ext cx="10332720" cy="1371600"/>
          </a:xfrm>
          <a:prstGeom prst="rect">
            <a:avLst/>
          </a:prstGeom>
          <a:noFill/>
          <a:ln/>
        </p:spPr>
        <p:txBody>
          <a:bodyPr wrap="square" lIns="0" tIns="0" rIns="0" bIns="0" rtlCol="0" anchor="ctr"/>
          <a:lstStyle/>
          <a:p>
            <a:pPr marL="0" indent="0">
              <a:lnSpc>
                <a:spcPts val="3000"/>
              </a:lnSpc>
              <a:buNone/>
            </a:pPr>
            <a:r>
              <a:rPr lang="en-US" sz="1900" dirty="0">
                <a:solidFill>
                  <a:srgbClr val="F2F4F8"/>
                </a:solidFill>
                <a:latin typeface="Cambria" pitchFamily="34" charset="0"/>
                <a:ea typeface="Cambria" pitchFamily="34" charset="-122"/>
                <a:cs typeface="Cambria" pitchFamily="34" charset="-120"/>
              </a:rPr>
              <a:t>A loss function is a number that says how wrong the system currently is.</a:t>
            </a:r>
            <a:endParaRPr lang="en-US" sz="1900" dirty="0"/>
          </a:p>
          <a:p>
            <a:pPr marL="0" indent="0">
              <a:lnSpc>
                <a:spcPts val="3000"/>
              </a:lnSpc>
              <a:buNone/>
            </a:pPr>
            <a:r>
              <a:rPr lang="en-US" sz="1900" dirty="0">
                <a:solidFill>
                  <a:srgbClr val="F2F4F8"/>
                </a:solidFill>
                <a:latin typeface="Cambria" pitchFamily="34" charset="0"/>
                <a:ea typeface="Cambria" pitchFamily="34" charset="-122"/>
                <a:cs typeface="Cambria" pitchFamily="34" charset="-120"/>
              </a:rPr>
              <a:t>Gradient descent is the procedure for being slightly less wrong, over and over, forever.</a:t>
            </a:r>
            <a:endParaRPr lang="en-US" sz="1900" dirty="0"/>
          </a:p>
        </p:txBody>
      </p:sp>
      <p:sp>
        <p:nvSpPr>
          <p:cNvPr id="7" name="Shape 5"/>
          <p:cNvSpPr/>
          <p:nvPr/>
        </p:nvSpPr>
        <p:spPr>
          <a:xfrm>
            <a:off x="3017520" y="2971800"/>
            <a:ext cx="6858000" cy="914400"/>
          </a:xfrm>
          <a:prstGeom prst="roundRect">
            <a:avLst>
              <a:gd name="adj" fmla="val 6000"/>
            </a:avLst>
          </a:prstGeom>
          <a:solidFill>
            <a:srgbClr val="F6F8FC"/>
          </a:solidFill>
          <a:ln w="12700">
            <a:solidFill>
              <a:srgbClr val="C9D4E6"/>
            </a:solidFill>
            <a:prstDash val="solid"/>
          </a:ln>
        </p:spPr>
        <p:txBody>
          <a:bodyPr/>
          <a:lstStyle/>
          <a:p>
            <a:endParaRPr lang="en-US"/>
          </a:p>
        </p:txBody>
      </p:sp>
      <p:sp>
        <p:nvSpPr>
          <p:cNvPr id="8" name="Text 6"/>
          <p:cNvSpPr txBox="1"/>
          <p:nvPr/>
        </p:nvSpPr>
        <p:spPr>
          <a:xfrm>
            <a:off x="3154680" y="2971800"/>
            <a:ext cx="6583680" cy="914400"/>
          </a:xfrm>
          <a:prstGeom prst="rect">
            <a:avLst/>
          </a:prstGeom>
          <a:noFill/>
          <a:ln/>
        </p:spPr>
        <p:txBody>
          <a:bodyPr wrap="square" lIns="0" tIns="0" rIns="0" bIns="0" rtlCol="0" anchor="ctr"/>
          <a:lstStyle/>
          <a:p>
            <a:pPr marL="0" indent="0" algn="ctr">
              <a:buNone/>
            </a:pPr>
            <a:r>
              <a:rPr lang="en-US" sz="3400" dirty="0">
                <a:solidFill>
                  <a:srgbClr val="111722"/>
                </a:solidFill>
                <a:latin typeface="Cambria Math" pitchFamily="34" charset="0"/>
                <a:ea typeface="Cambria Math" pitchFamily="34" charset="-122"/>
                <a:cs typeface="Cambria Math" pitchFamily="34" charset="-120"/>
              </a:rPr>
              <a:t>θ ← θ − η ∇C(θ)</a:t>
            </a:r>
            <a:endParaRPr lang="en-US" sz="3400" dirty="0"/>
          </a:p>
        </p:txBody>
      </p:sp>
      <p:sp>
        <p:nvSpPr>
          <p:cNvPr id="9" name="Text 7"/>
          <p:cNvSpPr txBox="1"/>
          <p:nvPr/>
        </p:nvSpPr>
        <p:spPr>
          <a:xfrm>
            <a:off x="640080" y="4005072"/>
            <a:ext cx="10881360" cy="310896"/>
          </a:xfrm>
          <a:prstGeom prst="rect">
            <a:avLst/>
          </a:prstGeom>
          <a:noFill/>
          <a:ln/>
        </p:spPr>
        <p:txBody>
          <a:bodyPr wrap="square" lIns="0" tIns="0" rIns="0" bIns="0" rtlCol="0" anchor="ctr"/>
          <a:lstStyle/>
          <a:p>
            <a:pPr marL="0" indent="0" algn="ctr">
              <a:buNone/>
            </a:pPr>
            <a:r>
              <a:rPr lang="en-US" sz="1250" i="1" dirty="0">
                <a:solidFill>
                  <a:srgbClr val="5B6474"/>
                </a:solidFill>
                <a:latin typeface="Calibri" pitchFamily="34" charset="0"/>
                <a:ea typeface="Calibri" pitchFamily="34" charset="-122"/>
                <a:cs typeface="Calibri" pitchFamily="34" charset="-120"/>
              </a:rPr>
              <a:t>You cannot read this yet. By the second break you will be able to read it aloud in English.</a:t>
            </a:r>
            <a:endParaRPr lang="en-US" sz="1250" dirty="0"/>
          </a:p>
        </p:txBody>
      </p:sp>
      <p:sp>
        <p:nvSpPr>
          <p:cNvPr id="10" name="Shape 8"/>
          <p:cNvSpPr/>
          <p:nvPr/>
        </p:nvSpPr>
        <p:spPr>
          <a:xfrm>
            <a:off x="640080" y="4407408"/>
            <a:ext cx="3454298" cy="1828800"/>
          </a:xfrm>
          <a:prstGeom prst="roundRect">
            <a:avLst>
              <a:gd name="adj" fmla="val 4000"/>
            </a:avLst>
          </a:prstGeom>
          <a:solidFill>
            <a:srgbClr val="E7EEF8"/>
          </a:solidFill>
          <a:ln w="12700">
            <a:solidFill>
              <a:srgbClr val="E7EEF8"/>
            </a:solidFill>
            <a:prstDash val="solid"/>
          </a:ln>
        </p:spPr>
        <p:txBody>
          <a:bodyPr/>
          <a:lstStyle/>
          <a:p>
            <a:endParaRPr lang="en-US"/>
          </a:p>
        </p:txBody>
      </p:sp>
      <p:sp>
        <p:nvSpPr>
          <p:cNvPr id="11" name="Text 9"/>
          <p:cNvSpPr txBox="1"/>
          <p:nvPr/>
        </p:nvSpPr>
        <p:spPr>
          <a:xfrm>
            <a:off x="914400" y="4590288"/>
            <a:ext cx="2905658" cy="566928"/>
          </a:xfrm>
          <a:prstGeom prst="rect">
            <a:avLst/>
          </a:prstGeom>
          <a:noFill/>
          <a:ln/>
        </p:spPr>
        <p:txBody>
          <a:bodyPr wrap="square" lIns="0" tIns="0" rIns="0" bIns="0" rtlCol="0" anchor="ctr"/>
          <a:lstStyle/>
          <a:p>
            <a:pPr marL="0" indent="0">
              <a:lnSpc>
                <a:spcPts val="2000"/>
              </a:lnSpc>
              <a:buNone/>
            </a:pPr>
            <a:r>
              <a:rPr lang="en-US" sz="1550" b="1" dirty="0">
                <a:solidFill>
                  <a:srgbClr val="111722"/>
                </a:solidFill>
                <a:latin typeface="Cambria" pitchFamily="34" charset="0"/>
                <a:ea typeface="Cambria" pitchFamily="34" charset="-122"/>
                <a:cs typeface="Cambria" pitchFamily="34" charset="-120"/>
              </a:rPr>
              <a:t>That really is the whole thing</a:t>
            </a:r>
            <a:endParaRPr lang="en-US" sz="1550" dirty="0"/>
          </a:p>
        </p:txBody>
      </p:sp>
      <p:sp>
        <p:nvSpPr>
          <p:cNvPr id="12" name="Text 10"/>
          <p:cNvSpPr txBox="1"/>
          <p:nvPr/>
        </p:nvSpPr>
        <p:spPr>
          <a:xfrm>
            <a:off x="914400" y="5230368"/>
            <a:ext cx="2905658" cy="786384"/>
          </a:xfrm>
          <a:prstGeom prst="rect">
            <a:avLst/>
          </a:prstGeom>
          <a:noFill/>
          <a:ln/>
        </p:spPr>
        <p:txBody>
          <a:bodyPr wrap="square" lIns="0" tIns="0" rIns="0" bIns="0" rtlCol="0" anchor="ctr"/>
          <a:lstStyle/>
          <a:p>
            <a:pPr marL="0" indent="0">
              <a:lnSpc>
                <a:spcPts val="1600"/>
              </a:lnSpc>
              <a:buNone/>
            </a:pPr>
            <a:r>
              <a:rPr lang="en-US" sz="1150" dirty="0">
                <a:solidFill>
                  <a:srgbClr val="5B6474"/>
                </a:solidFill>
                <a:latin typeface="Calibri" pitchFamily="34" charset="0"/>
                <a:ea typeface="Calibri" pitchFamily="34" charset="-122"/>
                <a:cs typeface="Calibri" pitchFamily="34" charset="-120"/>
              </a:rPr>
              <a:t>Everything modern AI does emerges from those two sentences and a great deal of electricity. The rest is engineering: computing the number fast, taking the step efficiently, buying enough machines.</a:t>
            </a:r>
            <a:endParaRPr lang="en-US" sz="1150" dirty="0"/>
          </a:p>
        </p:txBody>
      </p:sp>
      <p:sp>
        <p:nvSpPr>
          <p:cNvPr id="13" name="Shape 11"/>
          <p:cNvSpPr/>
          <p:nvPr/>
        </p:nvSpPr>
        <p:spPr>
          <a:xfrm>
            <a:off x="4368698" y="4407408"/>
            <a:ext cx="3454298" cy="1828800"/>
          </a:xfrm>
          <a:prstGeom prst="roundRect">
            <a:avLst>
              <a:gd name="adj" fmla="val 4000"/>
            </a:avLst>
          </a:prstGeom>
          <a:solidFill>
            <a:srgbClr val="FAF0DE"/>
          </a:solidFill>
          <a:ln w="12700">
            <a:solidFill>
              <a:srgbClr val="FAF0DE"/>
            </a:solidFill>
            <a:prstDash val="solid"/>
          </a:ln>
        </p:spPr>
        <p:txBody>
          <a:bodyPr/>
          <a:lstStyle/>
          <a:p>
            <a:endParaRPr lang="en-US"/>
          </a:p>
        </p:txBody>
      </p:sp>
      <p:sp>
        <p:nvSpPr>
          <p:cNvPr id="14" name="Text 12"/>
          <p:cNvSpPr txBox="1"/>
          <p:nvPr/>
        </p:nvSpPr>
        <p:spPr>
          <a:xfrm>
            <a:off x="4643018" y="4590288"/>
            <a:ext cx="2905658" cy="566928"/>
          </a:xfrm>
          <a:prstGeom prst="rect">
            <a:avLst/>
          </a:prstGeom>
          <a:noFill/>
          <a:ln/>
        </p:spPr>
        <p:txBody>
          <a:bodyPr wrap="square" lIns="0" tIns="0" rIns="0" bIns="0" rtlCol="0" anchor="ctr"/>
          <a:lstStyle/>
          <a:p>
            <a:pPr marL="0" indent="0">
              <a:lnSpc>
                <a:spcPts val="2000"/>
              </a:lnSpc>
              <a:buNone/>
            </a:pPr>
            <a:r>
              <a:rPr lang="en-US" sz="1550" b="1" dirty="0">
                <a:solidFill>
                  <a:srgbClr val="111722"/>
                </a:solidFill>
                <a:latin typeface="Cambria" pitchFamily="34" charset="0"/>
                <a:ea typeface="Cambria" pitchFamily="34" charset="-122"/>
                <a:cs typeface="Cambria" pitchFamily="34" charset="-120"/>
              </a:rPr>
              <a:t>So the interesting question moves</a:t>
            </a:r>
            <a:endParaRPr lang="en-US" sz="1550" dirty="0"/>
          </a:p>
        </p:txBody>
      </p:sp>
      <p:sp>
        <p:nvSpPr>
          <p:cNvPr id="15" name="Text 13"/>
          <p:cNvSpPr txBox="1"/>
          <p:nvPr/>
        </p:nvSpPr>
        <p:spPr>
          <a:xfrm>
            <a:off x="4643018" y="5230368"/>
            <a:ext cx="2905658" cy="786384"/>
          </a:xfrm>
          <a:prstGeom prst="rect">
            <a:avLst/>
          </a:prstGeom>
          <a:noFill/>
          <a:ln/>
        </p:spPr>
        <p:txBody>
          <a:bodyPr wrap="square" lIns="0" tIns="0" rIns="0" bIns="0" rtlCol="0" anchor="ctr"/>
          <a:lstStyle/>
          <a:p>
            <a:pPr marL="0" indent="0">
              <a:lnSpc>
                <a:spcPts val="1600"/>
              </a:lnSpc>
              <a:buNone/>
            </a:pPr>
            <a:r>
              <a:rPr lang="en-US" sz="1150" dirty="0">
                <a:solidFill>
                  <a:srgbClr val="5B6474"/>
                </a:solidFill>
                <a:latin typeface="Calibri" pitchFamily="34" charset="0"/>
                <a:ea typeface="Calibri" pitchFamily="34" charset="-122"/>
                <a:cs typeface="Calibri" pitchFamily="34" charset="-120"/>
              </a:rPr>
              <a:t>If the procedure is fixed and mechanical, the only place anyone decides anything is in the definition of the number. That is a very small place, and everything ends up in it.</a:t>
            </a:r>
            <a:endParaRPr lang="en-US" sz="1150" dirty="0"/>
          </a:p>
        </p:txBody>
      </p:sp>
      <p:sp>
        <p:nvSpPr>
          <p:cNvPr id="16" name="Shape 14"/>
          <p:cNvSpPr/>
          <p:nvPr/>
        </p:nvSpPr>
        <p:spPr>
          <a:xfrm>
            <a:off x="8097317" y="4407408"/>
            <a:ext cx="3454298" cy="1828800"/>
          </a:xfrm>
          <a:prstGeom prst="roundRect">
            <a:avLst>
              <a:gd name="adj" fmla="val 4000"/>
            </a:avLst>
          </a:prstGeom>
          <a:solidFill>
            <a:srgbClr val="E7EEF8"/>
          </a:solidFill>
          <a:ln w="12700">
            <a:solidFill>
              <a:srgbClr val="E7EEF8"/>
            </a:solidFill>
            <a:prstDash val="solid"/>
          </a:ln>
        </p:spPr>
        <p:txBody>
          <a:bodyPr/>
          <a:lstStyle/>
          <a:p>
            <a:endParaRPr lang="en-US"/>
          </a:p>
        </p:txBody>
      </p:sp>
      <p:sp>
        <p:nvSpPr>
          <p:cNvPr id="17" name="Text 15"/>
          <p:cNvSpPr txBox="1"/>
          <p:nvPr/>
        </p:nvSpPr>
        <p:spPr>
          <a:xfrm>
            <a:off x="8371637" y="4590288"/>
            <a:ext cx="2905658" cy="566928"/>
          </a:xfrm>
          <a:prstGeom prst="rect">
            <a:avLst/>
          </a:prstGeom>
          <a:noFill/>
          <a:ln/>
        </p:spPr>
        <p:txBody>
          <a:bodyPr wrap="square" lIns="0" tIns="0" rIns="0" bIns="0" rtlCol="0" anchor="ctr"/>
          <a:lstStyle/>
          <a:p>
            <a:pPr marL="0" indent="0">
              <a:lnSpc>
                <a:spcPts val="2000"/>
              </a:lnSpc>
              <a:buNone/>
            </a:pPr>
            <a:r>
              <a:rPr lang="en-US" sz="1550" b="1" dirty="0">
                <a:solidFill>
                  <a:srgbClr val="111722"/>
                </a:solidFill>
                <a:latin typeface="Cambria" pitchFamily="34" charset="0"/>
                <a:ea typeface="Cambria" pitchFamily="34" charset="-122"/>
                <a:cs typeface="Cambria" pitchFamily="34" charset="-120"/>
              </a:rPr>
              <a:t>Which is the humanistic turn</a:t>
            </a:r>
            <a:endParaRPr lang="en-US" sz="1550" dirty="0"/>
          </a:p>
        </p:txBody>
      </p:sp>
      <p:sp>
        <p:nvSpPr>
          <p:cNvPr id="18" name="Text 16"/>
          <p:cNvSpPr txBox="1"/>
          <p:nvPr/>
        </p:nvSpPr>
        <p:spPr>
          <a:xfrm>
            <a:off x="8371637" y="5230368"/>
            <a:ext cx="2905658" cy="786384"/>
          </a:xfrm>
          <a:prstGeom prst="rect">
            <a:avLst/>
          </a:prstGeom>
          <a:noFill/>
          <a:ln/>
        </p:spPr>
        <p:txBody>
          <a:bodyPr wrap="square" lIns="0" tIns="0" rIns="0" bIns="0" rtlCol="0" anchor="ctr"/>
          <a:lstStyle/>
          <a:p>
            <a:pPr marL="0" indent="0">
              <a:lnSpc>
                <a:spcPts val="1600"/>
              </a:lnSpc>
              <a:buNone/>
            </a:pPr>
            <a:r>
              <a:rPr lang="en-US" sz="1150" dirty="0">
                <a:solidFill>
                  <a:srgbClr val="5B6474"/>
                </a:solidFill>
                <a:latin typeface="Calibri" pitchFamily="34" charset="0"/>
                <a:ea typeface="Calibri" pitchFamily="34" charset="-122"/>
                <a:cs typeface="Calibri" pitchFamily="34" charset="-120"/>
              </a:rPr>
              <a:t>A loss function is a value statement. Someone sat down and wrote what “wrong” means. Every optimisation is an argument about what matters, made in the imperative mood, then executed a trillion times without further reflection.</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111722"/>
        </a:solidFill>
        <a:effectLst/>
      </p:bgPr>
    </p:bg>
    <p:spTree>
      <p:nvGrpSpPr>
        <p:cNvPr id="1" name=""/>
        <p:cNvGrpSpPr/>
        <p:nvPr/>
      </p:nvGrpSpPr>
      <p:grpSpPr>
        <a:xfrm>
          <a:off x="0" y="0"/>
          <a:ext cx="0" cy="0"/>
          <a:chOff x="0" y="0"/>
          <a:chExt cx="0" cy="0"/>
        </a:xfrm>
      </p:grpSpPr>
      <p:sp>
        <p:nvSpPr>
          <p:cNvPr id="2" name="Shape 0"/>
          <p:cNvSpPr/>
          <p:nvPr/>
        </p:nvSpPr>
        <p:spPr>
          <a:xfrm>
            <a:off x="8778240" y="1417320"/>
            <a:ext cx="2651760" cy="2651760"/>
          </a:xfrm>
          <a:prstGeom prst="ellipse">
            <a:avLst/>
          </a:prstGeom>
          <a:solidFill>
            <a:srgbClr val="2C5FA8">
              <a:alpha val="70000"/>
            </a:srgbClr>
          </a:solidFill>
          <a:ln/>
        </p:spPr>
        <p:txBody>
          <a:bodyPr/>
          <a:lstStyle/>
          <a:p>
            <a:endParaRPr lang="en-US"/>
          </a:p>
        </p:txBody>
      </p:sp>
      <p:sp>
        <p:nvSpPr>
          <p:cNvPr id="3" name="Shape 1"/>
          <p:cNvSpPr/>
          <p:nvPr/>
        </p:nvSpPr>
        <p:spPr>
          <a:xfrm>
            <a:off x="9646920" y="2286000"/>
            <a:ext cx="1188720" cy="1188720"/>
          </a:xfrm>
          <a:prstGeom prst="ellipse">
            <a:avLst/>
          </a:prstGeom>
          <a:solidFill>
            <a:srgbClr val="C07414">
              <a:alpha val="75000"/>
            </a:srgbClr>
          </a:solidFill>
          <a:ln/>
        </p:spPr>
        <p:txBody>
          <a:bodyPr/>
          <a:lstStyle/>
          <a:p>
            <a:endParaRPr lang="en-US"/>
          </a:p>
        </p:txBody>
      </p:sp>
      <p:sp>
        <p:nvSpPr>
          <p:cNvPr id="4" name="Text 2"/>
          <p:cNvSpPr txBox="1"/>
          <p:nvPr/>
        </p:nvSpPr>
        <p:spPr>
          <a:xfrm>
            <a:off x="640080" y="1920240"/>
            <a:ext cx="7315200" cy="320040"/>
          </a:xfrm>
          <a:prstGeom prst="rect">
            <a:avLst/>
          </a:prstGeom>
          <a:noFill/>
          <a:ln/>
        </p:spPr>
        <p:txBody>
          <a:bodyPr wrap="square" lIns="0" tIns="0" rIns="0" bIns="0" rtlCol="0" anchor="ctr"/>
          <a:lstStyle/>
          <a:p>
            <a:pPr marL="0" indent="0">
              <a:buNone/>
            </a:pPr>
            <a:r>
              <a:rPr lang="en-US" sz="1300" b="1" kern="0" spc="220" dirty="0">
                <a:solidFill>
                  <a:srgbClr val="E9AC53"/>
                </a:solidFill>
                <a:latin typeface="Calibri" pitchFamily="34" charset="0"/>
                <a:ea typeface="Calibri" pitchFamily="34" charset="-122"/>
                <a:cs typeface="Calibri" pitchFamily="34" charset="-120"/>
              </a:rPr>
              <a:t>PART ZERO</a:t>
            </a:r>
            <a:endParaRPr lang="en-US" sz="1300" dirty="0"/>
          </a:p>
        </p:txBody>
      </p:sp>
      <p:sp>
        <p:nvSpPr>
          <p:cNvPr id="5" name="Text 3"/>
          <p:cNvSpPr txBox="1"/>
          <p:nvPr/>
        </p:nvSpPr>
        <p:spPr>
          <a:xfrm>
            <a:off x="640080" y="2331720"/>
            <a:ext cx="7680960" cy="914400"/>
          </a:xfrm>
          <a:prstGeom prst="rect">
            <a:avLst/>
          </a:prstGeom>
          <a:noFill/>
          <a:ln/>
        </p:spPr>
        <p:txBody>
          <a:bodyPr wrap="square" lIns="0" tIns="0" rIns="0" bIns="0" rtlCol="0" anchor="ctr"/>
          <a:lstStyle/>
          <a:p>
            <a:pPr marL="0" indent="0">
              <a:buNone/>
            </a:pPr>
            <a:r>
              <a:rPr lang="en-US" sz="3600" b="1" dirty="0">
                <a:solidFill>
                  <a:srgbClr val="F2F4F8"/>
                </a:solidFill>
                <a:latin typeface="Cambria" pitchFamily="34" charset="0"/>
                <a:ea typeface="Cambria" pitchFamily="34" charset="-122"/>
                <a:cs typeface="Cambria" pitchFamily="34" charset="-120"/>
              </a:rPr>
              <a:t>How to read an equation</a:t>
            </a:r>
            <a:endParaRPr lang="en-US" sz="3600" dirty="0"/>
          </a:p>
        </p:txBody>
      </p:sp>
      <p:sp>
        <p:nvSpPr>
          <p:cNvPr id="6" name="Text 4"/>
          <p:cNvSpPr txBox="1"/>
          <p:nvPr/>
        </p:nvSpPr>
        <p:spPr>
          <a:xfrm>
            <a:off x="640080" y="3310128"/>
            <a:ext cx="768096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The decoder  </a:t>
            </a:r>
            <a:endParaRPr lang="en-US" sz="1500" dirty="0"/>
          </a:p>
        </p:txBody>
      </p:sp>
      <p:sp>
        <p:nvSpPr>
          <p:cNvPr id="7" name="Shape 5"/>
          <p:cNvSpPr/>
          <p:nvPr/>
        </p:nvSpPr>
        <p:spPr>
          <a:xfrm>
            <a:off x="640080" y="3913632"/>
            <a:ext cx="2377440" cy="18288"/>
          </a:xfrm>
          <a:prstGeom prst="rect">
            <a:avLst/>
          </a:prstGeom>
          <a:solidFill>
            <a:srgbClr val="C07414"/>
          </a:solidFill>
          <a:ln/>
        </p:spPr>
        <p:txBody>
          <a:bodyPr/>
          <a:lstStyle/>
          <a:p>
            <a:endParaRPr lang="en-US"/>
          </a:p>
        </p:txBody>
      </p:sp>
      <p:sp>
        <p:nvSpPr>
          <p:cNvPr id="8" name="Text 6"/>
          <p:cNvSpPr txBox="1"/>
          <p:nvPr/>
        </p:nvSpPr>
        <p:spPr>
          <a:xfrm>
            <a:off x="640080" y="4133088"/>
            <a:ext cx="7680960" cy="777240"/>
          </a:xfrm>
          <a:prstGeom prst="rect">
            <a:avLst/>
          </a:prstGeom>
          <a:noFill/>
          <a:ln/>
        </p:spPr>
        <p:txBody>
          <a:bodyPr wrap="square" lIns="0" tIns="0" rIns="0" bIns="0" rtlCol="0" anchor="ctr"/>
          <a:lstStyle/>
          <a:p>
            <a:pPr marL="0" indent="0">
              <a:lnSpc>
                <a:spcPts val="2500"/>
              </a:lnSpc>
              <a:buNone/>
            </a:pPr>
            <a:r>
              <a:rPr lang="en-US" sz="1850" i="1" dirty="0">
                <a:solidFill>
                  <a:srgbClr val="8FB4DE"/>
                </a:solidFill>
                <a:latin typeface="Cambria" pitchFamily="34" charset="0"/>
                <a:ea typeface="Cambria" pitchFamily="34" charset="-122"/>
                <a:cs typeface="Cambria" pitchFamily="34" charset="-120"/>
              </a:rPr>
              <a:t>A symbol is an abbreviation for a sentence. That is the entire secret.</a:t>
            </a:r>
            <a:endParaRPr lang="en-US" sz="1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741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THE DECODER</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11722"/>
                </a:solidFill>
                <a:latin typeface="Cambria" pitchFamily="34" charset="0"/>
                <a:ea typeface="Cambria" pitchFamily="34" charset="-122"/>
                <a:cs typeface="Cambria" pitchFamily="34" charset="-120"/>
              </a:rPr>
              <a:t>Every symbol we will use today, and the sentence it stands for</a:t>
            </a:r>
            <a:endParaRPr lang="en-US" sz="2900" dirty="0"/>
          </a:p>
        </p:txBody>
      </p:sp>
      <p:sp>
        <p:nvSpPr>
          <p:cNvPr id="5" name="Shape 3"/>
          <p:cNvSpPr/>
          <p:nvPr/>
        </p:nvSpPr>
        <p:spPr>
          <a:xfrm>
            <a:off x="640080" y="1426464"/>
            <a:ext cx="2577008" cy="1417320"/>
          </a:xfrm>
          <a:prstGeom prst="roundRect">
            <a:avLst>
              <a:gd name="adj" fmla="val 5161"/>
            </a:avLst>
          </a:prstGeom>
          <a:solidFill>
            <a:srgbClr val="E7EEF8"/>
          </a:solidFill>
          <a:ln w="12700">
            <a:solidFill>
              <a:srgbClr val="E7EEF8"/>
            </a:solidFill>
            <a:prstDash val="solid"/>
          </a:ln>
        </p:spPr>
        <p:txBody>
          <a:bodyPr/>
          <a:lstStyle/>
          <a:p>
            <a:endParaRPr lang="en-US"/>
          </a:p>
        </p:txBody>
      </p:sp>
      <p:sp>
        <p:nvSpPr>
          <p:cNvPr id="6" name="Text 4"/>
          <p:cNvSpPr txBox="1"/>
          <p:nvPr/>
        </p:nvSpPr>
        <p:spPr>
          <a:xfrm>
            <a:off x="841248" y="1554480"/>
            <a:ext cx="1051560" cy="502920"/>
          </a:xfrm>
          <a:prstGeom prst="rect">
            <a:avLst/>
          </a:prstGeom>
          <a:noFill/>
          <a:ln/>
        </p:spPr>
        <p:txBody>
          <a:bodyPr wrap="square" lIns="0" tIns="0" rIns="0" bIns="0" rtlCol="0" anchor="ctr"/>
          <a:lstStyle/>
          <a:p>
            <a:pPr marL="0" indent="0" algn="ctr">
              <a:buNone/>
            </a:pPr>
            <a:r>
              <a:rPr lang="en-US" sz="2600" b="1" dirty="0">
                <a:solidFill>
                  <a:srgbClr val="2C5FA8"/>
                </a:solidFill>
                <a:latin typeface="Cambria Math" pitchFamily="34" charset="0"/>
                <a:ea typeface="Cambria Math" pitchFamily="34" charset="-122"/>
                <a:cs typeface="Cambria Math" pitchFamily="34" charset="-120"/>
              </a:rPr>
              <a:t>C</a:t>
            </a:r>
            <a:endParaRPr lang="en-US" sz="2600" dirty="0"/>
          </a:p>
        </p:txBody>
      </p:sp>
      <p:sp>
        <p:nvSpPr>
          <p:cNvPr id="7" name="Text 5"/>
          <p:cNvSpPr txBox="1"/>
          <p:nvPr/>
        </p:nvSpPr>
        <p:spPr>
          <a:xfrm>
            <a:off x="1938528" y="1554480"/>
            <a:ext cx="1077392" cy="1170432"/>
          </a:xfrm>
          <a:prstGeom prst="rect">
            <a:avLst/>
          </a:prstGeom>
          <a:noFill/>
          <a:ln/>
        </p:spPr>
        <p:txBody>
          <a:bodyPr wrap="square" lIns="0" tIns="0" rIns="0" bIns="0" rtlCol="0" anchor="ctr"/>
          <a:lstStyle/>
          <a:p>
            <a:pPr marL="0" indent="0">
              <a:lnSpc>
                <a:spcPts val="1400"/>
              </a:lnSpc>
              <a:buNone/>
            </a:pPr>
            <a:r>
              <a:rPr lang="en-US" sz="1100" dirty="0">
                <a:solidFill>
                  <a:srgbClr val="5B6474"/>
                </a:solidFill>
                <a:latin typeface="Calibri" pitchFamily="34" charset="0"/>
                <a:ea typeface="Calibri" pitchFamily="34" charset="-122"/>
                <a:cs typeface="Calibri" pitchFamily="34" charset="-120"/>
              </a:rPr>
              <a:t>the loss. One number: how wrong the system is right now. Lower is better.</a:t>
            </a:r>
            <a:endParaRPr lang="en-US" sz="1100" dirty="0"/>
          </a:p>
        </p:txBody>
      </p:sp>
      <p:sp>
        <p:nvSpPr>
          <p:cNvPr id="8" name="Shape 6"/>
          <p:cNvSpPr/>
          <p:nvPr/>
        </p:nvSpPr>
        <p:spPr>
          <a:xfrm>
            <a:off x="3418256" y="1426464"/>
            <a:ext cx="2577008" cy="1417320"/>
          </a:xfrm>
          <a:prstGeom prst="roundRect">
            <a:avLst>
              <a:gd name="adj" fmla="val 5161"/>
            </a:avLst>
          </a:prstGeom>
          <a:solidFill>
            <a:srgbClr val="FAF0DE"/>
          </a:solidFill>
          <a:ln w="12700">
            <a:solidFill>
              <a:srgbClr val="FAF0DE"/>
            </a:solidFill>
            <a:prstDash val="solid"/>
          </a:ln>
        </p:spPr>
        <p:txBody>
          <a:bodyPr/>
          <a:lstStyle/>
          <a:p>
            <a:endParaRPr lang="en-US"/>
          </a:p>
        </p:txBody>
      </p:sp>
      <p:sp>
        <p:nvSpPr>
          <p:cNvPr id="9" name="Text 7"/>
          <p:cNvSpPr txBox="1"/>
          <p:nvPr/>
        </p:nvSpPr>
        <p:spPr>
          <a:xfrm>
            <a:off x="3619424" y="1554480"/>
            <a:ext cx="1051560" cy="502920"/>
          </a:xfrm>
          <a:prstGeom prst="rect">
            <a:avLst/>
          </a:prstGeom>
          <a:noFill/>
          <a:ln/>
        </p:spPr>
        <p:txBody>
          <a:bodyPr wrap="square" lIns="0" tIns="0" rIns="0" bIns="0" rtlCol="0" anchor="ctr"/>
          <a:lstStyle/>
          <a:p>
            <a:pPr marL="0" indent="0" algn="ctr">
              <a:buNone/>
            </a:pPr>
            <a:r>
              <a:rPr lang="en-US" sz="2600" b="1" dirty="0">
                <a:solidFill>
                  <a:srgbClr val="C07414"/>
                </a:solidFill>
                <a:latin typeface="Cambria Math" pitchFamily="34" charset="0"/>
                <a:ea typeface="Cambria Math" pitchFamily="34" charset="-122"/>
                <a:cs typeface="Cambria Math" pitchFamily="34" charset="-120"/>
              </a:rPr>
              <a:t>θ</a:t>
            </a:r>
            <a:endParaRPr lang="en-US" sz="2600" dirty="0"/>
          </a:p>
        </p:txBody>
      </p:sp>
      <p:sp>
        <p:nvSpPr>
          <p:cNvPr id="10" name="Text 8"/>
          <p:cNvSpPr txBox="1"/>
          <p:nvPr/>
        </p:nvSpPr>
        <p:spPr>
          <a:xfrm>
            <a:off x="4716704" y="1554480"/>
            <a:ext cx="1077392" cy="1170432"/>
          </a:xfrm>
          <a:prstGeom prst="rect">
            <a:avLst/>
          </a:prstGeom>
          <a:noFill/>
          <a:ln/>
        </p:spPr>
        <p:txBody>
          <a:bodyPr wrap="square" lIns="0" tIns="0" rIns="0" bIns="0" rtlCol="0" anchor="ctr"/>
          <a:lstStyle/>
          <a:p>
            <a:pPr marL="0" indent="0">
              <a:lnSpc>
                <a:spcPts val="1400"/>
              </a:lnSpc>
              <a:buNone/>
            </a:pPr>
            <a:r>
              <a:rPr lang="en-US" sz="1100" dirty="0">
                <a:solidFill>
                  <a:srgbClr val="5B6474"/>
                </a:solidFill>
                <a:latin typeface="Calibri" pitchFamily="34" charset="0"/>
                <a:ea typeface="Calibri" pitchFamily="34" charset="-122"/>
                <a:cs typeface="Calibri" pitchFamily="34" charset="-120"/>
              </a:rPr>
              <a:t>theta. The whole list of adjustable knobs — all weights and biases at once.</a:t>
            </a:r>
            <a:endParaRPr lang="en-US" sz="1100" dirty="0"/>
          </a:p>
        </p:txBody>
      </p:sp>
      <p:sp>
        <p:nvSpPr>
          <p:cNvPr id="11" name="Shape 9"/>
          <p:cNvSpPr/>
          <p:nvPr/>
        </p:nvSpPr>
        <p:spPr>
          <a:xfrm>
            <a:off x="6196432" y="1426464"/>
            <a:ext cx="2577008" cy="1417320"/>
          </a:xfrm>
          <a:prstGeom prst="roundRect">
            <a:avLst>
              <a:gd name="adj" fmla="val 5161"/>
            </a:avLst>
          </a:prstGeom>
          <a:solidFill>
            <a:srgbClr val="E7EEF8"/>
          </a:solidFill>
          <a:ln w="12700">
            <a:solidFill>
              <a:srgbClr val="E7EEF8"/>
            </a:solidFill>
            <a:prstDash val="solid"/>
          </a:ln>
        </p:spPr>
        <p:txBody>
          <a:bodyPr/>
          <a:lstStyle/>
          <a:p>
            <a:endParaRPr lang="en-US"/>
          </a:p>
        </p:txBody>
      </p:sp>
      <p:sp>
        <p:nvSpPr>
          <p:cNvPr id="12" name="Text 10"/>
          <p:cNvSpPr txBox="1"/>
          <p:nvPr/>
        </p:nvSpPr>
        <p:spPr>
          <a:xfrm>
            <a:off x="6397600" y="1554480"/>
            <a:ext cx="1051560" cy="502920"/>
          </a:xfrm>
          <a:prstGeom prst="rect">
            <a:avLst/>
          </a:prstGeom>
          <a:noFill/>
          <a:ln/>
        </p:spPr>
        <p:txBody>
          <a:bodyPr wrap="square" lIns="0" tIns="0" rIns="0" bIns="0" rtlCol="0" anchor="ctr"/>
          <a:lstStyle/>
          <a:p>
            <a:pPr marL="0" indent="0" algn="ctr">
              <a:buNone/>
            </a:pPr>
            <a:r>
              <a:rPr lang="en-US" sz="2600" b="1" dirty="0">
                <a:solidFill>
                  <a:srgbClr val="2C5FA8"/>
                </a:solidFill>
                <a:latin typeface="Cambria Math" pitchFamily="34" charset="0"/>
                <a:ea typeface="Cambria Math" pitchFamily="34" charset="-122"/>
                <a:cs typeface="Cambria Math" pitchFamily="34" charset="-120"/>
              </a:rPr>
              <a:t>w, b</a:t>
            </a:r>
            <a:endParaRPr lang="en-US" sz="2600" dirty="0"/>
          </a:p>
        </p:txBody>
      </p:sp>
      <p:sp>
        <p:nvSpPr>
          <p:cNvPr id="13" name="Text 11"/>
          <p:cNvSpPr txBox="1"/>
          <p:nvPr/>
        </p:nvSpPr>
        <p:spPr>
          <a:xfrm>
            <a:off x="7494880" y="1554480"/>
            <a:ext cx="1077392" cy="1170432"/>
          </a:xfrm>
          <a:prstGeom prst="rect">
            <a:avLst/>
          </a:prstGeom>
          <a:noFill/>
          <a:ln/>
        </p:spPr>
        <p:txBody>
          <a:bodyPr wrap="square" lIns="0" tIns="0" rIns="0" bIns="0" rtlCol="0" anchor="ctr"/>
          <a:lstStyle/>
          <a:p>
            <a:pPr marL="0" indent="0">
              <a:lnSpc>
                <a:spcPts val="1400"/>
              </a:lnSpc>
              <a:buNone/>
            </a:pPr>
            <a:r>
              <a:rPr lang="en-US" sz="1100" dirty="0">
                <a:solidFill>
                  <a:srgbClr val="5B6474"/>
                </a:solidFill>
                <a:latin typeface="Calibri" pitchFamily="34" charset="0"/>
                <a:ea typeface="Calibri" pitchFamily="34" charset="-122"/>
                <a:cs typeface="Calibri" pitchFamily="34" charset="-120"/>
              </a:rPr>
              <a:t>a single weight, a single bias. One knob each.</a:t>
            </a:r>
            <a:endParaRPr lang="en-US" sz="1100" dirty="0"/>
          </a:p>
        </p:txBody>
      </p:sp>
      <p:sp>
        <p:nvSpPr>
          <p:cNvPr id="14" name="Shape 12"/>
          <p:cNvSpPr/>
          <p:nvPr/>
        </p:nvSpPr>
        <p:spPr>
          <a:xfrm>
            <a:off x="8974607" y="1426464"/>
            <a:ext cx="2577008" cy="1417320"/>
          </a:xfrm>
          <a:prstGeom prst="roundRect">
            <a:avLst>
              <a:gd name="adj" fmla="val 5161"/>
            </a:avLst>
          </a:prstGeom>
          <a:solidFill>
            <a:srgbClr val="FAF0DE"/>
          </a:solidFill>
          <a:ln w="12700">
            <a:solidFill>
              <a:srgbClr val="FAF0DE"/>
            </a:solidFill>
            <a:prstDash val="solid"/>
          </a:ln>
        </p:spPr>
        <p:txBody>
          <a:bodyPr/>
          <a:lstStyle/>
          <a:p>
            <a:endParaRPr lang="en-US"/>
          </a:p>
        </p:txBody>
      </p:sp>
      <p:sp>
        <p:nvSpPr>
          <p:cNvPr id="15" name="Text 13"/>
          <p:cNvSpPr txBox="1"/>
          <p:nvPr/>
        </p:nvSpPr>
        <p:spPr>
          <a:xfrm>
            <a:off x="9175775" y="1554480"/>
            <a:ext cx="1051560" cy="502920"/>
          </a:xfrm>
          <a:prstGeom prst="rect">
            <a:avLst/>
          </a:prstGeom>
          <a:noFill/>
          <a:ln/>
        </p:spPr>
        <p:txBody>
          <a:bodyPr wrap="square" lIns="0" tIns="0" rIns="0" bIns="0" rtlCol="0" anchor="ctr"/>
          <a:lstStyle/>
          <a:p>
            <a:pPr marL="0" indent="0" algn="ctr">
              <a:buNone/>
            </a:pPr>
            <a:r>
              <a:rPr lang="en-US" sz="2600" b="1" dirty="0">
                <a:solidFill>
                  <a:srgbClr val="C07414"/>
                </a:solidFill>
                <a:latin typeface="Cambria Math" pitchFamily="34" charset="0"/>
                <a:ea typeface="Cambria Math" pitchFamily="34" charset="-122"/>
                <a:cs typeface="Cambria Math" pitchFamily="34" charset="-120"/>
              </a:rPr>
              <a:t>a</a:t>
            </a:r>
            <a:endParaRPr lang="en-US" sz="2600" dirty="0"/>
          </a:p>
        </p:txBody>
      </p:sp>
      <p:sp>
        <p:nvSpPr>
          <p:cNvPr id="16" name="Text 14"/>
          <p:cNvSpPr txBox="1"/>
          <p:nvPr/>
        </p:nvSpPr>
        <p:spPr>
          <a:xfrm>
            <a:off x="10273055" y="1554480"/>
            <a:ext cx="1077392" cy="1170432"/>
          </a:xfrm>
          <a:prstGeom prst="rect">
            <a:avLst/>
          </a:prstGeom>
          <a:noFill/>
          <a:ln/>
        </p:spPr>
        <p:txBody>
          <a:bodyPr wrap="square" lIns="0" tIns="0" rIns="0" bIns="0" rtlCol="0" anchor="ctr"/>
          <a:lstStyle/>
          <a:p>
            <a:pPr marL="0" indent="0">
              <a:lnSpc>
                <a:spcPts val="1400"/>
              </a:lnSpc>
              <a:buNone/>
            </a:pPr>
            <a:r>
              <a:rPr lang="en-US" sz="1100" dirty="0">
                <a:solidFill>
                  <a:srgbClr val="5B6474"/>
                </a:solidFill>
                <a:latin typeface="Calibri" pitchFamily="34" charset="0"/>
                <a:ea typeface="Calibri" pitchFamily="34" charset="-122"/>
                <a:cs typeface="Calibri" pitchFamily="34" charset="-120"/>
              </a:rPr>
              <a:t>what the machine actually said. Its output for one input.</a:t>
            </a:r>
            <a:endParaRPr lang="en-US" sz="1100" dirty="0"/>
          </a:p>
        </p:txBody>
      </p:sp>
      <p:sp>
        <p:nvSpPr>
          <p:cNvPr id="17" name="Shape 15"/>
          <p:cNvSpPr/>
          <p:nvPr/>
        </p:nvSpPr>
        <p:spPr>
          <a:xfrm>
            <a:off x="640080" y="2999232"/>
            <a:ext cx="2577008" cy="1417320"/>
          </a:xfrm>
          <a:prstGeom prst="roundRect">
            <a:avLst>
              <a:gd name="adj" fmla="val 5161"/>
            </a:avLst>
          </a:prstGeom>
          <a:solidFill>
            <a:srgbClr val="E7EEF8"/>
          </a:solidFill>
          <a:ln w="12700">
            <a:solidFill>
              <a:srgbClr val="E7EEF8"/>
            </a:solidFill>
            <a:prstDash val="solid"/>
          </a:ln>
        </p:spPr>
        <p:txBody>
          <a:bodyPr/>
          <a:lstStyle/>
          <a:p>
            <a:endParaRPr lang="en-US"/>
          </a:p>
        </p:txBody>
      </p:sp>
      <p:sp>
        <p:nvSpPr>
          <p:cNvPr id="18" name="Text 16"/>
          <p:cNvSpPr txBox="1"/>
          <p:nvPr/>
        </p:nvSpPr>
        <p:spPr>
          <a:xfrm>
            <a:off x="841248" y="3127248"/>
            <a:ext cx="1051560" cy="502920"/>
          </a:xfrm>
          <a:prstGeom prst="rect">
            <a:avLst/>
          </a:prstGeom>
          <a:noFill/>
          <a:ln/>
        </p:spPr>
        <p:txBody>
          <a:bodyPr wrap="square" lIns="0" tIns="0" rIns="0" bIns="0" rtlCol="0" anchor="ctr"/>
          <a:lstStyle/>
          <a:p>
            <a:pPr marL="0" indent="0" algn="ctr">
              <a:buNone/>
            </a:pPr>
            <a:r>
              <a:rPr lang="en-US" sz="2600" b="1" dirty="0">
                <a:solidFill>
                  <a:srgbClr val="2C5FA8"/>
                </a:solidFill>
                <a:latin typeface="Cambria Math" pitchFamily="34" charset="0"/>
                <a:ea typeface="Cambria Math" pitchFamily="34" charset="-122"/>
                <a:cs typeface="Cambria Math" pitchFamily="34" charset="-120"/>
              </a:rPr>
              <a:t>y</a:t>
            </a:r>
            <a:endParaRPr lang="en-US" sz="2600" dirty="0"/>
          </a:p>
        </p:txBody>
      </p:sp>
      <p:sp>
        <p:nvSpPr>
          <p:cNvPr id="19" name="Text 17"/>
          <p:cNvSpPr txBox="1"/>
          <p:nvPr/>
        </p:nvSpPr>
        <p:spPr>
          <a:xfrm>
            <a:off x="1938528" y="3127248"/>
            <a:ext cx="1077392" cy="1170432"/>
          </a:xfrm>
          <a:prstGeom prst="rect">
            <a:avLst/>
          </a:prstGeom>
          <a:noFill/>
          <a:ln/>
        </p:spPr>
        <p:txBody>
          <a:bodyPr wrap="square" lIns="0" tIns="0" rIns="0" bIns="0" rtlCol="0" anchor="ctr"/>
          <a:lstStyle/>
          <a:p>
            <a:pPr marL="0" indent="0">
              <a:lnSpc>
                <a:spcPts val="1400"/>
              </a:lnSpc>
              <a:buNone/>
            </a:pPr>
            <a:r>
              <a:rPr lang="en-US" sz="1100" dirty="0">
                <a:solidFill>
                  <a:srgbClr val="5B6474"/>
                </a:solidFill>
                <a:latin typeface="Calibri" pitchFamily="34" charset="0"/>
                <a:ea typeface="Calibri" pitchFamily="34" charset="-122"/>
                <a:cs typeface="Calibri" pitchFamily="34" charset="-120"/>
              </a:rPr>
              <a:t>what a human said it should have said. The label.</a:t>
            </a:r>
            <a:endParaRPr lang="en-US" sz="1100" dirty="0"/>
          </a:p>
        </p:txBody>
      </p:sp>
      <p:sp>
        <p:nvSpPr>
          <p:cNvPr id="20" name="Shape 18"/>
          <p:cNvSpPr/>
          <p:nvPr/>
        </p:nvSpPr>
        <p:spPr>
          <a:xfrm>
            <a:off x="3418256" y="2999232"/>
            <a:ext cx="2577008" cy="1417320"/>
          </a:xfrm>
          <a:prstGeom prst="roundRect">
            <a:avLst>
              <a:gd name="adj" fmla="val 5161"/>
            </a:avLst>
          </a:prstGeom>
          <a:solidFill>
            <a:srgbClr val="FAF0DE"/>
          </a:solidFill>
          <a:ln w="12700">
            <a:solidFill>
              <a:srgbClr val="FAF0DE"/>
            </a:solidFill>
            <a:prstDash val="solid"/>
          </a:ln>
        </p:spPr>
        <p:txBody>
          <a:bodyPr/>
          <a:lstStyle/>
          <a:p>
            <a:endParaRPr lang="en-US"/>
          </a:p>
        </p:txBody>
      </p:sp>
      <p:sp>
        <p:nvSpPr>
          <p:cNvPr id="21" name="Text 19"/>
          <p:cNvSpPr txBox="1"/>
          <p:nvPr/>
        </p:nvSpPr>
        <p:spPr>
          <a:xfrm>
            <a:off x="3619424" y="3127248"/>
            <a:ext cx="1051560" cy="502920"/>
          </a:xfrm>
          <a:prstGeom prst="rect">
            <a:avLst/>
          </a:prstGeom>
          <a:noFill/>
          <a:ln/>
        </p:spPr>
        <p:txBody>
          <a:bodyPr wrap="square" lIns="0" tIns="0" rIns="0" bIns="0" rtlCol="0" anchor="ctr"/>
          <a:lstStyle/>
          <a:p>
            <a:pPr marL="0" indent="0" algn="ctr">
              <a:buNone/>
            </a:pPr>
            <a:r>
              <a:rPr lang="en-US" sz="2600" b="1" dirty="0">
                <a:solidFill>
                  <a:srgbClr val="C07414"/>
                </a:solidFill>
                <a:latin typeface="Cambria Math" pitchFamily="34" charset="0"/>
                <a:ea typeface="Cambria Math" pitchFamily="34" charset="-122"/>
                <a:cs typeface="Cambria Math" pitchFamily="34" charset="-120"/>
              </a:rPr>
              <a:t>∑</a:t>
            </a:r>
            <a:endParaRPr lang="en-US" sz="2600" dirty="0"/>
          </a:p>
        </p:txBody>
      </p:sp>
      <p:sp>
        <p:nvSpPr>
          <p:cNvPr id="22" name="Text 20"/>
          <p:cNvSpPr txBox="1"/>
          <p:nvPr/>
        </p:nvSpPr>
        <p:spPr>
          <a:xfrm>
            <a:off x="4716704" y="3127248"/>
            <a:ext cx="1077392" cy="1170432"/>
          </a:xfrm>
          <a:prstGeom prst="rect">
            <a:avLst/>
          </a:prstGeom>
          <a:noFill/>
          <a:ln/>
        </p:spPr>
        <p:txBody>
          <a:bodyPr wrap="square" lIns="0" tIns="0" rIns="0" bIns="0" rtlCol="0" anchor="ctr"/>
          <a:lstStyle/>
          <a:p>
            <a:pPr marL="0" indent="0">
              <a:lnSpc>
                <a:spcPts val="1400"/>
              </a:lnSpc>
              <a:buNone/>
            </a:pPr>
            <a:r>
              <a:rPr lang="en-US" sz="1100" dirty="0">
                <a:solidFill>
                  <a:srgbClr val="5B6474"/>
                </a:solidFill>
                <a:latin typeface="Calibri" pitchFamily="34" charset="0"/>
                <a:ea typeface="Calibri" pitchFamily="34" charset="-122"/>
                <a:cs typeface="Calibri" pitchFamily="34" charset="-120"/>
              </a:rPr>
              <a:t>sigma. “Add up all of these.” A shorthand for a long chain of plus signs.</a:t>
            </a:r>
            <a:endParaRPr lang="en-US" sz="1100" dirty="0"/>
          </a:p>
        </p:txBody>
      </p:sp>
      <p:sp>
        <p:nvSpPr>
          <p:cNvPr id="23" name="Shape 21"/>
          <p:cNvSpPr/>
          <p:nvPr/>
        </p:nvSpPr>
        <p:spPr>
          <a:xfrm>
            <a:off x="6196432" y="2999232"/>
            <a:ext cx="2577008" cy="1417320"/>
          </a:xfrm>
          <a:prstGeom prst="roundRect">
            <a:avLst>
              <a:gd name="adj" fmla="val 5161"/>
            </a:avLst>
          </a:prstGeom>
          <a:solidFill>
            <a:srgbClr val="E7EEF8"/>
          </a:solidFill>
          <a:ln w="12700">
            <a:solidFill>
              <a:srgbClr val="E7EEF8"/>
            </a:solidFill>
            <a:prstDash val="solid"/>
          </a:ln>
        </p:spPr>
        <p:txBody>
          <a:bodyPr/>
          <a:lstStyle/>
          <a:p>
            <a:endParaRPr lang="en-US"/>
          </a:p>
        </p:txBody>
      </p:sp>
      <p:sp>
        <p:nvSpPr>
          <p:cNvPr id="24" name="Text 22"/>
          <p:cNvSpPr txBox="1"/>
          <p:nvPr/>
        </p:nvSpPr>
        <p:spPr>
          <a:xfrm>
            <a:off x="6397600" y="3127248"/>
            <a:ext cx="1051560" cy="502920"/>
          </a:xfrm>
          <a:prstGeom prst="rect">
            <a:avLst/>
          </a:prstGeom>
          <a:noFill/>
          <a:ln/>
        </p:spPr>
        <p:txBody>
          <a:bodyPr wrap="square" lIns="0" tIns="0" rIns="0" bIns="0" rtlCol="0" anchor="ctr"/>
          <a:lstStyle/>
          <a:p>
            <a:pPr marL="0" indent="0" algn="ctr">
              <a:buNone/>
            </a:pPr>
            <a:r>
              <a:rPr lang="en-US" sz="2600" b="1" dirty="0">
                <a:solidFill>
                  <a:srgbClr val="2C5FA8"/>
                </a:solidFill>
                <a:latin typeface="Cambria Math" pitchFamily="34" charset="0"/>
                <a:ea typeface="Cambria Math" pitchFamily="34" charset="-122"/>
                <a:cs typeface="Cambria Math" pitchFamily="34" charset="-120"/>
              </a:rPr>
              <a:t>∂</a:t>
            </a:r>
            <a:endParaRPr lang="en-US" sz="2600" dirty="0"/>
          </a:p>
        </p:txBody>
      </p:sp>
      <p:sp>
        <p:nvSpPr>
          <p:cNvPr id="25" name="Text 23"/>
          <p:cNvSpPr txBox="1"/>
          <p:nvPr/>
        </p:nvSpPr>
        <p:spPr>
          <a:xfrm>
            <a:off x="7494880" y="3127248"/>
            <a:ext cx="1077392" cy="1170432"/>
          </a:xfrm>
          <a:prstGeom prst="rect">
            <a:avLst/>
          </a:prstGeom>
          <a:noFill/>
          <a:ln/>
        </p:spPr>
        <p:txBody>
          <a:bodyPr wrap="square" lIns="0" tIns="0" rIns="0" bIns="0" rtlCol="0" anchor="ctr"/>
          <a:lstStyle/>
          <a:p>
            <a:pPr marL="0" indent="0">
              <a:lnSpc>
                <a:spcPts val="1400"/>
              </a:lnSpc>
              <a:buNone/>
            </a:pPr>
            <a:r>
              <a:rPr lang="en-US" sz="1100" dirty="0">
                <a:solidFill>
                  <a:srgbClr val="5B6474"/>
                </a:solidFill>
                <a:latin typeface="Calibri" pitchFamily="34" charset="0"/>
                <a:ea typeface="Calibri" pitchFamily="34" charset="-122"/>
                <a:cs typeface="Calibri" pitchFamily="34" charset="-120"/>
              </a:rPr>
              <a:t>partial d. “If I nudge this one thing, how much does that other thing move?”</a:t>
            </a:r>
            <a:endParaRPr lang="en-US" sz="1100" dirty="0"/>
          </a:p>
        </p:txBody>
      </p:sp>
      <p:sp>
        <p:nvSpPr>
          <p:cNvPr id="26" name="Shape 24"/>
          <p:cNvSpPr/>
          <p:nvPr/>
        </p:nvSpPr>
        <p:spPr>
          <a:xfrm>
            <a:off x="8974607" y="2999232"/>
            <a:ext cx="2577008" cy="1417320"/>
          </a:xfrm>
          <a:prstGeom prst="roundRect">
            <a:avLst>
              <a:gd name="adj" fmla="val 5161"/>
            </a:avLst>
          </a:prstGeom>
          <a:solidFill>
            <a:srgbClr val="FAF0DE"/>
          </a:solidFill>
          <a:ln w="12700">
            <a:solidFill>
              <a:srgbClr val="FAF0DE"/>
            </a:solidFill>
            <a:prstDash val="solid"/>
          </a:ln>
        </p:spPr>
        <p:txBody>
          <a:bodyPr/>
          <a:lstStyle/>
          <a:p>
            <a:endParaRPr lang="en-US"/>
          </a:p>
        </p:txBody>
      </p:sp>
      <p:sp>
        <p:nvSpPr>
          <p:cNvPr id="27" name="Text 25"/>
          <p:cNvSpPr txBox="1"/>
          <p:nvPr/>
        </p:nvSpPr>
        <p:spPr>
          <a:xfrm>
            <a:off x="9175775" y="3127248"/>
            <a:ext cx="1051560" cy="502920"/>
          </a:xfrm>
          <a:prstGeom prst="rect">
            <a:avLst/>
          </a:prstGeom>
          <a:noFill/>
          <a:ln/>
        </p:spPr>
        <p:txBody>
          <a:bodyPr wrap="square" lIns="0" tIns="0" rIns="0" bIns="0" rtlCol="0" anchor="ctr"/>
          <a:lstStyle/>
          <a:p>
            <a:pPr marL="0" indent="0" algn="ctr">
              <a:buNone/>
            </a:pPr>
            <a:r>
              <a:rPr lang="en-US" sz="2600" b="1" dirty="0">
                <a:solidFill>
                  <a:srgbClr val="C07414"/>
                </a:solidFill>
                <a:latin typeface="Cambria Math" pitchFamily="34" charset="0"/>
                <a:ea typeface="Cambria Math" pitchFamily="34" charset="-122"/>
                <a:cs typeface="Cambria Math" pitchFamily="34" charset="-120"/>
              </a:rPr>
              <a:t>∇</a:t>
            </a:r>
            <a:endParaRPr lang="en-US" sz="2600" dirty="0"/>
          </a:p>
        </p:txBody>
      </p:sp>
      <p:sp>
        <p:nvSpPr>
          <p:cNvPr id="28" name="Text 26"/>
          <p:cNvSpPr txBox="1"/>
          <p:nvPr/>
        </p:nvSpPr>
        <p:spPr>
          <a:xfrm>
            <a:off x="10273055" y="3127248"/>
            <a:ext cx="1077392" cy="1170432"/>
          </a:xfrm>
          <a:prstGeom prst="rect">
            <a:avLst/>
          </a:prstGeom>
          <a:noFill/>
          <a:ln/>
        </p:spPr>
        <p:txBody>
          <a:bodyPr wrap="square" lIns="0" tIns="0" rIns="0" bIns="0" rtlCol="0" anchor="ctr"/>
          <a:lstStyle/>
          <a:p>
            <a:pPr marL="0" indent="0">
              <a:lnSpc>
                <a:spcPts val="1400"/>
              </a:lnSpc>
              <a:buNone/>
            </a:pPr>
            <a:r>
              <a:rPr lang="en-US" sz="1100" dirty="0">
                <a:solidFill>
                  <a:srgbClr val="5B6474"/>
                </a:solidFill>
                <a:latin typeface="Calibri" pitchFamily="34" charset="0"/>
                <a:ea typeface="Calibri" pitchFamily="34" charset="-122"/>
                <a:cs typeface="Calibri" pitchFamily="34" charset="-120"/>
              </a:rPr>
              <a:t>nabla. The whole list of those nudge-answers, one per knob.</a:t>
            </a:r>
            <a:endParaRPr lang="en-US" sz="1100" dirty="0"/>
          </a:p>
        </p:txBody>
      </p:sp>
      <p:sp>
        <p:nvSpPr>
          <p:cNvPr id="29" name="Shape 27"/>
          <p:cNvSpPr/>
          <p:nvPr/>
        </p:nvSpPr>
        <p:spPr>
          <a:xfrm>
            <a:off x="640080" y="4572000"/>
            <a:ext cx="2577008" cy="1417320"/>
          </a:xfrm>
          <a:prstGeom prst="roundRect">
            <a:avLst>
              <a:gd name="adj" fmla="val 5161"/>
            </a:avLst>
          </a:prstGeom>
          <a:solidFill>
            <a:srgbClr val="E7EEF8"/>
          </a:solidFill>
          <a:ln w="12700">
            <a:solidFill>
              <a:srgbClr val="E7EEF8"/>
            </a:solidFill>
            <a:prstDash val="solid"/>
          </a:ln>
        </p:spPr>
        <p:txBody>
          <a:bodyPr/>
          <a:lstStyle/>
          <a:p>
            <a:endParaRPr lang="en-US"/>
          </a:p>
        </p:txBody>
      </p:sp>
      <p:sp>
        <p:nvSpPr>
          <p:cNvPr id="30" name="Text 28"/>
          <p:cNvSpPr txBox="1"/>
          <p:nvPr/>
        </p:nvSpPr>
        <p:spPr>
          <a:xfrm>
            <a:off x="841248" y="4700016"/>
            <a:ext cx="1051560" cy="502920"/>
          </a:xfrm>
          <a:prstGeom prst="rect">
            <a:avLst/>
          </a:prstGeom>
          <a:noFill/>
          <a:ln/>
        </p:spPr>
        <p:txBody>
          <a:bodyPr wrap="square" lIns="0" tIns="0" rIns="0" bIns="0" rtlCol="0" anchor="ctr"/>
          <a:lstStyle/>
          <a:p>
            <a:pPr marL="0" indent="0" algn="ctr">
              <a:buNone/>
            </a:pPr>
            <a:r>
              <a:rPr lang="en-US" sz="2600" b="1" dirty="0">
                <a:solidFill>
                  <a:srgbClr val="2C5FA8"/>
                </a:solidFill>
                <a:latin typeface="Cambria Math" pitchFamily="34" charset="0"/>
                <a:ea typeface="Cambria Math" pitchFamily="34" charset="-122"/>
                <a:cs typeface="Cambria Math" pitchFamily="34" charset="-120"/>
              </a:rPr>
              <a:t>η</a:t>
            </a:r>
            <a:endParaRPr lang="en-US" sz="2600" dirty="0"/>
          </a:p>
        </p:txBody>
      </p:sp>
      <p:sp>
        <p:nvSpPr>
          <p:cNvPr id="31" name="Text 29"/>
          <p:cNvSpPr txBox="1"/>
          <p:nvPr/>
        </p:nvSpPr>
        <p:spPr>
          <a:xfrm>
            <a:off x="1938528" y="4700016"/>
            <a:ext cx="1077392" cy="1170432"/>
          </a:xfrm>
          <a:prstGeom prst="rect">
            <a:avLst/>
          </a:prstGeom>
          <a:noFill/>
          <a:ln/>
        </p:spPr>
        <p:txBody>
          <a:bodyPr wrap="square" lIns="0" tIns="0" rIns="0" bIns="0" rtlCol="0" anchor="ctr"/>
          <a:lstStyle/>
          <a:p>
            <a:pPr marL="0" indent="0">
              <a:lnSpc>
                <a:spcPts val="1400"/>
              </a:lnSpc>
              <a:buNone/>
            </a:pPr>
            <a:r>
              <a:rPr lang="en-US" sz="1100" dirty="0">
                <a:solidFill>
                  <a:srgbClr val="5B6474"/>
                </a:solidFill>
                <a:latin typeface="Calibri" pitchFamily="34" charset="0"/>
                <a:ea typeface="Calibri" pitchFamily="34" charset="-122"/>
                <a:cs typeface="Calibri" pitchFamily="34" charset="-120"/>
              </a:rPr>
              <a:t>eta. How big a step to take. A number you choose, like 0.01.</a:t>
            </a:r>
            <a:endParaRPr lang="en-US" sz="1100" dirty="0"/>
          </a:p>
        </p:txBody>
      </p:sp>
      <p:sp>
        <p:nvSpPr>
          <p:cNvPr id="32" name="Shape 30"/>
          <p:cNvSpPr/>
          <p:nvPr/>
        </p:nvSpPr>
        <p:spPr>
          <a:xfrm>
            <a:off x="3418256" y="4572000"/>
            <a:ext cx="2577008" cy="1417320"/>
          </a:xfrm>
          <a:prstGeom prst="roundRect">
            <a:avLst>
              <a:gd name="adj" fmla="val 5161"/>
            </a:avLst>
          </a:prstGeom>
          <a:solidFill>
            <a:srgbClr val="FAF0DE"/>
          </a:solidFill>
          <a:ln w="12700">
            <a:solidFill>
              <a:srgbClr val="FAF0DE"/>
            </a:solidFill>
            <a:prstDash val="solid"/>
          </a:ln>
        </p:spPr>
        <p:txBody>
          <a:bodyPr/>
          <a:lstStyle/>
          <a:p>
            <a:endParaRPr lang="en-US"/>
          </a:p>
        </p:txBody>
      </p:sp>
      <p:sp>
        <p:nvSpPr>
          <p:cNvPr id="33" name="Text 31"/>
          <p:cNvSpPr txBox="1"/>
          <p:nvPr/>
        </p:nvSpPr>
        <p:spPr>
          <a:xfrm>
            <a:off x="3619424" y="4700016"/>
            <a:ext cx="1051560" cy="502920"/>
          </a:xfrm>
          <a:prstGeom prst="rect">
            <a:avLst/>
          </a:prstGeom>
          <a:noFill/>
          <a:ln/>
        </p:spPr>
        <p:txBody>
          <a:bodyPr wrap="square" lIns="0" tIns="0" rIns="0" bIns="0" rtlCol="0" anchor="ctr"/>
          <a:lstStyle/>
          <a:p>
            <a:pPr marL="0" indent="0" algn="ctr">
              <a:buNone/>
            </a:pPr>
            <a:r>
              <a:rPr lang="en-US" sz="2600" b="1" dirty="0">
                <a:solidFill>
                  <a:srgbClr val="C07414"/>
                </a:solidFill>
                <a:latin typeface="Cambria Math" pitchFamily="34" charset="0"/>
                <a:ea typeface="Cambria Math" pitchFamily="34" charset="-122"/>
                <a:cs typeface="Cambria Math" pitchFamily="34" charset="-120"/>
              </a:rPr>
              <a:t>←</a:t>
            </a:r>
            <a:endParaRPr lang="en-US" sz="2600" dirty="0"/>
          </a:p>
        </p:txBody>
      </p:sp>
      <p:sp>
        <p:nvSpPr>
          <p:cNvPr id="34" name="Text 32"/>
          <p:cNvSpPr txBox="1"/>
          <p:nvPr/>
        </p:nvSpPr>
        <p:spPr>
          <a:xfrm>
            <a:off x="4716704" y="4700016"/>
            <a:ext cx="1077392" cy="1170432"/>
          </a:xfrm>
          <a:prstGeom prst="rect">
            <a:avLst/>
          </a:prstGeom>
          <a:noFill/>
          <a:ln/>
        </p:spPr>
        <p:txBody>
          <a:bodyPr wrap="square" lIns="0" tIns="0" rIns="0" bIns="0" rtlCol="0" anchor="ctr"/>
          <a:lstStyle/>
          <a:p>
            <a:pPr marL="0" indent="0">
              <a:lnSpc>
                <a:spcPts val="1400"/>
              </a:lnSpc>
              <a:buNone/>
            </a:pPr>
            <a:r>
              <a:rPr lang="en-US" sz="1100" dirty="0">
                <a:solidFill>
                  <a:srgbClr val="5B6474"/>
                </a:solidFill>
                <a:latin typeface="Calibri" pitchFamily="34" charset="0"/>
                <a:ea typeface="Calibri" pitchFamily="34" charset="-122"/>
                <a:cs typeface="Calibri" pitchFamily="34" charset="-120"/>
              </a:rPr>
              <a:t>gets replaced by. Not equals — an instruction to overwrite.</a:t>
            </a:r>
            <a:endParaRPr lang="en-US" sz="1100" dirty="0"/>
          </a:p>
        </p:txBody>
      </p:sp>
      <p:sp>
        <p:nvSpPr>
          <p:cNvPr id="35" name="Shape 33"/>
          <p:cNvSpPr/>
          <p:nvPr/>
        </p:nvSpPr>
        <p:spPr>
          <a:xfrm>
            <a:off x="6196432" y="4572000"/>
            <a:ext cx="2577008" cy="1417320"/>
          </a:xfrm>
          <a:prstGeom prst="roundRect">
            <a:avLst>
              <a:gd name="adj" fmla="val 5161"/>
            </a:avLst>
          </a:prstGeom>
          <a:solidFill>
            <a:srgbClr val="E7EEF8"/>
          </a:solidFill>
          <a:ln w="12700">
            <a:solidFill>
              <a:srgbClr val="E7EEF8"/>
            </a:solidFill>
            <a:prstDash val="solid"/>
          </a:ln>
        </p:spPr>
        <p:txBody>
          <a:bodyPr/>
          <a:lstStyle/>
          <a:p>
            <a:endParaRPr lang="en-US"/>
          </a:p>
        </p:txBody>
      </p:sp>
      <p:sp>
        <p:nvSpPr>
          <p:cNvPr id="36" name="Text 34"/>
          <p:cNvSpPr txBox="1"/>
          <p:nvPr/>
        </p:nvSpPr>
        <p:spPr>
          <a:xfrm>
            <a:off x="6397600" y="4700016"/>
            <a:ext cx="1051560" cy="502920"/>
          </a:xfrm>
          <a:prstGeom prst="rect">
            <a:avLst/>
          </a:prstGeom>
          <a:noFill/>
          <a:ln/>
        </p:spPr>
        <p:txBody>
          <a:bodyPr wrap="square" lIns="0" tIns="0" rIns="0" bIns="0" rtlCol="0" anchor="ctr"/>
          <a:lstStyle/>
          <a:p>
            <a:pPr marL="0" indent="0" algn="ctr">
              <a:buNone/>
            </a:pPr>
            <a:r>
              <a:rPr lang="en-US" sz="2600" b="1" dirty="0">
                <a:solidFill>
                  <a:srgbClr val="2C5FA8"/>
                </a:solidFill>
                <a:latin typeface="Cambria Math" pitchFamily="34" charset="0"/>
                <a:ea typeface="Cambria Math" pitchFamily="34" charset="-122"/>
                <a:cs typeface="Cambria Math" pitchFamily="34" charset="-120"/>
              </a:rPr>
              <a:t>σ</a:t>
            </a:r>
            <a:endParaRPr lang="en-US" sz="2600" dirty="0"/>
          </a:p>
        </p:txBody>
      </p:sp>
      <p:sp>
        <p:nvSpPr>
          <p:cNvPr id="37" name="Text 35"/>
          <p:cNvSpPr txBox="1"/>
          <p:nvPr/>
        </p:nvSpPr>
        <p:spPr>
          <a:xfrm>
            <a:off x="7494880" y="4700016"/>
            <a:ext cx="1077392" cy="1170432"/>
          </a:xfrm>
          <a:prstGeom prst="rect">
            <a:avLst/>
          </a:prstGeom>
          <a:noFill/>
          <a:ln/>
        </p:spPr>
        <p:txBody>
          <a:bodyPr wrap="square" lIns="0" tIns="0" rIns="0" bIns="0" rtlCol="0" anchor="ctr"/>
          <a:lstStyle/>
          <a:p>
            <a:pPr marL="0" indent="0">
              <a:lnSpc>
                <a:spcPts val="1400"/>
              </a:lnSpc>
              <a:buNone/>
            </a:pPr>
            <a:r>
              <a:rPr lang="en-US" sz="1100" dirty="0">
                <a:solidFill>
                  <a:srgbClr val="5B6474"/>
                </a:solidFill>
                <a:latin typeface="Calibri" pitchFamily="34" charset="0"/>
                <a:ea typeface="Calibri" pitchFamily="34" charset="-122"/>
                <a:cs typeface="Calibri" pitchFamily="34" charset="-120"/>
              </a:rPr>
              <a:t>sigma (lowercase). A squashing function that keeps outputs between 0 and 1.</a:t>
            </a:r>
            <a:endParaRPr lang="en-US" sz="1100" dirty="0"/>
          </a:p>
        </p:txBody>
      </p:sp>
      <p:sp>
        <p:nvSpPr>
          <p:cNvPr id="38" name="Shape 36"/>
          <p:cNvSpPr/>
          <p:nvPr/>
        </p:nvSpPr>
        <p:spPr>
          <a:xfrm>
            <a:off x="8974607" y="4572000"/>
            <a:ext cx="2577008" cy="1417320"/>
          </a:xfrm>
          <a:prstGeom prst="roundRect">
            <a:avLst>
              <a:gd name="adj" fmla="val 5161"/>
            </a:avLst>
          </a:prstGeom>
          <a:solidFill>
            <a:srgbClr val="FAF0DE"/>
          </a:solidFill>
          <a:ln w="12700">
            <a:solidFill>
              <a:srgbClr val="FAF0DE"/>
            </a:solidFill>
            <a:prstDash val="solid"/>
          </a:ln>
        </p:spPr>
        <p:txBody>
          <a:bodyPr/>
          <a:lstStyle/>
          <a:p>
            <a:endParaRPr lang="en-US"/>
          </a:p>
        </p:txBody>
      </p:sp>
      <p:sp>
        <p:nvSpPr>
          <p:cNvPr id="39" name="Text 37"/>
          <p:cNvSpPr txBox="1"/>
          <p:nvPr/>
        </p:nvSpPr>
        <p:spPr>
          <a:xfrm>
            <a:off x="9175775" y="4700016"/>
            <a:ext cx="1051560" cy="502920"/>
          </a:xfrm>
          <a:prstGeom prst="rect">
            <a:avLst/>
          </a:prstGeom>
          <a:noFill/>
          <a:ln/>
        </p:spPr>
        <p:txBody>
          <a:bodyPr wrap="square" lIns="0" tIns="0" rIns="0" bIns="0" rtlCol="0" anchor="ctr"/>
          <a:lstStyle/>
          <a:p>
            <a:pPr marL="0" indent="0" algn="ctr">
              <a:buNone/>
            </a:pPr>
            <a:r>
              <a:rPr lang="en-US" sz="2600" b="1" dirty="0">
                <a:solidFill>
                  <a:srgbClr val="C07414"/>
                </a:solidFill>
                <a:latin typeface="Cambria Math" pitchFamily="34" charset="0"/>
                <a:ea typeface="Cambria Math" pitchFamily="34" charset="-122"/>
                <a:cs typeface="Cambria Math" pitchFamily="34" charset="-120"/>
              </a:rPr>
              <a:t>n, m</a:t>
            </a:r>
            <a:endParaRPr lang="en-US" sz="2600" dirty="0"/>
          </a:p>
        </p:txBody>
      </p:sp>
      <p:sp>
        <p:nvSpPr>
          <p:cNvPr id="40" name="Text 38"/>
          <p:cNvSpPr txBox="1"/>
          <p:nvPr/>
        </p:nvSpPr>
        <p:spPr>
          <a:xfrm>
            <a:off x="10273055" y="4700016"/>
            <a:ext cx="1077392" cy="1170432"/>
          </a:xfrm>
          <a:prstGeom prst="rect">
            <a:avLst/>
          </a:prstGeom>
          <a:noFill/>
          <a:ln/>
        </p:spPr>
        <p:txBody>
          <a:bodyPr wrap="square" lIns="0" tIns="0" rIns="0" bIns="0" rtlCol="0" anchor="ctr"/>
          <a:lstStyle/>
          <a:p>
            <a:pPr marL="0" indent="0">
              <a:lnSpc>
                <a:spcPts val="1400"/>
              </a:lnSpc>
              <a:buNone/>
            </a:pPr>
            <a:r>
              <a:rPr lang="en-US" sz="1100" dirty="0">
                <a:solidFill>
                  <a:srgbClr val="5B6474"/>
                </a:solidFill>
                <a:latin typeface="Calibri" pitchFamily="34" charset="0"/>
                <a:ea typeface="Calibri" pitchFamily="34" charset="-122"/>
                <a:cs typeface="Calibri" pitchFamily="34" charset="-120"/>
              </a:rPr>
              <a:t>how many examples you are averaging over.</a:t>
            </a:r>
            <a:endParaRPr lang="en-US" sz="1100" dirty="0"/>
          </a:p>
        </p:txBody>
      </p:sp>
      <p:sp>
        <p:nvSpPr>
          <p:cNvPr id="41" name="Text 39"/>
          <p:cNvSpPr txBox="1"/>
          <p:nvPr/>
        </p:nvSpPr>
        <p:spPr>
          <a:xfrm>
            <a:off x="640080" y="6172200"/>
            <a:ext cx="10881360" cy="320040"/>
          </a:xfrm>
          <a:prstGeom prst="rect">
            <a:avLst/>
          </a:prstGeom>
          <a:noFill/>
          <a:ln/>
        </p:spPr>
        <p:txBody>
          <a:bodyPr wrap="square" lIns="0" tIns="0" rIns="0" bIns="0" rtlCol="0" anchor="ctr"/>
          <a:lstStyle/>
          <a:p>
            <a:pPr marL="0" indent="0">
              <a:buNone/>
            </a:pPr>
            <a:r>
              <a:rPr lang="en-US" sz="1400" i="1" dirty="0">
                <a:solidFill>
                  <a:srgbClr val="2C5FA8"/>
                </a:solidFill>
                <a:latin typeface="Cambria" pitchFamily="34" charset="0"/>
                <a:ea typeface="Cambria" pitchFamily="34" charset="-122"/>
                <a:cs typeface="Cambria" pitchFamily="34" charset="-120"/>
              </a:rPr>
              <a:t>Subscripts are just labels: w₁ is the first weight, wⱼ is “whichever weight we are talking about.” Nothing more.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741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ORIENTATION</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11722"/>
                </a:solidFill>
                <a:latin typeface="Cambria" pitchFamily="34" charset="0"/>
                <a:ea typeface="Cambria" pitchFamily="34" charset="-122"/>
                <a:cs typeface="Cambria" pitchFamily="34" charset="-120"/>
              </a:rPr>
              <a:t>The same idea in three registers</a:t>
            </a:r>
            <a:endParaRPr lang="en-US" sz="2900" dirty="0"/>
          </a:p>
        </p:txBody>
      </p:sp>
      <p:sp>
        <p:nvSpPr>
          <p:cNvPr id="5" name="Shape 3"/>
          <p:cNvSpPr/>
          <p:nvPr/>
        </p:nvSpPr>
        <p:spPr>
          <a:xfrm>
            <a:off x="640080" y="1481328"/>
            <a:ext cx="3454298" cy="2468880"/>
          </a:xfrm>
          <a:prstGeom prst="roundRect">
            <a:avLst>
              <a:gd name="adj" fmla="val 2963"/>
            </a:avLst>
          </a:prstGeom>
          <a:solidFill>
            <a:srgbClr val="E7EEF8"/>
          </a:solidFill>
          <a:ln w="12700">
            <a:solidFill>
              <a:srgbClr val="E7EEF8"/>
            </a:solidFill>
            <a:prstDash val="solid"/>
          </a:ln>
        </p:spPr>
        <p:txBody>
          <a:bodyPr/>
          <a:lstStyle/>
          <a:p>
            <a:endParaRPr lang="en-US"/>
          </a:p>
        </p:txBody>
      </p:sp>
      <p:sp>
        <p:nvSpPr>
          <p:cNvPr id="6" name="Text 4"/>
          <p:cNvSpPr txBox="1"/>
          <p:nvPr/>
        </p:nvSpPr>
        <p:spPr>
          <a:xfrm>
            <a:off x="914400" y="1682496"/>
            <a:ext cx="2905658" cy="365760"/>
          </a:xfrm>
          <a:prstGeom prst="rect">
            <a:avLst/>
          </a:prstGeom>
          <a:noFill/>
          <a:ln/>
        </p:spPr>
        <p:txBody>
          <a:bodyPr wrap="square" lIns="0" tIns="0" rIns="0" bIns="0" rtlCol="0" anchor="ctr"/>
          <a:lstStyle/>
          <a:p>
            <a:pPr marL="0" indent="0">
              <a:buNone/>
            </a:pPr>
            <a:r>
              <a:rPr lang="en-US" sz="1700" b="1" dirty="0">
                <a:solidFill>
                  <a:srgbClr val="111722"/>
                </a:solidFill>
                <a:latin typeface="Cambria" pitchFamily="34" charset="0"/>
                <a:ea typeface="Cambria" pitchFamily="34" charset="-122"/>
                <a:cs typeface="Cambria" pitchFamily="34" charset="-120"/>
              </a:rPr>
              <a:t>In English</a:t>
            </a:r>
            <a:endParaRPr lang="en-US" sz="1700" dirty="0"/>
          </a:p>
        </p:txBody>
      </p:sp>
      <p:sp>
        <p:nvSpPr>
          <p:cNvPr id="7" name="Text 5"/>
          <p:cNvSpPr txBox="1"/>
          <p:nvPr/>
        </p:nvSpPr>
        <p:spPr>
          <a:xfrm>
            <a:off x="914400" y="2194560"/>
            <a:ext cx="2905658" cy="1554480"/>
          </a:xfrm>
          <a:prstGeom prst="rect">
            <a:avLst/>
          </a:prstGeom>
          <a:noFill/>
          <a:ln/>
        </p:spPr>
        <p:txBody>
          <a:bodyPr wrap="square" lIns="0" tIns="0" rIns="0" bIns="0" rtlCol="0" anchor="ctr"/>
          <a:lstStyle/>
          <a:p>
            <a:pPr marL="0" indent="0">
              <a:lnSpc>
                <a:spcPts val="1700"/>
              </a:lnSpc>
              <a:buNone/>
            </a:pPr>
            <a:r>
              <a:rPr lang="en-US" sz="1250" dirty="0">
                <a:solidFill>
                  <a:srgbClr val="5B6474"/>
                </a:solidFill>
                <a:latin typeface="Calibri" pitchFamily="34" charset="0"/>
                <a:ea typeface="Calibri" pitchFamily="34" charset="-122"/>
                <a:cs typeface="Calibri" pitchFamily="34" charset="-120"/>
              </a:rPr>
              <a:t>Find the setting of the knobs that makes the machine least wrong, by repeatedly measuring which way is downhill and stepping that way.</a:t>
            </a:r>
            <a:endParaRPr lang="en-US" sz="1250" dirty="0"/>
          </a:p>
        </p:txBody>
      </p:sp>
      <p:sp>
        <p:nvSpPr>
          <p:cNvPr id="8" name="Shape 6"/>
          <p:cNvSpPr/>
          <p:nvPr/>
        </p:nvSpPr>
        <p:spPr>
          <a:xfrm>
            <a:off x="4368698" y="1481328"/>
            <a:ext cx="3454298" cy="2468880"/>
          </a:xfrm>
          <a:prstGeom prst="roundRect">
            <a:avLst>
              <a:gd name="adj" fmla="val 2963"/>
            </a:avLst>
          </a:prstGeom>
          <a:solidFill>
            <a:srgbClr val="FAF0DE"/>
          </a:solidFill>
          <a:ln w="12700">
            <a:solidFill>
              <a:srgbClr val="FAF0DE"/>
            </a:solidFill>
            <a:prstDash val="solid"/>
          </a:ln>
        </p:spPr>
        <p:txBody>
          <a:bodyPr/>
          <a:lstStyle/>
          <a:p>
            <a:endParaRPr lang="en-US"/>
          </a:p>
        </p:txBody>
      </p:sp>
      <p:sp>
        <p:nvSpPr>
          <p:cNvPr id="9" name="Text 7"/>
          <p:cNvSpPr txBox="1"/>
          <p:nvPr/>
        </p:nvSpPr>
        <p:spPr>
          <a:xfrm>
            <a:off x="4643018" y="1682496"/>
            <a:ext cx="2905658" cy="365760"/>
          </a:xfrm>
          <a:prstGeom prst="rect">
            <a:avLst/>
          </a:prstGeom>
          <a:noFill/>
          <a:ln/>
        </p:spPr>
        <p:txBody>
          <a:bodyPr wrap="square" lIns="0" tIns="0" rIns="0" bIns="0" rtlCol="0" anchor="ctr"/>
          <a:lstStyle/>
          <a:p>
            <a:pPr marL="0" indent="0">
              <a:buNone/>
            </a:pPr>
            <a:r>
              <a:rPr lang="en-US" sz="1700" b="1" dirty="0">
                <a:solidFill>
                  <a:srgbClr val="111722"/>
                </a:solidFill>
                <a:latin typeface="Cambria" pitchFamily="34" charset="0"/>
                <a:ea typeface="Cambria" pitchFamily="34" charset="-122"/>
                <a:cs typeface="Cambria" pitchFamily="34" charset="-120"/>
              </a:rPr>
              <a:t>In a picture</a:t>
            </a:r>
            <a:endParaRPr lang="en-US" sz="1700" dirty="0"/>
          </a:p>
        </p:txBody>
      </p:sp>
      <p:sp>
        <p:nvSpPr>
          <p:cNvPr id="10" name="Shape 8"/>
          <p:cNvSpPr/>
          <p:nvPr/>
        </p:nvSpPr>
        <p:spPr>
          <a:xfrm>
            <a:off x="4805324" y="2265426"/>
            <a:ext cx="41148" cy="41148"/>
          </a:xfrm>
          <a:prstGeom prst="ellipse">
            <a:avLst/>
          </a:prstGeom>
          <a:solidFill>
            <a:srgbClr val="2C5FA8"/>
          </a:solidFill>
          <a:ln/>
        </p:spPr>
        <p:txBody>
          <a:bodyPr/>
          <a:lstStyle/>
          <a:p>
            <a:endParaRPr lang="en-US"/>
          </a:p>
        </p:txBody>
      </p:sp>
      <p:sp>
        <p:nvSpPr>
          <p:cNvPr id="11" name="Shape 9"/>
          <p:cNvSpPr/>
          <p:nvPr/>
        </p:nvSpPr>
        <p:spPr>
          <a:xfrm>
            <a:off x="4880027" y="2354177"/>
            <a:ext cx="41148" cy="41148"/>
          </a:xfrm>
          <a:prstGeom prst="ellipse">
            <a:avLst/>
          </a:prstGeom>
          <a:solidFill>
            <a:srgbClr val="2C5FA8"/>
          </a:solidFill>
          <a:ln/>
        </p:spPr>
        <p:txBody>
          <a:bodyPr/>
          <a:lstStyle/>
          <a:p>
            <a:endParaRPr lang="en-US"/>
          </a:p>
        </p:txBody>
      </p:sp>
      <p:sp>
        <p:nvSpPr>
          <p:cNvPr id="12" name="Shape 10"/>
          <p:cNvSpPr/>
          <p:nvPr/>
        </p:nvSpPr>
        <p:spPr>
          <a:xfrm>
            <a:off x="4954730" y="2437548"/>
            <a:ext cx="41148" cy="41148"/>
          </a:xfrm>
          <a:prstGeom prst="ellipse">
            <a:avLst/>
          </a:prstGeom>
          <a:solidFill>
            <a:srgbClr val="2C5FA8"/>
          </a:solidFill>
          <a:ln/>
        </p:spPr>
        <p:txBody>
          <a:bodyPr/>
          <a:lstStyle/>
          <a:p>
            <a:endParaRPr lang="en-US"/>
          </a:p>
        </p:txBody>
      </p:sp>
      <p:sp>
        <p:nvSpPr>
          <p:cNvPr id="13" name="Shape 11"/>
          <p:cNvSpPr/>
          <p:nvPr/>
        </p:nvSpPr>
        <p:spPr>
          <a:xfrm>
            <a:off x="5029433" y="2515541"/>
            <a:ext cx="41148" cy="41148"/>
          </a:xfrm>
          <a:prstGeom prst="ellipse">
            <a:avLst/>
          </a:prstGeom>
          <a:solidFill>
            <a:srgbClr val="2C5FA8"/>
          </a:solidFill>
          <a:ln/>
        </p:spPr>
        <p:txBody>
          <a:bodyPr/>
          <a:lstStyle/>
          <a:p>
            <a:endParaRPr lang="en-US"/>
          </a:p>
        </p:txBody>
      </p:sp>
      <p:sp>
        <p:nvSpPr>
          <p:cNvPr id="14" name="Shape 12"/>
          <p:cNvSpPr/>
          <p:nvPr/>
        </p:nvSpPr>
        <p:spPr>
          <a:xfrm>
            <a:off x="5104136" y="2588155"/>
            <a:ext cx="41148" cy="41148"/>
          </a:xfrm>
          <a:prstGeom prst="ellipse">
            <a:avLst/>
          </a:prstGeom>
          <a:solidFill>
            <a:srgbClr val="2C5FA8"/>
          </a:solidFill>
          <a:ln/>
        </p:spPr>
        <p:txBody>
          <a:bodyPr/>
          <a:lstStyle/>
          <a:p>
            <a:endParaRPr lang="en-US"/>
          </a:p>
        </p:txBody>
      </p:sp>
      <p:sp>
        <p:nvSpPr>
          <p:cNvPr id="15" name="Shape 13"/>
          <p:cNvSpPr/>
          <p:nvPr/>
        </p:nvSpPr>
        <p:spPr>
          <a:xfrm>
            <a:off x="5178839" y="2655391"/>
            <a:ext cx="41148" cy="41148"/>
          </a:xfrm>
          <a:prstGeom prst="ellipse">
            <a:avLst/>
          </a:prstGeom>
          <a:solidFill>
            <a:srgbClr val="2C5FA8"/>
          </a:solidFill>
          <a:ln/>
        </p:spPr>
        <p:txBody>
          <a:bodyPr/>
          <a:lstStyle/>
          <a:p>
            <a:endParaRPr lang="en-US"/>
          </a:p>
        </p:txBody>
      </p:sp>
      <p:sp>
        <p:nvSpPr>
          <p:cNvPr id="16" name="Shape 14"/>
          <p:cNvSpPr/>
          <p:nvPr/>
        </p:nvSpPr>
        <p:spPr>
          <a:xfrm>
            <a:off x="5253542" y="2717247"/>
            <a:ext cx="41148" cy="41148"/>
          </a:xfrm>
          <a:prstGeom prst="ellipse">
            <a:avLst/>
          </a:prstGeom>
          <a:solidFill>
            <a:srgbClr val="2C5FA8"/>
          </a:solidFill>
          <a:ln/>
        </p:spPr>
        <p:txBody>
          <a:bodyPr/>
          <a:lstStyle/>
          <a:p>
            <a:endParaRPr lang="en-US"/>
          </a:p>
        </p:txBody>
      </p:sp>
      <p:sp>
        <p:nvSpPr>
          <p:cNvPr id="17" name="Shape 15"/>
          <p:cNvSpPr/>
          <p:nvPr/>
        </p:nvSpPr>
        <p:spPr>
          <a:xfrm>
            <a:off x="5328245" y="2773725"/>
            <a:ext cx="41148" cy="41148"/>
          </a:xfrm>
          <a:prstGeom prst="ellipse">
            <a:avLst/>
          </a:prstGeom>
          <a:solidFill>
            <a:srgbClr val="2C5FA8"/>
          </a:solidFill>
          <a:ln/>
        </p:spPr>
        <p:txBody>
          <a:bodyPr/>
          <a:lstStyle/>
          <a:p>
            <a:endParaRPr lang="en-US"/>
          </a:p>
        </p:txBody>
      </p:sp>
      <p:sp>
        <p:nvSpPr>
          <p:cNvPr id="18" name="Shape 16"/>
          <p:cNvSpPr/>
          <p:nvPr/>
        </p:nvSpPr>
        <p:spPr>
          <a:xfrm>
            <a:off x="5402948" y="2824824"/>
            <a:ext cx="41148" cy="41148"/>
          </a:xfrm>
          <a:prstGeom prst="ellipse">
            <a:avLst/>
          </a:prstGeom>
          <a:solidFill>
            <a:srgbClr val="2C5FA8"/>
          </a:solidFill>
          <a:ln/>
        </p:spPr>
        <p:txBody>
          <a:bodyPr/>
          <a:lstStyle/>
          <a:p>
            <a:endParaRPr lang="en-US"/>
          </a:p>
        </p:txBody>
      </p:sp>
      <p:sp>
        <p:nvSpPr>
          <p:cNvPr id="19" name="Shape 17"/>
          <p:cNvSpPr/>
          <p:nvPr/>
        </p:nvSpPr>
        <p:spPr>
          <a:xfrm>
            <a:off x="5477650" y="2870544"/>
            <a:ext cx="41148" cy="41148"/>
          </a:xfrm>
          <a:prstGeom prst="ellipse">
            <a:avLst/>
          </a:prstGeom>
          <a:solidFill>
            <a:srgbClr val="2C5FA8"/>
          </a:solidFill>
          <a:ln/>
        </p:spPr>
        <p:txBody>
          <a:bodyPr/>
          <a:lstStyle/>
          <a:p>
            <a:endParaRPr lang="en-US"/>
          </a:p>
        </p:txBody>
      </p:sp>
      <p:sp>
        <p:nvSpPr>
          <p:cNvPr id="20" name="Shape 18"/>
          <p:cNvSpPr/>
          <p:nvPr/>
        </p:nvSpPr>
        <p:spPr>
          <a:xfrm>
            <a:off x="5552353" y="2910885"/>
            <a:ext cx="41148" cy="41148"/>
          </a:xfrm>
          <a:prstGeom prst="ellipse">
            <a:avLst/>
          </a:prstGeom>
          <a:solidFill>
            <a:srgbClr val="2C5FA8"/>
          </a:solidFill>
          <a:ln/>
        </p:spPr>
        <p:txBody>
          <a:bodyPr/>
          <a:lstStyle/>
          <a:p>
            <a:endParaRPr lang="en-US"/>
          </a:p>
        </p:txBody>
      </p:sp>
      <p:sp>
        <p:nvSpPr>
          <p:cNvPr id="21" name="Shape 19"/>
          <p:cNvSpPr/>
          <p:nvPr/>
        </p:nvSpPr>
        <p:spPr>
          <a:xfrm>
            <a:off x="5627056" y="2945847"/>
            <a:ext cx="41148" cy="41148"/>
          </a:xfrm>
          <a:prstGeom prst="ellipse">
            <a:avLst/>
          </a:prstGeom>
          <a:solidFill>
            <a:srgbClr val="2C5FA8"/>
          </a:solidFill>
          <a:ln/>
        </p:spPr>
        <p:txBody>
          <a:bodyPr/>
          <a:lstStyle/>
          <a:p>
            <a:endParaRPr lang="en-US"/>
          </a:p>
        </p:txBody>
      </p:sp>
      <p:sp>
        <p:nvSpPr>
          <p:cNvPr id="22" name="Shape 20"/>
          <p:cNvSpPr/>
          <p:nvPr/>
        </p:nvSpPr>
        <p:spPr>
          <a:xfrm>
            <a:off x="5701759" y="2975431"/>
            <a:ext cx="41148" cy="41148"/>
          </a:xfrm>
          <a:prstGeom prst="ellipse">
            <a:avLst/>
          </a:prstGeom>
          <a:solidFill>
            <a:srgbClr val="2C5FA8"/>
          </a:solidFill>
          <a:ln/>
        </p:spPr>
        <p:txBody>
          <a:bodyPr/>
          <a:lstStyle/>
          <a:p>
            <a:endParaRPr lang="en-US"/>
          </a:p>
        </p:txBody>
      </p:sp>
      <p:sp>
        <p:nvSpPr>
          <p:cNvPr id="23" name="Shape 21"/>
          <p:cNvSpPr/>
          <p:nvPr/>
        </p:nvSpPr>
        <p:spPr>
          <a:xfrm>
            <a:off x="5776462" y="2999635"/>
            <a:ext cx="41148" cy="41148"/>
          </a:xfrm>
          <a:prstGeom prst="ellipse">
            <a:avLst/>
          </a:prstGeom>
          <a:solidFill>
            <a:srgbClr val="2C5FA8"/>
          </a:solidFill>
          <a:ln/>
        </p:spPr>
        <p:txBody>
          <a:bodyPr/>
          <a:lstStyle/>
          <a:p>
            <a:endParaRPr lang="en-US"/>
          </a:p>
        </p:txBody>
      </p:sp>
      <p:sp>
        <p:nvSpPr>
          <p:cNvPr id="24" name="Shape 22"/>
          <p:cNvSpPr/>
          <p:nvPr/>
        </p:nvSpPr>
        <p:spPr>
          <a:xfrm>
            <a:off x="5851165" y="3018461"/>
            <a:ext cx="41148" cy="41148"/>
          </a:xfrm>
          <a:prstGeom prst="ellipse">
            <a:avLst/>
          </a:prstGeom>
          <a:solidFill>
            <a:srgbClr val="2C5FA8"/>
          </a:solidFill>
          <a:ln/>
        </p:spPr>
        <p:txBody>
          <a:bodyPr/>
          <a:lstStyle/>
          <a:p>
            <a:endParaRPr lang="en-US"/>
          </a:p>
        </p:txBody>
      </p:sp>
      <p:sp>
        <p:nvSpPr>
          <p:cNvPr id="25" name="Shape 23"/>
          <p:cNvSpPr/>
          <p:nvPr/>
        </p:nvSpPr>
        <p:spPr>
          <a:xfrm>
            <a:off x="5925868" y="3031908"/>
            <a:ext cx="41148" cy="41148"/>
          </a:xfrm>
          <a:prstGeom prst="ellipse">
            <a:avLst/>
          </a:prstGeom>
          <a:solidFill>
            <a:srgbClr val="2C5FA8"/>
          </a:solidFill>
          <a:ln/>
        </p:spPr>
        <p:txBody>
          <a:bodyPr/>
          <a:lstStyle/>
          <a:p>
            <a:endParaRPr lang="en-US"/>
          </a:p>
        </p:txBody>
      </p:sp>
      <p:sp>
        <p:nvSpPr>
          <p:cNvPr id="26" name="Shape 24"/>
          <p:cNvSpPr/>
          <p:nvPr/>
        </p:nvSpPr>
        <p:spPr>
          <a:xfrm>
            <a:off x="6000571" y="3039977"/>
            <a:ext cx="41148" cy="41148"/>
          </a:xfrm>
          <a:prstGeom prst="ellipse">
            <a:avLst/>
          </a:prstGeom>
          <a:solidFill>
            <a:srgbClr val="2C5FA8"/>
          </a:solidFill>
          <a:ln/>
        </p:spPr>
        <p:txBody>
          <a:bodyPr/>
          <a:lstStyle/>
          <a:p>
            <a:endParaRPr lang="en-US"/>
          </a:p>
        </p:txBody>
      </p:sp>
      <p:sp>
        <p:nvSpPr>
          <p:cNvPr id="27" name="Shape 25"/>
          <p:cNvSpPr/>
          <p:nvPr/>
        </p:nvSpPr>
        <p:spPr>
          <a:xfrm>
            <a:off x="6075274" y="3042666"/>
            <a:ext cx="41148" cy="41148"/>
          </a:xfrm>
          <a:prstGeom prst="ellipse">
            <a:avLst/>
          </a:prstGeom>
          <a:solidFill>
            <a:srgbClr val="2C5FA8"/>
          </a:solidFill>
          <a:ln/>
        </p:spPr>
        <p:txBody>
          <a:bodyPr/>
          <a:lstStyle/>
          <a:p>
            <a:endParaRPr lang="en-US"/>
          </a:p>
        </p:txBody>
      </p:sp>
      <p:sp>
        <p:nvSpPr>
          <p:cNvPr id="28" name="Shape 26"/>
          <p:cNvSpPr/>
          <p:nvPr/>
        </p:nvSpPr>
        <p:spPr>
          <a:xfrm>
            <a:off x="6149976" y="3039977"/>
            <a:ext cx="41148" cy="41148"/>
          </a:xfrm>
          <a:prstGeom prst="ellipse">
            <a:avLst/>
          </a:prstGeom>
          <a:solidFill>
            <a:srgbClr val="2C5FA8"/>
          </a:solidFill>
          <a:ln/>
        </p:spPr>
        <p:txBody>
          <a:bodyPr/>
          <a:lstStyle/>
          <a:p>
            <a:endParaRPr lang="en-US"/>
          </a:p>
        </p:txBody>
      </p:sp>
      <p:sp>
        <p:nvSpPr>
          <p:cNvPr id="29" name="Shape 27"/>
          <p:cNvSpPr/>
          <p:nvPr/>
        </p:nvSpPr>
        <p:spPr>
          <a:xfrm>
            <a:off x="6224679" y="3031908"/>
            <a:ext cx="41148" cy="41148"/>
          </a:xfrm>
          <a:prstGeom prst="ellipse">
            <a:avLst/>
          </a:prstGeom>
          <a:solidFill>
            <a:srgbClr val="2C5FA8"/>
          </a:solidFill>
          <a:ln/>
        </p:spPr>
        <p:txBody>
          <a:bodyPr/>
          <a:lstStyle/>
          <a:p>
            <a:endParaRPr lang="en-US"/>
          </a:p>
        </p:txBody>
      </p:sp>
      <p:sp>
        <p:nvSpPr>
          <p:cNvPr id="30" name="Shape 28"/>
          <p:cNvSpPr/>
          <p:nvPr/>
        </p:nvSpPr>
        <p:spPr>
          <a:xfrm>
            <a:off x="6299382" y="3018461"/>
            <a:ext cx="41148" cy="41148"/>
          </a:xfrm>
          <a:prstGeom prst="ellipse">
            <a:avLst/>
          </a:prstGeom>
          <a:solidFill>
            <a:srgbClr val="2C5FA8"/>
          </a:solidFill>
          <a:ln/>
        </p:spPr>
        <p:txBody>
          <a:bodyPr/>
          <a:lstStyle/>
          <a:p>
            <a:endParaRPr lang="en-US"/>
          </a:p>
        </p:txBody>
      </p:sp>
      <p:sp>
        <p:nvSpPr>
          <p:cNvPr id="31" name="Shape 29"/>
          <p:cNvSpPr/>
          <p:nvPr/>
        </p:nvSpPr>
        <p:spPr>
          <a:xfrm>
            <a:off x="6374085" y="2999635"/>
            <a:ext cx="41148" cy="41148"/>
          </a:xfrm>
          <a:prstGeom prst="ellipse">
            <a:avLst/>
          </a:prstGeom>
          <a:solidFill>
            <a:srgbClr val="2C5FA8"/>
          </a:solidFill>
          <a:ln/>
        </p:spPr>
        <p:txBody>
          <a:bodyPr/>
          <a:lstStyle/>
          <a:p>
            <a:endParaRPr lang="en-US"/>
          </a:p>
        </p:txBody>
      </p:sp>
      <p:sp>
        <p:nvSpPr>
          <p:cNvPr id="32" name="Shape 30"/>
          <p:cNvSpPr/>
          <p:nvPr/>
        </p:nvSpPr>
        <p:spPr>
          <a:xfrm>
            <a:off x="6448788" y="2975431"/>
            <a:ext cx="41148" cy="41148"/>
          </a:xfrm>
          <a:prstGeom prst="ellipse">
            <a:avLst/>
          </a:prstGeom>
          <a:solidFill>
            <a:srgbClr val="2C5FA8"/>
          </a:solidFill>
          <a:ln/>
        </p:spPr>
        <p:txBody>
          <a:bodyPr/>
          <a:lstStyle/>
          <a:p>
            <a:endParaRPr lang="en-US"/>
          </a:p>
        </p:txBody>
      </p:sp>
      <p:sp>
        <p:nvSpPr>
          <p:cNvPr id="33" name="Shape 31"/>
          <p:cNvSpPr/>
          <p:nvPr/>
        </p:nvSpPr>
        <p:spPr>
          <a:xfrm>
            <a:off x="6523491" y="2945847"/>
            <a:ext cx="41148" cy="41148"/>
          </a:xfrm>
          <a:prstGeom prst="ellipse">
            <a:avLst/>
          </a:prstGeom>
          <a:solidFill>
            <a:srgbClr val="2C5FA8"/>
          </a:solidFill>
          <a:ln/>
        </p:spPr>
        <p:txBody>
          <a:bodyPr/>
          <a:lstStyle/>
          <a:p>
            <a:endParaRPr lang="en-US"/>
          </a:p>
        </p:txBody>
      </p:sp>
      <p:sp>
        <p:nvSpPr>
          <p:cNvPr id="34" name="Shape 32"/>
          <p:cNvSpPr/>
          <p:nvPr/>
        </p:nvSpPr>
        <p:spPr>
          <a:xfrm>
            <a:off x="6598194" y="2910885"/>
            <a:ext cx="41148" cy="41148"/>
          </a:xfrm>
          <a:prstGeom prst="ellipse">
            <a:avLst/>
          </a:prstGeom>
          <a:solidFill>
            <a:srgbClr val="2C5FA8"/>
          </a:solidFill>
          <a:ln/>
        </p:spPr>
        <p:txBody>
          <a:bodyPr/>
          <a:lstStyle/>
          <a:p>
            <a:endParaRPr lang="en-US"/>
          </a:p>
        </p:txBody>
      </p:sp>
      <p:sp>
        <p:nvSpPr>
          <p:cNvPr id="35" name="Shape 33"/>
          <p:cNvSpPr/>
          <p:nvPr/>
        </p:nvSpPr>
        <p:spPr>
          <a:xfrm>
            <a:off x="6672897" y="2870544"/>
            <a:ext cx="41148" cy="41148"/>
          </a:xfrm>
          <a:prstGeom prst="ellipse">
            <a:avLst/>
          </a:prstGeom>
          <a:solidFill>
            <a:srgbClr val="2C5FA8"/>
          </a:solidFill>
          <a:ln/>
        </p:spPr>
        <p:txBody>
          <a:bodyPr/>
          <a:lstStyle/>
          <a:p>
            <a:endParaRPr lang="en-US"/>
          </a:p>
        </p:txBody>
      </p:sp>
      <p:sp>
        <p:nvSpPr>
          <p:cNvPr id="36" name="Shape 34"/>
          <p:cNvSpPr/>
          <p:nvPr/>
        </p:nvSpPr>
        <p:spPr>
          <a:xfrm>
            <a:off x="6747600" y="2824824"/>
            <a:ext cx="41148" cy="41148"/>
          </a:xfrm>
          <a:prstGeom prst="ellipse">
            <a:avLst/>
          </a:prstGeom>
          <a:solidFill>
            <a:srgbClr val="2C5FA8"/>
          </a:solidFill>
          <a:ln/>
        </p:spPr>
        <p:txBody>
          <a:bodyPr/>
          <a:lstStyle/>
          <a:p>
            <a:endParaRPr lang="en-US"/>
          </a:p>
        </p:txBody>
      </p:sp>
      <p:sp>
        <p:nvSpPr>
          <p:cNvPr id="37" name="Shape 35"/>
          <p:cNvSpPr/>
          <p:nvPr/>
        </p:nvSpPr>
        <p:spPr>
          <a:xfrm>
            <a:off x="6822303" y="2773725"/>
            <a:ext cx="41148" cy="41148"/>
          </a:xfrm>
          <a:prstGeom prst="ellipse">
            <a:avLst/>
          </a:prstGeom>
          <a:solidFill>
            <a:srgbClr val="2C5FA8"/>
          </a:solidFill>
          <a:ln/>
        </p:spPr>
        <p:txBody>
          <a:bodyPr/>
          <a:lstStyle/>
          <a:p>
            <a:endParaRPr lang="en-US"/>
          </a:p>
        </p:txBody>
      </p:sp>
      <p:sp>
        <p:nvSpPr>
          <p:cNvPr id="38" name="Shape 36"/>
          <p:cNvSpPr/>
          <p:nvPr/>
        </p:nvSpPr>
        <p:spPr>
          <a:xfrm>
            <a:off x="6897005" y="2717247"/>
            <a:ext cx="41148" cy="41148"/>
          </a:xfrm>
          <a:prstGeom prst="ellipse">
            <a:avLst/>
          </a:prstGeom>
          <a:solidFill>
            <a:srgbClr val="2C5FA8"/>
          </a:solidFill>
          <a:ln/>
        </p:spPr>
        <p:txBody>
          <a:bodyPr/>
          <a:lstStyle/>
          <a:p>
            <a:endParaRPr lang="en-US"/>
          </a:p>
        </p:txBody>
      </p:sp>
      <p:sp>
        <p:nvSpPr>
          <p:cNvPr id="39" name="Shape 37"/>
          <p:cNvSpPr/>
          <p:nvPr/>
        </p:nvSpPr>
        <p:spPr>
          <a:xfrm>
            <a:off x="6971708" y="2655391"/>
            <a:ext cx="41148" cy="41148"/>
          </a:xfrm>
          <a:prstGeom prst="ellipse">
            <a:avLst/>
          </a:prstGeom>
          <a:solidFill>
            <a:srgbClr val="2C5FA8"/>
          </a:solidFill>
          <a:ln/>
        </p:spPr>
        <p:txBody>
          <a:bodyPr/>
          <a:lstStyle/>
          <a:p>
            <a:endParaRPr lang="en-US"/>
          </a:p>
        </p:txBody>
      </p:sp>
      <p:sp>
        <p:nvSpPr>
          <p:cNvPr id="40" name="Shape 38"/>
          <p:cNvSpPr/>
          <p:nvPr/>
        </p:nvSpPr>
        <p:spPr>
          <a:xfrm>
            <a:off x="7046411" y="2588155"/>
            <a:ext cx="41148" cy="41148"/>
          </a:xfrm>
          <a:prstGeom prst="ellipse">
            <a:avLst/>
          </a:prstGeom>
          <a:solidFill>
            <a:srgbClr val="2C5FA8"/>
          </a:solidFill>
          <a:ln/>
        </p:spPr>
        <p:txBody>
          <a:bodyPr/>
          <a:lstStyle/>
          <a:p>
            <a:endParaRPr lang="en-US"/>
          </a:p>
        </p:txBody>
      </p:sp>
      <p:sp>
        <p:nvSpPr>
          <p:cNvPr id="41" name="Shape 39"/>
          <p:cNvSpPr/>
          <p:nvPr/>
        </p:nvSpPr>
        <p:spPr>
          <a:xfrm>
            <a:off x="7121114" y="2515541"/>
            <a:ext cx="41148" cy="41148"/>
          </a:xfrm>
          <a:prstGeom prst="ellipse">
            <a:avLst/>
          </a:prstGeom>
          <a:solidFill>
            <a:srgbClr val="2C5FA8"/>
          </a:solidFill>
          <a:ln/>
        </p:spPr>
        <p:txBody>
          <a:bodyPr/>
          <a:lstStyle/>
          <a:p>
            <a:endParaRPr lang="en-US"/>
          </a:p>
        </p:txBody>
      </p:sp>
      <p:sp>
        <p:nvSpPr>
          <p:cNvPr id="42" name="Shape 40"/>
          <p:cNvSpPr/>
          <p:nvPr/>
        </p:nvSpPr>
        <p:spPr>
          <a:xfrm>
            <a:off x="7195817" y="2437548"/>
            <a:ext cx="41148" cy="41148"/>
          </a:xfrm>
          <a:prstGeom prst="ellipse">
            <a:avLst/>
          </a:prstGeom>
          <a:solidFill>
            <a:srgbClr val="2C5FA8"/>
          </a:solidFill>
          <a:ln/>
        </p:spPr>
        <p:txBody>
          <a:bodyPr/>
          <a:lstStyle/>
          <a:p>
            <a:endParaRPr lang="en-US"/>
          </a:p>
        </p:txBody>
      </p:sp>
      <p:sp>
        <p:nvSpPr>
          <p:cNvPr id="43" name="Shape 41"/>
          <p:cNvSpPr/>
          <p:nvPr/>
        </p:nvSpPr>
        <p:spPr>
          <a:xfrm>
            <a:off x="7270520" y="2354177"/>
            <a:ext cx="41148" cy="41148"/>
          </a:xfrm>
          <a:prstGeom prst="ellipse">
            <a:avLst/>
          </a:prstGeom>
          <a:solidFill>
            <a:srgbClr val="2C5FA8"/>
          </a:solidFill>
          <a:ln/>
        </p:spPr>
        <p:txBody>
          <a:bodyPr/>
          <a:lstStyle/>
          <a:p>
            <a:endParaRPr lang="en-US"/>
          </a:p>
        </p:txBody>
      </p:sp>
      <p:sp>
        <p:nvSpPr>
          <p:cNvPr id="44" name="Shape 42"/>
          <p:cNvSpPr/>
          <p:nvPr/>
        </p:nvSpPr>
        <p:spPr>
          <a:xfrm>
            <a:off x="7345223" y="2265426"/>
            <a:ext cx="41148" cy="41148"/>
          </a:xfrm>
          <a:prstGeom prst="ellipse">
            <a:avLst/>
          </a:prstGeom>
          <a:solidFill>
            <a:srgbClr val="2C5FA8"/>
          </a:solidFill>
          <a:ln/>
        </p:spPr>
        <p:txBody>
          <a:bodyPr/>
          <a:lstStyle/>
          <a:p>
            <a:endParaRPr lang="en-US"/>
          </a:p>
        </p:txBody>
      </p:sp>
      <p:sp>
        <p:nvSpPr>
          <p:cNvPr id="45" name="Shape 43"/>
          <p:cNvSpPr/>
          <p:nvPr/>
        </p:nvSpPr>
        <p:spPr>
          <a:xfrm>
            <a:off x="5122048" y="2600883"/>
            <a:ext cx="118872" cy="118872"/>
          </a:xfrm>
          <a:prstGeom prst="ellipse">
            <a:avLst/>
          </a:prstGeom>
          <a:solidFill>
            <a:srgbClr val="C07414"/>
          </a:solidFill>
          <a:ln/>
        </p:spPr>
        <p:txBody>
          <a:bodyPr/>
          <a:lstStyle/>
          <a:p>
            <a:endParaRPr lang="en-US"/>
          </a:p>
        </p:txBody>
      </p:sp>
      <p:sp>
        <p:nvSpPr>
          <p:cNvPr id="46" name="Shape 44"/>
          <p:cNvSpPr/>
          <p:nvPr/>
        </p:nvSpPr>
        <p:spPr>
          <a:xfrm>
            <a:off x="5426836" y="2824728"/>
            <a:ext cx="118872" cy="118872"/>
          </a:xfrm>
          <a:prstGeom prst="ellipse">
            <a:avLst/>
          </a:prstGeom>
          <a:solidFill>
            <a:srgbClr val="C07414"/>
          </a:solidFill>
          <a:ln/>
        </p:spPr>
        <p:txBody>
          <a:bodyPr/>
          <a:lstStyle/>
          <a:p>
            <a:endParaRPr lang="en-US"/>
          </a:p>
        </p:txBody>
      </p:sp>
      <p:sp>
        <p:nvSpPr>
          <p:cNvPr id="47" name="Shape 45"/>
          <p:cNvSpPr/>
          <p:nvPr/>
        </p:nvSpPr>
        <p:spPr>
          <a:xfrm>
            <a:off x="5680826" y="2942868"/>
            <a:ext cx="118872" cy="118872"/>
          </a:xfrm>
          <a:prstGeom prst="ellipse">
            <a:avLst/>
          </a:prstGeom>
          <a:solidFill>
            <a:srgbClr val="C07414"/>
          </a:solidFill>
          <a:ln/>
        </p:spPr>
        <p:txBody>
          <a:bodyPr/>
          <a:lstStyle/>
          <a:p>
            <a:endParaRPr lang="en-US"/>
          </a:p>
        </p:txBody>
      </p:sp>
      <p:sp>
        <p:nvSpPr>
          <p:cNvPr id="48" name="Shape 46"/>
          <p:cNvSpPr/>
          <p:nvPr/>
        </p:nvSpPr>
        <p:spPr>
          <a:xfrm>
            <a:off x="5884018" y="2992612"/>
            <a:ext cx="118872" cy="118872"/>
          </a:xfrm>
          <a:prstGeom prst="ellipse">
            <a:avLst/>
          </a:prstGeom>
          <a:solidFill>
            <a:srgbClr val="C07414"/>
          </a:solidFill>
          <a:ln/>
        </p:spPr>
        <p:txBody>
          <a:bodyPr/>
          <a:lstStyle/>
          <a:p>
            <a:endParaRPr lang="en-US"/>
          </a:p>
        </p:txBody>
      </p:sp>
      <p:sp>
        <p:nvSpPr>
          <p:cNvPr id="49" name="Text 47"/>
          <p:cNvSpPr txBox="1"/>
          <p:nvPr/>
        </p:nvSpPr>
        <p:spPr>
          <a:xfrm>
            <a:off x="4643018" y="3200400"/>
            <a:ext cx="2905658" cy="658368"/>
          </a:xfrm>
          <a:prstGeom prst="rect">
            <a:avLst/>
          </a:prstGeom>
          <a:noFill/>
          <a:ln/>
        </p:spPr>
        <p:txBody>
          <a:bodyPr wrap="square" lIns="0" tIns="0" rIns="0" bIns="0" rtlCol="0" anchor="ctr"/>
          <a:lstStyle/>
          <a:p>
            <a:pPr marL="0" indent="0">
              <a:lnSpc>
                <a:spcPts val="1500"/>
              </a:lnSpc>
              <a:buNone/>
            </a:pPr>
            <a:r>
              <a:rPr lang="en-US" sz="1150" dirty="0">
                <a:solidFill>
                  <a:srgbClr val="5B6474"/>
                </a:solidFill>
                <a:latin typeface="Calibri" pitchFamily="34" charset="0"/>
                <a:ea typeface="Calibri" pitchFamily="34" charset="-122"/>
                <a:cs typeface="Calibri" pitchFamily="34" charset="-120"/>
              </a:rPr>
              <a:t>A ball on a hillside, rolling toward the bottom of a valley, taking smaller steps as the ground flattens out.</a:t>
            </a:r>
            <a:endParaRPr lang="en-US" sz="1150" dirty="0"/>
          </a:p>
        </p:txBody>
      </p:sp>
      <p:sp>
        <p:nvSpPr>
          <p:cNvPr id="50" name="Shape 48"/>
          <p:cNvSpPr/>
          <p:nvPr/>
        </p:nvSpPr>
        <p:spPr>
          <a:xfrm>
            <a:off x="8097317" y="1481328"/>
            <a:ext cx="3454298" cy="2468880"/>
          </a:xfrm>
          <a:prstGeom prst="roundRect">
            <a:avLst>
              <a:gd name="adj" fmla="val 2963"/>
            </a:avLst>
          </a:prstGeom>
          <a:solidFill>
            <a:srgbClr val="111722"/>
          </a:solidFill>
          <a:ln w="12700">
            <a:solidFill>
              <a:srgbClr val="111722"/>
            </a:solidFill>
            <a:prstDash val="solid"/>
          </a:ln>
        </p:spPr>
        <p:txBody>
          <a:bodyPr/>
          <a:lstStyle/>
          <a:p>
            <a:endParaRPr lang="en-US"/>
          </a:p>
        </p:txBody>
      </p:sp>
      <p:sp>
        <p:nvSpPr>
          <p:cNvPr id="51" name="Text 49"/>
          <p:cNvSpPr txBox="1"/>
          <p:nvPr/>
        </p:nvSpPr>
        <p:spPr>
          <a:xfrm>
            <a:off x="8371637" y="1682496"/>
            <a:ext cx="2905658" cy="365760"/>
          </a:xfrm>
          <a:prstGeom prst="rect">
            <a:avLst/>
          </a:prstGeom>
          <a:noFill/>
          <a:ln/>
        </p:spPr>
        <p:txBody>
          <a:bodyPr wrap="square" lIns="0" tIns="0" rIns="0" bIns="0" rtlCol="0" anchor="ctr"/>
          <a:lstStyle/>
          <a:p>
            <a:pPr marL="0" indent="0">
              <a:buNone/>
            </a:pPr>
            <a:r>
              <a:rPr lang="en-US" sz="1700" b="1" dirty="0">
                <a:solidFill>
                  <a:srgbClr val="E9AC53"/>
                </a:solidFill>
                <a:latin typeface="Cambria" pitchFamily="34" charset="0"/>
                <a:ea typeface="Cambria" pitchFamily="34" charset="-122"/>
                <a:cs typeface="Cambria" pitchFamily="34" charset="-120"/>
              </a:rPr>
              <a:t>In symbols</a:t>
            </a:r>
            <a:endParaRPr lang="en-US" sz="1700" dirty="0"/>
          </a:p>
        </p:txBody>
      </p:sp>
      <p:sp>
        <p:nvSpPr>
          <p:cNvPr id="52" name="Text 50"/>
          <p:cNvSpPr txBox="1"/>
          <p:nvPr/>
        </p:nvSpPr>
        <p:spPr>
          <a:xfrm>
            <a:off x="8280197" y="2194560"/>
            <a:ext cx="3088538" cy="914400"/>
          </a:xfrm>
          <a:prstGeom prst="rect">
            <a:avLst/>
          </a:prstGeom>
          <a:noFill/>
          <a:ln/>
        </p:spPr>
        <p:txBody>
          <a:bodyPr wrap="square" lIns="0" tIns="0" rIns="0" bIns="0" rtlCol="0" anchor="ctr"/>
          <a:lstStyle/>
          <a:p>
            <a:pPr marL="0" indent="0" algn="ctr">
              <a:buNone/>
            </a:pPr>
            <a:r>
              <a:rPr lang="en-US" sz="2600" dirty="0">
                <a:solidFill>
                  <a:srgbClr val="F2F4F8"/>
                </a:solidFill>
                <a:latin typeface="Cambria Math" pitchFamily="34" charset="0"/>
                <a:ea typeface="Cambria Math" pitchFamily="34" charset="-122"/>
                <a:cs typeface="Cambria Math" pitchFamily="34" charset="-120"/>
              </a:rPr>
              <a:t>θ ← θ − η ∇C(θ)</a:t>
            </a:r>
            <a:endParaRPr lang="en-US" sz="2600" dirty="0"/>
          </a:p>
        </p:txBody>
      </p:sp>
      <p:sp>
        <p:nvSpPr>
          <p:cNvPr id="53" name="Text 51"/>
          <p:cNvSpPr txBox="1"/>
          <p:nvPr/>
        </p:nvSpPr>
        <p:spPr>
          <a:xfrm>
            <a:off x="8371637" y="3154680"/>
            <a:ext cx="2905658" cy="640080"/>
          </a:xfrm>
          <a:prstGeom prst="rect">
            <a:avLst/>
          </a:prstGeom>
          <a:noFill/>
          <a:ln/>
        </p:spPr>
        <p:txBody>
          <a:bodyPr wrap="square" lIns="0" tIns="0" rIns="0" bIns="0" rtlCol="0" anchor="ctr"/>
          <a:lstStyle/>
          <a:p>
            <a:pPr marL="0" indent="0" algn="ctr">
              <a:lnSpc>
                <a:spcPts val="1500"/>
              </a:lnSpc>
              <a:buNone/>
            </a:pPr>
            <a:r>
              <a:rPr lang="en-US" sz="1150" dirty="0">
                <a:solidFill>
                  <a:srgbClr val="8FB4DE"/>
                </a:solidFill>
                <a:latin typeface="Calibri" pitchFamily="34" charset="0"/>
                <a:ea typeface="Calibri" pitchFamily="34" charset="-122"/>
                <a:cs typeface="Calibri" pitchFamily="34" charset="-120"/>
              </a:rPr>
              <a:t>Shortest. Hardest to read.</a:t>
            </a:r>
            <a:endParaRPr lang="en-US" sz="1150" dirty="0"/>
          </a:p>
          <a:p>
            <a:pPr marL="0" indent="0" algn="ctr">
              <a:lnSpc>
                <a:spcPts val="1500"/>
              </a:lnSpc>
              <a:buNone/>
            </a:pPr>
            <a:r>
              <a:rPr lang="en-US" sz="1150" dirty="0">
                <a:solidFill>
                  <a:srgbClr val="8FB4DE"/>
                </a:solidFill>
                <a:latin typeface="Calibri" pitchFamily="34" charset="0"/>
                <a:ea typeface="Calibri" pitchFamily="34" charset="-122"/>
                <a:cs typeface="Calibri" pitchFamily="34" charset="-120"/>
              </a:rPr>
              <a:t>Exact.</a:t>
            </a:r>
            <a:endParaRPr lang="en-US" sz="1150" dirty="0"/>
          </a:p>
        </p:txBody>
      </p:sp>
      <p:sp>
        <p:nvSpPr>
          <p:cNvPr id="54" name="Shape 52"/>
          <p:cNvSpPr/>
          <p:nvPr/>
        </p:nvSpPr>
        <p:spPr>
          <a:xfrm>
            <a:off x="640080" y="4206240"/>
            <a:ext cx="10911535" cy="1691640"/>
          </a:xfrm>
          <a:prstGeom prst="roundRect">
            <a:avLst>
              <a:gd name="adj" fmla="val 4324"/>
            </a:avLst>
          </a:prstGeom>
          <a:solidFill>
            <a:srgbClr val="111722"/>
          </a:solidFill>
          <a:ln w="12700">
            <a:solidFill>
              <a:srgbClr val="111722"/>
            </a:solidFill>
            <a:prstDash val="solid"/>
          </a:ln>
        </p:spPr>
        <p:txBody>
          <a:bodyPr/>
          <a:lstStyle/>
          <a:p>
            <a:endParaRPr lang="en-US"/>
          </a:p>
        </p:txBody>
      </p:sp>
      <p:sp>
        <p:nvSpPr>
          <p:cNvPr id="55" name="Text 53"/>
          <p:cNvSpPr txBox="1"/>
          <p:nvPr/>
        </p:nvSpPr>
        <p:spPr>
          <a:xfrm>
            <a:off x="1005840" y="4370832"/>
            <a:ext cx="10424160" cy="274320"/>
          </a:xfrm>
          <a:prstGeom prst="rect">
            <a:avLst/>
          </a:prstGeom>
          <a:noFill/>
          <a:ln/>
        </p:spPr>
        <p:txBody>
          <a:bodyPr wrap="square" lIns="0" tIns="0" rIns="0" bIns="0" rtlCol="0" anchor="ctr"/>
          <a:lstStyle/>
          <a:p>
            <a:pPr marL="0" indent="0">
              <a:buNone/>
            </a:pPr>
            <a:r>
              <a:rPr lang="en-US" sz="1150" b="1" kern="0" spc="140" dirty="0">
                <a:solidFill>
                  <a:srgbClr val="E9AC53"/>
                </a:solidFill>
                <a:latin typeface="Calibri" pitchFamily="34" charset="0"/>
                <a:ea typeface="Calibri" pitchFamily="34" charset="-122"/>
                <a:cs typeface="Calibri" pitchFamily="34" charset="-120"/>
              </a:rPr>
              <a:t>Comment</a:t>
            </a:r>
            <a:endParaRPr lang="en-US" sz="1150" dirty="0"/>
          </a:p>
        </p:txBody>
      </p:sp>
      <p:sp>
        <p:nvSpPr>
          <p:cNvPr id="56" name="Text 54"/>
          <p:cNvSpPr txBox="1"/>
          <p:nvPr/>
        </p:nvSpPr>
        <p:spPr>
          <a:xfrm>
            <a:off x="1005840" y="4700016"/>
            <a:ext cx="10424160" cy="1033272"/>
          </a:xfrm>
          <a:prstGeom prst="rect">
            <a:avLst/>
          </a:prstGeom>
          <a:noFill/>
          <a:ln/>
        </p:spPr>
        <p:txBody>
          <a:bodyPr wrap="square" lIns="0" tIns="0" rIns="0" bIns="0" rtlCol="0" anchor="ctr"/>
          <a:lstStyle/>
          <a:p>
            <a:pPr marL="0" indent="0">
              <a:lnSpc>
                <a:spcPts val="2000"/>
              </a:lnSpc>
              <a:buNone/>
            </a:pPr>
            <a:r>
              <a:rPr lang="en-US" sz="1500" dirty="0">
                <a:solidFill>
                  <a:srgbClr val="F2F4F8"/>
                </a:solidFill>
                <a:latin typeface="Cambria" pitchFamily="34" charset="0"/>
                <a:ea typeface="Cambria" pitchFamily="34" charset="-122"/>
                <a:cs typeface="Cambria" pitchFamily="34" charset="-120"/>
              </a:rPr>
              <a:t>None of the three is more true than the others. The symbols are not a deeper reality that the English is a simplification of — they are a compression, useful because they are unambiguous and short enough to manipulate. Whenever an equation appears, we will say it in English first, and you should be able to say it back.</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111722"/>
        </a:solidFill>
        <a:effectLst/>
      </p:bgPr>
    </p:bg>
    <p:spTree>
      <p:nvGrpSpPr>
        <p:cNvPr id="1" name=""/>
        <p:cNvGrpSpPr/>
        <p:nvPr/>
      </p:nvGrpSpPr>
      <p:grpSpPr>
        <a:xfrm>
          <a:off x="0" y="0"/>
          <a:ext cx="0" cy="0"/>
          <a:chOff x="0" y="0"/>
          <a:chExt cx="0" cy="0"/>
        </a:xfrm>
      </p:grpSpPr>
      <p:sp>
        <p:nvSpPr>
          <p:cNvPr id="2" name="Shape 0"/>
          <p:cNvSpPr/>
          <p:nvPr/>
        </p:nvSpPr>
        <p:spPr>
          <a:xfrm>
            <a:off x="8778240" y="1417320"/>
            <a:ext cx="2651760" cy="2651760"/>
          </a:xfrm>
          <a:prstGeom prst="ellipse">
            <a:avLst/>
          </a:prstGeom>
          <a:solidFill>
            <a:srgbClr val="2C5FA8">
              <a:alpha val="70000"/>
            </a:srgbClr>
          </a:solidFill>
          <a:ln/>
        </p:spPr>
        <p:txBody>
          <a:bodyPr/>
          <a:lstStyle/>
          <a:p>
            <a:endParaRPr lang="en-US"/>
          </a:p>
        </p:txBody>
      </p:sp>
      <p:sp>
        <p:nvSpPr>
          <p:cNvPr id="3" name="Shape 1"/>
          <p:cNvSpPr/>
          <p:nvPr/>
        </p:nvSpPr>
        <p:spPr>
          <a:xfrm>
            <a:off x="9646920" y="2286000"/>
            <a:ext cx="1188720" cy="1188720"/>
          </a:xfrm>
          <a:prstGeom prst="ellipse">
            <a:avLst/>
          </a:prstGeom>
          <a:solidFill>
            <a:srgbClr val="C07414">
              <a:alpha val="75000"/>
            </a:srgbClr>
          </a:solidFill>
          <a:ln/>
        </p:spPr>
        <p:txBody>
          <a:bodyPr/>
          <a:lstStyle/>
          <a:p>
            <a:endParaRPr lang="en-US"/>
          </a:p>
        </p:txBody>
      </p:sp>
      <p:sp>
        <p:nvSpPr>
          <p:cNvPr id="4" name="Text 2"/>
          <p:cNvSpPr txBox="1"/>
          <p:nvPr/>
        </p:nvSpPr>
        <p:spPr>
          <a:xfrm>
            <a:off x="640080" y="1920240"/>
            <a:ext cx="7315200" cy="320040"/>
          </a:xfrm>
          <a:prstGeom prst="rect">
            <a:avLst/>
          </a:prstGeom>
          <a:noFill/>
          <a:ln/>
        </p:spPr>
        <p:txBody>
          <a:bodyPr wrap="square" lIns="0" tIns="0" rIns="0" bIns="0" rtlCol="0" anchor="ctr"/>
          <a:lstStyle/>
          <a:p>
            <a:pPr marL="0" indent="0">
              <a:buNone/>
            </a:pPr>
            <a:r>
              <a:rPr lang="en-US" sz="1300" b="1" kern="0" spc="220" dirty="0">
                <a:solidFill>
                  <a:srgbClr val="E9AC53"/>
                </a:solidFill>
                <a:latin typeface="Calibri" pitchFamily="34" charset="0"/>
                <a:ea typeface="Calibri" pitchFamily="34" charset="-122"/>
                <a:cs typeface="Calibri" pitchFamily="34" charset="-120"/>
              </a:rPr>
              <a:t>PART ONE</a:t>
            </a:r>
            <a:endParaRPr lang="en-US" sz="1300" dirty="0"/>
          </a:p>
        </p:txBody>
      </p:sp>
      <p:sp>
        <p:nvSpPr>
          <p:cNvPr id="5" name="Text 3"/>
          <p:cNvSpPr txBox="1"/>
          <p:nvPr/>
        </p:nvSpPr>
        <p:spPr>
          <a:xfrm>
            <a:off x="640080" y="2331720"/>
            <a:ext cx="7680960" cy="914400"/>
          </a:xfrm>
          <a:prstGeom prst="rect">
            <a:avLst/>
          </a:prstGeom>
          <a:noFill/>
          <a:ln/>
        </p:spPr>
        <p:txBody>
          <a:bodyPr wrap="square" lIns="0" tIns="0" rIns="0" bIns="0" rtlCol="0" anchor="ctr"/>
          <a:lstStyle/>
          <a:p>
            <a:pPr marL="0" indent="0">
              <a:buNone/>
            </a:pPr>
            <a:r>
              <a:rPr lang="en-US" sz="3600" b="1" dirty="0">
                <a:solidFill>
                  <a:srgbClr val="F2F4F8"/>
                </a:solidFill>
                <a:latin typeface="Cambria" pitchFamily="34" charset="0"/>
                <a:ea typeface="Cambria" pitchFamily="34" charset="-122"/>
                <a:cs typeface="Cambria" pitchFamily="34" charset="-120"/>
              </a:rPr>
              <a:t>The loss function</a:t>
            </a:r>
            <a:endParaRPr lang="en-US" sz="3600" dirty="0"/>
          </a:p>
        </p:txBody>
      </p:sp>
      <p:sp>
        <p:nvSpPr>
          <p:cNvPr id="6" name="Text 4"/>
          <p:cNvSpPr txBox="1"/>
          <p:nvPr/>
        </p:nvSpPr>
        <p:spPr>
          <a:xfrm>
            <a:off x="640080" y="3310128"/>
            <a:ext cx="768096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Turning “wrong” into a number</a:t>
            </a:r>
            <a:endParaRPr lang="en-US" sz="1500" dirty="0"/>
          </a:p>
        </p:txBody>
      </p:sp>
      <p:sp>
        <p:nvSpPr>
          <p:cNvPr id="7" name="Shape 5"/>
          <p:cNvSpPr/>
          <p:nvPr/>
        </p:nvSpPr>
        <p:spPr>
          <a:xfrm>
            <a:off x="640080" y="3913632"/>
            <a:ext cx="2377440" cy="18288"/>
          </a:xfrm>
          <a:prstGeom prst="rect">
            <a:avLst/>
          </a:prstGeom>
          <a:solidFill>
            <a:srgbClr val="C07414"/>
          </a:solidFill>
          <a:ln/>
        </p:spPr>
        <p:txBody>
          <a:bodyPr/>
          <a:lstStyle/>
          <a:p>
            <a:endParaRPr lang="en-US"/>
          </a:p>
        </p:txBody>
      </p:sp>
      <p:sp>
        <p:nvSpPr>
          <p:cNvPr id="8" name="Text 6"/>
          <p:cNvSpPr txBox="1"/>
          <p:nvPr/>
        </p:nvSpPr>
        <p:spPr>
          <a:xfrm>
            <a:off x="640080" y="4133088"/>
            <a:ext cx="7680960" cy="777240"/>
          </a:xfrm>
          <a:prstGeom prst="rect">
            <a:avLst/>
          </a:prstGeom>
          <a:noFill/>
          <a:ln/>
        </p:spPr>
        <p:txBody>
          <a:bodyPr wrap="square" lIns="0" tIns="0" rIns="0" bIns="0" rtlCol="0" anchor="ctr"/>
          <a:lstStyle/>
          <a:p>
            <a:pPr marL="0" indent="0">
              <a:lnSpc>
                <a:spcPts val="2500"/>
              </a:lnSpc>
              <a:buNone/>
            </a:pPr>
            <a:r>
              <a:rPr lang="en-US" sz="1850" i="1" dirty="0">
                <a:solidFill>
                  <a:srgbClr val="8FB4DE"/>
                </a:solidFill>
                <a:latin typeface="Cambria" pitchFamily="34" charset="0"/>
                <a:ea typeface="Cambria" pitchFamily="34" charset="-122"/>
                <a:cs typeface="Cambria" pitchFamily="34" charset="-120"/>
              </a:rPr>
              <a:t>Nothing here is harder than subtraction. That is not a reassurance; it is the point.</a:t>
            </a:r>
            <a:endParaRPr lang="en-US" sz="1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741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A CONCRETE TASK</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11722"/>
                </a:solidFill>
                <a:latin typeface="Cambria" pitchFamily="34" charset="0"/>
                <a:ea typeface="Cambria" pitchFamily="34" charset="-122"/>
                <a:cs typeface="Cambria" pitchFamily="34" charset="-120"/>
              </a:rPr>
              <a:t>Recognising a handwritten digit</a:t>
            </a:r>
            <a:endParaRPr lang="en-US" sz="2900" dirty="0"/>
          </a:p>
        </p:txBody>
      </p:sp>
      <p:sp>
        <p:nvSpPr>
          <p:cNvPr id="5" name="Shape 3"/>
          <p:cNvSpPr/>
          <p:nvPr/>
        </p:nvSpPr>
        <p:spPr>
          <a:xfrm>
            <a:off x="640080" y="1463040"/>
            <a:ext cx="5760720" cy="2148840"/>
          </a:xfrm>
          <a:prstGeom prst="roundRect">
            <a:avLst>
              <a:gd name="adj" fmla="val 3404"/>
            </a:avLst>
          </a:prstGeom>
          <a:solidFill>
            <a:srgbClr val="E7EEF8"/>
          </a:solidFill>
          <a:ln w="12700">
            <a:solidFill>
              <a:srgbClr val="E7EEF8"/>
            </a:solidFill>
            <a:prstDash val="solid"/>
          </a:ln>
        </p:spPr>
        <p:txBody>
          <a:bodyPr/>
          <a:lstStyle/>
          <a:p>
            <a:endParaRPr lang="en-US"/>
          </a:p>
        </p:txBody>
      </p:sp>
      <p:sp>
        <p:nvSpPr>
          <p:cNvPr id="6" name="Text 4"/>
          <p:cNvSpPr txBox="1"/>
          <p:nvPr/>
        </p:nvSpPr>
        <p:spPr>
          <a:xfrm>
            <a:off x="1005840" y="1664208"/>
            <a:ext cx="5029200" cy="329184"/>
          </a:xfrm>
          <a:prstGeom prst="rect">
            <a:avLst/>
          </a:prstGeom>
          <a:noFill/>
          <a:ln/>
        </p:spPr>
        <p:txBody>
          <a:bodyPr wrap="square" lIns="0" tIns="0" rIns="0" bIns="0" rtlCol="0" anchor="ctr"/>
          <a:lstStyle/>
          <a:p>
            <a:pPr marL="0" indent="0">
              <a:buNone/>
            </a:pPr>
            <a:r>
              <a:rPr lang="en-US" sz="1700" b="1" dirty="0">
                <a:solidFill>
                  <a:srgbClr val="111722"/>
                </a:solidFill>
                <a:latin typeface="Cambria" pitchFamily="34" charset="0"/>
                <a:ea typeface="Cambria" pitchFamily="34" charset="-122"/>
                <a:cs typeface="Cambria" pitchFamily="34" charset="-120"/>
              </a:rPr>
              <a:t>Why this example</a:t>
            </a:r>
            <a:endParaRPr lang="en-US" sz="1700" dirty="0"/>
          </a:p>
        </p:txBody>
      </p:sp>
      <p:sp>
        <p:nvSpPr>
          <p:cNvPr id="7" name="Text 5"/>
          <p:cNvSpPr txBox="1"/>
          <p:nvPr/>
        </p:nvSpPr>
        <p:spPr>
          <a:xfrm>
            <a:off x="1005840" y="2084832"/>
            <a:ext cx="5074920" cy="1371600"/>
          </a:xfrm>
          <a:prstGeom prst="rect">
            <a:avLst/>
          </a:prstGeom>
          <a:noFill/>
          <a:ln/>
        </p:spPr>
        <p:txBody>
          <a:bodyPr wrap="square" lIns="0" tIns="0" rIns="0" bIns="0" rtlCol="0" anchor="ctr"/>
          <a:lstStyle/>
          <a:p>
            <a:pPr marL="0" indent="0">
              <a:lnSpc>
                <a:spcPts val="1800"/>
              </a:lnSpc>
              <a:buNone/>
            </a:pPr>
            <a:r>
              <a:rPr lang="en-US" sz="1250" dirty="0">
                <a:solidFill>
                  <a:srgbClr val="5B6474"/>
                </a:solidFill>
                <a:latin typeface="Calibri" pitchFamily="34" charset="0"/>
                <a:ea typeface="Calibri" pitchFamily="34" charset="-122"/>
                <a:cs typeface="Calibri" pitchFamily="34" charset="-120"/>
              </a:rPr>
              <a:t>It is the example in the videos, it is the standard first problem in the field, and it has a property we need: everyone here can already do it perfectly, and nobody can explain how. That gap is where the whole discipline lives.</a:t>
            </a:r>
            <a:endParaRPr lang="en-US" sz="1250" dirty="0"/>
          </a:p>
        </p:txBody>
      </p:sp>
      <p:sp>
        <p:nvSpPr>
          <p:cNvPr id="8" name="Shape 6"/>
          <p:cNvSpPr/>
          <p:nvPr/>
        </p:nvSpPr>
        <p:spPr>
          <a:xfrm>
            <a:off x="6720840" y="1463040"/>
            <a:ext cx="4809744" cy="2148840"/>
          </a:xfrm>
          <a:prstGeom prst="roundRect">
            <a:avLst>
              <a:gd name="adj" fmla="val 3404"/>
            </a:avLst>
          </a:prstGeom>
          <a:solidFill>
            <a:srgbClr val="FAF0DE"/>
          </a:solidFill>
          <a:ln w="12700">
            <a:solidFill>
              <a:srgbClr val="FAF0DE"/>
            </a:solidFill>
            <a:prstDash val="solid"/>
          </a:ln>
        </p:spPr>
        <p:txBody>
          <a:bodyPr/>
          <a:lstStyle/>
          <a:p>
            <a:endParaRPr lang="en-US"/>
          </a:p>
        </p:txBody>
      </p:sp>
      <p:sp>
        <p:nvSpPr>
          <p:cNvPr id="9" name="Text 7"/>
          <p:cNvSpPr txBox="1"/>
          <p:nvPr/>
        </p:nvSpPr>
        <p:spPr>
          <a:xfrm>
            <a:off x="6995160" y="1664208"/>
            <a:ext cx="4261104" cy="329184"/>
          </a:xfrm>
          <a:prstGeom prst="rect">
            <a:avLst/>
          </a:prstGeom>
          <a:noFill/>
          <a:ln/>
        </p:spPr>
        <p:txBody>
          <a:bodyPr wrap="square" lIns="0" tIns="0" rIns="0" bIns="0" rtlCol="0" anchor="ctr"/>
          <a:lstStyle/>
          <a:p>
            <a:pPr marL="0" indent="0">
              <a:buNone/>
            </a:pPr>
            <a:r>
              <a:rPr lang="en-US" sz="1700" b="1" dirty="0">
                <a:solidFill>
                  <a:srgbClr val="111722"/>
                </a:solidFill>
                <a:latin typeface="Cambria" pitchFamily="34" charset="0"/>
                <a:ea typeface="Cambria" pitchFamily="34" charset="-122"/>
                <a:cs typeface="Cambria" pitchFamily="34" charset="-120"/>
              </a:rPr>
              <a:t>The setup</a:t>
            </a:r>
            <a:endParaRPr lang="en-US" sz="1700" dirty="0"/>
          </a:p>
        </p:txBody>
      </p:sp>
      <p:sp>
        <p:nvSpPr>
          <p:cNvPr id="10" name="Text 8"/>
          <p:cNvSpPr txBox="1"/>
          <p:nvPr/>
        </p:nvSpPr>
        <p:spPr>
          <a:xfrm>
            <a:off x="6995160" y="2084832"/>
            <a:ext cx="4261104" cy="1371600"/>
          </a:xfrm>
          <a:prstGeom prst="rect">
            <a:avLst/>
          </a:prstGeom>
          <a:noFill/>
          <a:ln/>
        </p:spPr>
        <p:txBody>
          <a:bodyPr wrap="square" lIns="0" tIns="0" rIns="0" bIns="0" rtlCol="0" anchor="ctr"/>
          <a:lstStyle/>
          <a:p>
            <a:pPr marL="342900" indent="-342900">
              <a:lnSpc>
                <a:spcPts val="1700"/>
              </a:lnSpc>
              <a:spcAft>
                <a:spcPts val="600"/>
              </a:spcAft>
              <a:buSzPct val="100000"/>
              <a:buChar char="•"/>
            </a:pPr>
            <a:r>
              <a:rPr lang="en-US" sz="1250" dirty="0">
                <a:solidFill>
                  <a:srgbClr val="5B6474"/>
                </a:solidFill>
                <a:latin typeface="Calibri" pitchFamily="34" charset="0"/>
                <a:ea typeface="Calibri" pitchFamily="34" charset="-122"/>
                <a:cs typeface="Calibri" pitchFamily="34" charset="-120"/>
              </a:rPr>
              <a:t>Input: a 28 × 28 grid of grey values — 784 numbers.</a:t>
            </a:r>
            <a:endParaRPr lang="en-US" sz="1250" dirty="0"/>
          </a:p>
          <a:p>
            <a:pPr marL="342900" indent="-342900">
              <a:lnSpc>
                <a:spcPts val="1700"/>
              </a:lnSpc>
              <a:spcAft>
                <a:spcPts val="600"/>
              </a:spcAft>
              <a:buSzPct val="100000"/>
              <a:buChar char="•"/>
            </a:pPr>
            <a:r>
              <a:rPr lang="en-US" sz="1250" dirty="0">
                <a:solidFill>
                  <a:srgbClr val="5B6474"/>
                </a:solidFill>
                <a:latin typeface="Calibri" pitchFamily="34" charset="0"/>
                <a:ea typeface="Calibri" pitchFamily="34" charset="-122"/>
                <a:cs typeface="Calibri" pitchFamily="34" charset="-120"/>
              </a:rPr>
              <a:t>Output: which of the ten digits it is.</a:t>
            </a:r>
            <a:endParaRPr lang="en-US" sz="1250" dirty="0"/>
          </a:p>
          <a:p>
            <a:pPr marL="342900" indent="-342900">
              <a:lnSpc>
                <a:spcPts val="1700"/>
              </a:lnSpc>
              <a:spcAft>
                <a:spcPts val="600"/>
              </a:spcAft>
              <a:buSzPct val="100000"/>
              <a:buChar char="•"/>
            </a:pPr>
            <a:r>
              <a:rPr lang="en-US" sz="1250" dirty="0">
                <a:solidFill>
                  <a:srgbClr val="5B6474"/>
                </a:solidFill>
                <a:latin typeface="Calibri" pitchFamily="34" charset="0"/>
                <a:ea typeface="Calibri" pitchFamily="34" charset="-122"/>
                <a:cs typeface="Calibri" pitchFamily="34" charset="-120"/>
              </a:rPr>
              <a:t>Available: tens of thousands of images a human has already labelled.</a:t>
            </a:r>
            <a:endParaRPr lang="en-US" sz="1250" dirty="0"/>
          </a:p>
        </p:txBody>
      </p:sp>
      <p:sp>
        <p:nvSpPr>
          <p:cNvPr id="11" name="Shape 9"/>
          <p:cNvSpPr/>
          <p:nvPr/>
        </p:nvSpPr>
        <p:spPr>
          <a:xfrm>
            <a:off x="640080" y="3886200"/>
            <a:ext cx="10911535" cy="1874520"/>
          </a:xfrm>
          <a:prstGeom prst="roundRect">
            <a:avLst>
              <a:gd name="adj" fmla="val 3902"/>
            </a:avLst>
          </a:prstGeom>
          <a:solidFill>
            <a:srgbClr val="111722"/>
          </a:solidFill>
          <a:ln w="12700">
            <a:solidFill>
              <a:srgbClr val="111722"/>
            </a:solidFill>
            <a:prstDash val="solid"/>
          </a:ln>
        </p:spPr>
        <p:txBody>
          <a:bodyPr/>
          <a:lstStyle/>
          <a:p>
            <a:endParaRPr lang="en-US"/>
          </a:p>
        </p:txBody>
      </p:sp>
      <p:sp>
        <p:nvSpPr>
          <p:cNvPr id="12" name="Text 10"/>
          <p:cNvSpPr txBox="1"/>
          <p:nvPr/>
        </p:nvSpPr>
        <p:spPr>
          <a:xfrm>
            <a:off x="1005840" y="4050792"/>
            <a:ext cx="10424160" cy="274320"/>
          </a:xfrm>
          <a:prstGeom prst="rect">
            <a:avLst/>
          </a:prstGeom>
          <a:noFill/>
          <a:ln/>
        </p:spPr>
        <p:txBody>
          <a:bodyPr wrap="square" lIns="0" tIns="0" rIns="0" bIns="0" rtlCol="0" anchor="ctr"/>
          <a:lstStyle/>
          <a:p>
            <a:pPr marL="0" indent="0">
              <a:buNone/>
            </a:pPr>
            <a:r>
              <a:rPr lang="en-US" sz="1150" b="1" kern="0" spc="140" dirty="0">
                <a:solidFill>
                  <a:srgbClr val="E9AC53"/>
                </a:solidFill>
                <a:latin typeface="Calibri" pitchFamily="34" charset="0"/>
                <a:ea typeface="Calibri" pitchFamily="34" charset="-122"/>
                <a:cs typeface="Calibri" pitchFamily="34" charset="-120"/>
              </a:rPr>
              <a:t>The shape of the problem, and of every problem like it</a:t>
            </a:r>
            <a:endParaRPr lang="en-US" sz="1150" dirty="0"/>
          </a:p>
        </p:txBody>
      </p:sp>
      <p:sp>
        <p:nvSpPr>
          <p:cNvPr id="13" name="Text 11"/>
          <p:cNvSpPr txBox="1"/>
          <p:nvPr/>
        </p:nvSpPr>
        <p:spPr>
          <a:xfrm>
            <a:off x="1005840" y="4379976"/>
            <a:ext cx="10424160" cy="1216152"/>
          </a:xfrm>
          <a:prstGeom prst="rect">
            <a:avLst/>
          </a:prstGeom>
          <a:noFill/>
          <a:ln/>
        </p:spPr>
        <p:txBody>
          <a:bodyPr wrap="square" lIns="0" tIns="0" rIns="0" bIns="0" rtlCol="0" anchor="ctr"/>
          <a:lstStyle/>
          <a:p>
            <a:pPr marL="0" indent="0">
              <a:lnSpc>
                <a:spcPts val="2000"/>
              </a:lnSpc>
              <a:buNone/>
            </a:pPr>
            <a:r>
              <a:rPr lang="en-US" sz="1500" dirty="0">
                <a:solidFill>
                  <a:srgbClr val="F2F4F8"/>
                </a:solidFill>
                <a:latin typeface="Cambria" pitchFamily="34" charset="0"/>
                <a:ea typeface="Cambria" pitchFamily="34" charset="-122"/>
                <a:cs typeface="Cambria" pitchFamily="34" charset="-120"/>
              </a:rPr>
              <a:t>We have examples of the right answer and no rule for producing it. So instead of writing the rule, we build a machine with a very large number of adjustable settings and search for settings that make it agree with the examples we already have. That substitution — a rule we cannot write, replaced by a fit to labelled data — is the founding move of the field, and every consequence we discuss today follows from it.</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741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FROM ZERO</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11722"/>
                </a:solidFill>
                <a:latin typeface="Cambria" pitchFamily="34" charset="0"/>
                <a:ea typeface="Cambria" pitchFamily="34" charset="-122"/>
                <a:cs typeface="Cambria" pitchFamily="34" charset="-120"/>
              </a:rPr>
              <a:t>What the machine actually receives</a:t>
            </a:r>
            <a:endParaRPr lang="en-US" sz="2900" dirty="0"/>
          </a:p>
        </p:txBody>
      </p:sp>
      <p:sp>
        <p:nvSpPr>
          <p:cNvPr id="5" name="Shape 3"/>
          <p:cNvSpPr/>
          <p:nvPr/>
        </p:nvSpPr>
        <p:spPr>
          <a:xfrm>
            <a:off x="914400" y="1572768"/>
            <a:ext cx="438912" cy="438912"/>
          </a:xfrm>
          <a:prstGeom prst="rect">
            <a:avLst/>
          </a:prstGeom>
          <a:solidFill>
            <a:srgbClr val="FFFFFF"/>
          </a:solidFill>
          <a:ln w="6350">
            <a:solidFill>
              <a:srgbClr val="D8DCE4"/>
            </a:solidFill>
            <a:prstDash val="solid"/>
          </a:ln>
        </p:spPr>
        <p:txBody>
          <a:bodyPr/>
          <a:lstStyle/>
          <a:p>
            <a:endParaRPr lang="en-US"/>
          </a:p>
        </p:txBody>
      </p:sp>
      <p:sp>
        <p:nvSpPr>
          <p:cNvPr id="6" name="Shape 4"/>
          <p:cNvSpPr/>
          <p:nvPr/>
        </p:nvSpPr>
        <p:spPr>
          <a:xfrm>
            <a:off x="1353312" y="1572768"/>
            <a:ext cx="438912" cy="438912"/>
          </a:xfrm>
          <a:prstGeom prst="rect">
            <a:avLst/>
          </a:prstGeom>
          <a:solidFill>
            <a:srgbClr val="AEAEAE"/>
          </a:solidFill>
          <a:ln w="6350">
            <a:solidFill>
              <a:srgbClr val="D8DCE4"/>
            </a:solidFill>
            <a:prstDash val="solid"/>
          </a:ln>
        </p:spPr>
        <p:txBody>
          <a:bodyPr/>
          <a:lstStyle/>
          <a:p>
            <a:endParaRPr lang="en-US"/>
          </a:p>
        </p:txBody>
      </p:sp>
      <p:sp>
        <p:nvSpPr>
          <p:cNvPr id="7" name="Shape 5"/>
          <p:cNvSpPr/>
          <p:nvPr/>
        </p:nvSpPr>
        <p:spPr>
          <a:xfrm>
            <a:off x="1792224" y="1572768"/>
            <a:ext cx="438912" cy="438912"/>
          </a:xfrm>
          <a:prstGeom prst="rect">
            <a:avLst/>
          </a:prstGeom>
          <a:solidFill>
            <a:srgbClr val="272727"/>
          </a:solidFill>
          <a:ln w="6350">
            <a:solidFill>
              <a:srgbClr val="D8DCE4"/>
            </a:solidFill>
            <a:prstDash val="solid"/>
          </a:ln>
        </p:spPr>
        <p:txBody>
          <a:bodyPr/>
          <a:lstStyle/>
          <a:p>
            <a:endParaRPr lang="en-US"/>
          </a:p>
        </p:txBody>
      </p:sp>
      <p:sp>
        <p:nvSpPr>
          <p:cNvPr id="8" name="Shape 6"/>
          <p:cNvSpPr/>
          <p:nvPr/>
        </p:nvSpPr>
        <p:spPr>
          <a:xfrm>
            <a:off x="2231136" y="1572768"/>
            <a:ext cx="438912" cy="438912"/>
          </a:xfrm>
          <a:prstGeom prst="rect">
            <a:avLst/>
          </a:prstGeom>
          <a:solidFill>
            <a:srgbClr val="0C0C0C"/>
          </a:solidFill>
          <a:ln w="6350">
            <a:solidFill>
              <a:srgbClr val="D8DCE4"/>
            </a:solidFill>
            <a:prstDash val="solid"/>
          </a:ln>
        </p:spPr>
        <p:txBody>
          <a:bodyPr/>
          <a:lstStyle/>
          <a:p>
            <a:endParaRPr lang="en-US"/>
          </a:p>
        </p:txBody>
      </p:sp>
      <p:sp>
        <p:nvSpPr>
          <p:cNvPr id="9" name="Text 7"/>
          <p:cNvSpPr txBox="1"/>
          <p:nvPr/>
        </p:nvSpPr>
        <p:spPr>
          <a:xfrm>
            <a:off x="2231136" y="1572768"/>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9</a:t>
            </a:r>
            <a:endParaRPr lang="en-US" sz="1300" dirty="0"/>
          </a:p>
        </p:txBody>
      </p:sp>
      <p:sp>
        <p:nvSpPr>
          <p:cNvPr id="10" name="Shape 8"/>
          <p:cNvSpPr/>
          <p:nvPr/>
        </p:nvSpPr>
        <p:spPr>
          <a:xfrm>
            <a:off x="2670048" y="1572768"/>
            <a:ext cx="438912" cy="438912"/>
          </a:xfrm>
          <a:prstGeom prst="rect">
            <a:avLst/>
          </a:prstGeom>
          <a:solidFill>
            <a:srgbClr val="0C0C0C"/>
          </a:solidFill>
          <a:ln w="6350">
            <a:solidFill>
              <a:srgbClr val="D8DCE4"/>
            </a:solidFill>
            <a:prstDash val="solid"/>
          </a:ln>
        </p:spPr>
        <p:txBody>
          <a:bodyPr/>
          <a:lstStyle/>
          <a:p>
            <a:endParaRPr lang="en-US"/>
          </a:p>
        </p:txBody>
      </p:sp>
      <p:sp>
        <p:nvSpPr>
          <p:cNvPr id="11" name="Shape 9"/>
          <p:cNvSpPr/>
          <p:nvPr/>
        </p:nvSpPr>
        <p:spPr>
          <a:xfrm>
            <a:off x="3108960" y="1572768"/>
            <a:ext cx="438912" cy="438912"/>
          </a:xfrm>
          <a:prstGeom prst="rect">
            <a:avLst/>
          </a:prstGeom>
          <a:solidFill>
            <a:srgbClr val="272727"/>
          </a:solidFill>
          <a:ln w="6350">
            <a:solidFill>
              <a:srgbClr val="D8DCE4"/>
            </a:solidFill>
            <a:prstDash val="solid"/>
          </a:ln>
        </p:spPr>
        <p:txBody>
          <a:bodyPr/>
          <a:lstStyle/>
          <a:p>
            <a:endParaRPr lang="en-US"/>
          </a:p>
        </p:txBody>
      </p:sp>
      <p:sp>
        <p:nvSpPr>
          <p:cNvPr id="12" name="Shape 10"/>
          <p:cNvSpPr/>
          <p:nvPr/>
        </p:nvSpPr>
        <p:spPr>
          <a:xfrm>
            <a:off x="3547872" y="1572768"/>
            <a:ext cx="438912" cy="438912"/>
          </a:xfrm>
          <a:prstGeom prst="rect">
            <a:avLst/>
          </a:prstGeom>
          <a:solidFill>
            <a:srgbClr val="C9C9C9"/>
          </a:solidFill>
          <a:ln w="6350">
            <a:solidFill>
              <a:srgbClr val="D8DCE4"/>
            </a:solidFill>
            <a:prstDash val="solid"/>
          </a:ln>
        </p:spPr>
        <p:txBody>
          <a:bodyPr/>
          <a:lstStyle/>
          <a:p>
            <a:endParaRPr lang="en-US"/>
          </a:p>
        </p:txBody>
      </p:sp>
      <p:sp>
        <p:nvSpPr>
          <p:cNvPr id="13" name="Shape 11"/>
          <p:cNvSpPr/>
          <p:nvPr/>
        </p:nvSpPr>
        <p:spPr>
          <a:xfrm>
            <a:off x="3986784" y="1572768"/>
            <a:ext cx="438912" cy="438912"/>
          </a:xfrm>
          <a:prstGeom prst="rect">
            <a:avLst/>
          </a:prstGeom>
          <a:solidFill>
            <a:srgbClr val="FFFFFF"/>
          </a:solidFill>
          <a:ln w="6350">
            <a:solidFill>
              <a:srgbClr val="D8DCE4"/>
            </a:solidFill>
            <a:prstDash val="solid"/>
          </a:ln>
        </p:spPr>
        <p:txBody>
          <a:bodyPr/>
          <a:lstStyle/>
          <a:p>
            <a:endParaRPr lang="en-US"/>
          </a:p>
        </p:txBody>
      </p:sp>
      <p:sp>
        <p:nvSpPr>
          <p:cNvPr id="14" name="Shape 12"/>
          <p:cNvSpPr/>
          <p:nvPr/>
        </p:nvSpPr>
        <p:spPr>
          <a:xfrm>
            <a:off x="914400" y="2011680"/>
            <a:ext cx="438912" cy="438912"/>
          </a:xfrm>
          <a:prstGeom prst="rect">
            <a:avLst/>
          </a:prstGeom>
          <a:solidFill>
            <a:srgbClr val="FFFFFF"/>
          </a:solidFill>
          <a:ln w="6350">
            <a:solidFill>
              <a:srgbClr val="D8DCE4"/>
            </a:solidFill>
            <a:prstDash val="solid"/>
          </a:ln>
        </p:spPr>
        <p:txBody>
          <a:bodyPr/>
          <a:lstStyle/>
          <a:p>
            <a:endParaRPr lang="en-US"/>
          </a:p>
        </p:txBody>
      </p:sp>
      <p:sp>
        <p:nvSpPr>
          <p:cNvPr id="15" name="Shape 13"/>
          <p:cNvSpPr/>
          <p:nvPr/>
        </p:nvSpPr>
        <p:spPr>
          <a:xfrm>
            <a:off x="1353312" y="2011680"/>
            <a:ext cx="438912" cy="438912"/>
          </a:xfrm>
          <a:prstGeom prst="rect">
            <a:avLst/>
          </a:prstGeom>
          <a:solidFill>
            <a:srgbClr val="FFFFFF"/>
          </a:solidFill>
          <a:ln w="6350">
            <a:solidFill>
              <a:srgbClr val="D8DCE4"/>
            </a:solidFill>
            <a:prstDash val="solid"/>
          </a:ln>
        </p:spPr>
        <p:txBody>
          <a:bodyPr/>
          <a:lstStyle/>
          <a:p>
            <a:endParaRPr lang="en-US"/>
          </a:p>
        </p:txBody>
      </p:sp>
      <p:sp>
        <p:nvSpPr>
          <p:cNvPr id="16" name="Shape 14"/>
          <p:cNvSpPr/>
          <p:nvPr/>
        </p:nvSpPr>
        <p:spPr>
          <a:xfrm>
            <a:off x="1792224" y="2011680"/>
            <a:ext cx="438912" cy="438912"/>
          </a:xfrm>
          <a:prstGeom prst="rect">
            <a:avLst/>
          </a:prstGeom>
          <a:solidFill>
            <a:srgbClr val="FFFFFF"/>
          </a:solidFill>
          <a:ln w="6350">
            <a:solidFill>
              <a:srgbClr val="D8DCE4"/>
            </a:solidFill>
            <a:prstDash val="solid"/>
          </a:ln>
        </p:spPr>
        <p:txBody>
          <a:bodyPr/>
          <a:lstStyle/>
          <a:p>
            <a:endParaRPr lang="en-US"/>
          </a:p>
        </p:txBody>
      </p:sp>
      <p:sp>
        <p:nvSpPr>
          <p:cNvPr id="17" name="Shape 15"/>
          <p:cNvSpPr/>
          <p:nvPr/>
        </p:nvSpPr>
        <p:spPr>
          <a:xfrm>
            <a:off x="2231136" y="2011680"/>
            <a:ext cx="438912" cy="438912"/>
          </a:xfrm>
          <a:prstGeom prst="rect">
            <a:avLst/>
          </a:prstGeom>
          <a:solidFill>
            <a:srgbClr val="FFFFFF"/>
          </a:solidFill>
          <a:ln w="6350">
            <a:solidFill>
              <a:srgbClr val="D8DCE4"/>
            </a:solidFill>
            <a:prstDash val="solid"/>
          </a:ln>
        </p:spPr>
        <p:txBody>
          <a:bodyPr/>
          <a:lstStyle/>
          <a:p>
            <a:endParaRPr lang="en-US"/>
          </a:p>
        </p:txBody>
      </p:sp>
      <p:sp>
        <p:nvSpPr>
          <p:cNvPr id="18" name="Shape 16"/>
          <p:cNvSpPr/>
          <p:nvPr/>
        </p:nvSpPr>
        <p:spPr>
          <a:xfrm>
            <a:off x="2670048" y="2011680"/>
            <a:ext cx="438912" cy="438912"/>
          </a:xfrm>
          <a:prstGeom prst="rect">
            <a:avLst/>
          </a:prstGeom>
          <a:solidFill>
            <a:srgbClr val="E4E4E4"/>
          </a:solidFill>
          <a:ln w="6350">
            <a:solidFill>
              <a:srgbClr val="D8DCE4"/>
            </a:solidFill>
            <a:prstDash val="solid"/>
          </a:ln>
        </p:spPr>
        <p:txBody>
          <a:bodyPr/>
          <a:lstStyle/>
          <a:p>
            <a:endParaRPr lang="en-US"/>
          </a:p>
        </p:txBody>
      </p:sp>
      <p:sp>
        <p:nvSpPr>
          <p:cNvPr id="19" name="Shape 17"/>
          <p:cNvSpPr/>
          <p:nvPr/>
        </p:nvSpPr>
        <p:spPr>
          <a:xfrm>
            <a:off x="3108960" y="2011680"/>
            <a:ext cx="438912" cy="438912"/>
          </a:xfrm>
          <a:prstGeom prst="rect">
            <a:avLst/>
          </a:prstGeom>
          <a:solidFill>
            <a:srgbClr val="424242"/>
          </a:solidFill>
          <a:ln w="6350">
            <a:solidFill>
              <a:srgbClr val="D8DCE4"/>
            </a:solidFill>
            <a:prstDash val="solid"/>
          </a:ln>
        </p:spPr>
        <p:txBody>
          <a:bodyPr/>
          <a:lstStyle/>
          <a:p>
            <a:endParaRPr lang="en-US"/>
          </a:p>
        </p:txBody>
      </p:sp>
      <p:sp>
        <p:nvSpPr>
          <p:cNvPr id="20" name="Shape 18"/>
          <p:cNvSpPr/>
          <p:nvPr/>
        </p:nvSpPr>
        <p:spPr>
          <a:xfrm>
            <a:off x="3547872" y="2011680"/>
            <a:ext cx="438912" cy="438912"/>
          </a:xfrm>
          <a:prstGeom prst="rect">
            <a:avLst/>
          </a:prstGeom>
          <a:solidFill>
            <a:srgbClr val="0C0C0C"/>
          </a:solidFill>
          <a:ln w="6350">
            <a:solidFill>
              <a:srgbClr val="D8DCE4"/>
            </a:solidFill>
            <a:prstDash val="solid"/>
          </a:ln>
        </p:spPr>
        <p:txBody>
          <a:bodyPr/>
          <a:lstStyle/>
          <a:p>
            <a:endParaRPr lang="en-US"/>
          </a:p>
        </p:txBody>
      </p:sp>
      <p:sp>
        <p:nvSpPr>
          <p:cNvPr id="21" name="Shape 19"/>
          <p:cNvSpPr/>
          <p:nvPr/>
        </p:nvSpPr>
        <p:spPr>
          <a:xfrm>
            <a:off x="3986784" y="2011680"/>
            <a:ext cx="438912" cy="438912"/>
          </a:xfrm>
          <a:prstGeom prst="rect">
            <a:avLst/>
          </a:prstGeom>
          <a:solidFill>
            <a:srgbClr val="C9C9C9"/>
          </a:solidFill>
          <a:ln w="6350">
            <a:solidFill>
              <a:srgbClr val="D8DCE4"/>
            </a:solidFill>
            <a:prstDash val="solid"/>
          </a:ln>
        </p:spPr>
        <p:txBody>
          <a:bodyPr/>
          <a:lstStyle/>
          <a:p>
            <a:endParaRPr lang="en-US"/>
          </a:p>
        </p:txBody>
      </p:sp>
      <p:sp>
        <p:nvSpPr>
          <p:cNvPr id="22" name="Shape 20"/>
          <p:cNvSpPr/>
          <p:nvPr/>
        </p:nvSpPr>
        <p:spPr>
          <a:xfrm>
            <a:off x="914400" y="2450592"/>
            <a:ext cx="438912" cy="438912"/>
          </a:xfrm>
          <a:prstGeom prst="rect">
            <a:avLst/>
          </a:prstGeom>
          <a:solidFill>
            <a:srgbClr val="FFFFFF"/>
          </a:solidFill>
          <a:ln w="6350">
            <a:solidFill>
              <a:srgbClr val="D8DCE4"/>
            </a:solidFill>
            <a:prstDash val="solid"/>
          </a:ln>
        </p:spPr>
        <p:txBody>
          <a:bodyPr/>
          <a:lstStyle/>
          <a:p>
            <a:endParaRPr lang="en-US"/>
          </a:p>
        </p:txBody>
      </p:sp>
      <p:sp>
        <p:nvSpPr>
          <p:cNvPr id="23" name="Shape 21"/>
          <p:cNvSpPr/>
          <p:nvPr/>
        </p:nvSpPr>
        <p:spPr>
          <a:xfrm>
            <a:off x="1353312" y="2450592"/>
            <a:ext cx="438912" cy="438912"/>
          </a:xfrm>
          <a:prstGeom prst="rect">
            <a:avLst/>
          </a:prstGeom>
          <a:solidFill>
            <a:srgbClr val="FFFFFF"/>
          </a:solidFill>
          <a:ln w="6350">
            <a:solidFill>
              <a:srgbClr val="D8DCE4"/>
            </a:solidFill>
            <a:prstDash val="solid"/>
          </a:ln>
        </p:spPr>
        <p:txBody>
          <a:bodyPr/>
          <a:lstStyle/>
          <a:p>
            <a:endParaRPr lang="en-US"/>
          </a:p>
        </p:txBody>
      </p:sp>
      <p:sp>
        <p:nvSpPr>
          <p:cNvPr id="24" name="Shape 22"/>
          <p:cNvSpPr/>
          <p:nvPr/>
        </p:nvSpPr>
        <p:spPr>
          <a:xfrm>
            <a:off x="1792224" y="2450592"/>
            <a:ext cx="438912" cy="438912"/>
          </a:xfrm>
          <a:prstGeom prst="rect">
            <a:avLst/>
          </a:prstGeom>
          <a:solidFill>
            <a:srgbClr val="FFFFFF"/>
          </a:solidFill>
          <a:ln w="6350">
            <a:solidFill>
              <a:srgbClr val="D8DCE4"/>
            </a:solidFill>
            <a:prstDash val="solid"/>
          </a:ln>
        </p:spPr>
        <p:txBody>
          <a:bodyPr/>
          <a:lstStyle/>
          <a:p>
            <a:endParaRPr lang="en-US"/>
          </a:p>
        </p:txBody>
      </p:sp>
      <p:sp>
        <p:nvSpPr>
          <p:cNvPr id="25" name="Shape 23"/>
          <p:cNvSpPr/>
          <p:nvPr/>
        </p:nvSpPr>
        <p:spPr>
          <a:xfrm>
            <a:off x="2231136" y="2450592"/>
            <a:ext cx="438912" cy="438912"/>
          </a:xfrm>
          <a:prstGeom prst="rect">
            <a:avLst/>
          </a:prstGeom>
          <a:solidFill>
            <a:srgbClr val="FFFFFF"/>
          </a:solidFill>
          <a:ln w="6350">
            <a:solidFill>
              <a:srgbClr val="D8DCE4"/>
            </a:solidFill>
            <a:prstDash val="solid"/>
          </a:ln>
        </p:spPr>
        <p:txBody>
          <a:bodyPr/>
          <a:lstStyle/>
          <a:p>
            <a:endParaRPr lang="en-US"/>
          </a:p>
        </p:txBody>
      </p:sp>
      <p:sp>
        <p:nvSpPr>
          <p:cNvPr id="26" name="Shape 24"/>
          <p:cNvSpPr/>
          <p:nvPr/>
        </p:nvSpPr>
        <p:spPr>
          <a:xfrm>
            <a:off x="2670048" y="2450592"/>
            <a:ext cx="438912" cy="438912"/>
          </a:xfrm>
          <a:prstGeom prst="rect">
            <a:avLst/>
          </a:prstGeom>
          <a:solidFill>
            <a:srgbClr val="FFFFFF"/>
          </a:solidFill>
          <a:ln w="6350">
            <a:solidFill>
              <a:srgbClr val="D8DCE4"/>
            </a:solidFill>
            <a:prstDash val="solid"/>
          </a:ln>
        </p:spPr>
        <p:txBody>
          <a:bodyPr/>
          <a:lstStyle/>
          <a:p>
            <a:endParaRPr lang="en-US"/>
          </a:p>
        </p:txBody>
      </p:sp>
      <p:sp>
        <p:nvSpPr>
          <p:cNvPr id="27" name="Shape 25"/>
          <p:cNvSpPr/>
          <p:nvPr/>
        </p:nvSpPr>
        <p:spPr>
          <a:xfrm>
            <a:off x="3108960" y="2450592"/>
            <a:ext cx="438912" cy="438912"/>
          </a:xfrm>
          <a:prstGeom prst="rect">
            <a:avLst/>
          </a:prstGeom>
          <a:solidFill>
            <a:srgbClr val="AEAEAE"/>
          </a:solidFill>
          <a:ln w="6350">
            <a:solidFill>
              <a:srgbClr val="D8DCE4"/>
            </a:solidFill>
            <a:prstDash val="solid"/>
          </a:ln>
        </p:spPr>
        <p:txBody>
          <a:bodyPr/>
          <a:lstStyle/>
          <a:p>
            <a:endParaRPr lang="en-US"/>
          </a:p>
        </p:txBody>
      </p:sp>
      <p:sp>
        <p:nvSpPr>
          <p:cNvPr id="28" name="Shape 26"/>
          <p:cNvSpPr/>
          <p:nvPr/>
        </p:nvSpPr>
        <p:spPr>
          <a:xfrm>
            <a:off x="3547872" y="2450592"/>
            <a:ext cx="438912" cy="438912"/>
          </a:xfrm>
          <a:prstGeom prst="rect">
            <a:avLst/>
          </a:prstGeom>
          <a:solidFill>
            <a:srgbClr val="0C0C0C"/>
          </a:solidFill>
          <a:ln w="6350">
            <a:solidFill>
              <a:srgbClr val="D8DCE4"/>
            </a:solidFill>
            <a:prstDash val="solid"/>
          </a:ln>
        </p:spPr>
        <p:txBody>
          <a:bodyPr/>
          <a:lstStyle/>
          <a:p>
            <a:endParaRPr lang="en-US"/>
          </a:p>
        </p:txBody>
      </p:sp>
      <p:sp>
        <p:nvSpPr>
          <p:cNvPr id="29" name="Shape 27"/>
          <p:cNvSpPr/>
          <p:nvPr/>
        </p:nvSpPr>
        <p:spPr>
          <a:xfrm>
            <a:off x="3986784" y="2450592"/>
            <a:ext cx="438912" cy="438912"/>
          </a:xfrm>
          <a:prstGeom prst="rect">
            <a:avLst/>
          </a:prstGeom>
          <a:solidFill>
            <a:srgbClr val="AEAEAE"/>
          </a:solidFill>
          <a:ln w="6350">
            <a:solidFill>
              <a:srgbClr val="D8DCE4"/>
            </a:solidFill>
            <a:prstDash val="solid"/>
          </a:ln>
        </p:spPr>
        <p:txBody>
          <a:bodyPr/>
          <a:lstStyle/>
          <a:p>
            <a:endParaRPr lang="en-US"/>
          </a:p>
        </p:txBody>
      </p:sp>
      <p:sp>
        <p:nvSpPr>
          <p:cNvPr id="30" name="Shape 28"/>
          <p:cNvSpPr/>
          <p:nvPr/>
        </p:nvSpPr>
        <p:spPr>
          <a:xfrm>
            <a:off x="914400" y="2889504"/>
            <a:ext cx="438912" cy="438912"/>
          </a:xfrm>
          <a:prstGeom prst="rect">
            <a:avLst/>
          </a:prstGeom>
          <a:solidFill>
            <a:srgbClr val="FFFFFF"/>
          </a:solidFill>
          <a:ln w="6350">
            <a:solidFill>
              <a:srgbClr val="D8DCE4"/>
            </a:solidFill>
            <a:prstDash val="solid"/>
          </a:ln>
        </p:spPr>
        <p:txBody>
          <a:bodyPr/>
          <a:lstStyle/>
          <a:p>
            <a:endParaRPr lang="en-US"/>
          </a:p>
        </p:txBody>
      </p:sp>
      <p:sp>
        <p:nvSpPr>
          <p:cNvPr id="31" name="Shape 29"/>
          <p:cNvSpPr/>
          <p:nvPr/>
        </p:nvSpPr>
        <p:spPr>
          <a:xfrm>
            <a:off x="1353312" y="2889504"/>
            <a:ext cx="438912" cy="438912"/>
          </a:xfrm>
          <a:prstGeom prst="rect">
            <a:avLst/>
          </a:prstGeom>
          <a:solidFill>
            <a:srgbClr val="FFFFFF"/>
          </a:solidFill>
          <a:ln w="6350">
            <a:solidFill>
              <a:srgbClr val="D8DCE4"/>
            </a:solidFill>
            <a:prstDash val="solid"/>
          </a:ln>
        </p:spPr>
        <p:txBody>
          <a:bodyPr/>
          <a:lstStyle/>
          <a:p>
            <a:endParaRPr lang="en-US"/>
          </a:p>
        </p:txBody>
      </p:sp>
      <p:sp>
        <p:nvSpPr>
          <p:cNvPr id="32" name="Shape 30"/>
          <p:cNvSpPr/>
          <p:nvPr/>
        </p:nvSpPr>
        <p:spPr>
          <a:xfrm>
            <a:off x="1792224" y="2889504"/>
            <a:ext cx="438912" cy="438912"/>
          </a:xfrm>
          <a:prstGeom prst="rect">
            <a:avLst/>
          </a:prstGeom>
          <a:solidFill>
            <a:srgbClr val="C9C9C9"/>
          </a:solidFill>
          <a:ln w="6350">
            <a:solidFill>
              <a:srgbClr val="D8DCE4"/>
            </a:solidFill>
            <a:prstDash val="solid"/>
          </a:ln>
        </p:spPr>
        <p:txBody>
          <a:bodyPr/>
          <a:lstStyle/>
          <a:p>
            <a:endParaRPr lang="en-US"/>
          </a:p>
        </p:txBody>
      </p:sp>
      <p:sp>
        <p:nvSpPr>
          <p:cNvPr id="33" name="Shape 31"/>
          <p:cNvSpPr/>
          <p:nvPr/>
        </p:nvSpPr>
        <p:spPr>
          <a:xfrm>
            <a:off x="2231136" y="2889504"/>
            <a:ext cx="438912" cy="438912"/>
          </a:xfrm>
          <a:prstGeom prst="rect">
            <a:avLst/>
          </a:prstGeom>
          <a:solidFill>
            <a:srgbClr val="5D5D5D"/>
          </a:solidFill>
          <a:ln w="6350">
            <a:solidFill>
              <a:srgbClr val="D8DCE4"/>
            </a:solidFill>
            <a:prstDash val="solid"/>
          </a:ln>
        </p:spPr>
        <p:txBody>
          <a:bodyPr/>
          <a:lstStyle/>
          <a:p>
            <a:endParaRPr lang="en-US"/>
          </a:p>
        </p:txBody>
      </p:sp>
      <p:sp>
        <p:nvSpPr>
          <p:cNvPr id="34" name="Shape 32"/>
          <p:cNvSpPr/>
          <p:nvPr/>
        </p:nvSpPr>
        <p:spPr>
          <a:xfrm>
            <a:off x="2670048" y="2889504"/>
            <a:ext cx="438912" cy="438912"/>
          </a:xfrm>
          <a:prstGeom prst="rect">
            <a:avLst/>
          </a:prstGeom>
          <a:solidFill>
            <a:srgbClr val="272727"/>
          </a:solidFill>
          <a:ln w="6350">
            <a:solidFill>
              <a:srgbClr val="D8DCE4"/>
            </a:solidFill>
            <a:prstDash val="solid"/>
          </a:ln>
        </p:spPr>
        <p:txBody>
          <a:bodyPr/>
          <a:lstStyle/>
          <a:p>
            <a:endParaRPr lang="en-US"/>
          </a:p>
        </p:txBody>
      </p:sp>
      <p:sp>
        <p:nvSpPr>
          <p:cNvPr id="35" name="Shape 33"/>
          <p:cNvSpPr/>
          <p:nvPr/>
        </p:nvSpPr>
        <p:spPr>
          <a:xfrm>
            <a:off x="3108960" y="2889504"/>
            <a:ext cx="438912" cy="438912"/>
          </a:xfrm>
          <a:prstGeom prst="rect">
            <a:avLst/>
          </a:prstGeom>
          <a:solidFill>
            <a:srgbClr val="0C0C0C"/>
          </a:solidFill>
          <a:ln w="6350">
            <a:solidFill>
              <a:srgbClr val="D8DCE4"/>
            </a:solidFill>
            <a:prstDash val="solid"/>
          </a:ln>
        </p:spPr>
        <p:txBody>
          <a:bodyPr/>
          <a:lstStyle/>
          <a:p>
            <a:endParaRPr lang="en-US"/>
          </a:p>
        </p:txBody>
      </p:sp>
      <p:sp>
        <p:nvSpPr>
          <p:cNvPr id="36" name="Text 34"/>
          <p:cNvSpPr txBox="1"/>
          <p:nvPr/>
        </p:nvSpPr>
        <p:spPr>
          <a:xfrm>
            <a:off x="3108960" y="2889504"/>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9</a:t>
            </a:r>
            <a:endParaRPr lang="en-US" sz="1300" dirty="0"/>
          </a:p>
        </p:txBody>
      </p:sp>
      <p:sp>
        <p:nvSpPr>
          <p:cNvPr id="37" name="Shape 35"/>
          <p:cNvSpPr/>
          <p:nvPr/>
        </p:nvSpPr>
        <p:spPr>
          <a:xfrm>
            <a:off x="3547872" y="2889504"/>
            <a:ext cx="438912" cy="438912"/>
          </a:xfrm>
          <a:prstGeom prst="rect">
            <a:avLst/>
          </a:prstGeom>
          <a:solidFill>
            <a:srgbClr val="5D5D5D"/>
          </a:solidFill>
          <a:ln w="6350">
            <a:solidFill>
              <a:srgbClr val="D8DCE4"/>
            </a:solidFill>
            <a:prstDash val="solid"/>
          </a:ln>
        </p:spPr>
        <p:txBody>
          <a:bodyPr/>
          <a:lstStyle/>
          <a:p>
            <a:endParaRPr lang="en-US"/>
          </a:p>
        </p:txBody>
      </p:sp>
      <p:sp>
        <p:nvSpPr>
          <p:cNvPr id="38" name="Shape 36"/>
          <p:cNvSpPr/>
          <p:nvPr/>
        </p:nvSpPr>
        <p:spPr>
          <a:xfrm>
            <a:off x="3986784" y="2889504"/>
            <a:ext cx="438912" cy="438912"/>
          </a:xfrm>
          <a:prstGeom prst="rect">
            <a:avLst/>
          </a:prstGeom>
          <a:solidFill>
            <a:srgbClr val="FFFFFF"/>
          </a:solidFill>
          <a:ln w="6350">
            <a:solidFill>
              <a:srgbClr val="D8DCE4"/>
            </a:solidFill>
            <a:prstDash val="solid"/>
          </a:ln>
        </p:spPr>
        <p:txBody>
          <a:bodyPr/>
          <a:lstStyle/>
          <a:p>
            <a:endParaRPr lang="en-US"/>
          </a:p>
        </p:txBody>
      </p:sp>
      <p:sp>
        <p:nvSpPr>
          <p:cNvPr id="39" name="Shape 37"/>
          <p:cNvSpPr/>
          <p:nvPr/>
        </p:nvSpPr>
        <p:spPr>
          <a:xfrm>
            <a:off x="914400" y="3328416"/>
            <a:ext cx="438912" cy="438912"/>
          </a:xfrm>
          <a:prstGeom prst="rect">
            <a:avLst/>
          </a:prstGeom>
          <a:solidFill>
            <a:srgbClr val="FFFFFF"/>
          </a:solidFill>
          <a:ln w="6350">
            <a:solidFill>
              <a:srgbClr val="D8DCE4"/>
            </a:solidFill>
            <a:prstDash val="solid"/>
          </a:ln>
        </p:spPr>
        <p:txBody>
          <a:bodyPr/>
          <a:lstStyle/>
          <a:p>
            <a:endParaRPr lang="en-US"/>
          </a:p>
        </p:txBody>
      </p:sp>
      <p:sp>
        <p:nvSpPr>
          <p:cNvPr id="40" name="Shape 38"/>
          <p:cNvSpPr/>
          <p:nvPr/>
        </p:nvSpPr>
        <p:spPr>
          <a:xfrm>
            <a:off x="1353312" y="3328416"/>
            <a:ext cx="438912" cy="438912"/>
          </a:xfrm>
          <a:prstGeom prst="rect">
            <a:avLst/>
          </a:prstGeom>
          <a:solidFill>
            <a:srgbClr val="FFFFFF"/>
          </a:solidFill>
          <a:ln w="6350">
            <a:solidFill>
              <a:srgbClr val="D8DCE4"/>
            </a:solidFill>
            <a:prstDash val="solid"/>
          </a:ln>
        </p:spPr>
        <p:txBody>
          <a:bodyPr/>
          <a:lstStyle/>
          <a:p>
            <a:endParaRPr lang="en-US"/>
          </a:p>
        </p:txBody>
      </p:sp>
      <p:sp>
        <p:nvSpPr>
          <p:cNvPr id="41" name="Shape 39"/>
          <p:cNvSpPr/>
          <p:nvPr/>
        </p:nvSpPr>
        <p:spPr>
          <a:xfrm>
            <a:off x="1792224" y="3328416"/>
            <a:ext cx="438912" cy="438912"/>
          </a:xfrm>
          <a:prstGeom prst="rect">
            <a:avLst/>
          </a:prstGeom>
          <a:solidFill>
            <a:srgbClr val="FFFFFF"/>
          </a:solidFill>
          <a:ln w="6350">
            <a:solidFill>
              <a:srgbClr val="D8DCE4"/>
            </a:solidFill>
            <a:prstDash val="solid"/>
          </a:ln>
        </p:spPr>
        <p:txBody>
          <a:bodyPr/>
          <a:lstStyle/>
          <a:p>
            <a:endParaRPr lang="en-US"/>
          </a:p>
        </p:txBody>
      </p:sp>
      <p:sp>
        <p:nvSpPr>
          <p:cNvPr id="42" name="Shape 40"/>
          <p:cNvSpPr/>
          <p:nvPr/>
        </p:nvSpPr>
        <p:spPr>
          <a:xfrm>
            <a:off x="2231136" y="3328416"/>
            <a:ext cx="438912" cy="438912"/>
          </a:xfrm>
          <a:prstGeom prst="rect">
            <a:avLst/>
          </a:prstGeom>
          <a:solidFill>
            <a:srgbClr val="FFFFFF"/>
          </a:solidFill>
          <a:ln w="6350">
            <a:solidFill>
              <a:srgbClr val="D8DCE4"/>
            </a:solidFill>
            <a:prstDash val="solid"/>
          </a:ln>
        </p:spPr>
        <p:txBody>
          <a:bodyPr/>
          <a:lstStyle/>
          <a:p>
            <a:endParaRPr lang="en-US"/>
          </a:p>
        </p:txBody>
      </p:sp>
      <p:sp>
        <p:nvSpPr>
          <p:cNvPr id="43" name="Shape 41"/>
          <p:cNvSpPr/>
          <p:nvPr/>
        </p:nvSpPr>
        <p:spPr>
          <a:xfrm>
            <a:off x="2670048" y="3328416"/>
            <a:ext cx="438912" cy="438912"/>
          </a:xfrm>
          <a:prstGeom prst="rect">
            <a:avLst/>
          </a:prstGeom>
          <a:solidFill>
            <a:srgbClr val="E4E4E4"/>
          </a:solidFill>
          <a:ln w="6350">
            <a:solidFill>
              <a:srgbClr val="D8DCE4"/>
            </a:solidFill>
            <a:prstDash val="solid"/>
          </a:ln>
        </p:spPr>
        <p:txBody>
          <a:bodyPr/>
          <a:lstStyle/>
          <a:p>
            <a:endParaRPr lang="en-US"/>
          </a:p>
        </p:txBody>
      </p:sp>
      <p:sp>
        <p:nvSpPr>
          <p:cNvPr id="44" name="Shape 42"/>
          <p:cNvSpPr/>
          <p:nvPr/>
        </p:nvSpPr>
        <p:spPr>
          <a:xfrm>
            <a:off x="3108960" y="3328416"/>
            <a:ext cx="438912" cy="438912"/>
          </a:xfrm>
          <a:prstGeom prst="rect">
            <a:avLst/>
          </a:prstGeom>
          <a:solidFill>
            <a:srgbClr val="787878"/>
          </a:solidFill>
          <a:ln w="6350">
            <a:solidFill>
              <a:srgbClr val="D8DCE4"/>
            </a:solidFill>
            <a:prstDash val="solid"/>
          </a:ln>
        </p:spPr>
        <p:txBody>
          <a:bodyPr/>
          <a:lstStyle/>
          <a:p>
            <a:endParaRPr lang="en-US"/>
          </a:p>
        </p:txBody>
      </p:sp>
      <p:sp>
        <p:nvSpPr>
          <p:cNvPr id="45" name="Shape 43"/>
          <p:cNvSpPr/>
          <p:nvPr/>
        </p:nvSpPr>
        <p:spPr>
          <a:xfrm>
            <a:off x="3547872" y="3328416"/>
            <a:ext cx="438912" cy="438912"/>
          </a:xfrm>
          <a:prstGeom prst="rect">
            <a:avLst/>
          </a:prstGeom>
          <a:solidFill>
            <a:srgbClr val="0C0C0C"/>
          </a:solidFill>
          <a:ln w="6350">
            <a:solidFill>
              <a:srgbClr val="D8DCE4"/>
            </a:solidFill>
            <a:prstDash val="solid"/>
          </a:ln>
        </p:spPr>
        <p:txBody>
          <a:bodyPr/>
          <a:lstStyle/>
          <a:p>
            <a:endParaRPr lang="en-US"/>
          </a:p>
        </p:txBody>
      </p:sp>
      <p:sp>
        <p:nvSpPr>
          <p:cNvPr id="46" name="Shape 44"/>
          <p:cNvSpPr/>
          <p:nvPr/>
        </p:nvSpPr>
        <p:spPr>
          <a:xfrm>
            <a:off x="3986784" y="3328416"/>
            <a:ext cx="438912" cy="438912"/>
          </a:xfrm>
          <a:prstGeom prst="rect">
            <a:avLst/>
          </a:prstGeom>
          <a:solidFill>
            <a:srgbClr val="AEAEAE"/>
          </a:solidFill>
          <a:ln w="6350">
            <a:solidFill>
              <a:srgbClr val="D8DCE4"/>
            </a:solidFill>
            <a:prstDash val="solid"/>
          </a:ln>
        </p:spPr>
        <p:txBody>
          <a:bodyPr/>
          <a:lstStyle/>
          <a:p>
            <a:endParaRPr lang="en-US"/>
          </a:p>
        </p:txBody>
      </p:sp>
      <p:sp>
        <p:nvSpPr>
          <p:cNvPr id="47" name="Shape 45"/>
          <p:cNvSpPr/>
          <p:nvPr/>
        </p:nvSpPr>
        <p:spPr>
          <a:xfrm>
            <a:off x="914400" y="3767328"/>
            <a:ext cx="438912" cy="438912"/>
          </a:xfrm>
          <a:prstGeom prst="rect">
            <a:avLst/>
          </a:prstGeom>
          <a:solidFill>
            <a:srgbClr val="FFFFFF"/>
          </a:solidFill>
          <a:ln w="6350">
            <a:solidFill>
              <a:srgbClr val="D8DCE4"/>
            </a:solidFill>
            <a:prstDash val="solid"/>
          </a:ln>
        </p:spPr>
        <p:txBody>
          <a:bodyPr/>
          <a:lstStyle/>
          <a:p>
            <a:endParaRPr lang="en-US"/>
          </a:p>
        </p:txBody>
      </p:sp>
      <p:sp>
        <p:nvSpPr>
          <p:cNvPr id="48" name="Shape 46"/>
          <p:cNvSpPr/>
          <p:nvPr/>
        </p:nvSpPr>
        <p:spPr>
          <a:xfrm>
            <a:off x="1353312" y="3767328"/>
            <a:ext cx="438912" cy="438912"/>
          </a:xfrm>
          <a:prstGeom prst="rect">
            <a:avLst/>
          </a:prstGeom>
          <a:solidFill>
            <a:srgbClr val="FFFFFF"/>
          </a:solidFill>
          <a:ln w="6350">
            <a:solidFill>
              <a:srgbClr val="D8DCE4"/>
            </a:solidFill>
            <a:prstDash val="solid"/>
          </a:ln>
        </p:spPr>
        <p:txBody>
          <a:bodyPr/>
          <a:lstStyle/>
          <a:p>
            <a:endParaRPr lang="en-US"/>
          </a:p>
        </p:txBody>
      </p:sp>
      <p:sp>
        <p:nvSpPr>
          <p:cNvPr id="49" name="Text 47"/>
          <p:cNvSpPr txBox="1"/>
          <p:nvPr/>
        </p:nvSpPr>
        <p:spPr>
          <a:xfrm>
            <a:off x="1353312" y="3767328"/>
            <a:ext cx="438912" cy="438912"/>
          </a:xfrm>
          <a:prstGeom prst="rect">
            <a:avLst/>
          </a:prstGeom>
          <a:noFill/>
          <a:ln/>
        </p:spPr>
        <p:txBody>
          <a:bodyPr wrap="square" lIns="0" tIns="0" rIns="0" bIns="0" rtlCol="0" anchor="ctr"/>
          <a:lstStyle/>
          <a:p>
            <a:pPr marL="0" indent="0" algn="ctr">
              <a:buNone/>
            </a:pPr>
            <a:r>
              <a:rPr lang="en-US" sz="1300" b="1" dirty="0">
                <a:solidFill>
                  <a:srgbClr val="C03020"/>
                </a:solidFill>
                <a:latin typeface="Consolas" pitchFamily="34" charset="0"/>
                <a:ea typeface="Consolas" pitchFamily="34" charset="-122"/>
                <a:cs typeface="Consolas" pitchFamily="34" charset="-120"/>
              </a:rPr>
              <a:t>0</a:t>
            </a:r>
            <a:endParaRPr lang="en-US" sz="1300" dirty="0"/>
          </a:p>
        </p:txBody>
      </p:sp>
      <p:sp>
        <p:nvSpPr>
          <p:cNvPr id="50" name="Shape 48"/>
          <p:cNvSpPr/>
          <p:nvPr/>
        </p:nvSpPr>
        <p:spPr>
          <a:xfrm>
            <a:off x="1792224" y="3767328"/>
            <a:ext cx="438912" cy="438912"/>
          </a:xfrm>
          <a:prstGeom prst="rect">
            <a:avLst/>
          </a:prstGeom>
          <a:solidFill>
            <a:srgbClr val="FFFFFF"/>
          </a:solidFill>
          <a:ln w="6350">
            <a:solidFill>
              <a:srgbClr val="D8DCE4"/>
            </a:solidFill>
            <a:prstDash val="solid"/>
          </a:ln>
        </p:spPr>
        <p:txBody>
          <a:bodyPr/>
          <a:lstStyle/>
          <a:p>
            <a:endParaRPr lang="en-US"/>
          </a:p>
        </p:txBody>
      </p:sp>
      <p:sp>
        <p:nvSpPr>
          <p:cNvPr id="51" name="Shape 49"/>
          <p:cNvSpPr/>
          <p:nvPr/>
        </p:nvSpPr>
        <p:spPr>
          <a:xfrm>
            <a:off x="2231136" y="3767328"/>
            <a:ext cx="438912" cy="438912"/>
          </a:xfrm>
          <a:prstGeom prst="rect">
            <a:avLst/>
          </a:prstGeom>
          <a:solidFill>
            <a:srgbClr val="FFFFFF"/>
          </a:solidFill>
          <a:ln w="6350">
            <a:solidFill>
              <a:srgbClr val="D8DCE4"/>
            </a:solidFill>
            <a:prstDash val="solid"/>
          </a:ln>
        </p:spPr>
        <p:txBody>
          <a:bodyPr/>
          <a:lstStyle/>
          <a:p>
            <a:endParaRPr lang="en-US"/>
          </a:p>
        </p:txBody>
      </p:sp>
      <p:sp>
        <p:nvSpPr>
          <p:cNvPr id="52" name="Shape 50"/>
          <p:cNvSpPr/>
          <p:nvPr/>
        </p:nvSpPr>
        <p:spPr>
          <a:xfrm>
            <a:off x="2670048" y="3767328"/>
            <a:ext cx="438912" cy="438912"/>
          </a:xfrm>
          <a:prstGeom prst="rect">
            <a:avLst/>
          </a:prstGeom>
          <a:solidFill>
            <a:srgbClr val="FFFFFF"/>
          </a:solidFill>
          <a:ln w="6350">
            <a:solidFill>
              <a:srgbClr val="D8DCE4"/>
            </a:solidFill>
            <a:prstDash val="solid"/>
          </a:ln>
        </p:spPr>
        <p:txBody>
          <a:bodyPr/>
          <a:lstStyle/>
          <a:p>
            <a:endParaRPr lang="en-US"/>
          </a:p>
        </p:txBody>
      </p:sp>
      <p:sp>
        <p:nvSpPr>
          <p:cNvPr id="53" name="Shape 51"/>
          <p:cNvSpPr/>
          <p:nvPr/>
        </p:nvSpPr>
        <p:spPr>
          <a:xfrm>
            <a:off x="3108960" y="3767328"/>
            <a:ext cx="438912" cy="438912"/>
          </a:xfrm>
          <a:prstGeom prst="rect">
            <a:avLst/>
          </a:prstGeom>
          <a:solidFill>
            <a:srgbClr val="C9C9C9"/>
          </a:solidFill>
          <a:ln w="6350">
            <a:solidFill>
              <a:srgbClr val="D8DCE4"/>
            </a:solidFill>
            <a:prstDash val="solid"/>
          </a:ln>
        </p:spPr>
        <p:txBody>
          <a:bodyPr/>
          <a:lstStyle/>
          <a:p>
            <a:endParaRPr lang="en-US"/>
          </a:p>
        </p:txBody>
      </p:sp>
      <p:sp>
        <p:nvSpPr>
          <p:cNvPr id="54" name="Shape 52"/>
          <p:cNvSpPr/>
          <p:nvPr/>
        </p:nvSpPr>
        <p:spPr>
          <a:xfrm>
            <a:off x="3547872" y="3767328"/>
            <a:ext cx="438912" cy="438912"/>
          </a:xfrm>
          <a:prstGeom prst="rect">
            <a:avLst/>
          </a:prstGeom>
          <a:solidFill>
            <a:srgbClr val="0C0C0C"/>
          </a:solidFill>
          <a:ln w="6350">
            <a:solidFill>
              <a:srgbClr val="D8DCE4"/>
            </a:solidFill>
            <a:prstDash val="solid"/>
          </a:ln>
        </p:spPr>
        <p:txBody>
          <a:bodyPr/>
          <a:lstStyle/>
          <a:p>
            <a:endParaRPr lang="en-US"/>
          </a:p>
        </p:txBody>
      </p:sp>
      <p:sp>
        <p:nvSpPr>
          <p:cNvPr id="55" name="Shape 53"/>
          <p:cNvSpPr/>
          <p:nvPr/>
        </p:nvSpPr>
        <p:spPr>
          <a:xfrm>
            <a:off x="3986784" y="3767328"/>
            <a:ext cx="438912" cy="438912"/>
          </a:xfrm>
          <a:prstGeom prst="rect">
            <a:avLst/>
          </a:prstGeom>
          <a:solidFill>
            <a:srgbClr val="939393"/>
          </a:solidFill>
          <a:ln w="6350">
            <a:solidFill>
              <a:srgbClr val="D8DCE4"/>
            </a:solidFill>
            <a:prstDash val="solid"/>
          </a:ln>
        </p:spPr>
        <p:txBody>
          <a:bodyPr/>
          <a:lstStyle/>
          <a:p>
            <a:endParaRPr lang="en-US"/>
          </a:p>
        </p:txBody>
      </p:sp>
      <p:sp>
        <p:nvSpPr>
          <p:cNvPr id="56" name="Shape 54"/>
          <p:cNvSpPr/>
          <p:nvPr/>
        </p:nvSpPr>
        <p:spPr>
          <a:xfrm>
            <a:off x="914400" y="4206240"/>
            <a:ext cx="438912" cy="438912"/>
          </a:xfrm>
          <a:prstGeom prst="rect">
            <a:avLst/>
          </a:prstGeom>
          <a:solidFill>
            <a:srgbClr val="FFFFFF"/>
          </a:solidFill>
          <a:ln w="6350">
            <a:solidFill>
              <a:srgbClr val="D8DCE4"/>
            </a:solidFill>
            <a:prstDash val="solid"/>
          </a:ln>
        </p:spPr>
        <p:txBody>
          <a:bodyPr/>
          <a:lstStyle/>
          <a:p>
            <a:endParaRPr lang="en-US"/>
          </a:p>
        </p:txBody>
      </p:sp>
      <p:sp>
        <p:nvSpPr>
          <p:cNvPr id="57" name="Shape 55"/>
          <p:cNvSpPr/>
          <p:nvPr/>
        </p:nvSpPr>
        <p:spPr>
          <a:xfrm>
            <a:off x="1353312" y="4206240"/>
            <a:ext cx="438912" cy="438912"/>
          </a:xfrm>
          <a:prstGeom prst="rect">
            <a:avLst/>
          </a:prstGeom>
          <a:solidFill>
            <a:srgbClr val="E4E4E4"/>
          </a:solidFill>
          <a:ln w="6350">
            <a:solidFill>
              <a:srgbClr val="D8DCE4"/>
            </a:solidFill>
            <a:prstDash val="solid"/>
          </a:ln>
        </p:spPr>
        <p:txBody>
          <a:bodyPr/>
          <a:lstStyle/>
          <a:p>
            <a:endParaRPr lang="en-US"/>
          </a:p>
        </p:txBody>
      </p:sp>
      <p:sp>
        <p:nvSpPr>
          <p:cNvPr id="58" name="Shape 56"/>
          <p:cNvSpPr/>
          <p:nvPr/>
        </p:nvSpPr>
        <p:spPr>
          <a:xfrm>
            <a:off x="1792224" y="4206240"/>
            <a:ext cx="438912" cy="438912"/>
          </a:xfrm>
          <a:prstGeom prst="rect">
            <a:avLst/>
          </a:prstGeom>
          <a:solidFill>
            <a:srgbClr val="FFFFFF"/>
          </a:solidFill>
          <a:ln w="6350">
            <a:solidFill>
              <a:srgbClr val="D8DCE4"/>
            </a:solidFill>
            <a:prstDash val="solid"/>
          </a:ln>
        </p:spPr>
        <p:txBody>
          <a:bodyPr/>
          <a:lstStyle/>
          <a:p>
            <a:endParaRPr lang="en-US"/>
          </a:p>
        </p:txBody>
      </p:sp>
      <p:sp>
        <p:nvSpPr>
          <p:cNvPr id="59" name="Shape 57"/>
          <p:cNvSpPr/>
          <p:nvPr/>
        </p:nvSpPr>
        <p:spPr>
          <a:xfrm>
            <a:off x="2231136" y="4206240"/>
            <a:ext cx="438912" cy="438912"/>
          </a:xfrm>
          <a:prstGeom prst="rect">
            <a:avLst/>
          </a:prstGeom>
          <a:solidFill>
            <a:srgbClr val="FFFFFF"/>
          </a:solidFill>
          <a:ln w="6350">
            <a:solidFill>
              <a:srgbClr val="D8DCE4"/>
            </a:solidFill>
            <a:prstDash val="solid"/>
          </a:ln>
        </p:spPr>
        <p:txBody>
          <a:bodyPr/>
          <a:lstStyle/>
          <a:p>
            <a:endParaRPr lang="en-US"/>
          </a:p>
        </p:txBody>
      </p:sp>
      <p:sp>
        <p:nvSpPr>
          <p:cNvPr id="60" name="Shape 58"/>
          <p:cNvSpPr/>
          <p:nvPr/>
        </p:nvSpPr>
        <p:spPr>
          <a:xfrm>
            <a:off x="2670048" y="4206240"/>
            <a:ext cx="438912" cy="438912"/>
          </a:xfrm>
          <a:prstGeom prst="rect">
            <a:avLst/>
          </a:prstGeom>
          <a:solidFill>
            <a:srgbClr val="E4E4E4"/>
          </a:solidFill>
          <a:ln w="6350">
            <a:solidFill>
              <a:srgbClr val="D8DCE4"/>
            </a:solidFill>
            <a:prstDash val="solid"/>
          </a:ln>
        </p:spPr>
        <p:txBody>
          <a:bodyPr/>
          <a:lstStyle/>
          <a:p>
            <a:endParaRPr lang="en-US"/>
          </a:p>
        </p:txBody>
      </p:sp>
      <p:sp>
        <p:nvSpPr>
          <p:cNvPr id="61" name="Shape 59"/>
          <p:cNvSpPr/>
          <p:nvPr/>
        </p:nvSpPr>
        <p:spPr>
          <a:xfrm>
            <a:off x="3108960" y="4206240"/>
            <a:ext cx="438912" cy="438912"/>
          </a:xfrm>
          <a:prstGeom prst="rect">
            <a:avLst/>
          </a:prstGeom>
          <a:solidFill>
            <a:srgbClr val="424242"/>
          </a:solidFill>
          <a:ln w="6350">
            <a:solidFill>
              <a:srgbClr val="D8DCE4"/>
            </a:solidFill>
            <a:prstDash val="solid"/>
          </a:ln>
        </p:spPr>
        <p:txBody>
          <a:bodyPr/>
          <a:lstStyle/>
          <a:p>
            <a:endParaRPr lang="en-US"/>
          </a:p>
        </p:txBody>
      </p:sp>
      <p:sp>
        <p:nvSpPr>
          <p:cNvPr id="62" name="Shape 60"/>
          <p:cNvSpPr/>
          <p:nvPr/>
        </p:nvSpPr>
        <p:spPr>
          <a:xfrm>
            <a:off x="3547872" y="4206240"/>
            <a:ext cx="438912" cy="438912"/>
          </a:xfrm>
          <a:prstGeom prst="rect">
            <a:avLst/>
          </a:prstGeom>
          <a:solidFill>
            <a:srgbClr val="0C0C0C"/>
          </a:solidFill>
          <a:ln w="6350">
            <a:solidFill>
              <a:srgbClr val="D8DCE4"/>
            </a:solidFill>
            <a:prstDash val="solid"/>
          </a:ln>
        </p:spPr>
        <p:txBody>
          <a:bodyPr/>
          <a:lstStyle/>
          <a:p>
            <a:endParaRPr lang="en-US"/>
          </a:p>
        </p:txBody>
      </p:sp>
      <p:sp>
        <p:nvSpPr>
          <p:cNvPr id="63" name="Shape 61"/>
          <p:cNvSpPr/>
          <p:nvPr/>
        </p:nvSpPr>
        <p:spPr>
          <a:xfrm>
            <a:off x="3986784" y="4206240"/>
            <a:ext cx="438912" cy="438912"/>
          </a:xfrm>
          <a:prstGeom prst="rect">
            <a:avLst/>
          </a:prstGeom>
          <a:solidFill>
            <a:srgbClr val="E4E4E4"/>
          </a:solidFill>
          <a:ln w="6350">
            <a:solidFill>
              <a:srgbClr val="D8DCE4"/>
            </a:solidFill>
            <a:prstDash val="solid"/>
          </a:ln>
        </p:spPr>
        <p:txBody>
          <a:bodyPr/>
          <a:lstStyle/>
          <a:p>
            <a:endParaRPr lang="en-US"/>
          </a:p>
        </p:txBody>
      </p:sp>
      <p:sp>
        <p:nvSpPr>
          <p:cNvPr id="64" name="Shape 62"/>
          <p:cNvSpPr/>
          <p:nvPr/>
        </p:nvSpPr>
        <p:spPr>
          <a:xfrm>
            <a:off x="914400" y="4645152"/>
            <a:ext cx="438912" cy="438912"/>
          </a:xfrm>
          <a:prstGeom prst="rect">
            <a:avLst/>
          </a:prstGeom>
          <a:solidFill>
            <a:srgbClr val="FFFFFF"/>
          </a:solidFill>
          <a:ln w="6350">
            <a:solidFill>
              <a:srgbClr val="D8DCE4"/>
            </a:solidFill>
            <a:prstDash val="solid"/>
          </a:ln>
        </p:spPr>
        <p:txBody>
          <a:bodyPr/>
          <a:lstStyle/>
          <a:p>
            <a:endParaRPr lang="en-US"/>
          </a:p>
        </p:txBody>
      </p:sp>
      <p:sp>
        <p:nvSpPr>
          <p:cNvPr id="65" name="Shape 63"/>
          <p:cNvSpPr/>
          <p:nvPr/>
        </p:nvSpPr>
        <p:spPr>
          <a:xfrm>
            <a:off x="1353312" y="4645152"/>
            <a:ext cx="438912" cy="438912"/>
          </a:xfrm>
          <a:prstGeom prst="rect">
            <a:avLst/>
          </a:prstGeom>
          <a:solidFill>
            <a:srgbClr val="C9C9C9"/>
          </a:solidFill>
          <a:ln w="6350">
            <a:solidFill>
              <a:srgbClr val="D8DCE4"/>
            </a:solidFill>
            <a:prstDash val="solid"/>
          </a:ln>
        </p:spPr>
        <p:txBody>
          <a:bodyPr/>
          <a:lstStyle/>
          <a:p>
            <a:endParaRPr lang="en-US"/>
          </a:p>
        </p:txBody>
      </p:sp>
      <p:sp>
        <p:nvSpPr>
          <p:cNvPr id="66" name="Shape 64"/>
          <p:cNvSpPr/>
          <p:nvPr/>
        </p:nvSpPr>
        <p:spPr>
          <a:xfrm>
            <a:off x="1792224" y="4645152"/>
            <a:ext cx="438912" cy="438912"/>
          </a:xfrm>
          <a:prstGeom prst="rect">
            <a:avLst/>
          </a:prstGeom>
          <a:solidFill>
            <a:srgbClr val="272727"/>
          </a:solidFill>
          <a:ln w="6350">
            <a:solidFill>
              <a:srgbClr val="D8DCE4"/>
            </a:solidFill>
            <a:prstDash val="solid"/>
          </a:ln>
        </p:spPr>
        <p:txBody>
          <a:bodyPr/>
          <a:lstStyle/>
          <a:p>
            <a:endParaRPr lang="en-US"/>
          </a:p>
        </p:txBody>
      </p:sp>
      <p:sp>
        <p:nvSpPr>
          <p:cNvPr id="67" name="Shape 65"/>
          <p:cNvSpPr/>
          <p:nvPr/>
        </p:nvSpPr>
        <p:spPr>
          <a:xfrm>
            <a:off x="2231136" y="4645152"/>
            <a:ext cx="438912" cy="438912"/>
          </a:xfrm>
          <a:prstGeom prst="rect">
            <a:avLst/>
          </a:prstGeom>
          <a:solidFill>
            <a:srgbClr val="0C0C0C"/>
          </a:solidFill>
          <a:ln w="6350">
            <a:solidFill>
              <a:srgbClr val="D8DCE4"/>
            </a:solidFill>
            <a:prstDash val="solid"/>
          </a:ln>
        </p:spPr>
        <p:txBody>
          <a:bodyPr/>
          <a:lstStyle/>
          <a:p>
            <a:endParaRPr lang="en-US"/>
          </a:p>
        </p:txBody>
      </p:sp>
      <p:sp>
        <p:nvSpPr>
          <p:cNvPr id="68" name="Shape 66"/>
          <p:cNvSpPr/>
          <p:nvPr/>
        </p:nvSpPr>
        <p:spPr>
          <a:xfrm>
            <a:off x="2670048" y="4645152"/>
            <a:ext cx="438912" cy="438912"/>
          </a:xfrm>
          <a:prstGeom prst="rect">
            <a:avLst/>
          </a:prstGeom>
          <a:solidFill>
            <a:srgbClr val="0C0C0C"/>
          </a:solidFill>
          <a:ln w="6350">
            <a:solidFill>
              <a:srgbClr val="D8DCE4"/>
            </a:solidFill>
            <a:prstDash val="solid"/>
          </a:ln>
        </p:spPr>
        <p:txBody>
          <a:bodyPr/>
          <a:lstStyle/>
          <a:p>
            <a:endParaRPr lang="en-US"/>
          </a:p>
        </p:txBody>
      </p:sp>
      <p:sp>
        <p:nvSpPr>
          <p:cNvPr id="69" name="Shape 67"/>
          <p:cNvSpPr/>
          <p:nvPr/>
        </p:nvSpPr>
        <p:spPr>
          <a:xfrm>
            <a:off x="3108960" y="4645152"/>
            <a:ext cx="438912" cy="438912"/>
          </a:xfrm>
          <a:prstGeom prst="rect">
            <a:avLst/>
          </a:prstGeom>
          <a:solidFill>
            <a:srgbClr val="424242"/>
          </a:solidFill>
          <a:ln w="6350">
            <a:solidFill>
              <a:srgbClr val="D8DCE4"/>
            </a:solidFill>
            <a:prstDash val="solid"/>
          </a:ln>
        </p:spPr>
        <p:txBody>
          <a:bodyPr/>
          <a:lstStyle/>
          <a:p>
            <a:endParaRPr lang="en-US"/>
          </a:p>
        </p:txBody>
      </p:sp>
      <p:sp>
        <p:nvSpPr>
          <p:cNvPr id="70" name="Shape 68"/>
          <p:cNvSpPr/>
          <p:nvPr/>
        </p:nvSpPr>
        <p:spPr>
          <a:xfrm>
            <a:off x="3547872" y="4645152"/>
            <a:ext cx="438912" cy="438912"/>
          </a:xfrm>
          <a:prstGeom prst="rect">
            <a:avLst/>
          </a:prstGeom>
          <a:solidFill>
            <a:srgbClr val="C9C9C9"/>
          </a:solidFill>
          <a:ln w="6350">
            <a:solidFill>
              <a:srgbClr val="D8DCE4"/>
            </a:solidFill>
            <a:prstDash val="solid"/>
          </a:ln>
        </p:spPr>
        <p:txBody>
          <a:bodyPr/>
          <a:lstStyle/>
          <a:p>
            <a:endParaRPr lang="en-US"/>
          </a:p>
        </p:txBody>
      </p:sp>
      <p:sp>
        <p:nvSpPr>
          <p:cNvPr id="71" name="Shape 69"/>
          <p:cNvSpPr/>
          <p:nvPr/>
        </p:nvSpPr>
        <p:spPr>
          <a:xfrm>
            <a:off x="3986784" y="4645152"/>
            <a:ext cx="438912" cy="438912"/>
          </a:xfrm>
          <a:prstGeom prst="rect">
            <a:avLst/>
          </a:prstGeom>
          <a:solidFill>
            <a:srgbClr val="FFFFFF"/>
          </a:solidFill>
          <a:ln w="6350">
            <a:solidFill>
              <a:srgbClr val="D8DCE4"/>
            </a:solidFill>
            <a:prstDash val="solid"/>
          </a:ln>
        </p:spPr>
        <p:txBody>
          <a:bodyPr/>
          <a:lstStyle/>
          <a:p>
            <a:endParaRPr lang="en-US"/>
          </a:p>
        </p:txBody>
      </p:sp>
      <p:sp>
        <p:nvSpPr>
          <p:cNvPr id="72" name="Text 70"/>
          <p:cNvSpPr txBox="1"/>
          <p:nvPr/>
        </p:nvSpPr>
        <p:spPr>
          <a:xfrm>
            <a:off x="640080" y="5193792"/>
            <a:ext cx="4059936" cy="274320"/>
          </a:xfrm>
          <a:prstGeom prst="rect">
            <a:avLst/>
          </a:prstGeom>
          <a:noFill/>
          <a:ln/>
        </p:spPr>
        <p:txBody>
          <a:bodyPr wrap="square" lIns="0" tIns="0" rIns="0" bIns="0" rtlCol="0" anchor="ctr"/>
          <a:lstStyle/>
          <a:p>
            <a:pPr marL="0" indent="0" algn="ctr">
              <a:buNone/>
            </a:pPr>
            <a:r>
              <a:rPr lang="en-US" sz="1150" i="1" dirty="0">
                <a:solidFill>
                  <a:srgbClr val="5B6474"/>
                </a:solidFill>
                <a:latin typeface="Calibri" pitchFamily="34" charset="0"/>
                <a:ea typeface="Calibri" pitchFamily="34" charset="-122"/>
                <a:cs typeface="Calibri" pitchFamily="34" charset="-120"/>
              </a:rPr>
              <a:t>what you see: a 3  ·  what it gets: x = (0, 3, 8, 9, 9, 8, 2, 0, 0, …)</a:t>
            </a:r>
            <a:endParaRPr lang="en-US" sz="1150" dirty="0"/>
          </a:p>
        </p:txBody>
      </p:sp>
      <p:sp>
        <p:nvSpPr>
          <p:cNvPr id="73" name="Shape 71"/>
          <p:cNvSpPr/>
          <p:nvPr/>
        </p:nvSpPr>
        <p:spPr>
          <a:xfrm>
            <a:off x="4754880" y="1572768"/>
            <a:ext cx="6775704" cy="1463040"/>
          </a:xfrm>
          <a:prstGeom prst="roundRect">
            <a:avLst>
              <a:gd name="adj" fmla="val 5000"/>
            </a:avLst>
          </a:prstGeom>
          <a:solidFill>
            <a:srgbClr val="E7EEF8"/>
          </a:solidFill>
          <a:ln w="12700">
            <a:solidFill>
              <a:srgbClr val="E7EEF8"/>
            </a:solidFill>
            <a:prstDash val="solid"/>
          </a:ln>
        </p:spPr>
        <p:txBody>
          <a:bodyPr/>
          <a:lstStyle/>
          <a:p>
            <a:endParaRPr lang="en-US"/>
          </a:p>
        </p:txBody>
      </p:sp>
      <p:sp>
        <p:nvSpPr>
          <p:cNvPr id="74" name="Text 72"/>
          <p:cNvSpPr txBox="1"/>
          <p:nvPr/>
        </p:nvSpPr>
        <p:spPr>
          <a:xfrm>
            <a:off x="5029200" y="1737360"/>
            <a:ext cx="6227064" cy="310896"/>
          </a:xfrm>
          <a:prstGeom prst="rect">
            <a:avLst/>
          </a:prstGeom>
          <a:noFill/>
          <a:ln/>
        </p:spPr>
        <p:txBody>
          <a:bodyPr wrap="square" lIns="0" tIns="0" rIns="0" bIns="0" rtlCol="0" anchor="ctr"/>
          <a:lstStyle/>
          <a:p>
            <a:pPr marL="0" indent="0">
              <a:buNone/>
            </a:pPr>
            <a:r>
              <a:rPr lang="en-US" sz="1600" b="1" dirty="0">
                <a:solidFill>
                  <a:srgbClr val="111722"/>
                </a:solidFill>
                <a:latin typeface="Cambria" pitchFamily="34" charset="0"/>
                <a:ea typeface="Cambria" pitchFamily="34" charset="-122"/>
                <a:cs typeface="Cambria" pitchFamily="34" charset="-120"/>
              </a:rPr>
              <a:t>There is no image</a:t>
            </a:r>
            <a:endParaRPr lang="en-US" sz="1600" dirty="0"/>
          </a:p>
        </p:txBody>
      </p:sp>
      <p:sp>
        <p:nvSpPr>
          <p:cNvPr id="75" name="Text 73"/>
          <p:cNvSpPr txBox="1"/>
          <p:nvPr/>
        </p:nvSpPr>
        <p:spPr>
          <a:xfrm>
            <a:off x="5029200" y="2103120"/>
            <a:ext cx="6227064" cy="822960"/>
          </a:xfrm>
          <a:prstGeom prst="rect">
            <a:avLst/>
          </a:prstGeom>
          <a:noFill/>
          <a:ln/>
        </p:spPr>
        <p:txBody>
          <a:bodyPr wrap="square" lIns="0" tIns="0" rIns="0" bIns="0" rtlCol="0" anchor="ctr"/>
          <a:lstStyle/>
          <a:p>
            <a:pPr marL="0" indent="0">
              <a:lnSpc>
                <a:spcPts val="1700"/>
              </a:lnSpc>
              <a:buNone/>
            </a:pPr>
            <a:r>
              <a:rPr lang="en-US" sz="1250" dirty="0">
                <a:solidFill>
                  <a:srgbClr val="5B6474"/>
                </a:solidFill>
                <a:latin typeface="Calibri" pitchFamily="34" charset="0"/>
                <a:ea typeface="Calibri" pitchFamily="34" charset="-122"/>
                <a:cs typeface="Calibri" pitchFamily="34" charset="-120"/>
              </a:rPr>
              <a:t>Every square is one number: 0 for white paper, 9 for black ink. The picture is a convenience for you. The machine has a list of 784 numbers and no concept of a square, a grid, or a neighbour.</a:t>
            </a:r>
            <a:endParaRPr lang="en-US" sz="1250" dirty="0"/>
          </a:p>
        </p:txBody>
      </p:sp>
      <p:sp>
        <p:nvSpPr>
          <p:cNvPr id="76" name="Shape 74"/>
          <p:cNvSpPr/>
          <p:nvPr/>
        </p:nvSpPr>
        <p:spPr>
          <a:xfrm>
            <a:off x="4754880" y="3154680"/>
            <a:ext cx="6775704" cy="1463040"/>
          </a:xfrm>
          <a:prstGeom prst="roundRect">
            <a:avLst>
              <a:gd name="adj" fmla="val 5000"/>
            </a:avLst>
          </a:prstGeom>
          <a:solidFill>
            <a:srgbClr val="FAF0DE"/>
          </a:solidFill>
          <a:ln w="12700">
            <a:solidFill>
              <a:srgbClr val="FAF0DE"/>
            </a:solidFill>
            <a:prstDash val="solid"/>
          </a:ln>
        </p:spPr>
        <p:txBody>
          <a:bodyPr/>
          <a:lstStyle/>
          <a:p>
            <a:endParaRPr lang="en-US"/>
          </a:p>
        </p:txBody>
      </p:sp>
      <p:sp>
        <p:nvSpPr>
          <p:cNvPr id="77" name="Text 75"/>
          <p:cNvSpPr txBox="1"/>
          <p:nvPr/>
        </p:nvSpPr>
        <p:spPr>
          <a:xfrm>
            <a:off x="5029200" y="3319272"/>
            <a:ext cx="6227064" cy="310896"/>
          </a:xfrm>
          <a:prstGeom prst="rect">
            <a:avLst/>
          </a:prstGeom>
          <a:noFill/>
          <a:ln/>
        </p:spPr>
        <p:txBody>
          <a:bodyPr wrap="square" lIns="0" tIns="0" rIns="0" bIns="0" rtlCol="0" anchor="ctr"/>
          <a:lstStyle/>
          <a:p>
            <a:pPr marL="0" indent="0">
              <a:buNone/>
            </a:pPr>
            <a:r>
              <a:rPr lang="en-US" sz="1600" b="1" dirty="0">
                <a:solidFill>
                  <a:srgbClr val="111722"/>
                </a:solidFill>
                <a:latin typeface="Cambria" pitchFamily="34" charset="0"/>
                <a:ea typeface="Cambria" pitchFamily="34" charset="-122"/>
                <a:cs typeface="Cambria" pitchFamily="34" charset="-120"/>
              </a:rPr>
              <a:t>Nothing is above the numbers</a:t>
            </a:r>
            <a:endParaRPr lang="en-US" sz="1600" dirty="0"/>
          </a:p>
        </p:txBody>
      </p:sp>
      <p:sp>
        <p:nvSpPr>
          <p:cNvPr id="78" name="Text 76"/>
          <p:cNvSpPr txBox="1"/>
          <p:nvPr/>
        </p:nvSpPr>
        <p:spPr>
          <a:xfrm>
            <a:off x="5029200" y="3685032"/>
            <a:ext cx="6227064" cy="822960"/>
          </a:xfrm>
          <a:prstGeom prst="rect">
            <a:avLst/>
          </a:prstGeom>
          <a:noFill/>
          <a:ln/>
        </p:spPr>
        <p:txBody>
          <a:bodyPr wrap="square" lIns="0" tIns="0" rIns="0" bIns="0" rtlCol="0" anchor="ctr"/>
          <a:lstStyle/>
          <a:p>
            <a:pPr marL="0" indent="0">
              <a:lnSpc>
                <a:spcPts val="1700"/>
              </a:lnSpc>
              <a:buNone/>
            </a:pPr>
            <a:r>
              <a:rPr lang="en-US" sz="1250" dirty="0">
                <a:solidFill>
                  <a:srgbClr val="5B6474"/>
                </a:solidFill>
                <a:latin typeface="Calibri" pitchFamily="34" charset="0"/>
                <a:ea typeface="Calibri" pitchFamily="34" charset="-122"/>
                <a:cs typeface="Calibri" pitchFamily="34" charset="-120"/>
              </a:rPr>
              <a:t>No edges, no strokes, no loops. Anything the system ends up knowing about shape has to be reconstructed out of relationships between numbers in a list.</a:t>
            </a:r>
            <a:endParaRPr lang="en-US" sz="1250" dirty="0"/>
          </a:p>
        </p:txBody>
      </p:sp>
      <p:sp>
        <p:nvSpPr>
          <p:cNvPr id="79" name="Shape 77"/>
          <p:cNvSpPr/>
          <p:nvPr/>
        </p:nvSpPr>
        <p:spPr>
          <a:xfrm>
            <a:off x="4754880" y="4736592"/>
            <a:ext cx="6775704" cy="1463040"/>
          </a:xfrm>
          <a:prstGeom prst="roundRect">
            <a:avLst>
              <a:gd name="adj" fmla="val 5000"/>
            </a:avLst>
          </a:prstGeom>
          <a:solidFill>
            <a:srgbClr val="E7EEF8"/>
          </a:solidFill>
          <a:ln w="12700">
            <a:solidFill>
              <a:srgbClr val="E7EEF8"/>
            </a:solidFill>
            <a:prstDash val="solid"/>
          </a:ln>
        </p:spPr>
        <p:txBody>
          <a:bodyPr/>
          <a:lstStyle/>
          <a:p>
            <a:endParaRPr lang="en-US"/>
          </a:p>
        </p:txBody>
      </p:sp>
      <p:sp>
        <p:nvSpPr>
          <p:cNvPr id="80" name="Text 78"/>
          <p:cNvSpPr txBox="1"/>
          <p:nvPr/>
        </p:nvSpPr>
        <p:spPr>
          <a:xfrm>
            <a:off x="5029200" y="4901184"/>
            <a:ext cx="6227064" cy="310896"/>
          </a:xfrm>
          <a:prstGeom prst="rect">
            <a:avLst/>
          </a:prstGeom>
          <a:noFill/>
          <a:ln/>
        </p:spPr>
        <p:txBody>
          <a:bodyPr wrap="square" lIns="0" tIns="0" rIns="0" bIns="0" rtlCol="0" anchor="ctr"/>
          <a:lstStyle/>
          <a:p>
            <a:pPr marL="0" indent="0">
              <a:buNone/>
            </a:pPr>
            <a:r>
              <a:rPr lang="en-US" sz="1600" b="1" dirty="0">
                <a:solidFill>
                  <a:srgbClr val="111722"/>
                </a:solidFill>
                <a:latin typeface="Cambria" pitchFamily="34" charset="0"/>
                <a:ea typeface="Cambria" pitchFamily="34" charset="-122"/>
                <a:cs typeface="Cambria" pitchFamily="34" charset="-120"/>
              </a:rPr>
              <a:t>We give that list a name: x</a:t>
            </a:r>
            <a:endParaRPr lang="en-US" sz="1600" dirty="0"/>
          </a:p>
        </p:txBody>
      </p:sp>
      <p:sp>
        <p:nvSpPr>
          <p:cNvPr id="81" name="Text 79"/>
          <p:cNvSpPr txBox="1"/>
          <p:nvPr/>
        </p:nvSpPr>
        <p:spPr>
          <a:xfrm>
            <a:off x="5029200" y="5266944"/>
            <a:ext cx="6227064" cy="822960"/>
          </a:xfrm>
          <a:prstGeom prst="rect">
            <a:avLst/>
          </a:prstGeom>
          <a:noFill/>
          <a:ln/>
        </p:spPr>
        <p:txBody>
          <a:bodyPr wrap="square" lIns="0" tIns="0" rIns="0" bIns="0" rtlCol="0" anchor="ctr"/>
          <a:lstStyle/>
          <a:p>
            <a:pPr marL="0" indent="0">
              <a:lnSpc>
                <a:spcPts val="1700"/>
              </a:lnSpc>
              <a:buNone/>
            </a:pPr>
            <a:r>
              <a:rPr lang="en-US" sz="1250" dirty="0">
                <a:solidFill>
                  <a:srgbClr val="5B6474"/>
                </a:solidFill>
                <a:latin typeface="Calibri" pitchFamily="34" charset="0"/>
                <a:ea typeface="Calibri" pitchFamily="34" charset="-122"/>
                <a:cs typeface="Calibri" pitchFamily="34" charset="-120"/>
              </a:rPr>
              <a:t>Naming it is the first act of notation. From here on, x means “the input” and we never have to write out 784 numbers again. That is all notation ever does.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741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FROM ZERO</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11722"/>
                </a:solidFill>
                <a:latin typeface="Cambria" pitchFamily="34" charset="0"/>
                <a:ea typeface="Cambria" pitchFamily="34" charset="-122"/>
                <a:cs typeface="Cambria" pitchFamily="34" charset="-120"/>
              </a:rPr>
              <a:t>A guess is also just numbers</a:t>
            </a:r>
            <a:endParaRPr lang="en-US" sz="2900" dirty="0"/>
          </a:p>
        </p:txBody>
      </p:sp>
      <p:sp>
        <p:nvSpPr>
          <p:cNvPr id="5" name="Shape 3"/>
          <p:cNvSpPr/>
          <p:nvPr/>
        </p:nvSpPr>
        <p:spPr>
          <a:xfrm>
            <a:off x="640080" y="1463040"/>
            <a:ext cx="5760720" cy="2788920"/>
          </a:xfrm>
          <a:prstGeom prst="roundRect">
            <a:avLst>
              <a:gd name="adj" fmla="val 2623"/>
            </a:avLst>
          </a:prstGeom>
          <a:solidFill>
            <a:srgbClr val="111722"/>
          </a:solidFill>
          <a:ln w="12700">
            <a:solidFill>
              <a:srgbClr val="111722"/>
            </a:solidFill>
            <a:prstDash val="solid"/>
          </a:ln>
        </p:spPr>
        <p:txBody>
          <a:bodyPr/>
          <a:lstStyle/>
          <a:p>
            <a:endParaRPr lang="en-US"/>
          </a:p>
        </p:txBody>
      </p:sp>
      <p:sp>
        <p:nvSpPr>
          <p:cNvPr id="6" name="Text 4"/>
          <p:cNvSpPr txBox="1"/>
          <p:nvPr/>
        </p:nvSpPr>
        <p:spPr>
          <a:xfrm>
            <a:off x="1005840" y="1645920"/>
            <a:ext cx="5029200" cy="292608"/>
          </a:xfrm>
          <a:prstGeom prst="rect">
            <a:avLst/>
          </a:prstGeom>
          <a:noFill/>
          <a:ln/>
        </p:spPr>
        <p:txBody>
          <a:bodyPr wrap="square" lIns="0" tIns="0" rIns="0" bIns="0" rtlCol="0" anchor="ctr"/>
          <a:lstStyle/>
          <a:p>
            <a:pPr marL="0" indent="0">
              <a:buNone/>
            </a:pPr>
            <a:r>
              <a:rPr lang="en-US" sz="1150" b="1" kern="0" spc="140" dirty="0">
                <a:solidFill>
                  <a:srgbClr val="E9AC53"/>
                </a:solidFill>
                <a:latin typeface="Calibri" pitchFamily="34" charset="0"/>
                <a:ea typeface="Calibri" pitchFamily="34" charset="-122"/>
                <a:cs typeface="Calibri" pitchFamily="34" charset="-120"/>
              </a:rPr>
              <a:t>The output</a:t>
            </a:r>
            <a:endParaRPr lang="en-US" sz="1150" dirty="0"/>
          </a:p>
        </p:txBody>
      </p:sp>
      <p:sp>
        <p:nvSpPr>
          <p:cNvPr id="7" name="Text 5"/>
          <p:cNvSpPr txBox="1"/>
          <p:nvPr/>
        </p:nvSpPr>
        <p:spPr>
          <a:xfrm>
            <a:off x="1005840" y="2011680"/>
            <a:ext cx="5074920" cy="822960"/>
          </a:xfrm>
          <a:prstGeom prst="rect">
            <a:avLst/>
          </a:prstGeom>
          <a:noFill/>
          <a:ln/>
        </p:spPr>
        <p:txBody>
          <a:bodyPr wrap="square" lIns="0" tIns="0" rIns="0" bIns="0" rtlCol="0" anchor="ctr"/>
          <a:lstStyle/>
          <a:p>
            <a:pPr marL="0" indent="0">
              <a:lnSpc>
                <a:spcPts val="2000"/>
              </a:lnSpc>
              <a:buNone/>
            </a:pPr>
            <a:r>
              <a:rPr lang="en-US" sz="1500" dirty="0">
                <a:solidFill>
                  <a:srgbClr val="F2F4F8"/>
                </a:solidFill>
                <a:latin typeface="Cambria" pitchFamily="34" charset="0"/>
                <a:ea typeface="Cambria" pitchFamily="34" charset="-122"/>
                <a:cs typeface="Cambria" pitchFamily="34" charset="-120"/>
              </a:rPr>
              <a:t>The machine does not answer “three.” It produces ten numbers between 0 and 1 — one per digit — and we read the largest as the answer. Call that list a.</a:t>
            </a:r>
            <a:endParaRPr lang="en-US" sz="1500" dirty="0"/>
          </a:p>
        </p:txBody>
      </p:sp>
      <p:sp>
        <p:nvSpPr>
          <p:cNvPr id="8" name="Shape 6"/>
          <p:cNvSpPr/>
          <p:nvPr/>
        </p:nvSpPr>
        <p:spPr>
          <a:xfrm>
            <a:off x="1024128" y="3685032"/>
            <a:ext cx="347472" cy="118872"/>
          </a:xfrm>
          <a:prstGeom prst="rect">
            <a:avLst/>
          </a:prstGeom>
          <a:solidFill>
            <a:srgbClr val="46536B"/>
          </a:solidFill>
          <a:ln/>
        </p:spPr>
        <p:txBody>
          <a:bodyPr/>
          <a:lstStyle/>
          <a:p>
            <a:endParaRPr lang="en-US"/>
          </a:p>
        </p:txBody>
      </p:sp>
      <p:sp>
        <p:nvSpPr>
          <p:cNvPr id="9" name="Text 7"/>
          <p:cNvSpPr txBox="1"/>
          <p:nvPr/>
        </p:nvSpPr>
        <p:spPr>
          <a:xfrm>
            <a:off x="978408" y="3822192"/>
            <a:ext cx="438912" cy="237744"/>
          </a:xfrm>
          <a:prstGeom prst="rect">
            <a:avLst/>
          </a:prstGeom>
          <a:noFill/>
          <a:ln/>
        </p:spPr>
        <p:txBody>
          <a:bodyPr wrap="square" lIns="0" tIns="0" rIns="0" bIns="0" rtlCol="0" anchor="ctr"/>
          <a:lstStyle/>
          <a:p>
            <a:pPr marL="0" indent="0" algn="ctr">
              <a:buNone/>
            </a:pPr>
            <a:r>
              <a:rPr lang="en-US" sz="1100" dirty="0">
                <a:solidFill>
                  <a:srgbClr val="8B95A8"/>
                </a:solidFill>
                <a:latin typeface="Consolas" pitchFamily="34" charset="0"/>
                <a:ea typeface="Consolas" pitchFamily="34" charset="-122"/>
                <a:cs typeface="Consolas" pitchFamily="34" charset="-120"/>
              </a:rPr>
              <a:t>0</a:t>
            </a:r>
            <a:endParaRPr lang="en-US" sz="1100" dirty="0"/>
          </a:p>
        </p:txBody>
      </p:sp>
      <p:sp>
        <p:nvSpPr>
          <p:cNvPr id="10" name="Shape 8"/>
          <p:cNvSpPr/>
          <p:nvPr/>
        </p:nvSpPr>
        <p:spPr>
          <a:xfrm>
            <a:off x="1536192" y="3675888"/>
            <a:ext cx="347472" cy="128016"/>
          </a:xfrm>
          <a:prstGeom prst="rect">
            <a:avLst/>
          </a:prstGeom>
          <a:solidFill>
            <a:srgbClr val="46536B"/>
          </a:solidFill>
          <a:ln/>
        </p:spPr>
        <p:txBody>
          <a:bodyPr/>
          <a:lstStyle/>
          <a:p>
            <a:endParaRPr lang="en-US"/>
          </a:p>
        </p:txBody>
      </p:sp>
      <p:sp>
        <p:nvSpPr>
          <p:cNvPr id="11" name="Text 9"/>
          <p:cNvSpPr txBox="1"/>
          <p:nvPr/>
        </p:nvSpPr>
        <p:spPr>
          <a:xfrm>
            <a:off x="1490472" y="3822192"/>
            <a:ext cx="438912" cy="237744"/>
          </a:xfrm>
          <a:prstGeom prst="rect">
            <a:avLst/>
          </a:prstGeom>
          <a:noFill/>
          <a:ln/>
        </p:spPr>
        <p:txBody>
          <a:bodyPr wrap="square" lIns="0" tIns="0" rIns="0" bIns="0" rtlCol="0" anchor="ctr"/>
          <a:lstStyle/>
          <a:p>
            <a:pPr marL="0" indent="0" algn="ctr">
              <a:buNone/>
            </a:pPr>
            <a:r>
              <a:rPr lang="en-US" sz="1100" dirty="0">
                <a:solidFill>
                  <a:srgbClr val="8B95A8"/>
                </a:solidFill>
                <a:latin typeface="Consolas" pitchFamily="34" charset="0"/>
                <a:ea typeface="Consolas" pitchFamily="34" charset="-122"/>
                <a:cs typeface="Consolas" pitchFamily="34" charset="-120"/>
              </a:rPr>
              <a:t>1</a:t>
            </a:r>
            <a:endParaRPr lang="en-US" sz="1100" dirty="0"/>
          </a:p>
        </p:txBody>
      </p:sp>
      <p:sp>
        <p:nvSpPr>
          <p:cNvPr id="12" name="Shape 10"/>
          <p:cNvSpPr/>
          <p:nvPr/>
        </p:nvSpPr>
        <p:spPr>
          <a:xfrm>
            <a:off x="2048256" y="3602736"/>
            <a:ext cx="347472" cy="201168"/>
          </a:xfrm>
          <a:prstGeom prst="rect">
            <a:avLst/>
          </a:prstGeom>
          <a:solidFill>
            <a:srgbClr val="46536B"/>
          </a:solidFill>
          <a:ln/>
        </p:spPr>
        <p:txBody>
          <a:bodyPr/>
          <a:lstStyle/>
          <a:p>
            <a:endParaRPr lang="en-US"/>
          </a:p>
        </p:txBody>
      </p:sp>
      <p:sp>
        <p:nvSpPr>
          <p:cNvPr id="13" name="Text 11"/>
          <p:cNvSpPr txBox="1"/>
          <p:nvPr/>
        </p:nvSpPr>
        <p:spPr>
          <a:xfrm>
            <a:off x="2002536" y="3822192"/>
            <a:ext cx="438912" cy="237744"/>
          </a:xfrm>
          <a:prstGeom prst="rect">
            <a:avLst/>
          </a:prstGeom>
          <a:noFill/>
          <a:ln/>
        </p:spPr>
        <p:txBody>
          <a:bodyPr wrap="square" lIns="0" tIns="0" rIns="0" bIns="0" rtlCol="0" anchor="ctr"/>
          <a:lstStyle/>
          <a:p>
            <a:pPr marL="0" indent="0" algn="ctr">
              <a:buNone/>
            </a:pPr>
            <a:r>
              <a:rPr lang="en-US" sz="1100" dirty="0">
                <a:solidFill>
                  <a:srgbClr val="8B95A8"/>
                </a:solidFill>
                <a:latin typeface="Consolas" pitchFamily="34" charset="0"/>
                <a:ea typeface="Consolas" pitchFamily="34" charset="-122"/>
                <a:cs typeface="Consolas" pitchFamily="34" charset="-120"/>
              </a:rPr>
              <a:t>2</a:t>
            </a:r>
            <a:endParaRPr lang="en-US" sz="1100" dirty="0"/>
          </a:p>
        </p:txBody>
      </p:sp>
      <p:sp>
        <p:nvSpPr>
          <p:cNvPr id="14" name="Shape 12"/>
          <p:cNvSpPr/>
          <p:nvPr/>
        </p:nvSpPr>
        <p:spPr>
          <a:xfrm>
            <a:off x="2560320" y="3035808"/>
            <a:ext cx="347472" cy="768096"/>
          </a:xfrm>
          <a:prstGeom prst="rect">
            <a:avLst/>
          </a:prstGeom>
          <a:solidFill>
            <a:srgbClr val="E9AC53"/>
          </a:solidFill>
          <a:ln/>
        </p:spPr>
        <p:txBody>
          <a:bodyPr/>
          <a:lstStyle/>
          <a:p>
            <a:endParaRPr lang="en-US"/>
          </a:p>
        </p:txBody>
      </p:sp>
      <p:sp>
        <p:nvSpPr>
          <p:cNvPr id="15" name="Text 13"/>
          <p:cNvSpPr txBox="1"/>
          <p:nvPr/>
        </p:nvSpPr>
        <p:spPr>
          <a:xfrm>
            <a:off x="2514600" y="3822192"/>
            <a:ext cx="438912" cy="237744"/>
          </a:xfrm>
          <a:prstGeom prst="rect">
            <a:avLst/>
          </a:prstGeom>
          <a:noFill/>
          <a:ln/>
        </p:spPr>
        <p:txBody>
          <a:bodyPr wrap="square" lIns="0" tIns="0" rIns="0" bIns="0" rtlCol="0" anchor="ctr"/>
          <a:lstStyle/>
          <a:p>
            <a:pPr marL="0" indent="0" algn="ctr">
              <a:buNone/>
            </a:pPr>
            <a:r>
              <a:rPr lang="en-US" sz="1100" dirty="0">
                <a:solidFill>
                  <a:srgbClr val="E9AC53"/>
                </a:solidFill>
                <a:latin typeface="Consolas" pitchFamily="34" charset="0"/>
                <a:ea typeface="Consolas" pitchFamily="34" charset="-122"/>
                <a:cs typeface="Consolas" pitchFamily="34" charset="-120"/>
              </a:rPr>
              <a:t>3</a:t>
            </a:r>
            <a:endParaRPr lang="en-US" sz="1100" dirty="0"/>
          </a:p>
        </p:txBody>
      </p:sp>
      <p:sp>
        <p:nvSpPr>
          <p:cNvPr id="16" name="Shape 14"/>
          <p:cNvSpPr/>
          <p:nvPr/>
        </p:nvSpPr>
        <p:spPr>
          <a:xfrm>
            <a:off x="3072384" y="3666744"/>
            <a:ext cx="347472" cy="137160"/>
          </a:xfrm>
          <a:prstGeom prst="rect">
            <a:avLst/>
          </a:prstGeom>
          <a:solidFill>
            <a:srgbClr val="46536B"/>
          </a:solidFill>
          <a:ln/>
        </p:spPr>
        <p:txBody>
          <a:bodyPr/>
          <a:lstStyle/>
          <a:p>
            <a:endParaRPr lang="en-US"/>
          </a:p>
        </p:txBody>
      </p:sp>
      <p:sp>
        <p:nvSpPr>
          <p:cNvPr id="17" name="Text 15"/>
          <p:cNvSpPr txBox="1"/>
          <p:nvPr/>
        </p:nvSpPr>
        <p:spPr>
          <a:xfrm>
            <a:off x="3026664" y="3822192"/>
            <a:ext cx="438912" cy="237744"/>
          </a:xfrm>
          <a:prstGeom prst="rect">
            <a:avLst/>
          </a:prstGeom>
          <a:noFill/>
          <a:ln/>
        </p:spPr>
        <p:txBody>
          <a:bodyPr wrap="square" lIns="0" tIns="0" rIns="0" bIns="0" rtlCol="0" anchor="ctr"/>
          <a:lstStyle/>
          <a:p>
            <a:pPr marL="0" indent="0" algn="ctr">
              <a:buNone/>
            </a:pPr>
            <a:r>
              <a:rPr lang="en-US" sz="1100" dirty="0">
                <a:solidFill>
                  <a:srgbClr val="8B95A8"/>
                </a:solidFill>
                <a:latin typeface="Consolas" pitchFamily="34" charset="0"/>
                <a:ea typeface="Consolas" pitchFamily="34" charset="-122"/>
                <a:cs typeface="Consolas" pitchFamily="34" charset="-120"/>
              </a:rPr>
              <a:t>4</a:t>
            </a:r>
            <a:endParaRPr lang="en-US" sz="1100" dirty="0"/>
          </a:p>
        </p:txBody>
      </p:sp>
      <p:sp>
        <p:nvSpPr>
          <p:cNvPr id="18" name="Shape 16"/>
          <p:cNvSpPr/>
          <p:nvPr/>
        </p:nvSpPr>
        <p:spPr>
          <a:xfrm>
            <a:off x="3584448" y="3657600"/>
            <a:ext cx="347472" cy="146304"/>
          </a:xfrm>
          <a:prstGeom prst="rect">
            <a:avLst/>
          </a:prstGeom>
          <a:solidFill>
            <a:srgbClr val="46536B"/>
          </a:solidFill>
          <a:ln/>
        </p:spPr>
        <p:txBody>
          <a:bodyPr/>
          <a:lstStyle/>
          <a:p>
            <a:endParaRPr lang="en-US"/>
          </a:p>
        </p:txBody>
      </p:sp>
      <p:sp>
        <p:nvSpPr>
          <p:cNvPr id="19" name="Text 17"/>
          <p:cNvSpPr txBox="1"/>
          <p:nvPr/>
        </p:nvSpPr>
        <p:spPr>
          <a:xfrm>
            <a:off x="3538728" y="3822192"/>
            <a:ext cx="438912" cy="237744"/>
          </a:xfrm>
          <a:prstGeom prst="rect">
            <a:avLst/>
          </a:prstGeom>
          <a:noFill/>
          <a:ln/>
        </p:spPr>
        <p:txBody>
          <a:bodyPr wrap="square" lIns="0" tIns="0" rIns="0" bIns="0" rtlCol="0" anchor="ctr"/>
          <a:lstStyle/>
          <a:p>
            <a:pPr marL="0" indent="0" algn="ctr">
              <a:buNone/>
            </a:pPr>
            <a:r>
              <a:rPr lang="en-US" sz="1100" dirty="0">
                <a:solidFill>
                  <a:srgbClr val="8B95A8"/>
                </a:solidFill>
                <a:latin typeface="Consolas" pitchFamily="34" charset="0"/>
                <a:ea typeface="Consolas" pitchFamily="34" charset="-122"/>
                <a:cs typeface="Consolas" pitchFamily="34" charset="-120"/>
              </a:rPr>
              <a:t>5</a:t>
            </a:r>
            <a:endParaRPr lang="en-US" sz="1100" dirty="0"/>
          </a:p>
        </p:txBody>
      </p:sp>
      <p:sp>
        <p:nvSpPr>
          <p:cNvPr id="20" name="Shape 18"/>
          <p:cNvSpPr/>
          <p:nvPr/>
        </p:nvSpPr>
        <p:spPr>
          <a:xfrm>
            <a:off x="4096512" y="3685032"/>
            <a:ext cx="347472" cy="118872"/>
          </a:xfrm>
          <a:prstGeom prst="rect">
            <a:avLst/>
          </a:prstGeom>
          <a:solidFill>
            <a:srgbClr val="46536B"/>
          </a:solidFill>
          <a:ln/>
        </p:spPr>
        <p:txBody>
          <a:bodyPr/>
          <a:lstStyle/>
          <a:p>
            <a:endParaRPr lang="en-US"/>
          </a:p>
        </p:txBody>
      </p:sp>
      <p:sp>
        <p:nvSpPr>
          <p:cNvPr id="21" name="Text 19"/>
          <p:cNvSpPr txBox="1"/>
          <p:nvPr/>
        </p:nvSpPr>
        <p:spPr>
          <a:xfrm>
            <a:off x="4050792" y="3822192"/>
            <a:ext cx="438912" cy="237744"/>
          </a:xfrm>
          <a:prstGeom prst="rect">
            <a:avLst/>
          </a:prstGeom>
          <a:noFill/>
          <a:ln/>
        </p:spPr>
        <p:txBody>
          <a:bodyPr wrap="square" lIns="0" tIns="0" rIns="0" bIns="0" rtlCol="0" anchor="ctr"/>
          <a:lstStyle/>
          <a:p>
            <a:pPr marL="0" indent="0" algn="ctr">
              <a:buNone/>
            </a:pPr>
            <a:r>
              <a:rPr lang="en-US" sz="1100" dirty="0">
                <a:solidFill>
                  <a:srgbClr val="8B95A8"/>
                </a:solidFill>
                <a:latin typeface="Consolas" pitchFamily="34" charset="0"/>
                <a:ea typeface="Consolas" pitchFamily="34" charset="-122"/>
                <a:cs typeface="Consolas" pitchFamily="34" charset="-120"/>
              </a:rPr>
              <a:t>6</a:t>
            </a:r>
            <a:endParaRPr lang="en-US" sz="1100" dirty="0"/>
          </a:p>
        </p:txBody>
      </p:sp>
      <p:sp>
        <p:nvSpPr>
          <p:cNvPr id="22" name="Shape 20"/>
          <p:cNvSpPr/>
          <p:nvPr/>
        </p:nvSpPr>
        <p:spPr>
          <a:xfrm>
            <a:off x="4608576" y="3648456"/>
            <a:ext cx="347472" cy="155448"/>
          </a:xfrm>
          <a:prstGeom prst="rect">
            <a:avLst/>
          </a:prstGeom>
          <a:solidFill>
            <a:srgbClr val="46536B"/>
          </a:solidFill>
          <a:ln/>
        </p:spPr>
        <p:txBody>
          <a:bodyPr/>
          <a:lstStyle/>
          <a:p>
            <a:endParaRPr lang="en-US"/>
          </a:p>
        </p:txBody>
      </p:sp>
      <p:sp>
        <p:nvSpPr>
          <p:cNvPr id="23" name="Text 21"/>
          <p:cNvSpPr txBox="1"/>
          <p:nvPr/>
        </p:nvSpPr>
        <p:spPr>
          <a:xfrm>
            <a:off x="4562856" y="3822192"/>
            <a:ext cx="438912" cy="237744"/>
          </a:xfrm>
          <a:prstGeom prst="rect">
            <a:avLst/>
          </a:prstGeom>
          <a:noFill/>
          <a:ln/>
        </p:spPr>
        <p:txBody>
          <a:bodyPr wrap="square" lIns="0" tIns="0" rIns="0" bIns="0" rtlCol="0" anchor="ctr"/>
          <a:lstStyle/>
          <a:p>
            <a:pPr marL="0" indent="0" algn="ctr">
              <a:buNone/>
            </a:pPr>
            <a:r>
              <a:rPr lang="en-US" sz="1100" dirty="0">
                <a:solidFill>
                  <a:srgbClr val="8B95A8"/>
                </a:solidFill>
                <a:latin typeface="Consolas" pitchFamily="34" charset="0"/>
                <a:ea typeface="Consolas" pitchFamily="34" charset="-122"/>
                <a:cs typeface="Consolas" pitchFamily="34" charset="-120"/>
              </a:rPr>
              <a:t>7</a:t>
            </a:r>
            <a:endParaRPr lang="en-US" sz="1100" dirty="0"/>
          </a:p>
        </p:txBody>
      </p:sp>
      <p:sp>
        <p:nvSpPr>
          <p:cNvPr id="24" name="Shape 22"/>
          <p:cNvSpPr/>
          <p:nvPr/>
        </p:nvSpPr>
        <p:spPr>
          <a:xfrm>
            <a:off x="5120640" y="3685032"/>
            <a:ext cx="347472" cy="118872"/>
          </a:xfrm>
          <a:prstGeom prst="rect">
            <a:avLst/>
          </a:prstGeom>
          <a:solidFill>
            <a:srgbClr val="46536B"/>
          </a:solidFill>
          <a:ln/>
        </p:spPr>
        <p:txBody>
          <a:bodyPr/>
          <a:lstStyle/>
          <a:p>
            <a:endParaRPr lang="en-US"/>
          </a:p>
        </p:txBody>
      </p:sp>
      <p:sp>
        <p:nvSpPr>
          <p:cNvPr id="25" name="Text 23"/>
          <p:cNvSpPr txBox="1"/>
          <p:nvPr/>
        </p:nvSpPr>
        <p:spPr>
          <a:xfrm>
            <a:off x="5074920" y="3822192"/>
            <a:ext cx="438912" cy="237744"/>
          </a:xfrm>
          <a:prstGeom prst="rect">
            <a:avLst/>
          </a:prstGeom>
          <a:noFill/>
          <a:ln/>
        </p:spPr>
        <p:txBody>
          <a:bodyPr wrap="square" lIns="0" tIns="0" rIns="0" bIns="0" rtlCol="0" anchor="ctr"/>
          <a:lstStyle/>
          <a:p>
            <a:pPr marL="0" indent="0" algn="ctr">
              <a:buNone/>
            </a:pPr>
            <a:r>
              <a:rPr lang="en-US" sz="1100" dirty="0">
                <a:solidFill>
                  <a:srgbClr val="8B95A8"/>
                </a:solidFill>
                <a:latin typeface="Consolas" pitchFamily="34" charset="0"/>
                <a:ea typeface="Consolas" pitchFamily="34" charset="-122"/>
                <a:cs typeface="Consolas" pitchFamily="34" charset="-120"/>
              </a:rPr>
              <a:t>8</a:t>
            </a:r>
            <a:endParaRPr lang="en-US" sz="1100" dirty="0"/>
          </a:p>
        </p:txBody>
      </p:sp>
      <p:sp>
        <p:nvSpPr>
          <p:cNvPr id="26" name="Shape 24"/>
          <p:cNvSpPr/>
          <p:nvPr/>
        </p:nvSpPr>
        <p:spPr>
          <a:xfrm>
            <a:off x="5632704" y="3685032"/>
            <a:ext cx="347472" cy="118872"/>
          </a:xfrm>
          <a:prstGeom prst="rect">
            <a:avLst/>
          </a:prstGeom>
          <a:solidFill>
            <a:srgbClr val="46536B"/>
          </a:solidFill>
          <a:ln/>
        </p:spPr>
        <p:txBody>
          <a:bodyPr/>
          <a:lstStyle/>
          <a:p>
            <a:endParaRPr lang="en-US"/>
          </a:p>
        </p:txBody>
      </p:sp>
      <p:sp>
        <p:nvSpPr>
          <p:cNvPr id="27" name="Text 25"/>
          <p:cNvSpPr txBox="1"/>
          <p:nvPr/>
        </p:nvSpPr>
        <p:spPr>
          <a:xfrm>
            <a:off x="5586984" y="3822192"/>
            <a:ext cx="438912" cy="237744"/>
          </a:xfrm>
          <a:prstGeom prst="rect">
            <a:avLst/>
          </a:prstGeom>
          <a:noFill/>
          <a:ln/>
        </p:spPr>
        <p:txBody>
          <a:bodyPr wrap="square" lIns="0" tIns="0" rIns="0" bIns="0" rtlCol="0" anchor="ctr"/>
          <a:lstStyle/>
          <a:p>
            <a:pPr marL="0" indent="0" algn="ctr">
              <a:buNone/>
            </a:pPr>
            <a:r>
              <a:rPr lang="en-US" sz="1100" dirty="0">
                <a:solidFill>
                  <a:srgbClr val="8B95A8"/>
                </a:solidFill>
                <a:latin typeface="Consolas" pitchFamily="34" charset="0"/>
                <a:ea typeface="Consolas" pitchFamily="34" charset="-122"/>
                <a:cs typeface="Consolas" pitchFamily="34" charset="-120"/>
              </a:rPr>
              <a:t>9</a:t>
            </a:r>
            <a:endParaRPr lang="en-US" sz="1100" dirty="0"/>
          </a:p>
        </p:txBody>
      </p:sp>
      <p:sp>
        <p:nvSpPr>
          <p:cNvPr id="28" name="Text 26"/>
          <p:cNvSpPr txBox="1"/>
          <p:nvPr/>
        </p:nvSpPr>
        <p:spPr>
          <a:xfrm>
            <a:off x="1005840" y="2880360"/>
            <a:ext cx="5029200" cy="274320"/>
          </a:xfrm>
          <a:prstGeom prst="rect">
            <a:avLst/>
          </a:prstGeom>
          <a:noFill/>
          <a:ln/>
        </p:spPr>
        <p:txBody>
          <a:bodyPr wrap="square" lIns="0" tIns="0" rIns="0" bIns="0" rtlCol="0" anchor="ctr"/>
          <a:lstStyle/>
          <a:p>
            <a:pPr marL="0" indent="0">
              <a:buNone/>
            </a:pPr>
            <a:r>
              <a:rPr lang="en-US" sz="1500" dirty="0">
                <a:solidFill>
                  <a:srgbClr val="8B95A8"/>
                </a:solidFill>
                <a:latin typeface="Cambria Math" pitchFamily="34" charset="0"/>
                <a:ea typeface="Cambria Math" pitchFamily="34" charset="-122"/>
                <a:cs typeface="Cambria Math" pitchFamily="34" charset="-120"/>
              </a:rPr>
              <a:t>a = (a₀, a₁, …, a₉)</a:t>
            </a:r>
            <a:endParaRPr lang="en-US" sz="1500" dirty="0"/>
          </a:p>
        </p:txBody>
      </p:sp>
      <p:sp>
        <p:nvSpPr>
          <p:cNvPr id="29" name="Shape 27"/>
          <p:cNvSpPr/>
          <p:nvPr/>
        </p:nvSpPr>
        <p:spPr>
          <a:xfrm>
            <a:off x="6720840" y="1463040"/>
            <a:ext cx="4809744" cy="2788920"/>
          </a:xfrm>
          <a:prstGeom prst="roundRect">
            <a:avLst>
              <a:gd name="adj" fmla="val 2623"/>
            </a:avLst>
          </a:prstGeom>
          <a:solidFill>
            <a:srgbClr val="E7EEF8"/>
          </a:solidFill>
          <a:ln w="12700">
            <a:solidFill>
              <a:srgbClr val="E7EEF8"/>
            </a:solidFill>
            <a:prstDash val="solid"/>
          </a:ln>
        </p:spPr>
        <p:txBody>
          <a:bodyPr/>
          <a:lstStyle/>
          <a:p>
            <a:endParaRPr lang="en-US"/>
          </a:p>
        </p:txBody>
      </p:sp>
      <p:sp>
        <p:nvSpPr>
          <p:cNvPr id="30" name="Text 28"/>
          <p:cNvSpPr txBox="1"/>
          <p:nvPr/>
        </p:nvSpPr>
        <p:spPr>
          <a:xfrm>
            <a:off x="6995160" y="1664208"/>
            <a:ext cx="4261104" cy="329184"/>
          </a:xfrm>
          <a:prstGeom prst="rect">
            <a:avLst/>
          </a:prstGeom>
          <a:noFill/>
          <a:ln/>
        </p:spPr>
        <p:txBody>
          <a:bodyPr wrap="square" lIns="0" tIns="0" rIns="0" bIns="0" rtlCol="0" anchor="ctr"/>
          <a:lstStyle/>
          <a:p>
            <a:pPr marL="0" indent="0">
              <a:buNone/>
            </a:pPr>
            <a:r>
              <a:rPr lang="en-US" sz="1650" b="1" dirty="0">
                <a:solidFill>
                  <a:srgbClr val="111722"/>
                </a:solidFill>
                <a:latin typeface="Cambria" pitchFamily="34" charset="0"/>
                <a:ea typeface="Cambria" pitchFamily="34" charset="-122"/>
                <a:cs typeface="Cambria" pitchFamily="34" charset="-120"/>
              </a:rPr>
              <a:t>And the right answer is numbers too</a:t>
            </a:r>
            <a:endParaRPr lang="en-US" sz="1650" dirty="0"/>
          </a:p>
        </p:txBody>
      </p:sp>
      <p:sp>
        <p:nvSpPr>
          <p:cNvPr id="31" name="Text 29"/>
          <p:cNvSpPr txBox="1"/>
          <p:nvPr/>
        </p:nvSpPr>
        <p:spPr>
          <a:xfrm>
            <a:off x="6995160" y="2103120"/>
            <a:ext cx="4261104" cy="914400"/>
          </a:xfrm>
          <a:prstGeom prst="rect">
            <a:avLst/>
          </a:prstGeom>
          <a:noFill/>
          <a:ln/>
        </p:spPr>
        <p:txBody>
          <a:bodyPr wrap="square" lIns="0" tIns="0" rIns="0" bIns="0" rtlCol="0" anchor="ctr"/>
          <a:lstStyle/>
          <a:p>
            <a:pPr marL="0" indent="0">
              <a:lnSpc>
                <a:spcPts val="1700"/>
              </a:lnSpc>
              <a:buNone/>
            </a:pPr>
            <a:r>
              <a:rPr lang="en-US" sz="1250" dirty="0">
                <a:solidFill>
                  <a:srgbClr val="5B6474"/>
                </a:solidFill>
                <a:latin typeface="Calibri" pitchFamily="34" charset="0"/>
                <a:ea typeface="Calibri" pitchFamily="34" charset="-122"/>
                <a:cs typeface="Calibri" pitchFamily="34" charset="-120"/>
              </a:rPr>
              <a:t>A human already labelled this image as a three. We write that label the same way — call it y — with a 1 in the slot for three and 0 everywhere else.</a:t>
            </a:r>
            <a:endParaRPr lang="en-US" sz="1250" dirty="0"/>
          </a:p>
        </p:txBody>
      </p:sp>
      <p:sp>
        <p:nvSpPr>
          <p:cNvPr id="32" name="Shape 30"/>
          <p:cNvSpPr/>
          <p:nvPr/>
        </p:nvSpPr>
        <p:spPr>
          <a:xfrm>
            <a:off x="6995160" y="3063240"/>
            <a:ext cx="4261104" cy="548640"/>
          </a:xfrm>
          <a:prstGeom prst="roundRect">
            <a:avLst>
              <a:gd name="adj" fmla="val 10000"/>
            </a:avLst>
          </a:prstGeom>
          <a:solidFill>
            <a:srgbClr val="FFFFFF"/>
          </a:solidFill>
          <a:ln w="12700">
            <a:solidFill>
              <a:srgbClr val="C9D4E6"/>
            </a:solidFill>
            <a:prstDash val="solid"/>
          </a:ln>
        </p:spPr>
        <p:txBody>
          <a:bodyPr/>
          <a:lstStyle/>
          <a:p>
            <a:endParaRPr lang="en-US"/>
          </a:p>
        </p:txBody>
      </p:sp>
      <p:sp>
        <p:nvSpPr>
          <p:cNvPr id="33" name="Text 31"/>
          <p:cNvSpPr txBox="1"/>
          <p:nvPr/>
        </p:nvSpPr>
        <p:spPr>
          <a:xfrm>
            <a:off x="7132320" y="3063240"/>
            <a:ext cx="3986784" cy="548640"/>
          </a:xfrm>
          <a:prstGeom prst="rect">
            <a:avLst/>
          </a:prstGeom>
          <a:noFill/>
          <a:ln/>
        </p:spPr>
        <p:txBody>
          <a:bodyPr wrap="square" lIns="0" tIns="0" rIns="0" bIns="0" rtlCol="0" anchor="ctr"/>
          <a:lstStyle/>
          <a:p>
            <a:pPr marL="0" indent="0" algn="ctr">
              <a:buNone/>
            </a:pPr>
            <a:r>
              <a:rPr lang="en-US" sz="1600" dirty="0">
                <a:solidFill>
                  <a:srgbClr val="111722"/>
                </a:solidFill>
                <a:latin typeface="Cambria Math" pitchFamily="34" charset="0"/>
                <a:ea typeface="Cambria Math" pitchFamily="34" charset="-122"/>
                <a:cs typeface="Cambria Math" pitchFamily="34" charset="-120"/>
              </a:rPr>
              <a:t>y = (0,0,0,1,0,0,0,0,0,0)</a:t>
            </a:r>
            <a:endParaRPr lang="en-US" sz="1600" dirty="0"/>
          </a:p>
        </p:txBody>
      </p:sp>
      <p:sp>
        <p:nvSpPr>
          <p:cNvPr id="34" name="Text 32"/>
          <p:cNvSpPr txBox="1"/>
          <p:nvPr/>
        </p:nvSpPr>
        <p:spPr>
          <a:xfrm>
            <a:off x="6995160" y="3703320"/>
            <a:ext cx="4261104" cy="457200"/>
          </a:xfrm>
          <a:prstGeom prst="rect">
            <a:avLst/>
          </a:prstGeom>
          <a:noFill/>
          <a:ln/>
        </p:spPr>
        <p:txBody>
          <a:bodyPr wrap="square" lIns="0" tIns="0" rIns="0" bIns="0" rtlCol="0" anchor="ctr"/>
          <a:lstStyle/>
          <a:p>
            <a:pPr marL="0" indent="0">
              <a:lnSpc>
                <a:spcPts val="1600"/>
              </a:lnSpc>
              <a:buNone/>
            </a:pPr>
            <a:r>
              <a:rPr lang="en-US" sz="1200" i="1" dirty="0">
                <a:solidFill>
                  <a:srgbClr val="5B6474"/>
                </a:solidFill>
                <a:latin typeface="Calibri" pitchFamily="34" charset="0"/>
                <a:ea typeface="Calibri" pitchFamily="34" charset="-122"/>
                <a:cs typeface="Calibri" pitchFamily="34" charset="-120"/>
              </a:rPr>
              <a:t>Two lists of ten numbers, side by side. Everything from here follows from comparing them.</a:t>
            </a:r>
            <a:endParaRPr lang="en-US" sz="1200" dirty="0"/>
          </a:p>
        </p:txBody>
      </p:sp>
      <p:sp>
        <p:nvSpPr>
          <p:cNvPr id="35" name="Shape 33"/>
          <p:cNvSpPr/>
          <p:nvPr/>
        </p:nvSpPr>
        <p:spPr>
          <a:xfrm>
            <a:off x="640080" y="4480560"/>
            <a:ext cx="10911535" cy="1280160"/>
          </a:xfrm>
          <a:prstGeom prst="roundRect">
            <a:avLst>
              <a:gd name="adj" fmla="val 5714"/>
            </a:avLst>
          </a:prstGeom>
          <a:solidFill>
            <a:srgbClr val="111722"/>
          </a:solidFill>
          <a:ln w="12700">
            <a:solidFill>
              <a:srgbClr val="111722"/>
            </a:solidFill>
            <a:prstDash val="solid"/>
          </a:ln>
        </p:spPr>
        <p:txBody>
          <a:bodyPr/>
          <a:lstStyle/>
          <a:p>
            <a:endParaRPr lang="en-US"/>
          </a:p>
        </p:txBody>
      </p:sp>
      <p:sp>
        <p:nvSpPr>
          <p:cNvPr id="36" name="Text 34"/>
          <p:cNvSpPr txBox="1"/>
          <p:nvPr/>
        </p:nvSpPr>
        <p:spPr>
          <a:xfrm>
            <a:off x="1005840" y="4645152"/>
            <a:ext cx="10424160" cy="950976"/>
          </a:xfrm>
          <a:prstGeom prst="rect">
            <a:avLst/>
          </a:prstGeom>
          <a:noFill/>
          <a:ln/>
        </p:spPr>
        <p:txBody>
          <a:bodyPr wrap="square" lIns="0" tIns="0" rIns="0" bIns="0" rtlCol="0" anchor="ctr"/>
          <a:lstStyle/>
          <a:p>
            <a:pPr marL="0" indent="0">
              <a:lnSpc>
                <a:spcPts val="2000"/>
              </a:lnSpc>
              <a:buNone/>
            </a:pPr>
            <a:r>
              <a:rPr lang="en-US" sz="1500" dirty="0">
                <a:solidFill>
                  <a:srgbClr val="F2F4F8"/>
                </a:solidFill>
                <a:latin typeface="Cambria" pitchFamily="34" charset="0"/>
                <a:ea typeface="Cambria" pitchFamily="34" charset="-122"/>
                <a:cs typeface="Cambria" pitchFamily="34" charset="-120"/>
              </a:rPr>
              <a:t>Notice that a person is already in the room. Someone decided this image is a three, and that the ten categories are the right ten. No part of what follows can question either decision — and none of the mathematics will ever mention that they were decisions.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741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THE LOSS, COMPUTED</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11722"/>
                </a:solidFill>
                <a:latin typeface="Cambria" pitchFamily="34" charset="0"/>
                <a:ea typeface="Cambria" pitchFamily="34" charset="-122"/>
                <a:cs typeface="Cambria" pitchFamily="34" charset="-120"/>
              </a:rPr>
              <a:t>One image, one number — arithmetic first</a:t>
            </a:r>
            <a:endParaRPr lang="en-US" sz="2900" dirty="0"/>
          </a:p>
        </p:txBody>
      </p:sp>
      <p:sp>
        <p:nvSpPr>
          <p:cNvPr id="5" name="Shape 3"/>
          <p:cNvSpPr/>
          <p:nvPr/>
        </p:nvSpPr>
        <p:spPr>
          <a:xfrm>
            <a:off x="640080" y="1463040"/>
            <a:ext cx="1600200" cy="457200"/>
          </a:xfrm>
          <a:prstGeom prst="roundRect">
            <a:avLst>
              <a:gd name="adj" fmla="val 16000"/>
            </a:avLst>
          </a:prstGeom>
          <a:solidFill>
            <a:srgbClr val="111722"/>
          </a:solidFill>
          <a:ln w="12700">
            <a:solidFill>
              <a:srgbClr val="111722"/>
            </a:solidFill>
            <a:prstDash val="solid"/>
          </a:ln>
        </p:spPr>
        <p:txBody>
          <a:bodyPr/>
          <a:lstStyle/>
          <a:p>
            <a:endParaRPr lang="en-US"/>
          </a:p>
        </p:txBody>
      </p:sp>
      <p:sp>
        <p:nvSpPr>
          <p:cNvPr id="6" name="Text 4"/>
          <p:cNvSpPr txBox="1"/>
          <p:nvPr/>
        </p:nvSpPr>
        <p:spPr>
          <a:xfrm>
            <a:off x="768096" y="1463040"/>
            <a:ext cx="1380744" cy="457200"/>
          </a:xfrm>
          <a:prstGeom prst="rect">
            <a:avLst/>
          </a:prstGeom>
          <a:noFill/>
          <a:ln/>
        </p:spPr>
        <p:txBody>
          <a:bodyPr wrap="square" lIns="0" tIns="0" rIns="0" bIns="0" rtlCol="0" anchor="ctr"/>
          <a:lstStyle/>
          <a:p>
            <a:pPr marL="0" indent="0">
              <a:buNone/>
            </a:pPr>
            <a:r>
              <a:rPr lang="en-US" sz="1350" b="1" dirty="0">
                <a:solidFill>
                  <a:srgbClr val="E9AC53"/>
                </a:solidFill>
                <a:latin typeface="Cambria Math" pitchFamily="34" charset="0"/>
                <a:ea typeface="Cambria Math" pitchFamily="34" charset="-122"/>
                <a:cs typeface="Cambria Math" pitchFamily="34" charset="-120"/>
              </a:rPr>
              <a:t>digit j</a:t>
            </a:r>
            <a:endParaRPr lang="en-US" sz="1350" dirty="0"/>
          </a:p>
        </p:txBody>
      </p:sp>
      <p:sp>
        <p:nvSpPr>
          <p:cNvPr id="7" name="Shape 5"/>
          <p:cNvSpPr/>
          <p:nvPr/>
        </p:nvSpPr>
        <p:spPr>
          <a:xfrm>
            <a:off x="2350008" y="1463040"/>
            <a:ext cx="865297" cy="457200"/>
          </a:xfrm>
          <a:prstGeom prst="roundRect">
            <a:avLst>
              <a:gd name="adj" fmla="val 16000"/>
            </a:avLst>
          </a:prstGeom>
          <a:solidFill>
            <a:srgbClr val="111722"/>
          </a:solidFill>
          <a:ln w="12700">
            <a:solidFill>
              <a:srgbClr val="111722"/>
            </a:solidFill>
            <a:prstDash val="solid"/>
          </a:ln>
        </p:spPr>
        <p:txBody>
          <a:bodyPr/>
          <a:lstStyle/>
          <a:p>
            <a:endParaRPr lang="en-US"/>
          </a:p>
        </p:txBody>
      </p:sp>
      <p:sp>
        <p:nvSpPr>
          <p:cNvPr id="8" name="Text 6"/>
          <p:cNvSpPr txBox="1"/>
          <p:nvPr/>
        </p:nvSpPr>
        <p:spPr>
          <a:xfrm>
            <a:off x="2350008" y="1463040"/>
            <a:ext cx="865297" cy="457200"/>
          </a:xfrm>
          <a:prstGeom prst="rect">
            <a:avLst/>
          </a:prstGeom>
          <a:noFill/>
          <a:ln/>
        </p:spPr>
        <p:txBody>
          <a:bodyPr wrap="square" lIns="0" tIns="0" rIns="0" bIns="0" rtlCol="0" anchor="ctr"/>
          <a:lstStyle/>
          <a:p>
            <a:pPr marL="0" indent="0" algn="ctr">
              <a:buNone/>
            </a:pPr>
            <a:r>
              <a:rPr lang="en-US" sz="1200" b="1" dirty="0">
                <a:solidFill>
                  <a:srgbClr val="F2F4F8"/>
                </a:solidFill>
                <a:latin typeface="Consolas" pitchFamily="34" charset="0"/>
                <a:ea typeface="Consolas" pitchFamily="34" charset="-122"/>
                <a:cs typeface="Consolas" pitchFamily="34" charset="-120"/>
              </a:rPr>
              <a:t>0</a:t>
            </a:r>
            <a:endParaRPr lang="en-US" sz="1200" dirty="0"/>
          </a:p>
        </p:txBody>
      </p:sp>
      <p:sp>
        <p:nvSpPr>
          <p:cNvPr id="9" name="Shape 7"/>
          <p:cNvSpPr/>
          <p:nvPr/>
        </p:nvSpPr>
        <p:spPr>
          <a:xfrm>
            <a:off x="3270169" y="1463040"/>
            <a:ext cx="865297" cy="457200"/>
          </a:xfrm>
          <a:prstGeom prst="roundRect">
            <a:avLst>
              <a:gd name="adj" fmla="val 16000"/>
            </a:avLst>
          </a:prstGeom>
          <a:solidFill>
            <a:srgbClr val="111722"/>
          </a:solidFill>
          <a:ln w="12700">
            <a:solidFill>
              <a:srgbClr val="111722"/>
            </a:solidFill>
            <a:prstDash val="solid"/>
          </a:ln>
        </p:spPr>
        <p:txBody>
          <a:bodyPr/>
          <a:lstStyle/>
          <a:p>
            <a:endParaRPr lang="en-US"/>
          </a:p>
        </p:txBody>
      </p:sp>
      <p:sp>
        <p:nvSpPr>
          <p:cNvPr id="10" name="Text 8"/>
          <p:cNvSpPr txBox="1"/>
          <p:nvPr/>
        </p:nvSpPr>
        <p:spPr>
          <a:xfrm>
            <a:off x="3270169" y="1463040"/>
            <a:ext cx="865297" cy="457200"/>
          </a:xfrm>
          <a:prstGeom prst="rect">
            <a:avLst/>
          </a:prstGeom>
          <a:noFill/>
          <a:ln/>
        </p:spPr>
        <p:txBody>
          <a:bodyPr wrap="square" lIns="0" tIns="0" rIns="0" bIns="0" rtlCol="0" anchor="ctr"/>
          <a:lstStyle/>
          <a:p>
            <a:pPr marL="0" indent="0" algn="ctr">
              <a:buNone/>
            </a:pPr>
            <a:r>
              <a:rPr lang="en-US" sz="1200" b="1" dirty="0">
                <a:solidFill>
                  <a:srgbClr val="F2F4F8"/>
                </a:solidFill>
                <a:latin typeface="Consolas" pitchFamily="34" charset="0"/>
                <a:ea typeface="Consolas" pitchFamily="34" charset="-122"/>
                <a:cs typeface="Consolas" pitchFamily="34" charset="-120"/>
              </a:rPr>
              <a:t>1</a:t>
            </a:r>
            <a:endParaRPr lang="en-US" sz="1200" dirty="0"/>
          </a:p>
        </p:txBody>
      </p:sp>
      <p:sp>
        <p:nvSpPr>
          <p:cNvPr id="11" name="Shape 9"/>
          <p:cNvSpPr/>
          <p:nvPr/>
        </p:nvSpPr>
        <p:spPr>
          <a:xfrm>
            <a:off x="4190329" y="1463040"/>
            <a:ext cx="865297" cy="457200"/>
          </a:xfrm>
          <a:prstGeom prst="roundRect">
            <a:avLst>
              <a:gd name="adj" fmla="val 16000"/>
            </a:avLst>
          </a:prstGeom>
          <a:solidFill>
            <a:srgbClr val="111722"/>
          </a:solidFill>
          <a:ln w="12700">
            <a:solidFill>
              <a:srgbClr val="111722"/>
            </a:solidFill>
            <a:prstDash val="solid"/>
          </a:ln>
        </p:spPr>
        <p:txBody>
          <a:bodyPr/>
          <a:lstStyle/>
          <a:p>
            <a:endParaRPr lang="en-US"/>
          </a:p>
        </p:txBody>
      </p:sp>
      <p:sp>
        <p:nvSpPr>
          <p:cNvPr id="12" name="Text 10"/>
          <p:cNvSpPr txBox="1"/>
          <p:nvPr/>
        </p:nvSpPr>
        <p:spPr>
          <a:xfrm>
            <a:off x="4190329" y="1463040"/>
            <a:ext cx="865297" cy="457200"/>
          </a:xfrm>
          <a:prstGeom prst="rect">
            <a:avLst/>
          </a:prstGeom>
          <a:noFill/>
          <a:ln/>
        </p:spPr>
        <p:txBody>
          <a:bodyPr wrap="square" lIns="0" tIns="0" rIns="0" bIns="0" rtlCol="0" anchor="ctr"/>
          <a:lstStyle/>
          <a:p>
            <a:pPr marL="0" indent="0" algn="ctr">
              <a:buNone/>
            </a:pPr>
            <a:r>
              <a:rPr lang="en-US" sz="1200" b="1" dirty="0">
                <a:solidFill>
                  <a:srgbClr val="F2F4F8"/>
                </a:solidFill>
                <a:latin typeface="Consolas" pitchFamily="34" charset="0"/>
                <a:ea typeface="Consolas" pitchFamily="34" charset="-122"/>
                <a:cs typeface="Consolas" pitchFamily="34" charset="-120"/>
              </a:rPr>
              <a:t>2</a:t>
            </a:r>
            <a:endParaRPr lang="en-US" sz="1200" dirty="0"/>
          </a:p>
        </p:txBody>
      </p:sp>
      <p:sp>
        <p:nvSpPr>
          <p:cNvPr id="13" name="Shape 11"/>
          <p:cNvSpPr/>
          <p:nvPr/>
        </p:nvSpPr>
        <p:spPr>
          <a:xfrm>
            <a:off x="5110490" y="1463040"/>
            <a:ext cx="865297" cy="457200"/>
          </a:xfrm>
          <a:prstGeom prst="roundRect">
            <a:avLst>
              <a:gd name="adj" fmla="val 16000"/>
            </a:avLst>
          </a:prstGeom>
          <a:solidFill>
            <a:srgbClr val="111722"/>
          </a:solidFill>
          <a:ln w="12700">
            <a:solidFill>
              <a:srgbClr val="111722"/>
            </a:solidFill>
            <a:prstDash val="solid"/>
          </a:ln>
        </p:spPr>
        <p:txBody>
          <a:bodyPr/>
          <a:lstStyle/>
          <a:p>
            <a:endParaRPr lang="en-US"/>
          </a:p>
        </p:txBody>
      </p:sp>
      <p:sp>
        <p:nvSpPr>
          <p:cNvPr id="14" name="Text 12"/>
          <p:cNvSpPr txBox="1"/>
          <p:nvPr/>
        </p:nvSpPr>
        <p:spPr>
          <a:xfrm>
            <a:off x="5110490" y="1463040"/>
            <a:ext cx="865297" cy="457200"/>
          </a:xfrm>
          <a:prstGeom prst="rect">
            <a:avLst/>
          </a:prstGeom>
          <a:noFill/>
          <a:ln/>
        </p:spPr>
        <p:txBody>
          <a:bodyPr wrap="square" lIns="0" tIns="0" rIns="0" bIns="0" rtlCol="0" anchor="ctr"/>
          <a:lstStyle/>
          <a:p>
            <a:pPr marL="0" indent="0" algn="ctr">
              <a:buNone/>
            </a:pPr>
            <a:r>
              <a:rPr lang="en-US" sz="1200" b="1" dirty="0">
                <a:solidFill>
                  <a:srgbClr val="F2F4F8"/>
                </a:solidFill>
                <a:latin typeface="Consolas" pitchFamily="34" charset="0"/>
                <a:ea typeface="Consolas" pitchFamily="34" charset="-122"/>
                <a:cs typeface="Consolas" pitchFamily="34" charset="-120"/>
              </a:rPr>
              <a:t>3</a:t>
            </a:r>
            <a:endParaRPr lang="en-US" sz="1200" dirty="0"/>
          </a:p>
        </p:txBody>
      </p:sp>
      <p:sp>
        <p:nvSpPr>
          <p:cNvPr id="15" name="Shape 13"/>
          <p:cNvSpPr/>
          <p:nvPr/>
        </p:nvSpPr>
        <p:spPr>
          <a:xfrm>
            <a:off x="6030651" y="1463040"/>
            <a:ext cx="865297" cy="457200"/>
          </a:xfrm>
          <a:prstGeom prst="roundRect">
            <a:avLst>
              <a:gd name="adj" fmla="val 16000"/>
            </a:avLst>
          </a:prstGeom>
          <a:solidFill>
            <a:srgbClr val="111722"/>
          </a:solidFill>
          <a:ln w="12700">
            <a:solidFill>
              <a:srgbClr val="111722"/>
            </a:solidFill>
            <a:prstDash val="solid"/>
          </a:ln>
        </p:spPr>
        <p:txBody>
          <a:bodyPr/>
          <a:lstStyle/>
          <a:p>
            <a:endParaRPr lang="en-US"/>
          </a:p>
        </p:txBody>
      </p:sp>
      <p:sp>
        <p:nvSpPr>
          <p:cNvPr id="16" name="Text 14"/>
          <p:cNvSpPr txBox="1"/>
          <p:nvPr/>
        </p:nvSpPr>
        <p:spPr>
          <a:xfrm>
            <a:off x="6030651" y="1463040"/>
            <a:ext cx="865297" cy="457200"/>
          </a:xfrm>
          <a:prstGeom prst="rect">
            <a:avLst/>
          </a:prstGeom>
          <a:noFill/>
          <a:ln/>
        </p:spPr>
        <p:txBody>
          <a:bodyPr wrap="square" lIns="0" tIns="0" rIns="0" bIns="0" rtlCol="0" anchor="ctr"/>
          <a:lstStyle/>
          <a:p>
            <a:pPr marL="0" indent="0" algn="ctr">
              <a:buNone/>
            </a:pPr>
            <a:r>
              <a:rPr lang="en-US" sz="1200" b="1" dirty="0">
                <a:solidFill>
                  <a:srgbClr val="F2F4F8"/>
                </a:solidFill>
                <a:latin typeface="Consolas" pitchFamily="34" charset="0"/>
                <a:ea typeface="Consolas" pitchFamily="34" charset="-122"/>
                <a:cs typeface="Consolas" pitchFamily="34" charset="-120"/>
              </a:rPr>
              <a:t>4</a:t>
            </a:r>
            <a:endParaRPr lang="en-US" sz="1200" dirty="0"/>
          </a:p>
        </p:txBody>
      </p:sp>
      <p:sp>
        <p:nvSpPr>
          <p:cNvPr id="17" name="Shape 15"/>
          <p:cNvSpPr/>
          <p:nvPr/>
        </p:nvSpPr>
        <p:spPr>
          <a:xfrm>
            <a:off x="6950812" y="1463040"/>
            <a:ext cx="865297" cy="457200"/>
          </a:xfrm>
          <a:prstGeom prst="roundRect">
            <a:avLst>
              <a:gd name="adj" fmla="val 16000"/>
            </a:avLst>
          </a:prstGeom>
          <a:solidFill>
            <a:srgbClr val="111722"/>
          </a:solidFill>
          <a:ln w="12700">
            <a:solidFill>
              <a:srgbClr val="111722"/>
            </a:solidFill>
            <a:prstDash val="solid"/>
          </a:ln>
        </p:spPr>
        <p:txBody>
          <a:bodyPr/>
          <a:lstStyle/>
          <a:p>
            <a:endParaRPr lang="en-US"/>
          </a:p>
        </p:txBody>
      </p:sp>
      <p:sp>
        <p:nvSpPr>
          <p:cNvPr id="18" name="Text 16"/>
          <p:cNvSpPr txBox="1"/>
          <p:nvPr/>
        </p:nvSpPr>
        <p:spPr>
          <a:xfrm>
            <a:off x="6950812" y="1463040"/>
            <a:ext cx="865297" cy="457200"/>
          </a:xfrm>
          <a:prstGeom prst="rect">
            <a:avLst/>
          </a:prstGeom>
          <a:noFill/>
          <a:ln/>
        </p:spPr>
        <p:txBody>
          <a:bodyPr wrap="square" lIns="0" tIns="0" rIns="0" bIns="0" rtlCol="0" anchor="ctr"/>
          <a:lstStyle/>
          <a:p>
            <a:pPr marL="0" indent="0" algn="ctr">
              <a:buNone/>
            </a:pPr>
            <a:r>
              <a:rPr lang="en-US" sz="1200" b="1" dirty="0">
                <a:solidFill>
                  <a:srgbClr val="F2F4F8"/>
                </a:solidFill>
                <a:latin typeface="Consolas" pitchFamily="34" charset="0"/>
                <a:ea typeface="Consolas" pitchFamily="34" charset="-122"/>
                <a:cs typeface="Consolas" pitchFamily="34" charset="-120"/>
              </a:rPr>
              <a:t>5</a:t>
            </a:r>
            <a:endParaRPr lang="en-US" sz="1200" dirty="0"/>
          </a:p>
        </p:txBody>
      </p:sp>
      <p:sp>
        <p:nvSpPr>
          <p:cNvPr id="19" name="Shape 17"/>
          <p:cNvSpPr/>
          <p:nvPr/>
        </p:nvSpPr>
        <p:spPr>
          <a:xfrm>
            <a:off x="7870972" y="1463040"/>
            <a:ext cx="865297" cy="457200"/>
          </a:xfrm>
          <a:prstGeom prst="roundRect">
            <a:avLst>
              <a:gd name="adj" fmla="val 16000"/>
            </a:avLst>
          </a:prstGeom>
          <a:solidFill>
            <a:srgbClr val="111722"/>
          </a:solidFill>
          <a:ln w="12700">
            <a:solidFill>
              <a:srgbClr val="111722"/>
            </a:solidFill>
            <a:prstDash val="solid"/>
          </a:ln>
        </p:spPr>
        <p:txBody>
          <a:bodyPr/>
          <a:lstStyle/>
          <a:p>
            <a:endParaRPr lang="en-US"/>
          </a:p>
        </p:txBody>
      </p:sp>
      <p:sp>
        <p:nvSpPr>
          <p:cNvPr id="20" name="Text 18"/>
          <p:cNvSpPr txBox="1"/>
          <p:nvPr/>
        </p:nvSpPr>
        <p:spPr>
          <a:xfrm>
            <a:off x="7870972" y="1463040"/>
            <a:ext cx="865297" cy="457200"/>
          </a:xfrm>
          <a:prstGeom prst="rect">
            <a:avLst/>
          </a:prstGeom>
          <a:noFill/>
          <a:ln/>
        </p:spPr>
        <p:txBody>
          <a:bodyPr wrap="square" lIns="0" tIns="0" rIns="0" bIns="0" rtlCol="0" anchor="ctr"/>
          <a:lstStyle/>
          <a:p>
            <a:pPr marL="0" indent="0" algn="ctr">
              <a:buNone/>
            </a:pPr>
            <a:r>
              <a:rPr lang="en-US" sz="1200" b="1" dirty="0">
                <a:solidFill>
                  <a:srgbClr val="F2F4F8"/>
                </a:solidFill>
                <a:latin typeface="Consolas" pitchFamily="34" charset="0"/>
                <a:ea typeface="Consolas" pitchFamily="34" charset="-122"/>
                <a:cs typeface="Consolas" pitchFamily="34" charset="-120"/>
              </a:rPr>
              <a:t>6</a:t>
            </a:r>
            <a:endParaRPr lang="en-US" sz="1200" dirty="0"/>
          </a:p>
        </p:txBody>
      </p:sp>
      <p:sp>
        <p:nvSpPr>
          <p:cNvPr id="21" name="Shape 19"/>
          <p:cNvSpPr/>
          <p:nvPr/>
        </p:nvSpPr>
        <p:spPr>
          <a:xfrm>
            <a:off x="8791133" y="1463040"/>
            <a:ext cx="865297" cy="457200"/>
          </a:xfrm>
          <a:prstGeom prst="roundRect">
            <a:avLst>
              <a:gd name="adj" fmla="val 16000"/>
            </a:avLst>
          </a:prstGeom>
          <a:solidFill>
            <a:srgbClr val="111722"/>
          </a:solidFill>
          <a:ln w="12700">
            <a:solidFill>
              <a:srgbClr val="111722"/>
            </a:solidFill>
            <a:prstDash val="solid"/>
          </a:ln>
        </p:spPr>
        <p:txBody>
          <a:bodyPr/>
          <a:lstStyle/>
          <a:p>
            <a:endParaRPr lang="en-US"/>
          </a:p>
        </p:txBody>
      </p:sp>
      <p:sp>
        <p:nvSpPr>
          <p:cNvPr id="22" name="Text 20"/>
          <p:cNvSpPr txBox="1"/>
          <p:nvPr/>
        </p:nvSpPr>
        <p:spPr>
          <a:xfrm>
            <a:off x="8791133" y="1463040"/>
            <a:ext cx="865297" cy="457200"/>
          </a:xfrm>
          <a:prstGeom prst="rect">
            <a:avLst/>
          </a:prstGeom>
          <a:noFill/>
          <a:ln/>
        </p:spPr>
        <p:txBody>
          <a:bodyPr wrap="square" lIns="0" tIns="0" rIns="0" bIns="0" rtlCol="0" anchor="ctr"/>
          <a:lstStyle/>
          <a:p>
            <a:pPr marL="0" indent="0" algn="ctr">
              <a:buNone/>
            </a:pPr>
            <a:r>
              <a:rPr lang="en-US" sz="1200" b="1" dirty="0">
                <a:solidFill>
                  <a:srgbClr val="F2F4F8"/>
                </a:solidFill>
                <a:latin typeface="Consolas" pitchFamily="34" charset="0"/>
                <a:ea typeface="Consolas" pitchFamily="34" charset="-122"/>
                <a:cs typeface="Consolas" pitchFamily="34" charset="-120"/>
              </a:rPr>
              <a:t>7</a:t>
            </a:r>
            <a:endParaRPr lang="en-US" sz="1200" dirty="0"/>
          </a:p>
        </p:txBody>
      </p:sp>
      <p:sp>
        <p:nvSpPr>
          <p:cNvPr id="23" name="Shape 21"/>
          <p:cNvSpPr/>
          <p:nvPr/>
        </p:nvSpPr>
        <p:spPr>
          <a:xfrm>
            <a:off x="9711294" y="1463040"/>
            <a:ext cx="865297" cy="457200"/>
          </a:xfrm>
          <a:prstGeom prst="roundRect">
            <a:avLst>
              <a:gd name="adj" fmla="val 16000"/>
            </a:avLst>
          </a:prstGeom>
          <a:solidFill>
            <a:srgbClr val="111722"/>
          </a:solidFill>
          <a:ln w="12700">
            <a:solidFill>
              <a:srgbClr val="111722"/>
            </a:solidFill>
            <a:prstDash val="solid"/>
          </a:ln>
        </p:spPr>
        <p:txBody>
          <a:bodyPr/>
          <a:lstStyle/>
          <a:p>
            <a:endParaRPr lang="en-US"/>
          </a:p>
        </p:txBody>
      </p:sp>
      <p:sp>
        <p:nvSpPr>
          <p:cNvPr id="24" name="Text 22"/>
          <p:cNvSpPr txBox="1"/>
          <p:nvPr/>
        </p:nvSpPr>
        <p:spPr>
          <a:xfrm>
            <a:off x="9711294" y="1463040"/>
            <a:ext cx="865297" cy="457200"/>
          </a:xfrm>
          <a:prstGeom prst="rect">
            <a:avLst/>
          </a:prstGeom>
          <a:noFill/>
          <a:ln/>
        </p:spPr>
        <p:txBody>
          <a:bodyPr wrap="square" lIns="0" tIns="0" rIns="0" bIns="0" rtlCol="0" anchor="ctr"/>
          <a:lstStyle/>
          <a:p>
            <a:pPr marL="0" indent="0" algn="ctr">
              <a:buNone/>
            </a:pPr>
            <a:r>
              <a:rPr lang="en-US" sz="1200" b="1" dirty="0">
                <a:solidFill>
                  <a:srgbClr val="F2F4F8"/>
                </a:solidFill>
                <a:latin typeface="Consolas" pitchFamily="34" charset="0"/>
                <a:ea typeface="Consolas" pitchFamily="34" charset="-122"/>
                <a:cs typeface="Consolas" pitchFamily="34" charset="-120"/>
              </a:rPr>
              <a:t>8</a:t>
            </a:r>
            <a:endParaRPr lang="en-US" sz="1200" dirty="0"/>
          </a:p>
        </p:txBody>
      </p:sp>
      <p:sp>
        <p:nvSpPr>
          <p:cNvPr id="25" name="Shape 23"/>
          <p:cNvSpPr/>
          <p:nvPr/>
        </p:nvSpPr>
        <p:spPr>
          <a:xfrm>
            <a:off x="10631454" y="1463040"/>
            <a:ext cx="865297" cy="457200"/>
          </a:xfrm>
          <a:prstGeom prst="roundRect">
            <a:avLst>
              <a:gd name="adj" fmla="val 16000"/>
            </a:avLst>
          </a:prstGeom>
          <a:solidFill>
            <a:srgbClr val="111722"/>
          </a:solidFill>
          <a:ln w="12700">
            <a:solidFill>
              <a:srgbClr val="111722"/>
            </a:solidFill>
            <a:prstDash val="solid"/>
          </a:ln>
        </p:spPr>
        <p:txBody>
          <a:bodyPr/>
          <a:lstStyle/>
          <a:p>
            <a:endParaRPr lang="en-US"/>
          </a:p>
        </p:txBody>
      </p:sp>
      <p:sp>
        <p:nvSpPr>
          <p:cNvPr id="26" name="Text 24"/>
          <p:cNvSpPr txBox="1"/>
          <p:nvPr/>
        </p:nvSpPr>
        <p:spPr>
          <a:xfrm>
            <a:off x="10631454" y="1463040"/>
            <a:ext cx="865297" cy="457200"/>
          </a:xfrm>
          <a:prstGeom prst="rect">
            <a:avLst/>
          </a:prstGeom>
          <a:noFill/>
          <a:ln/>
        </p:spPr>
        <p:txBody>
          <a:bodyPr wrap="square" lIns="0" tIns="0" rIns="0" bIns="0" rtlCol="0" anchor="ctr"/>
          <a:lstStyle/>
          <a:p>
            <a:pPr marL="0" indent="0" algn="ctr">
              <a:buNone/>
            </a:pPr>
            <a:r>
              <a:rPr lang="en-US" sz="1200" b="1" dirty="0">
                <a:solidFill>
                  <a:srgbClr val="F2F4F8"/>
                </a:solidFill>
                <a:latin typeface="Consolas" pitchFamily="34" charset="0"/>
                <a:ea typeface="Consolas" pitchFamily="34" charset="-122"/>
                <a:cs typeface="Consolas" pitchFamily="34" charset="-120"/>
              </a:rPr>
              <a:t>9</a:t>
            </a:r>
            <a:endParaRPr lang="en-US" sz="1200" dirty="0"/>
          </a:p>
        </p:txBody>
      </p:sp>
      <p:sp>
        <p:nvSpPr>
          <p:cNvPr id="27" name="Shape 25"/>
          <p:cNvSpPr/>
          <p:nvPr/>
        </p:nvSpPr>
        <p:spPr>
          <a:xfrm>
            <a:off x="640080" y="1975104"/>
            <a:ext cx="1600200" cy="457200"/>
          </a:xfrm>
          <a:prstGeom prst="roundRect">
            <a:avLst>
              <a:gd name="adj" fmla="val 16000"/>
            </a:avLst>
          </a:prstGeom>
          <a:solidFill>
            <a:srgbClr val="E7EEF8"/>
          </a:solidFill>
          <a:ln w="12700">
            <a:solidFill>
              <a:srgbClr val="E7EEF8"/>
            </a:solidFill>
            <a:prstDash val="solid"/>
          </a:ln>
        </p:spPr>
        <p:txBody>
          <a:bodyPr/>
          <a:lstStyle/>
          <a:p>
            <a:endParaRPr lang="en-US"/>
          </a:p>
        </p:txBody>
      </p:sp>
      <p:sp>
        <p:nvSpPr>
          <p:cNvPr id="28" name="Text 26"/>
          <p:cNvSpPr txBox="1"/>
          <p:nvPr/>
        </p:nvSpPr>
        <p:spPr>
          <a:xfrm>
            <a:off x="768096" y="1975104"/>
            <a:ext cx="1380744" cy="457200"/>
          </a:xfrm>
          <a:prstGeom prst="rect">
            <a:avLst/>
          </a:prstGeom>
          <a:noFill/>
          <a:ln/>
        </p:spPr>
        <p:txBody>
          <a:bodyPr wrap="square" lIns="0" tIns="0" rIns="0" bIns="0" rtlCol="0" anchor="ctr"/>
          <a:lstStyle/>
          <a:p>
            <a:pPr marL="0" indent="0">
              <a:buNone/>
            </a:pPr>
            <a:r>
              <a:rPr lang="en-US" sz="1350" b="1" dirty="0">
                <a:solidFill>
                  <a:srgbClr val="111722"/>
                </a:solidFill>
                <a:latin typeface="Cambria Math" pitchFamily="34" charset="0"/>
                <a:ea typeface="Cambria Math" pitchFamily="34" charset="-122"/>
                <a:cs typeface="Cambria Math" pitchFamily="34" charset="-120"/>
              </a:rPr>
              <a:t>said aⱼ</a:t>
            </a:r>
            <a:endParaRPr lang="en-US" sz="1350" dirty="0"/>
          </a:p>
        </p:txBody>
      </p:sp>
      <p:sp>
        <p:nvSpPr>
          <p:cNvPr id="29" name="Shape 27"/>
          <p:cNvSpPr/>
          <p:nvPr/>
        </p:nvSpPr>
        <p:spPr>
          <a:xfrm>
            <a:off x="2350008" y="1975104"/>
            <a:ext cx="865297" cy="457200"/>
          </a:xfrm>
          <a:prstGeom prst="roundRect">
            <a:avLst>
              <a:gd name="adj" fmla="val 16000"/>
            </a:avLst>
          </a:prstGeom>
          <a:solidFill>
            <a:srgbClr val="E7EEF8"/>
          </a:solidFill>
          <a:ln w="12700">
            <a:solidFill>
              <a:srgbClr val="E7EEF8"/>
            </a:solidFill>
            <a:prstDash val="solid"/>
          </a:ln>
        </p:spPr>
        <p:txBody>
          <a:bodyPr/>
          <a:lstStyle/>
          <a:p>
            <a:endParaRPr lang="en-US"/>
          </a:p>
        </p:txBody>
      </p:sp>
      <p:sp>
        <p:nvSpPr>
          <p:cNvPr id="30" name="Text 28"/>
          <p:cNvSpPr txBox="1"/>
          <p:nvPr/>
        </p:nvSpPr>
        <p:spPr>
          <a:xfrm>
            <a:off x="2350008" y="1975104"/>
            <a:ext cx="865297" cy="457200"/>
          </a:xfrm>
          <a:prstGeom prst="rect">
            <a:avLst/>
          </a:prstGeom>
          <a:noFill/>
          <a:ln/>
        </p:spPr>
        <p:txBody>
          <a:bodyPr wrap="square" lIns="0" tIns="0" rIns="0" bIns="0" rtlCol="0" anchor="ctr"/>
          <a:lstStyle/>
          <a:p>
            <a:pPr marL="0" indent="0" algn="ctr">
              <a:buNone/>
            </a:pPr>
            <a:r>
              <a:rPr lang="en-US" sz="1050" dirty="0">
                <a:solidFill>
                  <a:srgbClr val="111722"/>
                </a:solidFill>
                <a:latin typeface="Consolas" pitchFamily="34" charset="0"/>
                <a:ea typeface="Consolas" pitchFamily="34" charset="-122"/>
                <a:cs typeface="Consolas" pitchFamily="34" charset="-120"/>
              </a:rPr>
              <a:t>0.01</a:t>
            </a:r>
            <a:endParaRPr lang="en-US" sz="1050" dirty="0"/>
          </a:p>
        </p:txBody>
      </p:sp>
      <p:sp>
        <p:nvSpPr>
          <p:cNvPr id="31" name="Shape 29"/>
          <p:cNvSpPr/>
          <p:nvPr/>
        </p:nvSpPr>
        <p:spPr>
          <a:xfrm>
            <a:off x="3270169" y="1975104"/>
            <a:ext cx="865297" cy="457200"/>
          </a:xfrm>
          <a:prstGeom prst="roundRect">
            <a:avLst>
              <a:gd name="adj" fmla="val 16000"/>
            </a:avLst>
          </a:prstGeom>
          <a:solidFill>
            <a:srgbClr val="E7EEF8"/>
          </a:solidFill>
          <a:ln w="12700">
            <a:solidFill>
              <a:srgbClr val="E7EEF8"/>
            </a:solidFill>
            <a:prstDash val="solid"/>
          </a:ln>
        </p:spPr>
        <p:txBody>
          <a:bodyPr/>
          <a:lstStyle/>
          <a:p>
            <a:endParaRPr lang="en-US"/>
          </a:p>
        </p:txBody>
      </p:sp>
      <p:sp>
        <p:nvSpPr>
          <p:cNvPr id="32" name="Text 30"/>
          <p:cNvSpPr txBox="1"/>
          <p:nvPr/>
        </p:nvSpPr>
        <p:spPr>
          <a:xfrm>
            <a:off x="3270169" y="1975104"/>
            <a:ext cx="865297" cy="457200"/>
          </a:xfrm>
          <a:prstGeom prst="rect">
            <a:avLst/>
          </a:prstGeom>
          <a:noFill/>
          <a:ln/>
        </p:spPr>
        <p:txBody>
          <a:bodyPr wrap="square" lIns="0" tIns="0" rIns="0" bIns="0" rtlCol="0" anchor="ctr"/>
          <a:lstStyle/>
          <a:p>
            <a:pPr marL="0" indent="0" algn="ctr">
              <a:buNone/>
            </a:pPr>
            <a:r>
              <a:rPr lang="en-US" sz="1050" dirty="0">
                <a:solidFill>
                  <a:srgbClr val="111722"/>
                </a:solidFill>
                <a:latin typeface="Consolas" pitchFamily="34" charset="0"/>
                <a:ea typeface="Consolas" pitchFamily="34" charset="-122"/>
                <a:cs typeface="Consolas" pitchFamily="34" charset="-120"/>
              </a:rPr>
              <a:t>0.02</a:t>
            </a:r>
            <a:endParaRPr lang="en-US" sz="1050" dirty="0"/>
          </a:p>
        </p:txBody>
      </p:sp>
      <p:sp>
        <p:nvSpPr>
          <p:cNvPr id="33" name="Shape 31"/>
          <p:cNvSpPr/>
          <p:nvPr/>
        </p:nvSpPr>
        <p:spPr>
          <a:xfrm>
            <a:off x="4190329" y="1975104"/>
            <a:ext cx="865297" cy="457200"/>
          </a:xfrm>
          <a:prstGeom prst="roundRect">
            <a:avLst>
              <a:gd name="adj" fmla="val 16000"/>
            </a:avLst>
          </a:prstGeom>
          <a:solidFill>
            <a:srgbClr val="E7EEF8"/>
          </a:solidFill>
          <a:ln w="12700">
            <a:solidFill>
              <a:srgbClr val="E7EEF8"/>
            </a:solidFill>
            <a:prstDash val="solid"/>
          </a:ln>
        </p:spPr>
        <p:txBody>
          <a:bodyPr/>
          <a:lstStyle/>
          <a:p>
            <a:endParaRPr lang="en-US"/>
          </a:p>
        </p:txBody>
      </p:sp>
      <p:sp>
        <p:nvSpPr>
          <p:cNvPr id="34" name="Text 32"/>
          <p:cNvSpPr txBox="1"/>
          <p:nvPr/>
        </p:nvSpPr>
        <p:spPr>
          <a:xfrm>
            <a:off x="4190329" y="1975104"/>
            <a:ext cx="865297" cy="457200"/>
          </a:xfrm>
          <a:prstGeom prst="rect">
            <a:avLst/>
          </a:prstGeom>
          <a:noFill/>
          <a:ln/>
        </p:spPr>
        <p:txBody>
          <a:bodyPr wrap="square" lIns="0" tIns="0" rIns="0" bIns="0" rtlCol="0" anchor="ctr"/>
          <a:lstStyle/>
          <a:p>
            <a:pPr marL="0" indent="0" algn="ctr">
              <a:buNone/>
            </a:pPr>
            <a:r>
              <a:rPr lang="en-US" sz="1050" dirty="0">
                <a:solidFill>
                  <a:srgbClr val="111722"/>
                </a:solidFill>
                <a:latin typeface="Consolas" pitchFamily="34" charset="0"/>
                <a:ea typeface="Consolas" pitchFamily="34" charset="-122"/>
                <a:cs typeface="Consolas" pitchFamily="34" charset="-120"/>
              </a:rPr>
              <a:t>0.10</a:t>
            </a:r>
            <a:endParaRPr lang="en-US" sz="1050" dirty="0"/>
          </a:p>
        </p:txBody>
      </p:sp>
      <p:sp>
        <p:nvSpPr>
          <p:cNvPr id="35" name="Shape 33"/>
          <p:cNvSpPr/>
          <p:nvPr/>
        </p:nvSpPr>
        <p:spPr>
          <a:xfrm>
            <a:off x="5110490" y="1975104"/>
            <a:ext cx="865297" cy="457200"/>
          </a:xfrm>
          <a:prstGeom prst="roundRect">
            <a:avLst>
              <a:gd name="adj" fmla="val 16000"/>
            </a:avLst>
          </a:prstGeom>
          <a:solidFill>
            <a:srgbClr val="FBE6C4"/>
          </a:solidFill>
          <a:ln w="12700">
            <a:solidFill>
              <a:srgbClr val="FBE6C4"/>
            </a:solidFill>
            <a:prstDash val="solid"/>
          </a:ln>
        </p:spPr>
        <p:txBody>
          <a:bodyPr/>
          <a:lstStyle/>
          <a:p>
            <a:endParaRPr lang="en-US"/>
          </a:p>
        </p:txBody>
      </p:sp>
      <p:sp>
        <p:nvSpPr>
          <p:cNvPr id="36" name="Text 34"/>
          <p:cNvSpPr txBox="1"/>
          <p:nvPr/>
        </p:nvSpPr>
        <p:spPr>
          <a:xfrm>
            <a:off x="5110490" y="1975104"/>
            <a:ext cx="865297" cy="457200"/>
          </a:xfrm>
          <a:prstGeom prst="rect">
            <a:avLst/>
          </a:prstGeom>
          <a:noFill/>
          <a:ln/>
        </p:spPr>
        <p:txBody>
          <a:bodyPr wrap="square" lIns="0" tIns="0" rIns="0" bIns="0" rtlCol="0" anchor="ctr"/>
          <a:lstStyle/>
          <a:p>
            <a:pPr marL="0" indent="0" algn="ctr">
              <a:buNone/>
            </a:pPr>
            <a:r>
              <a:rPr lang="en-US" sz="1050" b="1" dirty="0">
                <a:solidFill>
                  <a:srgbClr val="111722"/>
                </a:solidFill>
                <a:latin typeface="Consolas" pitchFamily="34" charset="0"/>
                <a:ea typeface="Consolas" pitchFamily="34" charset="-122"/>
                <a:cs typeface="Consolas" pitchFamily="34" charset="-120"/>
              </a:rPr>
              <a:t>0.72</a:t>
            </a:r>
            <a:endParaRPr lang="en-US" sz="1050" dirty="0"/>
          </a:p>
        </p:txBody>
      </p:sp>
      <p:sp>
        <p:nvSpPr>
          <p:cNvPr id="37" name="Shape 35"/>
          <p:cNvSpPr/>
          <p:nvPr/>
        </p:nvSpPr>
        <p:spPr>
          <a:xfrm>
            <a:off x="6030651" y="1975104"/>
            <a:ext cx="865297" cy="457200"/>
          </a:xfrm>
          <a:prstGeom prst="roundRect">
            <a:avLst>
              <a:gd name="adj" fmla="val 16000"/>
            </a:avLst>
          </a:prstGeom>
          <a:solidFill>
            <a:srgbClr val="E7EEF8"/>
          </a:solidFill>
          <a:ln w="12700">
            <a:solidFill>
              <a:srgbClr val="E7EEF8"/>
            </a:solidFill>
            <a:prstDash val="solid"/>
          </a:ln>
        </p:spPr>
        <p:txBody>
          <a:bodyPr/>
          <a:lstStyle/>
          <a:p>
            <a:endParaRPr lang="en-US"/>
          </a:p>
        </p:txBody>
      </p:sp>
      <p:sp>
        <p:nvSpPr>
          <p:cNvPr id="38" name="Text 36"/>
          <p:cNvSpPr txBox="1"/>
          <p:nvPr/>
        </p:nvSpPr>
        <p:spPr>
          <a:xfrm>
            <a:off x="6030651" y="1975104"/>
            <a:ext cx="865297" cy="457200"/>
          </a:xfrm>
          <a:prstGeom prst="rect">
            <a:avLst/>
          </a:prstGeom>
          <a:noFill/>
          <a:ln/>
        </p:spPr>
        <p:txBody>
          <a:bodyPr wrap="square" lIns="0" tIns="0" rIns="0" bIns="0" rtlCol="0" anchor="ctr"/>
          <a:lstStyle/>
          <a:p>
            <a:pPr marL="0" indent="0" algn="ctr">
              <a:buNone/>
            </a:pPr>
            <a:r>
              <a:rPr lang="en-US" sz="1050" dirty="0">
                <a:solidFill>
                  <a:srgbClr val="111722"/>
                </a:solidFill>
                <a:latin typeface="Consolas" pitchFamily="34" charset="0"/>
                <a:ea typeface="Consolas" pitchFamily="34" charset="-122"/>
                <a:cs typeface="Consolas" pitchFamily="34" charset="-120"/>
              </a:rPr>
              <a:t>0.03</a:t>
            </a:r>
            <a:endParaRPr lang="en-US" sz="1050" dirty="0"/>
          </a:p>
        </p:txBody>
      </p:sp>
      <p:sp>
        <p:nvSpPr>
          <p:cNvPr id="39" name="Shape 37"/>
          <p:cNvSpPr/>
          <p:nvPr/>
        </p:nvSpPr>
        <p:spPr>
          <a:xfrm>
            <a:off x="6950812" y="1975104"/>
            <a:ext cx="865297" cy="457200"/>
          </a:xfrm>
          <a:prstGeom prst="roundRect">
            <a:avLst>
              <a:gd name="adj" fmla="val 16000"/>
            </a:avLst>
          </a:prstGeom>
          <a:solidFill>
            <a:srgbClr val="E7EEF8"/>
          </a:solidFill>
          <a:ln w="12700">
            <a:solidFill>
              <a:srgbClr val="E7EEF8"/>
            </a:solidFill>
            <a:prstDash val="solid"/>
          </a:ln>
        </p:spPr>
        <p:txBody>
          <a:bodyPr/>
          <a:lstStyle/>
          <a:p>
            <a:endParaRPr lang="en-US"/>
          </a:p>
        </p:txBody>
      </p:sp>
      <p:sp>
        <p:nvSpPr>
          <p:cNvPr id="40" name="Text 38"/>
          <p:cNvSpPr txBox="1"/>
          <p:nvPr/>
        </p:nvSpPr>
        <p:spPr>
          <a:xfrm>
            <a:off x="6950812" y="1975104"/>
            <a:ext cx="865297" cy="457200"/>
          </a:xfrm>
          <a:prstGeom prst="rect">
            <a:avLst/>
          </a:prstGeom>
          <a:noFill/>
          <a:ln/>
        </p:spPr>
        <p:txBody>
          <a:bodyPr wrap="square" lIns="0" tIns="0" rIns="0" bIns="0" rtlCol="0" anchor="ctr"/>
          <a:lstStyle/>
          <a:p>
            <a:pPr marL="0" indent="0" algn="ctr">
              <a:buNone/>
            </a:pPr>
            <a:r>
              <a:rPr lang="en-US" sz="1050" dirty="0">
                <a:solidFill>
                  <a:srgbClr val="111722"/>
                </a:solidFill>
                <a:latin typeface="Consolas" pitchFamily="34" charset="0"/>
                <a:ea typeface="Consolas" pitchFamily="34" charset="-122"/>
                <a:cs typeface="Consolas" pitchFamily="34" charset="-120"/>
              </a:rPr>
              <a:t>0.04</a:t>
            </a:r>
            <a:endParaRPr lang="en-US" sz="1050" dirty="0"/>
          </a:p>
        </p:txBody>
      </p:sp>
      <p:sp>
        <p:nvSpPr>
          <p:cNvPr id="41" name="Shape 39"/>
          <p:cNvSpPr/>
          <p:nvPr/>
        </p:nvSpPr>
        <p:spPr>
          <a:xfrm>
            <a:off x="7870972" y="1975104"/>
            <a:ext cx="865297" cy="457200"/>
          </a:xfrm>
          <a:prstGeom prst="roundRect">
            <a:avLst>
              <a:gd name="adj" fmla="val 16000"/>
            </a:avLst>
          </a:prstGeom>
          <a:solidFill>
            <a:srgbClr val="E7EEF8"/>
          </a:solidFill>
          <a:ln w="12700">
            <a:solidFill>
              <a:srgbClr val="E7EEF8"/>
            </a:solidFill>
            <a:prstDash val="solid"/>
          </a:ln>
        </p:spPr>
        <p:txBody>
          <a:bodyPr/>
          <a:lstStyle/>
          <a:p>
            <a:endParaRPr lang="en-US"/>
          </a:p>
        </p:txBody>
      </p:sp>
      <p:sp>
        <p:nvSpPr>
          <p:cNvPr id="42" name="Text 40"/>
          <p:cNvSpPr txBox="1"/>
          <p:nvPr/>
        </p:nvSpPr>
        <p:spPr>
          <a:xfrm>
            <a:off x="7870972" y="1975104"/>
            <a:ext cx="865297" cy="457200"/>
          </a:xfrm>
          <a:prstGeom prst="rect">
            <a:avLst/>
          </a:prstGeom>
          <a:noFill/>
          <a:ln/>
        </p:spPr>
        <p:txBody>
          <a:bodyPr wrap="square" lIns="0" tIns="0" rIns="0" bIns="0" rtlCol="0" anchor="ctr"/>
          <a:lstStyle/>
          <a:p>
            <a:pPr marL="0" indent="0" algn="ctr">
              <a:buNone/>
            </a:pPr>
            <a:r>
              <a:rPr lang="en-US" sz="1050" dirty="0">
                <a:solidFill>
                  <a:srgbClr val="111722"/>
                </a:solidFill>
                <a:latin typeface="Consolas" pitchFamily="34" charset="0"/>
                <a:ea typeface="Consolas" pitchFamily="34" charset="-122"/>
                <a:cs typeface="Consolas" pitchFamily="34" charset="-120"/>
              </a:rPr>
              <a:t>0.01</a:t>
            </a:r>
            <a:endParaRPr lang="en-US" sz="1050" dirty="0"/>
          </a:p>
        </p:txBody>
      </p:sp>
      <p:sp>
        <p:nvSpPr>
          <p:cNvPr id="43" name="Shape 41"/>
          <p:cNvSpPr/>
          <p:nvPr/>
        </p:nvSpPr>
        <p:spPr>
          <a:xfrm>
            <a:off x="8791133" y="1975104"/>
            <a:ext cx="865297" cy="457200"/>
          </a:xfrm>
          <a:prstGeom prst="roundRect">
            <a:avLst>
              <a:gd name="adj" fmla="val 16000"/>
            </a:avLst>
          </a:prstGeom>
          <a:solidFill>
            <a:srgbClr val="E7EEF8"/>
          </a:solidFill>
          <a:ln w="12700">
            <a:solidFill>
              <a:srgbClr val="E7EEF8"/>
            </a:solidFill>
            <a:prstDash val="solid"/>
          </a:ln>
        </p:spPr>
        <p:txBody>
          <a:bodyPr/>
          <a:lstStyle/>
          <a:p>
            <a:endParaRPr lang="en-US"/>
          </a:p>
        </p:txBody>
      </p:sp>
      <p:sp>
        <p:nvSpPr>
          <p:cNvPr id="44" name="Text 42"/>
          <p:cNvSpPr txBox="1"/>
          <p:nvPr/>
        </p:nvSpPr>
        <p:spPr>
          <a:xfrm>
            <a:off x="8791133" y="1975104"/>
            <a:ext cx="865297" cy="457200"/>
          </a:xfrm>
          <a:prstGeom prst="rect">
            <a:avLst/>
          </a:prstGeom>
          <a:noFill/>
          <a:ln/>
        </p:spPr>
        <p:txBody>
          <a:bodyPr wrap="square" lIns="0" tIns="0" rIns="0" bIns="0" rtlCol="0" anchor="ctr"/>
          <a:lstStyle/>
          <a:p>
            <a:pPr marL="0" indent="0" algn="ctr">
              <a:buNone/>
            </a:pPr>
            <a:r>
              <a:rPr lang="en-US" sz="1050" dirty="0">
                <a:solidFill>
                  <a:srgbClr val="111722"/>
                </a:solidFill>
                <a:latin typeface="Consolas" pitchFamily="34" charset="0"/>
                <a:ea typeface="Consolas" pitchFamily="34" charset="-122"/>
                <a:cs typeface="Consolas" pitchFamily="34" charset="-120"/>
              </a:rPr>
              <a:t>0.05</a:t>
            </a:r>
            <a:endParaRPr lang="en-US" sz="1050" dirty="0"/>
          </a:p>
        </p:txBody>
      </p:sp>
      <p:sp>
        <p:nvSpPr>
          <p:cNvPr id="45" name="Shape 43"/>
          <p:cNvSpPr/>
          <p:nvPr/>
        </p:nvSpPr>
        <p:spPr>
          <a:xfrm>
            <a:off x="9711294" y="1975104"/>
            <a:ext cx="865297" cy="457200"/>
          </a:xfrm>
          <a:prstGeom prst="roundRect">
            <a:avLst>
              <a:gd name="adj" fmla="val 16000"/>
            </a:avLst>
          </a:prstGeom>
          <a:solidFill>
            <a:srgbClr val="E7EEF8"/>
          </a:solidFill>
          <a:ln w="12700">
            <a:solidFill>
              <a:srgbClr val="E7EEF8"/>
            </a:solidFill>
            <a:prstDash val="solid"/>
          </a:ln>
        </p:spPr>
        <p:txBody>
          <a:bodyPr/>
          <a:lstStyle/>
          <a:p>
            <a:endParaRPr lang="en-US"/>
          </a:p>
        </p:txBody>
      </p:sp>
      <p:sp>
        <p:nvSpPr>
          <p:cNvPr id="46" name="Text 44"/>
          <p:cNvSpPr txBox="1"/>
          <p:nvPr/>
        </p:nvSpPr>
        <p:spPr>
          <a:xfrm>
            <a:off x="9711294" y="1975104"/>
            <a:ext cx="865297" cy="457200"/>
          </a:xfrm>
          <a:prstGeom prst="rect">
            <a:avLst/>
          </a:prstGeom>
          <a:noFill/>
          <a:ln/>
        </p:spPr>
        <p:txBody>
          <a:bodyPr wrap="square" lIns="0" tIns="0" rIns="0" bIns="0" rtlCol="0" anchor="ctr"/>
          <a:lstStyle/>
          <a:p>
            <a:pPr marL="0" indent="0" algn="ctr">
              <a:buNone/>
            </a:pPr>
            <a:r>
              <a:rPr lang="en-US" sz="1050" dirty="0">
                <a:solidFill>
                  <a:srgbClr val="111722"/>
                </a:solidFill>
                <a:latin typeface="Consolas" pitchFamily="34" charset="0"/>
                <a:ea typeface="Consolas" pitchFamily="34" charset="-122"/>
                <a:cs typeface="Consolas" pitchFamily="34" charset="-120"/>
              </a:rPr>
              <a:t>0.01</a:t>
            </a:r>
            <a:endParaRPr lang="en-US" sz="1050" dirty="0"/>
          </a:p>
        </p:txBody>
      </p:sp>
      <p:sp>
        <p:nvSpPr>
          <p:cNvPr id="47" name="Shape 45"/>
          <p:cNvSpPr/>
          <p:nvPr/>
        </p:nvSpPr>
        <p:spPr>
          <a:xfrm>
            <a:off x="10631454" y="1975104"/>
            <a:ext cx="865297" cy="457200"/>
          </a:xfrm>
          <a:prstGeom prst="roundRect">
            <a:avLst>
              <a:gd name="adj" fmla="val 16000"/>
            </a:avLst>
          </a:prstGeom>
          <a:solidFill>
            <a:srgbClr val="E7EEF8"/>
          </a:solidFill>
          <a:ln w="12700">
            <a:solidFill>
              <a:srgbClr val="E7EEF8"/>
            </a:solidFill>
            <a:prstDash val="solid"/>
          </a:ln>
        </p:spPr>
        <p:txBody>
          <a:bodyPr/>
          <a:lstStyle/>
          <a:p>
            <a:endParaRPr lang="en-US"/>
          </a:p>
        </p:txBody>
      </p:sp>
      <p:sp>
        <p:nvSpPr>
          <p:cNvPr id="48" name="Text 46"/>
          <p:cNvSpPr txBox="1"/>
          <p:nvPr/>
        </p:nvSpPr>
        <p:spPr>
          <a:xfrm>
            <a:off x="10631454" y="1975104"/>
            <a:ext cx="865297" cy="457200"/>
          </a:xfrm>
          <a:prstGeom prst="rect">
            <a:avLst/>
          </a:prstGeom>
          <a:noFill/>
          <a:ln/>
        </p:spPr>
        <p:txBody>
          <a:bodyPr wrap="square" lIns="0" tIns="0" rIns="0" bIns="0" rtlCol="0" anchor="ctr"/>
          <a:lstStyle/>
          <a:p>
            <a:pPr marL="0" indent="0" algn="ctr">
              <a:buNone/>
            </a:pPr>
            <a:r>
              <a:rPr lang="en-US" sz="1050" dirty="0">
                <a:solidFill>
                  <a:srgbClr val="111722"/>
                </a:solidFill>
                <a:latin typeface="Consolas" pitchFamily="34" charset="0"/>
                <a:ea typeface="Consolas" pitchFamily="34" charset="-122"/>
                <a:cs typeface="Consolas" pitchFamily="34" charset="-120"/>
              </a:rPr>
              <a:t>0.01</a:t>
            </a:r>
            <a:endParaRPr lang="en-US" sz="1050" dirty="0"/>
          </a:p>
        </p:txBody>
      </p:sp>
      <p:sp>
        <p:nvSpPr>
          <p:cNvPr id="49" name="Shape 47"/>
          <p:cNvSpPr/>
          <p:nvPr/>
        </p:nvSpPr>
        <p:spPr>
          <a:xfrm>
            <a:off x="640080" y="2487168"/>
            <a:ext cx="1600200" cy="457200"/>
          </a:xfrm>
          <a:prstGeom prst="roundRect">
            <a:avLst>
              <a:gd name="adj" fmla="val 16000"/>
            </a:avLst>
          </a:prstGeom>
          <a:solidFill>
            <a:srgbClr val="E7EEF8"/>
          </a:solidFill>
          <a:ln w="12700">
            <a:solidFill>
              <a:srgbClr val="E7EEF8"/>
            </a:solidFill>
            <a:prstDash val="solid"/>
          </a:ln>
        </p:spPr>
        <p:txBody>
          <a:bodyPr/>
          <a:lstStyle/>
          <a:p>
            <a:endParaRPr lang="en-US"/>
          </a:p>
        </p:txBody>
      </p:sp>
      <p:sp>
        <p:nvSpPr>
          <p:cNvPr id="50" name="Text 48"/>
          <p:cNvSpPr txBox="1"/>
          <p:nvPr/>
        </p:nvSpPr>
        <p:spPr>
          <a:xfrm>
            <a:off x="768096" y="2487168"/>
            <a:ext cx="1380744" cy="457200"/>
          </a:xfrm>
          <a:prstGeom prst="rect">
            <a:avLst/>
          </a:prstGeom>
          <a:noFill/>
          <a:ln/>
        </p:spPr>
        <p:txBody>
          <a:bodyPr wrap="square" lIns="0" tIns="0" rIns="0" bIns="0" rtlCol="0" anchor="ctr"/>
          <a:lstStyle/>
          <a:p>
            <a:pPr marL="0" indent="0">
              <a:buNone/>
            </a:pPr>
            <a:r>
              <a:rPr lang="en-US" sz="1350" b="1" dirty="0">
                <a:solidFill>
                  <a:srgbClr val="111722"/>
                </a:solidFill>
                <a:latin typeface="Cambria Math" pitchFamily="34" charset="0"/>
                <a:ea typeface="Cambria Math" pitchFamily="34" charset="-122"/>
                <a:cs typeface="Cambria Math" pitchFamily="34" charset="-120"/>
              </a:rPr>
              <a:t>should yⱼ</a:t>
            </a:r>
            <a:endParaRPr lang="en-US" sz="1350" dirty="0"/>
          </a:p>
        </p:txBody>
      </p:sp>
      <p:sp>
        <p:nvSpPr>
          <p:cNvPr id="51" name="Shape 49"/>
          <p:cNvSpPr/>
          <p:nvPr/>
        </p:nvSpPr>
        <p:spPr>
          <a:xfrm>
            <a:off x="2350008" y="2487168"/>
            <a:ext cx="865297" cy="457200"/>
          </a:xfrm>
          <a:prstGeom prst="roundRect">
            <a:avLst>
              <a:gd name="adj" fmla="val 16000"/>
            </a:avLst>
          </a:prstGeom>
          <a:solidFill>
            <a:srgbClr val="E7EEF8"/>
          </a:solidFill>
          <a:ln w="12700">
            <a:solidFill>
              <a:srgbClr val="E7EEF8"/>
            </a:solidFill>
            <a:prstDash val="solid"/>
          </a:ln>
        </p:spPr>
        <p:txBody>
          <a:bodyPr/>
          <a:lstStyle/>
          <a:p>
            <a:endParaRPr lang="en-US"/>
          </a:p>
        </p:txBody>
      </p:sp>
      <p:sp>
        <p:nvSpPr>
          <p:cNvPr id="52" name="Text 50"/>
          <p:cNvSpPr txBox="1"/>
          <p:nvPr/>
        </p:nvSpPr>
        <p:spPr>
          <a:xfrm>
            <a:off x="2350008" y="2487168"/>
            <a:ext cx="865297" cy="457200"/>
          </a:xfrm>
          <a:prstGeom prst="rect">
            <a:avLst/>
          </a:prstGeom>
          <a:noFill/>
          <a:ln/>
        </p:spPr>
        <p:txBody>
          <a:bodyPr wrap="square" lIns="0" tIns="0" rIns="0" bIns="0" rtlCol="0" anchor="ctr"/>
          <a:lstStyle/>
          <a:p>
            <a:pPr marL="0" indent="0" algn="ctr">
              <a:buNone/>
            </a:pPr>
            <a:r>
              <a:rPr lang="en-US" sz="1050" dirty="0">
                <a:solidFill>
                  <a:srgbClr val="111722"/>
                </a:solidFill>
                <a:latin typeface="Consolas" pitchFamily="34" charset="0"/>
                <a:ea typeface="Consolas" pitchFamily="34" charset="-122"/>
                <a:cs typeface="Consolas" pitchFamily="34" charset="-120"/>
              </a:rPr>
              <a:t>0</a:t>
            </a:r>
            <a:endParaRPr lang="en-US" sz="1050" dirty="0"/>
          </a:p>
        </p:txBody>
      </p:sp>
      <p:sp>
        <p:nvSpPr>
          <p:cNvPr id="53" name="Shape 51"/>
          <p:cNvSpPr/>
          <p:nvPr/>
        </p:nvSpPr>
        <p:spPr>
          <a:xfrm>
            <a:off x="3270169" y="2487168"/>
            <a:ext cx="865297" cy="457200"/>
          </a:xfrm>
          <a:prstGeom prst="roundRect">
            <a:avLst>
              <a:gd name="adj" fmla="val 16000"/>
            </a:avLst>
          </a:prstGeom>
          <a:solidFill>
            <a:srgbClr val="E7EEF8"/>
          </a:solidFill>
          <a:ln w="12700">
            <a:solidFill>
              <a:srgbClr val="E7EEF8"/>
            </a:solidFill>
            <a:prstDash val="solid"/>
          </a:ln>
        </p:spPr>
        <p:txBody>
          <a:bodyPr/>
          <a:lstStyle/>
          <a:p>
            <a:endParaRPr lang="en-US"/>
          </a:p>
        </p:txBody>
      </p:sp>
      <p:sp>
        <p:nvSpPr>
          <p:cNvPr id="54" name="Text 52"/>
          <p:cNvSpPr txBox="1"/>
          <p:nvPr/>
        </p:nvSpPr>
        <p:spPr>
          <a:xfrm>
            <a:off x="3270169" y="2487168"/>
            <a:ext cx="865297" cy="457200"/>
          </a:xfrm>
          <a:prstGeom prst="rect">
            <a:avLst/>
          </a:prstGeom>
          <a:noFill/>
          <a:ln/>
        </p:spPr>
        <p:txBody>
          <a:bodyPr wrap="square" lIns="0" tIns="0" rIns="0" bIns="0" rtlCol="0" anchor="ctr"/>
          <a:lstStyle/>
          <a:p>
            <a:pPr marL="0" indent="0" algn="ctr">
              <a:buNone/>
            </a:pPr>
            <a:r>
              <a:rPr lang="en-US" sz="1050" dirty="0">
                <a:solidFill>
                  <a:srgbClr val="111722"/>
                </a:solidFill>
                <a:latin typeface="Consolas" pitchFamily="34" charset="0"/>
                <a:ea typeface="Consolas" pitchFamily="34" charset="-122"/>
                <a:cs typeface="Consolas" pitchFamily="34" charset="-120"/>
              </a:rPr>
              <a:t>0</a:t>
            </a:r>
            <a:endParaRPr lang="en-US" sz="1050" dirty="0"/>
          </a:p>
        </p:txBody>
      </p:sp>
      <p:sp>
        <p:nvSpPr>
          <p:cNvPr id="55" name="Shape 53"/>
          <p:cNvSpPr/>
          <p:nvPr/>
        </p:nvSpPr>
        <p:spPr>
          <a:xfrm>
            <a:off x="4190329" y="2487168"/>
            <a:ext cx="865297" cy="457200"/>
          </a:xfrm>
          <a:prstGeom prst="roundRect">
            <a:avLst>
              <a:gd name="adj" fmla="val 16000"/>
            </a:avLst>
          </a:prstGeom>
          <a:solidFill>
            <a:srgbClr val="E7EEF8"/>
          </a:solidFill>
          <a:ln w="12700">
            <a:solidFill>
              <a:srgbClr val="E7EEF8"/>
            </a:solidFill>
            <a:prstDash val="solid"/>
          </a:ln>
        </p:spPr>
        <p:txBody>
          <a:bodyPr/>
          <a:lstStyle/>
          <a:p>
            <a:endParaRPr lang="en-US"/>
          </a:p>
        </p:txBody>
      </p:sp>
      <p:sp>
        <p:nvSpPr>
          <p:cNvPr id="56" name="Text 54"/>
          <p:cNvSpPr txBox="1"/>
          <p:nvPr/>
        </p:nvSpPr>
        <p:spPr>
          <a:xfrm>
            <a:off x="4190329" y="2487168"/>
            <a:ext cx="865297" cy="457200"/>
          </a:xfrm>
          <a:prstGeom prst="rect">
            <a:avLst/>
          </a:prstGeom>
          <a:noFill/>
          <a:ln/>
        </p:spPr>
        <p:txBody>
          <a:bodyPr wrap="square" lIns="0" tIns="0" rIns="0" bIns="0" rtlCol="0" anchor="ctr"/>
          <a:lstStyle/>
          <a:p>
            <a:pPr marL="0" indent="0" algn="ctr">
              <a:buNone/>
            </a:pPr>
            <a:r>
              <a:rPr lang="en-US" sz="1050" dirty="0">
                <a:solidFill>
                  <a:srgbClr val="111722"/>
                </a:solidFill>
                <a:latin typeface="Consolas" pitchFamily="34" charset="0"/>
                <a:ea typeface="Consolas" pitchFamily="34" charset="-122"/>
                <a:cs typeface="Consolas" pitchFamily="34" charset="-120"/>
              </a:rPr>
              <a:t>0</a:t>
            </a:r>
            <a:endParaRPr lang="en-US" sz="1050" dirty="0"/>
          </a:p>
        </p:txBody>
      </p:sp>
      <p:sp>
        <p:nvSpPr>
          <p:cNvPr id="57" name="Shape 55"/>
          <p:cNvSpPr/>
          <p:nvPr/>
        </p:nvSpPr>
        <p:spPr>
          <a:xfrm>
            <a:off x="5110490" y="2487168"/>
            <a:ext cx="865297" cy="457200"/>
          </a:xfrm>
          <a:prstGeom prst="roundRect">
            <a:avLst>
              <a:gd name="adj" fmla="val 16000"/>
            </a:avLst>
          </a:prstGeom>
          <a:solidFill>
            <a:srgbClr val="FBE6C4"/>
          </a:solidFill>
          <a:ln w="12700">
            <a:solidFill>
              <a:srgbClr val="FBE6C4"/>
            </a:solidFill>
            <a:prstDash val="solid"/>
          </a:ln>
        </p:spPr>
        <p:txBody>
          <a:bodyPr/>
          <a:lstStyle/>
          <a:p>
            <a:endParaRPr lang="en-US"/>
          </a:p>
        </p:txBody>
      </p:sp>
      <p:sp>
        <p:nvSpPr>
          <p:cNvPr id="58" name="Text 56"/>
          <p:cNvSpPr txBox="1"/>
          <p:nvPr/>
        </p:nvSpPr>
        <p:spPr>
          <a:xfrm>
            <a:off x="5110490" y="2487168"/>
            <a:ext cx="865297" cy="457200"/>
          </a:xfrm>
          <a:prstGeom prst="rect">
            <a:avLst/>
          </a:prstGeom>
          <a:noFill/>
          <a:ln/>
        </p:spPr>
        <p:txBody>
          <a:bodyPr wrap="square" lIns="0" tIns="0" rIns="0" bIns="0" rtlCol="0" anchor="ctr"/>
          <a:lstStyle/>
          <a:p>
            <a:pPr marL="0" indent="0" algn="ctr">
              <a:buNone/>
            </a:pPr>
            <a:r>
              <a:rPr lang="en-US" sz="1050" b="1" dirty="0">
                <a:solidFill>
                  <a:srgbClr val="111722"/>
                </a:solidFill>
                <a:latin typeface="Consolas" pitchFamily="34" charset="0"/>
                <a:ea typeface="Consolas" pitchFamily="34" charset="-122"/>
                <a:cs typeface="Consolas" pitchFamily="34" charset="-120"/>
              </a:rPr>
              <a:t>1</a:t>
            </a:r>
            <a:endParaRPr lang="en-US" sz="1050" dirty="0"/>
          </a:p>
        </p:txBody>
      </p:sp>
      <p:sp>
        <p:nvSpPr>
          <p:cNvPr id="59" name="Shape 57"/>
          <p:cNvSpPr/>
          <p:nvPr/>
        </p:nvSpPr>
        <p:spPr>
          <a:xfrm>
            <a:off x="6030651" y="2487168"/>
            <a:ext cx="865297" cy="457200"/>
          </a:xfrm>
          <a:prstGeom prst="roundRect">
            <a:avLst>
              <a:gd name="adj" fmla="val 16000"/>
            </a:avLst>
          </a:prstGeom>
          <a:solidFill>
            <a:srgbClr val="E7EEF8"/>
          </a:solidFill>
          <a:ln w="12700">
            <a:solidFill>
              <a:srgbClr val="E7EEF8"/>
            </a:solidFill>
            <a:prstDash val="solid"/>
          </a:ln>
        </p:spPr>
        <p:txBody>
          <a:bodyPr/>
          <a:lstStyle/>
          <a:p>
            <a:endParaRPr lang="en-US"/>
          </a:p>
        </p:txBody>
      </p:sp>
      <p:sp>
        <p:nvSpPr>
          <p:cNvPr id="60" name="Text 58"/>
          <p:cNvSpPr txBox="1"/>
          <p:nvPr/>
        </p:nvSpPr>
        <p:spPr>
          <a:xfrm>
            <a:off x="6030651" y="2487168"/>
            <a:ext cx="865297" cy="457200"/>
          </a:xfrm>
          <a:prstGeom prst="rect">
            <a:avLst/>
          </a:prstGeom>
          <a:noFill/>
          <a:ln/>
        </p:spPr>
        <p:txBody>
          <a:bodyPr wrap="square" lIns="0" tIns="0" rIns="0" bIns="0" rtlCol="0" anchor="ctr"/>
          <a:lstStyle/>
          <a:p>
            <a:pPr marL="0" indent="0" algn="ctr">
              <a:buNone/>
            </a:pPr>
            <a:r>
              <a:rPr lang="en-US" sz="1050" dirty="0">
                <a:solidFill>
                  <a:srgbClr val="111722"/>
                </a:solidFill>
                <a:latin typeface="Consolas" pitchFamily="34" charset="0"/>
                <a:ea typeface="Consolas" pitchFamily="34" charset="-122"/>
                <a:cs typeface="Consolas" pitchFamily="34" charset="-120"/>
              </a:rPr>
              <a:t>0</a:t>
            </a:r>
            <a:endParaRPr lang="en-US" sz="1050" dirty="0"/>
          </a:p>
        </p:txBody>
      </p:sp>
      <p:sp>
        <p:nvSpPr>
          <p:cNvPr id="61" name="Shape 59"/>
          <p:cNvSpPr/>
          <p:nvPr/>
        </p:nvSpPr>
        <p:spPr>
          <a:xfrm>
            <a:off x="6950812" y="2487168"/>
            <a:ext cx="865297" cy="457200"/>
          </a:xfrm>
          <a:prstGeom prst="roundRect">
            <a:avLst>
              <a:gd name="adj" fmla="val 16000"/>
            </a:avLst>
          </a:prstGeom>
          <a:solidFill>
            <a:srgbClr val="E7EEF8"/>
          </a:solidFill>
          <a:ln w="12700">
            <a:solidFill>
              <a:srgbClr val="E7EEF8"/>
            </a:solidFill>
            <a:prstDash val="solid"/>
          </a:ln>
        </p:spPr>
        <p:txBody>
          <a:bodyPr/>
          <a:lstStyle/>
          <a:p>
            <a:endParaRPr lang="en-US"/>
          </a:p>
        </p:txBody>
      </p:sp>
      <p:sp>
        <p:nvSpPr>
          <p:cNvPr id="62" name="Text 60"/>
          <p:cNvSpPr txBox="1"/>
          <p:nvPr/>
        </p:nvSpPr>
        <p:spPr>
          <a:xfrm>
            <a:off x="6950812" y="2487168"/>
            <a:ext cx="865297" cy="457200"/>
          </a:xfrm>
          <a:prstGeom prst="rect">
            <a:avLst/>
          </a:prstGeom>
          <a:noFill/>
          <a:ln/>
        </p:spPr>
        <p:txBody>
          <a:bodyPr wrap="square" lIns="0" tIns="0" rIns="0" bIns="0" rtlCol="0" anchor="ctr"/>
          <a:lstStyle/>
          <a:p>
            <a:pPr marL="0" indent="0" algn="ctr">
              <a:buNone/>
            </a:pPr>
            <a:r>
              <a:rPr lang="en-US" sz="1050" dirty="0">
                <a:solidFill>
                  <a:srgbClr val="111722"/>
                </a:solidFill>
                <a:latin typeface="Consolas" pitchFamily="34" charset="0"/>
                <a:ea typeface="Consolas" pitchFamily="34" charset="-122"/>
                <a:cs typeface="Consolas" pitchFamily="34" charset="-120"/>
              </a:rPr>
              <a:t>0</a:t>
            </a:r>
            <a:endParaRPr lang="en-US" sz="1050" dirty="0"/>
          </a:p>
        </p:txBody>
      </p:sp>
      <p:sp>
        <p:nvSpPr>
          <p:cNvPr id="63" name="Shape 61"/>
          <p:cNvSpPr/>
          <p:nvPr/>
        </p:nvSpPr>
        <p:spPr>
          <a:xfrm>
            <a:off x="7870972" y="2487168"/>
            <a:ext cx="865297" cy="457200"/>
          </a:xfrm>
          <a:prstGeom prst="roundRect">
            <a:avLst>
              <a:gd name="adj" fmla="val 16000"/>
            </a:avLst>
          </a:prstGeom>
          <a:solidFill>
            <a:srgbClr val="E7EEF8"/>
          </a:solidFill>
          <a:ln w="12700">
            <a:solidFill>
              <a:srgbClr val="E7EEF8"/>
            </a:solidFill>
            <a:prstDash val="solid"/>
          </a:ln>
        </p:spPr>
        <p:txBody>
          <a:bodyPr/>
          <a:lstStyle/>
          <a:p>
            <a:endParaRPr lang="en-US"/>
          </a:p>
        </p:txBody>
      </p:sp>
      <p:sp>
        <p:nvSpPr>
          <p:cNvPr id="64" name="Text 62"/>
          <p:cNvSpPr txBox="1"/>
          <p:nvPr/>
        </p:nvSpPr>
        <p:spPr>
          <a:xfrm>
            <a:off x="7870972" y="2487168"/>
            <a:ext cx="865297" cy="457200"/>
          </a:xfrm>
          <a:prstGeom prst="rect">
            <a:avLst/>
          </a:prstGeom>
          <a:noFill/>
          <a:ln/>
        </p:spPr>
        <p:txBody>
          <a:bodyPr wrap="square" lIns="0" tIns="0" rIns="0" bIns="0" rtlCol="0" anchor="ctr"/>
          <a:lstStyle/>
          <a:p>
            <a:pPr marL="0" indent="0" algn="ctr">
              <a:buNone/>
            </a:pPr>
            <a:r>
              <a:rPr lang="en-US" sz="1050" dirty="0">
                <a:solidFill>
                  <a:srgbClr val="111722"/>
                </a:solidFill>
                <a:latin typeface="Consolas" pitchFamily="34" charset="0"/>
                <a:ea typeface="Consolas" pitchFamily="34" charset="-122"/>
                <a:cs typeface="Consolas" pitchFamily="34" charset="-120"/>
              </a:rPr>
              <a:t>0</a:t>
            </a:r>
            <a:endParaRPr lang="en-US" sz="1050" dirty="0"/>
          </a:p>
        </p:txBody>
      </p:sp>
      <p:sp>
        <p:nvSpPr>
          <p:cNvPr id="65" name="Shape 63"/>
          <p:cNvSpPr/>
          <p:nvPr/>
        </p:nvSpPr>
        <p:spPr>
          <a:xfrm>
            <a:off x="8791133" y="2487168"/>
            <a:ext cx="865297" cy="457200"/>
          </a:xfrm>
          <a:prstGeom prst="roundRect">
            <a:avLst>
              <a:gd name="adj" fmla="val 16000"/>
            </a:avLst>
          </a:prstGeom>
          <a:solidFill>
            <a:srgbClr val="E7EEF8"/>
          </a:solidFill>
          <a:ln w="12700">
            <a:solidFill>
              <a:srgbClr val="E7EEF8"/>
            </a:solidFill>
            <a:prstDash val="solid"/>
          </a:ln>
        </p:spPr>
        <p:txBody>
          <a:bodyPr/>
          <a:lstStyle/>
          <a:p>
            <a:endParaRPr lang="en-US"/>
          </a:p>
        </p:txBody>
      </p:sp>
      <p:sp>
        <p:nvSpPr>
          <p:cNvPr id="66" name="Text 64"/>
          <p:cNvSpPr txBox="1"/>
          <p:nvPr/>
        </p:nvSpPr>
        <p:spPr>
          <a:xfrm>
            <a:off x="8791133" y="2487168"/>
            <a:ext cx="865297" cy="457200"/>
          </a:xfrm>
          <a:prstGeom prst="rect">
            <a:avLst/>
          </a:prstGeom>
          <a:noFill/>
          <a:ln/>
        </p:spPr>
        <p:txBody>
          <a:bodyPr wrap="square" lIns="0" tIns="0" rIns="0" bIns="0" rtlCol="0" anchor="ctr"/>
          <a:lstStyle/>
          <a:p>
            <a:pPr marL="0" indent="0" algn="ctr">
              <a:buNone/>
            </a:pPr>
            <a:r>
              <a:rPr lang="en-US" sz="1050" dirty="0">
                <a:solidFill>
                  <a:srgbClr val="111722"/>
                </a:solidFill>
                <a:latin typeface="Consolas" pitchFamily="34" charset="0"/>
                <a:ea typeface="Consolas" pitchFamily="34" charset="-122"/>
                <a:cs typeface="Consolas" pitchFamily="34" charset="-120"/>
              </a:rPr>
              <a:t>0</a:t>
            </a:r>
            <a:endParaRPr lang="en-US" sz="1050" dirty="0"/>
          </a:p>
        </p:txBody>
      </p:sp>
      <p:sp>
        <p:nvSpPr>
          <p:cNvPr id="67" name="Shape 65"/>
          <p:cNvSpPr/>
          <p:nvPr/>
        </p:nvSpPr>
        <p:spPr>
          <a:xfrm>
            <a:off x="9711294" y="2487168"/>
            <a:ext cx="865297" cy="457200"/>
          </a:xfrm>
          <a:prstGeom prst="roundRect">
            <a:avLst>
              <a:gd name="adj" fmla="val 16000"/>
            </a:avLst>
          </a:prstGeom>
          <a:solidFill>
            <a:srgbClr val="E7EEF8"/>
          </a:solidFill>
          <a:ln w="12700">
            <a:solidFill>
              <a:srgbClr val="E7EEF8"/>
            </a:solidFill>
            <a:prstDash val="solid"/>
          </a:ln>
        </p:spPr>
        <p:txBody>
          <a:bodyPr/>
          <a:lstStyle/>
          <a:p>
            <a:endParaRPr lang="en-US"/>
          </a:p>
        </p:txBody>
      </p:sp>
      <p:sp>
        <p:nvSpPr>
          <p:cNvPr id="68" name="Text 66"/>
          <p:cNvSpPr txBox="1"/>
          <p:nvPr/>
        </p:nvSpPr>
        <p:spPr>
          <a:xfrm>
            <a:off x="9711294" y="2487168"/>
            <a:ext cx="865297" cy="457200"/>
          </a:xfrm>
          <a:prstGeom prst="rect">
            <a:avLst/>
          </a:prstGeom>
          <a:noFill/>
          <a:ln/>
        </p:spPr>
        <p:txBody>
          <a:bodyPr wrap="square" lIns="0" tIns="0" rIns="0" bIns="0" rtlCol="0" anchor="ctr"/>
          <a:lstStyle/>
          <a:p>
            <a:pPr marL="0" indent="0" algn="ctr">
              <a:buNone/>
            </a:pPr>
            <a:r>
              <a:rPr lang="en-US" sz="1050" dirty="0">
                <a:solidFill>
                  <a:srgbClr val="111722"/>
                </a:solidFill>
                <a:latin typeface="Consolas" pitchFamily="34" charset="0"/>
                <a:ea typeface="Consolas" pitchFamily="34" charset="-122"/>
                <a:cs typeface="Consolas" pitchFamily="34" charset="-120"/>
              </a:rPr>
              <a:t>0</a:t>
            </a:r>
            <a:endParaRPr lang="en-US" sz="1050" dirty="0"/>
          </a:p>
        </p:txBody>
      </p:sp>
      <p:sp>
        <p:nvSpPr>
          <p:cNvPr id="69" name="Shape 67"/>
          <p:cNvSpPr/>
          <p:nvPr/>
        </p:nvSpPr>
        <p:spPr>
          <a:xfrm>
            <a:off x="10631454" y="2487168"/>
            <a:ext cx="865297" cy="457200"/>
          </a:xfrm>
          <a:prstGeom prst="roundRect">
            <a:avLst>
              <a:gd name="adj" fmla="val 16000"/>
            </a:avLst>
          </a:prstGeom>
          <a:solidFill>
            <a:srgbClr val="E7EEF8"/>
          </a:solidFill>
          <a:ln w="12700">
            <a:solidFill>
              <a:srgbClr val="E7EEF8"/>
            </a:solidFill>
            <a:prstDash val="solid"/>
          </a:ln>
        </p:spPr>
        <p:txBody>
          <a:bodyPr/>
          <a:lstStyle/>
          <a:p>
            <a:endParaRPr lang="en-US"/>
          </a:p>
        </p:txBody>
      </p:sp>
      <p:sp>
        <p:nvSpPr>
          <p:cNvPr id="70" name="Text 68"/>
          <p:cNvSpPr txBox="1"/>
          <p:nvPr/>
        </p:nvSpPr>
        <p:spPr>
          <a:xfrm>
            <a:off x="10631454" y="2487168"/>
            <a:ext cx="865297" cy="457200"/>
          </a:xfrm>
          <a:prstGeom prst="rect">
            <a:avLst/>
          </a:prstGeom>
          <a:noFill/>
          <a:ln/>
        </p:spPr>
        <p:txBody>
          <a:bodyPr wrap="square" lIns="0" tIns="0" rIns="0" bIns="0" rtlCol="0" anchor="ctr"/>
          <a:lstStyle/>
          <a:p>
            <a:pPr marL="0" indent="0" algn="ctr">
              <a:buNone/>
            </a:pPr>
            <a:r>
              <a:rPr lang="en-US" sz="1050" dirty="0">
                <a:solidFill>
                  <a:srgbClr val="111722"/>
                </a:solidFill>
                <a:latin typeface="Consolas" pitchFamily="34" charset="0"/>
                <a:ea typeface="Consolas" pitchFamily="34" charset="-122"/>
                <a:cs typeface="Consolas" pitchFamily="34" charset="-120"/>
              </a:rPr>
              <a:t>0</a:t>
            </a:r>
            <a:endParaRPr lang="en-US" sz="1050" dirty="0"/>
          </a:p>
        </p:txBody>
      </p:sp>
      <p:sp>
        <p:nvSpPr>
          <p:cNvPr id="71" name="Shape 69"/>
          <p:cNvSpPr/>
          <p:nvPr/>
        </p:nvSpPr>
        <p:spPr>
          <a:xfrm>
            <a:off x="640080" y="2999232"/>
            <a:ext cx="1600200" cy="457200"/>
          </a:xfrm>
          <a:prstGeom prst="roundRect">
            <a:avLst>
              <a:gd name="adj" fmla="val 16000"/>
            </a:avLst>
          </a:prstGeom>
          <a:solidFill>
            <a:srgbClr val="E7EEF8"/>
          </a:solidFill>
          <a:ln w="12700">
            <a:solidFill>
              <a:srgbClr val="E7EEF8"/>
            </a:solidFill>
            <a:prstDash val="solid"/>
          </a:ln>
        </p:spPr>
        <p:txBody>
          <a:bodyPr/>
          <a:lstStyle/>
          <a:p>
            <a:endParaRPr lang="en-US"/>
          </a:p>
        </p:txBody>
      </p:sp>
      <p:sp>
        <p:nvSpPr>
          <p:cNvPr id="72" name="Text 70"/>
          <p:cNvSpPr txBox="1"/>
          <p:nvPr/>
        </p:nvSpPr>
        <p:spPr>
          <a:xfrm>
            <a:off x="768096" y="2999232"/>
            <a:ext cx="1380744" cy="457200"/>
          </a:xfrm>
          <a:prstGeom prst="rect">
            <a:avLst/>
          </a:prstGeom>
          <a:noFill/>
          <a:ln/>
        </p:spPr>
        <p:txBody>
          <a:bodyPr wrap="square" lIns="0" tIns="0" rIns="0" bIns="0" rtlCol="0" anchor="ctr"/>
          <a:lstStyle/>
          <a:p>
            <a:pPr marL="0" indent="0">
              <a:buNone/>
            </a:pPr>
            <a:r>
              <a:rPr lang="en-US" sz="1350" b="1" dirty="0">
                <a:solidFill>
                  <a:srgbClr val="111722"/>
                </a:solidFill>
                <a:latin typeface="Cambria Math" pitchFamily="34" charset="0"/>
                <a:ea typeface="Cambria Math" pitchFamily="34" charset="-122"/>
                <a:cs typeface="Cambria Math" pitchFamily="34" charset="-120"/>
              </a:rPr>
              <a:t>aⱼ − yⱼ</a:t>
            </a:r>
            <a:endParaRPr lang="en-US" sz="1350" dirty="0"/>
          </a:p>
        </p:txBody>
      </p:sp>
      <p:sp>
        <p:nvSpPr>
          <p:cNvPr id="73" name="Shape 71"/>
          <p:cNvSpPr/>
          <p:nvPr/>
        </p:nvSpPr>
        <p:spPr>
          <a:xfrm>
            <a:off x="2350008" y="2999232"/>
            <a:ext cx="865297" cy="457200"/>
          </a:xfrm>
          <a:prstGeom prst="roundRect">
            <a:avLst>
              <a:gd name="adj" fmla="val 16000"/>
            </a:avLst>
          </a:prstGeom>
          <a:solidFill>
            <a:srgbClr val="E7EEF8"/>
          </a:solidFill>
          <a:ln w="12700">
            <a:solidFill>
              <a:srgbClr val="E7EEF8"/>
            </a:solidFill>
            <a:prstDash val="solid"/>
          </a:ln>
        </p:spPr>
        <p:txBody>
          <a:bodyPr/>
          <a:lstStyle/>
          <a:p>
            <a:endParaRPr lang="en-US"/>
          </a:p>
        </p:txBody>
      </p:sp>
      <p:sp>
        <p:nvSpPr>
          <p:cNvPr id="74" name="Text 72"/>
          <p:cNvSpPr txBox="1"/>
          <p:nvPr/>
        </p:nvSpPr>
        <p:spPr>
          <a:xfrm>
            <a:off x="2350008" y="2999232"/>
            <a:ext cx="865297" cy="457200"/>
          </a:xfrm>
          <a:prstGeom prst="rect">
            <a:avLst/>
          </a:prstGeom>
          <a:noFill/>
          <a:ln/>
        </p:spPr>
        <p:txBody>
          <a:bodyPr wrap="square" lIns="0" tIns="0" rIns="0" bIns="0" rtlCol="0" anchor="ctr"/>
          <a:lstStyle/>
          <a:p>
            <a:pPr marL="0" indent="0" algn="ctr">
              <a:buNone/>
            </a:pPr>
            <a:r>
              <a:rPr lang="en-US" sz="1050" dirty="0">
                <a:solidFill>
                  <a:srgbClr val="111722"/>
                </a:solidFill>
                <a:latin typeface="Consolas" pitchFamily="34" charset="0"/>
                <a:ea typeface="Consolas" pitchFamily="34" charset="-122"/>
                <a:cs typeface="Consolas" pitchFamily="34" charset="-120"/>
              </a:rPr>
              <a:t>0.01</a:t>
            </a:r>
            <a:endParaRPr lang="en-US" sz="1050" dirty="0"/>
          </a:p>
        </p:txBody>
      </p:sp>
      <p:sp>
        <p:nvSpPr>
          <p:cNvPr id="75" name="Shape 73"/>
          <p:cNvSpPr/>
          <p:nvPr/>
        </p:nvSpPr>
        <p:spPr>
          <a:xfrm>
            <a:off x="3270169" y="2999232"/>
            <a:ext cx="865297" cy="457200"/>
          </a:xfrm>
          <a:prstGeom prst="roundRect">
            <a:avLst>
              <a:gd name="adj" fmla="val 16000"/>
            </a:avLst>
          </a:prstGeom>
          <a:solidFill>
            <a:srgbClr val="E7EEF8"/>
          </a:solidFill>
          <a:ln w="12700">
            <a:solidFill>
              <a:srgbClr val="E7EEF8"/>
            </a:solidFill>
            <a:prstDash val="solid"/>
          </a:ln>
        </p:spPr>
        <p:txBody>
          <a:bodyPr/>
          <a:lstStyle/>
          <a:p>
            <a:endParaRPr lang="en-US"/>
          </a:p>
        </p:txBody>
      </p:sp>
      <p:sp>
        <p:nvSpPr>
          <p:cNvPr id="76" name="Text 74"/>
          <p:cNvSpPr txBox="1"/>
          <p:nvPr/>
        </p:nvSpPr>
        <p:spPr>
          <a:xfrm>
            <a:off x="3270169" y="2999232"/>
            <a:ext cx="865297" cy="457200"/>
          </a:xfrm>
          <a:prstGeom prst="rect">
            <a:avLst/>
          </a:prstGeom>
          <a:noFill/>
          <a:ln/>
        </p:spPr>
        <p:txBody>
          <a:bodyPr wrap="square" lIns="0" tIns="0" rIns="0" bIns="0" rtlCol="0" anchor="ctr"/>
          <a:lstStyle/>
          <a:p>
            <a:pPr marL="0" indent="0" algn="ctr">
              <a:buNone/>
            </a:pPr>
            <a:r>
              <a:rPr lang="en-US" sz="1050" dirty="0">
                <a:solidFill>
                  <a:srgbClr val="111722"/>
                </a:solidFill>
                <a:latin typeface="Consolas" pitchFamily="34" charset="0"/>
                <a:ea typeface="Consolas" pitchFamily="34" charset="-122"/>
                <a:cs typeface="Consolas" pitchFamily="34" charset="-120"/>
              </a:rPr>
              <a:t>0.02</a:t>
            </a:r>
            <a:endParaRPr lang="en-US" sz="1050" dirty="0"/>
          </a:p>
        </p:txBody>
      </p:sp>
      <p:sp>
        <p:nvSpPr>
          <p:cNvPr id="77" name="Shape 75"/>
          <p:cNvSpPr/>
          <p:nvPr/>
        </p:nvSpPr>
        <p:spPr>
          <a:xfrm>
            <a:off x="4190329" y="2999232"/>
            <a:ext cx="865297" cy="457200"/>
          </a:xfrm>
          <a:prstGeom prst="roundRect">
            <a:avLst>
              <a:gd name="adj" fmla="val 16000"/>
            </a:avLst>
          </a:prstGeom>
          <a:solidFill>
            <a:srgbClr val="E7EEF8"/>
          </a:solidFill>
          <a:ln w="12700">
            <a:solidFill>
              <a:srgbClr val="E7EEF8"/>
            </a:solidFill>
            <a:prstDash val="solid"/>
          </a:ln>
        </p:spPr>
        <p:txBody>
          <a:bodyPr/>
          <a:lstStyle/>
          <a:p>
            <a:endParaRPr lang="en-US"/>
          </a:p>
        </p:txBody>
      </p:sp>
      <p:sp>
        <p:nvSpPr>
          <p:cNvPr id="78" name="Text 76"/>
          <p:cNvSpPr txBox="1"/>
          <p:nvPr/>
        </p:nvSpPr>
        <p:spPr>
          <a:xfrm>
            <a:off x="4190329" y="2999232"/>
            <a:ext cx="865297" cy="457200"/>
          </a:xfrm>
          <a:prstGeom prst="rect">
            <a:avLst/>
          </a:prstGeom>
          <a:noFill/>
          <a:ln/>
        </p:spPr>
        <p:txBody>
          <a:bodyPr wrap="square" lIns="0" tIns="0" rIns="0" bIns="0" rtlCol="0" anchor="ctr"/>
          <a:lstStyle/>
          <a:p>
            <a:pPr marL="0" indent="0" algn="ctr">
              <a:buNone/>
            </a:pPr>
            <a:r>
              <a:rPr lang="en-US" sz="1050" dirty="0">
                <a:solidFill>
                  <a:srgbClr val="111722"/>
                </a:solidFill>
                <a:latin typeface="Consolas" pitchFamily="34" charset="0"/>
                <a:ea typeface="Consolas" pitchFamily="34" charset="-122"/>
                <a:cs typeface="Consolas" pitchFamily="34" charset="-120"/>
              </a:rPr>
              <a:t>0.10</a:t>
            </a:r>
            <a:endParaRPr lang="en-US" sz="1050" dirty="0"/>
          </a:p>
        </p:txBody>
      </p:sp>
      <p:sp>
        <p:nvSpPr>
          <p:cNvPr id="79" name="Shape 77"/>
          <p:cNvSpPr/>
          <p:nvPr/>
        </p:nvSpPr>
        <p:spPr>
          <a:xfrm>
            <a:off x="5110490" y="2999232"/>
            <a:ext cx="865297" cy="457200"/>
          </a:xfrm>
          <a:prstGeom prst="roundRect">
            <a:avLst>
              <a:gd name="adj" fmla="val 16000"/>
            </a:avLst>
          </a:prstGeom>
          <a:solidFill>
            <a:srgbClr val="FBE6C4"/>
          </a:solidFill>
          <a:ln w="12700">
            <a:solidFill>
              <a:srgbClr val="FBE6C4"/>
            </a:solidFill>
            <a:prstDash val="solid"/>
          </a:ln>
        </p:spPr>
        <p:txBody>
          <a:bodyPr/>
          <a:lstStyle/>
          <a:p>
            <a:endParaRPr lang="en-US"/>
          </a:p>
        </p:txBody>
      </p:sp>
      <p:sp>
        <p:nvSpPr>
          <p:cNvPr id="80" name="Text 78"/>
          <p:cNvSpPr txBox="1"/>
          <p:nvPr/>
        </p:nvSpPr>
        <p:spPr>
          <a:xfrm>
            <a:off x="5110490" y="2999232"/>
            <a:ext cx="865297" cy="457200"/>
          </a:xfrm>
          <a:prstGeom prst="rect">
            <a:avLst/>
          </a:prstGeom>
          <a:noFill/>
          <a:ln/>
        </p:spPr>
        <p:txBody>
          <a:bodyPr wrap="square" lIns="0" tIns="0" rIns="0" bIns="0" rtlCol="0" anchor="ctr"/>
          <a:lstStyle/>
          <a:p>
            <a:pPr marL="0" indent="0" algn="ctr">
              <a:buNone/>
            </a:pPr>
            <a:r>
              <a:rPr lang="en-US" sz="1050" b="1" dirty="0">
                <a:solidFill>
                  <a:srgbClr val="111722"/>
                </a:solidFill>
                <a:latin typeface="Consolas" pitchFamily="34" charset="0"/>
                <a:ea typeface="Consolas" pitchFamily="34" charset="-122"/>
                <a:cs typeface="Consolas" pitchFamily="34" charset="-120"/>
              </a:rPr>
              <a:t>−0.28</a:t>
            </a:r>
            <a:endParaRPr lang="en-US" sz="1050" dirty="0"/>
          </a:p>
        </p:txBody>
      </p:sp>
      <p:sp>
        <p:nvSpPr>
          <p:cNvPr id="81" name="Shape 79"/>
          <p:cNvSpPr/>
          <p:nvPr/>
        </p:nvSpPr>
        <p:spPr>
          <a:xfrm>
            <a:off x="6030651" y="2999232"/>
            <a:ext cx="865297" cy="457200"/>
          </a:xfrm>
          <a:prstGeom prst="roundRect">
            <a:avLst>
              <a:gd name="adj" fmla="val 16000"/>
            </a:avLst>
          </a:prstGeom>
          <a:solidFill>
            <a:srgbClr val="E7EEF8"/>
          </a:solidFill>
          <a:ln w="12700">
            <a:solidFill>
              <a:srgbClr val="E7EEF8"/>
            </a:solidFill>
            <a:prstDash val="solid"/>
          </a:ln>
        </p:spPr>
        <p:txBody>
          <a:bodyPr/>
          <a:lstStyle/>
          <a:p>
            <a:endParaRPr lang="en-US"/>
          </a:p>
        </p:txBody>
      </p:sp>
      <p:sp>
        <p:nvSpPr>
          <p:cNvPr id="82" name="Text 80"/>
          <p:cNvSpPr txBox="1"/>
          <p:nvPr/>
        </p:nvSpPr>
        <p:spPr>
          <a:xfrm>
            <a:off x="6030651" y="2999232"/>
            <a:ext cx="865297" cy="457200"/>
          </a:xfrm>
          <a:prstGeom prst="rect">
            <a:avLst/>
          </a:prstGeom>
          <a:noFill/>
          <a:ln/>
        </p:spPr>
        <p:txBody>
          <a:bodyPr wrap="square" lIns="0" tIns="0" rIns="0" bIns="0" rtlCol="0" anchor="ctr"/>
          <a:lstStyle/>
          <a:p>
            <a:pPr marL="0" indent="0" algn="ctr">
              <a:buNone/>
            </a:pPr>
            <a:r>
              <a:rPr lang="en-US" sz="1050" dirty="0">
                <a:solidFill>
                  <a:srgbClr val="111722"/>
                </a:solidFill>
                <a:latin typeface="Consolas" pitchFamily="34" charset="0"/>
                <a:ea typeface="Consolas" pitchFamily="34" charset="-122"/>
                <a:cs typeface="Consolas" pitchFamily="34" charset="-120"/>
              </a:rPr>
              <a:t>0.03</a:t>
            </a:r>
            <a:endParaRPr lang="en-US" sz="1050" dirty="0"/>
          </a:p>
        </p:txBody>
      </p:sp>
      <p:sp>
        <p:nvSpPr>
          <p:cNvPr id="83" name="Shape 81"/>
          <p:cNvSpPr/>
          <p:nvPr/>
        </p:nvSpPr>
        <p:spPr>
          <a:xfrm>
            <a:off x="6950812" y="2999232"/>
            <a:ext cx="865297" cy="457200"/>
          </a:xfrm>
          <a:prstGeom prst="roundRect">
            <a:avLst>
              <a:gd name="adj" fmla="val 16000"/>
            </a:avLst>
          </a:prstGeom>
          <a:solidFill>
            <a:srgbClr val="E7EEF8"/>
          </a:solidFill>
          <a:ln w="12700">
            <a:solidFill>
              <a:srgbClr val="E7EEF8"/>
            </a:solidFill>
            <a:prstDash val="solid"/>
          </a:ln>
        </p:spPr>
        <p:txBody>
          <a:bodyPr/>
          <a:lstStyle/>
          <a:p>
            <a:endParaRPr lang="en-US"/>
          </a:p>
        </p:txBody>
      </p:sp>
      <p:sp>
        <p:nvSpPr>
          <p:cNvPr id="84" name="Text 82"/>
          <p:cNvSpPr txBox="1"/>
          <p:nvPr/>
        </p:nvSpPr>
        <p:spPr>
          <a:xfrm>
            <a:off x="6950812" y="2999232"/>
            <a:ext cx="865297" cy="457200"/>
          </a:xfrm>
          <a:prstGeom prst="rect">
            <a:avLst/>
          </a:prstGeom>
          <a:noFill/>
          <a:ln/>
        </p:spPr>
        <p:txBody>
          <a:bodyPr wrap="square" lIns="0" tIns="0" rIns="0" bIns="0" rtlCol="0" anchor="ctr"/>
          <a:lstStyle/>
          <a:p>
            <a:pPr marL="0" indent="0" algn="ctr">
              <a:buNone/>
            </a:pPr>
            <a:r>
              <a:rPr lang="en-US" sz="1050" dirty="0">
                <a:solidFill>
                  <a:srgbClr val="111722"/>
                </a:solidFill>
                <a:latin typeface="Consolas" pitchFamily="34" charset="0"/>
                <a:ea typeface="Consolas" pitchFamily="34" charset="-122"/>
                <a:cs typeface="Consolas" pitchFamily="34" charset="-120"/>
              </a:rPr>
              <a:t>0.04</a:t>
            </a:r>
            <a:endParaRPr lang="en-US" sz="1050" dirty="0"/>
          </a:p>
        </p:txBody>
      </p:sp>
      <p:sp>
        <p:nvSpPr>
          <p:cNvPr id="85" name="Shape 83"/>
          <p:cNvSpPr/>
          <p:nvPr/>
        </p:nvSpPr>
        <p:spPr>
          <a:xfrm>
            <a:off x="7870972" y="2999232"/>
            <a:ext cx="865297" cy="457200"/>
          </a:xfrm>
          <a:prstGeom prst="roundRect">
            <a:avLst>
              <a:gd name="adj" fmla="val 16000"/>
            </a:avLst>
          </a:prstGeom>
          <a:solidFill>
            <a:srgbClr val="E7EEF8"/>
          </a:solidFill>
          <a:ln w="12700">
            <a:solidFill>
              <a:srgbClr val="E7EEF8"/>
            </a:solidFill>
            <a:prstDash val="solid"/>
          </a:ln>
        </p:spPr>
        <p:txBody>
          <a:bodyPr/>
          <a:lstStyle/>
          <a:p>
            <a:endParaRPr lang="en-US"/>
          </a:p>
        </p:txBody>
      </p:sp>
      <p:sp>
        <p:nvSpPr>
          <p:cNvPr id="86" name="Text 84"/>
          <p:cNvSpPr txBox="1"/>
          <p:nvPr/>
        </p:nvSpPr>
        <p:spPr>
          <a:xfrm>
            <a:off x="7870972" y="2999232"/>
            <a:ext cx="865297" cy="457200"/>
          </a:xfrm>
          <a:prstGeom prst="rect">
            <a:avLst/>
          </a:prstGeom>
          <a:noFill/>
          <a:ln/>
        </p:spPr>
        <p:txBody>
          <a:bodyPr wrap="square" lIns="0" tIns="0" rIns="0" bIns="0" rtlCol="0" anchor="ctr"/>
          <a:lstStyle/>
          <a:p>
            <a:pPr marL="0" indent="0" algn="ctr">
              <a:buNone/>
            </a:pPr>
            <a:r>
              <a:rPr lang="en-US" sz="1050" dirty="0">
                <a:solidFill>
                  <a:srgbClr val="111722"/>
                </a:solidFill>
                <a:latin typeface="Consolas" pitchFamily="34" charset="0"/>
                <a:ea typeface="Consolas" pitchFamily="34" charset="-122"/>
                <a:cs typeface="Consolas" pitchFamily="34" charset="-120"/>
              </a:rPr>
              <a:t>0.01</a:t>
            </a:r>
            <a:endParaRPr lang="en-US" sz="1050" dirty="0"/>
          </a:p>
        </p:txBody>
      </p:sp>
      <p:sp>
        <p:nvSpPr>
          <p:cNvPr id="87" name="Shape 85"/>
          <p:cNvSpPr/>
          <p:nvPr/>
        </p:nvSpPr>
        <p:spPr>
          <a:xfrm>
            <a:off x="8791133" y="2999232"/>
            <a:ext cx="865297" cy="457200"/>
          </a:xfrm>
          <a:prstGeom prst="roundRect">
            <a:avLst>
              <a:gd name="adj" fmla="val 16000"/>
            </a:avLst>
          </a:prstGeom>
          <a:solidFill>
            <a:srgbClr val="E7EEF8"/>
          </a:solidFill>
          <a:ln w="12700">
            <a:solidFill>
              <a:srgbClr val="E7EEF8"/>
            </a:solidFill>
            <a:prstDash val="solid"/>
          </a:ln>
        </p:spPr>
        <p:txBody>
          <a:bodyPr/>
          <a:lstStyle/>
          <a:p>
            <a:endParaRPr lang="en-US"/>
          </a:p>
        </p:txBody>
      </p:sp>
      <p:sp>
        <p:nvSpPr>
          <p:cNvPr id="88" name="Text 86"/>
          <p:cNvSpPr txBox="1"/>
          <p:nvPr/>
        </p:nvSpPr>
        <p:spPr>
          <a:xfrm>
            <a:off x="8791133" y="2999232"/>
            <a:ext cx="865297" cy="457200"/>
          </a:xfrm>
          <a:prstGeom prst="rect">
            <a:avLst/>
          </a:prstGeom>
          <a:noFill/>
          <a:ln/>
        </p:spPr>
        <p:txBody>
          <a:bodyPr wrap="square" lIns="0" tIns="0" rIns="0" bIns="0" rtlCol="0" anchor="ctr"/>
          <a:lstStyle/>
          <a:p>
            <a:pPr marL="0" indent="0" algn="ctr">
              <a:buNone/>
            </a:pPr>
            <a:r>
              <a:rPr lang="en-US" sz="1050" dirty="0">
                <a:solidFill>
                  <a:srgbClr val="111722"/>
                </a:solidFill>
                <a:latin typeface="Consolas" pitchFamily="34" charset="0"/>
                <a:ea typeface="Consolas" pitchFamily="34" charset="-122"/>
                <a:cs typeface="Consolas" pitchFamily="34" charset="-120"/>
              </a:rPr>
              <a:t>0.05</a:t>
            </a:r>
            <a:endParaRPr lang="en-US" sz="1050" dirty="0"/>
          </a:p>
        </p:txBody>
      </p:sp>
      <p:sp>
        <p:nvSpPr>
          <p:cNvPr id="89" name="Shape 87"/>
          <p:cNvSpPr/>
          <p:nvPr/>
        </p:nvSpPr>
        <p:spPr>
          <a:xfrm>
            <a:off x="9711294" y="2999232"/>
            <a:ext cx="865297" cy="457200"/>
          </a:xfrm>
          <a:prstGeom prst="roundRect">
            <a:avLst>
              <a:gd name="adj" fmla="val 16000"/>
            </a:avLst>
          </a:prstGeom>
          <a:solidFill>
            <a:srgbClr val="E7EEF8"/>
          </a:solidFill>
          <a:ln w="12700">
            <a:solidFill>
              <a:srgbClr val="E7EEF8"/>
            </a:solidFill>
            <a:prstDash val="solid"/>
          </a:ln>
        </p:spPr>
        <p:txBody>
          <a:bodyPr/>
          <a:lstStyle/>
          <a:p>
            <a:endParaRPr lang="en-US"/>
          </a:p>
        </p:txBody>
      </p:sp>
      <p:sp>
        <p:nvSpPr>
          <p:cNvPr id="90" name="Text 88"/>
          <p:cNvSpPr txBox="1"/>
          <p:nvPr/>
        </p:nvSpPr>
        <p:spPr>
          <a:xfrm>
            <a:off x="9711294" y="2999232"/>
            <a:ext cx="865297" cy="457200"/>
          </a:xfrm>
          <a:prstGeom prst="rect">
            <a:avLst/>
          </a:prstGeom>
          <a:noFill/>
          <a:ln/>
        </p:spPr>
        <p:txBody>
          <a:bodyPr wrap="square" lIns="0" tIns="0" rIns="0" bIns="0" rtlCol="0" anchor="ctr"/>
          <a:lstStyle/>
          <a:p>
            <a:pPr marL="0" indent="0" algn="ctr">
              <a:buNone/>
            </a:pPr>
            <a:r>
              <a:rPr lang="en-US" sz="1050" dirty="0">
                <a:solidFill>
                  <a:srgbClr val="111722"/>
                </a:solidFill>
                <a:latin typeface="Consolas" pitchFamily="34" charset="0"/>
                <a:ea typeface="Consolas" pitchFamily="34" charset="-122"/>
                <a:cs typeface="Consolas" pitchFamily="34" charset="-120"/>
              </a:rPr>
              <a:t>0.01</a:t>
            </a:r>
            <a:endParaRPr lang="en-US" sz="1050" dirty="0"/>
          </a:p>
        </p:txBody>
      </p:sp>
      <p:sp>
        <p:nvSpPr>
          <p:cNvPr id="91" name="Shape 89"/>
          <p:cNvSpPr/>
          <p:nvPr/>
        </p:nvSpPr>
        <p:spPr>
          <a:xfrm>
            <a:off x="10631454" y="2999232"/>
            <a:ext cx="865297" cy="457200"/>
          </a:xfrm>
          <a:prstGeom prst="roundRect">
            <a:avLst>
              <a:gd name="adj" fmla="val 16000"/>
            </a:avLst>
          </a:prstGeom>
          <a:solidFill>
            <a:srgbClr val="E7EEF8"/>
          </a:solidFill>
          <a:ln w="12700">
            <a:solidFill>
              <a:srgbClr val="E7EEF8"/>
            </a:solidFill>
            <a:prstDash val="solid"/>
          </a:ln>
        </p:spPr>
        <p:txBody>
          <a:bodyPr/>
          <a:lstStyle/>
          <a:p>
            <a:endParaRPr lang="en-US"/>
          </a:p>
        </p:txBody>
      </p:sp>
      <p:sp>
        <p:nvSpPr>
          <p:cNvPr id="92" name="Text 90"/>
          <p:cNvSpPr txBox="1"/>
          <p:nvPr/>
        </p:nvSpPr>
        <p:spPr>
          <a:xfrm>
            <a:off x="10631454" y="2999232"/>
            <a:ext cx="865297" cy="457200"/>
          </a:xfrm>
          <a:prstGeom prst="rect">
            <a:avLst/>
          </a:prstGeom>
          <a:noFill/>
          <a:ln/>
        </p:spPr>
        <p:txBody>
          <a:bodyPr wrap="square" lIns="0" tIns="0" rIns="0" bIns="0" rtlCol="0" anchor="ctr"/>
          <a:lstStyle/>
          <a:p>
            <a:pPr marL="0" indent="0" algn="ctr">
              <a:buNone/>
            </a:pPr>
            <a:r>
              <a:rPr lang="en-US" sz="1050" dirty="0">
                <a:solidFill>
                  <a:srgbClr val="111722"/>
                </a:solidFill>
                <a:latin typeface="Consolas" pitchFamily="34" charset="0"/>
                <a:ea typeface="Consolas" pitchFamily="34" charset="-122"/>
                <a:cs typeface="Consolas" pitchFamily="34" charset="-120"/>
              </a:rPr>
              <a:t>0.01</a:t>
            </a:r>
            <a:endParaRPr lang="en-US" sz="1050" dirty="0"/>
          </a:p>
        </p:txBody>
      </p:sp>
      <p:sp>
        <p:nvSpPr>
          <p:cNvPr id="93" name="Shape 91"/>
          <p:cNvSpPr/>
          <p:nvPr/>
        </p:nvSpPr>
        <p:spPr>
          <a:xfrm>
            <a:off x="640080" y="3511296"/>
            <a:ext cx="1600200" cy="457200"/>
          </a:xfrm>
          <a:prstGeom prst="roundRect">
            <a:avLst>
              <a:gd name="adj" fmla="val 16000"/>
            </a:avLst>
          </a:prstGeom>
          <a:solidFill>
            <a:srgbClr val="FAF0DE"/>
          </a:solidFill>
          <a:ln w="12700">
            <a:solidFill>
              <a:srgbClr val="FAF0DE"/>
            </a:solidFill>
            <a:prstDash val="solid"/>
          </a:ln>
        </p:spPr>
        <p:txBody>
          <a:bodyPr/>
          <a:lstStyle/>
          <a:p>
            <a:endParaRPr lang="en-US"/>
          </a:p>
        </p:txBody>
      </p:sp>
      <p:sp>
        <p:nvSpPr>
          <p:cNvPr id="94" name="Text 92"/>
          <p:cNvSpPr txBox="1"/>
          <p:nvPr/>
        </p:nvSpPr>
        <p:spPr>
          <a:xfrm>
            <a:off x="768096" y="3511296"/>
            <a:ext cx="1380744" cy="457200"/>
          </a:xfrm>
          <a:prstGeom prst="rect">
            <a:avLst/>
          </a:prstGeom>
          <a:noFill/>
          <a:ln/>
        </p:spPr>
        <p:txBody>
          <a:bodyPr wrap="square" lIns="0" tIns="0" rIns="0" bIns="0" rtlCol="0" anchor="ctr"/>
          <a:lstStyle/>
          <a:p>
            <a:pPr marL="0" indent="0">
              <a:buNone/>
            </a:pPr>
            <a:r>
              <a:rPr lang="en-US" sz="1350" b="1" dirty="0">
                <a:solidFill>
                  <a:srgbClr val="111722"/>
                </a:solidFill>
                <a:latin typeface="Cambria Math" pitchFamily="34" charset="0"/>
                <a:ea typeface="Cambria Math" pitchFamily="34" charset="-122"/>
                <a:cs typeface="Cambria Math" pitchFamily="34" charset="-120"/>
              </a:rPr>
              <a:t>(aⱼ − yⱼ)²</a:t>
            </a:r>
            <a:endParaRPr lang="en-US" sz="1350" dirty="0"/>
          </a:p>
        </p:txBody>
      </p:sp>
      <p:sp>
        <p:nvSpPr>
          <p:cNvPr id="95" name="Shape 93"/>
          <p:cNvSpPr/>
          <p:nvPr/>
        </p:nvSpPr>
        <p:spPr>
          <a:xfrm>
            <a:off x="2350008" y="3511296"/>
            <a:ext cx="865297" cy="457200"/>
          </a:xfrm>
          <a:prstGeom prst="roundRect">
            <a:avLst>
              <a:gd name="adj" fmla="val 16000"/>
            </a:avLst>
          </a:prstGeom>
          <a:solidFill>
            <a:srgbClr val="FAF0DE"/>
          </a:solidFill>
          <a:ln w="12700">
            <a:solidFill>
              <a:srgbClr val="FAF0DE"/>
            </a:solidFill>
            <a:prstDash val="solid"/>
          </a:ln>
        </p:spPr>
        <p:txBody>
          <a:bodyPr/>
          <a:lstStyle/>
          <a:p>
            <a:endParaRPr lang="en-US"/>
          </a:p>
        </p:txBody>
      </p:sp>
      <p:sp>
        <p:nvSpPr>
          <p:cNvPr id="96" name="Text 94"/>
          <p:cNvSpPr txBox="1"/>
          <p:nvPr/>
        </p:nvSpPr>
        <p:spPr>
          <a:xfrm>
            <a:off x="2350008" y="3511296"/>
            <a:ext cx="865297" cy="457200"/>
          </a:xfrm>
          <a:prstGeom prst="rect">
            <a:avLst/>
          </a:prstGeom>
          <a:noFill/>
          <a:ln/>
        </p:spPr>
        <p:txBody>
          <a:bodyPr wrap="square" lIns="0" tIns="0" rIns="0" bIns="0" rtlCol="0" anchor="ctr"/>
          <a:lstStyle/>
          <a:p>
            <a:pPr marL="0" indent="0" algn="ctr">
              <a:buNone/>
            </a:pPr>
            <a:r>
              <a:rPr lang="en-US" sz="1050" dirty="0">
                <a:solidFill>
                  <a:srgbClr val="111722"/>
                </a:solidFill>
                <a:latin typeface="Consolas" pitchFamily="34" charset="0"/>
                <a:ea typeface="Consolas" pitchFamily="34" charset="-122"/>
                <a:cs typeface="Consolas" pitchFamily="34" charset="-120"/>
              </a:rPr>
              <a:t>.0001</a:t>
            </a:r>
            <a:endParaRPr lang="en-US" sz="1050" dirty="0"/>
          </a:p>
        </p:txBody>
      </p:sp>
      <p:sp>
        <p:nvSpPr>
          <p:cNvPr id="97" name="Shape 95"/>
          <p:cNvSpPr/>
          <p:nvPr/>
        </p:nvSpPr>
        <p:spPr>
          <a:xfrm>
            <a:off x="3270169" y="3511296"/>
            <a:ext cx="865297" cy="457200"/>
          </a:xfrm>
          <a:prstGeom prst="roundRect">
            <a:avLst>
              <a:gd name="adj" fmla="val 16000"/>
            </a:avLst>
          </a:prstGeom>
          <a:solidFill>
            <a:srgbClr val="FAF0DE"/>
          </a:solidFill>
          <a:ln w="12700">
            <a:solidFill>
              <a:srgbClr val="FAF0DE"/>
            </a:solidFill>
            <a:prstDash val="solid"/>
          </a:ln>
        </p:spPr>
        <p:txBody>
          <a:bodyPr/>
          <a:lstStyle/>
          <a:p>
            <a:endParaRPr lang="en-US"/>
          </a:p>
        </p:txBody>
      </p:sp>
      <p:sp>
        <p:nvSpPr>
          <p:cNvPr id="98" name="Text 96"/>
          <p:cNvSpPr txBox="1"/>
          <p:nvPr/>
        </p:nvSpPr>
        <p:spPr>
          <a:xfrm>
            <a:off x="3270169" y="3511296"/>
            <a:ext cx="865297" cy="457200"/>
          </a:xfrm>
          <a:prstGeom prst="rect">
            <a:avLst/>
          </a:prstGeom>
          <a:noFill/>
          <a:ln/>
        </p:spPr>
        <p:txBody>
          <a:bodyPr wrap="square" lIns="0" tIns="0" rIns="0" bIns="0" rtlCol="0" anchor="ctr"/>
          <a:lstStyle/>
          <a:p>
            <a:pPr marL="0" indent="0" algn="ctr">
              <a:buNone/>
            </a:pPr>
            <a:r>
              <a:rPr lang="en-US" sz="1050" dirty="0">
                <a:solidFill>
                  <a:srgbClr val="111722"/>
                </a:solidFill>
                <a:latin typeface="Consolas" pitchFamily="34" charset="0"/>
                <a:ea typeface="Consolas" pitchFamily="34" charset="-122"/>
                <a:cs typeface="Consolas" pitchFamily="34" charset="-120"/>
              </a:rPr>
              <a:t>.0004</a:t>
            </a:r>
            <a:endParaRPr lang="en-US" sz="1050" dirty="0"/>
          </a:p>
        </p:txBody>
      </p:sp>
      <p:sp>
        <p:nvSpPr>
          <p:cNvPr id="99" name="Shape 97"/>
          <p:cNvSpPr/>
          <p:nvPr/>
        </p:nvSpPr>
        <p:spPr>
          <a:xfrm>
            <a:off x="4190329" y="3511296"/>
            <a:ext cx="865297" cy="457200"/>
          </a:xfrm>
          <a:prstGeom prst="roundRect">
            <a:avLst>
              <a:gd name="adj" fmla="val 16000"/>
            </a:avLst>
          </a:prstGeom>
          <a:solidFill>
            <a:srgbClr val="FAF0DE"/>
          </a:solidFill>
          <a:ln w="12700">
            <a:solidFill>
              <a:srgbClr val="FAF0DE"/>
            </a:solidFill>
            <a:prstDash val="solid"/>
          </a:ln>
        </p:spPr>
        <p:txBody>
          <a:bodyPr/>
          <a:lstStyle/>
          <a:p>
            <a:endParaRPr lang="en-US"/>
          </a:p>
        </p:txBody>
      </p:sp>
      <p:sp>
        <p:nvSpPr>
          <p:cNvPr id="100" name="Text 98"/>
          <p:cNvSpPr txBox="1"/>
          <p:nvPr/>
        </p:nvSpPr>
        <p:spPr>
          <a:xfrm>
            <a:off x="4190329" y="3511296"/>
            <a:ext cx="865297" cy="457200"/>
          </a:xfrm>
          <a:prstGeom prst="rect">
            <a:avLst/>
          </a:prstGeom>
          <a:noFill/>
          <a:ln/>
        </p:spPr>
        <p:txBody>
          <a:bodyPr wrap="square" lIns="0" tIns="0" rIns="0" bIns="0" rtlCol="0" anchor="ctr"/>
          <a:lstStyle/>
          <a:p>
            <a:pPr marL="0" indent="0" algn="ctr">
              <a:buNone/>
            </a:pPr>
            <a:r>
              <a:rPr lang="en-US" sz="1050" dirty="0">
                <a:solidFill>
                  <a:srgbClr val="111722"/>
                </a:solidFill>
                <a:latin typeface="Consolas" pitchFamily="34" charset="0"/>
                <a:ea typeface="Consolas" pitchFamily="34" charset="-122"/>
                <a:cs typeface="Consolas" pitchFamily="34" charset="-120"/>
              </a:rPr>
              <a:t>.0100</a:t>
            </a:r>
            <a:endParaRPr lang="en-US" sz="1050" dirty="0"/>
          </a:p>
        </p:txBody>
      </p:sp>
      <p:sp>
        <p:nvSpPr>
          <p:cNvPr id="101" name="Shape 99"/>
          <p:cNvSpPr/>
          <p:nvPr/>
        </p:nvSpPr>
        <p:spPr>
          <a:xfrm>
            <a:off x="5110490" y="3511296"/>
            <a:ext cx="865297" cy="457200"/>
          </a:xfrm>
          <a:prstGeom prst="roundRect">
            <a:avLst>
              <a:gd name="adj" fmla="val 16000"/>
            </a:avLst>
          </a:prstGeom>
          <a:solidFill>
            <a:srgbClr val="FBE6C4"/>
          </a:solidFill>
          <a:ln w="12700">
            <a:solidFill>
              <a:srgbClr val="FBE6C4"/>
            </a:solidFill>
            <a:prstDash val="solid"/>
          </a:ln>
        </p:spPr>
        <p:txBody>
          <a:bodyPr/>
          <a:lstStyle/>
          <a:p>
            <a:endParaRPr lang="en-US"/>
          </a:p>
        </p:txBody>
      </p:sp>
      <p:sp>
        <p:nvSpPr>
          <p:cNvPr id="102" name="Text 100"/>
          <p:cNvSpPr txBox="1"/>
          <p:nvPr/>
        </p:nvSpPr>
        <p:spPr>
          <a:xfrm>
            <a:off x="5110490" y="3511296"/>
            <a:ext cx="865297" cy="457200"/>
          </a:xfrm>
          <a:prstGeom prst="rect">
            <a:avLst/>
          </a:prstGeom>
          <a:noFill/>
          <a:ln/>
        </p:spPr>
        <p:txBody>
          <a:bodyPr wrap="square" lIns="0" tIns="0" rIns="0" bIns="0" rtlCol="0" anchor="ctr"/>
          <a:lstStyle/>
          <a:p>
            <a:pPr marL="0" indent="0" algn="ctr">
              <a:buNone/>
            </a:pPr>
            <a:r>
              <a:rPr lang="en-US" sz="1050" b="1" dirty="0">
                <a:solidFill>
                  <a:srgbClr val="111722"/>
                </a:solidFill>
                <a:latin typeface="Consolas" pitchFamily="34" charset="0"/>
                <a:ea typeface="Consolas" pitchFamily="34" charset="-122"/>
                <a:cs typeface="Consolas" pitchFamily="34" charset="-120"/>
              </a:rPr>
              <a:t>.0784</a:t>
            </a:r>
            <a:endParaRPr lang="en-US" sz="1050" dirty="0"/>
          </a:p>
        </p:txBody>
      </p:sp>
      <p:sp>
        <p:nvSpPr>
          <p:cNvPr id="103" name="Shape 101"/>
          <p:cNvSpPr/>
          <p:nvPr/>
        </p:nvSpPr>
        <p:spPr>
          <a:xfrm>
            <a:off x="6030651" y="3511296"/>
            <a:ext cx="865297" cy="457200"/>
          </a:xfrm>
          <a:prstGeom prst="roundRect">
            <a:avLst>
              <a:gd name="adj" fmla="val 16000"/>
            </a:avLst>
          </a:prstGeom>
          <a:solidFill>
            <a:srgbClr val="FAF0DE"/>
          </a:solidFill>
          <a:ln w="12700">
            <a:solidFill>
              <a:srgbClr val="FAF0DE"/>
            </a:solidFill>
            <a:prstDash val="solid"/>
          </a:ln>
        </p:spPr>
        <p:txBody>
          <a:bodyPr/>
          <a:lstStyle/>
          <a:p>
            <a:endParaRPr lang="en-US"/>
          </a:p>
        </p:txBody>
      </p:sp>
      <p:sp>
        <p:nvSpPr>
          <p:cNvPr id="104" name="Text 102"/>
          <p:cNvSpPr txBox="1"/>
          <p:nvPr/>
        </p:nvSpPr>
        <p:spPr>
          <a:xfrm>
            <a:off x="6030651" y="3511296"/>
            <a:ext cx="865297" cy="457200"/>
          </a:xfrm>
          <a:prstGeom prst="rect">
            <a:avLst/>
          </a:prstGeom>
          <a:noFill/>
          <a:ln/>
        </p:spPr>
        <p:txBody>
          <a:bodyPr wrap="square" lIns="0" tIns="0" rIns="0" bIns="0" rtlCol="0" anchor="ctr"/>
          <a:lstStyle/>
          <a:p>
            <a:pPr marL="0" indent="0" algn="ctr">
              <a:buNone/>
            </a:pPr>
            <a:r>
              <a:rPr lang="en-US" sz="1050" dirty="0">
                <a:solidFill>
                  <a:srgbClr val="111722"/>
                </a:solidFill>
                <a:latin typeface="Consolas" pitchFamily="34" charset="0"/>
                <a:ea typeface="Consolas" pitchFamily="34" charset="-122"/>
                <a:cs typeface="Consolas" pitchFamily="34" charset="-120"/>
              </a:rPr>
              <a:t>.0009</a:t>
            </a:r>
            <a:endParaRPr lang="en-US" sz="1050" dirty="0"/>
          </a:p>
        </p:txBody>
      </p:sp>
      <p:sp>
        <p:nvSpPr>
          <p:cNvPr id="105" name="Shape 103"/>
          <p:cNvSpPr/>
          <p:nvPr/>
        </p:nvSpPr>
        <p:spPr>
          <a:xfrm>
            <a:off x="6950812" y="3511296"/>
            <a:ext cx="865297" cy="457200"/>
          </a:xfrm>
          <a:prstGeom prst="roundRect">
            <a:avLst>
              <a:gd name="adj" fmla="val 16000"/>
            </a:avLst>
          </a:prstGeom>
          <a:solidFill>
            <a:srgbClr val="FAF0DE"/>
          </a:solidFill>
          <a:ln w="12700">
            <a:solidFill>
              <a:srgbClr val="FAF0DE"/>
            </a:solidFill>
            <a:prstDash val="solid"/>
          </a:ln>
        </p:spPr>
        <p:txBody>
          <a:bodyPr/>
          <a:lstStyle/>
          <a:p>
            <a:endParaRPr lang="en-US"/>
          </a:p>
        </p:txBody>
      </p:sp>
      <p:sp>
        <p:nvSpPr>
          <p:cNvPr id="106" name="Text 104"/>
          <p:cNvSpPr txBox="1"/>
          <p:nvPr/>
        </p:nvSpPr>
        <p:spPr>
          <a:xfrm>
            <a:off x="6950812" y="3511296"/>
            <a:ext cx="865297" cy="457200"/>
          </a:xfrm>
          <a:prstGeom prst="rect">
            <a:avLst/>
          </a:prstGeom>
          <a:noFill/>
          <a:ln/>
        </p:spPr>
        <p:txBody>
          <a:bodyPr wrap="square" lIns="0" tIns="0" rIns="0" bIns="0" rtlCol="0" anchor="ctr"/>
          <a:lstStyle/>
          <a:p>
            <a:pPr marL="0" indent="0" algn="ctr">
              <a:buNone/>
            </a:pPr>
            <a:r>
              <a:rPr lang="en-US" sz="1050" dirty="0">
                <a:solidFill>
                  <a:srgbClr val="111722"/>
                </a:solidFill>
                <a:latin typeface="Consolas" pitchFamily="34" charset="0"/>
                <a:ea typeface="Consolas" pitchFamily="34" charset="-122"/>
                <a:cs typeface="Consolas" pitchFamily="34" charset="-120"/>
              </a:rPr>
              <a:t>.0016</a:t>
            </a:r>
            <a:endParaRPr lang="en-US" sz="1050" dirty="0"/>
          </a:p>
        </p:txBody>
      </p:sp>
      <p:sp>
        <p:nvSpPr>
          <p:cNvPr id="107" name="Shape 105"/>
          <p:cNvSpPr/>
          <p:nvPr/>
        </p:nvSpPr>
        <p:spPr>
          <a:xfrm>
            <a:off x="7870972" y="3511296"/>
            <a:ext cx="865297" cy="457200"/>
          </a:xfrm>
          <a:prstGeom prst="roundRect">
            <a:avLst>
              <a:gd name="adj" fmla="val 16000"/>
            </a:avLst>
          </a:prstGeom>
          <a:solidFill>
            <a:srgbClr val="FAF0DE"/>
          </a:solidFill>
          <a:ln w="12700">
            <a:solidFill>
              <a:srgbClr val="FAF0DE"/>
            </a:solidFill>
            <a:prstDash val="solid"/>
          </a:ln>
        </p:spPr>
        <p:txBody>
          <a:bodyPr/>
          <a:lstStyle/>
          <a:p>
            <a:endParaRPr lang="en-US"/>
          </a:p>
        </p:txBody>
      </p:sp>
      <p:sp>
        <p:nvSpPr>
          <p:cNvPr id="108" name="Text 106"/>
          <p:cNvSpPr txBox="1"/>
          <p:nvPr/>
        </p:nvSpPr>
        <p:spPr>
          <a:xfrm>
            <a:off x="7870972" y="3511296"/>
            <a:ext cx="865297" cy="457200"/>
          </a:xfrm>
          <a:prstGeom prst="rect">
            <a:avLst/>
          </a:prstGeom>
          <a:noFill/>
          <a:ln/>
        </p:spPr>
        <p:txBody>
          <a:bodyPr wrap="square" lIns="0" tIns="0" rIns="0" bIns="0" rtlCol="0" anchor="ctr"/>
          <a:lstStyle/>
          <a:p>
            <a:pPr marL="0" indent="0" algn="ctr">
              <a:buNone/>
            </a:pPr>
            <a:r>
              <a:rPr lang="en-US" sz="1050" dirty="0">
                <a:solidFill>
                  <a:srgbClr val="111722"/>
                </a:solidFill>
                <a:latin typeface="Consolas" pitchFamily="34" charset="0"/>
                <a:ea typeface="Consolas" pitchFamily="34" charset="-122"/>
                <a:cs typeface="Consolas" pitchFamily="34" charset="-120"/>
              </a:rPr>
              <a:t>.0001</a:t>
            </a:r>
            <a:endParaRPr lang="en-US" sz="1050" dirty="0"/>
          </a:p>
        </p:txBody>
      </p:sp>
      <p:sp>
        <p:nvSpPr>
          <p:cNvPr id="109" name="Shape 107"/>
          <p:cNvSpPr/>
          <p:nvPr/>
        </p:nvSpPr>
        <p:spPr>
          <a:xfrm>
            <a:off x="8791133" y="3511296"/>
            <a:ext cx="865297" cy="457200"/>
          </a:xfrm>
          <a:prstGeom prst="roundRect">
            <a:avLst>
              <a:gd name="adj" fmla="val 16000"/>
            </a:avLst>
          </a:prstGeom>
          <a:solidFill>
            <a:srgbClr val="FAF0DE"/>
          </a:solidFill>
          <a:ln w="12700">
            <a:solidFill>
              <a:srgbClr val="FAF0DE"/>
            </a:solidFill>
            <a:prstDash val="solid"/>
          </a:ln>
        </p:spPr>
        <p:txBody>
          <a:bodyPr/>
          <a:lstStyle/>
          <a:p>
            <a:endParaRPr lang="en-US"/>
          </a:p>
        </p:txBody>
      </p:sp>
      <p:sp>
        <p:nvSpPr>
          <p:cNvPr id="110" name="Text 108"/>
          <p:cNvSpPr txBox="1"/>
          <p:nvPr/>
        </p:nvSpPr>
        <p:spPr>
          <a:xfrm>
            <a:off x="8791133" y="3511296"/>
            <a:ext cx="865297" cy="457200"/>
          </a:xfrm>
          <a:prstGeom prst="rect">
            <a:avLst/>
          </a:prstGeom>
          <a:noFill/>
          <a:ln/>
        </p:spPr>
        <p:txBody>
          <a:bodyPr wrap="square" lIns="0" tIns="0" rIns="0" bIns="0" rtlCol="0" anchor="ctr"/>
          <a:lstStyle/>
          <a:p>
            <a:pPr marL="0" indent="0" algn="ctr">
              <a:buNone/>
            </a:pPr>
            <a:r>
              <a:rPr lang="en-US" sz="1050" dirty="0">
                <a:solidFill>
                  <a:srgbClr val="111722"/>
                </a:solidFill>
                <a:latin typeface="Consolas" pitchFamily="34" charset="0"/>
                <a:ea typeface="Consolas" pitchFamily="34" charset="-122"/>
                <a:cs typeface="Consolas" pitchFamily="34" charset="-120"/>
              </a:rPr>
              <a:t>.0025</a:t>
            </a:r>
            <a:endParaRPr lang="en-US" sz="1050" dirty="0"/>
          </a:p>
        </p:txBody>
      </p:sp>
      <p:sp>
        <p:nvSpPr>
          <p:cNvPr id="111" name="Shape 109"/>
          <p:cNvSpPr/>
          <p:nvPr/>
        </p:nvSpPr>
        <p:spPr>
          <a:xfrm>
            <a:off x="9711294" y="3511296"/>
            <a:ext cx="865297" cy="457200"/>
          </a:xfrm>
          <a:prstGeom prst="roundRect">
            <a:avLst>
              <a:gd name="adj" fmla="val 16000"/>
            </a:avLst>
          </a:prstGeom>
          <a:solidFill>
            <a:srgbClr val="FAF0DE"/>
          </a:solidFill>
          <a:ln w="12700">
            <a:solidFill>
              <a:srgbClr val="FAF0DE"/>
            </a:solidFill>
            <a:prstDash val="solid"/>
          </a:ln>
        </p:spPr>
        <p:txBody>
          <a:bodyPr/>
          <a:lstStyle/>
          <a:p>
            <a:endParaRPr lang="en-US"/>
          </a:p>
        </p:txBody>
      </p:sp>
      <p:sp>
        <p:nvSpPr>
          <p:cNvPr id="112" name="Text 110"/>
          <p:cNvSpPr txBox="1"/>
          <p:nvPr/>
        </p:nvSpPr>
        <p:spPr>
          <a:xfrm>
            <a:off x="9711294" y="3511296"/>
            <a:ext cx="865297" cy="457200"/>
          </a:xfrm>
          <a:prstGeom prst="rect">
            <a:avLst/>
          </a:prstGeom>
          <a:noFill/>
          <a:ln/>
        </p:spPr>
        <p:txBody>
          <a:bodyPr wrap="square" lIns="0" tIns="0" rIns="0" bIns="0" rtlCol="0" anchor="ctr"/>
          <a:lstStyle/>
          <a:p>
            <a:pPr marL="0" indent="0" algn="ctr">
              <a:buNone/>
            </a:pPr>
            <a:r>
              <a:rPr lang="en-US" sz="1050" dirty="0">
                <a:solidFill>
                  <a:srgbClr val="111722"/>
                </a:solidFill>
                <a:latin typeface="Consolas" pitchFamily="34" charset="0"/>
                <a:ea typeface="Consolas" pitchFamily="34" charset="-122"/>
                <a:cs typeface="Consolas" pitchFamily="34" charset="-120"/>
              </a:rPr>
              <a:t>.0001</a:t>
            </a:r>
            <a:endParaRPr lang="en-US" sz="1050" dirty="0"/>
          </a:p>
        </p:txBody>
      </p:sp>
      <p:sp>
        <p:nvSpPr>
          <p:cNvPr id="113" name="Shape 111"/>
          <p:cNvSpPr/>
          <p:nvPr/>
        </p:nvSpPr>
        <p:spPr>
          <a:xfrm>
            <a:off x="10631454" y="3511296"/>
            <a:ext cx="865297" cy="457200"/>
          </a:xfrm>
          <a:prstGeom prst="roundRect">
            <a:avLst>
              <a:gd name="adj" fmla="val 16000"/>
            </a:avLst>
          </a:prstGeom>
          <a:solidFill>
            <a:srgbClr val="FAF0DE"/>
          </a:solidFill>
          <a:ln w="12700">
            <a:solidFill>
              <a:srgbClr val="FAF0DE"/>
            </a:solidFill>
            <a:prstDash val="solid"/>
          </a:ln>
        </p:spPr>
        <p:txBody>
          <a:bodyPr/>
          <a:lstStyle/>
          <a:p>
            <a:endParaRPr lang="en-US"/>
          </a:p>
        </p:txBody>
      </p:sp>
      <p:sp>
        <p:nvSpPr>
          <p:cNvPr id="114" name="Text 112"/>
          <p:cNvSpPr txBox="1"/>
          <p:nvPr/>
        </p:nvSpPr>
        <p:spPr>
          <a:xfrm>
            <a:off x="10631454" y="3511296"/>
            <a:ext cx="865297" cy="457200"/>
          </a:xfrm>
          <a:prstGeom prst="rect">
            <a:avLst/>
          </a:prstGeom>
          <a:noFill/>
          <a:ln/>
        </p:spPr>
        <p:txBody>
          <a:bodyPr wrap="square" lIns="0" tIns="0" rIns="0" bIns="0" rtlCol="0" anchor="ctr"/>
          <a:lstStyle/>
          <a:p>
            <a:pPr marL="0" indent="0" algn="ctr">
              <a:buNone/>
            </a:pPr>
            <a:r>
              <a:rPr lang="en-US" sz="1050" dirty="0">
                <a:solidFill>
                  <a:srgbClr val="111722"/>
                </a:solidFill>
                <a:latin typeface="Consolas" pitchFamily="34" charset="0"/>
                <a:ea typeface="Consolas" pitchFamily="34" charset="-122"/>
                <a:cs typeface="Consolas" pitchFamily="34" charset="-120"/>
              </a:rPr>
              <a:t>.0001</a:t>
            </a:r>
            <a:endParaRPr lang="en-US" sz="1050" dirty="0"/>
          </a:p>
        </p:txBody>
      </p:sp>
      <p:sp>
        <p:nvSpPr>
          <p:cNvPr id="115" name="Shape 113"/>
          <p:cNvSpPr/>
          <p:nvPr/>
        </p:nvSpPr>
        <p:spPr>
          <a:xfrm>
            <a:off x="640080" y="4114800"/>
            <a:ext cx="5394960" cy="1097280"/>
          </a:xfrm>
          <a:prstGeom prst="roundRect">
            <a:avLst>
              <a:gd name="adj" fmla="val 6667"/>
            </a:avLst>
          </a:prstGeom>
          <a:solidFill>
            <a:srgbClr val="111722"/>
          </a:solidFill>
          <a:ln w="12700">
            <a:solidFill>
              <a:srgbClr val="111722"/>
            </a:solidFill>
            <a:prstDash val="solid"/>
          </a:ln>
        </p:spPr>
        <p:txBody>
          <a:bodyPr/>
          <a:lstStyle/>
          <a:p>
            <a:endParaRPr lang="en-US"/>
          </a:p>
        </p:txBody>
      </p:sp>
      <p:sp>
        <p:nvSpPr>
          <p:cNvPr id="116" name="Text 114"/>
          <p:cNvSpPr txBox="1"/>
          <p:nvPr/>
        </p:nvSpPr>
        <p:spPr>
          <a:xfrm>
            <a:off x="1005840" y="4251960"/>
            <a:ext cx="4663440" cy="365760"/>
          </a:xfrm>
          <a:prstGeom prst="rect">
            <a:avLst/>
          </a:prstGeom>
          <a:noFill/>
          <a:ln/>
        </p:spPr>
        <p:txBody>
          <a:bodyPr wrap="square" lIns="0" tIns="0" rIns="0" bIns="0" rtlCol="0" anchor="ctr"/>
          <a:lstStyle/>
          <a:p>
            <a:pPr marL="0" indent="0">
              <a:buNone/>
            </a:pPr>
            <a:r>
              <a:rPr lang="en-US" sz="1900" b="1" dirty="0">
                <a:solidFill>
                  <a:srgbClr val="E9AC53"/>
                </a:solidFill>
                <a:latin typeface="Cambria" pitchFamily="34" charset="0"/>
                <a:ea typeface="Cambria" pitchFamily="34" charset="-122"/>
                <a:cs typeface="Cambria" pitchFamily="34" charset="-120"/>
              </a:rPr>
              <a:t>Add the last row: 0.0942</a:t>
            </a:r>
            <a:endParaRPr lang="en-US" sz="1900" dirty="0"/>
          </a:p>
        </p:txBody>
      </p:sp>
      <p:sp>
        <p:nvSpPr>
          <p:cNvPr id="117" name="Text 115"/>
          <p:cNvSpPr txBox="1"/>
          <p:nvPr/>
        </p:nvSpPr>
        <p:spPr>
          <a:xfrm>
            <a:off x="1005840" y="4645152"/>
            <a:ext cx="4663440" cy="457200"/>
          </a:xfrm>
          <a:prstGeom prst="rect">
            <a:avLst/>
          </a:prstGeom>
          <a:noFill/>
          <a:ln/>
        </p:spPr>
        <p:txBody>
          <a:bodyPr wrap="square" lIns="0" tIns="0" rIns="0" bIns="0" rtlCol="0" anchor="ctr"/>
          <a:lstStyle/>
          <a:p>
            <a:pPr marL="0" indent="0">
              <a:lnSpc>
                <a:spcPts val="1600"/>
              </a:lnSpc>
              <a:buNone/>
            </a:pPr>
            <a:r>
              <a:rPr lang="en-US" sz="1200" dirty="0">
                <a:solidFill>
                  <a:srgbClr val="F2F4F8"/>
                </a:solidFill>
                <a:latin typeface="Calibri" pitchFamily="34" charset="0"/>
                <a:ea typeface="Calibri" pitchFamily="34" charset="-122"/>
                <a:cs typeface="Calibri" pitchFamily="34" charset="-120"/>
              </a:rPr>
              <a:t>One number. Low means the machine nearly agreed with the label; high means it did not.</a:t>
            </a:r>
            <a:endParaRPr lang="en-US" sz="1200" dirty="0"/>
          </a:p>
        </p:txBody>
      </p:sp>
      <p:sp>
        <p:nvSpPr>
          <p:cNvPr id="118" name="Shape 116"/>
          <p:cNvSpPr/>
          <p:nvPr/>
        </p:nvSpPr>
        <p:spPr>
          <a:xfrm>
            <a:off x="6309360" y="4114800"/>
            <a:ext cx="5221224" cy="1097280"/>
          </a:xfrm>
          <a:prstGeom prst="roundRect">
            <a:avLst>
              <a:gd name="adj" fmla="val 6667"/>
            </a:avLst>
          </a:prstGeom>
          <a:solidFill>
            <a:srgbClr val="FAF0DE"/>
          </a:solidFill>
          <a:ln w="12700">
            <a:solidFill>
              <a:srgbClr val="FAF0DE"/>
            </a:solidFill>
            <a:prstDash val="solid"/>
          </a:ln>
        </p:spPr>
        <p:txBody>
          <a:bodyPr/>
          <a:lstStyle/>
          <a:p>
            <a:endParaRPr lang="en-US"/>
          </a:p>
        </p:txBody>
      </p:sp>
      <p:sp>
        <p:nvSpPr>
          <p:cNvPr id="119" name="Text 117"/>
          <p:cNvSpPr txBox="1"/>
          <p:nvPr/>
        </p:nvSpPr>
        <p:spPr>
          <a:xfrm>
            <a:off x="6583680" y="4251960"/>
            <a:ext cx="4672584" cy="310896"/>
          </a:xfrm>
          <a:prstGeom prst="rect">
            <a:avLst/>
          </a:prstGeom>
          <a:noFill/>
          <a:ln/>
        </p:spPr>
        <p:txBody>
          <a:bodyPr wrap="square" lIns="0" tIns="0" rIns="0" bIns="0" rtlCol="0" anchor="ctr"/>
          <a:lstStyle/>
          <a:p>
            <a:pPr marL="0" indent="0">
              <a:buNone/>
            </a:pPr>
            <a:r>
              <a:rPr lang="en-US" sz="1600" b="1" dirty="0">
                <a:solidFill>
                  <a:srgbClr val="111722"/>
                </a:solidFill>
                <a:latin typeface="Cambria" pitchFamily="34" charset="0"/>
                <a:ea typeface="Cambria" pitchFamily="34" charset="-122"/>
                <a:cs typeface="Cambria" pitchFamily="34" charset="-120"/>
              </a:rPr>
              <a:t>That is the whole calculation.</a:t>
            </a:r>
            <a:endParaRPr lang="en-US" sz="1600" dirty="0"/>
          </a:p>
        </p:txBody>
      </p:sp>
      <p:sp>
        <p:nvSpPr>
          <p:cNvPr id="120" name="Text 118"/>
          <p:cNvSpPr txBox="1"/>
          <p:nvPr/>
        </p:nvSpPr>
        <p:spPr>
          <a:xfrm>
            <a:off x="6583680" y="4617720"/>
            <a:ext cx="4672584" cy="530352"/>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Subtract, square, add. On the next slide we write exactly this down in symbols, and the symbols will say nothing the table does not already say.</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741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THE LOSS, IN SYMBOLS</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11722"/>
                </a:solidFill>
                <a:latin typeface="Cambria" pitchFamily="34" charset="0"/>
                <a:ea typeface="Cambria" pitchFamily="34" charset="-122"/>
                <a:cs typeface="Cambria" pitchFamily="34" charset="-120"/>
              </a:rPr>
              <a:t>The same table, written once instead of ten times</a:t>
            </a:r>
            <a:endParaRPr lang="en-US" sz="2900" dirty="0"/>
          </a:p>
        </p:txBody>
      </p:sp>
      <p:sp>
        <p:nvSpPr>
          <p:cNvPr id="5" name="Shape 3"/>
          <p:cNvSpPr/>
          <p:nvPr/>
        </p:nvSpPr>
        <p:spPr>
          <a:xfrm>
            <a:off x="2468880" y="1417320"/>
            <a:ext cx="8138160" cy="1143000"/>
          </a:xfrm>
          <a:prstGeom prst="roundRect">
            <a:avLst>
              <a:gd name="adj" fmla="val 4800"/>
            </a:avLst>
          </a:prstGeom>
          <a:solidFill>
            <a:srgbClr val="F6F8FC"/>
          </a:solidFill>
          <a:ln w="12700">
            <a:solidFill>
              <a:srgbClr val="C9D4E6"/>
            </a:solidFill>
            <a:prstDash val="solid"/>
          </a:ln>
        </p:spPr>
        <p:txBody>
          <a:bodyPr/>
          <a:lstStyle/>
          <a:p>
            <a:endParaRPr lang="en-US"/>
          </a:p>
        </p:txBody>
      </p:sp>
      <p:sp>
        <p:nvSpPr>
          <p:cNvPr id="6" name="Text 4"/>
          <p:cNvSpPr txBox="1"/>
          <p:nvPr/>
        </p:nvSpPr>
        <p:spPr>
          <a:xfrm>
            <a:off x="2606040" y="1417320"/>
            <a:ext cx="7863840" cy="1143000"/>
          </a:xfrm>
          <a:prstGeom prst="rect">
            <a:avLst/>
          </a:prstGeom>
          <a:noFill/>
          <a:ln/>
        </p:spPr>
        <p:txBody>
          <a:bodyPr wrap="square" lIns="0" tIns="0" rIns="0" bIns="0" rtlCol="0" anchor="ctr"/>
          <a:lstStyle/>
          <a:p>
            <a:pPr marL="0" indent="0" algn="ctr">
              <a:buNone/>
            </a:pPr>
            <a:r>
              <a:rPr lang="en-US" sz="3800" dirty="0">
                <a:solidFill>
                  <a:srgbClr val="111722"/>
                </a:solidFill>
                <a:latin typeface="Cambria Math" pitchFamily="34" charset="0"/>
                <a:ea typeface="Cambria Math" pitchFamily="34" charset="-122"/>
                <a:cs typeface="Cambria Math" pitchFamily="34" charset="-120"/>
              </a:rPr>
              <a:t>C₀ = ∑ⱼ 1/2(aⱼ − yⱼ)²</a:t>
            </a:r>
            <a:endParaRPr lang="en-US" sz="3800" dirty="0"/>
          </a:p>
        </p:txBody>
      </p:sp>
      <p:sp>
        <p:nvSpPr>
          <p:cNvPr id="7" name="Text 5"/>
          <p:cNvSpPr txBox="1"/>
          <p:nvPr/>
        </p:nvSpPr>
        <p:spPr>
          <a:xfrm>
            <a:off x="1737360" y="2670048"/>
            <a:ext cx="9601200" cy="365760"/>
          </a:xfrm>
          <a:prstGeom prst="rect">
            <a:avLst/>
          </a:prstGeom>
          <a:noFill/>
          <a:ln/>
        </p:spPr>
        <p:txBody>
          <a:bodyPr wrap="square" lIns="0" tIns="0" rIns="0" bIns="0" rtlCol="0" anchor="ctr"/>
          <a:lstStyle/>
          <a:p>
            <a:pPr marL="0" indent="0" algn="ctr">
              <a:buNone/>
            </a:pPr>
            <a:r>
              <a:rPr lang="en-US" sz="1300" i="1" dirty="0">
                <a:solidFill>
                  <a:srgbClr val="2C5FA8"/>
                </a:solidFill>
                <a:latin typeface="Calibri" pitchFamily="34" charset="0"/>
                <a:ea typeface="Calibri" pitchFamily="34" charset="-122"/>
                <a:cs typeface="Calibri" pitchFamily="34" charset="-120"/>
              </a:rPr>
              <a:t>“The loss for this one image is: for every digit j, take what we said minus what we should have said, square it, and add all ten of those up.”</a:t>
            </a:r>
            <a:endParaRPr lang="en-US" sz="1300" dirty="0"/>
          </a:p>
        </p:txBody>
      </p:sp>
      <p:sp>
        <p:nvSpPr>
          <p:cNvPr id="8" name="Shape 6"/>
          <p:cNvSpPr/>
          <p:nvPr/>
        </p:nvSpPr>
        <p:spPr>
          <a:xfrm>
            <a:off x="640080" y="3246120"/>
            <a:ext cx="2021373" cy="22860"/>
          </a:xfrm>
          <a:prstGeom prst="rect">
            <a:avLst/>
          </a:prstGeom>
          <a:solidFill>
            <a:srgbClr val="2C5FA8"/>
          </a:solidFill>
          <a:ln/>
        </p:spPr>
        <p:txBody>
          <a:bodyPr/>
          <a:lstStyle/>
          <a:p>
            <a:endParaRPr lang="en-US"/>
          </a:p>
        </p:txBody>
      </p:sp>
      <p:sp>
        <p:nvSpPr>
          <p:cNvPr id="9" name="Text 7"/>
          <p:cNvSpPr txBox="1"/>
          <p:nvPr/>
        </p:nvSpPr>
        <p:spPr>
          <a:xfrm>
            <a:off x="640080" y="3337560"/>
            <a:ext cx="2021373" cy="384048"/>
          </a:xfrm>
          <a:prstGeom prst="rect">
            <a:avLst/>
          </a:prstGeom>
          <a:noFill/>
          <a:ln/>
        </p:spPr>
        <p:txBody>
          <a:bodyPr wrap="square" lIns="0" tIns="0" rIns="0" bIns="0" rtlCol="0" anchor="ctr"/>
          <a:lstStyle/>
          <a:p>
            <a:pPr marL="0" indent="0" algn="ctr">
              <a:buNone/>
            </a:pPr>
            <a:r>
              <a:rPr lang="en-US" sz="2200" b="1" dirty="0">
                <a:solidFill>
                  <a:srgbClr val="2C5FA8"/>
                </a:solidFill>
                <a:latin typeface="Cambria Math" pitchFamily="34" charset="0"/>
                <a:ea typeface="Cambria Math" pitchFamily="34" charset="-122"/>
                <a:cs typeface="Cambria Math" pitchFamily="34" charset="-120"/>
              </a:rPr>
              <a:t>C₀</a:t>
            </a:r>
            <a:endParaRPr lang="en-US" sz="2200" dirty="0"/>
          </a:p>
        </p:txBody>
      </p:sp>
      <p:sp>
        <p:nvSpPr>
          <p:cNvPr id="10" name="Text 8"/>
          <p:cNvSpPr txBox="1"/>
          <p:nvPr/>
        </p:nvSpPr>
        <p:spPr>
          <a:xfrm>
            <a:off x="640080" y="3776472"/>
            <a:ext cx="2021373" cy="960120"/>
          </a:xfrm>
          <a:prstGeom prst="rect">
            <a:avLst/>
          </a:prstGeom>
          <a:noFill/>
          <a:ln/>
        </p:spPr>
        <p:txBody>
          <a:bodyPr wrap="square" lIns="0" tIns="0" rIns="0" bIns="0" rtlCol="0" anchor="ctr"/>
          <a:lstStyle/>
          <a:p>
            <a:pPr marL="0" indent="0" algn="ctr">
              <a:lnSpc>
                <a:spcPts val="1500"/>
              </a:lnSpc>
              <a:buNone/>
            </a:pPr>
            <a:r>
              <a:rPr lang="en-US" sz="1150" dirty="0">
                <a:solidFill>
                  <a:srgbClr val="5B6474"/>
                </a:solidFill>
                <a:latin typeface="Calibri" pitchFamily="34" charset="0"/>
                <a:ea typeface="Calibri" pitchFamily="34" charset="-122"/>
                <a:cs typeface="Calibri" pitchFamily="34" charset="-120"/>
              </a:rPr>
              <a:t>the loss for one image. The subscript zero just means “this single example.”</a:t>
            </a:r>
            <a:endParaRPr lang="en-US" sz="1150" dirty="0"/>
          </a:p>
        </p:txBody>
      </p:sp>
      <p:sp>
        <p:nvSpPr>
          <p:cNvPr id="11" name="Shape 9"/>
          <p:cNvSpPr/>
          <p:nvPr/>
        </p:nvSpPr>
        <p:spPr>
          <a:xfrm>
            <a:off x="2862621" y="3246120"/>
            <a:ext cx="2021373" cy="22860"/>
          </a:xfrm>
          <a:prstGeom prst="rect">
            <a:avLst/>
          </a:prstGeom>
          <a:solidFill>
            <a:srgbClr val="C07414"/>
          </a:solidFill>
          <a:ln/>
        </p:spPr>
        <p:txBody>
          <a:bodyPr/>
          <a:lstStyle/>
          <a:p>
            <a:endParaRPr lang="en-US"/>
          </a:p>
        </p:txBody>
      </p:sp>
      <p:sp>
        <p:nvSpPr>
          <p:cNvPr id="12" name="Text 10"/>
          <p:cNvSpPr txBox="1"/>
          <p:nvPr/>
        </p:nvSpPr>
        <p:spPr>
          <a:xfrm>
            <a:off x="2862621" y="3337560"/>
            <a:ext cx="2021373" cy="384048"/>
          </a:xfrm>
          <a:prstGeom prst="rect">
            <a:avLst/>
          </a:prstGeom>
          <a:noFill/>
          <a:ln/>
        </p:spPr>
        <p:txBody>
          <a:bodyPr wrap="square" lIns="0" tIns="0" rIns="0" bIns="0" rtlCol="0" anchor="ctr"/>
          <a:lstStyle/>
          <a:p>
            <a:pPr marL="0" indent="0" algn="ctr">
              <a:buNone/>
            </a:pPr>
            <a:r>
              <a:rPr lang="en-US" sz="2200" b="1" dirty="0">
                <a:solidFill>
                  <a:srgbClr val="C07414"/>
                </a:solidFill>
                <a:latin typeface="Cambria Math" pitchFamily="34" charset="0"/>
                <a:ea typeface="Cambria Math" pitchFamily="34" charset="-122"/>
                <a:cs typeface="Cambria Math" pitchFamily="34" charset="-120"/>
              </a:rPr>
              <a:t>∑ⱼ</a:t>
            </a:r>
            <a:endParaRPr lang="en-US" sz="2200" dirty="0"/>
          </a:p>
        </p:txBody>
      </p:sp>
      <p:sp>
        <p:nvSpPr>
          <p:cNvPr id="13" name="Text 11"/>
          <p:cNvSpPr txBox="1"/>
          <p:nvPr/>
        </p:nvSpPr>
        <p:spPr>
          <a:xfrm>
            <a:off x="2862621" y="3776472"/>
            <a:ext cx="2021373" cy="960120"/>
          </a:xfrm>
          <a:prstGeom prst="rect">
            <a:avLst/>
          </a:prstGeom>
          <a:noFill/>
          <a:ln/>
        </p:spPr>
        <p:txBody>
          <a:bodyPr wrap="square" lIns="0" tIns="0" rIns="0" bIns="0" rtlCol="0" anchor="ctr"/>
          <a:lstStyle/>
          <a:p>
            <a:pPr marL="0" indent="0" algn="ctr">
              <a:lnSpc>
                <a:spcPts val="1500"/>
              </a:lnSpc>
              <a:buNone/>
            </a:pPr>
            <a:r>
              <a:rPr lang="en-US" sz="1150" dirty="0">
                <a:solidFill>
                  <a:srgbClr val="5B6474"/>
                </a:solidFill>
                <a:latin typeface="Calibri" pitchFamily="34" charset="0"/>
                <a:ea typeface="Calibri" pitchFamily="34" charset="-122"/>
                <a:cs typeface="Calibri" pitchFamily="34" charset="-120"/>
              </a:rPr>
              <a:t>add up, for every j. Here j runs 0 to 9 — the ten digits.</a:t>
            </a:r>
            <a:endParaRPr lang="en-US" sz="1150" dirty="0"/>
          </a:p>
        </p:txBody>
      </p:sp>
      <p:sp>
        <p:nvSpPr>
          <p:cNvPr id="14" name="Shape 12"/>
          <p:cNvSpPr/>
          <p:nvPr/>
        </p:nvSpPr>
        <p:spPr>
          <a:xfrm>
            <a:off x="5085161" y="3246120"/>
            <a:ext cx="2021373" cy="22860"/>
          </a:xfrm>
          <a:prstGeom prst="rect">
            <a:avLst/>
          </a:prstGeom>
          <a:solidFill>
            <a:srgbClr val="2C5FA8"/>
          </a:solidFill>
          <a:ln/>
        </p:spPr>
        <p:txBody>
          <a:bodyPr/>
          <a:lstStyle/>
          <a:p>
            <a:endParaRPr lang="en-US"/>
          </a:p>
        </p:txBody>
      </p:sp>
      <p:sp>
        <p:nvSpPr>
          <p:cNvPr id="15" name="Text 13"/>
          <p:cNvSpPr txBox="1"/>
          <p:nvPr/>
        </p:nvSpPr>
        <p:spPr>
          <a:xfrm>
            <a:off x="5085161" y="3337560"/>
            <a:ext cx="2021373" cy="384048"/>
          </a:xfrm>
          <a:prstGeom prst="rect">
            <a:avLst/>
          </a:prstGeom>
          <a:noFill/>
          <a:ln/>
        </p:spPr>
        <p:txBody>
          <a:bodyPr wrap="square" lIns="0" tIns="0" rIns="0" bIns="0" rtlCol="0" anchor="ctr"/>
          <a:lstStyle/>
          <a:p>
            <a:pPr marL="0" indent="0" algn="ctr">
              <a:buNone/>
            </a:pPr>
            <a:r>
              <a:rPr lang="en-US" sz="2200" b="1" dirty="0">
                <a:solidFill>
                  <a:srgbClr val="2C5FA8"/>
                </a:solidFill>
                <a:latin typeface="Cambria Math" pitchFamily="34" charset="0"/>
                <a:ea typeface="Cambria Math" pitchFamily="34" charset="-122"/>
                <a:cs typeface="Cambria Math" pitchFamily="34" charset="-120"/>
              </a:rPr>
              <a:t>aⱼ</a:t>
            </a:r>
            <a:endParaRPr lang="en-US" sz="2200" dirty="0"/>
          </a:p>
        </p:txBody>
      </p:sp>
      <p:sp>
        <p:nvSpPr>
          <p:cNvPr id="16" name="Text 14"/>
          <p:cNvSpPr txBox="1"/>
          <p:nvPr/>
        </p:nvSpPr>
        <p:spPr>
          <a:xfrm>
            <a:off x="5085161" y="3776472"/>
            <a:ext cx="2021373" cy="960120"/>
          </a:xfrm>
          <a:prstGeom prst="rect">
            <a:avLst/>
          </a:prstGeom>
          <a:noFill/>
          <a:ln/>
        </p:spPr>
        <p:txBody>
          <a:bodyPr wrap="square" lIns="0" tIns="0" rIns="0" bIns="0" rtlCol="0" anchor="ctr"/>
          <a:lstStyle/>
          <a:p>
            <a:pPr marL="0" indent="0" algn="ctr">
              <a:lnSpc>
                <a:spcPts val="1500"/>
              </a:lnSpc>
              <a:buNone/>
            </a:pPr>
            <a:r>
              <a:rPr lang="en-US" sz="1150" dirty="0">
                <a:solidFill>
                  <a:srgbClr val="5B6474"/>
                </a:solidFill>
                <a:latin typeface="Calibri" pitchFamily="34" charset="0"/>
                <a:ea typeface="Calibri" pitchFamily="34" charset="-122"/>
                <a:cs typeface="Calibri" pitchFamily="34" charset="-120"/>
              </a:rPr>
              <a:t>what the machine said for digit j.</a:t>
            </a:r>
            <a:endParaRPr lang="en-US" sz="1150" dirty="0"/>
          </a:p>
        </p:txBody>
      </p:sp>
      <p:sp>
        <p:nvSpPr>
          <p:cNvPr id="17" name="Shape 15"/>
          <p:cNvSpPr/>
          <p:nvPr/>
        </p:nvSpPr>
        <p:spPr>
          <a:xfrm>
            <a:off x="7307702" y="3246120"/>
            <a:ext cx="2021373" cy="22860"/>
          </a:xfrm>
          <a:prstGeom prst="rect">
            <a:avLst/>
          </a:prstGeom>
          <a:solidFill>
            <a:srgbClr val="C07414"/>
          </a:solidFill>
          <a:ln/>
        </p:spPr>
        <p:txBody>
          <a:bodyPr/>
          <a:lstStyle/>
          <a:p>
            <a:endParaRPr lang="en-US"/>
          </a:p>
        </p:txBody>
      </p:sp>
      <p:sp>
        <p:nvSpPr>
          <p:cNvPr id="18" name="Text 16"/>
          <p:cNvSpPr txBox="1"/>
          <p:nvPr/>
        </p:nvSpPr>
        <p:spPr>
          <a:xfrm>
            <a:off x="7307702" y="3337560"/>
            <a:ext cx="2021373" cy="384048"/>
          </a:xfrm>
          <a:prstGeom prst="rect">
            <a:avLst/>
          </a:prstGeom>
          <a:noFill/>
          <a:ln/>
        </p:spPr>
        <p:txBody>
          <a:bodyPr wrap="square" lIns="0" tIns="0" rIns="0" bIns="0" rtlCol="0" anchor="ctr"/>
          <a:lstStyle/>
          <a:p>
            <a:pPr marL="0" indent="0" algn="ctr">
              <a:buNone/>
            </a:pPr>
            <a:r>
              <a:rPr lang="en-US" sz="2200" b="1" dirty="0">
                <a:solidFill>
                  <a:srgbClr val="C07414"/>
                </a:solidFill>
                <a:latin typeface="Cambria Math" pitchFamily="34" charset="0"/>
                <a:ea typeface="Cambria Math" pitchFamily="34" charset="-122"/>
                <a:cs typeface="Cambria Math" pitchFamily="34" charset="-120"/>
              </a:rPr>
              <a:t>yⱼ</a:t>
            </a:r>
            <a:endParaRPr lang="en-US" sz="2200" dirty="0"/>
          </a:p>
        </p:txBody>
      </p:sp>
      <p:sp>
        <p:nvSpPr>
          <p:cNvPr id="19" name="Text 17"/>
          <p:cNvSpPr txBox="1"/>
          <p:nvPr/>
        </p:nvSpPr>
        <p:spPr>
          <a:xfrm>
            <a:off x="7307702" y="3776472"/>
            <a:ext cx="2021373" cy="960120"/>
          </a:xfrm>
          <a:prstGeom prst="rect">
            <a:avLst/>
          </a:prstGeom>
          <a:noFill/>
          <a:ln/>
        </p:spPr>
        <p:txBody>
          <a:bodyPr wrap="square" lIns="0" tIns="0" rIns="0" bIns="0" rtlCol="0" anchor="ctr"/>
          <a:lstStyle/>
          <a:p>
            <a:pPr marL="0" indent="0" algn="ctr">
              <a:lnSpc>
                <a:spcPts val="1500"/>
              </a:lnSpc>
              <a:buNone/>
            </a:pPr>
            <a:r>
              <a:rPr lang="en-US" sz="1150" dirty="0">
                <a:solidFill>
                  <a:srgbClr val="5B6474"/>
                </a:solidFill>
                <a:latin typeface="Calibri" pitchFamily="34" charset="0"/>
                <a:ea typeface="Calibri" pitchFamily="34" charset="-122"/>
                <a:cs typeface="Calibri" pitchFamily="34" charset="-120"/>
              </a:rPr>
              <a:t>what the label says for digit j: 1 for the right digit, 0 otherwise.</a:t>
            </a:r>
            <a:endParaRPr lang="en-US" sz="1150" dirty="0"/>
          </a:p>
        </p:txBody>
      </p:sp>
      <p:sp>
        <p:nvSpPr>
          <p:cNvPr id="20" name="Shape 18"/>
          <p:cNvSpPr/>
          <p:nvPr/>
        </p:nvSpPr>
        <p:spPr>
          <a:xfrm>
            <a:off x="9530243" y="3246120"/>
            <a:ext cx="2021373" cy="22860"/>
          </a:xfrm>
          <a:prstGeom prst="rect">
            <a:avLst/>
          </a:prstGeom>
          <a:solidFill>
            <a:srgbClr val="2C5FA8"/>
          </a:solidFill>
          <a:ln/>
        </p:spPr>
        <p:txBody>
          <a:bodyPr/>
          <a:lstStyle/>
          <a:p>
            <a:endParaRPr lang="en-US"/>
          </a:p>
        </p:txBody>
      </p:sp>
      <p:sp>
        <p:nvSpPr>
          <p:cNvPr id="21" name="Text 19"/>
          <p:cNvSpPr txBox="1"/>
          <p:nvPr/>
        </p:nvSpPr>
        <p:spPr>
          <a:xfrm>
            <a:off x="9530243" y="3337560"/>
            <a:ext cx="2021373" cy="384048"/>
          </a:xfrm>
          <a:prstGeom prst="rect">
            <a:avLst/>
          </a:prstGeom>
          <a:noFill/>
          <a:ln/>
        </p:spPr>
        <p:txBody>
          <a:bodyPr wrap="square" lIns="0" tIns="0" rIns="0" bIns="0" rtlCol="0" anchor="ctr"/>
          <a:lstStyle/>
          <a:p>
            <a:pPr marL="0" indent="0" algn="ctr">
              <a:buNone/>
            </a:pPr>
            <a:r>
              <a:rPr lang="en-US" sz="2200" b="1" dirty="0">
                <a:solidFill>
                  <a:srgbClr val="2C5FA8"/>
                </a:solidFill>
                <a:latin typeface="Cambria Math" pitchFamily="34" charset="0"/>
                <a:ea typeface="Cambria Math" pitchFamily="34" charset="-122"/>
                <a:cs typeface="Cambria Math" pitchFamily="34" charset="-120"/>
              </a:rPr>
              <a:t>(…)²</a:t>
            </a:r>
            <a:endParaRPr lang="en-US" sz="2200" dirty="0"/>
          </a:p>
        </p:txBody>
      </p:sp>
      <p:sp>
        <p:nvSpPr>
          <p:cNvPr id="22" name="Text 20"/>
          <p:cNvSpPr txBox="1"/>
          <p:nvPr/>
        </p:nvSpPr>
        <p:spPr>
          <a:xfrm>
            <a:off x="9530243" y="3776472"/>
            <a:ext cx="2021373" cy="960120"/>
          </a:xfrm>
          <a:prstGeom prst="rect">
            <a:avLst/>
          </a:prstGeom>
          <a:noFill/>
          <a:ln/>
        </p:spPr>
        <p:txBody>
          <a:bodyPr wrap="square" lIns="0" tIns="0" rIns="0" bIns="0" rtlCol="0" anchor="ctr"/>
          <a:lstStyle/>
          <a:p>
            <a:pPr marL="0" indent="0" algn="ctr">
              <a:lnSpc>
                <a:spcPts val="1500"/>
              </a:lnSpc>
              <a:buNone/>
            </a:pPr>
            <a:r>
              <a:rPr lang="en-US" sz="1150" dirty="0">
                <a:solidFill>
                  <a:srgbClr val="5B6474"/>
                </a:solidFill>
                <a:latin typeface="Calibri" pitchFamily="34" charset="0"/>
                <a:ea typeface="Calibri" pitchFamily="34" charset="-122"/>
                <a:cs typeface="Calibri" pitchFamily="34" charset="-120"/>
              </a:rPr>
              <a:t>square it: multiply the difference by itself.</a:t>
            </a:r>
            <a:endParaRPr lang="en-US" sz="1150" dirty="0"/>
          </a:p>
        </p:txBody>
      </p:sp>
      <p:sp>
        <p:nvSpPr>
          <p:cNvPr id="23" name="Shape 21"/>
          <p:cNvSpPr/>
          <p:nvPr/>
        </p:nvSpPr>
        <p:spPr>
          <a:xfrm>
            <a:off x="640080" y="5029200"/>
            <a:ext cx="10911535" cy="1188720"/>
          </a:xfrm>
          <a:prstGeom prst="roundRect">
            <a:avLst>
              <a:gd name="adj" fmla="val 6154"/>
            </a:avLst>
          </a:prstGeom>
          <a:solidFill>
            <a:srgbClr val="111722"/>
          </a:solidFill>
          <a:ln w="12700">
            <a:solidFill>
              <a:srgbClr val="111722"/>
            </a:solidFill>
            <a:prstDash val="solid"/>
          </a:ln>
        </p:spPr>
        <p:txBody>
          <a:bodyPr/>
          <a:lstStyle/>
          <a:p>
            <a:endParaRPr lang="en-US"/>
          </a:p>
        </p:txBody>
      </p:sp>
      <p:sp>
        <p:nvSpPr>
          <p:cNvPr id="24" name="Text 22"/>
          <p:cNvSpPr txBox="1"/>
          <p:nvPr/>
        </p:nvSpPr>
        <p:spPr>
          <a:xfrm>
            <a:off x="1005840" y="5193792"/>
            <a:ext cx="10424160" cy="859536"/>
          </a:xfrm>
          <a:prstGeom prst="rect">
            <a:avLst/>
          </a:prstGeom>
          <a:noFill/>
          <a:ln/>
        </p:spPr>
        <p:txBody>
          <a:bodyPr wrap="square" lIns="0" tIns="0" rIns="0" bIns="0" rtlCol="0" anchor="ctr"/>
          <a:lstStyle/>
          <a:p>
            <a:pPr marL="0" indent="0">
              <a:lnSpc>
                <a:spcPts val="2000"/>
              </a:lnSpc>
              <a:buNone/>
            </a:pPr>
            <a:r>
              <a:rPr lang="en-US" sz="1500" dirty="0">
                <a:solidFill>
                  <a:srgbClr val="F2F4F8"/>
                </a:solidFill>
                <a:latin typeface="Cambria" pitchFamily="34" charset="0"/>
                <a:ea typeface="Cambria" pitchFamily="34" charset="-122"/>
                <a:cs typeface="Cambria" pitchFamily="34" charset="-120"/>
              </a:rPr>
              <a:t>Check it against the table: j = 3 gives (0.72 − 1)² = 0.0784, which is the number in the highlighted cell. The formula is a set of instructions for filling in that row. It is shorter, not deeper.</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741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THE LOSS, OVER EVERYTHING</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11722"/>
                </a:solidFill>
                <a:latin typeface="Cambria" pitchFamily="34" charset="0"/>
                <a:ea typeface="Cambria" pitchFamily="34" charset="-122"/>
                <a:cs typeface="Cambria" pitchFamily="34" charset="-120"/>
              </a:rPr>
              <a:t>Averaging across the training set</a:t>
            </a:r>
            <a:endParaRPr lang="en-US" sz="2900" dirty="0"/>
          </a:p>
        </p:txBody>
      </p:sp>
      <p:sp>
        <p:nvSpPr>
          <p:cNvPr id="5" name="Shape 3"/>
          <p:cNvSpPr/>
          <p:nvPr/>
        </p:nvSpPr>
        <p:spPr>
          <a:xfrm>
            <a:off x="2011680" y="1417320"/>
            <a:ext cx="9052560" cy="1143000"/>
          </a:xfrm>
          <a:prstGeom prst="roundRect">
            <a:avLst>
              <a:gd name="adj" fmla="val 4800"/>
            </a:avLst>
          </a:prstGeom>
          <a:solidFill>
            <a:srgbClr val="F6F8FC"/>
          </a:solidFill>
          <a:ln w="12700">
            <a:solidFill>
              <a:srgbClr val="C9D4E6"/>
            </a:solidFill>
            <a:prstDash val="solid"/>
          </a:ln>
        </p:spPr>
        <p:txBody>
          <a:bodyPr/>
          <a:lstStyle/>
          <a:p>
            <a:endParaRPr lang="en-US"/>
          </a:p>
        </p:txBody>
      </p:sp>
      <p:sp>
        <p:nvSpPr>
          <p:cNvPr id="6" name="Text 4"/>
          <p:cNvSpPr txBox="1"/>
          <p:nvPr/>
        </p:nvSpPr>
        <p:spPr>
          <a:xfrm>
            <a:off x="2148840" y="1417320"/>
            <a:ext cx="8778240" cy="1143000"/>
          </a:xfrm>
          <a:prstGeom prst="rect">
            <a:avLst/>
          </a:prstGeom>
          <a:noFill/>
          <a:ln/>
        </p:spPr>
        <p:txBody>
          <a:bodyPr wrap="square" lIns="0" tIns="0" rIns="0" bIns="0" rtlCol="0" anchor="ctr"/>
          <a:lstStyle/>
          <a:p>
            <a:pPr marL="0" indent="0" algn="ctr">
              <a:buNone/>
            </a:pPr>
            <a:r>
              <a:rPr lang="en-US" sz="3600" dirty="0">
                <a:solidFill>
                  <a:srgbClr val="111722"/>
                </a:solidFill>
                <a:latin typeface="Cambria Math" pitchFamily="34" charset="0"/>
                <a:ea typeface="Cambria Math" pitchFamily="34" charset="-122"/>
                <a:cs typeface="Cambria Math" pitchFamily="34" charset="-120"/>
              </a:rPr>
              <a:t>C(θ) = (1/n) ∑ᵢ 1/2Cᵢ(θ)</a:t>
            </a:r>
            <a:endParaRPr lang="en-US" sz="3600" dirty="0"/>
          </a:p>
        </p:txBody>
      </p:sp>
      <p:sp>
        <p:nvSpPr>
          <p:cNvPr id="7" name="Text 5"/>
          <p:cNvSpPr txBox="1"/>
          <p:nvPr/>
        </p:nvSpPr>
        <p:spPr>
          <a:xfrm>
            <a:off x="1737360" y="2670048"/>
            <a:ext cx="9601200" cy="365760"/>
          </a:xfrm>
          <a:prstGeom prst="rect">
            <a:avLst/>
          </a:prstGeom>
          <a:noFill/>
          <a:ln/>
        </p:spPr>
        <p:txBody>
          <a:bodyPr wrap="square" lIns="0" tIns="0" rIns="0" bIns="0" rtlCol="0" anchor="ctr"/>
          <a:lstStyle/>
          <a:p>
            <a:pPr marL="0" indent="0" algn="ctr">
              <a:buNone/>
            </a:pPr>
            <a:r>
              <a:rPr lang="en-US" sz="1300" i="1" dirty="0">
                <a:solidFill>
                  <a:srgbClr val="2C5FA8"/>
                </a:solidFill>
                <a:latin typeface="Calibri" pitchFamily="34" charset="0"/>
                <a:ea typeface="Calibri" pitchFamily="34" charset="-122"/>
                <a:cs typeface="Calibri" pitchFamily="34" charset="-120"/>
              </a:rPr>
              <a:t>“The loss of the whole system is the average of the per-image losses, taken over all n training images.”</a:t>
            </a:r>
            <a:endParaRPr lang="en-US" sz="1300" dirty="0"/>
          </a:p>
        </p:txBody>
      </p:sp>
      <p:sp>
        <p:nvSpPr>
          <p:cNvPr id="8" name="Shape 6"/>
          <p:cNvSpPr/>
          <p:nvPr/>
        </p:nvSpPr>
        <p:spPr>
          <a:xfrm>
            <a:off x="640080" y="3246120"/>
            <a:ext cx="2021373" cy="22860"/>
          </a:xfrm>
          <a:prstGeom prst="rect">
            <a:avLst/>
          </a:prstGeom>
          <a:solidFill>
            <a:srgbClr val="2C5FA8"/>
          </a:solidFill>
          <a:ln/>
        </p:spPr>
        <p:txBody>
          <a:bodyPr/>
          <a:lstStyle/>
          <a:p>
            <a:endParaRPr lang="en-US"/>
          </a:p>
        </p:txBody>
      </p:sp>
      <p:sp>
        <p:nvSpPr>
          <p:cNvPr id="9" name="Text 7"/>
          <p:cNvSpPr txBox="1"/>
          <p:nvPr/>
        </p:nvSpPr>
        <p:spPr>
          <a:xfrm>
            <a:off x="640080" y="3337560"/>
            <a:ext cx="2021373" cy="384048"/>
          </a:xfrm>
          <a:prstGeom prst="rect">
            <a:avLst/>
          </a:prstGeom>
          <a:noFill/>
          <a:ln/>
        </p:spPr>
        <p:txBody>
          <a:bodyPr wrap="square" lIns="0" tIns="0" rIns="0" bIns="0" rtlCol="0" anchor="ctr"/>
          <a:lstStyle/>
          <a:p>
            <a:pPr marL="0" indent="0" algn="ctr">
              <a:buNone/>
            </a:pPr>
            <a:r>
              <a:rPr lang="en-US" sz="2200" b="1" dirty="0">
                <a:solidFill>
                  <a:srgbClr val="2C5FA8"/>
                </a:solidFill>
                <a:latin typeface="Cambria Math" pitchFamily="34" charset="0"/>
                <a:ea typeface="Cambria Math" pitchFamily="34" charset="-122"/>
                <a:cs typeface="Cambria Math" pitchFamily="34" charset="-120"/>
              </a:rPr>
              <a:t>C(θ)</a:t>
            </a:r>
            <a:endParaRPr lang="en-US" sz="2200" dirty="0"/>
          </a:p>
        </p:txBody>
      </p:sp>
      <p:sp>
        <p:nvSpPr>
          <p:cNvPr id="10" name="Text 8"/>
          <p:cNvSpPr txBox="1"/>
          <p:nvPr/>
        </p:nvSpPr>
        <p:spPr>
          <a:xfrm>
            <a:off x="640080" y="3776472"/>
            <a:ext cx="2021373" cy="960120"/>
          </a:xfrm>
          <a:prstGeom prst="rect">
            <a:avLst/>
          </a:prstGeom>
          <a:noFill/>
          <a:ln/>
        </p:spPr>
        <p:txBody>
          <a:bodyPr wrap="square" lIns="0" tIns="0" rIns="0" bIns="0" rtlCol="0" anchor="ctr"/>
          <a:lstStyle/>
          <a:p>
            <a:pPr marL="0" indent="0" algn="ctr">
              <a:lnSpc>
                <a:spcPts val="1500"/>
              </a:lnSpc>
              <a:buNone/>
            </a:pPr>
            <a:r>
              <a:rPr lang="en-US" sz="1150" dirty="0">
                <a:solidFill>
                  <a:srgbClr val="5B6474"/>
                </a:solidFill>
                <a:latin typeface="Calibri" pitchFamily="34" charset="0"/>
                <a:ea typeface="Calibri" pitchFamily="34" charset="-122"/>
                <a:cs typeface="Calibri" pitchFamily="34" charset="-120"/>
              </a:rPr>
              <a:t>the loss, written as depending on θ — the knobs. This is the crucial move.</a:t>
            </a:r>
            <a:endParaRPr lang="en-US" sz="1150" dirty="0"/>
          </a:p>
        </p:txBody>
      </p:sp>
      <p:sp>
        <p:nvSpPr>
          <p:cNvPr id="11" name="Shape 9"/>
          <p:cNvSpPr/>
          <p:nvPr/>
        </p:nvSpPr>
        <p:spPr>
          <a:xfrm>
            <a:off x="2862621" y="3246120"/>
            <a:ext cx="2021373" cy="22860"/>
          </a:xfrm>
          <a:prstGeom prst="rect">
            <a:avLst/>
          </a:prstGeom>
          <a:solidFill>
            <a:srgbClr val="C07414"/>
          </a:solidFill>
          <a:ln/>
        </p:spPr>
        <p:txBody>
          <a:bodyPr/>
          <a:lstStyle/>
          <a:p>
            <a:endParaRPr lang="en-US"/>
          </a:p>
        </p:txBody>
      </p:sp>
      <p:sp>
        <p:nvSpPr>
          <p:cNvPr id="12" name="Text 10"/>
          <p:cNvSpPr txBox="1"/>
          <p:nvPr/>
        </p:nvSpPr>
        <p:spPr>
          <a:xfrm>
            <a:off x="2862621" y="3337560"/>
            <a:ext cx="2021373" cy="384048"/>
          </a:xfrm>
          <a:prstGeom prst="rect">
            <a:avLst/>
          </a:prstGeom>
          <a:noFill/>
          <a:ln/>
        </p:spPr>
        <p:txBody>
          <a:bodyPr wrap="square" lIns="0" tIns="0" rIns="0" bIns="0" rtlCol="0" anchor="ctr"/>
          <a:lstStyle/>
          <a:p>
            <a:pPr marL="0" indent="0" algn="ctr">
              <a:buNone/>
            </a:pPr>
            <a:r>
              <a:rPr lang="en-US" sz="2200" b="1" dirty="0">
                <a:solidFill>
                  <a:srgbClr val="C07414"/>
                </a:solidFill>
                <a:latin typeface="Cambria Math" pitchFamily="34" charset="0"/>
                <a:ea typeface="Cambria Math" pitchFamily="34" charset="-122"/>
                <a:cs typeface="Cambria Math" pitchFamily="34" charset="-120"/>
              </a:rPr>
              <a:t>n</a:t>
            </a:r>
            <a:endParaRPr lang="en-US" sz="2200" dirty="0"/>
          </a:p>
        </p:txBody>
      </p:sp>
      <p:sp>
        <p:nvSpPr>
          <p:cNvPr id="13" name="Text 11"/>
          <p:cNvSpPr txBox="1"/>
          <p:nvPr/>
        </p:nvSpPr>
        <p:spPr>
          <a:xfrm>
            <a:off x="2862621" y="3776472"/>
            <a:ext cx="2021373" cy="960120"/>
          </a:xfrm>
          <a:prstGeom prst="rect">
            <a:avLst/>
          </a:prstGeom>
          <a:noFill/>
          <a:ln/>
        </p:spPr>
        <p:txBody>
          <a:bodyPr wrap="square" lIns="0" tIns="0" rIns="0" bIns="0" rtlCol="0" anchor="ctr"/>
          <a:lstStyle/>
          <a:p>
            <a:pPr marL="0" indent="0" algn="ctr">
              <a:lnSpc>
                <a:spcPts val="1500"/>
              </a:lnSpc>
              <a:buNone/>
            </a:pPr>
            <a:r>
              <a:rPr lang="en-US" sz="1150" dirty="0">
                <a:solidFill>
                  <a:srgbClr val="5B6474"/>
                </a:solidFill>
                <a:latin typeface="Calibri" pitchFamily="34" charset="0"/>
                <a:ea typeface="Calibri" pitchFamily="34" charset="-122"/>
                <a:cs typeface="Calibri" pitchFamily="34" charset="-120"/>
              </a:rPr>
              <a:t>how many labelled images we have. Fifty thousand, say.</a:t>
            </a:r>
            <a:endParaRPr lang="en-US" sz="1150" dirty="0"/>
          </a:p>
        </p:txBody>
      </p:sp>
      <p:sp>
        <p:nvSpPr>
          <p:cNvPr id="14" name="Shape 12"/>
          <p:cNvSpPr/>
          <p:nvPr/>
        </p:nvSpPr>
        <p:spPr>
          <a:xfrm>
            <a:off x="5085161" y="3246120"/>
            <a:ext cx="2021373" cy="22860"/>
          </a:xfrm>
          <a:prstGeom prst="rect">
            <a:avLst/>
          </a:prstGeom>
          <a:solidFill>
            <a:srgbClr val="2C5FA8"/>
          </a:solidFill>
          <a:ln/>
        </p:spPr>
        <p:txBody>
          <a:bodyPr/>
          <a:lstStyle/>
          <a:p>
            <a:endParaRPr lang="en-US"/>
          </a:p>
        </p:txBody>
      </p:sp>
      <p:sp>
        <p:nvSpPr>
          <p:cNvPr id="15" name="Text 13"/>
          <p:cNvSpPr txBox="1"/>
          <p:nvPr/>
        </p:nvSpPr>
        <p:spPr>
          <a:xfrm>
            <a:off x="5085161" y="3337560"/>
            <a:ext cx="2021373" cy="384048"/>
          </a:xfrm>
          <a:prstGeom prst="rect">
            <a:avLst/>
          </a:prstGeom>
          <a:noFill/>
          <a:ln/>
        </p:spPr>
        <p:txBody>
          <a:bodyPr wrap="square" lIns="0" tIns="0" rIns="0" bIns="0" rtlCol="0" anchor="ctr"/>
          <a:lstStyle/>
          <a:p>
            <a:pPr marL="0" indent="0" algn="ctr">
              <a:buNone/>
            </a:pPr>
            <a:r>
              <a:rPr lang="en-US" sz="2200" b="1" dirty="0">
                <a:solidFill>
                  <a:srgbClr val="2C5FA8"/>
                </a:solidFill>
                <a:latin typeface="Cambria Math" pitchFamily="34" charset="0"/>
                <a:ea typeface="Cambria Math" pitchFamily="34" charset="-122"/>
                <a:cs typeface="Cambria Math" pitchFamily="34" charset="-120"/>
              </a:rPr>
              <a:t>∑ᵢ</a:t>
            </a:r>
            <a:endParaRPr lang="en-US" sz="2200" dirty="0"/>
          </a:p>
        </p:txBody>
      </p:sp>
      <p:sp>
        <p:nvSpPr>
          <p:cNvPr id="16" name="Text 14"/>
          <p:cNvSpPr txBox="1"/>
          <p:nvPr/>
        </p:nvSpPr>
        <p:spPr>
          <a:xfrm>
            <a:off x="5085161" y="3776472"/>
            <a:ext cx="2021373" cy="960120"/>
          </a:xfrm>
          <a:prstGeom prst="rect">
            <a:avLst/>
          </a:prstGeom>
          <a:noFill/>
          <a:ln/>
        </p:spPr>
        <p:txBody>
          <a:bodyPr wrap="square" lIns="0" tIns="0" rIns="0" bIns="0" rtlCol="0" anchor="ctr"/>
          <a:lstStyle/>
          <a:p>
            <a:pPr marL="0" indent="0" algn="ctr">
              <a:lnSpc>
                <a:spcPts val="1500"/>
              </a:lnSpc>
              <a:buNone/>
            </a:pPr>
            <a:r>
              <a:rPr lang="en-US" sz="1150" dirty="0">
                <a:solidFill>
                  <a:srgbClr val="5B6474"/>
                </a:solidFill>
                <a:latin typeface="Calibri" pitchFamily="34" charset="0"/>
                <a:ea typeface="Calibri" pitchFamily="34" charset="-122"/>
                <a:cs typeface="Calibri" pitchFamily="34" charset="-120"/>
              </a:rPr>
              <a:t>add up over every image i, from the first to the n-th.</a:t>
            </a:r>
            <a:endParaRPr lang="en-US" sz="1150" dirty="0"/>
          </a:p>
        </p:txBody>
      </p:sp>
      <p:sp>
        <p:nvSpPr>
          <p:cNvPr id="17" name="Shape 15"/>
          <p:cNvSpPr/>
          <p:nvPr/>
        </p:nvSpPr>
        <p:spPr>
          <a:xfrm>
            <a:off x="7307702" y="3246120"/>
            <a:ext cx="2021373" cy="22860"/>
          </a:xfrm>
          <a:prstGeom prst="rect">
            <a:avLst/>
          </a:prstGeom>
          <a:solidFill>
            <a:srgbClr val="C07414"/>
          </a:solidFill>
          <a:ln/>
        </p:spPr>
        <p:txBody>
          <a:bodyPr/>
          <a:lstStyle/>
          <a:p>
            <a:endParaRPr lang="en-US"/>
          </a:p>
        </p:txBody>
      </p:sp>
      <p:sp>
        <p:nvSpPr>
          <p:cNvPr id="18" name="Text 16"/>
          <p:cNvSpPr txBox="1"/>
          <p:nvPr/>
        </p:nvSpPr>
        <p:spPr>
          <a:xfrm>
            <a:off x="7307702" y="3337560"/>
            <a:ext cx="2021373" cy="384048"/>
          </a:xfrm>
          <a:prstGeom prst="rect">
            <a:avLst/>
          </a:prstGeom>
          <a:noFill/>
          <a:ln/>
        </p:spPr>
        <p:txBody>
          <a:bodyPr wrap="square" lIns="0" tIns="0" rIns="0" bIns="0" rtlCol="0" anchor="ctr"/>
          <a:lstStyle/>
          <a:p>
            <a:pPr marL="0" indent="0" algn="ctr">
              <a:buNone/>
            </a:pPr>
            <a:r>
              <a:rPr lang="en-US" sz="2200" b="1" dirty="0">
                <a:solidFill>
                  <a:srgbClr val="C07414"/>
                </a:solidFill>
                <a:latin typeface="Cambria Math" pitchFamily="34" charset="0"/>
                <a:ea typeface="Cambria Math" pitchFamily="34" charset="-122"/>
                <a:cs typeface="Cambria Math" pitchFamily="34" charset="-120"/>
              </a:rPr>
              <a:t>Cᵢ</a:t>
            </a:r>
            <a:endParaRPr lang="en-US" sz="2200" dirty="0"/>
          </a:p>
        </p:txBody>
      </p:sp>
      <p:sp>
        <p:nvSpPr>
          <p:cNvPr id="19" name="Text 17"/>
          <p:cNvSpPr txBox="1"/>
          <p:nvPr/>
        </p:nvSpPr>
        <p:spPr>
          <a:xfrm>
            <a:off x="7307702" y="3776472"/>
            <a:ext cx="2021373" cy="960120"/>
          </a:xfrm>
          <a:prstGeom prst="rect">
            <a:avLst/>
          </a:prstGeom>
          <a:noFill/>
          <a:ln/>
        </p:spPr>
        <p:txBody>
          <a:bodyPr wrap="square" lIns="0" tIns="0" rIns="0" bIns="0" rtlCol="0" anchor="ctr"/>
          <a:lstStyle/>
          <a:p>
            <a:pPr marL="0" indent="0" algn="ctr">
              <a:lnSpc>
                <a:spcPts val="1500"/>
              </a:lnSpc>
              <a:buNone/>
            </a:pPr>
            <a:r>
              <a:rPr lang="en-US" sz="1150" dirty="0">
                <a:solidFill>
                  <a:srgbClr val="5B6474"/>
                </a:solidFill>
                <a:latin typeface="Calibri" pitchFamily="34" charset="0"/>
                <a:ea typeface="Calibri" pitchFamily="34" charset="-122"/>
                <a:cs typeface="Calibri" pitchFamily="34" charset="-120"/>
              </a:rPr>
              <a:t>the loss for image i — the C₀ from the previous slide, for that image.</a:t>
            </a:r>
            <a:endParaRPr lang="en-US" sz="1150" dirty="0"/>
          </a:p>
        </p:txBody>
      </p:sp>
      <p:sp>
        <p:nvSpPr>
          <p:cNvPr id="20" name="Shape 18"/>
          <p:cNvSpPr/>
          <p:nvPr/>
        </p:nvSpPr>
        <p:spPr>
          <a:xfrm>
            <a:off x="9530243" y="3246120"/>
            <a:ext cx="2021373" cy="22860"/>
          </a:xfrm>
          <a:prstGeom prst="rect">
            <a:avLst/>
          </a:prstGeom>
          <a:solidFill>
            <a:srgbClr val="2C5FA8"/>
          </a:solidFill>
          <a:ln/>
        </p:spPr>
        <p:txBody>
          <a:bodyPr/>
          <a:lstStyle/>
          <a:p>
            <a:endParaRPr lang="en-US"/>
          </a:p>
        </p:txBody>
      </p:sp>
      <p:sp>
        <p:nvSpPr>
          <p:cNvPr id="21" name="Text 19"/>
          <p:cNvSpPr txBox="1"/>
          <p:nvPr/>
        </p:nvSpPr>
        <p:spPr>
          <a:xfrm>
            <a:off x="9530243" y="3337560"/>
            <a:ext cx="2021373" cy="384048"/>
          </a:xfrm>
          <a:prstGeom prst="rect">
            <a:avLst/>
          </a:prstGeom>
          <a:noFill/>
          <a:ln/>
        </p:spPr>
        <p:txBody>
          <a:bodyPr wrap="square" lIns="0" tIns="0" rIns="0" bIns="0" rtlCol="0" anchor="ctr"/>
          <a:lstStyle/>
          <a:p>
            <a:pPr marL="0" indent="0" algn="ctr">
              <a:buNone/>
            </a:pPr>
            <a:r>
              <a:rPr lang="en-US" sz="2200" b="1" dirty="0">
                <a:solidFill>
                  <a:srgbClr val="2C5FA8"/>
                </a:solidFill>
                <a:latin typeface="Cambria Math" pitchFamily="34" charset="0"/>
                <a:ea typeface="Cambria Math" pitchFamily="34" charset="-122"/>
                <a:cs typeface="Cambria Math" pitchFamily="34" charset="-120"/>
              </a:rPr>
              <a:t>1/n</a:t>
            </a:r>
            <a:endParaRPr lang="en-US" sz="2200" dirty="0"/>
          </a:p>
        </p:txBody>
      </p:sp>
      <p:sp>
        <p:nvSpPr>
          <p:cNvPr id="22" name="Text 20"/>
          <p:cNvSpPr txBox="1"/>
          <p:nvPr/>
        </p:nvSpPr>
        <p:spPr>
          <a:xfrm>
            <a:off x="9530243" y="3776472"/>
            <a:ext cx="2021373" cy="960120"/>
          </a:xfrm>
          <a:prstGeom prst="rect">
            <a:avLst/>
          </a:prstGeom>
          <a:noFill/>
          <a:ln/>
        </p:spPr>
        <p:txBody>
          <a:bodyPr wrap="square" lIns="0" tIns="0" rIns="0" bIns="0" rtlCol="0" anchor="ctr"/>
          <a:lstStyle/>
          <a:p>
            <a:pPr marL="0" indent="0" algn="ctr">
              <a:lnSpc>
                <a:spcPts val="1500"/>
              </a:lnSpc>
              <a:buNone/>
            </a:pPr>
            <a:r>
              <a:rPr lang="en-US" sz="1150" dirty="0">
                <a:solidFill>
                  <a:srgbClr val="5B6474"/>
                </a:solidFill>
                <a:latin typeface="Calibri" pitchFamily="34" charset="0"/>
                <a:ea typeface="Calibri" pitchFamily="34" charset="-122"/>
                <a:cs typeface="Calibri" pitchFamily="34" charset="-120"/>
              </a:rPr>
              <a:t>divide by how many. That is all an average is.</a:t>
            </a:r>
            <a:endParaRPr lang="en-US" sz="1150" dirty="0"/>
          </a:p>
        </p:txBody>
      </p:sp>
      <p:sp>
        <p:nvSpPr>
          <p:cNvPr id="23" name="Shape 21"/>
          <p:cNvSpPr/>
          <p:nvPr/>
        </p:nvSpPr>
        <p:spPr>
          <a:xfrm>
            <a:off x="640080" y="5029200"/>
            <a:ext cx="10911535" cy="1188720"/>
          </a:xfrm>
          <a:prstGeom prst="roundRect">
            <a:avLst>
              <a:gd name="adj" fmla="val 6154"/>
            </a:avLst>
          </a:prstGeom>
          <a:solidFill>
            <a:srgbClr val="111722"/>
          </a:solidFill>
          <a:ln w="12700">
            <a:solidFill>
              <a:srgbClr val="111722"/>
            </a:solidFill>
            <a:prstDash val="solid"/>
          </a:ln>
        </p:spPr>
        <p:txBody>
          <a:bodyPr/>
          <a:lstStyle/>
          <a:p>
            <a:endParaRPr lang="en-US"/>
          </a:p>
        </p:txBody>
      </p:sp>
      <p:sp>
        <p:nvSpPr>
          <p:cNvPr id="24" name="Text 22"/>
          <p:cNvSpPr txBox="1"/>
          <p:nvPr/>
        </p:nvSpPr>
        <p:spPr>
          <a:xfrm>
            <a:off x="1005840" y="5193792"/>
            <a:ext cx="10424160" cy="859536"/>
          </a:xfrm>
          <a:prstGeom prst="rect">
            <a:avLst/>
          </a:prstGeom>
          <a:noFill/>
          <a:ln/>
        </p:spPr>
        <p:txBody>
          <a:bodyPr wrap="square" lIns="0" tIns="0" rIns="0" bIns="0" rtlCol="0" anchor="ctr"/>
          <a:lstStyle/>
          <a:p>
            <a:pPr marL="0" indent="0">
              <a:lnSpc>
                <a:spcPts val="2000"/>
              </a:lnSpc>
              <a:buNone/>
            </a:pPr>
            <a:r>
              <a:rPr lang="en-US" sz="1500" dirty="0">
                <a:solidFill>
                  <a:srgbClr val="F2F4F8"/>
                </a:solidFill>
                <a:latin typeface="Cambria" pitchFamily="34" charset="0"/>
                <a:ea typeface="Cambria" pitchFamily="34" charset="-122"/>
                <a:cs typeface="Cambria" pitchFamily="34" charset="-120"/>
              </a:rPr>
              <a:t>Written out in full this would run to fifty thousand lines. The notation is not showing off — it is the only way to hold the idea in one field of view. That is what ∑ is for, and it is the entire reason it exists.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741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THE FIRST VALUE JUDGEMENT</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11722"/>
                </a:solidFill>
                <a:latin typeface="Cambria" pitchFamily="34" charset="0"/>
                <a:ea typeface="Cambria" pitchFamily="34" charset="-122"/>
                <a:cs typeface="Cambria" pitchFamily="34" charset="-120"/>
              </a:rPr>
              <a:t>Why square it? — and what else you could have written</a:t>
            </a:r>
            <a:endParaRPr lang="en-US" sz="2900" dirty="0"/>
          </a:p>
        </p:txBody>
      </p:sp>
      <p:sp>
        <p:nvSpPr>
          <p:cNvPr id="5" name="Shape 3"/>
          <p:cNvSpPr/>
          <p:nvPr/>
        </p:nvSpPr>
        <p:spPr>
          <a:xfrm>
            <a:off x="640080" y="1417320"/>
            <a:ext cx="3454298" cy="3017520"/>
          </a:xfrm>
          <a:prstGeom prst="roundRect">
            <a:avLst>
              <a:gd name="adj" fmla="val 2424"/>
            </a:avLst>
          </a:prstGeom>
          <a:solidFill>
            <a:srgbClr val="E7EEF8"/>
          </a:solidFill>
          <a:ln w="12700">
            <a:solidFill>
              <a:srgbClr val="E7EEF8"/>
            </a:solidFill>
            <a:prstDash val="solid"/>
          </a:ln>
        </p:spPr>
        <p:txBody>
          <a:bodyPr/>
          <a:lstStyle/>
          <a:p>
            <a:endParaRPr lang="en-US"/>
          </a:p>
        </p:txBody>
      </p:sp>
      <p:sp>
        <p:nvSpPr>
          <p:cNvPr id="6" name="Text 4"/>
          <p:cNvSpPr txBox="1"/>
          <p:nvPr/>
        </p:nvSpPr>
        <p:spPr>
          <a:xfrm>
            <a:off x="896112" y="1609344"/>
            <a:ext cx="2942234" cy="347472"/>
          </a:xfrm>
          <a:prstGeom prst="rect">
            <a:avLst/>
          </a:prstGeom>
          <a:noFill/>
          <a:ln/>
        </p:spPr>
        <p:txBody>
          <a:bodyPr wrap="square" lIns="0" tIns="0" rIns="0" bIns="0" rtlCol="0" anchor="ctr"/>
          <a:lstStyle/>
          <a:p>
            <a:pPr marL="0" indent="0">
              <a:buNone/>
            </a:pPr>
            <a:r>
              <a:rPr lang="en-US" sz="1700" b="1" dirty="0">
                <a:solidFill>
                  <a:srgbClr val="111722"/>
                </a:solidFill>
                <a:latin typeface="Cambria" pitchFamily="34" charset="0"/>
                <a:ea typeface="Cambria" pitchFamily="34" charset="-122"/>
                <a:cs typeface="Cambria" pitchFamily="34" charset="-120"/>
              </a:rPr>
              <a:t>Squared error</a:t>
            </a:r>
            <a:endParaRPr lang="en-US" sz="1700" dirty="0"/>
          </a:p>
        </p:txBody>
      </p:sp>
      <p:sp>
        <p:nvSpPr>
          <p:cNvPr id="7" name="Shape 5"/>
          <p:cNvSpPr/>
          <p:nvPr/>
        </p:nvSpPr>
        <p:spPr>
          <a:xfrm>
            <a:off x="859536" y="2066544"/>
            <a:ext cx="3015386" cy="658368"/>
          </a:xfrm>
          <a:prstGeom prst="roundRect">
            <a:avLst>
              <a:gd name="adj" fmla="val 8333"/>
            </a:avLst>
          </a:prstGeom>
          <a:solidFill>
            <a:srgbClr val="FFFFFF"/>
          </a:solidFill>
          <a:ln w="12700">
            <a:solidFill>
              <a:srgbClr val="C9D4E6"/>
            </a:solidFill>
            <a:prstDash val="solid"/>
          </a:ln>
        </p:spPr>
        <p:txBody>
          <a:bodyPr/>
          <a:lstStyle/>
          <a:p>
            <a:endParaRPr lang="en-US"/>
          </a:p>
        </p:txBody>
      </p:sp>
      <p:sp>
        <p:nvSpPr>
          <p:cNvPr id="8" name="Text 6"/>
          <p:cNvSpPr txBox="1"/>
          <p:nvPr/>
        </p:nvSpPr>
        <p:spPr>
          <a:xfrm>
            <a:off x="996696" y="2066544"/>
            <a:ext cx="2741066" cy="658368"/>
          </a:xfrm>
          <a:prstGeom prst="rect">
            <a:avLst/>
          </a:prstGeom>
          <a:noFill/>
          <a:ln/>
        </p:spPr>
        <p:txBody>
          <a:bodyPr wrap="square" lIns="0" tIns="0" rIns="0" bIns="0" rtlCol="0" anchor="ctr"/>
          <a:lstStyle/>
          <a:p>
            <a:pPr marL="0" indent="0" algn="ctr">
              <a:buNone/>
            </a:pPr>
            <a:r>
              <a:rPr lang="en-US" sz="1700" dirty="0">
                <a:solidFill>
                  <a:srgbClr val="111722"/>
                </a:solidFill>
                <a:latin typeface="Cambria Math" pitchFamily="34" charset="0"/>
                <a:ea typeface="Cambria Math" pitchFamily="34" charset="-122"/>
                <a:cs typeface="Cambria Math" pitchFamily="34" charset="-120"/>
              </a:rPr>
              <a:t>C₀ = ∑ⱼ (aⱼ − yⱼ)²</a:t>
            </a:r>
            <a:endParaRPr lang="en-US" sz="1700" dirty="0"/>
          </a:p>
        </p:txBody>
      </p:sp>
      <p:sp>
        <p:nvSpPr>
          <p:cNvPr id="9" name="Text 7"/>
          <p:cNvSpPr txBox="1"/>
          <p:nvPr/>
        </p:nvSpPr>
        <p:spPr>
          <a:xfrm>
            <a:off x="896112" y="2852928"/>
            <a:ext cx="2942234" cy="1463040"/>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Makes every difference positive so errors cannot cancel. Punishes one big error far more than several small ones — a 0.4 miss costs four times what two 0.2 misses cost.</a:t>
            </a:r>
            <a:endParaRPr lang="en-US" sz="1200" dirty="0"/>
          </a:p>
        </p:txBody>
      </p:sp>
      <p:sp>
        <p:nvSpPr>
          <p:cNvPr id="10" name="Shape 8"/>
          <p:cNvSpPr/>
          <p:nvPr/>
        </p:nvSpPr>
        <p:spPr>
          <a:xfrm>
            <a:off x="4368698" y="1417320"/>
            <a:ext cx="3454298" cy="3017520"/>
          </a:xfrm>
          <a:prstGeom prst="roundRect">
            <a:avLst>
              <a:gd name="adj" fmla="val 2424"/>
            </a:avLst>
          </a:prstGeom>
          <a:solidFill>
            <a:srgbClr val="FAF0DE"/>
          </a:solidFill>
          <a:ln w="12700">
            <a:solidFill>
              <a:srgbClr val="FAF0DE"/>
            </a:solidFill>
            <a:prstDash val="solid"/>
          </a:ln>
        </p:spPr>
        <p:txBody>
          <a:bodyPr/>
          <a:lstStyle/>
          <a:p>
            <a:endParaRPr lang="en-US"/>
          </a:p>
        </p:txBody>
      </p:sp>
      <p:sp>
        <p:nvSpPr>
          <p:cNvPr id="11" name="Text 9"/>
          <p:cNvSpPr txBox="1"/>
          <p:nvPr/>
        </p:nvSpPr>
        <p:spPr>
          <a:xfrm>
            <a:off x="4624730" y="1609344"/>
            <a:ext cx="2942234" cy="347472"/>
          </a:xfrm>
          <a:prstGeom prst="rect">
            <a:avLst/>
          </a:prstGeom>
          <a:noFill/>
          <a:ln/>
        </p:spPr>
        <p:txBody>
          <a:bodyPr wrap="square" lIns="0" tIns="0" rIns="0" bIns="0" rtlCol="0" anchor="ctr"/>
          <a:lstStyle/>
          <a:p>
            <a:pPr marL="0" indent="0">
              <a:buNone/>
            </a:pPr>
            <a:r>
              <a:rPr lang="en-US" sz="1700" b="1" dirty="0">
                <a:solidFill>
                  <a:srgbClr val="111722"/>
                </a:solidFill>
                <a:latin typeface="Cambria" pitchFamily="34" charset="0"/>
                <a:ea typeface="Cambria" pitchFamily="34" charset="-122"/>
                <a:cs typeface="Cambria" pitchFamily="34" charset="-120"/>
              </a:rPr>
              <a:t>Absolute error</a:t>
            </a:r>
            <a:endParaRPr lang="en-US" sz="1700" dirty="0"/>
          </a:p>
        </p:txBody>
      </p:sp>
      <p:sp>
        <p:nvSpPr>
          <p:cNvPr id="12" name="Shape 10"/>
          <p:cNvSpPr/>
          <p:nvPr/>
        </p:nvSpPr>
        <p:spPr>
          <a:xfrm>
            <a:off x="4588154" y="2066544"/>
            <a:ext cx="3015386" cy="658368"/>
          </a:xfrm>
          <a:prstGeom prst="roundRect">
            <a:avLst>
              <a:gd name="adj" fmla="val 8333"/>
            </a:avLst>
          </a:prstGeom>
          <a:solidFill>
            <a:srgbClr val="FFFFFF"/>
          </a:solidFill>
          <a:ln w="12700">
            <a:solidFill>
              <a:srgbClr val="C9D4E6"/>
            </a:solidFill>
            <a:prstDash val="solid"/>
          </a:ln>
        </p:spPr>
        <p:txBody>
          <a:bodyPr/>
          <a:lstStyle/>
          <a:p>
            <a:endParaRPr lang="en-US"/>
          </a:p>
        </p:txBody>
      </p:sp>
      <p:sp>
        <p:nvSpPr>
          <p:cNvPr id="13" name="Text 11"/>
          <p:cNvSpPr txBox="1"/>
          <p:nvPr/>
        </p:nvSpPr>
        <p:spPr>
          <a:xfrm>
            <a:off x="4725314" y="2066544"/>
            <a:ext cx="2741066" cy="658368"/>
          </a:xfrm>
          <a:prstGeom prst="rect">
            <a:avLst/>
          </a:prstGeom>
          <a:noFill/>
          <a:ln/>
        </p:spPr>
        <p:txBody>
          <a:bodyPr wrap="square" lIns="0" tIns="0" rIns="0" bIns="0" rtlCol="0" anchor="ctr"/>
          <a:lstStyle/>
          <a:p>
            <a:pPr marL="0" indent="0" algn="ctr">
              <a:buNone/>
            </a:pPr>
            <a:r>
              <a:rPr lang="en-US" sz="1700" dirty="0">
                <a:solidFill>
                  <a:srgbClr val="111722"/>
                </a:solidFill>
                <a:latin typeface="Cambria Math" pitchFamily="34" charset="0"/>
                <a:ea typeface="Cambria Math" pitchFamily="34" charset="-122"/>
                <a:cs typeface="Cambria Math" pitchFamily="34" charset="-120"/>
              </a:rPr>
              <a:t>C₀ = ∑ⱼ |aⱼ − yⱼ|</a:t>
            </a:r>
            <a:endParaRPr lang="en-US" sz="1700" dirty="0"/>
          </a:p>
        </p:txBody>
      </p:sp>
      <p:sp>
        <p:nvSpPr>
          <p:cNvPr id="14" name="Text 12"/>
          <p:cNvSpPr txBox="1"/>
          <p:nvPr/>
        </p:nvSpPr>
        <p:spPr>
          <a:xfrm>
            <a:off x="4624730" y="2852928"/>
            <a:ext cx="2942234" cy="1463040"/>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Also positive, but treats all error proportionally. One big miss and several small ones costing the same total is now a tie. A different opinion about which failure is worse.</a:t>
            </a:r>
            <a:endParaRPr lang="en-US" sz="1200" dirty="0"/>
          </a:p>
        </p:txBody>
      </p:sp>
      <p:sp>
        <p:nvSpPr>
          <p:cNvPr id="15" name="Shape 13"/>
          <p:cNvSpPr/>
          <p:nvPr/>
        </p:nvSpPr>
        <p:spPr>
          <a:xfrm>
            <a:off x="8097317" y="1417320"/>
            <a:ext cx="3454298" cy="3017520"/>
          </a:xfrm>
          <a:prstGeom prst="roundRect">
            <a:avLst>
              <a:gd name="adj" fmla="val 2424"/>
            </a:avLst>
          </a:prstGeom>
          <a:solidFill>
            <a:srgbClr val="FAF0DE"/>
          </a:solidFill>
          <a:ln w="12700">
            <a:solidFill>
              <a:srgbClr val="FAF0DE"/>
            </a:solidFill>
            <a:prstDash val="solid"/>
          </a:ln>
        </p:spPr>
        <p:txBody>
          <a:bodyPr/>
          <a:lstStyle/>
          <a:p>
            <a:endParaRPr lang="en-US"/>
          </a:p>
        </p:txBody>
      </p:sp>
      <p:sp>
        <p:nvSpPr>
          <p:cNvPr id="16" name="Text 14"/>
          <p:cNvSpPr txBox="1"/>
          <p:nvPr/>
        </p:nvSpPr>
        <p:spPr>
          <a:xfrm>
            <a:off x="8353349" y="1609344"/>
            <a:ext cx="2942234" cy="347472"/>
          </a:xfrm>
          <a:prstGeom prst="rect">
            <a:avLst/>
          </a:prstGeom>
          <a:noFill/>
          <a:ln/>
        </p:spPr>
        <p:txBody>
          <a:bodyPr wrap="square" lIns="0" tIns="0" rIns="0" bIns="0" rtlCol="0" anchor="ctr"/>
          <a:lstStyle/>
          <a:p>
            <a:pPr marL="0" indent="0">
              <a:buNone/>
            </a:pPr>
            <a:r>
              <a:rPr lang="en-US" sz="1700" b="1" dirty="0">
                <a:solidFill>
                  <a:srgbClr val="111722"/>
                </a:solidFill>
                <a:latin typeface="Cambria" pitchFamily="34" charset="0"/>
                <a:ea typeface="Cambria" pitchFamily="34" charset="-122"/>
                <a:cs typeface="Cambria" pitchFamily="34" charset="-120"/>
              </a:rPr>
              <a:t>Cross-entropy</a:t>
            </a:r>
            <a:endParaRPr lang="en-US" sz="1700" dirty="0"/>
          </a:p>
        </p:txBody>
      </p:sp>
      <p:sp>
        <p:nvSpPr>
          <p:cNvPr id="17" name="Shape 15"/>
          <p:cNvSpPr/>
          <p:nvPr/>
        </p:nvSpPr>
        <p:spPr>
          <a:xfrm>
            <a:off x="8316773" y="2066544"/>
            <a:ext cx="3015386" cy="658368"/>
          </a:xfrm>
          <a:prstGeom prst="roundRect">
            <a:avLst>
              <a:gd name="adj" fmla="val 8333"/>
            </a:avLst>
          </a:prstGeom>
          <a:solidFill>
            <a:srgbClr val="FFFFFF"/>
          </a:solidFill>
          <a:ln w="12700">
            <a:solidFill>
              <a:srgbClr val="C9D4E6"/>
            </a:solidFill>
            <a:prstDash val="solid"/>
          </a:ln>
        </p:spPr>
        <p:txBody>
          <a:bodyPr/>
          <a:lstStyle/>
          <a:p>
            <a:endParaRPr lang="en-US"/>
          </a:p>
        </p:txBody>
      </p:sp>
      <p:sp>
        <p:nvSpPr>
          <p:cNvPr id="18" name="Text 16"/>
          <p:cNvSpPr txBox="1"/>
          <p:nvPr/>
        </p:nvSpPr>
        <p:spPr>
          <a:xfrm>
            <a:off x="8453933" y="2066544"/>
            <a:ext cx="2741066" cy="658368"/>
          </a:xfrm>
          <a:prstGeom prst="rect">
            <a:avLst/>
          </a:prstGeom>
          <a:noFill/>
          <a:ln/>
        </p:spPr>
        <p:txBody>
          <a:bodyPr wrap="square" lIns="0" tIns="0" rIns="0" bIns="0" rtlCol="0" anchor="ctr"/>
          <a:lstStyle/>
          <a:p>
            <a:pPr marL="0" indent="0" algn="ctr">
              <a:buNone/>
            </a:pPr>
            <a:r>
              <a:rPr lang="en-US" sz="1700" dirty="0">
                <a:solidFill>
                  <a:srgbClr val="111722"/>
                </a:solidFill>
                <a:latin typeface="Cambria Math" pitchFamily="34" charset="0"/>
                <a:ea typeface="Cambria Math" pitchFamily="34" charset="-122"/>
                <a:cs typeface="Cambria Math" pitchFamily="34" charset="-120"/>
              </a:rPr>
              <a:t>C₀ = − ∑ⱼ yⱼ log aⱼ</a:t>
            </a:r>
            <a:endParaRPr lang="en-US" sz="1700" dirty="0"/>
          </a:p>
        </p:txBody>
      </p:sp>
      <p:sp>
        <p:nvSpPr>
          <p:cNvPr id="19" name="Text 17"/>
          <p:cNvSpPr txBox="1"/>
          <p:nvPr/>
        </p:nvSpPr>
        <p:spPr>
          <a:xfrm>
            <a:off x="8353349" y="2852928"/>
            <a:ext cx="2942234" cy="1463040"/>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Punishes confident wrongness almost without limit. Being sure and wrong becomes catastrophic; being unsure and wrong is cheap. The standard choice for classification today.</a:t>
            </a:r>
            <a:endParaRPr lang="en-US" sz="1200" dirty="0"/>
          </a:p>
        </p:txBody>
      </p:sp>
      <p:sp>
        <p:nvSpPr>
          <p:cNvPr id="20" name="Shape 18"/>
          <p:cNvSpPr/>
          <p:nvPr/>
        </p:nvSpPr>
        <p:spPr>
          <a:xfrm>
            <a:off x="640080" y="4663440"/>
            <a:ext cx="10911535" cy="1508760"/>
          </a:xfrm>
          <a:prstGeom prst="roundRect">
            <a:avLst>
              <a:gd name="adj" fmla="val 4848"/>
            </a:avLst>
          </a:prstGeom>
          <a:solidFill>
            <a:srgbClr val="111722"/>
          </a:solidFill>
          <a:ln w="12700">
            <a:solidFill>
              <a:srgbClr val="111722"/>
            </a:solidFill>
            <a:prstDash val="solid"/>
          </a:ln>
        </p:spPr>
        <p:txBody>
          <a:bodyPr/>
          <a:lstStyle/>
          <a:p>
            <a:endParaRPr lang="en-US"/>
          </a:p>
        </p:txBody>
      </p:sp>
      <p:sp>
        <p:nvSpPr>
          <p:cNvPr id="21" name="Text 19"/>
          <p:cNvSpPr txBox="1"/>
          <p:nvPr/>
        </p:nvSpPr>
        <p:spPr>
          <a:xfrm>
            <a:off x="1005840" y="4828032"/>
            <a:ext cx="10424160" cy="274320"/>
          </a:xfrm>
          <a:prstGeom prst="rect">
            <a:avLst/>
          </a:prstGeom>
          <a:noFill/>
          <a:ln/>
        </p:spPr>
        <p:txBody>
          <a:bodyPr wrap="square" lIns="0" tIns="0" rIns="0" bIns="0" rtlCol="0" anchor="ctr"/>
          <a:lstStyle/>
          <a:p>
            <a:pPr marL="0" indent="0">
              <a:buNone/>
            </a:pPr>
            <a:r>
              <a:rPr lang="en-US" sz="1150" b="1" kern="0" spc="140" dirty="0">
                <a:solidFill>
                  <a:srgbClr val="E9AC53"/>
                </a:solidFill>
                <a:latin typeface="Calibri" pitchFamily="34" charset="0"/>
                <a:ea typeface="Calibri" pitchFamily="34" charset="-122"/>
                <a:cs typeface="Calibri" pitchFamily="34" charset="-120"/>
              </a:rPr>
              <a:t>The point of this slide</a:t>
            </a:r>
            <a:endParaRPr lang="en-US" sz="1150" dirty="0"/>
          </a:p>
        </p:txBody>
      </p:sp>
      <p:sp>
        <p:nvSpPr>
          <p:cNvPr id="22" name="Text 20"/>
          <p:cNvSpPr txBox="1"/>
          <p:nvPr/>
        </p:nvSpPr>
        <p:spPr>
          <a:xfrm>
            <a:off x="1005840" y="5157216"/>
            <a:ext cx="10424160" cy="850392"/>
          </a:xfrm>
          <a:prstGeom prst="rect">
            <a:avLst/>
          </a:prstGeom>
          <a:noFill/>
          <a:ln/>
        </p:spPr>
        <p:txBody>
          <a:bodyPr wrap="square" lIns="0" tIns="0" rIns="0" bIns="0" rtlCol="0" anchor="ctr"/>
          <a:lstStyle/>
          <a:p>
            <a:pPr marL="0" indent="0">
              <a:lnSpc>
                <a:spcPts val="2000"/>
              </a:lnSpc>
              <a:buNone/>
            </a:pPr>
            <a:r>
              <a:rPr lang="en-US" sz="1500" dirty="0">
                <a:solidFill>
                  <a:srgbClr val="F2F4F8"/>
                </a:solidFill>
                <a:latin typeface="Cambria" pitchFamily="34" charset="0"/>
                <a:ea typeface="Cambria" pitchFamily="34" charset="-122"/>
                <a:cs typeface="Cambria" pitchFamily="34" charset="-120"/>
              </a:rPr>
              <a:t>Three formulas, three different theories of what kind of wrongness is worse, and no mathematical fact settles which is right. Somebody picks. The pick is usually made on grounds of convenience and convention, it is almost never written down as a judgement, and it will be enforced a trillion times. The exponent is the smallest unit of value statement in the field.</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741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THE KNOBS</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11722"/>
                </a:solidFill>
                <a:latin typeface="Cambria" pitchFamily="34" charset="0"/>
                <a:ea typeface="Cambria" pitchFamily="34" charset="-122"/>
                <a:cs typeface="Cambria" pitchFamily="34" charset="-120"/>
              </a:rPr>
              <a:t>What θ actually contains, and the reframe that matters</a:t>
            </a:r>
            <a:endParaRPr lang="en-US" sz="2900" dirty="0"/>
          </a:p>
        </p:txBody>
      </p:sp>
      <p:sp>
        <p:nvSpPr>
          <p:cNvPr id="5" name="Shape 3"/>
          <p:cNvSpPr/>
          <p:nvPr/>
        </p:nvSpPr>
        <p:spPr>
          <a:xfrm>
            <a:off x="640080" y="1417320"/>
            <a:ext cx="5760720" cy="2011680"/>
          </a:xfrm>
          <a:prstGeom prst="roundRect">
            <a:avLst>
              <a:gd name="adj" fmla="val 3636"/>
            </a:avLst>
          </a:prstGeom>
          <a:solidFill>
            <a:srgbClr val="E7EEF8"/>
          </a:solidFill>
          <a:ln w="12700">
            <a:solidFill>
              <a:srgbClr val="E7EEF8"/>
            </a:solidFill>
            <a:prstDash val="solid"/>
          </a:ln>
        </p:spPr>
        <p:txBody>
          <a:bodyPr/>
          <a:lstStyle/>
          <a:p>
            <a:endParaRPr lang="en-US"/>
          </a:p>
        </p:txBody>
      </p:sp>
      <p:sp>
        <p:nvSpPr>
          <p:cNvPr id="6" name="Text 4"/>
          <p:cNvSpPr txBox="1"/>
          <p:nvPr/>
        </p:nvSpPr>
        <p:spPr>
          <a:xfrm>
            <a:off x="1005840" y="1600200"/>
            <a:ext cx="5029200" cy="310896"/>
          </a:xfrm>
          <a:prstGeom prst="rect">
            <a:avLst/>
          </a:prstGeom>
          <a:noFill/>
          <a:ln/>
        </p:spPr>
        <p:txBody>
          <a:bodyPr wrap="square" lIns="0" tIns="0" rIns="0" bIns="0" rtlCol="0" anchor="ctr"/>
          <a:lstStyle/>
          <a:p>
            <a:pPr marL="0" indent="0">
              <a:buNone/>
            </a:pPr>
            <a:r>
              <a:rPr lang="en-US" sz="1650" b="1" dirty="0">
                <a:solidFill>
                  <a:srgbClr val="111722"/>
                </a:solidFill>
                <a:latin typeface="Cambria" pitchFamily="34" charset="0"/>
                <a:ea typeface="Cambria" pitchFamily="34" charset="-122"/>
                <a:cs typeface="Cambria" pitchFamily="34" charset="-120"/>
              </a:rPr>
              <a:t>Inside the function</a:t>
            </a:r>
            <a:endParaRPr lang="en-US" sz="1650" dirty="0"/>
          </a:p>
        </p:txBody>
      </p:sp>
      <p:sp>
        <p:nvSpPr>
          <p:cNvPr id="7" name="Text 5"/>
          <p:cNvSpPr txBox="1"/>
          <p:nvPr/>
        </p:nvSpPr>
        <p:spPr>
          <a:xfrm>
            <a:off x="1005840" y="1993392"/>
            <a:ext cx="5074920" cy="1280160"/>
          </a:xfrm>
          <a:prstGeom prst="rect">
            <a:avLst/>
          </a:prstGeom>
          <a:noFill/>
          <a:ln/>
        </p:spPr>
        <p:txBody>
          <a:bodyPr wrap="square" lIns="0" tIns="0" rIns="0" bIns="0" rtlCol="0" anchor="ctr"/>
          <a:lstStyle/>
          <a:p>
            <a:pPr marL="342900" indent="-342900">
              <a:lnSpc>
                <a:spcPts val="1700"/>
              </a:lnSpc>
              <a:spcAft>
                <a:spcPts val="600"/>
              </a:spcAft>
              <a:buSzPct val="100000"/>
              <a:buChar char="•"/>
            </a:pPr>
            <a:r>
              <a:rPr lang="en-US" sz="1250" dirty="0">
                <a:solidFill>
                  <a:srgbClr val="5B6474"/>
                </a:solidFill>
                <a:latin typeface="Calibri" pitchFamily="34" charset="0"/>
                <a:ea typeface="Calibri" pitchFamily="34" charset="-122"/>
                <a:cs typeface="Calibri" pitchFamily="34" charset="-120"/>
              </a:rPr>
              <a:t>Each connection carries a weight w: how much one thing influences the next. Each unit has a bias b: how much evidence it needs before it responds.</a:t>
            </a:r>
            <a:endParaRPr lang="en-US" sz="1250" dirty="0"/>
          </a:p>
          <a:p>
            <a:pPr marL="342900" indent="-342900">
              <a:lnSpc>
                <a:spcPts val="1700"/>
              </a:lnSpc>
              <a:spcAft>
                <a:spcPts val="600"/>
              </a:spcAft>
              <a:buSzPct val="100000"/>
              <a:buChar char="•"/>
            </a:pPr>
            <a:r>
              <a:rPr lang="en-US" sz="1250" dirty="0">
                <a:solidFill>
                  <a:srgbClr val="5B6474"/>
                </a:solidFill>
                <a:latin typeface="Calibri" pitchFamily="34" charset="0"/>
                <a:ea typeface="Calibri" pitchFamily="34" charset="-122"/>
                <a:cs typeface="Calibri" pitchFamily="34" charset="-120"/>
              </a:rPr>
              <a:t>In the small network from the videos — 784 inputs, two hidden layers of 16, ten outputs — there are 13,002 of these numbers. They start random.</a:t>
            </a:r>
            <a:endParaRPr lang="en-US" sz="1250" dirty="0"/>
          </a:p>
        </p:txBody>
      </p:sp>
      <p:sp>
        <p:nvSpPr>
          <p:cNvPr id="8" name="Shape 6"/>
          <p:cNvSpPr/>
          <p:nvPr/>
        </p:nvSpPr>
        <p:spPr>
          <a:xfrm>
            <a:off x="640080" y="3611880"/>
            <a:ext cx="5760720" cy="822960"/>
          </a:xfrm>
          <a:prstGeom prst="roundRect">
            <a:avLst>
              <a:gd name="adj" fmla="val 6667"/>
            </a:avLst>
          </a:prstGeom>
          <a:solidFill>
            <a:srgbClr val="F6F8FC"/>
          </a:solidFill>
          <a:ln w="12700">
            <a:solidFill>
              <a:srgbClr val="C9D4E6"/>
            </a:solidFill>
            <a:prstDash val="solid"/>
          </a:ln>
        </p:spPr>
        <p:txBody>
          <a:bodyPr/>
          <a:lstStyle/>
          <a:p>
            <a:endParaRPr lang="en-US"/>
          </a:p>
        </p:txBody>
      </p:sp>
      <p:sp>
        <p:nvSpPr>
          <p:cNvPr id="9" name="Text 7"/>
          <p:cNvSpPr txBox="1"/>
          <p:nvPr/>
        </p:nvSpPr>
        <p:spPr>
          <a:xfrm>
            <a:off x="777240" y="3611880"/>
            <a:ext cx="5486400" cy="822960"/>
          </a:xfrm>
          <a:prstGeom prst="rect">
            <a:avLst/>
          </a:prstGeom>
          <a:noFill/>
          <a:ln/>
        </p:spPr>
        <p:txBody>
          <a:bodyPr wrap="square" lIns="0" tIns="0" rIns="0" bIns="0" rtlCol="0" anchor="ctr"/>
          <a:lstStyle/>
          <a:p>
            <a:pPr marL="0" indent="0" algn="ctr">
              <a:buNone/>
            </a:pPr>
            <a:r>
              <a:rPr lang="en-US" sz="1800" dirty="0">
                <a:solidFill>
                  <a:srgbClr val="111722"/>
                </a:solidFill>
                <a:latin typeface="Cambria Math" pitchFamily="34" charset="0"/>
                <a:ea typeface="Cambria Math" pitchFamily="34" charset="-122"/>
                <a:cs typeface="Cambria Math" pitchFamily="34" charset="-120"/>
              </a:rPr>
              <a:t>θ = (w₁, w₂, ⋯, w₁₂₉₆₀, b₁, ⋯, b₄₂)</a:t>
            </a:r>
            <a:endParaRPr lang="en-US" sz="1800" dirty="0"/>
          </a:p>
        </p:txBody>
      </p:sp>
      <p:sp>
        <p:nvSpPr>
          <p:cNvPr id="10" name="Text 8"/>
          <p:cNvSpPr txBox="1"/>
          <p:nvPr/>
        </p:nvSpPr>
        <p:spPr>
          <a:xfrm>
            <a:off x="640080" y="4498848"/>
            <a:ext cx="5760720" cy="274320"/>
          </a:xfrm>
          <a:prstGeom prst="rect">
            <a:avLst/>
          </a:prstGeom>
          <a:noFill/>
          <a:ln/>
        </p:spPr>
        <p:txBody>
          <a:bodyPr wrap="square" lIns="0" tIns="0" rIns="0" bIns="0" rtlCol="0" anchor="ctr"/>
          <a:lstStyle/>
          <a:p>
            <a:pPr marL="0" indent="0" algn="ctr">
              <a:buNone/>
            </a:pPr>
            <a:r>
              <a:rPr lang="en-US" sz="1100" i="1" dirty="0">
                <a:solidFill>
                  <a:srgbClr val="5B6474"/>
                </a:solidFill>
                <a:latin typeface="Calibri" pitchFamily="34" charset="0"/>
                <a:ea typeface="Calibri" pitchFamily="34" charset="-122"/>
                <a:cs typeface="Calibri" pitchFamily="34" charset="-120"/>
              </a:rPr>
              <a:t>one long list of every adjustable number in the machine</a:t>
            </a:r>
            <a:endParaRPr lang="en-US" sz="1100" dirty="0"/>
          </a:p>
        </p:txBody>
      </p:sp>
      <p:sp>
        <p:nvSpPr>
          <p:cNvPr id="11" name="Shape 9"/>
          <p:cNvSpPr/>
          <p:nvPr/>
        </p:nvSpPr>
        <p:spPr>
          <a:xfrm>
            <a:off x="6720840" y="1417320"/>
            <a:ext cx="4809744" cy="3355848"/>
          </a:xfrm>
          <a:prstGeom prst="roundRect">
            <a:avLst>
              <a:gd name="adj" fmla="val 2180"/>
            </a:avLst>
          </a:prstGeom>
          <a:solidFill>
            <a:srgbClr val="111722"/>
          </a:solidFill>
          <a:ln w="12700">
            <a:solidFill>
              <a:srgbClr val="111722"/>
            </a:solidFill>
            <a:prstDash val="solid"/>
          </a:ln>
        </p:spPr>
        <p:txBody>
          <a:bodyPr/>
          <a:lstStyle/>
          <a:p>
            <a:endParaRPr lang="en-US"/>
          </a:p>
        </p:txBody>
      </p:sp>
      <p:sp>
        <p:nvSpPr>
          <p:cNvPr id="12" name="Text 10"/>
          <p:cNvSpPr txBox="1"/>
          <p:nvPr/>
        </p:nvSpPr>
        <p:spPr>
          <a:xfrm>
            <a:off x="6995160" y="1627632"/>
            <a:ext cx="4261104" cy="310896"/>
          </a:xfrm>
          <a:prstGeom prst="rect">
            <a:avLst/>
          </a:prstGeom>
          <a:noFill/>
          <a:ln/>
        </p:spPr>
        <p:txBody>
          <a:bodyPr wrap="square" lIns="0" tIns="0" rIns="0" bIns="0" rtlCol="0" anchor="ctr"/>
          <a:lstStyle/>
          <a:p>
            <a:pPr marL="0" indent="0">
              <a:buNone/>
            </a:pPr>
            <a:r>
              <a:rPr lang="en-US" sz="1150" b="1" kern="0" spc="140" dirty="0">
                <a:solidFill>
                  <a:srgbClr val="E9AC53"/>
                </a:solidFill>
                <a:latin typeface="Calibri" pitchFamily="34" charset="0"/>
                <a:ea typeface="Calibri" pitchFamily="34" charset="-122"/>
                <a:cs typeface="Calibri" pitchFamily="34" charset="-120"/>
              </a:rPr>
              <a:t>The move that makes everything work</a:t>
            </a:r>
            <a:endParaRPr lang="en-US" sz="1150" dirty="0"/>
          </a:p>
        </p:txBody>
      </p:sp>
      <p:sp>
        <p:nvSpPr>
          <p:cNvPr id="13" name="Text 11"/>
          <p:cNvSpPr txBox="1"/>
          <p:nvPr/>
        </p:nvSpPr>
        <p:spPr>
          <a:xfrm>
            <a:off x="6995160" y="2048256"/>
            <a:ext cx="4261104" cy="2560320"/>
          </a:xfrm>
          <a:prstGeom prst="rect">
            <a:avLst/>
          </a:prstGeom>
          <a:noFill/>
          <a:ln/>
        </p:spPr>
        <p:txBody>
          <a:bodyPr wrap="square" lIns="0" tIns="0" rIns="0" bIns="0" rtlCol="0" anchor="ctr"/>
          <a:lstStyle/>
          <a:p>
            <a:pPr marL="0" indent="0">
              <a:lnSpc>
                <a:spcPts val="2100"/>
              </a:lnSpc>
              <a:buNone/>
            </a:pPr>
            <a:r>
              <a:rPr lang="en-US" sz="1450" dirty="0">
                <a:solidFill>
                  <a:srgbClr val="F2F4F8"/>
                </a:solidFill>
                <a:latin typeface="Cambria" pitchFamily="34" charset="0"/>
                <a:ea typeface="Cambria" pitchFamily="34" charset="-122"/>
                <a:cs typeface="Cambria" pitchFamily="34" charset="-120"/>
              </a:rPr>
              <a:t>Stop reading C as a function of the image.</a:t>
            </a:r>
            <a:endParaRPr lang="en-US" sz="1450" dirty="0"/>
          </a:p>
          <a:p>
            <a:pPr marL="0" indent="0">
              <a:lnSpc>
                <a:spcPts val="2100"/>
              </a:lnSpc>
              <a:buNone/>
            </a:pPr>
            <a:endParaRPr lang="en-US" sz="1450" dirty="0"/>
          </a:p>
          <a:p>
            <a:pPr marL="0" indent="0">
              <a:lnSpc>
                <a:spcPts val="2100"/>
              </a:lnSpc>
              <a:buNone/>
            </a:pPr>
            <a:r>
              <a:rPr lang="en-US" sz="1450" dirty="0">
                <a:solidFill>
                  <a:srgbClr val="F2F4F8"/>
                </a:solidFill>
                <a:latin typeface="Cambria" pitchFamily="34" charset="0"/>
                <a:ea typeface="Cambria" pitchFamily="34" charset="-122"/>
                <a:cs typeface="Cambria" pitchFamily="34" charset="-120"/>
              </a:rPr>
              <a:t>Read it as a function of θ. The images are frozen — they are part of the machinery now. What varies is the knobs.</a:t>
            </a:r>
            <a:endParaRPr lang="en-US" sz="1450" dirty="0"/>
          </a:p>
          <a:p>
            <a:pPr marL="0" indent="0">
              <a:lnSpc>
                <a:spcPts val="2100"/>
              </a:lnSpc>
              <a:buNone/>
            </a:pPr>
            <a:endParaRPr lang="en-US" sz="1450" dirty="0"/>
          </a:p>
          <a:p>
            <a:pPr marL="0" indent="0">
              <a:lnSpc>
                <a:spcPts val="2100"/>
              </a:lnSpc>
              <a:buNone/>
            </a:pPr>
            <a:r>
              <a:rPr lang="en-US" sz="1450" dirty="0">
                <a:solidFill>
                  <a:srgbClr val="F2F4F8"/>
                </a:solidFill>
                <a:latin typeface="Cambria" pitchFamily="34" charset="0"/>
                <a:ea typeface="Cambria" pitchFamily="34" charset="-122"/>
                <a:cs typeface="Cambria" pitchFamily="34" charset="-120"/>
              </a:rPr>
              <a:t>That is why we write C(θ) and not C(x). A number that changes when you turn knobs is something you can hunt for the bottom of.</a:t>
            </a:r>
            <a:endParaRPr lang="en-US" sz="1450" dirty="0"/>
          </a:p>
        </p:txBody>
      </p:sp>
      <p:sp>
        <p:nvSpPr>
          <p:cNvPr id="14" name="Shape 12"/>
          <p:cNvSpPr/>
          <p:nvPr/>
        </p:nvSpPr>
        <p:spPr>
          <a:xfrm>
            <a:off x="640080" y="4956048"/>
            <a:ext cx="10911535" cy="1170432"/>
          </a:xfrm>
          <a:prstGeom prst="roundRect">
            <a:avLst>
              <a:gd name="adj" fmla="val 6250"/>
            </a:avLst>
          </a:prstGeom>
          <a:solidFill>
            <a:srgbClr val="111722"/>
          </a:solidFill>
          <a:ln w="12700">
            <a:solidFill>
              <a:srgbClr val="111722"/>
            </a:solidFill>
            <a:prstDash val="solid"/>
          </a:ln>
        </p:spPr>
        <p:txBody>
          <a:bodyPr/>
          <a:lstStyle/>
          <a:p>
            <a:endParaRPr lang="en-US"/>
          </a:p>
        </p:txBody>
      </p:sp>
      <p:sp>
        <p:nvSpPr>
          <p:cNvPr id="15" name="Text 13"/>
          <p:cNvSpPr txBox="1"/>
          <p:nvPr/>
        </p:nvSpPr>
        <p:spPr>
          <a:xfrm>
            <a:off x="1005840" y="5120640"/>
            <a:ext cx="10424160" cy="274320"/>
          </a:xfrm>
          <a:prstGeom prst="rect">
            <a:avLst/>
          </a:prstGeom>
          <a:noFill/>
          <a:ln/>
        </p:spPr>
        <p:txBody>
          <a:bodyPr wrap="square" lIns="0" tIns="0" rIns="0" bIns="0" rtlCol="0" anchor="ctr"/>
          <a:lstStyle/>
          <a:p>
            <a:pPr marL="0" indent="0">
              <a:buNone/>
            </a:pPr>
            <a:r>
              <a:rPr lang="en-US" sz="1150" b="1" kern="0" spc="140" dirty="0">
                <a:solidFill>
                  <a:srgbClr val="E9AC53"/>
                </a:solidFill>
                <a:latin typeface="Calibri" pitchFamily="34" charset="0"/>
                <a:ea typeface="Calibri" pitchFamily="34" charset="-122"/>
                <a:cs typeface="Calibri" pitchFamily="34" charset="-120"/>
              </a:rPr>
              <a:t>Checkpoint</a:t>
            </a:r>
            <a:endParaRPr lang="en-US" sz="1150" dirty="0"/>
          </a:p>
        </p:txBody>
      </p:sp>
      <p:sp>
        <p:nvSpPr>
          <p:cNvPr id="16" name="Text 14"/>
          <p:cNvSpPr txBox="1"/>
          <p:nvPr/>
        </p:nvSpPr>
        <p:spPr>
          <a:xfrm>
            <a:off x="1005840" y="5449824"/>
            <a:ext cx="10424160" cy="512064"/>
          </a:xfrm>
          <a:prstGeom prst="rect">
            <a:avLst/>
          </a:prstGeom>
          <a:noFill/>
          <a:ln/>
        </p:spPr>
        <p:txBody>
          <a:bodyPr wrap="square" lIns="0" tIns="0" rIns="0" bIns="0" rtlCol="0" anchor="ctr"/>
          <a:lstStyle/>
          <a:p>
            <a:pPr marL="0" indent="0">
              <a:lnSpc>
                <a:spcPts val="2000"/>
              </a:lnSpc>
              <a:buNone/>
            </a:pPr>
            <a:r>
              <a:rPr lang="en-US" sz="1500" dirty="0">
                <a:solidFill>
                  <a:srgbClr val="F2F4F8"/>
                </a:solidFill>
                <a:latin typeface="Cambria" pitchFamily="34" charset="0"/>
                <a:ea typeface="Cambria" pitchFamily="34" charset="-122"/>
                <a:cs typeface="Cambria" pitchFamily="34" charset="-120"/>
              </a:rPr>
              <a:t>C is one number. It comes from comparing what the machine said to what a human said, averaged over many examples. It depends on θ. It is not a measure of whether the machine is good at the task — it is a measure of agreement with particular labels, under a particular definition of disagreement.</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0">
    <p:bg>
      <p:bgPr>
        <a:solidFill>
          <a:srgbClr val="111722"/>
        </a:solidFill>
        <a:effectLst/>
      </p:bgPr>
    </p:bg>
    <p:spTree>
      <p:nvGrpSpPr>
        <p:cNvPr id="1" name=""/>
        <p:cNvGrpSpPr/>
        <p:nvPr/>
      </p:nvGrpSpPr>
      <p:grpSpPr>
        <a:xfrm>
          <a:off x="0" y="0"/>
          <a:ext cx="0" cy="0"/>
          <a:chOff x="0" y="0"/>
          <a:chExt cx="0" cy="0"/>
        </a:xfrm>
      </p:grpSpPr>
      <p:sp>
        <p:nvSpPr>
          <p:cNvPr id="2" name="Shape 0"/>
          <p:cNvSpPr/>
          <p:nvPr/>
        </p:nvSpPr>
        <p:spPr>
          <a:xfrm>
            <a:off x="8778240" y="1417320"/>
            <a:ext cx="2651760" cy="2651760"/>
          </a:xfrm>
          <a:prstGeom prst="ellipse">
            <a:avLst/>
          </a:prstGeom>
          <a:solidFill>
            <a:srgbClr val="2C5FA8">
              <a:alpha val="70000"/>
            </a:srgbClr>
          </a:solidFill>
          <a:ln/>
        </p:spPr>
        <p:txBody>
          <a:bodyPr/>
          <a:lstStyle/>
          <a:p>
            <a:endParaRPr lang="en-US"/>
          </a:p>
        </p:txBody>
      </p:sp>
      <p:sp>
        <p:nvSpPr>
          <p:cNvPr id="3" name="Shape 1"/>
          <p:cNvSpPr/>
          <p:nvPr/>
        </p:nvSpPr>
        <p:spPr>
          <a:xfrm>
            <a:off x="9646920" y="2286000"/>
            <a:ext cx="1188720" cy="1188720"/>
          </a:xfrm>
          <a:prstGeom prst="ellipse">
            <a:avLst/>
          </a:prstGeom>
          <a:solidFill>
            <a:srgbClr val="C07414">
              <a:alpha val="75000"/>
            </a:srgbClr>
          </a:solidFill>
          <a:ln/>
        </p:spPr>
        <p:txBody>
          <a:bodyPr/>
          <a:lstStyle/>
          <a:p>
            <a:endParaRPr lang="en-US"/>
          </a:p>
        </p:txBody>
      </p:sp>
      <p:sp>
        <p:nvSpPr>
          <p:cNvPr id="4" name="Text 2"/>
          <p:cNvSpPr txBox="1"/>
          <p:nvPr/>
        </p:nvSpPr>
        <p:spPr>
          <a:xfrm>
            <a:off x="640080" y="1920240"/>
            <a:ext cx="7315200" cy="320040"/>
          </a:xfrm>
          <a:prstGeom prst="rect">
            <a:avLst/>
          </a:prstGeom>
          <a:noFill/>
          <a:ln/>
        </p:spPr>
        <p:txBody>
          <a:bodyPr wrap="square" lIns="0" tIns="0" rIns="0" bIns="0" rtlCol="0" anchor="ctr"/>
          <a:lstStyle/>
          <a:p>
            <a:pPr marL="0" indent="0">
              <a:buNone/>
            </a:pPr>
            <a:r>
              <a:rPr lang="en-US" sz="1300" b="1" kern="0" spc="220" dirty="0">
                <a:solidFill>
                  <a:srgbClr val="E9AC53"/>
                </a:solidFill>
                <a:latin typeface="Calibri" pitchFamily="34" charset="0"/>
                <a:ea typeface="Calibri" pitchFamily="34" charset="-122"/>
                <a:cs typeface="Calibri" pitchFamily="34" charset="-120"/>
              </a:rPr>
              <a:t>PART TWO</a:t>
            </a:r>
            <a:endParaRPr lang="en-US" sz="1300" dirty="0"/>
          </a:p>
        </p:txBody>
      </p:sp>
      <p:sp>
        <p:nvSpPr>
          <p:cNvPr id="5" name="Text 3"/>
          <p:cNvSpPr txBox="1"/>
          <p:nvPr/>
        </p:nvSpPr>
        <p:spPr>
          <a:xfrm>
            <a:off x="640080" y="2331720"/>
            <a:ext cx="7680960" cy="914400"/>
          </a:xfrm>
          <a:prstGeom prst="rect">
            <a:avLst/>
          </a:prstGeom>
          <a:noFill/>
          <a:ln/>
        </p:spPr>
        <p:txBody>
          <a:bodyPr wrap="square" lIns="0" tIns="0" rIns="0" bIns="0" rtlCol="0" anchor="ctr"/>
          <a:lstStyle/>
          <a:p>
            <a:pPr marL="0" indent="0">
              <a:buNone/>
            </a:pPr>
            <a:r>
              <a:rPr lang="en-US" sz="3600" b="1" dirty="0">
                <a:solidFill>
                  <a:srgbClr val="F2F4F8"/>
                </a:solidFill>
                <a:latin typeface="Cambria" pitchFamily="34" charset="0"/>
                <a:ea typeface="Cambria" pitchFamily="34" charset="-122"/>
                <a:cs typeface="Cambria" pitchFamily="34" charset="-120"/>
              </a:rPr>
              <a:t>Slopes, partials, gradients</a:t>
            </a:r>
            <a:endParaRPr lang="en-US" sz="3600" dirty="0"/>
          </a:p>
        </p:txBody>
      </p:sp>
      <p:sp>
        <p:nvSpPr>
          <p:cNvPr id="6" name="Text 4"/>
          <p:cNvSpPr txBox="1"/>
          <p:nvPr/>
        </p:nvSpPr>
        <p:spPr>
          <a:xfrm>
            <a:off x="640080" y="3310128"/>
            <a:ext cx="768096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Building up to θ ← θ − η ∇C(</a:t>
            </a:r>
            <a:r>
              <a:rPr lang="en-US" sz="1500" dirty="0" err="1">
                <a:solidFill>
                  <a:srgbClr val="FFFFFF"/>
                </a:solidFill>
                <a:latin typeface="Calibri" pitchFamily="34" charset="0"/>
                <a:ea typeface="Calibri" pitchFamily="34" charset="-122"/>
                <a:cs typeface="Calibri" pitchFamily="34" charset="-120"/>
              </a:rPr>
              <a:t>θ</a:t>
            </a:r>
            <a:r>
              <a:rPr lang="en-US" sz="1500" dirty="0">
                <a:solidFill>
                  <a:srgbClr val="FFFFFF"/>
                </a:solidFill>
                <a:latin typeface="Calibri" pitchFamily="34" charset="0"/>
                <a:ea typeface="Calibri" pitchFamily="34" charset="-122"/>
                <a:cs typeface="Calibri" pitchFamily="34" charset="-120"/>
              </a:rPr>
              <a:t>)</a:t>
            </a:r>
            <a:endParaRPr lang="en-US" sz="1500" dirty="0"/>
          </a:p>
        </p:txBody>
      </p:sp>
      <p:sp>
        <p:nvSpPr>
          <p:cNvPr id="7" name="Shape 5"/>
          <p:cNvSpPr/>
          <p:nvPr/>
        </p:nvSpPr>
        <p:spPr>
          <a:xfrm>
            <a:off x="640080" y="3913632"/>
            <a:ext cx="2377440" cy="18288"/>
          </a:xfrm>
          <a:prstGeom prst="rect">
            <a:avLst/>
          </a:prstGeom>
          <a:solidFill>
            <a:srgbClr val="C07414"/>
          </a:solidFill>
          <a:ln/>
        </p:spPr>
        <p:txBody>
          <a:bodyPr/>
          <a:lstStyle/>
          <a:p>
            <a:endParaRPr lang="en-US"/>
          </a:p>
        </p:txBody>
      </p:sp>
      <p:sp>
        <p:nvSpPr>
          <p:cNvPr id="8" name="Text 6"/>
          <p:cNvSpPr txBox="1"/>
          <p:nvPr/>
        </p:nvSpPr>
        <p:spPr>
          <a:xfrm>
            <a:off x="640080" y="4133088"/>
            <a:ext cx="7680960" cy="777240"/>
          </a:xfrm>
          <a:prstGeom prst="rect">
            <a:avLst/>
          </a:prstGeom>
          <a:noFill/>
          <a:ln/>
        </p:spPr>
        <p:txBody>
          <a:bodyPr wrap="square" lIns="0" tIns="0" rIns="0" bIns="0" rtlCol="0" anchor="ctr"/>
          <a:lstStyle/>
          <a:p>
            <a:pPr marL="0" indent="0">
              <a:lnSpc>
                <a:spcPts val="2500"/>
              </a:lnSpc>
              <a:buNone/>
            </a:pPr>
            <a:r>
              <a:rPr lang="en-US" sz="1850" i="1" dirty="0">
                <a:solidFill>
                  <a:srgbClr val="8FB4DE"/>
                </a:solidFill>
                <a:latin typeface="Cambria" pitchFamily="34" charset="0"/>
                <a:ea typeface="Cambria" pitchFamily="34" charset="-122"/>
                <a:cs typeface="Cambria" pitchFamily="34" charset="-120"/>
              </a:rPr>
              <a:t>A blind person on a hillside, feeling which way is down, and stepping.</a:t>
            </a:r>
            <a:endParaRPr lang="en-US" sz="1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741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FROM ZERO</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11722"/>
                </a:solidFill>
                <a:latin typeface="Cambria" pitchFamily="34" charset="0"/>
                <a:ea typeface="Cambria" pitchFamily="34" charset="-122"/>
                <a:cs typeface="Cambria" pitchFamily="34" charset="-120"/>
              </a:rPr>
              <a:t>Slope, and then the derivative</a:t>
            </a:r>
            <a:endParaRPr lang="en-US" sz="2900" dirty="0"/>
          </a:p>
        </p:txBody>
      </p:sp>
      <p:sp>
        <p:nvSpPr>
          <p:cNvPr id="5" name="Shape 3"/>
          <p:cNvSpPr/>
          <p:nvPr/>
        </p:nvSpPr>
        <p:spPr>
          <a:xfrm>
            <a:off x="640080" y="1417320"/>
            <a:ext cx="5212080" cy="1920240"/>
          </a:xfrm>
          <a:prstGeom prst="roundRect">
            <a:avLst>
              <a:gd name="adj" fmla="val 3810"/>
            </a:avLst>
          </a:prstGeom>
          <a:solidFill>
            <a:srgbClr val="E7EEF8"/>
          </a:solidFill>
          <a:ln w="12700">
            <a:solidFill>
              <a:srgbClr val="E7EEF8"/>
            </a:solidFill>
            <a:prstDash val="solid"/>
          </a:ln>
        </p:spPr>
        <p:txBody>
          <a:bodyPr/>
          <a:lstStyle/>
          <a:p>
            <a:endParaRPr lang="en-US"/>
          </a:p>
        </p:txBody>
      </p:sp>
      <p:sp>
        <p:nvSpPr>
          <p:cNvPr id="6" name="Text 4"/>
          <p:cNvSpPr txBox="1"/>
          <p:nvPr/>
        </p:nvSpPr>
        <p:spPr>
          <a:xfrm>
            <a:off x="1005840" y="1609344"/>
            <a:ext cx="4480560" cy="329184"/>
          </a:xfrm>
          <a:prstGeom prst="rect">
            <a:avLst/>
          </a:prstGeom>
          <a:noFill/>
          <a:ln/>
        </p:spPr>
        <p:txBody>
          <a:bodyPr wrap="square" lIns="0" tIns="0" rIns="0" bIns="0" rtlCol="0" anchor="ctr"/>
          <a:lstStyle/>
          <a:p>
            <a:pPr marL="0" indent="0">
              <a:buNone/>
            </a:pPr>
            <a:r>
              <a:rPr lang="en-US" sz="1700" b="1" dirty="0">
                <a:solidFill>
                  <a:srgbClr val="111722"/>
                </a:solidFill>
                <a:latin typeface="Cambria" pitchFamily="34" charset="0"/>
                <a:ea typeface="Cambria" pitchFamily="34" charset="-122"/>
                <a:cs typeface="Cambria" pitchFamily="34" charset="-120"/>
              </a:rPr>
              <a:t>Slope is rise over run</a:t>
            </a:r>
            <a:endParaRPr lang="en-US" sz="1700" dirty="0"/>
          </a:p>
        </p:txBody>
      </p:sp>
      <p:sp>
        <p:nvSpPr>
          <p:cNvPr id="7" name="Text 5"/>
          <p:cNvSpPr txBox="1"/>
          <p:nvPr/>
        </p:nvSpPr>
        <p:spPr>
          <a:xfrm>
            <a:off x="1005840" y="2011680"/>
            <a:ext cx="4526280" cy="1188720"/>
          </a:xfrm>
          <a:prstGeom prst="rect">
            <a:avLst/>
          </a:prstGeom>
          <a:noFill/>
          <a:ln/>
        </p:spPr>
        <p:txBody>
          <a:bodyPr wrap="square" lIns="0" tIns="0" rIns="0" bIns="0" rtlCol="0" anchor="ctr"/>
          <a:lstStyle/>
          <a:p>
            <a:pPr marL="0" indent="0">
              <a:lnSpc>
                <a:spcPts val="1700"/>
              </a:lnSpc>
              <a:buNone/>
            </a:pPr>
            <a:r>
              <a:rPr lang="en-US" sz="1250" dirty="0">
                <a:solidFill>
                  <a:srgbClr val="5B6474"/>
                </a:solidFill>
                <a:latin typeface="Calibri" pitchFamily="34" charset="0"/>
                <a:ea typeface="Calibri" pitchFamily="34" charset="-122"/>
                <a:cs typeface="Calibri" pitchFamily="34" charset="-120"/>
              </a:rPr>
              <a:t>Walk a small distance sideways. See how far you went up or down. Divide the second by the first. If you get +2, the ground rises two units for every one you step right. If you get −0.5, it falls.</a:t>
            </a:r>
            <a:endParaRPr lang="en-US" sz="1250" dirty="0"/>
          </a:p>
        </p:txBody>
      </p:sp>
      <p:sp>
        <p:nvSpPr>
          <p:cNvPr id="8" name="Shape 6"/>
          <p:cNvSpPr/>
          <p:nvPr/>
        </p:nvSpPr>
        <p:spPr>
          <a:xfrm>
            <a:off x="640080" y="3520440"/>
            <a:ext cx="5212080" cy="960120"/>
          </a:xfrm>
          <a:prstGeom prst="roundRect">
            <a:avLst>
              <a:gd name="adj" fmla="val 5714"/>
            </a:avLst>
          </a:prstGeom>
          <a:solidFill>
            <a:srgbClr val="F6F8FC"/>
          </a:solidFill>
          <a:ln w="12700">
            <a:solidFill>
              <a:srgbClr val="C9D4E6"/>
            </a:solidFill>
            <a:prstDash val="solid"/>
          </a:ln>
        </p:spPr>
        <p:txBody>
          <a:bodyPr/>
          <a:lstStyle/>
          <a:p>
            <a:endParaRPr lang="en-US"/>
          </a:p>
        </p:txBody>
      </p:sp>
      <p:sp>
        <p:nvSpPr>
          <p:cNvPr id="9" name="Text 7"/>
          <p:cNvSpPr txBox="1"/>
          <p:nvPr/>
        </p:nvSpPr>
        <p:spPr>
          <a:xfrm>
            <a:off x="777240" y="3520440"/>
            <a:ext cx="4937760" cy="960120"/>
          </a:xfrm>
          <a:prstGeom prst="rect">
            <a:avLst/>
          </a:prstGeom>
          <a:noFill/>
          <a:ln/>
        </p:spPr>
        <p:txBody>
          <a:bodyPr wrap="square" lIns="0" tIns="0" rIns="0" bIns="0" rtlCol="0" anchor="ctr"/>
          <a:lstStyle/>
          <a:p>
            <a:pPr marL="0" indent="0" algn="ctr">
              <a:buNone/>
            </a:pPr>
            <a:r>
              <a:rPr lang="en-US" sz="2100" dirty="0">
                <a:solidFill>
                  <a:srgbClr val="111722"/>
                </a:solidFill>
                <a:latin typeface="Cambria Math" pitchFamily="34" charset="0"/>
                <a:ea typeface="Cambria Math" pitchFamily="34" charset="-122"/>
                <a:cs typeface="Cambria Math" pitchFamily="34" charset="-120"/>
              </a:rPr>
              <a:t>slope ≈ (C(w+ε) − C(w)) / ε</a:t>
            </a:r>
            <a:endParaRPr lang="en-US" sz="2100" dirty="0"/>
          </a:p>
        </p:txBody>
      </p:sp>
      <p:sp>
        <p:nvSpPr>
          <p:cNvPr id="10" name="Text 8"/>
          <p:cNvSpPr txBox="1"/>
          <p:nvPr/>
        </p:nvSpPr>
        <p:spPr>
          <a:xfrm>
            <a:off x="640080" y="4590288"/>
            <a:ext cx="5212080" cy="320040"/>
          </a:xfrm>
          <a:prstGeom prst="rect">
            <a:avLst/>
          </a:prstGeom>
          <a:noFill/>
          <a:ln/>
        </p:spPr>
        <p:txBody>
          <a:bodyPr wrap="square" lIns="0" tIns="0" rIns="0" bIns="0" rtlCol="0" anchor="ctr"/>
          <a:lstStyle/>
          <a:p>
            <a:pPr marL="0" indent="0" algn="ctr">
              <a:buNone/>
            </a:pPr>
            <a:r>
              <a:rPr lang="en-US" sz="1150" i="1" dirty="0">
                <a:solidFill>
                  <a:srgbClr val="2C5FA8"/>
                </a:solidFill>
                <a:latin typeface="Calibri" pitchFamily="34" charset="0"/>
                <a:ea typeface="Calibri" pitchFamily="34" charset="-122"/>
                <a:cs typeface="Calibri" pitchFamily="34" charset="-120"/>
              </a:rPr>
              <a:t>“Nudge the knob by a tiny amount ε. See how much the loss changed. Divide.”</a:t>
            </a:r>
            <a:endParaRPr lang="en-US" sz="1150" dirty="0"/>
          </a:p>
        </p:txBody>
      </p:sp>
      <p:sp>
        <p:nvSpPr>
          <p:cNvPr id="11" name="Shape 9"/>
          <p:cNvSpPr/>
          <p:nvPr/>
        </p:nvSpPr>
        <p:spPr>
          <a:xfrm>
            <a:off x="6172200" y="1417320"/>
            <a:ext cx="5358384" cy="1920240"/>
          </a:xfrm>
          <a:prstGeom prst="roundRect">
            <a:avLst>
              <a:gd name="adj" fmla="val 3810"/>
            </a:avLst>
          </a:prstGeom>
          <a:solidFill>
            <a:srgbClr val="FAF0DE"/>
          </a:solidFill>
          <a:ln w="12700">
            <a:solidFill>
              <a:srgbClr val="FAF0DE"/>
            </a:solidFill>
            <a:prstDash val="solid"/>
          </a:ln>
        </p:spPr>
        <p:txBody>
          <a:bodyPr/>
          <a:lstStyle/>
          <a:p>
            <a:endParaRPr lang="en-US"/>
          </a:p>
        </p:txBody>
      </p:sp>
      <p:sp>
        <p:nvSpPr>
          <p:cNvPr id="12" name="Text 10"/>
          <p:cNvSpPr txBox="1"/>
          <p:nvPr/>
        </p:nvSpPr>
        <p:spPr>
          <a:xfrm>
            <a:off x="6537960" y="1609344"/>
            <a:ext cx="4626864" cy="329184"/>
          </a:xfrm>
          <a:prstGeom prst="rect">
            <a:avLst/>
          </a:prstGeom>
          <a:noFill/>
          <a:ln/>
        </p:spPr>
        <p:txBody>
          <a:bodyPr wrap="square" lIns="0" tIns="0" rIns="0" bIns="0" rtlCol="0" anchor="ctr"/>
          <a:lstStyle/>
          <a:p>
            <a:pPr marL="0" indent="0">
              <a:buNone/>
            </a:pPr>
            <a:r>
              <a:rPr lang="en-US" sz="1700" b="1" dirty="0">
                <a:solidFill>
                  <a:srgbClr val="111722"/>
                </a:solidFill>
                <a:latin typeface="Cambria" pitchFamily="34" charset="0"/>
                <a:ea typeface="Cambria" pitchFamily="34" charset="-122"/>
                <a:cs typeface="Cambria" pitchFamily="34" charset="-120"/>
              </a:rPr>
              <a:t>A derivative is that, with ε shrunk to nothing</a:t>
            </a:r>
            <a:endParaRPr lang="en-US" sz="1700" dirty="0"/>
          </a:p>
        </p:txBody>
      </p:sp>
      <p:sp>
        <p:nvSpPr>
          <p:cNvPr id="13" name="Text 11"/>
          <p:cNvSpPr txBox="1"/>
          <p:nvPr/>
        </p:nvSpPr>
        <p:spPr>
          <a:xfrm>
            <a:off x="6537960" y="2011680"/>
            <a:ext cx="4672584" cy="1188720"/>
          </a:xfrm>
          <a:prstGeom prst="rect">
            <a:avLst/>
          </a:prstGeom>
          <a:noFill/>
          <a:ln/>
        </p:spPr>
        <p:txBody>
          <a:bodyPr wrap="square" lIns="0" tIns="0" rIns="0" bIns="0" rtlCol="0" anchor="ctr"/>
          <a:lstStyle/>
          <a:p>
            <a:pPr marL="0" indent="0">
              <a:lnSpc>
                <a:spcPts val="1700"/>
              </a:lnSpc>
              <a:buNone/>
            </a:pPr>
            <a:r>
              <a:rPr lang="en-US" sz="1250" dirty="0">
                <a:solidFill>
                  <a:srgbClr val="5B6474"/>
                </a:solidFill>
                <a:latin typeface="Calibri" pitchFamily="34" charset="0"/>
                <a:ea typeface="Calibri" pitchFamily="34" charset="-122"/>
                <a:cs typeface="Calibri" pitchFamily="34" charset="-120"/>
              </a:rPr>
              <a:t>The exact slope at a single point, rather than an approximate slope across a small gap. That is the only difference between the line above and the line below, and for our purposes they behave identically.</a:t>
            </a:r>
            <a:endParaRPr lang="en-US" sz="1250" dirty="0"/>
          </a:p>
        </p:txBody>
      </p:sp>
      <p:sp>
        <p:nvSpPr>
          <p:cNvPr id="14" name="Shape 12"/>
          <p:cNvSpPr/>
          <p:nvPr/>
        </p:nvSpPr>
        <p:spPr>
          <a:xfrm>
            <a:off x="6172200" y="3520440"/>
            <a:ext cx="5358384" cy="960120"/>
          </a:xfrm>
          <a:prstGeom prst="roundRect">
            <a:avLst>
              <a:gd name="adj" fmla="val 5714"/>
            </a:avLst>
          </a:prstGeom>
          <a:solidFill>
            <a:srgbClr val="F6F8FC"/>
          </a:solidFill>
          <a:ln w="12700">
            <a:solidFill>
              <a:srgbClr val="C9D4E6"/>
            </a:solidFill>
            <a:prstDash val="solid"/>
          </a:ln>
        </p:spPr>
        <p:txBody>
          <a:bodyPr/>
          <a:lstStyle/>
          <a:p>
            <a:endParaRPr lang="en-US"/>
          </a:p>
        </p:txBody>
      </p:sp>
      <p:sp>
        <p:nvSpPr>
          <p:cNvPr id="15" name="Text 13"/>
          <p:cNvSpPr txBox="1"/>
          <p:nvPr/>
        </p:nvSpPr>
        <p:spPr>
          <a:xfrm>
            <a:off x="6309360" y="3520440"/>
            <a:ext cx="5084064" cy="960120"/>
          </a:xfrm>
          <a:prstGeom prst="rect">
            <a:avLst/>
          </a:prstGeom>
          <a:noFill/>
          <a:ln/>
        </p:spPr>
        <p:txBody>
          <a:bodyPr wrap="square" lIns="0" tIns="0" rIns="0" bIns="0" rtlCol="0" anchor="ctr"/>
          <a:lstStyle/>
          <a:p>
            <a:pPr marL="0" indent="0" algn="ctr">
              <a:buNone/>
            </a:pPr>
            <a:r>
              <a:rPr lang="en-US" sz="1800" dirty="0">
                <a:solidFill>
                  <a:srgbClr val="111722"/>
                </a:solidFill>
                <a:latin typeface="Cambria Math" pitchFamily="34" charset="0"/>
                <a:ea typeface="Cambria Math" pitchFamily="34" charset="-122"/>
                <a:cs typeface="Cambria Math" pitchFamily="34" charset="-120"/>
              </a:rPr>
              <a:t>dC/dw = lim(ε→0) (C(w+ε) − C(w)) / ε</a:t>
            </a:r>
            <a:endParaRPr lang="en-US" sz="1800" dirty="0"/>
          </a:p>
        </p:txBody>
      </p:sp>
      <p:sp>
        <p:nvSpPr>
          <p:cNvPr id="16" name="Text 14"/>
          <p:cNvSpPr txBox="1"/>
          <p:nvPr/>
        </p:nvSpPr>
        <p:spPr>
          <a:xfrm>
            <a:off x="6172200" y="4590288"/>
            <a:ext cx="5358384" cy="320040"/>
          </a:xfrm>
          <a:prstGeom prst="rect">
            <a:avLst/>
          </a:prstGeom>
          <a:noFill/>
          <a:ln/>
        </p:spPr>
        <p:txBody>
          <a:bodyPr wrap="square" lIns="0" tIns="0" rIns="0" bIns="0" rtlCol="0" anchor="ctr"/>
          <a:lstStyle/>
          <a:p>
            <a:pPr marL="0" indent="0" algn="ctr">
              <a:buNone/>
            </a:pPr>
            <a:r>
              <a:rPr lang="en-US" sz="1150" i="1" dirty="0">
                <a:solidFill>
                  <a:srgbClr val="C07414"/>
                </a:solidFill>
                <a:latin typeface="Calibri" pitchFamily="34" charset="0"/>
                <a:ea typeface="Calibri" pitchFamily="34" charset="-122"/>
                <a:cs typeface="Calibri" pitchFamily="34" charset="-120"/>
              </a:rPr>
              <a:t>“the rate at which C changes as w changes”</a:t>
            </a:r>
            <a:endParaRPr lang="en-US" sz="1150" dirty="0"/>
          </a:p>
        </p:txBody>
      </p:sp>
      <p:sp>
        <p:nvSpPr>
          <p:cNvPr id="17" name="Shape 15"/>
          <p:cNvSpPr/>
          <p:nvPr/>
        </p:nvSpPr>
        <p:spPr>
          <a:xfrm>
            <a:off x="640080" y="5074920"/>
            <a:ext cx="10911535" cy="1097280"/>
          </a:xfrm>
          <a:prstGeom prst="roundRect">
            <a:avLst>
              <a:gd name="adj" fmla="val 6667"/>
            </a:avLst>
          </a:prstGeom>
          <a:solidFill>
            <a:srgbClr val="111722"/>
          </a:solidFill>
          <a:ln w="12700">
            <a:solidFill>
              <a:srgbClr val="111722"/>
            </a:solidFill>
            <a:prstDash val="solid"/>
          </a:ln>
        </p:spPr>
        <p:txBody>
          <a:bodyPr/>
          <a:lstStyle/>
          <a:p>
            <a:endParaRPr lang="en-US"/>
          </a:p>
        </p:txBody>
      </p:sp>
      <p:sp>
        <p:nvSpPr>
          <p:cNvPr id="18" name="Text 16"/>
          <p:cNvSpPr txBox="1"/>
          <p:nvPr/>
        </p:nvSpPr>
        <p:spPr>
          <a:xfrm>
            <a:off x="1005840" y="5239512"/>
            <a:ext cx="10424160" cy="768096"/>
          </a:xfrm>
          <a:prstGeom prst="rect">
            <a:avLst/>
          </a:prstGeom>
          <a:noFill/>
          <a:ln/>
        </p:spPr>
        <p:txBody>
          <a:bodyPr wrap="square" lIns="0" tIns="0" rIns="0" bIns="0" rtlCol="0" anchor="ctr"/>
          <a:lstStyle/>
          <a:p>
            <a:pPr marL="0" indent="0">
              <a:lnSpc>
                <a:spcPts val="2000"/>
              </a:lnSpc>
              <a:buNone/>
            </a:pPr>
            <a:r>
              <a:rPr lang="en-US" sz="1500" dirty="0">
                <a:solidFill>
                  <a:srgbClr val="F2F4F8"/>
                </a:solidFill>
                <a:latin typeface="Cambria" pitchFamily="34" charset="0"/>
                <a:ea typeface="Cambria" pitchFamily="34" charset="-122"/>
                <a:cs typeface="Cambria" pitchFamily="34" charset="-120"/>
              </a:rPr>
              <a:t>If you have ever been told that calculus is hard, notice what just happened: the definition of a derivative is “nudge it and look, with a very small nudge.” You have now seen the actual definition. There is not a harder one hiding behind it.</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741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ONE KNOB</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11722"/>
                </a:solidFill>
                <a:latin typeface="Cambria" pitchFamily="34" charset="0"/>
                <a:ea typeface="Cambria" pitchFamily="34" charset="-122"/>
                <a:cs typeface="Cambria" pitchFamily="34" charset="-120"/>
              </a:rPr>
              <a:t>The picture everything else is built from</a:t>
            </a:r>
            <a:endParaRPr lang="en-US" sz="2900" dirty="0"/>
          </a:p>
        </p:txBody>
      </p:sp>
      <p:sp>
        <p:nvSpPr>
          <p:cNvPr id="5" name="Shape 3"/>
          <p:cNvSpPr/>
          <p:nvPr/>
        </p:nvSpPr>
        <p:spPr>
          <a:xfrm>
            <a:off x="1124712" y="1463040"/>
            <a:ext cx="18288" cy="2715768"/>
          </a:xfrm>
          <a:prstGeom prst="rect">
            <a:avLst/>
          </a:prstGeom>
          <a:solidFill>
            <a:srgbClr val="5B6474"/>
          </a:solidFill>
          <a:ln/>
        </p:spPr>
        <p:txBody>
          <a:bodyPr/>
          <a:lstStyle/>
          <a:p>
            <a:endParaRPr lang="en-US"/>
          </a:p>
        </p:txBody>
      </p:sp>
      <p:sp>
        <p:nvSpPr>
          <p:cNvPr id="6" name="Shape 4"/>
          <p:cNvSpPr/>
          <p:nvPr/>
        </p:nvSpPr>
        <p:spPr>
          <a:xfrm>
            <a:off x="1005840" y="4160520"/>
            <a:ext cx="4709160" cy="18288"/>
          </a:xfrm>
          <a:prstGeom prst="rect">
            <a:avLst/>
          </a:prstGeom>
          <a:solidFill>
            <a:srgbClr val="5B6474"/>
          </a:solidFill>
          <a:ln/>
        </p:spPr>
        <p:txBody>
          <a:bodyPr/>
          <a:lstStyle/>
          <a:p>
            <a:endParaRPr lang="en-US"/>
          </a:p>
        </p:txBody>
      </p:sp>
      <p:sp>
        <p:nvSpPr>
          <p:cNvPr id="7" name="Text 5"/>
          <p:cNvSpPr txBox="1"/>
          <p:nvPr/>
        </p:nvSpPr>
        <p:spPr>
          <a:xfrm>
            <a:off x="3657600" y="4242816"/>
            <a:ext cx="2194560" cy="256032"/>
          </a:xfrm>
          <a:prstGeom prst="rect">
            <a:avLst/>
          </a:prstGeom>
          <a:noFill/>
          <a:ln/>
        </p:spPr>
        <p:txBody>
          <a:bodyPr wrap="square" lIns="0" tIns="0" rIns="0" bIns="0" rtlCol="0" anchor="ctr"/>
          <a:lstStyle/>
          <a:p>
            <a:pPr marL="0" indent="0" algn="r">
              <a:buNone/>
            </a:pPr>
            <a:r>
              <a:rPr lang="en-US" sz="1200" i="1" dirty="0">
                <a:solidFill>
                  <a:srgbClr val="5B6474"/>
                </a:solidFill>
                <a:latin typeface="Cambria Math" pitchFamily="34" charset="0"/>
                <a:ea typeface="Cambria Math" pitchFamily="34" charset="-122"/>
                <a:cs typeface="Cambria Math" pitchFamily="34" charset="-120"/>
              </a:rPr>
              <a:t>w</a:t>
            </a:r>
            <a:endParaRPr lang="en-US" sz="1200" dirty="0"/>
          </a:p>
        </p:txBody>
      </p:sp>
      <p:sp>
        <p:nvSpPr>
          <p:cNvPr id="8" name="Text 6"/>
          <p:cNvSpPr txBox="1"/>
          <p:nvPr/>
        </p:nvSpPr>
        <p:spPr>
          <a:xfrm>
            <a:off x="1216152" y="1380744"/>
            <a:ext cx="2377440" cy="256032"/>
          </a:xfrm>
          <a:prstGeom prst="rect">
            <a:avLst/>
          </a:prstGeom>
          <a:noFill/>
          <a:ln/>
        </p:spPr>
        <p:txBody>
          <a:bodyPr wrap="square" lIns="0" tIns="0" rIns="0" bIns="0" rtlCol="0" anchor="ctr"/>
          <a:lstStyle/>
          <a:p>
            <a:pPr marL="0" indent="0">
              <a:buNone/>
            </a:pPr>
            <a:r>
              <a:rPr lang="en-US" sz="1200" i="1" dirty="0">
                <a:solidFill>
                  <a:srgbClr val="5B6474"/>
                </a:solidFill>
                <a:latin typeface="Cambria Math" pitchFamily="34" charset="0"/>
                <a:ea typeface="Cambria Math" pitchFamily="34" charset="-122"/>
                <a:cs typeface="Cambria Math" pitchFamily="34" charset="-120"/>
              </a:rPr>
              <a:t>C</a:t>
            </a:r>
            <a:endParaRPr lang="en-US" sz="1200" dirty="0"/>
          </a:p>
        </p:txBody>
      </p:sp>
      <p:sp>
        <p:nvSpPr>
          <p:cNvPr id="9" name="Shape 7"/>
          <p:cNvSpPr/>
          <p:nvPr/>
        </p:nvSpPr>
        <p:spPr>
          <a:xfrm>
            <a:off x="1120140" y="1577340"/>
            <a:ext cx="45720" cy="45720"/>
          </a:xfrm>
          <a:prstGeom prst="ellipse">
            <a:avLst/>
          </a:prstGeom>
          <a:solidFill>
            <a:srgbClr val="2C5FA8"/>
          </a:solidFill>
          <a:ln/>
        </p:spPr>
        <p:txBody>
          <a:bodyPr/>
          <a:lstStyle/>
          <a:p>
            <a:endParaRPr lang="en-US"/>
          </a:p>
        </p:txBody>
      </p:sp>
      <p:sp>
        <p:nvSpPr>
          <p:cNvPr id="10" name="Shape 8"/>
          <p:cNvSpPr/>
          <p:nvPr/>
        </p:nvSpPr>
        <p:spPr>
          <a:xfrm>
            <a:off x="1182189" y="1713828"/>
            <a:ext cx="45720" cy="45720"/>
          </a:xfrm>
          <a:prstGeom prst="ellipse">
            <a:avLst/>
          </a:prstGeom>
          <a:solidFill>
            <a:srgbClr val="2C5FA8"/>
          </a:solidFill>
          <a:ln/>
        </p:spPr>
        <p:txBody>
          <a:bodyPr/>
          <a:lstStyle/>
          <a:p>
            <a:endParaRPr lang="en-US"/>
          </a:p>
        </p:txBody>
      </p:sp>
      <p:sp>
        <p:nvSpPr>
          <p:cNvPr id="11" name="Shape 9"/>
          <p:cNvSpPr/>
          <p:nvPr/>
        </p:nvSpPr>
        <p:spPr>
          <a:xfrm>
            <a:off x="1244237" y="1846360"/>
            <a:ext cx="45720" cy="45720"/>
          </a:xfrm>
          <a:prstGeom prst="ellipse">
            <a:avLst/>
          </a:prstGeom>
          <a:solidFill>
            <a:srgbClr val="2C5FA8"/>
          </a:solidFill>
          <a:ln/>
        </p:spPr>
        <p:txBody>
          <a:bodyPr/>
          <a:lstStyle/>
          <a:p>
            <a:endParaRPr lang="en-US"/>
          </a:p>
        </p:txBody>
      </p:sp>
      <p:sp>
        <p:nvSpPr>
          <p:cNvPr id="12" name="Shape 10"/>
          <p:cNvSpPr/>
          <p:nvPr/>
        </p:nvSpPr>
        <p:spPr>
          <a:xfrm>
            <a:off x="1306286" y="1974936"/>
            <a:ext cx="45720" cy="45720"/>
          </a:xfrm>
          <a:prstGeom prst="ellipse">
            <a:avLst/>
          </a:prstGeom>
          <a:solidFill>
            <a:srgbClr val="2C5FA8"/>
          </a:solidFill>
          <a:ln/>
        </p:spPr>
        <p:txBody>
          <a:bodyPr/>
          <a:lstStyle/>
          <a:p>
            <a:endParaRPr lang="en-US"/>
          </a:p>
        </p:txBody>
      </p:sp>
      <p:sp>
        <p:nvSpPr>
          <p:cNvPr id="13" name="Shape 11"/>
          <p:cNvSpPr/>
          <p:nvPr/>
        </p:nvSpPr>
        <p:spPr>
          <a:xfrm>
            <a:off x="1368334" y="2099556"/>
            <a:ext cx="45720" cy="45720"/>
          </a:xfrm>
          <a:prstGeom prst="ellipse">
            <a:avLst/>
          </a:prstGeom>
          <a:solidFill>
            <a:srgbClr val="2C5FA8"/>
          </a:solidFill>
          <a:ln/>
        </p:spPr>
        <p:txBody>
          <a:bodyPr/>
          <a:lstStyle/>
          <a:p>
            <a:endParaRPr lang="en-US"/>
          </a:p>
        </p:txBody>
      </p:sp>
      <p:sp>
        <p:nvSpPr>
          <p:cNvPr id="14" name="Shape 12"/>
          <p:cNvSpPr/>
          <p:nvPr/>
        </p:nvSpPr>
        <p:spPr>
          <a:xfrm>
            <a:off x="1430383" y="2220219"/>
            <a:ext cx="45720" cy="45720"/>
          </a:xfrm>
          <a:prstGeom prst="ellipse">
            <a:avLst/>
          </a:prstGeom>
          <a:solidFill>
            <a:srgbClr val="2C5FA8"/>
          </a:solidFill>
          <a:ln/>
        </p:spPr>
        <p:txBody>
          <a:bodyPr/>
          <a:lstStyle/>
          <a:p>
            <a:endParaRPr lang="en-US"/>
          </a:p>
        </p:txBody>
      </p:sp>
      <p:sp>
        <p:nvSpPr>
          <p:cNvPr id="15" name="Shape 13"/>
          <p:cNvSpPr/>
          <p:nvPr/>
        </p:nvSpPr>
        <p:spPr>
          <a:xfrm>
            <a:off x="1492431" y="2336926"/>
            <a:ext cx="45720" cy="45720"/>
          </a:xfrm>
          <a:prstGeom prst="ellipse">
            <a:avLst/>
          </a:prstGeom>
          <a:solidFill>
            <a:srgbClr val="2C5FA8"/>
          </a:solidFill>
          <a:ln/>
        </p:spPr>
        <p:txBody>
          <a:bodyPr/>
          <a:lstStyle/>
          <a:p>
            <a:endParaRPr lang="en-US"/>
          </a:p>
        </p:txBody>
      </p:sp>
      <p:sp>
        <p:nvSpPr>
          <p:cNvPr id="16" name="Shape 14"/>
          <p:cNvSpPr/>
          <p:nvPr/>
        </p:nvSpPr>
        <p:spPr>
          <a:xfrm>
            <a:off x="1554480" y="2449678"/>
            <a:ext cx="45720" cy="45720"/>
          </a:xfrm>
          <a:prstGeom prst="ellipse">
            <a:avLst/>
          </a:prstGeom>
          <a:solidFill>
            <a:srgbClr val="2C5FA8"/>
          </a:solidFill>
          <a:ln/>
        </p:spPr>
        <p:txBody>
          <a:bodyPr/>
          <a:lstStyle/>
          <a:p>
            <a:endParaRPr lang="en-US"/>
          </a:p>
        </p:txBody>
      </p:sp>
      <p:sp>
        <p:nvSpPr>
          <p:cNvPr id="17" name="Shape 15"/>
          <p:cNvSpPr/>
          <p:nvPr/>
        </p:nvSpPr>
        <p:spPr>
          <a:xfrm>
            <a:off x="1616529" y="2558473"/>
            <a:ext cx="45720" cy="45720"/>
          </a:xfrm>
          <a:prstGeom prst="ellipse">
            <a:avLst/>
          </a:prstGeom>
          <a:solidFill>
            <a:srgbClr val="2C5FA8"/>
          </a:solidFill>
          <a:ln/>
        </p:spPr>
        <p:txBody>
          <a:bodyPr/>
          <a:lstStyle/>
          <a:p>
            <a:endParaRPr lang="en-US"/>
          </a:p>
        </p:txBody>
      </p:sp>
      <p:sp>
        <p:nvSpPr>
          <p:cNvPr id="18" name="Shape 16"/>
          <p:cNvSpPr/>
          <p:nvPr/>
        </p:nvSpPr>
        <p:spPr>
          <a:xfrm>
            <a:off x="1678577" y="2663311"/>
            <a:ext cx="45720" cy="45720"/>
          </a:xfrm>
          <a:prstGeom prst="ellipse">
            <a:avLst/>
          </a:prstGeom>
          <a:solidFill>
            <a:srgbClr val="2C5FA8"/>
          </a:solidFill>
          <a:ln/>
        </p:spPr>
        <p:txBody>
          <a:bodyPr/>
          <a:lstStyle/>
          <a:p>
            <a:endParaRPr lang="en-US"/>
          </a:p>
        </p:txBody>
      </p:sp>
      <p:sp>
        <p:nvSpPr>
          <p:cNvPr id="19" name="Shape 17"/>
          <p:cNvSpPr/>
          <p:nvPr/>
        </p:nvSpPr>
        <p:spPr>
          <a:xfrm>
            <a:off x="1740626" y="2764194"/>
            <a:ext cx="45720" cy="45720"/>
          </a:xfrm>
          <a:prstGeom prst="ellipse">
            <a:avLst/>
          </a:prstGeom>
          <a:solidFill>
            <a:srgbClr val="2C5FA8"/>
          </a:solidFill>
          <a:ln/>
        </p:spPr>
        <p:txBody>
          <a:bodyPr/>
          <a:lstStyle/>
          <a:p>
            <a:endParaRPr lang="en-US"/>
          </a:p>
        </p:txBody>
      </p:sp>
      <p:sp>
        <p:nvSpPr>
          <p:cNvPr id="20" name="Shape 18"/>
          <p:cNvSpPr/>
          <p:nvPr/>
        </p:nvSpPr>
        <p:spPr>
          <a:xfrm>
            <a:off x="1802674" y="2861120"/>
            <a:ext cx="45720" cy="45720"/>
          </a:xfrm>
          <a:prstGeom prst="ellipse">
            <a:avLst/>
          </a:prstGeom>
          <a:solidFill>
            <a:srgbClr val="2C5FA8"/>
          </a:solidFill>
          <a:ln/>
        </p:spPr>
        <p:txBody>
          <a:bodyPr/>
          <a:lstStyle/>
          <a:p>
            <a:endParaRPr lang="en-US"/>
          </a:p>
        </p:txBody>
      </p:sp>
      <p:sp>
        <p:nvSpPr>
          <p:cNvPr id="21" name="Shape 19"/>
          <p:cNvSpPr/>
          <p:nvPr/>
        </p:nvSpPr>
        <p:spPr>
          <a:xfrm>
            <a:off x="1864723" y="2954090"/>
            <a:ext cx="45720" cy="45720"/>
          </a:xfrm>
          <a:prstGeom prst="ellipse">
            <a:avLst/>
          </a:prstGeom>
          <a:solidFill>
            <a:srgbClr val="2C5FA8"/>
          </a:solidFill>
          <a:ln/>
        </p:spPr>
        <p:txBody>
          <a:bodyPr/>
          <a:lstStyle/>
          <a:p>
            <a:endParaRPr lang="en-US"/>
          </a:p>
        </p:txBody>
      </p:sp>
      <p:sp>
        <p:nvSpPr>
          <p:cNvPr id="22" name="Shape 20"/>
          <p:cNvSpPr/>
          <p:nvPr/>
        </p:nvSpPr>
        <p:spPr>
          <a:xfrm>
            <a:off x="1926771" y="3043105"/>
            <a:ext cx="45720" cy="45720"/>
          </a:xfrm>
          <a:prstGeom prst="ellipse">
            <a:avLst/>
          </a:prstGeom>
          <a:solidFill>
            <a:srgbClr val="2C5FA8"/>
          </a:solidFill>
          <a:ln/>
        </p:spPr>
        <p:txBody>
          <a:bodyPr/>
          <a:lstStyle/>
          <a:p>
            <a:endParaRPr lang="en-US"/>
          </a:p>
        </p:txBody>
      </p:sp>
      <p:sp>
        <p:nvSpPr>
          <p:cNvPr id="23" name="Shape 21"/>
          <p:cNvSpPr/>
          <p:nvPr/>
        </p:nvSpPr>
        <p:spPr>
          <a:xfrm>
            <a:off x="1988820" y="3128162"/>
            <a:ext cx="45720" cy="45720"/>
          </a:xfrm>
          <a:prstGeom prst="ellipse">
            <a:avLst/>
          </a:prstGeom>
          <a:solidFill>
            <a:srgbClr val="2C5FA8"/>
          </a:solidFill>
          <a:ln/>
        </p:spPr>
        <p:txBody>
          <a:bodyPr/>
          <a:lstStyle/>
          <a:p>
            <a:endParaRPr lang="en-US"/>
          </a:p>
        </p:txBody>
      </p:sp>
      <p:sp>
        <p:nvSpPr>
          <p:cNvPr id="24" name="Shape 22"/>
          <p:cNvSpPr/>
          <p:nvPr/>
        </p:nvSpPr>
        <p:spPr>
          <a:xfrm>
            <a:off x="2050869" y="3209264"/>
            <a:ext cx="45720" cy="45720"/>
          </a:xfrm>
          <a:prstGeom prst="ellipse">
            <a:avLst/>
          </a:prstGeom>
          <a:solidFill>
            <a:srgbClr val="2C5FA8"/>
          </a:solidFill>
          <a:ln/>
        </p:spPr>
        <p:txBody>
          <a:bodyPr/>
          <a:lstStyle/>
          <a:p>
            <a:endParaRPr lang="en-US"/>
          </a:p>
        </p:txBody>
      </p:sp>
      <p:sp>
        <p:nvSpPr>
          <p:cNvPr id="25" name="Shape 23"/>
          <p:cNvSpPr/>
          <p:nvPr/>
        </p:nvSpPr>
        <p:spPr>
          <a:xfrm>
            <a:off x="2112917" y="3286410"/>
            <a:ext cx="45720" cy="45720"/>
          </a:xfrm>
          <a:prstGeom prst="ellipse">
            <a:avLst/>
          </a:prstGeom>
          <a:solidFill>
            <a:srgbClr val="2C5FA8"/>
          </a:solidFill>
          <a:ln/>
        </p:spPr>
        <p:txBody>
          <a:bodyPr/>
          <a:lstStyle/>
          <a:p>
            <a:endParaRPr lang="en-US"/>
          </a:p>
        </p:txBody>
      </p:sp>
      <p:sp>
        <p:nvSpPr>
          <p:cNvPr id="26" name="Shape 24"/>
          <p:cNvSpPr/>
          <p:nvPr/>
        </p:nvSpPr>
        <p:spPr>
          <a:xfrm>
            <a:off x="2174966" y="3359599"/>
            <a:ext cx="45720" cy="45720"/>
          </a:xfrm>
          <a:prstGeom prst="ellipse">
            <a:avLst/>
          </a:prstGeom>
          <a:solidFill>
            <a:srgbClr val="2C5FA8"/>
          </a:solidFill>
          <a:ln/>
        </p:spPr>
        <p:txBody>
          <a:bodyPr/>
          <a:lstStyle/>
          <a:p>
            <a:endParaRPr lang="en-US"/>
          </a:p>
        </p:txBody>
      </p:sp>
      <p:sp>
        <p:nvSpPr>
          <p:cNvPr id="27" name="Shape 25"/>
          <p:cNvSpPr/>
          <p:nvPr/>
        </p:nvSpPr>
        <p:spPr>
          <a:xfrm>
            <a:off x="2237014" y="3428832"/>
            <a:ext cx="45720" cy="45720"/>
          </a:xfrm>
          <a:prstGeom prst="ellipse">
            <a:avLst/>
          </a:prstGeom>
          <a:solidFill>
            <a:srgbClr val="2C5FA8"/>
          </a:solidFill>
          <a:ln/>
        </p:spPr>
        <p:txBody>
          <a:bodyPr/>
          <a:lstStyle/>
          <a:p>
            <a:endParaRPr lang="en-US"/>
          </a:p>
        </p:txBody>
      </p:sp>
      <p:sp>
        <p:nvSpPr>
          <p:cNvPr id="28" name="Shape 26"/>
          <p:cNvSpPr/>
          <p:nvPr/>
        </p:nvSpPr>
        <p:spPr>
          <a:xfrm>
            <a:off x="2299063" y="3494109"/>
            <a:ext cx="45720" cy="45720"/>
          </a:xfrm>
          <a:prstGeom prst="ellipse">
            <a:avLst/>
          </a:prstGeom>
          <a:solidFill>
            <a:srgbClr val="2C5FA8"/>
          </a:solidFill>
          <a:ln/>
        </p:spPr>
        <p:txBody>
          <a:bodyPr/>
          <a:lstStyle/>
          <a:p>
            <a:endParaRPr lang="en-US"/>
          </a:p>
        </p:txBody>
      </p:sp>
      <p:sp>
        <p:nvSpPr>
          <p:cNvPr id="29" name="Shape 27"/>
          <p:cNvSpPr/>
          <p:nvPr/>
        </p:nvSpPr>
        <p:spPr>
          <a:xfrm>
            <a:off x="2361111" y="3555430"/>
            <a:ext cx="45720" cy="45720"/>
          </a:xfrm>
          <a:prstGeom prst="ellipse">
            <a:avLst/>
          </a:prstGeom>
          <a:solidFill>
            <a:srgbClr val="2C5FA8"/>
          </a:solidFill>
          <a:ln/>
        </p:spPr>
        <p:txBody>
          <a:bodyPr/>
          <a:lstStyle/>
          <a:p>
            <a:endParaRPr lang="en-US"/>
          </a:p>
        </p:txBody>
      </p:sp>
      <p:sp>
        <p:nvSpPr>
          <p:cNvPr id="30" name="Shape 28"/>
          <p:cNvSpPr/>
          <p:nvPr/>
        </p:nvSpPr>
        <p:spPr>
          <a:xfrm>
            <a:off x="2423160" y="3612794"/>
            <a:ext cx="45720" cy="45720"/>
          </a:xfrm>
          <a:prstGeom prst="ellipse">
            <a:avLst/>
          </a:prstGeom>
          <a:solidFill>
            <a:srgbClr val="2C5FA8"/>
          </a:solidFill>
          <a:ln/>
        </p:spPr>
        <p:txBody>
          <a:bodyPr/>
          <a:lstStyle/>
          <a:p>
            <a:endParaRPr lang="en-US"/>
          </a:p>
        </p:txBody>
      </p:sp>
      <p:sp>
        <p:nvSpPr>
          <p:cNvPr id="31" name="Shape 29"/>
          <p:cNvSpPr/>
          <p:nvPr/>
        </p:nvSpPr>
        <p:spPr>
          <a:xfrm>
            <a:off x="2485209" y="3666203"/>
            <a:ext cx="45720" cy="45720"/>
          </a:xfrm>
          <a:prstGeom prst="ellipse">
            <a:avLst/>
          </a:prstGeom>
          <a:solidFill>
            <a:srgbClr val="2C5FA8"/>
          </a:solidFill>
          <a:ln/>
        </p:spPr>
        <p:txBody>
          <a:bodyPr/>
          <a:lstStyle/>
          <a:p>
            <a:endParaRPr lang="en-US"/>
          </a:p>
        </p:txBody>
      </p:sp>
      <p:sp>
        <p:nvSpPr>
          <p:cNvPr id="32" name="Shape 30"/>
          <p:cNvSpPr/>
          <p:nvPr/>
        </p:nvSpPr>
        <p:spPr>
          <a:xfrm>
            <a:off x="2547257" y="3715655"/>
            <a:ext cx="45720" cy="45720"/>
          </a:xfrm>
          <a:prstGeom prst="ellipse">
            <a:avLst/>
          </a:prstGeom>
          <a:solidFill>
            <a:srgbClr val="2C5FA8"/>
          </a:solidFill>
          <a:ln/>
        </p:spPr>
        <p:txBody>
          <a:bodyPr/>
          <a:lstStyle/>
          <a:p>
            <a:endParaRPr lang="en-US"/>
          </a:p>
        </p:txBody>
      </p:sp>
      <p:sp>
        <p:nvSpPr>
          <p:cNvPr id="33" name="Shape 31"/>
          <p:cNvSpPr/>
          <p:nvPr/>
        </p:nvSpPr>
        <p:spPr>
          <a:xfrm>
            <a:off x="2609306" y="3761151"/>
            <a:ext cx="45720" cy="45720"/>
          </a:xfrm>
          <a:prstGeom prst="ellipse">
            <a:avLst/>
          </a:prstGeom>
          <a:solidFill>
            <a:srgbClr val="2C5FA8"/>
          </a:solidFill>
          <a:ln/>
        </p:spPr>
        <p:txBody>
          <a:bodyPr/>
          <a:lstStyle/>
          <a:p>
            <a:endParaRPr lang="en-US"/>
          </a:p>
        </p:txBody>
      </p:sp>
      <p:sp>
        <p:nvSpPr>
          <p:cNvPr id="34" name="Shape 32"/>
          <p:cNvSpPr/>
          <p:nvPr/>
        </p:nvSpPr>
        <p:spPr>
          <a:xfrm>
            <a:off x="2671354" y="3802691"/>
            <a:ext cx="45720" cy="45720"/>
          </a:xfrm>
          <a:prstGeom prst="ellipse">
            <a:avLst/>
          </a:prstGeom>
          <a:solidFill>
            <a:srgbClr val="2C5FA8"/>
          </a:solidFill>
          <a:ln/>
        </p:spPr>
        <p:txBody>
          <a:bodyPr/>
          <a:lstStyle/>
          <a:p>
            <a:endParaRPr lang="en-US"/>
          </a:p>
        </p:txBody>
      </p:sp>
      <p:sp>
        <p:nvSpPr>
          <p:cNvPr id="35" name="Shape 33"/>
          <p:cNvSpPr/>
          <p:nvPr/>
        </p:nvSpPr>
        <p:spPr>
          <a:xfrm>
            <a:off x="2733403" y="3840275"/>
            <a:ext cx="45720" cy="45720"/>
          </a:xfrm>
          <a:prstGeom prst="ellipse">
            <a:avLst/>
          </a:prstGeom>
          <a:solidFill>
            <a:srgbClr val="2C5FA8"/>
          </a:solidFill>
          <a:ln/>
        </p:spPr>
        <p:txBody>
          <a:bodyPr/>
          <a:lstStyle/>
          <a:p>
            <a:endParaRPr lang="en-US"/>
          </a:p>
        </p:txBody>
      </p:sp>
      <p:sp>
        <p:nvSpPr>
          <p:cNvPr id="36" name="Shape 34"/>
          <p:cNvSpPr/>
          <p:nvPr/>
        </p:nvSpPr>
        <p:spPr>
          <a:xfrm>
            <a:off x="2795451" y="3873902"/>
            <a:ext cx="45720" cy="45720"/>
          </a:xfrm>
          <a:prstGeom prst="ellipse">
            <a:avLst/>
          </a:prstGeom>
          <a:solidFill>
            <a:srgbClr val="2C5FA8"/>
          </a:solidFill>
          <a:ln/>
        </p:spPr>
        <p:txBody>
          <a:bodyPr/>
          <a:lstStyle/>
          <a:p>
            <a:endParaRPr lang="en-US"/>
          </a:p>
        </p:txBody>
      </p:sp>
      <p:sp>
        <p:nvSpPr>
          <p:cNvPr id="37" name="Shape 35"/>
          <p:cNvSpPr/>
          <p:nvPr/>
        </p:nvSpPr>
        <p:spPr>
          <a:xfrm>
            <a:off x="2857500" y="3903574"/>
            <a:ext cx="45720" cy="45720"/>
          </a:xfrm>
          <a:prstGeom prst="ellipse">
            <a:avLst/>
          </a:prstGeom>
          <a:solidFill>
            <a:srgbClr val="2C5FA8"/>
          </a:solidFill>
          <a:ln/>
        </p:spPr>
        <p:txBody>
          <a:bodyPr/>
          <a:lstStyle/>
          <a:p>
            <a:endParaRPr lang="en-US"/>
          </a:p>
        </p:txBody>
      </p:sp>
      <p:sp>
        <p:nvSpPr>
          <p:cNvPr id="38" name="Shape 36"/>
          <p:cNvSpPr/>
          <p:nvPr/>
        </p:nvSpPr>
        <p:spPr>
          <a:xfrm>
            <a:off x="2919549" y="3929289"/>
            <a:ext cx="45720" cy="45720"/>
          </a:xfrm>
          <a:prstGeom prst="ellipse">
            <a:avLst/>
          </a:prstGeom>
          <a:solidFill>
            <a:srgbClr val="2C5FA8"/>
          </a:solidFill>
          <a:ln/>
        </p:spPr>
        <p:txBody>
          <a:bodyPr/>
          <a:lstStyle/>
          <a:p>
            <a:endParaRPr lang="en-US"/>
          </a:p>
        </p:txBody>
      </p:sp>
      <p:sp>
        <p:nvSpPr>
          <p:cNvPr id="39" name="Shape 37"/>
          <p:cNvSpPr/>
          <p:nvPr/>
        </p:nvSpPr>
        <p:spPr>
          <a:xfrm>
            <a:off x="2981597" y="3951048"/>
            <a:ext cx="45720" cy="45720"/>
          </a:xfrm>
          <a:prstGeom prst="ellipse">
            <a:avLst/>
          </a:prstGeom>
          <a:solidFill>
            <a:srgbClr val="2C5FA8"/>
          </a:solidFill>
          <a:ln/>
        </p:spPr>
        <p:txBody>
          <a:bodyPr/>
          <a:lstStyle/>
          <a:p>
            <a:endParaRPr lang="en-US"/>
          </a:p>
        </p:txBody>
      </p:sp>
      <p:sp>
        <p:nvSpPr>
          <p:cNvPr id="40" name="Shape 38"/>
          <p:cNvSpPr/>
          <p:nvPr/>
        </p:nvSpPr>
        <p:spPr>
          <a:xfrm>
            <a:off x="3043646" y="3968851"/>
            <a:ext cx="45720" cy="45720"/>
          </a:xfrm>
          <a:prstGeom prst="ellipse">
            <a:avLst/>
          </a:prstGeom>
          <a:solidFill>
            <a:srgbClr val="2C5FA8"/>
          </a:solidFill>
          <a:ln/>
        </p:spPr>
        <p:txBody>
          <a:bodyPr/>
          <a:lstStyle/>
          <a:p>
            <a:endParaRPr lang="en-US"/>
          </a:p>
        </p:txBody>
      </p:sp>
      <p:sp>
        <p:nvSpPr>
          <p:cNvPr id="41" name="Shape 39"/>
          <p:cNvSpPr/>
          <p:nvPr/>
        </p:nvSpPr>
        <p:spPr>
          <a:xfrm>
            <a:off x="3105694" y="3982697"/>
            <a:ext cx="45720" cy="45720"/>
          </a:xfrm>
          <a:prstGeom prst="ellipse">
            <a:avLst/>
          </a:prstGeom>
          <a:solidFill>
            <a:srgbClr val="2C5FA8"/>
          </a:solidFill>
          <a:ln/>
        </p:spPr>
        <p:txBody>
          <a:bodyPr/>
          <a:lstStyle/>
          <a:p>
            <a:endParaRPr lang="en-US"/>
          </a:p>
        </p:txBody>
      </p:sp>
      <p:sp>
        <p:nvSpPr>
          <p:cNvPr id="42" name="Shape 40"/>
          <p:cNvSpPr/>
          <p:nvPr/>
        </p:nvSpPr>
        <p:spPr>
          <a:xfrm>
            <a:off x="3167743" y="3992588"/>
            <a:ext cx="45720" cy="45720"/>
          </a:xfrm>
          <a:prstGeom prst="ellipse">
            <a:avLst/>
          </a:prstGeom>
          <a:solidFill>
            <a:srgbClr val="2C5FA8"/>
          </a:solidFill>
          <a:ln/>
        </p:spPr>
        <p:txBody>
          <a:bodyPr/>
          <a:lstStyle/>
          <a:p>
            <a:endParaRPr lang="en-US"/>
          </a:p>
        </p:txBody>
      </p:sp>
      <p:sp>
        <p:nvSpPr>
          <p:cNvPr id="43" name="Shape 41"/>
          <p:cNvSpPr/>
          <p:nvPr/>
        </p:nvSpPr>
        <p:spPr>
          <a:xfrm>
            <a:off x="3229791" y="3998522"/>
            <a:ext cx="45720" cy="45720"/>
          </a:xfrm>
          <a:prstGeom prst="ellipse">
            <a:avLst/>
          </a:prstGeom>
          <a:solidFill>
            <a:srgbClr val="2C5FA8"/>
          </a:solidFill>
          <a:ln/>
        </p:spPr>
        <p:txBody>
          <a:bodyPr/>
          <a:lstStyle/>
          <a:p>
            <a:endParaRPr lang="en-US"/>
          </a:p>
        </p:txBody>
      </p:sp>
      <p:sp>
        <p:nvSpPr>
          <p:cNvPr id="44" name="Shape 42"/>
          <p:cNvSpPr/>
          <p:nvPr/>
        </p:nvSpPr>
        <p:spPr>
          <a:xfrm>
            <a:off x="3291840" y="4000500"/>
            <a:ext cx="45720" cy="45720"/>
          </a:xfrm>
          <a:prstGeom prst="ellipse">
            <a:avLst/>
          </a:prstGeom>
          <a:solidFill>
            <a:srgbClr val="2C5FA8"/>
          </a:solidFill>
          <a:ln/>
        </p:spPr>
        <p:txBody>
          <a:bodyPr/>
          <a:lstStyle/>
          <a:p>
            <a:endParaRPr lang="en-US"/>
          </a:p>
        </p:txBody>
      </p:sp>
      <p:sp>
        <p:nvSpPr>
          <p:cNvPr id="45" name="Shape 43"/>
          <p:cNvSpPr/>
          <p:nvPr/>
        </p:nvSpPr>
        <p:spPr>
          <a:xfrm>
            <a:off x="3353889" y="3998522"/>
            <a:ext cx="45720" cy="45720"/>
          </a:xfrm>
          <a:prstGeom prst="ellipse">
            <a:avLst/>
          </a:prstGeom>
          <a:solidFill>
            <a:srgbClr val="2C5FA8"/>
          </a:solidFill>
          <a:ln/>
        </p:spPr>
        <p:txBody>
          <a:bodyPr/>
          <a:lstStyle/>
          <a:p>
            <a:endParaRPr lang="en-US"/>
          </a:p>
        </p:txBody>
      </p:sp>
      <p:sp>
        <p:nvSpPr>
          <p:cNvPr id="46" name="Shape 44"/>
          <p:cNvSpPr/>
          <p:nvPr/>
        </p:nvSpPr>
        <p:spPr>
          <a:xfrm>
            <a:off x="3415937" y="3992588"/>
            <a:ext cx="45720" cy="45720"/>
          </a:xfrm>
          <a:prstGeom prst="ellipse">
            <a:avLst/>
          </a:prstGeom>
          <a:solidFill>
            <a:srgbClr val="2C5FA8"/>
          </a:solidFill>
          <a:ln/>
        </p:spPr>
        <p:txBody>
          <a:bodyPr/>
          <a:lstStyle/>
          <a:p>
            <a:endParaRPr lang="en-US"/>
          </a:p>
        </p:txBody>
      </p:sp>
      <p:sp>
        <p:nvSpPr>
          <p:cNvPr id="47" name="Shape 45"/>
          <p:cNvSpPr/>
          <p:nvPr/>
        </p:nvSpPr>
        <p:spPr>
          <a:xfrm>
            <a:off x="3477986" y="3982697"/>
            <a:ext cx="45720" cy="45720"/>
          </a:xfrm>
          <a:prstGeom prst="ellipse">
            <a:avLst/>
          </a:prstGeom>
          <a:solidFill>
            <a:srgbClr val="2C5FA8"/>
          </a:solidFill>
          <a:ln/>
        </p:spPr>
        <p:txBody>
          <a:bodyPr/>
          <a:lstStyle/>
          <a:p>
            <a:endParaRPr lang="en-US"/>
          </a:p>
        </p:txBody>
      </p:sp>
      <p:sp>
        <p:nvSpPr>
          <p:cNvPr id="48" name="Shape 46"/>
          <p:cNvSpPr/>
          <p:nvPr/>
        </p:nvSpPr>
        <p:spPr>
          <a:xfrm>
            <a:off x="3540034" y="3968851"/>
            <a:ext cx="45720" cy="45720"/>
          </a:xfrm>
          <a:prstGeom prst="ellipse">
            <a:avLst/>
          </a:prstGeom>
          <a:solidFill>
            <a:srgbClr val="2C5FA8"/>
          </a:solidFill>
          <a:ln/>
        </p:spPr>
        <p:txBody>
          <a:bodyPr/>
          <a:lstStyle/>
          <a:p>
            <a:endParaRPr lang="en-US"/>
          </a:p>
        </p:txBody>
      </p:sp>
      <p:sp>
        <p:nvSpPr>
          <p:cNvPr id="49" name="Shape 47"/>
          <p:cNvSpPr/>
          <p:nvPr/>
        </p:nvSpPr>
        <p:spPr>
          <a:xfrm>
            <a:off x="3602083" y="3951048"/>
            <a:ext cx="45720" cy="45720"/>
          </a:xfrm>
          <a:prstGeom prst="ellipse">
            <a:avLst/>
          </a:prstGeom>
          <a:solidFill>
            <a:srgbClr val="2C5FA8"/>
          </a:solidFill>
          <a:ln/>
        </p:spPr>
        <p:txBody>
          <a:bodyPr/>
          <a:lstStyle/>
          <a:p>
            <a:endParaRPr lang="en-US"/>
          </a:p>
        </p:txBody>
      </p:sp>
      <p:sp>
        <p:nvSpPr>
          <p:cNvPr id="50" name="Shape 48"/>
          <p:cNvSpPr/>
          <p:nvPr/>
        </p:nvSpPr>
        <p:spPr>
          <a:xfrm>
            <a:off x="3664131" y="3929289"/>
            <a:ext cx="45720" cy="45720"/>
          </a:xfrm>
          <a:prstGeom prst="ellipse">
            <a:avLst/>
          </a:prstGeom>
          <a:solidFill>
            <a:srgbClr val="2C5FA8"/>
          </a:solidFill>
          <a:ln/>
        </p:spPr>
        <p:txBody>
          <a:bodyPr/>
          <a:lstStyle/>
          <a:p>
            <a:endParaRPr lang="en-US"/>
          </a:p>
        </p:txBody>
      </p:sp>
      <p:sp>
        <p:nvSpPr>
          <p:cNvPr id="51" name="Shape 49"/>
          <p:cNvSpPr/>
          <p:nvPr/>
        </p:nvSpPr>
        <p:spPr>
          <a:xfrm>
            <a:off x="3726180" y="3903574"/>
            <a:ext cx="45720" cy="45720"/>
          </a:xfrm>
          <a:prstGeom prst="ellipse">
            <a:avLst/>
          </a:prstGeom>
          <a:solidFill>
            <a:srgbClr val="2C5FA8"/>
          </a:solidFill>
          <a:ln/>
        </p:spPr>
        <p:txBody>
          <a:bodyPr/>
          <a:lstStyle/>
          <a:p>
            <a:endParaRPr lang="en-US"/>
          </a:p>
        </p:txBody>
      </p:sp>
      <p:sp>
        <p:nvSpPr>
          <p:cNvPr id="52" name="Shape 50"/>
          <p:cNvSpPr/>
          <p:nvPr/>
        </p:nvSpPr>
        <p:spPr>
          <a:xfrm>
            <a:off x="3788229" y="3873902"/>
            <a:ext cx="45720" cy="45720"/>
          </a:xfrm>
          <a:prstGeom prst="ellipse">
            <a:avLst/>
          </a:prstGeom>
          <a:solidFill>
            <a:srgbClr val="2C5FA8"/>
          </a:solidFill>
          <a:ln/>
        </p:spPr>
        <p:txBody>
          <a:bodyPr/>
          <a:lstStyle/>
          <a:p>
            <a:endParaRPr lang="en-US"/>
          </a:p>
        </p:txBody>
      </p:sp>
      <p:sp>
        <p:nvSpPr>
          <p:cNvPr id="53" name="Shape 51"/>
          <p:cNvSpPr/>
          <p:nvPr/>
        </p:nvSpPr>
        <p:spPr>
          <a:xfrm>
            <a:off x="3850277" y="3840275"/>
            <a:ext cx="45720" cy="45720"/>
          </a:xfrm>
          <a:prstGeom prst="ellipse">
            <a:avLst/>
          </a:prstGeom>
          <a:solidFill>
            <a:srgbClr val="2C5FA8"/>
          </a:solidFill>
          <a:ln/>
        </p:spPr>
        <p:txBody>
          <a:bodyPr/>
          <a:lstStyle/>
          <a:p>
            <a:endParaRPr lang="en-US"/>
          </a:p>
        </p:txBody>
      </p:sp>
      <p:sp>
        <p:nvSpPr>
          <p:cNvPr id="54" name="Shape 52"/>
          <p:cNvSpPr/>
          <p:nvPr/>
        </p:nvSpPr>
        <p:spPr>
          <a:xfrm>
            <a:off x="3912326" y="3802691"/>
            <a:ext cx="45720" cy="45720"/>
          </a:xfrm>
          <a:prstGeom prst="ellipse">
            <a:avLst/>
          </a:prstGeom>
          <a:solidFill>
            <a:srgbClr val="2C5FA8"/>
          </a:solidFill>
          <a:ln/>
        </p:spPr>
        <p:txBody>
          <a:bodyPr/>
          <a:lstStyle/>
          <a:p>
            <a:endParaRPr lang="en-US"/>
          </a:p>
        </p:txBody>
      </p:sp>
      <p:sp>
        <p:nvSpPr>
          <p:cNvPr id="55" name="Shape 53"/>
          <p:cNvSpPr/>
          <p:nvPr/>
        </p:nvSpPr>
        <p:spPr>
          <a:xfrm>
            <a:off x="3974374" y="3761151"/>
            <a:ext cx="45720" cy="45720"/>
          </a:xfrm>
          <a:prstGeom prst="ellipse">
            <a:avLst/>
          </a:prstGeom>
          <a:solidFill>
            <a:srgbClr val="2C5FA8"/>
          </a:solidFill>
          <a:ln/>
        </p:spPr>
        <p:txBody>
          <a:bodyPr/>
          <a:lstStyle/>
          <a:p>
            <a:endParaRPr lang="en-US"/>
          </a:p>
        </p:txBody>
      </p:sp>
      <p:sp>
        <p:nvSpPr>
          <p:cNvPr id="56" name="Shape 54"/>
          <p:cNvSpPr/>
          <p:nvPr/>
        </p:nvSpPr>
        <p:spPr>
          <a:xfrm>
            <a:off x="4036423" y="3715655"/>
            <a:ext cx="45720" cy="45720"/>
          </a:xfrm>
          <a:prstGeom prst="ellipse">
            <a:avLst/>
          </a:prstGeom>
          <a:solidFill>
            <a:srgbClr val="2C5FA8"/>
          </a:solidFill>
          <a:ln/>
        </p:spPr>
        <p:txBody>
          <a:bodyPr/>
          <a:lstStyle/>
          <a:p>
            <a:endParaRPr lang="en-US"/>
          </a:p>
        </p:txBody>
      </p:sp>
      <p:sp>
        <p:nvSpPr>
          <p:cNvPr id="57" name="Shape 55"/>
          <p:cNvSpPr/>
          <p:nvPr/>
        </p:nvSpPr>
        <p:spPr>
          <a:xfrm>
            <a:off x="4098471" y="3666203"/>
            <a:ext cx="45720" cy="45720"/>
          </a:xfrm>
          <a:prstGeom prst="ellipse">
            <a:avLst/>
          </a:prstGeom>
          <a:solidFill>
            <a:srgbClr val="2C5FA8"/>
          </a:solidFill>
          <a:ln/>
        </p:spPr>
        <p:txBody>
          <a:bodyPr/>
          <a:lstStyle/>
          <a:p>
            <a:endParaRPr lang="en-US"/>
          </a:p>
        </p:txBody>
      </p:sp>
      <p:sp>
        <p:nvSpPr>
          <p:cNvPr id="58" name="Shape 56"/>
          <p:cNvSpPr/>
          <p:nvPr/>
        </p:nvSpPr>
        <p:spPr>
          <a:xfrm>
            <a:off x="4160520" y="3612794"/>
            <a:ext cx="45720" cy="45720"/>
          </a:xfrm>
          <a:prstGeom prst="ellipse">
            <a:avLst/>
          </a:prstGeom>
          <a:solidFill>
            <a:srgbClr val="2C5FA8"/>
          </a:solidFill>
          <a:ln/>
        </p:spPr>
        <p:txBody>
          <a:bodyPr/>
          <a:lstStyle/>
          <a:p>
            <a:endParaRPr lang="en-US"/>
          </a:p>
        </p:txBody>
      </p:sp>
      <p:sp>
        <p:nvSpPr>
          <p:cNvPr id="59" name="Shape 57"/>
          <p:cNvSpPr/>
          <p:nvPr/>
        </p:nvSpPr>
        <p:spPr>
          <a:xfrm>
            <a:off x="4222569" y="3555430"/>
            <a:ext cx="45720" cy="45720"/>
          </a:xfrm>
          <a:prstGeom prst="ellipse">
            <a:avLst/>
          </a:prstGeom>
          <a:solidFill>
            <a:srgbClr val="2C5FA8"/>
          </a:solidFill>
          <a:ln/>
        </p:spPr>
        <p:txBody>
          <a:bodyPr/>
          <a:lstStyle/>
          <a:p>
            <a:endParaRPr lang="en-US"/>
          </a:p>
        </p:txBody>
      </p:sp>
      <p:sp>
        <p:nvSpPr>
          <p:cNvPr id="60" name="Shape 58"/>
          <p:cNvSpPr/>
          <p:nvPr/>
        </p:nvSpPr>
        <p:spPr>
          <a:xfrm>
            <a:off x="4284617" y="3494109"/>
            <a:ext cx="45720" cy="45720"/>
          </a:xfrm>
          <a:prstGeom prst="ellipse">
            <a:avLst/>
          </a:prstGeom>
          <a:solidFill>
            <a:srgbClr val="2C5FA8"/>
          </a:solidFill>
          <a:ln/>
        </p:spPr>
        <p:txBody>
          <a:bodyPr/>
          <a:lstStyle/>
          <a:p>
            <a:endParaRPr lang="en-US"/>
          </a:p>
        </p:txBody>
      </p:sp>
      <p:sp>
        <p:nvSpPr>
          <p:cNvPr id="61" name="Shape 59"/>
          <p:cNvSpPr/>
          <p:nvPr/>
        </p:nvSpPr>
        <p:spPr>
          <a:xfrm>
            <a:off x="4346666" y="3428832"/>
            <a:ext cx="45720" cy="45720"/>
          </a:xfrm>
          <a:prstGeom prst="ellipse">
            <a:avLst/>
          </a:prstGeom>
          <a:solidFill>
            <a:srgbClr val="2C5FA8"/>
          </a:solidFill>
          <a:ln/>
        </p:spPr>
        <p:txBody>
          <a:bodyPr/>
          <a:lstStyle/>
          <a:p>
            <a:endParaRPr lang="en-US"/>
          </a:p>
        </p:txBody>
      </p:sp>
      <p:sp>
        <p:nvSpPr>
          <p:cNvPr id="62" name="Shape 60"/>
          <p:cNvSpPr/>
          <p:nvPr/>
        </p:nvSpPr>
        <p:spPr>
          <a:xfrm>
            <a:off x="4408714" y="3359599"/>
            <a:ext cx="45720" cy="45720"/>
          </a:xfrm>
          <a:prstGeom prst="ellipse">
            <a:avLst/>
          </a:prstGeom>
          <a:solidFill>
            <a:srgbClr val="2C5FA8"/>
          </a:solidFill>
          <a:ln/>
        </p:spPr>
        <p:txBody>
          <a:bodyPr/>
          <a:lstStyle/>
          <a:p>
            <a:endParaRPr lang="en-US"/>
          </a:p>
        </p:txBody>
      </p:sp>
      <p:sp>
        <p:nvSpPr>
          <p:cNvPr id="63" name="Shape 61"/>
          <p:cNvSpPr/>
          <p:nvPr/>
        </p:nvSpPr>
        <p:spPr>
          <a:xfrm>
            <a:off x="4470763" y="3286410"/>
            <a:ext cx="45720" cy="45720"/>
          </a:xfrm>
          <a:prstGeom prst="ellipse">
            <a:avLst/>
          </a:prstGeom>
          <a:solidFill>
            <a:srgbClr val="2C5FA8"/>
          </a:solidFill>
          <a:ln/>
        </p:spPr>
        <p:txBody>
          <a:bodyPr/>
          <a:lstStyle/>
          <a:p>
            <a:endParaRPr lang="en-US"/>
          </a:p>
        </p:txBody>
      </p:sp>
      <p:sp>
        <p:nvSpPr>
          <p:cNvPr id="64" name="Shape 62"/>
          <p:cNvSpPr/>
          <p:nvPr/>
        </p:nvSpPr>
        <p:spPr>
          <a:xfrm>
            <a:off x="4532811" y="3209264"/>
            <a:ext cx="45720" cy="45720"/>
          </a:xfrm>
          <a:prstGeom prst="ellipse">
            <a:avLst/>
          </a:prstGeom>
          <a:solidFill>
            <a:srgbClr val="2C5FA8"/>
          </a:solidFill>
          <a:ln/>
        </p:spPr>
        <p:txBody>
          <a:bodyPr/>
          <a:lstStyle/>
          <a:p>
            <a:endParaRPr lang="en-US"/>
          </a:p>
        </p:txBody>
      </p:sp>
      <p:sp>
        <p:nvSpPr>
          <p:cNvPr id="65" name="Shape 63"/>
          <p:cNvSpPr/>
          <p:nvPr/>
        </p:nvSpPr>
        <p:spPr>
          <a:xfrm>
            <a:off x="4594860" y="3128162"/>
            <a:ext cx="45720" cy="45720"/>
          </a:xfrm>
          <a:prstGeom prst="ellipse">
            <a:avLst/>
          </a:prstGeom>
          <a:solidFill>
            <a:srgbClr val="2C5FA8"/>
          </a:solidFill>
          <a:ln/>
        </p:spPr>
        <p:txBody>
          <a:bodyPr/>
          <a:lstStyle/>
          <a:p>
            <a:endParaRPr lang="en-US"/>
          </a:p>
        </p:txBody>
      </p:sp>
      <p:sp>
        <p:nvSpPr>
          <p:cNvPr id="66" name="Shape 64"/>
          <p:cNvSpPr/>
          <p:nvPr/>
        </p:nvSpPr>
        <p:spPr>
          <a:xfrm>
            <a:off x="4656909" y="3043105"/>
            <a:ext cx="45720" cy="45720"/>
          </a:xfrm>
          <a:prstGeom prst="ellipse">
            <a:avLst/>
          </a:prstGeom>
          <a:solidFill>
            <a:srgbClr val="2C5FA8"/>
          </a:solidFill>
          <a:ln/>
        </p:spPr>
        <p:txBody>
          <a:bodyPr/>
          <a:lstStyle/>
          <a:p>
            <a:endParaRPr lang="en-US"/>
          </a:p>
        </p:txBody>
      </p:sp>
      <p:sp>
        <p:nvSpPr>
          <p:cNvPr id="67" name="Shape 65"/>
          <p:cNvSpPr/>
          <p:nvPr/>
        </p:nvSpPr>
        <p:spPr>
          <a:xfrm>
            <a:off x="4718957" y="2954090"/>
            <a:ext cx="45720" cy="45720"/>
          </a:xfrm>
          <a:prstGeom prst="ellipse">
            <a:avLst/>
          </a:prstGeom>
          <a:solidFill>
            <a:srgbClr val="2C5FA8"/>
          </a:solidFill>
          <a:ln/>
        </p:spPr>
        <p:txBody>
          <a:bodyPr/>
          <a:lstStyle/>
          <a:p>
            <a:endParaRPr lang="en-US"/>
          </a:p>
        </p:txBody>
      </p:sp>
      <p:sp>
        <p:nvSpPr>
          <p:cNvPr id="68" name="Shape 66"/>
          <p:cNvSpPr/>
          <p:nvPr/>
        </p:nvSpPr>
        <p:spPr>
          <a:xfrm>
            <a:off x="4781006" y="2861120"/>
            <a:ext cx="45720" cy="45720"/>
          </a:xfrm>
          <a:prstGeom prst="ellipse">
            <a:avLst/>
          </a:prstGeom>
          <a:solidFill>
            <a:srgbClr val="2C5FA8"/>
          </a:solidFill>
          <a:ln/>
        </p:spPr>
        <p:txBody>
          <a:bodyPr/>
          <a:lstStyle/>
          <a:p>
            <a:endParaRPr lang="en-US"/>
          </a:p>
        </p:txBody>
      </p:sp>
      <p:sp>
        <p:nvSpPr>
          <p:cNvPr id="69" name="Shape 67"/>
          <p:cNvSpPr/>
          <p:nvPr/>
        </p:nvSpPr>
        <p:spPr>
          <a:xfrm>
            <a:off x="4843054" y="2764194"/>
            <a:ext cx="45720" cy="45720"/>
          </a:xfrm>
          <a:prstGeom prst="ellipse">
            <a:avLst/>
          </a:prstGeom>
          <a:solidFill>
            <a:srgbClr val="2C5FA8"/>
          </a:solidFill>
          <a:ln/>
        </p:spPr>
        <p:txBody>
          <a:bodyPr/>
          <a:lstStyle/>
          <a:p>
            <a:endParaRPr lang="en-US"/>
          </a:p>
        </p:txBody>
      </p:sp>
      <p:sp>
        <p:nvSpPr>
          <p:cNvPr id="70" name="Shape 68"/>
          <p:cNvSpPr/>
          <p:nvPr/>
        </p:nvSpPr>
        <p:spPr>
          <a:xfrm>
            <a:off x="4905103" y="2663311"/>
            <a:ext cx="45720" cy="45720"/>
          </a:xfrm>
          <a:prstGeom prst="ellipse">
            <a:avLst/>
          </a:prstGeom>
          <a:solidFill>
            <a:srgbClr val="2C5FA8"/>
          </a:solidFill>
          <a:ln/>
        </p:spPr>
        <p:txBody>
          <a:bodyPr/>
          <a:lstStyle/>
          <a:p>
            <a:endParaRPr lang="en-US"/>
          </a:p>
        </p:txBody>
      </p:sp>
      <p:sp>
        <p:nvSpPr>
          <p:cNvPr id="71" name="Shape 69"/>
          <p:cNvSpPr/>
          <p:nvPr/>
        </p:nvSpPr>
        <p:spPr>
          <a:xfrm>
            <a:off x="4967151" y="2558473"/>
            <a:ext cx="45720" cy="45720"/>
          </a:xfrm>
          <a:prstGeom prst="ellipse">
            <a:avLst/>
          </a:prstGeom>
          <a:solidFill>
            <a:srgbClr val="2C5FA8"/>
          </a:solidFill>
          <a:ln/>
        </p:spPr>
        <p:txBody>
          <a:bodyPr/>
          <a:lstStyle/>
          <a:p>
            <a:endParaRPr lang="en-US"/>
          </a:p>
        </p:txBody>
      </p:sp>
      <p:sp>
        <p:nvSpPr>
          <p:cNvPr id="72" name="Shape 70"/>
          <p:cNvSpPr/>
          <p:nvPr/>
        </p:nvSpPr>
        <p:spPr>
          <a:xfrm>
            <a:off x="5029200" y="2449678"/>
            <a:ext cx="45720" cy="45720"/>
          </a:xfrm>
          <a:prstGeom prst="ellipse">
            <a:avLst/>
          </a:prstGeom>
          <a:solidFill>
            <a:srgbClr val="2C5FA8"/>
          </a:solidFill>
          <a:ln/>
        </p:spPr>
        <p:txBody>
          <a:bodyPr/>
          <a:lstStyle/>
          <a:p>
            <a:endParaRPr lang="en-US"/>
          </a:p>
        </p:txBody>
      </p:sp>
      <p:sp>
        <p:nvSpPr>
          <p:cNvPr id="73" name="Shape 71"/>
          <p:cNvSpPr/>
          <p:nvPr/>
        </p:nvSpPr>
        <p:spPr>
          <a:xfrm>
            <a:off x="5091249" y="2336926"/>
            <a:ext cx="45720" cy="45720"/>
          </a:xfrm>
          <a:prstGeom prst="ellipse">
            <a:avLst/>
          </a:prstGeom>
          <a:solidFill>
            <a:srgbClr val="2C5FA8"/>
          </a:solidFill>
          <a:ln/>
        </p:spPr>
        <p:txBody>
          <a:bodyPr/>
          <a:lstStyle/>
          <a:p>
            <a:endParaRPr lang="en-US"/>
          </a:p>
        </p:txBody>
      </p:sp>
      <p:sp>
        <p:nvSpPr>
          <p:cNvPr id="74" name="Shape 72"/>
          <p:cNvSpPr/>
          <p:nvPr/>
        </p:nvSpPr>
        <p:spPr>
          <a:xfrm>
            <a:off x="5153297" y="2220219"/>
            <a:ext cx="45720" cy="45720"/>
          </a:xfrm>
          <a:prstGeom prst="ellipse">
            <a:avLst/>
          </a:prstGeom>
          <a:solidFill>
            <a:srgbClr val="2C5FA8"/>
          </a:solidFill>
          <a:ln/>
        </p:spPr>
        <p:txBody>
          <a:bodyPr/>
          <a:lstStyle/>
          <a:p>
            <a:endParaRPr lang="en-US"/>
          </a:p>
        </p:txBody>
      </p:sp>
      <p:sp>
        <p:nvSpPr>
          <p:cNvPr id="75" name="Shape 73"/>
          <p:cNvSpPr/>
          <p:nvPr/>
        </p:nvSpPr>
        <p:spPr>
          <a:xfrm>
            <a:off x="5215346" y="2099556"/>
            <a:ext cx="45720" cy="45720"/>
          </a:xfrm>
          <a:prstGeom prst="ellipse">
            <a:avLst/>
          </a:prstGeom>
          <a:solidFill>
            <a:srgbClr val="2C5FA8"/>
          </a:solidFill>
          <a:ln/>
        </p:spPr>
        <p:txBody>
          <a:bodyPr/>
          <a:lstStyle/>
          <a:p>
            <a:endParaRPr lang="en-US"/>
          </a:p>
        </p:txBody>
      </p:sp>
      <p:sp>
        <p:nvSpPr>
          <p:cNvPr id="76" name="Shape 74"/>
          <p:cNvSpPr/>
          <p:nvPr/>
        </p:nvSpPr>
        <p:spPr>
          <a:xfrm>
            <a:off x="5277394" y="1974936"/>
            <a:ext cx="45720" cy="45720"/>
          </a:xfrm>
          <a:prstGeom prst="ellipse">
            <a:avLst/>
          </a:prstGeom>
          <a:solidFill>
            <a:srgbClr val="2C5FA8"/>
          </a:solidFill>
          <a:ln/>
        </p:spPr>
        <p:txBody>
          <a:bodyPr/>
          <a:lstStyle/>
          <a:p>
            <a:endParaRPr lang="en-US"/>
          </a:p>
        </p:txBody>
      </p:sp>
      <p:sp>
        <p:nvSpPr>
          <p:cNvPr id="77" name="Shape 75"/>
          <p:cNvSpPr/>
          <p:nvPr/>
        </p:nvSpPr>
        <p:spPr>
          <a:xfrm>
            <a:off x="5339443" y="1846360"/>
            <a:ext cx="45720" cy="45720"/>
          </a:xfrm>
          <a:prstGeom prst="ellipse">
            <a:avLst/>
          </a:prstGeom>
          <a:solidFill>
            <a:srgbClr val="2C5FA8"/>
          </a:solidFill>
          <a:ln/>
        </p:spPr>
        <p:txBody>
          <a:bodyPr/>
          <a:lstStyle/>
          <a:p>
            <a:endParaRPr lang="en-US"/>
          </a:p>
        </p:txBody>
      </p:sp>
      <p:sp>
        <p:nvSpPr>
          <p:cNvPr id="78" name="Shape 76"/>
          <p:cNvSpPr/>
          <p:nvPr/>
        </p:nvSpPr>
        <p:spPr>
          <a:xfrm>
            <a:off x="5401491" y="1713828"/>
            <a:ext cx="45720" cy="45720"/>
          </a:xfrm>
          <a:prstGeom prst="ellipse">
            <a:avLst/>
          </a:prstGeom>
          <a:solidFill>
            <a:srgbClr val="2C5FA8"/>
          </a:solidFill>
          <a:ln/>
        </p:spPr>
        <p:txBody>
          <a:bodyPr/>
          <a:lstStyle/>
          <a:p>
            <a:endParaRPr lang="en-US"/>
          </a:p>
        </p:txBody>
      </p:sp>
      <p:sp>
        <p:nvSpPr>
          <p:cNvPr id="79" name="Shape 77"/>
          <p:cNvSpPr/>
          <p:nvPr/>
        </p:nvSpPr>
        <p:spPr>
          <a:xfrm>
            <a:off x="5463540" y="1577340"/>
            <a:ext cx="45720" cy="45720"/>
          </a:xfrm>
          <a:prstGeom prst="ellipse">
            <a:avLst/>
          </a:prstGeom>
          <a:solidFill>
            <a:srgbClr val="2C5FA8"/>
          </a:solidFill>
          <a:ln/>
        </p:spPr>
        <p:txBody>
          <a:bodyPr/>
          <a:lstStyle/>
          <a:p>
            <a:endParaRPr lang="en-US"/>
          </a:p>
        </p:txBody>
      </p:sp>
      <p:sp>
        <p:nvSpPr>
          <p:cNvPr id="80" name="Shape 78"/>
          <p:cNvSpPr/>
          <p:nvPr/>
        </p:nvSpPr>
        <p:spPr>
          <a:xfrm>
            <a:off x="1607058" y="2595854"/>
            <a:ext cx="201168" cy="201168"/>
          </a:xfrm>
          <a:prstGeom prst="ellipse">
            <a:avLst/>
          </a:prstGeom>
          <a:solidFill>
            <a:srgbClr val="C07414"/>
          </a:solidFill>
          <a:ln/>
        </p:spPr>
        <p:txBody>
          <a:bodyPr/>
          <a:lstStyle/>
          <a:p>
            <a:endParaRPr lang="en-US"/>
          </a:p>
        </p:txBody>
      </p:sp>
      <p:sp>
        <p:nvSpPr>
          <p:cNvPr id="81" name="Text 79"/>
          <p:cNvSpPr txBox="1"/>
          <p:nvPr/>
        </p:nvSpPr>
        <p:spPr>
          <a:xfrm>
            <a:off x="1323594" y="2239238"/>
            <a:ext cx="1554480" cy="256032"/>
          </a:xfrm>
          <a:prstGeom prst="rect">
            <a:avLst/>
          </a:prstGeom>
          <a:noFill/>
          <a:ln/>
        </p:spPr>
        <p:txBody>
          <a:bodyPr wrap="square" lIns="0" tIns="0" rIns="0" bIns="0" rtlCol="0" anchor="ctr"/>
          <a:lstStyle/>
          <a:p>
            <a:pPr marL="0" indent="0" algn="ctr">
              <a:buNone/>
            </a:pPr>
            <a:r>
              <a:rPr lang="en-US" sz="1100" b="1" dirty="0">
                <a:solidFill>
                  <a:srgbClr val="C07414"/>
                </a:solidFill>
                <a:latin typeface="Calibri" pitchFamily="34" charset="0"/>
                <a:ea typeface="Calibri" pitchFamily="34" charset="-122"/>
                <a:cs typeface="Calibri" pitchFamily="34" charset="-120"/>
              </a:rPr>
              <a:t>you are here</a:t>
            </a:r>
            <a:endParaRPr lang="en-US" sz="1100" dirty="0"/>
          </a:p>
        </p:txBody>
      </p:sp>
      <p:sp>
        <p:nvSpPr>
          <p:cNvPr id="82" name="Text 80"/>
          <p:cNvSpPr txBox="1"/>
          <p:nvPr/>
        </p:nvSpPr>
        <p:spPr>
          <a:xfrm>
            <a:off x="2057400" y="2331720"/>
            <a:ext cx="2286000" cy="548640"/>
          </a:xfrm>
          <a:prstGeom prst="rect">
            <a:avLst/>
          </a:prstGeom>
          <a:noFill/>
          <a:ln/>
        </p:spPr>
        <p:txBody>
          <a:bodyPr wrap="square" lIns="0" tIns="0" rIns="0" bIns="0" rtlCol="0" anchor="ctr"/>
          <a:lstStyle/>
          <a:p>
            <a:pPr marL="0" indent="0">
              <a:lnSpc>
                <a:spcPts val="1600"/>
              </a:lnSpc>
              <a:buNone/>
            </a:pPr>
            <a:r>
              <a:rPr lang="en-US" sz="1250" dirty="0">
                <a:solidFill>
                  <a:srgbClr val="2C5FA8"/>
                </a:solidFill>
                <a:latin typeface="Cambria Math" pitchFamily="34" charset="0"/>
                <a:ea typeface="Cambria Math" pitchFamily="34" charset="-122"/>
                <a:cs typeface="Cambria Math" pitchFamily="34" charset="-120"/>
              </a:rPr>
              <a:t>dC/dw &lt; 0 here:</a:t>
            </a:r>
            <a:endParaRPr lang="en-US" sz="1250" dirty="0"/>
          </a:p>
          <a:p>
            <a:pPr marL="0" indent="0">
              <a:lnSpc>
                <a:spcPts val="1600"/>
              </a:lnSpc>
              <a:buNone/>
            </a:pPr>
            <a:r>
              <a:rPr lang="en-US" sz="1250" dirty="0">
                <a:solidFill>
                  <a:srgbClr val="2C5FA8"/>
                </a:solidFill>
                <a:latin typeface="Cambria Math" pitchFamily="34" charset="0"/>
                <a:ea typeface="Cambria Math" pitchFamily="34" charset="-122"/>
                <a:cs typeface="Cambria Math" pitchFamily="34" charset="-120"/>
              </a:rPr>
              <a:t>the ground falls to the right</a:t>
            </a:r>
            <a:endParaRPr lang="en-US" sz="1250" dirty="0"/>
          </a:p>
        </p:txBody>
      </p:sp>
      <p:sp>
        <p:nvSpPr>
          <p:cNvPr id="83" name="Text 81"/>
          <p:cNvSpPr txBox="1"/>
          <p:nvPr/>
        </p:nvSpPr>
        <p:spPr>
          <a:xfrm>
            <a:off x="2178231" y="4190751"/>
            <a:ext cx="2194560" cy="256032"/>
          </a:xfrm>
          <a:prstGeom prst="rect">
            <a:avLst/>
          </a:prstGeom>
          <a:noFill/>
          <a:ln/>
        </p:spPr>
        <p:txBody>
          <a:bodyPr wrap="square" lIns="0" tIns="0" rIns="0" bIns="0" rtlCol="0" anchor="ctr"/>
          <a:lstStyle/>
          <a:p>
            <a:pPr marL="0" indent="0" algn="ctr">
              <a:buNone/>
            </a:pPr>
            <a:r>
              <a:rPr lang="en-US" sz="1200" b="1" dirty="0">
                <a:solidFill>
                  <a:srgbClr val="2C5FA8"/>
                </a:solidFill>
                <a:latin typeface="Cambria Math" pitchFamily="34" charset="0"/>
                <a:ea typeface="Cambria Math" pitchFamily="34" charset="-122"/>
                <a:cs typeface="Cambria Math" pitchFamily="34" charset="-120"/>
              </a:rPr>
              <a:t>minimum: dC/dw = 0</a:t>
            </a:r>
            <a:endParaRPr lang="en-US" sz="1200" dirty="0"/>
          </a:p>
        </p:txBody>
      </p:sp>
      <p:sp>
        <p:nvSpPr>
          <p:cNvPr id="84" name="Shape 82"/>
          <p:cNvSpPr/>
          <p:nvPr/>
        </p:nvSpPr>
        <p:spPr>
          <a:xfrm>
            <a:off x="6400800" y="1481328"/>
            <a:ext cx="5129784" cy="1298448"/>
          </a:xfrm>
          <a:prstGeom prst="roundRect">
            <a:avLst>
              <a:gd name="adj" fmla="val 5634"/>
            </a:avLst>
          </a:prstGeom>
          <a:solidFill>
            <a:srgbClr val="E7EEF8"/>
          </a:solidFill>
          <a:ln w="12700">
            <a:solidFill>
              <a:srgbClr val="E7EEF8"/>
            </a:solidFill>
            <a:prstDash val="solid"/>
          </a:ln>
        </p:spPr>
        <p:txBody>
          <a:bodyPr/>
          <a:lstStyle/>
          <a:p>
            <a:endParaRPr lang="en-US"/>
          </a:p>
        </p:txBody>
      </p:sp>
      <p:sp>
        <p:nvSpPr>
          <p:cNvPr id="85" name="Text 83"/>
          <p:cNvSpPr txBox="1"/>
          <p:nvPr/>
        </p:nvSpPr>
        <p:spPr>
          <a:xfrm>
            <a:off x="6675120" y="1627632"/>
            <a:ext cx="4581144" cy="310896"/>
          </a:xfrm>
          <a:prstGeom prst="rect">
            <a:avLst/>
          </a:prstGeom>
          <a:noFill/>
          <a:ln/>
        </p:spPr>
        <p:txBody>
          <a:bodyPr wrap="square" lIns="0" tIns="0" rIns="0" bIns="0" rtlCol="0" anchor="ctr"/>
          <a:lstStyle/>
          <a:p>
            <a:pPr marL="0" indent="0">
              <a:buNone/>
            </a:pPr>
            <a:r>
              <a:rPr lang="en-US" sz="1500" b="1" dirty="0">
                <a:solidFill>
                  <a:srgbClr val="111722"/>
                </a:solidFill>
                <a:latin typeface="Cambria" pitchFamily="34" charset="0"/>
                <a:ea typeface="Cambria" pitchFamily="34" charset="-122"/>
                <a:cs typeface="Cambria" pitchFamily="34" charset="-120"/>
              </a:rPr>
              <a:t>Pick one of the 13,002 and freeze the rest</a:t>
            </a:r>
            <a:endParaRPr lang="en-US" sz="1500" dirty="0"/>
          </a:p>
        </p:txBody>
      </p:sp>
      <p:sp>
        <p:nvSpPr>
          <p:cNvPr id="86" name="Text 84"/>
          <p:cNvSpPr txBox="1"/>
          <p:nvPr/>
        </p:nvSpPr>
        <p:spPr>
          <a:xfrm>
            <a:off x="6675120" y="1993392"/>
            <a:ext cx="4581144" cy="713232"/>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Turn that one knob up and down. Each setting gives a different C. Plot C against w and you get a curve like this.</a:t>
            </a:r>
            <a:endParaRPr lang="en-US" sz="1200" dirty="0"/>
          </a:p>
        </p:txBody>
      </p:sp>
      <p:sp>
        <p:nvSpPr>
          <p:cNvPr id="87" name="Shape 85"/>
          <p:cNvSpPr/>
          <p:nvPr/>
        </p:nvSpPr>
        <p:spPr>
          <a:xfrm>
            <a:off x="6400800" y="2871216"/>
            <a:ext cx="5129784" cy="1298448"/>
          </a:xfrm>
          <a:prstGeom prst="roundRect">
            <a:avLst>
              <a:gd name="adj" fmla="val 5634"/>
            </a:avLst>
          </a:prstGeom>
          <a:solidFill>
            <a:srgbClr val="FAF0DE"/>
          </a:solidFill>
          <a:ln w="12700">
            <a:solidFill>
              <a:srgbClr val="FAF0DE"/>
            </a:solidFill>
            <a:prstDash val="solid"/>
          </a:ln>
        </p:spPr>
        <p:txBody>
          <a:bodyPr/>
          <a:lstStyle/>
          <a:p>
            <a:endParaRPr lang="en-US"/>
          </a:p>
        </p:txBody>
      </p:sp>
      <p:sp>
        <p:nvSpPr>
          <p:cNvPr id="88" name="Text 86"/>
          <p:cNvSpPr txBox="1"/>
          <p:nvPr/>
        </p:nvSpPr>
        <p:spPr>
          <a:xfrm>
            <a:off x="6675120" y="3017520"/>
            <a:ext cx="4581144" cy="310896"/>
          </a:xfrm>
          <a:prstGeom prst="rect">
            <a:avLst/>
          </a:prstGeom>
          <a:noFill/>
          <a:ln/>
        </p:spPr>
        <p:txBody>
          <a:bodyPr wrap="square" lIns="0" tIns="0" rIns="0" bIns="0" rtlCol="0" anchor="ctr"/>
          <a:lstStyle/>
          <a:p>
            <a:pPr marL="0" indent="0">
              <a:buNone/>
            </a:pPr>
            <a:r>
              <a:rPr lang="en-US" sz="1500" b="1" dirty="0">
                <a:solidFill>
                  <a:srgbClr val="111722"/>
                </a:solidFill>
                <a:latin typeface="Cambria" pitchFamily="34" charset="0"/>
                <a:ea typeface="Cambria" pitchFamily="34" charset="-122"/>
                <a:cs typeface="Cambria" pitchFamily="34" charset="-120"/>
              </a:rPr>
              <a:t>We want the bottom</a:t>
            </a:r>
            <a:endParaRPr lang="en-US" sz="1500" dirty="0"/>
          </a:p>
        </p:txBody>
      </p:sp>
      <p:sp>
        <p:nvSpPr>
          <p:cNvPr id="89" name="Text 87"/>
          <p:cNvSpPr txBox="1"/>
          <p:nvPr/>
        </p:nvSpPr>
        <p:spPr>
          <a:xfrm>
            <a:off x="6675120" y="3383280"/>
            <a:ext cx="4581144" cy="713232"/>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The bottom is the setting where the machine is least wrong. We do not know where it is and we cannot see the curve — we can only measure C at the setting we are at.</a:t>
            </a:r>
            <a:endParaRPr lang="en-US" sz="1200" dirty="0"/>
          </a:p>
        </p:txBody>
      </p:sp>
      <p:sp>
        <p:nvSpPr>
          <p:cNvPr id="90" name="Shape 88"/>
          <p:cNvSpPr/>
          <p:nvPr/>
        </p:nvSpPr>
        <p:spPr>
          <a:xfrm>
            <a:off x="6400800" y="4261104"/>
            <a:ext cx="5129784" cy="1298448"/>
          </a:xfrm>
          <a:prstGeom prst="roundRect">
            <a:avLst>
              <a:gd name="adj" fmla="val 5634"/>
            </a:avLst>
          </a:prstGeom>
          <a:solidFill>
            <a:srgbClr val="E7EEF8"/>
          </a:solidFill>
          <a:ln w="12700">
            <a:solidFill>
              <a:srgbClr val="E7EEF8"/>
            </a:solidFill>
            <a:prstDash val="solid"/>
          </a:ln>
        </p:spPr>
        <p:txBody>
          <a:bodyPr/>
          <a:lstStyle/>
          <a:p>
            <a:endParaRPr lang="en-US"/>
          </a:p>
        </p:txBody>
      </p:sp>
      <p:sp>
        <p:nvSpPr>
          <p:cNvPr id="91" name="Text 89"/>
          <p:cNvSpPr txBox="1"/>
          <p:nvPr/>
        </p:nvSpPr>
        <p:spPr>
          <a:xfrm>
            <a:off x="6675120" y="4407408"/>
            <a:ext cx="4581144" cy="310896"/>
          </a:xfrm>
          <a:prstGeom prst="rect">
            <a:avLst/>
          </a:prstGeom>
          <a:noFill/>
          <a:ln/>
        </p:spPr>
        <p:txBody>
          <a:bodyPr wrap="square" lIns="0" tIns="0" rIns="0" bIns="0" rtlCol="0" anchor="ctr"/>
          <a:lstStyle/>
          <a:p>
            <a:pPr marL="0" indent="0">
              <a:buNone/>
            </a:pPr>
            <a:r>
              <a:rPr lang="en-US" sz="1500" b="1" dirty="0">
                <a:solidFill>
                  <a:srgbClr val="111722"/>
                </a:solidFill>
                <a:latin typeface="Cambria" pitchFamily="34" charset="0"/>
                <a:ea typeface="Cambria" pitchFamily="34" charset="-122"/>
                <a:cs typeface="Cambria" pitchFamily="34" charset="-120"/>
              </a:rPr>
              <a:t>But we can compute the slope</a:t>
            </a:r>
            <a:endParaRPr lang="en-US" sz="1500" dirty="0"/>
          </a:p>
        </p:txBody>
      </p:sp>
      <p:sp>
        <p:nvSpPr>
          <p:cNvPr id="92" name="Text 90"/>
          <p:cNvSpPr txBox="1"/>
          <p:nvPr/>
        </p:nvSpPr>
        <p:spPr>
          <a:xfrm>
            <a:off x="6675120" y="4773168"/>
            <a:ext cx="4581144" cy="713232"/>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dC/dw tells us which way is downhill. Negative: increase w. Positive: decrease w. Zero: you are at the bottom, or on a flat.</a:t>
            </a:r>
            <a:endParaRPr lang="en-US" sz="1200" dirty="0"/>
          </a:p>
        </p:txBody>
      </p:sp>
      <p:sp>
        <p:nvSpPr>
          <p:cNvPr id="93" name="Shape 91"/>
          <p:cNvSpPr/>
          <p:nvPr/>
        </p:nvSpPr>
        <p:spPr>
          <a:xfrm>
            <a:off x="640080" y="5650992"/>
            <a:ext cx="10911535" cy="621792"/>
          </a:xfrm>
          <a:prstGeom prst="roundRect">
            <a:avLst>
              <a:gd name="adj" fmla="val 11765"/>
            </a:avLst>
          </a:prstGeom>
          <a:solidFill>
            <a:srgbClr val="111722"/>
          </a:solidFill>
          <a:ln w="12700">
            <a:solidFill>
              <a:srgbClr val="111722"/>
            </a:solidFill>
            <a:prstDash val="solid"/>
          </a:ln>
        </p:spPr>
        <p:txBody>
          <a:bodyPr/>
          <a:lstStyle/>
          <a:p>
            <a:endParaRPr lang="en-US"/>
          </a:p>
        </p:txBody>
      </p:sp>
      <p:sp>
        <p:nvSpPr>
          <p:cNvPr id="94" name="Text 92"/>
          <p:cNvSpPr txBox="1"/>
          <p:nvPr/>
        </p:nvSpPr>
        <p:spPr>
          <a:xfrm>
            <a:off x="1005840" y="5815584"/>
            <a:ext cx="10424160" cy="292608"/>
          </a:xfrm>
          <a:prstGeom prst="rect">
            <a:avLst/>
          </a:prstGeom>
          <a:noFill/>
          <a:ln/>
        </p:spPr>
        <p:txBody>
          <a:bodyPr wrap="square" lIns="0" tIns="0" rIns="0" bIns="0" rtlCol="0" anchor="ctr"/>
          <a:lstStyle/>
          <a:p>
            <a:pPr marL="0" indent="0">
              <a:lnSpc>
                <a:spcPts val="2000"/>
              </a:lnSpc>
              <a:buNone/>
            </a:pPr>
            <a:r>
              <a:rPr lang="en-US" sz="1500" dirty="0">
                <a:solidFill>
                  <a:srgbClr val="F2F4F8"/>
                </a:solidFill>
                <a:latin typeface="Cambria" pitchFamily="34" charset="0"/>
                <a:ea typeface="Cambria" pitchFamily="34" charset="-122"/>
                <a:cs typeface="Cambria" pitchFamily="34" charset="-120"/>
              </a:rPr>
              <a:t>Every idea in the rest of this session is this picture, repeated 13,002 times at once.</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741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THE NEW SYMBOL</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11722"/>
                </a:solidFill>
                <a:latin typeface="Cambria" pitchFamily="34" charset="0"/>
                <a:ea typeface="Cambria" pitchFamily="34" charset="-122"/>
                <a:cs typeface="Cambria" pitchFamily="34" charset="-120"/>
              </a:rPr>
              <a:t>What “partial” means, and why we need a different letter</a:t>
            </a:r>
            <a:endParaRPr lang="en-US" sz="2900" dirty="0"/>
          </a:p>
        </p:txBody>
      </p:sp>
      <p:sp>
        <p:nvSpPr>
          <p:cNvPr id="5" name="Shape 3"/>
          <p:cNvSpPr/>
          <p:nvPr/>
        </p:nvSpPr>
        <p:spPr>
          <a:xfrm>
            <a:off x="640080" y="1417320"/>
            <a:ext cx="5852160" cy="2148840"/>
          </a:xfrm>
          <a:prstGeom prst="roundRect">
            <a:avLst>
              <a:gd name="adj" fmla="val 3404"/>
            </a:avLst>
          </a:prstGeom>
          <a:solidFill>
            <a:srgbClr val="111722"/>
          </a:solidFill>
          <a:ln w="12700">
            <a:solidFill>
              <a:srgbClr val="111722"/>
            </a:solidFill>
            <a:prstDash val="solid"/>
          </a:ln>
        </p:spPr>
        <p:txBody>
          <a:bodyPr/>
          <a:lstStyle/>
          <a:p>
            <a:endParaRPr lang="en-US"/>
          </a:p>
        </p:txBody>
      </p:sp>
      <p:sp>
        <p:nvSpPr>
          <p:cNvPr id="6" name="Text 4"/>
          <p:cNvSpPr txBox="1"/>
          <p:nvPr/>
        </p:nvSpPr>
        <p:spPr>
          <a:xfrm>
            <a:off x="1005840" y="1600200"/>
            <a:ext cx="5120640" cy="292608"/>
          </a:xfrm>
          <a:prstGeom prst="rect">
            <a:avLst/>
          </a:prstGeom>
          <a:noFill/>
          <a:ln/>
        </p:spPr>
        <p:txBody>
          <a:bodyPr wrap="square" lIns="0" tIns="0" rIns="0" bIns="0" rtlCol="0" anchor="ctr"/>
          <a:lstStyle/>
          <a:p>
            <a:pPr marL="0" indent="0">
              <a:buNone/>
            </a:pPr>
            <a:r>
              <a:rPr lang="en-US" sz="1150" b="1" kern="0" spc="140" dirty="0">
                <a:solidFill>
                  <a:srgbClr val="E9AC53"/>
                </a:solidFill>
                <a:latin typeface="Calibri" pitchFamily="34" charset="0"/>
                <a:ea typeface="Calibri" pitchFamily="34" charset="-122"/>
                <a:cs typeface="Calibri" pitchFamily="34" charset="-120"/>
              </a:rPr>
              <a:t>The problem</a:t>
            </a:r>
            <a:endParaRPr lang="en-US" sz="1150" dirty="0"/>
          </a:p>
        </p:txBody>
      </p:sp>
      <p:sp>
        <p:nvSpPr>
          <p:cNvPr id="7" name="Text 5"/>
          <p:cNvSpPr txBox="1"/>
          <p:nvPr/>
        </p:nvSpPr>
        <p:spPr>
          <a:xfrm>
            <a:off x="1005840" y="2011680"/>
            <a:ext cx="5166360" cy="1463040"/>
          </a:xfrm>
          <a:prstGeom prst="rect">
            <a:avLst/>
          </a:prstGeom>
          <a:noFill/>
          <a:ln/>
        </p:spPr>
        <p:txBody>
          <a:bodyPr wrap="square" lIns="0" tIns="0" rIns="0" bIns="0" rtlCol="0" anchor="ctr"/>
          <a:lstStyle/>
          <a:p>
            <a:pPr marL="0" indent="0">
              <a:lnSpc>
                <a:spcPts val="2000"/>
              </a:lnSpc>
              <a:buNone/>
            </a:pPr>
            <a:r>
              <a:rPr lang="en-US" sz="1450" dirty="0">
                <a:solidFill>
                  <a:srgbClr val="F2F4F8"/>
                </a:solidFill>
                <a:latin typeface="Cambria" pitchFamily="34" charset="0"/>
                <a:ea typeface="Cambria" pitchFamily="34" charset="-122"/>
                <a:cs typeface="Cambria" pitchFamily="34" charset="-120"/>
              </a:rPr>
              <a:t>C does not depend on one knob. It depends on 13,002 of them at once. So “the slope of C” is not a well-formed question — slope in which direction?</a:t>
            </a:r>
            <a:endParaRPr lang="en-US" sz="1450" dirty="0"/>
          </a:p>
          <a:p>
            <a:pPr marL="0" indent="0">
              <a:lnSpc>
                <a:spcPts val="2000"/>
              </a:lnSpc>
              <a:buNone/>
            </a:pPr>
            <a:endParaRPr lang="en-US" sz="1450" dirty="0"/>
          </a:p>
          <a:p>
            <a:pPr marL="0" indent="0">
              <a:lnSpc>
                <a:spcPts val="2000"/>
              </a:lnSpc>
              <a:buNone/>
            </a:pPr>
            <a:r>
              <a:rPr lang="en-US" sz="1450" dirty="0">
                <a:solidFill>
                  <a:srgbClr val="F2F4F8"/>
                </a:solidFill>
                <a:latin typeface="Cambria" pitchFamily="34" charset="0"/>
                <a:ea typeface="Cambria" pitchFamily="34" charset="-122"/>
                <a:cs typeface="Cambria" pitchFamily="34" charset="-120"/>
              </a:rPr>
              <a:t>The fix is to ask a narrower question: if I change this one knob and hold every other knob absolutely still, how much does C move?</a:t>
            </a:r>
            <a:endParaRPr lang="en-US" sz="1450" dirty="0"/>
          </a:p>
        </p:txBody>
      </p:sp>
      <p:sp>
        <p:nvSpPr>
          <p:cNvPr id="8" name="Shape 6"/>
          <p:cNvSpPr/>
          <p:nvPr/>
        </p:nvSpPr>
        <p:spPr>
          <a:xfrm>
            <a:off x="640080" y="3703320"/>
            <a:ext cx="5852160" cy="1005840"/>
          </a:xfrm>
          <a:prstGeom prst="roundRect">
            <a:avLst>
              <a:gd name="adj" fmla="val 5455"/>
            </a:avLst>
          </a:prstGeom>
          <a:solidFill>
            <a:srgbClr val="F6F8FC"/>
          </a:solidFill>
          <a:ln w="12700">
            <a:solidFill>
              <a:srgbClr val="C9D4E6"/>
            </a:solidFill>
            <a:prstDash val="solid"/>
          </a:ln>
        </p:spPr>
        <p:txBody>
          <a:bodyPr/>
          <a:lstStyle/>
          <a:p>
            <a:endParaRPr lang="en-US"/>
          </a:p>
        </p:txBody>
      </p:sp>
      <p:sp>
        <p:nvSpPr>
          <p:cNvPr id="9" name="Text 7"/>
          <p:cNvSpPr txBox="1"/>
          <p:nvPr/>
        </p:nvSpPr>
        <p:spPr>
          <a:xfrm>
            <a:off x="777240" y="3703320"/>
            <a:ext cx="5577840" cy="1005840"/>
          </a:xfrm>
          <a:prstGeom prst="rect">
            <a:avLst/>
          </a:prstGeom>
          <a:noFill/>
          <a:ln/>
        </p:spPr>
        <p:txBody>
          <a:bodyPr wrap="square" lIns="0" tIns="0" rIns="0" bIns="0" rtlCol="0" anchor="ctr"/>
          <a:lstStyle/>
          <a:p>
            <a:pPr marL="0" indent="0" algn="ctr">
              <a:buNone/>
            </a:pPr>
            <a:r>
              <a:rPr lang="en-US" sz="3400" dirty="0">
                <a:solidFill>
                  <a:srgbClr val="111722"/>
                </a:solidFill>
                <a:latin typeface="Cambria Math" pitchFamily="34" charset="0"/>
                <a:ea typeface="Cambria Math" pitchFamily="34" charset="-122"/>
                <a:cs typeface="Cambria Math" pitchFamily="34" charset="-120"/>
              </a:rPr>
              <a:t>∂C / ∂wⱼ</a:t>
            </a:r>
            <a:endParaRPr lang="en-US" sz="3400" dirty="0"/>
          </a:p>
        </p:txBody>
      </p:sp>
      <p:sp>
        <p:nvSpPr>
          <p:cNvPr id="10" name="Text 8"/>
          <p:cNvSpPr txBox="1"/>
          <p:nvPr/>
        </p:nvSpPr>
        <p:spPr>
          <a:xfrm>
            <a:off x="640080" y="4818888"/>
            <a:ext cx="5852160" cy="548640"/>
          </a:xfrm>
          <a:prstGeom prst="rect">
            <a:avLst/>
          </a:prstGeom>
          <a:noFill/>
          <a:ln/>
        </p:spPr>
        <p:txBody>
          <a:bodyPr wrap="square" lIns="0" tIns="0" rIns="0" bIns="0" rtlCol="0" anchor="ctr"/>
          <a:lstStyle/>
          <a:p>
            <a:pPr marL="0" indent="0" algn="ctr">
              <a:lnSpc>
                <a:spcPts val="1500"/>
              </a:lnSpc>
              <a:buNone/>
            </a:pPr>
            <a:r>
              <a:rPr lang="en-US" sz="1150" i="1" dirty="0">
                <a:solidFill>
                  <a:srgbClr val="2C5FA8"/>
                </a:solidFill>
                <a:latin typeface="Calibri" pitchFamily="34" charset="0"/>
                <a:ea typeface="Calibri" pitchFamily="34" charset="-122"/>
                <a:cs typeface="Calibri" pitchFamily="34" charset="-120"/>
              </a:rPr>
              <a:t>read aloud: “the partial derivative of C with respect to w-j”</a:t>
            </a:r>
            <a:endParaRPr lang="en-US" sz="1150" dirty="0"/>
          </a:p>
          <a:p>
            <a:pPr marL="0" indent="0" algn="ctr">
              <a:lnSpc>
                <a:spcPts val="1500"/>
              </a:lnSpc>
              <a:buNone/>
            </a:pPr>
            <a:r>
              <a:rPr lang="en-US" sz="1150" i="1" dirty="0">
                <a:solidFill>
                  <a:srgbClr val="2C5FA8"/>
                </a:solidFill>
                <a:latin typeface="Calibri" pitchFamily="34" charset="0"/>
                <a:ea typeface="Calibri" pitchFamily="34" charset="-122"/>
                <a:cs typeface="Calibri" pitchFamily="34" charset="-120"/>
              </a:rPr>
              <a:t>or in plain English: “if I nudge knob j alone, how much does the loss move?”</a:t>
            </a:r>
            <a:endParaRPr lang="en-US" sz="1150" dirty="0"/>
          </a:p>
        </p:txBody>
      </p:sp>
      <p:sp>
        <p:nvSpPr>
          <p:cNvPr id="11" name="Shape 9"/>
          <p:cNvSpPr/>
          <p:nvPr/>
        </p:nvSpPr>
        <p:spPr>
          <a:xfrm>
            <a:off x="6812280" y="1417320"/>
            <a:ext cx="4718304" cy="1170432"/>
          </a:xfrm>
          <a:prstGeom prst="roundRect">
            <a:avLst>
              <a:gd name="adj" fmla="val 6250"/>
            </a:avLst>
          </a:prstGeom>
          <a:solidFill>
            <a:srgbClr val="E7EEF8"/>
          </a:solidFill>
          <a:ln w="12700">
            <a:solidFill>
              <a:srgbClr val="E7EEF8"/>
            </a:solidFill>
            <a:prstDash val="solid"/>
          </a:ln>
        </p:spPr>
        <p:txBody>
          <a:bodyPr/>
          <a:lstStyle/>
          <a:p>
            <a:endParaRPr lang="en-US"/>
          </a:p>
        </p:txBody>
      </p:sp>
      <p:sp>
        <p:nvSpPr>
          <p:cNvPr id="12" name="Text 10"/>
          <p:cNvSpPr txBox="1"/>
          <p:nvPr/>
        </p:nvSpPr>
        <p:spPr>
          <a:xfrm>
            <a:off x="7086600" y="1545336"/>
            <a:ext cx="4169664" cy="292608"/>
          </a:xfrm>
          <a:prstGeom prst="rect">
            <a:avLst/>
          </a:prstGeom>
          <a:noFill/>
          <a:ln/>
        </p:spPr>
        <p:txBody>
          <a:bodyPr wrap="square" lIns="0" tIns="0" rIns="0" bIns="0" rtlCol="0" anchor="ctr"/>
          <a:lstStyle/>
          <a:p>
            <a:pPr marL="0" indent="0">
              <a:buNone/>
            </a:pPr>
            <a:r>
              <a:rPr lang="en-US" sz="1400" b="1" dirty="0">
                <a:solidFill>
                  <a:srgbClr val="111722"/>
                </a:solidFill>
                <a:latin typeface="Cambria" pitchFamily="34" charset="0"/>
                <a:ea typeface="Cambria" pitchFamily="34" charset="-122"/>
                <a:cs typeface="Cambria" pitchFamily="34" charset="-120"/>
              </a:rPr>
              <a:t>Why a curly ∂ instead of d</a:t>
            </a:r>
            <a:endParaRPr lang="en-US" sz="1400" dirty="0"/>
          </a:p>
        </p:txBody>
      </p:sp>
      <p:sp>
        <p:nvSpPr>
          <p:cNvPr id="13" name="Text 11"/>
          <p:cNvSpPr txBox="1"/>
          <p:nvPr/>
        </p:nvSpPr>
        <p:spPr>
          <a:xfrm>
            <a:off x="7086600" y="1874520"/>
            <a:ext cx="4169664" cy="621792"/>
          </a:xfrm>
          <a:prstGeom prst="rect">
            <a:avLst/>
          </a:prstGeom>
          <a:noFill/>
          <a:ln/>
        </p:spPr>
        <p:txBody>
          <a:bodyPr wrap="square" lIns="0" tIns="0" rIns="0" bIns="0" rtlCol="0" anchor="ctr"/>
          <a:lstStyle/>
          <a:p>
            <a:pPr marL="0" indent="0">
              <a:lnSpc>
                <a:spcPts val="1500"/>
              </a:lnSpc>
              <a:buNone/>
            </a:pPr>
            <a:r>
              <a:rPr lang="en-US" sz="1150" dirty="0">
                <a:solidFill>
                  <a:srgbClr val="5B6474"/>
                </a:solidFill>
                <a:latin typeface="Calibri" pitchFamily="34" charset="0"/>
                <a:ea typeface="Calibri" pitchFamily="34" charset="-122"/>
                <a:cs typeface="Calibri" pitchFamily="34" charset="-120"/>
              </a:rPr>
              <a:t>Pure convention, and a useful one: the curly d is a signal that other variables exist and are being held fixed. Same operation, different bookkeeping.</a:t>
            </a:r>
            <a:endParaRPr lang="en-US" sz="1150" dirty="0"/>
          </a:p>
        </p:txBody>
      </p:sp>
      <p:sp>
        <p:nvSpPr>
          <p:cNvPr id="14" name="Shape 12"/>
          <p:cNvSpPr/>
          <p:nvPr/>
        </p:nvSpPr>
        <p:spPr>
          <a:xfrm>
            <a:off x="6812280" y="2670048"/>
            <a:ext cx="4718304" cy="1170432"/>
          </a:xfrm>
          <a:prstGeom prst="roundRect">
            <a:avLst>
              <a:gd name="adj" fmla="val 6250"/>
            </a:avLst>
          </a:prstGeom>
          <a:solidFill>
            <a:srgbClr val="FAF0DE"/>
          </a:solidFill>
          <a:ln w="12700">
            <a:solidFill>
              <a:srgbClr val="FAF0DE"/>
            </a:solidFill>
            <a:prstDash val="solid"/>
          </a:ln>
        </p:spPr>
        <p:txBody>
          <a:bodyPr/>
          <a:lstStyle/>
          <a:p>
            <a:endParaRPr lang="en-US"/>
          </a:p>
        </p:txBody>
      </p:sp>
      <p:sp>
        <p:nvSpPr>
          <p:cNvPr id="15" name="Text 13"/>
          <p:cNvSpPr txBox="1"/>
          <p:nvPr/>
        </p:nvSpPr>
        <p:spPr>
          <a:xfrm>
            <a:off x="7086600" y="2798064"/>
            <a:ext cx="4169664" cy="292608"/>
          </a:xfrm>
          <a:prstGeom prst="rect">
            <a:avLst/>
          </a:prstGeom>
          <a:noFill/>
          <a:ln/>
        </p:spPr>
        <p:txBody>
          <a:bodyPr wrap="square" lIns="0" tIns="0" rIns="0" bIns="0" rtlCol="0" anchor="ctr"/>
          <a:lstStyle/>
          <a:p>
            <a:pPr marL="0" indent="0">
              <a:buNone/>
            </a:pPr>
            <a:r>
              <a:rPr lang="en-US" sz="1400" b="1" dirty="0">
                <a:solidFill>
                  <a:srgbClr val="111722"/>
                </a:solidFill>
                <a:latin typeface="Cambria" pitchFamily="34" charset="0"/>
                <a:ea typeface="Cambria" pitchFamily="34" charset="-122"/>
                <a:cs typeface="Cambria" pitchFamily="34" charset="-120"/>
              </a:rPr>
              <a:t>It is still just nudge-and-look</a:t>
            </a:r>
            <a:endParaRPr lang="en-US" sz="1400" dirty="0"/>
          </a:p>
        </p:txBody>
      </p:sp>
      <p:sp>
        <p:nvSpPr>
          <p:cNvPr id="16" name="Text 14"/>
          <p:cNvSpPr txBox="1"/>
          <p:nvPr/>
        </p:nvSpPr>
        <p:spPr>
          <a:xfrm>
            <a:off x="7086600" y="3127248"/>
            <a:ext cx="4169664" cy="621792"/>
          </a:xfrm>
          <a:prstGeom prst="rect">
            <a:avLst/>
          </a:prstGeom>
          <a:noFill/>
          <a:ln/>
        </p:spPr>
        <p:txBody>
          <a:bodyPr wrap="square" lIns="0" tIns="0" rIns="0" bIns="0" rtlCol="0" anchor="ctr"/>
          <a:lstStyle/>
          <a:p>
            <a:pPr marL="0" indent="0">
              <a:lnSpc>
                <a:spcPts val="1500"/>
              </a:lnSpc>
              <a:buNone/>
            </a:pPr>
            <a:r>
              <a:rPr lang="en-US" sz="1150" dirty="0">
                <a:solidFill>
                  <a:srgbClr val="5B6474"/>
                </a:solidFill>
                <a:latin typeface="Calibri" pitchFamily="34" charset="0"/>
                <a:ea typeface="Calibri" pitchFamily="34" charset="-122"/>
                <a:cs typeface="Calibri" pitchFamily="34" charset="-120"/>
              </a:rPr>
              <a:t>Nothing conceptually new has happened. We narrowed the question so it has an answer, and gave the narrowed version its own symbol.</a:t>
            </a:r>
            <a:endParaRPr lang="en-US" sz="1150" dirty="0"/>
          </a:p>
        </p:txBody>
      </p:sp>
      <p:sp>
        <p:nvSpPr>
          <p:cNvPr id="17" name="Shape 15"/>
          <p:cNvSpPr/>
          <p:nvPr/>
        </p:nvSpPr>
        <p:spPr>
          <a:xfrm>
            <a:off x="6812280" y="3922776"/>
            <a:ext cx="4718304" cy="1170432"/>
          </a:xfrm>
          <a:prstGeom prst="roundRect">
            <a:avLst>
              <a:gd name="adj" fmla="val 6250"/>
            </a:avLst>
          </a:prstGeom>
          <a:solidFill>
            <a:srgbClr val="E7EEF8"/>
          </a:solidFill>
          <a:ln w="12700">
            <a:solidFill>
              <a:srgbClr val="E7EEF8"/>
            </a:solidFill>
            <a:prstDash val="solid"/>
          </a:ln>
        </p:spPr>
        <p:txBody>
          <a:bodyPr/>
          <a:lstStyle/>
          <a:p>
            <a:endParaRPr lang="en-US"/>
          </a:p>
        </p:txBody>
      </p:sp>
      <p:sp>
        <p:nvSpPr>
          <p:cNvPr id="18" name="Text 16"/>
          <p:cNvSpPr txBox="1"/>
          <p:nvPr/>
        </p:nvSpPr>
        <p:spPr>
          <a:xfrm>
            <a:off x="7086600" y="4050792"/>
            <a:ext cx="4169664" cy="292608"/>
          </a:xfrm>
          <a:prstGeom prst="rect">
            <a:avLst/>
          </a:prstGeom>
          <a:noFill/>
          <a:ln/>
        </p:spPr>
        <p:txBody>
          <a:bodyPr wrap="square" lIns="0" tIns="0" rIns="0" bIns="0" rtlCol="0" anchor="ctr"/>
          <a:lstStyle/>
          <a:p>
            <a:pPr marL="0" indent="0">
              <a:buNone/>
            </a:pPr>
            <a:r>
              <a:rPr lang="en-US" sz="1400" b="1" dirty="0">
                <a:solidFill>
                  <a:srgbClr val="111722"/>
                </a:solidFill>
                <a:latin typeface="Cambria" pitchFamily="34" charset="0"/>
                <a:ea typeface="Cambria" pitchFamily="34" charset="-122"/>
                <a:cs typeface="Cambria" pitchFamily="34" charset="-120"/>
              </a:rPr>
              <a:t>One per knob</a:t>
            </a:r>
            <a:endParaRPr lang="en-US" sz="1400" dirty="0"/>
          </a:p>
        </p:txBody>
      </p:sp>
      <p:sp>
        <p:nvSpPr>
          <p:cNvPr id="19" name="Text 17"/>
          <p:cNvSpPr txBox="1"/>
          <p:nvPr/>
        </p:nvSpPr>
        <p:spPr>
          <a:xfrm>
            <a:off x="7086600" y="4379976"/>
            <a:ext cx="4169664" cy="621792"/>
          </a:xfrm>
          <a:prstGeom prst="rect">
            <a:avLst/>
          </a:prstGeom>
          <a:noFill/>
          <a:ln/>
        </p:spPr>
        <p:txBody>
          <a:bodyPr wrap="square" lIns="0" tIns="0" rIns="0" bIns="0" rtlCol="0" anchor="ctr"/>
          <a:lstStyle/>
          <a:p>
            <a:pPr marL="0" indent="0">
              <a:lnSpc>
                <a:spcPts val="1500"/>
              </a:lnSpc>
              <a:buNone/>
            </a:pPr>
            <a:r>
              <a:rPr lang="en-US" sz="1150" dirty="0">
                <a:solidFill>
                  <a:srgbClr val="5B6474"/>
                </a:solidFill>
                <a:latin typeface="Calibri" pitchFamily="34" charset="0"/>
                <a:ea typeface="Calibri" pitchFamily="34" charset="-122"/>
                <a:cs typeface="Calibri" pitchFamily="34" charset="-120"/>
              </a:rPr>
              <a:t>There are 13,002 of these numbers, one for each knob. Each one says how much that single knob is currently contributing to the wrongness.</a:t>
            </a:r>
            <a:endParaRPr lang="en-US" sz="1150" dirty="0"/>
          </a:p>
        </p:txBody>
      </p:sp>
      <p:sp>
        <p:nvSpPr>
          <p:cNvPr id="20" name="Shape 18"/>
          <p:cNvSpPr/>
          <p:nvPr/>
        </p:nvSpPr>
        <p:spPr>
          <a:xfrm>
            <a:off x="6812280" y="5175504"/>
            <a:ext cx="4718304" cy="1170432"/>
          </a:xfrm>
          <a:prstGeom prst="roundRect">
            <a:avLst>
              <a:gd name="adj" fmla="val 6250"/>
            </a:avLst>
          </a:prstGeom>
          <a:solidFill>
            <a:srgbClr val="FAF0DE"/>
          </a:solidFill>
          <a:ln w="12700">
            <a:solidFill>
              <a:srgbClr val="FAF0DE"/>
            </a:solidFill>
            <a:prstDash val="solid"/>
          </a:ln>
        </p:spPr>
        <p:txBody>
          <a:bodyPr/>
          <a:lstStyle/>
          <a:p>
            <a:endParaRPr lang="en-US"/>
          </a:p>
        </p:txBody>
      </p:sp>
      <p:sp>
        <p:nvSpPr>
          <p:cNvPr id="21" name="Text 19"/>
          <p:cNvSpPr txBox="1"/>
          <p:nvPr/>
        </p:nvSpPr>
        <p:spPr>
          <a:xfrm>
            <a:off x="7086600" y="5303520"/>
            <a:ext cx="4169664" cy="292608"/>
          </a:xfrm>
          <a:prstGeom prst="rect">
            <a:avLst/>
          </a:prstGeom>
          <a:noFill/>
          <a:ln/>
        </p:spPr>
        <p:txBody>
          <a:bodyPr wrap="square" lIns="0" tIns="0" rIns="0" bIns="0" rtlCol="0" anchor="ctr"/>
          <a:lstStyle/>
          <a:p>
            <a:pPr marL="0" indent="0">
              <a:buNone/>
            </a:pPr>
            <a:r>
              <a:rPr lang="en-US" sz="1400" b="1" dirty="0">
                <a:solidFill>
                  <a:srgbClr val="111722"/>
                </a:solidFill>
                <a:latin typeface="Cambria" pitchFamily="34" charset="0"/>
                <a:ea typeface="Cambria" pitchFamily="34" charset="-122"/>
                <a:cs typeface="Cambria" pitchFamily="34" charset="-120"/>
              </a:rPr>
              <a:t>And the sign is the instruction</a:t>
            </a:r>
            <a:endParaRPr lang="en-US" sz="1400" dirty="0"/>
          </a:p>
        </p:txBody>
      </p:sp>
      <p:sp>
        <p:nvSpPr>
          <p:cNvPr id="22" name="Text 20"/>
          <p:cNvSpPr txBox="1"/>
          <p:nvPr/>
        </p:nvSpPr>
        <p:spPr>
          <a:xfrm>
            <a:off x="7086600" y="5632704"/>
            <a:ext cx="4169664" cy="621792"/>
          </a:xfrm>
          <a:prstGeom prst="rect">
            <a:avLst/>
          </a:prstGeom>
          <a:noFill/>
          <a:ln/>
        </p:spPr>
        <p:txBody>
          <a:bodyPr wrap="square" lIns="0" tIns="0" rIns="0" bIns="0" rtlCol="0" anchor="ctr"/>
          <a:lstStyle/>
          <a:p>
            <a:pPr marL="0" indent="0">
              <a:lnSpc>
                <a:spcPts val="1500"/>
              </a:lnSpc>
              <a:buNone/>
            </a:pPr>
            <a:r>
              <a:rPr lang="en-US" sz="1150" dirty="0">
                <a:solidFill>
                  <a:srgbClr val="5B6474"/>
                </a:solidFill>
                <a:latin typeface="Calibri" pitchFamily="34" charset="0"/>
                <a:ea typeface="Calibri" pitchFamily="34" charset="-122"/>
                <a:cs typeface="Calibri" pitchFamily="34" charset="-120"/>
              </a:rPr>
              <a:t>Positive means turning this knob up makes things worse, so turn it down. Negative means the reverse. The number’s size says how much this knob matters right now.</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741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TWO KNOBS</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11722"/>
                </a:solidFill>
                <a:latin typeface="Cambria" pitchFamily="34" charset="0"/>
                <a:ea typeface="Cambria" pitchFamily="34" charset="-122"/>
                <a:cs typeface="Cambria" pitchFamily="34" charset="-120"/>
              </a:rPr>
              <a:t>The landscape, and the pair of partials</a:t>
            </a:r>
            <a:endParaRPr lang="en-US" sz="2900" dirty="0"/>
          </a:p>
        </p:txBody>
      </p:sp>
      <p:sp>
        <p:nvSpPr>
          <p:cNvPr id="5" name="Shape 3"/>
          <p:cNvSpPr/>
          <p:nvPr/>
        </p:nvSpPr>
        <p:spPr>
          <a:xfrm>
            <a:off x="1143000" y="1714500"/>
            <a:ext cx="4023360" cy="2606040"/>
          </a:xfrm>
          <a:prstGeom prst="ellipse">
            <a:avLst/>
          </a:prstGeom>
          <a:solidFill>
            <a:srgbClr val="E9EFF8"/>
          </a:solidFill>
          <a:ln w="9525">
            <a:solidFill>
              <a:srgbClr val="FFFFFF"/>
            </a:solidFill>
            <a:prstDash val="solid"/>
          </a:ln>
        </p:spPr>
        <p:txBody>
          <a:bodyPr/>
          <a:lstStyle/>
          <a:p>
            <a:endParaRPr lang="en-US"/>
          </a:p>
        </p:txBody>
      </p:sp>
      <p:sp>
        <p:nvSpPr>
          <p:cNvPr id="6" name="Shape 4"/>
          <p:cNvSpPr/>
          <p:nvPr/>
        </p:nvSpPr>
        <p:spPr>
          <a:xfrm>
            <a:off x="1577340" y="1988820"/>
            <a:ext cx="3154680" cy="2057400"/>
          </a:xfrm>
          <a:prstGeom prst="ellipse">
            <a:avLst/>
          </a:prstGeom>
          <a:solidFill>
            <a:srgbClr val="D6E1F1"/>
          </a:solidFill>
          <a:ln w="9525">
            <a:solidFill>
              <a:srgbClr val="FFFFFF"/>
            </a:solidFill>
            <a:prstDash val="solid"/>
          </a:ln>
        </p:spPr>
        <p:txBody>
          <a:bodyPr/>
          <a:lstStyle/>
          <a:p>
            <a:endParaRPr lang="en-US"/>
          </a:p>
        </p:txBody>
      </p:sp>
      <p:sp>
        <p:nvSpPr>
          <p:cNvPr id="7" name="Shape 5"/>
          <p:cNvSpPr/>
          <p:nvPr/>
        </p:nvSpPr>
        <p:spPr>
          <a:xfrm>
            <a:off x="1988820" y="2263140"/>
            <a:ext cx="2331720" cy="1508760"/>
          </a:xfrm>
          <a:prstGeom prst="ellipse">
            <a:avLst/>
          </a:prstGeom>
          <a:solidFill>
            <a:srgbClr val="BED1E9"/>
          </a:solidFill>
          <a:ln w="9525">
            <a:solidFill>
              <a:srgbClr val="FFFFFF"/>
            </a:solidFill>
            <a:prstDash val="solid"/>
          </a:ln>
        </p:spPr>
        <p:txBody>
          <a:bodyPr/>
          <a:lstStyle/>
          <a:p>
            <a:endParaRPr lang="en-US"/>
          </a:p>
        </p:txBody>
      </p:sp>
      <p:sp>
        <p:nvSpPr>
          <p:cNvPr id="8" name="Shape 6"/>
          <p:cNvSpPr/>
          <p:nvPr/>
        </p:nvSpPr>
        <p:spPr>
          <a:xfrm>
            <a:off x="2377440" y="2514600"/>
            <a:ext cx="1554480" cy="1005840"/>
          </a:xfrm>
          <a:prstGeom prst="ellipse">
            <a:avLst/>
          </a:prstGeom>
          <a:solidFill>
            <a:srgbClr val="A3BEE0"/>
          </a:solidFill>
          <a:ln w="9525">
            <a:solidFill>
              <a:srgbClr val="FFFFFF"/>
            </a:solidFill>
            <a:prstDash val="solid"/>
          </a:ln>
        </p:spPr>
        <p:txBody>
          <a:bodyPr/>
          <a:lstStyle/>
          <a:p>
            <a:endParaRPr lang="en-US"/>
          </a:p>
        </p:txBody>
      </p:sp>
      <p:sp>
        <p:nvSpPr>
          <p:cNvPr id="9" name="Shape 7"/>
          <p:cNvSpPr/>
          <p:nvPr/>
        </p:nvSpPr>
        <p:spPr>
          <a:xfrm>
            <a:off x="2734056" y="2743200"/>
            <a:ext cx="841248" cy="548640"/>
          </a:xfrm>
          <a:prstGeom prst="ellipse">
            <a:avLst/>
          </a:prstGeom>
          <a:solidFill>
            <a:srgbClr val="7FA3D2"/>
          </a:solidFill>
          <a:ln w="9525">
            <a:solidFill>
              <a:srgbClr val="FFFFFF"/>
            </a:solidFill>
            <a:prstDash val="solid"/>
          </a:ln>
        </p:spPr>
        <p:txBody>
          <a:bodyPr/>
          <a:lstStyle/>
          <a:p>
            <a:endParaRPr lang="en-US"/>
          </a:p>
        </p:txBody>
      </p:sp>
      <p:sp>
        <p:nvSpPr>
          <p:cNvPr id="10" name="Shape 8"/>
          <p:cNvSpPr/>
          <p:nvPr/>
        </p:nvSpPr>
        <p:spPr>
          <a:xfrm>
            <a:off x="2994660" y="2912364"/>
            <a:ext cx="320040" cy="210312"/>
          </a:xfrm>
          <a:prstGeom prst="ellipse">
            <a:avLst/>
          </a:prstGeom>
          <a:solidFill>
            <a:srgbClr val="2C5FA8"/>
          </a:solidFill>
          <a:ln w="9525">
            <a:solidFill>
              <a:srgbClr val="FFFFFF"/>
            </a:solidFill>
            <a:prstDash val="solid"/>
          </a:ln>
        </p:spPr>
        <p:txBody>
          <a:bodyPr/>
          <a:lstStyle/>
          <a:p>
            <a:endParaRPr lang="en-US"/>
          </a:p>
        </p:txBody>
      </p:sp>
      <p:sp>
        <p:nvSpPr>
          <p:cNvPr id="11" name="Shape 9"/>
          <p:cNvSpPr/>
          <p:nvPr/>
        </p:nvSpPr>
        <p:spPr>
          <a:xfrm>
            <a:off x="1389888" y="1956816"/>
            <a:ext cx="146304" cy="146304"/>
          </a:xfrm>
          <a:prstGeom prst="ellipse">
            <a:avLst/>
          </a:prstGeom>
          <a:solidFill>
            <a:srgbClr val="E9AC53"/>
          </a:solidFill>
          <a:ln/>
        </p:spPr>
        <p:txBody>
          <a:bodyPr/>
          <a:lstStyle/>
          <a:p>
            <a:endParaRPr lang="en-US"/>
          </a:p>
        </p:txBody>
      </p:sp>
      <p:sp>
        <p:nvSpPr>
          <p:cNvPr id="12" name="Shape 10"/>
          <p:cNvSpPr/>
          <p:nvPr/>
        </p:nvSpPr>
        <p:spPr>
          <a:xfrm>
            <a:off x="1874520" y="2322576"/>
            <a:ext cx="146304" cy="146304"/>
          </a:xfrm>
          <a:prstGeom prst="ellipse">
            <a:avLst/>
          </a:prstGeom>
          <a:solidFill>
            <a:srgbClr val="E9AC53"/>
          </a:solidFill>
          <a:ln/>
        </p:spPr>
        <p:txBody>
          <a:bodyPr/>
          <a:lstStyle/>
          <a:p>
            <a:endParaRPr lang="en-US"/>
          </a:p>
        </p:txBody>
      </p:sp>
      <p:sp>
        <p:nvSpPr>
          <p:cNvPr id="13" name="Shape 11"/>
          <p:cNvSpPr/>
          <p:nvPr/>
        </p:nvSpPr>
        <p:spPr>
          <a:xfrm>
            <a:off x="2276856" y="2578608"/>
            <a:ext cx="146304" cy="146304"/>
          </a:xfrm>
          <a:prstGeom prst="ellipse">
            <a:avLst/>
          </a:prstGeom>
          <a:solidFill>
            <a:srgbClr val="E9AC53"/>
          </a:solidFill>
          <a:ln/>
        </p:spPr>
        <p:txBody>
          <a:bodyPr/>
          <a:lstStyle/>
          <a:p>
            <a:endParaRPr lang="en-US"/>
          </a:p>
        </p:txBody>
      </p:sp>
      <p:sp>
        <p:nvSpPr>
          <p:cNvPr id="14" name="Shape 12"/>
          <p:cNvSpPr/>
          <p:nvPr/>
        </p:nvSpPr>
        <p:spPr>
          <a:xfrm>
            <a:off x="2606040" y="2761488"/>
            <a:ext cx="146304" cy="146304"/>
          </a:xfrm>
          <a:prstGeom prst="ellipse">
            <a:avLst/>
          </a:prstGeom>
          <a:solidFill>
            <a:srgbClr val="E9AC53"/>
          </a:solidFill>
          <a:ln/>
        </p:spPr>
        <p:txBody>
          <a:bodyPr/>
          <a:lstStyle/>
          <a:p>
            <a:endParaRPr lang="en-US"/>
          </a:p>
        </p:txBody>
      </p:sp>
      <p:sp>
        <p:nvSpPr>
          <p:cNvPr id="15" name="Shape 13"/>
          <p:cNvSpPr/>
          <p:nvPr/>
        </p:nvSpPr>
        <p:spPr>
          <a:xfrm>
            <a:off x="2843784" y="2862072"/>
            <a:ext cx="146304" cy="146304"/>
          </a:xfrm>
          <a:prstGeom prst="ellipse">
            <a:avLst/>
          </a:prstGeom>
          <a:solidFill>
            <a:srgbClr val="E9AC53"/>
          </a:solidFill>
          <a:ln/>
        </p:spPr>
        <p:txBody>
          <a:bodyPr/>
          <a:lstStyle/>
          <a:p>
            <a:endParaRPr lang="en-US"/>
          </a:p>
        </p:txBody>
      </p:sp>
      <p:sp>
        <p:nvSpPr>
          <p:cNvPr id="16" name="Shape 14"/>
          <p:cNvSpPr/>
          <p:nvPr/>
        </p:nvSpPr>
        <p:spPr>
          <a:xfrm>
            <a:off x="3008376" y="2926080"/>
            <a:ext cx="146304" cy="146304"/>
          </a:xfrm>
          <a:prstGeom prst="ellipse">
            <a:avLst/>
          </a:prstGeom>
          <a:solidFill>
            <a:srgbClr val="C07414"/>
          </a:solidFill>
          <a:ln/>
        </p:spPr>
        <p:txBody>
          <a:bodyPr/>
          <a:lstStyle/>
          <a:p>
            <a:endParaRPr lang="en-US"/>
          </a:p>
        </p:txBody>
      </p:sp>
      <p:sp>
        <p:nvSpPr>
          <p:cNvPr id="17" name="Text 15"/>
          <p:cNvSpPr txBox="1"/>
          <p:nvPr/>
        </p:nvSpPr>
        <p:spPr>
          <a:xfrm>
            <a:off x="822960" y="4526280"/>
            <a:ext cx="4663440" cy="274320"/>
          </a:xfrm>
          <a:prstGeom prst="rect">
            <a:avLst/>
          </a:prstGeom>
          <a:noFill/>
          <a:ln/>
        </p:spPr>
        <p:txBody>
          <a:bodyPr wrap="square" lIns="0" tIns="0" rIns="0" bIns="0" rtlCol="0" anchor="ctr"/>
          <a:lstStyle/>
          <a:p>
            <a:pPr marL="0" indent="0" algn="ctr">
              <a:buNone/>
            </a:pPr>
            <a:r>
              <a:rPr lang="en-US" sz="1100" i="1" dirty="0">
                <a:solidFill>
                  <a:srgbClr val="5B6474"/>
                </a:solidFill>
                <a:latin typeface="Calibri" pitchFamily="34" charset="0"/>
                <a:ea typeface="Calibri" pitchFamily="34" charset="-122"/>
                <a:cs typeface="Calibri" pitchFamily="34" charset="-120"/>
              </a:rPr>
              <a:t>contours of equal C · the walk goes to the middle</a:t>
            </a:r>
            <a:endParaRPr lang="en-US" sz="1100" dirty="0"/>
          </a:p>
        </p:txBody>
      </p:sp>
      <p:sp>
        <p:nvSpPr>
          <p:cNvPr id="18" name="Shape 16"/>
          <p:cNvSpPr/>
          <p:nvPr/>
        </p:nvSpPr>
        <p:spPr>
          <a:xfrm>
            <a:off x="914400" y="4937760"/>
            <a:ext cx="4480560" cy="868680"/>
          </a:xfrm>
          <a:prstGeom prst="roundRect">
            <a:avLst>
              <a:gd name="adj" fmla="val 6316"/>
            </a:avLst>
          </a:prstGeom>
          <a:solidFill>
            <a:srgbClr val="F6F8FC"/>
          </a:solidFill>
          <a:ln w="12700">
            <a:solidFill>
              <a:srgbClr val="C9D4E6"/>
            </a:solidFill>
            <a:prstDash val="solid"/>
          </a:ln>
        </p:spPr>
        <p:txBody>
          <a:bodyPr/>
          <a:lstStyle/>
          <a:p>
            <a:endParaRPr lang="en-US"/>
          </a:p>
        </p:txBody>
      </p:sp>
      <p:sp>
        <p:nvSpPr>
          <p:cNvPr id="19" name="Text 17"/>
          <p:cNvSpPr txBox="1"/>
          <p:nvPr/>
        </p:nvSpPr>
        <p:spPr>
          <a:xfrm>
            <a:off x="1051560" y="4937760"/>
            <a:ext cx="4206240" cy="868680"/>
          </a:xfrm>
          <a:prstGeom prst="rect">
            <a:avLst/>
          </a:prstGeom>
          <a:noFill/>
          <a:ln/>
        </p:spPr>
        <p:txBody>
          <a:bodyPr wrap="square" lIns="0" tIns="0" rIns="0" bIns="0" rtlCol="0" anchor="ctr"/>
          <a:lstStyle/>
          <a:p>
            <a:pPr marL="0" indent="0" algn="ctr">
              <a:buNone/>
            </a:pPr>
            <a:r>
              <a:rPr lang="en-US" sz="2000" dirty="0">
                <a:solidFill>
                  <a:srgbClr val="111722"/>
                </a:solidFill>
                <a:latin typeface="Cambria Math" pitchFamily="34" charset="0"/>
                <a:ea typeface="Cambria Math" pitchFamily="34" charset="-122"/>
                <a:cs typeface="Cambria Math" pitchFamily="34" charset="-120"/>
              </a:rPr>
              <a:t>( ∂C/∂w₁ , ∂C/∂w₂ )</a:t>
            </a:r>
            <a:endParaRPr lang="en-US" sz="2000" dirty="0"/>
          </a:p>
        </p:txBody>
      </p:sp>
      <p:sp>
        <p:nvSpPr>
          <p:cNvPr id="20" name="Shape 18"/>
          <p:cNvSpPr/>
          <p:nvPr/>
        </p:nvSpPr>
        <p:spPr>
          <a:xfrm>
            <a:off x="5989320" y="1417320"/>
            <a:ext cx="5541264" cy="1170432"/>
          </a:xfrm>
          <a:prstGeom prst="roundRect">
            <a:avLst>
              <a:gd name="adj" fmla="val 6250"/>
            </a:avLst>
          </a:prstGeom>
          <a:solidFill>
            <a:srgbClr val="E7EEF8"/>
          </a:solidFill>
          <a:ln w="12700">
            <a:solidFill>
              <a:srgbClr val="E7EEF8"/>
            </a:solidFill>
            <a:prstDash val="solid"/>
          </a:ln>
        </p:spPr>
        <p:txBody>
          <a:bodyPr/>
          <a:lstStyle/>
          <a:p>
            <a:endParaRPr lang="en-US"/>
          </a:p>
        </p:txBody>
      </p:sp>
      <p:sp>
        <p:nvSpPr>
          <p:cNvPr id="21" name="Text 19"/>
          <p:cNvSpPr txBox="1"/>
          <p:nvPr/>
        </p:nvSpPr>
        <p:spPr>
          <a:xfrm>
            <a:off x="6263640" y="1545336"/>
            <a:ext cx="4992624" cy="292608"/>
          </a:xfrm>
          <a:prstGeom prst="rect">
            <a:avLst/>
          </a:prstGeom>
          <a:noFill/>
          <a:ln/>
        </p:spPr>
        <p:txBody>
          <a:bodyPr wrap="square" lIns="0" tIns="0" rIns="0" bIns="0" rtlCol="0" anchor="ctr"/>
          <a:lstStyle/>
          <a:p>
            <a:pPr marL="0" indent="0">
              <a:buNone/>
            </a:pPr>
            <a:r>
              <a:rPr lang="en-US" sz="1450" b="1" dirty="0">
                <a:solidFill>
                  <a:srgbClr val="111722"/>
                </a:solidFill>
                <a:latin typeface="Cambria" pitchFamily="34" charset="0"/>
                <a:ea typeface="Cambria" pitchFamily="34" charset="-122"/>
                <a:cs typeface="Cambria" pitchFamily="34" charset="-120"/>
              </a:rPr>
              <a:t>Two knobs make a surface</a:t>
            </a:r>
            <a:endParaRPr lang="en-US" sz="1450" dirty="0"/>
          </a:p>
        </p:txBody>
      </p:sp>
      <p:sp>
        <p:nvSpPr>
          <p:cNvPr id="22" name="Text 20"/>
          <p:cNvSpPr txBox="1"/>
          <p:nvPr/>
        </p:nvSpPr>
        <p:spPr>
          <a:xfrm>
            <a:off x="6263640" y="1874520"/>
            <a:ext cx="4992624" cy="621792"/>
          </a:xfrm>
          <a:prstGeom prst="rect">
            <a:avLst/>
          </a:prstGeom>
          <a:noFill/>
          <a:ln/>
        </p:spPr>
        <p:txBody>
          <a:bodyPr wrap="square" lIns="0" tIns="0" rIns="0" bIns="0" rtlCol="0" anchor="ctr"/>
          <a:lstStyle/>
          <a:p>
            <a:pPr marL="0" indent="0">
              <a:lnSpc>
                <a:spcPts val="1500"/>
              </a:lnSpc>
              <a:buNone/>
            </a:pPr>
            <a:r>
              <a:rPr lang="en-US" sz="1150" dirty="0">
                <a:solidFill>
                  <a:srgbClr val="5B6474"/>
                </a:solidFill>
                <a:latin typeface="Calibri" pitchFamily="34" charset="0"/>
                <a:ea typeface="Calibri" pitchFamily="34" charset="-122"/>
                <a:cs typeface="Calibri" pitchFamily="34" charset="-120"/>
              </a:rPr>
              <a:t>With one knob you had a curve. With two you have a landscape. This is that landscape seen from above, the way a contour map shows a mountain.</a:t>
            </a:r>
            <a:endParaRPr lang="en-US" sz="1150" dirty="0"/>
          </a:p>
        </p:txBody>
      </p:sp>
      <p:sp>
        <p:nvSpPr>
          <p:cNvPr id="23" name="Shape 21"/>
          <p:cNvSpPr/>
          <p:nvPr/>
        </p:nvSpPr>
        <p:spPr>
          <a:xfrm>
            <a:off x="5989320" y="2670048"/>
            <a:ext cx="5541264" cy="1170432"/>
          </a:xfrm>
          <a:prstGeom prst="roundRect">
            <a:avLst>
              <a:gd name="adj" fmla="val 6250"/>
            </a:avLst>
          </a:prstGeom>
          <a:solidFill>
            <a:srgbClr val="FAF0DE"/>
          </a:solidFill>
          <a:ln w="12700">
            <a:solidFill>
              <a:srgbClr val="FAF0DE"/>
            </a:solidFill>
            <a:prstDash val="solid"/>
          </a:ln>
        </p:spPr>
        <p:txBody>
          <a:bodyPr/>
          <a:lstStyle/>
          <a:p>
            <a:endParaRPr lang="en-US"/>
          </a:p>
        </p:txBody>
      </p:sp>
      <p:sp>
        <p:nvSpPr>
          <p:cNvPr id="24" name="Text 22"/>
          <p:cNvSpPr txBox="1"/>
          <p:nvPr/>
        </p:nvSpPr>
        <p:spPr>
          <a:xfrm>
            <a:off x="6263640" y="2798064"/>
            <a:ext cx="4992624" cy="292608"/>
          </a:xfrm>
          <a:prstGeom prst="rect">
            <a:avLst/>
          </a:prstGeom>
          <a:noFill/>
          <a:ln/>
        </p:spPr>
        <p:txBody>
          <a:bodyPr wrap="square" lIns="0" tIns="0" rIns="0" bIns="0" rtlCol="0" anchor="ctr"/>
          <a:lstStyle/>
          <a:p>
            <a:pPr marL="0" indent="0">
              <a:buNone/>
            </a:pPr>
            <a:r>
              <a:rPr lang="en-US" sz="1450" b="1" dirty="0">
                <a:solidFill>
                  <a:srgbClr val="111722"/>
                </a:solidFill>
                <a:latin typeface="Cambria" pitchFamily="34" charset="0"/>
                <a:ea typeface="Cambria" pitchFamily="34" charset="-122"/>
                <a:cs typeface="Cambria" pitchFamily="34" charset="-120"/>
              </a:rPr>
              <a:t>Downhill now needs two numbers</a:t>
            </a:r>
            <a:endParaRPr lang="en-US" sz="1450" dirty="0"/>
          </a:p>
        </p:txBody>
      </p:sp>
      <p:sp>
        <p:nvSpPr>
          <p:cNvPr id="25" name="Text 23"/>
          <p:cNvSpPr txBox="1"/>
          <p:nvPr/>
        </p:nvSpPr>
        <p:spPr>
          <a:xfrm>
            <a:off x="6263640" y="3127248"/>
            <a:ext cx="4992624" cy="621792"/>
          </a:xfrm>
          <a:prstGeom prst="rect">
            <a:avLst/>
          </a:prstGeom>
          <a:noFill/>
          <a:ln/>
        </p:spPr>
        <p:txBody>
          <a:bodyPr wrap="square" lIns="0" tIns="0" rIns="0" bIns="0" rtlCol="0" anchor="ctr"/>
          <a:lstStyle/>
          <a:p>
            <a:pPr marL="0" indent="0">
              <a:lnSpc>
                <a:spcPts val="1500"/>
              </a:lnSpc>
              <a:buNone/>
            </a:pPr>
            <a:r>
              <a:rPr lang="en-US" sz="1150" dirty="0">
                <a:solidFill>
                  <a:srgbClr val="5B6474"/>
                </a:solidFill>
                <a:latin typeface="Calibri" pitchFamily="34" charset="0"/>
                <a:ea typeface="Calibri" pitchFamily="34" charset="-122"/>
                <a:cs typeface="Calibri" pitchFamily="34" charset="-120"/>
              </a:rPr>
              <a:t>How steep in the w₁ direction, and how steep in the w₂ direction. Two partial derivatives. Together they say which way the ground tilts.</a:t>
            </a:r>
            <a:endParaRPr lang="en-US" sz="1150" dirty="0"/>
          </a:p>
        </p:txBody>
      </p:sp>
      <p:sp>
        <p:nvSpPr>
          <p:cNvPr id="26" name="Shape 24"/>
          <p:cNvSpPr/>
          <p:nvPr/>
        </p:nvSpPr>
        <p:spPr>
          <a:xfrm>
            <a:off x="5989320" y="3922776"/>
            <a:ext cx="5541264" cy="1170432"/>
          </a:xfrm>
          <a:prstGeom prst="roundRect">
            <a:avLst>
              <a:gd name="adj" fmla="val 6250"/>
            </a:avLst>
          </a:prstGeom>
          <a:solidFill>
            <a:srgbClr val="E7EEF8"/>
          </a:solidFill>
          <a:ln w="12700">
            <a:solidFill>
              <a:srgbClr val="E7EEF8"/>
            </a:solidFill>
            <a:prstDash val="solid"/>
          </a:ln>
        </p:spPr>
        <p:txBody>
          <a:bodyPr/>
          <a:lstStyle/>
          <a:p>
            <a:endParaRPr lang="en-US"/>
          </a:p>
        </p:txBody>
      </p:sp>
      <p:sp>
        <p:nvSpPr>
          <p:cNvPr id="27" name="Text 25"/>
          <p:cNvSpPr txBox="1"/>
          <p:nvPr/>
        </p:nvSpPr>
        <p:spPr>
          <a:xfrm>
            <a:off x="6263640" y="4050792"/>
            <a:ext cx="4992624" cy="292608"/>
          </a:xfrm>
          <a:prstGeom prst="rect">
            <a:avLst/>
          </a:prstGeom>
          <a:noFill/>
          <a:ln/>
        </p:spPr>
        <p:txBody>
          <a:bodyPr wrap="square" lIns="0" tIns="0" rIns="0" bIns="0" rtlCol="0" anchor="ctr"/>
          <a:lstStyle/>
          <a:p>
            <a:pPr marL="0" indent="0">
              <a:buNone/>
            </a:pPr>
            <a:r>
              <a:rPr lang="en-US" sz="1450" b="1" dirty="0">
                <a:solidFill>
                  <a:srgbClr val="111722"/>
                </a:solidFill>
                <a:latin typeface="Cambria" pitchFamily="34" charset="0"/>
                <a:ea typeface="Cambria" pitchFamily="34" charset="-122"/>
                <a:cs typeface="Cambria" pitchFamily="34" charset="-120"/>
              </a:rPr>
              <a:t>A list of numbers is a vector</a:t>
            </a:r>
            <a:endParaRPr lang="en-US" sz="1450" dirty="0"/>
          </a:p>
        </p:txBody>
      </p:sp>
      <p:sp>
        <p:nvSpPr>
          <p:cNvPr id="28" name="Text 26"/>
          <p:cNvSpPr txBox="1"/>
          <p:nvPr/>
        </p:nvSpPr>
        <p:spPr>
          <a:xfrm>
            <a:off x="6263640" y="4379976"/>
            <a:ext cx="4992624" cy="621792"/>
          </a:xfrm>
          <a:prstGeom prst="rect">
            <a:avLst/>
          </a:prstGeom>
          <a:noFill/>
          <a:ln/>
        </p:spPr>
        <p:txBody>
          <a:bodyPr wrap="square" lIns="0" tIns="0" rIns="0" bIns="0" rtlCol="0" anchor="ctr"/>
          <a:lstStyle/>
          <a:p>
            <a:pPr marL="0" indent="0">
              <a:lnSpc>
                <a:spcPts val="1500"/>
              </a:lnSpc>
              <a:buNone/>
            </a:pPr>
            <a:r>
              <a:rPr lang="en-US" sz="1150" dirty="0">
                <a:solidFill>
                  <a:srgbClr val="5B6474"/>
                </a:solidFill>
                <a:latin typeface="Calibri" pitchFamily="34" charset="0"/>
                <a:ea typeface="Calibri" pitchFamily="34" charset="-122"/>
                <a:cs typeface="Calibri" pitchFamily="34" charset="-120"/>
              </a:rPr>
              <a:t>That is all the word means here. A pair of slopes is a vector; it has a direction and a size, and it points the way the ground rises fastest.</a:t>
            </a:r>
            <a:endParaRPr lang="en-US" sz="1150" dirty="0"/>
          </a:p>
        </p:txBody>
      </p:sp>
      <p:sp>
        <p:nvSpPr>
          <p:cNvPr id="29" name="Shape 27"/>
          <p:cNvSpPr/>
          <p:nvPr/>
        </p:nvSpPr>
        <p:spPr>
          <a:xfrm>
            <a:off x="5989320" y="5175504"/>
            <a:ext cx="5541264" cy="1170432"/>
          </a:xfrm>
          <a:prstGeom prst="roundRect">
            <a:avLst>
              <a:gd name="adj" fmla="val 6250"/>
            </a:avLst>
          </a:prstGeom>
          <a:solidFill>
            <a:srgbClr val="FAF0DE"/>
          </a:solidFill>
          <a:ln w="12700">
            <a:solidFill>
              <a:srgbClr val="FAF0DE"/>
            </a:solidFill>
            <a:prstDash val="solid"/>
          </a:ln>
        </p:spPr>
        <p:txBody>
          <a:bodyPr/>
          <a:lstStyle/>
          <a:p>
            <a:endParaRPr lang="en-US"/>
          </a:p>
        </p:txBody>
      </p:sp>
      <p:sp>
        <p:nvSpPr>
          <p:cNvPr id="30" name="Text 28"/>
          <p:cNvSpPr txBox="1"/>
          <p:nvPr/>
        </p:nvSpPr>
        <p:spPr>
          <a:xfrm>
            <a:off x="6263640" y="5303520"/>
            <a:ext cx="4992624" cy="292608"/>
          </a:xfrm>
          <a:prstGeom prst="rect">
            <a:avLst/>
          </a:prstGeom>
          <a:noFill/>
          <a:ln/>
        </p:spPr>
        <p:txBody>
          <a:bodyPr wrap="square" lIns="0" tIns="0" rIns="0" bIns="0" rtlCol="0" anchor="ctr"/>
          <a:lstStyle/>
          <a:p>
            <a:pPr marL="0" indent="0">
              <a:buNone/>
            </a:pPr>
            <a:r>
              <a:rPr lang="en-US" sz="1450" b="1" dirty="0">
                <a:solidFill>
                  <a:srgbClr val="111722"/>
                </a:solidFill>
                <a:latin typeface="Cambria" pitchFamily="34" charset="0"/>
                <a:ea typeface="Cambria" pitchFamily="34" charset="-122"/>
                <a:cs typeface="Cambria" pitchFamily="34" charset="-120"/>
              </a:rPr>
              <a:t>Go the opposite way</a:t>
            </a:r>
            <a:endParaRPr lang="en-US" sz="1450" dirty="0"/>
          </a:p>
        </p:txBody>
      </p:sp>
      <p:sp>
        <p:nvSpPr>
          <p:cNvPr id="31" name="Text 29"/>
          <p:cNvSpPr txBox="1"/>
          <p:nvPr/>
        </p:nvSpPr>
        <p:spPr>
          <a:xfrm>
            <a:off x="6263640" y="5632704"/>
            <a:ext cx="4992624" cy="621792"/>
          </a:xfrm>
          <a:prstGeom prst="rect">
            <a:avLst/>
          </a:prstGeom>
          <a:noFill/>
          <a:ln/>
        </p:spPr>
        <p:txBody>
          <a:bodyPr wrap="square" lIns="0" tIns="0" rIns="0" bIns="0" rtlCol="0" anchor="ctr"/>
          <a:lstStyle/>
          <a:p>
            <a:pPr marL="0" indent="0">
              <a:lnSpc>
                <a:spcPts val="1500"/>
              </a:lnSpc>
              <a:buNone/>
            </a:pPr>
            <a:r>
              <a:rPr lang="en-US" sz="1150" dirty="0">
                <a:solidFill>
                  <a:srgbClr val="5B6474"/>
                </a:solidFill>
                <a:latin typeface="Calibri" pitchFamily="34" charset="0"/>
                <a:ea typeface="Calibri" pitchFamily="34" charset="-122"/>
                <a:cs typeface="Calibri" pitchFamily="34" charset="-120"/>
              </a:rPr>
              <a:t>The steepest way up is the vector itself. The steepest way down is the same vector with a minus sign. That minus sign is the entire idea of descent.</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741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THE GRADIENT</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11722"/>
                </a:solidFill>
                <a:latin typeface="Cambria" pitchFamily="34" charset="0"/>
                <a:ea typeface="Cambria" pitchFamily="34" charset="-122"/>
                <a:cs typeface="Cambria" pitchFamily="34" charset="-120"/>
              </a:rPr>
              <a:t>All 13,002 slopes, bundled into one symbol</a:t>
            </a:r>
            <a:endParaRPr lang="en-US" sz="2900" dirty="0"/>
          </a:p>
        </p:txBody>
      </p:sp>
      <p:sp>
        <p:nvSpPr>
          <p:cNvPr id="5" name="Shape 3"/>
          <p:cNvSpPr/>
          <p:nvPr/>
        </p:nvSpPr>
        <p:spPr>
          <a:xfrm>
            <a:off x="1371600" y="1371600"/>
            <a:ext cx="10332720" cy="1143000"/>
          </a:xfrm>
          <a:prstGeom prst="roundRect">
            <a:avLst>
              <a:gd name="adj" fmla="val 4800"/>
            </a:avLst>
          </a:prstGeom>
          <a:solidFill>
            <a:srgbClr val="F6F8FC"/>
          </a:solidFill>
          <a:ln w="12700">
            <a:solidFill>
              <a:srgbClr val="C9D4E6"/>
            </a:solidFill>
            <a:prstDash val="solid"/>
          </a:ln>
        </p:spPr>
        <p:txBody>
          <a:bodyPr/>
          <a:lstStyle/>
          <a:p>
            <a:endParaRPr lang="en-US"/>
          </a:p>
        </p:txBody>
      </p:sp>
      <p:sp>
        <p:nvSpPr>
          <p:cNvPr id="6" name="Text 4"/>
          <p:cNvSpPr txBox="1"/>
          <p:nvPr/>
        </p:nvSpPr>
        <p:spPr>
          <a:xfrm>
            <a:off x="1508760" y="1371600"/>
            <a:ext cx="10058400" cy="1143000"/>
          </a:xfrm>
          <a:prstGeom prst="rect">
            <a:avLst/>
          </a:prstGeom>
          <a:noFill/>
          <a:ln/>
        </p:spPr>
        <p:txBody>
          <a:bodyPr wrap="square" lIns="0" tIns="0" rIns="0" bIns="0" rtlCol="0" anchor="ctr"/>
          <a:lstStyle/>
          <a:p>
            <a:pPr marL="0" indent="0" algn="ctr">
              <a:buNone/>
            </a:pPr>
            <a:r>
              <a:rPr lang="en-US" sz="2800" dirty="0">
                <a:solidFill>
                  <a:srgbClr val="111722"/>
                </a:solidFill>
                <a:latin typeface="Cambria Math" pitchFamily="34" charset="0"/>
                <a:ea typeface="Cambria Math" pitchFamily="34" charset="-122"/>
                <a:cs typeface="Cambria Math" pitchFamily="34" charset="-120"/>
              </a:rPr>
              <a:t>∇C(θ) = ( ∂C/∂θ₁ , ∂C/∂θ₂ , ⋯ , ∂C/∂θₙ )</a:t>
            </a:r>
            <a:endParaRPr lang="en-US" sz="2800" dirty="0"/>
          </a:p>
        </p:txBody>
      </p:sp>
      <p:sp>
        <p:nvSpPr>
          <p:cNvPr id="7" name="Text 5"/>
          <p:cNvSpPr txBox="1"/>
          <p:nvPr/>
        </p:nvSpPr>
        <p:spPr>
          <a:xfrm>
            <a:off x="1737360" y="2624328"/>
            <a:ext cx="9601200" cy="365760"/>
          </a:xfrm>
          <a:prstGeom prst="rect">
            <a:avLst/>
          </a:prstGeom>
          <a:noFill/>
          <a:ln/>
        </p:spPr>
        <p:txBody>
          <a:bodyPr wrap="square" lIns="0" tIns="0" rIns="0" bIns="0" rtlCol="0" anchor="ctr"/>
          <a:lstStyle/>
          <a:p>
            <a:pPr marL="0" indent="0" algn="ctr">
              <a:buNone/>
            </a:pPr>
            <a:r>
              <a:rPr lang="en-US" sz="1300" i="1" dirty="0">
                <a:solidFill>
                  <a:srgbClr val="2C5FA8"/>
                </a:solidFill>
                <a:latin typeface="Calibri" pitchFamily="34" charset="0"/>
                <a:ea typeface="Calibri" pitchFamily="34" charset="-122"/>
                <a:cs typeface="Calibri" pitchFamily="34" charset="-120"/>
              </a:rPr>
              <a:t>“The gradient of C is the list of every partial derivative — one per knob, in order.”</a:t>
            </a:r>
            <a:endParaRPr lang="en-US" sz="1300" dirty="0"/>
          </a:p>
        </p:txBody>
      </p:sp>
      <p:sp>
        <p:nvSpPr>
          <p:cNvPr id="8" name="Shape 6"/>
          <p:cNvSpPr/>
          <p:nvPr/>
        </p:nvSpPr>
        <p:spPr>
          <a:xfrm>
            <a:off x="640080" y="3200400"/>
            <a:ext cx="2021373" cy="22860"/>
          </a:xfrm>
          <a:prstGeom prst="rect">
            <a:avLst/>
          </a:prstGeom>
          <a:solidFill>
            <a:srgbClr val="2C5FA8"/>
          </a:solidFill>
          <a:ln/>
        </p:spPr>
        <p:txBody>
          <a:bodyPr/>
          <a:lstStyle/>
          <a:p>
            <a:endParaRPr lang="en-US"/>
          </a:p>
        </p:txBody>
      </p:sp>
      <p:sp>
        <p:nvSpPr>
          <p:cNvPr id="9" name="Text 7"/>
          <p:cNvSpPr txBox="1"/>
          <p:nvPr/>
        </p:nvSpPr>
        <p:spPr>
          <a:xfrm>
            <a:off x="640080" y="3291840"/>
            <a:ext cx="2021373" cy="384048"/>
          </a:xfrm>
          <a:prstGeom prst="rect">
            <a:avLst/>
          </a:prstGeom>
          <a:noFill/>
          <a:ln/>
        </p:spPr>
        <p:txBody>
          <a:bodyPr wrap="square" lIns="0" tIns="0" rIns="0" bIns="0" rtlCol="0" anchor="ctr"/>
          <a:lstStyle/>
          <a:p>
            <a:pPr marL="0" indent="0" algn="ctr">
              <a:buNone/>
            </a:pPr>
            <a:r>
              <a:rPr lang="en-US" sz="2200" b="1" dirty="0">
                <a:solidFill>
                  <a:srgbClr val="2C5FA8"/>
                </a:solidFill>
                <a:latin typeface="Cambria Math" pitchFamily="34" charset="0"/>
                <a:ea typeface="Cambria Math" pitchFamily="34" charset="-122"/>
                <a:cs typeface="Cambria Math" pitchFamily="34" charset="-120"/>
              </a:rPr>
              <a:t>∇</a:t>
            </a:r>
            <a:endParaRPr lang="en-US" sz="2200" dirty="0"/>
          </a:p>
        </p:txBody>
      </p:sp>
      <p:sp>
        <p:nvSpPr>
          <p:cNvPr id="10" name="Text 8"/>
          <p:cNvSpPr txBox="1"/>
          <p:nvPr/>
        </p:nvSpPr>
        <p:spPr>
          <a:xfrm>
            <a:off x="640080" y="3730752"/>
            <a:ext cx="2021373" cy="960120"/>
          </a:xfrm>
          <a:prstGeom prst="rect">
            <a:avLst/>
          </a:prstGeom>
          <a:noFill/>
          <a:ln/>
        </p:spPr>
        <p:txBody>
          <a:bodyPr wrap="square" lIns="0" tIns="0" rIns="0" bIns="0" rtlCol="0" anchor="ctr"/>
          <a:lstStyle/>
          <a:p>
            <a:pPr marL="0" indent="0" algn="ctr">
              <a:lnSpc>
                <a:spcPts val="1500"/>
              </a:lnSpc>
              <a:buNone/>
            </a:pPr>
            <a:r>
              <a:rPr lang="en-US" sz="1150" dirty="0">
                <a:solidFill>
                  <a:srgbClr val="5B6474"/>
                </a:solidFill>
                <a:latin typeface="Calibri" pitchFamily="34" charset="0"/>
                <a:ea typeface="Calibri" pitchFamily="34" charset="-122"/>
                <a:cs typeface="Calibri" pitchFamily="34" charset="-120"/>
              </a:rPr>
              <a:t>nabla. A bundling symbol: “collect all the partials into one list.”</a:t>
            </a:r>
            <a:endParaRPr lang="en-US" sz="1150" dirty="0"/>
          </a:p>
        </p:txBody>
      </p:sp>
      <p:sp>
        <p:nvSpPr>
          <p:cNvPr id="11" name="Shape 9"/>
          <p:cNvSpPr/>
          <p:nvPr/>
        </p:nvSpPr>
        <p:spPr>
          <a:xfrm>
            <a:off x="2862621" y="3200400"/>
            <a:ext cx="2021373" cy="22860"/>
          </a:xfrm>
          <a:prstGeom prst="rect">
            <a:avLst/>
          </a:prstGeom>
          <a:solidFill>
            <a:srgbClr val="C07414"/>
          </a:solidFill>
          <a:ln/>
        </p:spPr>
        <p:txBody>
          <a:bodyPr/>
          <a:lstStyle/>
          <a:p>
            <a:endParaRPr lang="en-US"/>
          </a:p>
        </p:txBody>
      </p:sp>
      <p:sp>
        <p:nvSpPr>
          <p:cNvPr id="12" name="Text 10"/>
          <p:cNvSpPr txBox="1"/>
          <p:nvPr/>
        </p:nvSpPr>
        <p:spPr>
          <a:xfrm>
            <a:off x="2862621" y="3291840"/>
            <a:ext cx="2021373" cy="384048"/>
          </a:xfrm>
          <a:prstGeom prst="rect">
            <a:avLst/>
          </a:prstGeom>
          <a:noFill/>
          <a:ln/>
        </p:spPr>
        <p:txBody>
          <a:bodyPr wrap="square" lIns="0" tIns="0" rIns="0" bIns="0" rtlCol="0" anchor="ctr"/>
          <a:lstStyle/>
          <a:p>
            <a:pPr marL="0" indent="0" algn="ctr">
              <a:buNone/>
            </a:pPr>
            <a:r>
              <a:rPr lang="en-US" sz="2200" b="1" dirty="0">
                <a:solidFill>
                  <a:srgbClr val="C07414"/>
                </a:solidFill>
                <a:latin typeface="Cambria Math" pitchFamily="34" charset="0"/>
                <a:ea typeface="Cambria Math" pitchFamily="34" charset="-122"/>
                <a:cs typeface="Cambria Math" pitchFamily="34" charset="-120"/>
              </a:rPr>
              <a:t>θ₁ ⋯ θₙ</a:t>
            </a:r>
            <a:endParaRPr lang="en-US" sz="2200" dirty="0"/>
          </a:p>
        </p:txBody>
      </p:sp>
      <p:sp>
        <p:nvSpPr>
          <p:cNvPr id="13" name="Text 11"/>
          <p:cNvSpPr txBox="1"/>
          <p:nvPr/>
        </p:nvSpPr>
        <p:spPr>
          <a:xfrm>
            <a:off x="2862621" y="3730752"/>
            <a:ext cx="2021373" cy="960120"/>
          </a:xfrm>
          <a:prstGeom prst="rect">
            <a:avLst/>
          </a:prstGeom>
          <a:noFill/>
          <a:ln/>
        </p:spPr>
        <p:txBody>
          <a:bodyPr wrap="square" lIns="0" tIns="0" rIns="0" bIns="0" rtlCol="0" anchor="ctr"/>
          <a:lstStyle/>
          <a:p>
            <a:pPr marL="0" indent="0" algn="ctr">
              <a:lnSpc>
                <a:spcPts val="1500"/>
              </a:lnSpc>
              <a:buNone/>
            </a:pPr>
            <a:r>
              <a:rPr lang="en-US" sz="1150" dirty="0">
                <a:solidFill>
                  <a:srgbClr val="5B6474"/>
                </a:solidFill>
                <a:latin typeface="Calibri" pitchFamily="34" charset="0"/>
                <a:ea typeface="Calibri" pitchFamily="34" charset="-122"/>
                <a:cs typeface="Calibri" pitchFamily="34" charset="-120"/>
              </a:rPr>
              <a:t>the knobs, numbered. Here n = 13,002.</a:t>
            </a:r>
            <a:endParaRPr lang="en-US" sz="1150" dirty="0"/>
          </a:p>
        </p:txBody>
      </p:sp>
      <p:sp>
        <p:nvSpPr>
          <p:cNvPr id="14" name="Shape 12"/>
          <p:cNvSpPr/>
          <p:nvPr/>
        </p:nvSpPr>
        <p:spPr>
          <a:xfrm>
            <a:off x="5085161" y="3200400"/>
            <a:ext cx="2021373" cy="22860"/>
          </a:xfrm>
          <a:prstGeom prst="rect">
            <a:avLst/>
          </a:prstGeom>
          <a:solidFill>
            <a:srgbClr val="2C5FA8"/>
          </a:solidFill>
          <a:ln/>
        </p:spPr>
        <p:txBody>
          <a:bodyPr/>
          <a:lstStyle/>
          <a:p>
            <a:endParaRPr lang="en-US"/>
          </a:p>
        </p:txBody>
      </p:sp>
      <p:sp>
        <p:nvSpPr>
          <p:cNvPr id="15" name="Text 13"/>
          <p:cNvSpPr txBox="1"/>
          <p:nvPr/>
        </p:nvSpPr>
        <p:spPr>
          <a:xfrm>
            <a:off x="5085161" y="3291840"/>
            <a:ext cx="2021373" cy="384048"/>
          </a:xfrm>
          <a:prstGeom prst="rect">
            <a:avLst/>
          </a:prstGeom>
          <a:noFill/>
          <a:ln/>
        </p:spPr>
        <p:txBody>
          <a:bodyPr wrap="square" lIns="0" tIns="0" rIns="0" bIns="0" rtlCol="0" anchor="ctr"/>
          <a:lstStyle/>
          <a:p>
            <a:pPr marL="0" indent="0" algn="ctr">
              <a:buNone/>
            </a:pPr>
            <a:r>
              <a:rPr lang="en-US" sz="2200" b="1" dirty="0">
                <a:solidFill>
                  <a:srgbClr val="2C5FA8"/>
                </a:solidFill>
                <a:latin typeface="Cambria Math" pitchFamily="34" charset="0"/>
                <a:ea typeface="Cambria Math" pitchFamily="34" charset="-122"/>
                <a:cs typeface="Cambria Math" pitchFamily="34" charset="-120"/>
              </a:rPr>
              <a:t>∂C/∂θₖ</a:t>
            </a:r>
            <a:endParaRPr lang="en-US" sz="2200" dirty="0"/>
          </a:p>
        </p:txBody>
      </p:sp>
      <p:sp>
        <p:nvSpPr>
          <p:cNvPr id="16" name="Text 14"/>
          <p:cNvSpPr txBox="1"/>
          <p:nvPr/>
        </p:nvSpPr>
        <p:spPr>
          <a:xfrm>
            <a:off x="5085161" y="3730752"/>
            <a:ext cx="2021373" cy="960120"/>
          </a:xfrm>
          <a:prstGeom prst="rect">
            <a:avLst/>
          </a:prstGeom>
          <a:noFill/>
          <a:ln/>
        </p:spPr>
        <p:txBody>
          <a:bodyPr wrap="square" lIns="0" tIns="0" rIns="0" bIns="0" rtlCol="0" anchor="ctr"/>
          <a:lstStyle/>
          <a:p>
            <a:pPr marL="0" indent="0" algn="ctr">
              <a:lnSpc>
                <a:spcPts val="1500"/>
              </a:lnSpc>
              <a:buNone/>
            </a:pPr>
            <a:r>
              <a:rPr lang="en-US" sz="1150" dirty="0">
                <a:solidFill>
                  <a:srgbClr val="5B6474"/>
                </a:solidFill>
                <a:latin typeface="Calibri" pitchFamily="34" charset="0"/>
                <a:ea typeface="Calibri" pitchFamily="34" charset="-122"/>
                <a:cs typeface="Calibri" pitchFamily="34" charset="-120"/>
              </a:rPr>
              <a:t>one entry: how much knob k is contributing to the wrongness.</a:t>
            </a:r>
            <a:endParaRPr lang="en-US" sz="1150" dirty="0"/>
          </a:p>
        </p:txBody>
      </p:sp>
      <p:sp>
        <p:nvSpPr>
          <p:cNvPr id="17" name="Shape 15"/>
          <p:cNvSpPr/>
          <p:nvPr/>
        </p:nvSpPr>
        <p:spPr>
          <a:xfrm>
            <a:off x="7307702" y="3200400"/>
            <a:ext cx="2021373" cy="22860"/>
          </a:xfrm>
          <a:prstGeom prst="rect">
            <a:avLst/>
          </a:prstGeom>
          <a:solidFill>
            <a:srgbClr val="C07414"/>
          </a:solidFill>
          <a:ln/>
        </p:spPr>
        <p:txBody>
          <a:bodyPr/>
          <a:lstStyle/>
          <a:p>
            <a:endParaRPr lang="en-US"/>
          </a:p>
        </p:txBody>
      </p:sp>
      <p:sp>
        <p:nvSpPr>
          <p:cNvPr id="18" name="Text 16"/>
          <p:cNvSpPr txBox="1"/>
          <p:nvPr/>
        </p:nvSpPr>
        <p:spPr>
          <a:xfrm>
            <a:off x="7307702" y="3291840"/>
            <a:ext cx="2021373" cy="384048"/>
          </a:xfrm>
          <a:prstGeom prst="rect">
            <a:avLst/>
          </a:prstGeom>
          <a:noFill/>
          <a:ln/>
        </p:spPr>
        <p:txBody>
          <a:bodyPr wrap="square" lIns="0" tIns="0" rIns="0" bIns="0" rtlCol="0" anchor="ctr"/>
          <a:lstStyle/>
          <a:p>
            <a:pPr marL="0" indent="0" algn="ctr">
              <a:buNone/>
            </a:pPr>
            <a:r>
              <a:rPr lang="en-US" sz="2200" b="1" dirty="0">
                <a:solidFill>
                  <a:srgbClr val="C07414"/>
                </a:solidFill>
                <a:latin typeface="Cambria Math" pitchFamily="34" charset="0"/>
                <a:ea typeface="Cambria Math" pitchFamily="34" charset="-122"/>
                <a:cs typeface="Cambria Math" pitchFamily="34" charset="-120"/>
              </a:rPr>
              <a:t>the whole list</a:t>
            </a:r>
            <a:endParaRPr lang="en-US" sz="2200" dirty="0"/>
          </a:p>
        </p:txBody>
      </p:sp>
      <p:sp>
        <p:nvSpPr>
          <p:cNvPr id="19" name="Text 17"/>
          <p:cNvSpPr txBox="1"/>
          <p:nvPr/>
        </p:nvSpPr>
        <p:spPr>
          <a:xfrm>
            <a:off x="7307702" y="3730752"/>
            <a:ext cx="2021373" cy="960120"/>
          </a:xfrm>
          <a:prstGeom prst="rect">
            <a:avLst/>
          </a:prstGeom>
          <a:noFill/>
          <a:ln/>
        </p:spPr>
        <p:txBody>
          <a:bodyPr wrap="square" lIns="0" tIns="0" rIns="0" bIns="0" rtlCol="0" anchor="ctr"/>
          <a:lstStyle/>
          <a:p>
            <a:pPr marL="0" indent="0" algn="ctr">
              <a:lnSpc>
                <a:spcPts val="1500"/>
              </a:lnSpc>
              <a:buNone/>
            </a:pPr>
            <a:r>
              <a:rPr lang="en-US" sz="1150" dirty="0">
                <a:solidFill>
                  <a:srgbClr val="5B6474"/>
                </a:solidFill>
                <a:latin typeface="Calibri" pitchFamily="34" charset="0"/>
                <a:ea typeface="Calibri" pitchFamily="34" charset="-122"/>
                <a:cs typeface="Calibri" pitchFamily="34" charset="-120"/>
              </a:rPr>
              <a:t>points in the direction of steepest increase in C. Its size says how steep.</a:t>
            </a:r>
            <a:endParaRPr lang="en-US" sz="1150" dirty="0"/>
          </a:p>
        </p:txBody>
      </p:sp>
      <p:sp>
        <p:nvSpPr>
          <p:cNvPr id="20" name="Shape 18"/>
          <p:cNvSpPr/>
          <p:nvPr/>
        </p:nvSpPr>
        <p:spPr>
          <a:xfrm>
            <a:off x="9530243" y="3200400"/>
            <a:ext cx="2021373" cy="22860"/>
          </a:xfrm>
          <a:prstGeom prst="rect">
            <a:avLst/>
          </a:prstGeom>
          <a:solidFill>
            <a:srgbClr val="2C5FA8"/>
          </a:solidFill>
          <a:ln/>
        </p:spPr>
        <p:txBody>
          <a:bodyPr/>
          <a:lstStyle/>
          <a:p>
            <a:endParaRPr lang="en-US"/>
          </a:p>
        </p:txBody>
      </p:sp>
      <p:sp>
        <p:nvSpPr>
          <p:cNvPr id="21" name="Text 19"/>
          <p:cNvSpPr txBox="1"/>
          <p:nvPr/>
        </p:nvSpPr>
        <p:spPr>
          <a:xfrm>
            <a:off x="9530243" y="3291840"/>
            <a:ext cx="2021373" cy="384048"/>
          </a:xfrm>
          <a:prstGeom prst="rect">
            <a:avLst/>
          </a:prstGeom>
          <a:noFill/>
          <a:ln/>
        </p:spPr>
        <p:txBody>
          <a:bodyPr wrap="square" lIns="0" tIns="0" rIns="0" bIns="0" rtlCol="0" anchor="ctr"/>
          <a:lstStyle/>
          <a:p>
            <a:pPr marL="0" indent="0" algn="ctr">
              <a:buNone/>
            </a:pPr>
            <a:r>
              <a:rPr lang="en-US" sz="2200" b="1" dirty="0">
                <a:solidFill>
                  <a:srgbClr val="2C5FA8"/>
                </a:solidFill>
                <a:latin typeface="Cambria Math" pitchFamily="34" charset="0"/>
                <a:ea typeface="Cambria Math" pitchFamily="34" charset="-122"/>
                <a:cs typeface="Cambria Math" pitchFamily="34" charset="-120"/>
              </a:rPr>
              <a:t>−∇C</a:t>
            </a:r>
            <a:endParaRPr lang="en-US" sz="2200" dirty="0"/>
          </a:p>
        </p:txBody>
      </p:sp>
      <p:sp>
        <p:nvSpPr>
          <p:cNvPr id="22" name="Text 20"/>
          <p:cNvSpPr txBox="1"/>
          <p:nvPr/>
        </p:nvSpPr>
        <p:spPr>
          <a:xfrm>
            <a:off x="9530243" y="3730752"/>
            <a:ext cx="2021373" cy="960120"/>
          </a:xfrm>
          <a:prstGeom prst="rect">
            <a:avLst/>
          </a:prstGeom>
          <a:noFill/>
          <a:ln/>
        </p:spPr>
        <p:txBody>
          <a:bodyPr wrap="square" lIns="0" tIns="0" rIns="0" bIns="0" rtlCol="0" anchor="ctr"/>
          <a:lstStyle/>
          <a:p>
            <a:pPr marL="0" indent="0" algn="ctr">
              <a:lnSpc>
                <a:spcPts val="1500"/>
              </a:lnSpc>
              <a:buNone/>
            </a:pPr>
            <a:r>
              <a:rPr lang="en-US" sz="1150" dirty="0">
                <a:solidFill>
                  <a:srgbClr val="5B6474"/>
                </a:solidFill>
                <a:latin typeface="Calibri" pitchFamily="34" charset="0"/>
                <a:ea typeface="Calibri" pitchFamily="34" charset="-122"/>
                <a:cs typeface="Calibri" pitchFamily="34" charset="-120"/>
              </a:rPr>
              <a:t>the same list with every sign flipped: steepest decrease. This is the way down.</a:t>
            </a:r>
            <a:endParaRPr lang="en-US" sz="1150" dirty="0"/>
          </a:p>
        </p:txBody>
      </p:sp>
      <p:sp>
        <p:nvSpPr>
          <p:cNvPr id="23" name="Shape 21"/>
          <p:cNvSpPr/>
          <p:nvPr/>
        </p:nvSpPr>
        <p:spPr>
          <a:xfrm>
            <a:off x="640080" y="4983480"/>
            <a:ext cx="10911535" cy="1234440"/>
          </a:xfrm>
          <a:prstGeom prst="roundRect">
            <a:avLst>
              <a:gd name="adj" fmla="val 5926"/>
            </a:avLst>
          </a:prstGeom>
          <a:solidFill>
            <a:srgbClr val="111722"/>
          </a:solidFill>
          <a:ln w="12700">
            <a:solidFill>
              <a:srgbClr val="111722"/>
            </a:solidFill>
            <a:prstDash val="solid"/>
          </a:ln>
        </p:spPr>
        <p:txBody>
          <a:bodyPr/>
          <a:lstStyle/>
          <a:p>
            <a:endParaRPr lang="en-US"/>
          </a:p>
        </p:txBody>
      </p:sp>
      <p:sp>
        <p:nvSpPr>
          <p:cNvPr id="24" name="Text 22"/>
          <p:cNvSpPr txBox="1"/>
          <p:nvPr/>
        </p:nvSpPr>
        <p:spPr>
          <a:xfrm>
            <a:off x="1005840" y="5148072"/>
            <a:ext cx="10424160" cy="905256"/>
          </a:xfrm>
          <a:prstGeom prst="rect">
            <a:avLst/>
          </a:prstGeom>
          <a:noFill/>
          <a:ln/>
        </p:spPr>
        <p:txBody>
          <a:bodyPr wrap="square" lIns="0" tIns="0" rIns="0" bIns="0" rtlCol="0" anchor="ctr"/>
          <a:lstStyle/>
          <a:p>
            <a:pPr marL="0" indent="0">
              <a:lnSpc>
                <a:spcPts val="2000"/>
              </a:lnSpc>
              <a:buNone/>
            </a:pPr>
            <a:r>
              <a:rPr lang="en-US" sz="1500" dirty="0">
                <a:solidFill>
                  <a:srgbClr val="F2F4F8"/>
                </a:solidFill>
                <a:latin typeface="Cambria" pitchFamily="34" charset="0"/>
                <a:ea typeface="Cambria" pitchFamily="34" charset="-122"/>
                <a:cs typeface="Cambria" pitchFamily="34" charset="-120"/>
              </a:rPr>
              <a:t>Nothing new has been introduced. ∇C is an abbreviation for a list you already understand, item by item. It exists because writing out 13,002 fractions is not a thing a person can do, and because the whole list turns out to behave like a single arrow.</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741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THE UPDATE RULE</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11722"/>
                </a:solidFill>
                <a:latin typeface="Cambria" pitchFamily="34" charset="0"/>
                <a:ea typeface="Cambria" pitchFamily="34" charset="-122"/>
                <a:cs typeface="Cambria" pitchFamily="34" charset="-120"/>
              </a:rPr>
              <a:t>The line from the title slide, now readable</a:t>
            </a:r>
            <a:endParaRPr lang="en-US" sz="2900" dirty="0"/>
          </a:p>
        </p:txBody>
      </p:sp>
      <p:sp>
        <p:nvSpPr>
          <p:cNvPr id="5" name="Shape 3"/>
          <p:cNvSpPr/>
          <p:nvPr/>
        </p:nvSpPr>
        <p:spPr>
          <a:xfrm>
            <a:off x="2834640" y="1371600"/>
            <a:ext cx="7406640" cy="1188720"/>
          </a:xfrm>
          <a:prstGeom prst="roundRect">
            <a:avLst>
              <a:gd name="adj" fmla="val 4615"/>
            </a:avLst>
          </a:prstGeom>
          <a:solidFill>
            <a:srgbClr val="F6F8FC"/>
          </a:solidFill>
          <a:ln w="12700">
            <a:solidFill>
              <a:srgbClr val="C9D4E6"/>
            </a:solidFill>
            <a:prstDash val="solid"/>
          </a:ln>
        </p:spPr>
        <p:txBody>
          <a:bodyPr/>
          <a:lstStyle/>
          <a:p>
            <a:endParaRPr lang="en-US"/>
          </a:p>
        </p:txBody>
      </p:sp>
      <p:sp>
        <p:nvSpPr>
          <p:cNvPr id="6" name="Text 4"/>
          <p:cNvSpPr txBox="1"/>
          <p:nvPr/>
        </p:nvSpPr>
        <p:spPr>
          <a:xfrm>
            <a:off x="2971800" y="1371600"/>
            <a:ext cx="7132320" cy="1188720"/>
          </a:xfrm>
          <a:prstGeom prst="rect">
            <a:avLst/>
          </a:prstGeom>
          <a:noFill/>
          <a:ln/>
        </p:spPr>
        <p:txBody>
          <a:bodyPr wrap="square" lIns="0" tIns="0" rIns="0" bIns="0" rtlCol="0" anchor="ctr"/>
          <a:lstStyle/>
          <a:p>
            <a:pPr marL="0" indent="0" algn="ctr">
              <a:buNone/>
            </a:pPr>
            <a:r>
              <a:rPr lang="en-US" sz="4000" dirty="0">
                <a:solidFill>
                  <a:srgbClr val="111722"/>
                </a:solidFill>
                <a:latin typeface="Cambria Math" pitchFamily="34" charset="0"/>
                <a:ea typeface="Cambria Math" pitchFamily="34" charset="-122"/>
                <a:cs typeface="Cambria Math" pitchFamily="34" charset="-120"/>
              </a:rPr>
              <a:t>θ ← θ − η ∇C(θ)</a:t>
            </a:r>
            <a:endParaRPr lang="en-US" sz="4000" dirty="0"/>
          </a:p>
        </p:txBody>
      </p:sp>
      <p:sp>
        <p:nvSpPr>
          <p:cNvPr id="7" name="Text 5"/>
          <p:cNvSpPr txBox="1"/>
          <p:nvPr/>
        </p:nvSpPr>
        <p:spPr>
          <a:xfrm>
            <a:off x="1737360" y="2670048"/>
            <a:ext cx="9601200" cy="365760"/>
          </a:xfrm>
          <a:prstGeom prst="rect">
            <a:avLst/>
          </a:prstGeom>
          <a:noFill/>
          <a:ln/>
        </p:spPr>
        <p:txBody>
          <a:bodyPr wrap="square" lIns="0" tIns="0" rIns="0" bIns="0" rtlCol="0" anchor="ctr"/>
          <a:lstStyle/>
          <a:p>
            <a:pPr marL="0" indent="0" algn="ctr">
              <a:buNone/>
            </a:pPr>
            <a:r>
              <a:rPr lang="en-US" sz="1350" i="1" dirty="0">
                <a:solidFill>
                  <a:srgbClr val="2C5FA8"/>
                </a:solidFill>
                <a:latin typeface="Calibri" pitchFamily="34" charset="0"/>
                <a:ea typeface="Calibri" pitchFamily="34" charset="-122"/>
                <a:cs typeface="Calibri" pitchFamily="34" charset="-120"/>
              </a:rPr>
              <a:t>“Replace every knob setting with itself, minus a small multiple of the slope in that knob’s direction.”</a:t>
            </a:r>
            <a:endParaRPr lang="en-US" sz="1350" dirty="0"/>
          </a:p>
        </p:txBody>
      </p:sp>
      <p:sp>
        <p:nvSpPr>
          <p:cNvPr id="8" name="Shape 6"/>
          <p:cNvSpPr/>
          <p:nvPr/>
        </p:nvSpPr>
        <p:spPr>
          <a:xfrm>
            <a:off x="640080" y="3246120"/>
            <a:ext cx="2021373" cy="22860"/>
          </a:xfrm>
          <a:prstGeom prst="rect">
            <a:avLst/>
          </a:prstGeom>
          <a:solidFill>
            <a:srgbClr val="2C5FA8"/>
          </a:solidFill>
          <a:ln/>
        </p:spPr>
        <p:txBody>
          <a:bodyPr/>
          <a:lstStyle/>
          <a:p>
            <a:endParaRPr lang="en-US"/>
          </a:p>
        </p:txBody>
      </p:sp>
      <p:sp>
        <p:nvSpPr>
          <p:cNvPr id="9" name="Text 7"/>
          <p:cNvSpPr txBox="1"/>
          <p:nvPr/>
        </p:nvSpPr>
        <p:spPr>
          <a:xfrm>
            <a:off x="640080" y="3337560"/>
            <a:ext cx="2021373" cy="384048"/>
          </a:xfrm>
          <a:prstGeom prst="rect">
            <a:avLst/>
          </a:prstGeom>
          <a:noFill/>
          <a:ln/>
        </p:spPr>
        <p:txBody>
          <a:bodyPr wrap="square" lIns="0" tIns="0" rIns="0" bIns="0" rtlCol="0" anchor="ctr"/>
          <a:lstStyle/>
          <a:p>
            <a:pPr marL="0" indent="0" algn="ctr">
              <a:buNone/>
            </a:pPr>
            <a:r>
              <a:rPr lang="en-US" sz="2200" b="1" dirty="0">
                <a:solidFill>
                  <a:srgbClr val="2C5FA8"/>
                </a:solidFill>
                <a:latin typeface="Cambria Math" pitchFamily="34" charset="0"/>
                <a:ea typeface="Cambria Math" pitchFamily="34" charset="-122"/>
                <a:cs typeface="Cambria Math" pitchFamily="34" charset="-120"/>
              </a:rPr>
              <a:t>←</a:t>
            </a:r>
            <a:endParaRPr lang="en-US" sz="2200" dirty="0"/>
          </a:p>
        </p:txBody>
      </p:sp>
      <p:sp>
        <p:nvSpPr>
          <p:cNvPr id="10" name="Text 8"/>
          <p:cNvSpPr txBox="1"/>
          <p:nvPr/>
        </p:nvSpPr>
        <p:spPr>
          <a:xfrm>
            <a:off x="640080" y="3776472"/>
            <a:ext cx="2021373" cy="960120"/>
          </a:xfrm>
          <a:prstGeom prst="rect">
            <a:avLst/>
          </a:prstGeom>
          <a:noFill/>
          <a:ln/>
        </p:spPr>
        <p:txBody>
          <a:bodyPr wrap="square" lIns="0" tIns="0" rIns="0" bIns="0" rtlCol="0" anchor="ctr"/>
          <a:lstStyle/>
          <a:p>
            <a:pPr marL="0" indent="0" algn="ctr">
              <a:lnSpc>
                <a:spcPts val="1500"/>
              </a:lnSpc>
              <a:buNone/>
            </a:pPr>
            <a:r>
              <a:rPr lang="en-US" sz="1150" dirty="0">
                <a:solidFill>
                  <a:srgbClr val="5B6474"/>
                </a:solidFill>
                <a:latin typeface="Calibri" pitchFamily="34" charset="0"/>
                <a:ea typeface="Calibri" pitchFamily="34" charset="-122"/>
                <a:cs typeface="Calibri" pitchFamily="34" charset="-120"/>
              </a:rPr>
              <a:t>gets replaced by. An instruction, not a statement of equality.</a:t>
            </a:r>
            <a:endParaRPr lang="en-US" sz="1150" dirty="0"/>
          </a:p>
        </p:txBody>
      </p:sp>
      <p:sp>
        <p:nvSpPr>
          <p:cNvPr id="11" name="Shape 9"/>
          <p:cNvSpPr/>
          <p:nvPr/>
        </p:nvSpPr>
        <p:spPr>
          <a:xfrm>
            <a:off x="2862621" y="3246120"/>
            <a:ext cx="2021373" cy="22860"/>
          </a:xfrm>
          <a:prstGeom prst="rect">
            <a:avLst/>
          </a:prstGeom>
          <a:solidFill>
            <a:srgbClr val="C07414"/>
          </a:solidFill>
          <a:ln/>
        </p:spPr>
        <p:txBody>
          <a:bodyPr/>
          <a:lstStyle/>
          <a:p>
            <a:endParaRPr lang="en-US"/>
          </a:p>
        </p:txBody>
      </p:sp>
      <p:sp>
        <p:nvSpPr>
          <p:cNvPr id="12" name="Text 10"/>
          <p:cNvSpPr txBox="1"/>
          <p:nvPr/>
        </p:nvSpPr>
        <p:spPr>
          <a:xfrm>
            <a:off x="2862621" y="3337560"/>
            <a:ext cx="2021373" cy="384048"/>
          </a:xfrm>
          <a:prstGeom prst="rect">
            <a:avLst/>
          </a:prstGeom>
          <a:noFill/>
          <a:ln/>
        </p:spPr>
        <p:txBody>
          <a:bodyPr wrap="square" lIns="0" tIns="0" rIns="0" bIns="0" rtlCol="0" anchor="ctr"/>
          <a:lstStyle/>
          <a:p>
            <a:pPr marL="0" indent="0" algn="ctr">
              <a:buNone/>
            </a:pPr>
            <a:r>
              <a:rPr lang="en-US" sz="2200" b="1" dirty="0">
                <a:solidFill>
                  <a:srgbClr val="C07414"/>
                </a:solidFill>
                <a:latin typeface="Cambria Math" pitchFamily="34" charset="0"/>
                <a:ea typeface="Cambria Math" pitchFamily="34" charset="-122"/>
                <a:cs typeface="Cambria Math" pitchFamily="34" charset="-120"/>
              </a:rPr>
              <a:t>θ</a:t>
            </a:r>
            <a:endParaRPr lang="en-US" sz="2200" dirty="0"/>
          </a:p>
        </p:txBody>
      </p:sp>
      <p:sp>
        <p:nvSpPr>
          <p:cNvPr id="13" name="Text 11"/>
          <p:cNvSpPr txBox="1"/>
          <p:nvPr/>
        </p:nvSpPr>
        <p:spPr>
          <a:xfrm>
            <a:off x="2862621" y="3776472"/>
            <a:ext cx="2021373" cy="960120"/>
          </a:xfrm>
          <a:prstGeom prst="rect">
            <a:avLst/>
          </a:prstGeom>
          <a:noFill/>
          <a:ln/>
        </p:spPr>
        <p:txBody>
          <a:bodyPr wrap="square" lIns="0" tIns="0" rIns="0" bIns="0" rtlCol="0" anchor="ctr"/>
          <a:lstStyle/>
          <a:p>
            <a:pPr marL="0" indent="0" algn="ctr">
              <a:lnSpc>
                <a:spcPts val="1500"/>
              </a:lnSpc>
              <a:buNone/>
            </a:pPr>
            <a:r>
              <a:rPr lang="en-US" sz="1150" dirty="0">
                <a:solidFill>
                  <a:srgbClr val="5B6474"/>
                </a:solidFill>
                <a:latin typeface="Calibri" pitchFamily="34" charset="0"/>
                <a:ea typeface="Calibri" pitchFamily="34" charset="-122"/>
                <a:cs typeface="Calibri" pitchFamily="34" charset="-120"/>
              </a:rPr>
              <a:t>all the knobs, before and after. The old value on the right, the new on the left.</a:t>
            </a:r>
            <a:endParaRPr lang="en-US" sz="1150" dirty="0"/>
          </a:p>
        </p:txBody>
      </p:sp>
      <p:sp>
        <p:nvSpPr>
          <p:cNvPr id="14" name="Shape 12"/>
          <p:cNvSpPr/>
          <p:nvPr/>
        </p:nvSpPr>
        <p:spPr>
          <a:xfrm>
            <a:off x="5085161" y="3246120"/>
            <a:ext cx="2021373" cy="22860"/>
          </a:xfrm>
          <a:prstGeom prst="rect">
            <a:avLst/>
          </a:prstGeom>
          <a:solidFill>
            <a:srgbClr val="2C5FA8"/>
          </a:solidFill>
          <a:ln/>
        </p:spPr>
        <p:txBody>
          <a:bodyPr/>
          <a:lstStyle/>
          <a:p>
            <a:endParaRPr lang="en-US"/>
          </a:p>
        </p:txBody>
      </p:sp>
      <p:sp>
        <p:nvSpPr>
          <p:cNvPr id="15" name="Text 13"/>
          <p:cNvSpPr txBox="1"/>
          <p:nvPr/>
        </p:nvSpPr>
        <p:spPr>
          <a:xfrm>
            <a:off x="5085161" y="3337560"/>
            <a:ext cx="2021373" cy="384048"/>
          </a:xfrm>
          <a:prstGeom prst="rect">
            <a:avLst/>
          </a:prstGeom>
          <a:noFill/>
          <a:ln/>
        </p:spPr>
        <p:txBody>
          <a:bodyPr wrap="square" lIns="0" tIns="0" rIns="0" bIns="0" rtlCol="0" anchor="ctr"/>
          <a:lstStyle/>
          <a:p>
            <a:pPr marL="0" indent="0" algn="ctr">
              <a:buNone/>
            </a:pPr>
            <a:r>
              <a:rPr lang="en-US" sz="2200" b="1" dirty="0">
                <a:solidFill>
                  <a:srgbClr val="2C5FA8"/>
                </a:solidFill>
                <a:latin typeface="Cambria Math" pitchFamily="34" charset="0"/>
                <a:ea typeface="Cambria Math" pitchFamily="34" charset="-122"/>
                <a:cs typeface="Cambria Math" pitchFamily="34" charset="-120"/>
              </a:rPr>
              <a:t>−</a:t>
            </a:r>
            <a:endParaRPr lang="en-US" sz="2200" dirty="0"/>
          </a:p>
        </p:txBody>
      </p:sp>
      <p:sp>
        <p:nvSpPr>
          <p:cNvPr id="16" name="Text 14"/>
          <p:cNvSpPr txBox="1"/>
          <p:nvPr/>
        </p:nvSpPr>
        <p:spPr>
          <a:xfrm>
            <a:off x="5085161" y="3776472"/>
            <a:ext cx="2021373" cy="960120"/>
          </a:xfrm>
          <a:prstGeom prst="rect">
            <a:avLst/>
          </a:prstGeom>
          <a:noFill/>
          <a:ln/>
        </p:spPr>
        <p:txBody>
          <a:bodyPr wrap="square" lIns="0" tIns="0" rIns="0" bIns="0" rtlCol="0" anchor="ctr"/>
          <a:lstStyle/>
          <a:p>
            <a:pPr marL="0" indent="0" algn="ctr">
              <a:lnSpc>
                <a:spcPts val="1500"/>
              </a:lnSpc>
              <a:buNone/>
            </a:pPr>
            <a:r>
              <a:rPr lang="en-US" sz="1150" dirty="0">
                <a:solidFill>
                  <a:srgbClr val="5B6474"/>
                </a:solidFill>
                <a:latin typeface="Calibri" pitchFamily="34" charset="0"/>
                <a:ea typeface="Calibri" pitchFamily="34" charset="-122"/>
                <a:cs typeface="Calibri" pitchFamily="34" charset="-120"/>
              </a:rPr>
              <a:t>the minus sign: go the opposite way to steepest increase.</a:t>
            </a:r>
            <a:endParaRPr lang="en-US" sz="1150" dirty="0"/>
          </a:p>
        </p:txBody>
      </p:sp>
      <p:sp>
        <p:nvSpPr>
          <p:cNvPr id="17" name="Shape 15"/>
          <p:cNvSpPr/>
          <p:nvPr/>
        </p:nvSpPr>
        <p:spPr>
          <a:xfrm>
            <a:off x="7307702" y="3246120"/>
            <a:ext cx="2021373" cy="22860"/>
          </a:xfrm>
          <a:prstGeom prst="rect">
            <a:avLst/>
          </a:prstGeom>
          <a:solidFill>
            <a:srgbClr val="C07414"/>
          </a:solidFill>
          <a:ln/>
        </p:spPr>
        <p:txBody>
          <a:bodyPr/>
          <a:lstStyle/>
          <a:p>
            <a:endParaRPr lang="en-US"/>
          </a:p>
        </p:txBody>
      </p:sp>
      <p:sp>
        <p:nvSpPr>
          <p:cNvPr id="18" name="Text 16"/>
          <p:cNvSpPr txBox="1"/>
          <p:nvPr/>
        </p:nvSpPr>
        <p:spPr>
          <a:xfrm>
            <a:off x="7307702" y="3337560"/>
            <a:ext cx="2021373" cy="384048"/>
          </a:xfrm>
          <a:prstGeom prst="rect">
            <a:avLst/>
          </a:prstGeom>
          <a:noFill/>
          <a:ln/>
        </p:spPr>
        <p:txBody>
          <a:bodyPr wrap="square" lIns="0" tIns="0" rIns="0" bIns="0" rtlCol="0" anchor="ctr"/>
          <a:lstStyle/>
          <a:p>
            <a:pPr marL="0" indent="0" algn="ctr">
              <a:buNone/>
            </a:pPr>
            <a:r>
              <a:rPr lang="en-US" sz="2200" b="1" dirty="0">
                <a:solidFill>
                  <a:srgbClr val="C07414"/>
                </a:solidFill>
                <a:latin typeface="Cambria Math" pitchFamily="34" charset="0"/>
                <a:ea typeface="Cambria Math" pitchFamily="34" charset="-122"/>
                <a:cs typeface="Cambria Math" pitchFamily="34" charset="-120"/>
              </a:rPr>
              <a:t>η</a:t>
            </a:r>
            <a:endParaRPr lang="en-US" sz="2200" dirty="0"/>
          </a:p>
        </p:txBody>
      </p:sp>
      <p:sp>
        <p:nvSpPr>
          <p:cNvPr id="19" name="Text 17"/>
          <p:cNvSpPr txBox="1"/>
          <p:nvPr/>
        </p:nvSpPr>
        <p:spPr>
          <a:xfrm>
            <a:off x="7307702" y="3776472"/>
            <a:ext cx="2021373" cy="960120"/>
          </a:xfrm>
          <a:prstGeom prst="rect">
            <a:avLst/>
          </a:prstGeom>
          <a:noFill/>
          <a:ln/>
        </p:spPr>
        <p:txBody>
          <a:bodyPr wrap="square" lIns="0" tIns="0" rIns="0" bIns="0" rtlCol="0" anchor="ctr"/>
          <a:lstStyle/>
          <a:p>
            <a:pPr marL="0" indent="0" algn="ctr">
              <a:lnSpc>
                <a:spcPts val="1500"/>
              </a:lnSpc>
              <a:buNone/>
            </a:pPr>
            <a:r>
              <a:rPr lang="en-US" sz="1150" dirty="0">
                <a:solidFill>
                  <a:srgbClr val="5B6474"/>
                </a:solidFill>
                <a:latin typeface="Calibri" pitchFamily="34" charset="0"/>
                <a:ea typeface="Calibri" pitchFamily="34" charset="-122"/>
                <a:cs typeface="Calibri" pitchFamily="34" charset="-120"/>
              </a:rPr>
              <a:t>eta, the learning rate. How big a step. You choose it; typically 0.001 to 0.1.</a:t>
            </a:r>
            <a:endParaRPr lang="en-US" sz="1150" dirty="0"/>
          </a:p>
        </p:txBody>
      </p:sp>
      <p:sp>
        <p:nvSpPr>
          <p:cNvPr id="20" name="Shape 18"/>
          <p:cNvSpPr/>
          <p:nvPr/>
        </p:nvSpPr>
        <p:spPr>
          <a:xfrm>
            <a:off x="9530243" y="3246120"/>
            <a:ext cx="2021373" cy="22860"/>
          </a:xfrm>
          <a:prstGeom prst="rect">
            <a:avLst/>
          </a:prstGeom>
          <a:solidFill>
            <a:srgbClr val="2C5FA8"/>
          </a:solidFill>
          <a:ln/>
        </p:spPr>
        <p:txBody>
          <a:bodyPr/>
          <a:lstStyle/>
          <a:p>
            <a:endParaRPr lang="en-US"/>
          </a:p>
        </p:txBody>
      </p:sp>
      <p:sp>
        <p:nvSpPr>
          <p:cNvPr id="21" name="Text 19"/>
          <p:cNvSpPr txBox="1"/>
          <p:nvPr/>
        </p:nvSpPr>
        <p:spPr>
          <a:xfrm>
            <a:off x="9530243" y="3337560"/>
            <a:ext cx="2021373" cy="384048"/>
          </a:xfrm>
          <a:prstGeom prst="rect">
            <a:avLst/>
          </a:prstGeom>
          <a:noFill/>
          <a:ln/>
        </p:spPr>
        <p:txBody>
          <a:bodyPr wrap="square" lIns="0" tIns="0" rIns="0" bIns="0" rtlCol="0" anchor="ctr"/>
          <a:lstStyle/>
          <a:p>
            <a:pPr marL="0" indent="0" algn="ctr">
              <a:buNone/>
            </a:pPr>
            <a:r>
              <a:rPr lang="en-US" sz="2200" b="1" dirty="0">
                <a:solidFill>
                  <a:srgbClr val="2C5FA8"/>
                </a:solidFill>
                <a:latin typeface="Cambria Math" pitchFamily="34" charset="0"/>
                <a:ea typeface="Cambria Math" pitchFamily="34" charset="-122"/>
                <a:cs typeface="Cambria Math" pitchFamily="34" charset="-120"/>
              </a:rPr>
              <a:t>∇C(θ)</a:t>
            </a:r>
            <a:endParaRPr lang="en-US" sz="2200" dirty="0"/>
          </a:p>
        </p:txBody>
      </p:sp>
      <p:sp>
        <p:nvSpPr>
          <p:cNvPr id="22" name="Text 20"/>
          <p:cNvSpPr txBox="1"/>
          <p:nvPr/>
        </p:nvSpPr>
        <p:spPr>
          <a:xfrm>
            <a:off x="9530243" y="3776472"/>
            <a:ext cx="2021373" cy="960120"/>
          </a:xfrm>
          <a:prstGeom prst="rect">
            <a:avLst/>
          </a:prstGeom>
          <a:noFill/>
          <a:ln/>
        </p:spPr>
        <p:txBody>
          <a:bodyPr wrap="square" lIns="0" tIns="0" rIns="0" bIns="0" rtlCol="0" anchor="ctr"/>
          <a:lstStyle/>
          <a:p>
            <a:pPr marL="0" indent="0" algn="ctr">
              <a:lnSpc>
                <a:spcPts val="1500"/>
              </a:lnSpc>
              <a:buNone/>
            </a:pPr>
            <a:r>
              <a:rPr lang="en-US" sz="1150" dirty="0">
                <a:solidFill>
                  <a:srgbClr val="5B6474"/>
                </a:solidFill>
                <a:latin typeface="Calibri" pitchFamily="34" charset="0"/>
                <a:ea typeface="Calibri" pitchFamily="34" charset="-122"/>
                <a:cs typeface="Calibri" pitchFamily="34" charset="-120"/>
              </a:rPr>
              <a:t>the list of slopes, computed at the knobs’ current setting.</a:t>
            </a:r>
            <a:endParaRPr lang="en-US" sz="1150" dirty="0"/>
          </a:p>
        </p:txBody>
      </p:sp>
      <p:sp>
        <p:nvSpPr>
          <p:cNvPr id="23" name="Shape 21"/>
          <p:cNvSpPr/>
          <p:nvPr/>
        </p:nvSpPr>
        <p:spPr>
          <a:xfrm>
            <a:off x="640080" y="5029200"/>
            <a:ext cx="5349240" cy="1143000"/>
          </a:xfrm>
          <a:prstGeom prst="roundRect">
            <a:avLst>
              <a:gd name="adj" fmla="val 6400"/>
            </a:avLst>
          </a:prstGeom>
          <a:solidFill>
            <a:srgbClr val="FAF0DE"/>
          </a:solidFill>
          <a:ln w="12700">
            <a:solidFill>
              <a:srgbClr val="FAF0DE"/>
            </a:solidFill>
            <a:prstDash val="solid"/>
          </a:ln>
        </p:spPr>
        <p:txBody>
          <a:bodyPr/>
          <a:lstStyle/>
          <a:p>
            <a:endParaRPr lang="en-US"/>
          </a:p>
        </p:txBody>
      </p:sp>
      <p:sp>
        <p:nvSpPr>
          <p:cNvPr id="24" name="Text 22"/>
          <p:cNvSpPr txBox="1"/>
          <p:nvPr/>
        </p:nvSpPr>
        <p:spPr>
          <a:xfrm>
            <a:off x="914400" y="5120640"/>
            <a:ext cx="4800600" cy="274320"/>
          </a:xfrm>
          <a:prstGeom prst="rect">
            <a:avLst/>
          </a:prstGeom>
          <a:noFill/>
          <a:ln/>
        </p:spPr>
        <p:txBody>
          <a:bodyPr wrap="square" lIns="0" tIns="0" rIns="0" bIns="0" rtlCol="0" anchor="ctr"/>
          <a:lstStyle/>
          <a:p>
            <a:pPr marL="0" indent="0">
              <a:buNone/>
            </a:pPr>
            <a:r>
              <a:rPr lang="en-US" sz="1150" b="1" dirty="0">
                <a:solidFill>
                  <a:srgbClr val="C07414"/>
                </a:solidFill>
                <a:latin typeface="Calibri" pitchFamily="34" charset="0"/>
                <a:ea typeface="Calibri" pitchFamily="34" charset="-122"/>
                <a:cs typeface="Calibri" pitchFamily="34" charset="-120"/>
              </a:rPr>
              <a:t>One knob at a time, it says:</a:t>
            </a:r>
            <a:endParaRPr lang="en-US" sz="1150" dirty="0"/>
          </a:p>
        </p:txBody>
      </p:sp>
      <p:sp>
        <p:nvSpPr>
          <p:cNvPr id="25" name="Text 23"/>
          <p:cNvSpPr txBox="1"/>
          <p:nvPr/>
        </p:nvSpPr>
        <p:spPr>
          <a:xfrm>
            <a:off x="914400" y="5431536"/>
            <a:ext cx="4800600" cy="548640"/>
          </a:xfrm>
          <a:prstGeom prst="rect">
            <a:avLst/>
          </a:prstGeom>
          <a:noFill/>
          <a:ln/>
        </p:spPr>
        <p:txBody>
          <a:bodyPr wrap="square" lIns="0" tIns="0" rIns="0" bIns="0" rtlCol="0" anchor="ctr"/>
          <a:lstStyle/>
          <a:p>
            <a:pPr marL="0" indent="0" algn="ctr">
              <a:buNone/>
            </a:pPr>
            <a:r>
              <a:rPr lang="en-US" sz="2200" dirty="0">
                <a:solidFill>
                  <a:srgbClr val="111722"/>
                </a:solidFill>
                <a:latin typeface="Cambria Math" pitchFamily="34" charset="0"/>
                <a:ea typeface="Cambria Math" pitchFamily="34" charset="-122"/>
                <a:cs typeface="Cambria Math" pitchFamily="34" charset="-120"/>
              </a:rPr>
              <a:t>wⱼ ← wⱼ − η ∂C/∂wⱼ</a:t>
            </a:r>
            <a:endParaRPr lang="en-US" sz="2200" dirty="0"/>
          </a:p>
        </p:txBody>
      </p:sp>
      <p:sp>
        <p:nvSpPr>
          <p:cNvPr id="26" name="Shape 24"/>
          <p:cNvSpPr/>
          <p:nvPr/>
        </p:nvSpPr>
        <p:spPr>
          <a:xfrm>
            <a:off x="6217920" y="5029200"/>
            <a:ext cx="5312664" cy="1143000"/>
          </a:xfrm>
          <a:prstGeom prst="roundRect">
            <a:avLst>
              <a:gd name="adj" fmla="val 6400"/>
            </a:avLst>
          </a:prstGeom>
          <a:solidFill>
            <a:srgbClr val="111722"/>
          </a:solidFill>
          <a:ln w="12700">
            <a:solidFill>
              <a:srgbClr val="111722"/>
            </a:solidFill>
            <a:prstDash val="solid"/>
          </a:ln>
        </p:spPr>
        <p:txBody>
          <a:bodyPr/>
          <a:lstStyle/>
          <a:p>
            <a:endParaRPr lang="en-US"/>
          </a:p>
        </p:txBody>
      </p:sp>
      <p:sp>
        <p:nvSpPr>
          <p:cNvPr id="27" name="Text 25"/>
          <p:cNvSpPr txBox="1"/>
          <p:nvPr/>
        </p:nvSpPr>
        <p:spPr>
          <a:xfrm>
            <a:off x="6492240" y="5029200"/>
            <a:ext cx="4946904" cy="1143000"/>
          </a:xfrm>
          <a:prstGeom prst="rect">
            <a:avLst/>
          </a:prstGeom>
          <a:noFill/>
          <a:ln/>
        </p:spPr>
        <p:txBody>
          <a:bodyPr wrap="square" lIns="0" tIns="0" rIns="0" bIns="0" rtlCol="0" anchor="ctr"/>
          <a:lstStyle/>
          <a:p>
            <a:pPr marL="0" indent="0">
              <a:lnSpc>
                <a:spcPts val="2000"/>
              </a:lnSpc>
              <a:buNone/>
            </a:pPr>
            <a:r>
              <a:rPr lang="en-US" sz="1500" dirty="0">
                <a:solidFill>
                  <a:srgbClr val="F2F4F8"/>
                </a:solidFill>
                <a:latin typeface="Cambria" pitchFamily="34" charset="0"/>
                <a:ea typeface="Cambria" pitchFamily="34" charset="-122"/>
                <a:cs typeface="Cambria" pitchFamily="34" charset="-120"/>
              </a:rPr>
              <a:t>And that is the entire procedure. There is no further step. Repeat it a few million times.</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741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THE LEARNING RATE</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11722"/>
                </a:solidFill>
                <a:latin typeface="Cambria" pitchFamily="34" charset="0"/>
                <a:ea typeface="Cambria" pitchFamily="34" charset="-122"/>
                <a:cs typeface="Cambria" pitchFamily="34" charset="-120"/>
              </a:rPr>
              <a:t>Choosing η — the one number nobody can derive for you</a:t>
            </a:r>
            <a:endParaRPr lang="en-US" sz="2900" dirty="0"/>
          </a:p>
        </p:txBody>
      </p:sp>
      <p:sp>
        <p:nvSpPr>
          <p:cNvPr id="5" name="Shape 3"/>
          <p:cNvSpPr/>
          <p:nvPr/>
        </p:nvSpPr>
        <p:spPr>
          <a:xfrm>
            <a:off x="640080" y="1371600"/>
            <a:ext cx="3454298" cy="3246120"/>
          </a:xfrm>
          <a:prstGeom prst="roundRect">
            <a:avLst>
              <a:gd name="adj" fmla="val 2254"/>
            </a:avLst>
          </a:prstGeom>
          <a:solidFill>
            <a:srgbClr val="E7EEF8"/>
          </a:solidFill>
          <a:ln w="12700">
            <a:solidFill>
              <a:srgbClr val="E7EEF8"/>
            </a:solidFill>
            <a:prstDash val="solid"/>
          </a:ln>
        </p:spPr>
        <p:txBody>
          <a:bodyPr/>
          <a:lstStyle/>
          <a:p>
            <a:endParaRPr lang="en-US"/>
          </a:p>
        </p:txBody>
      </p:sp>
      <p:sp>
        <p:nvSpPr>
          <p:cNvPr id="6" name="Text 4"/>
          <p:cNvSpPr txBox="1"/>
          <p:nvPr/>
        </p:nvSpPr>
        <p:spPr>
          <a:xfrm>
            <a:off x="896112" y="1554480"/>
            <a:ext cx="2942234" cy="365760"/>
          </a:xfrm>
          <a:prstGeom prst="rect">
            <a:avLst/>
          </a:prstGeom>
          <a:noFill/>
          <a:ln/>
        </p:spPr>
        <p:txBody>
          <a:bodyPr wrap="square" lIns="0" tIns="0" rIns="0" bIns="0" rtlCol="0" anchor="ctr"/>
          <a:lstStyle/>
          <a:p>
            <a:pPr marL="0" indent="0" algn="ctr">
              <a:buNone/>
            </a:pPr>
            <a:r>
              <a:rPr lang="en-US" sz="1800" b="1" dirty="0">
                <a:solidFill>
                  <a:srgbClr val="111722"/>
                </a:solidFill>
                <a:latin typeface="Cambria Math" pitchFamily="34" charset="0"/>
                <a:ea typeface="Cambria Math" pitchFamily="34" charset="-122"/>
                <a:cs typeface="Cambria Math" pitchFamily="34" charset="-120"/>
              </a:rPr>
              <a:t>η too small</a:t>
            </a:r>
            <a:endParaRPr lang="en-US" sz="1800" dirty="0"/>
          </a:p>
        </p:txBody>
      </p:sp>
      <p:sp>
        <p:nvSpPr>
          <p:cNvPr id="7" name="Shape 5"/>
          <p:cNvSpPr/>
          <p:nvPr/>
        </p:nvSpPr>
        <p:spPr>
          <a:xfrm>
            <a:off x="985266" y="2036826"/>
            <a:ext cx="41148" cy="41148"/>
          </a:xfrm>
          <a:prstGeom prst="ellipse">
            <a:avLst/>
          </a:prstGeom>
          <a:solidFill>
            <a:srgbClr val="A9B6C8"/>
          </a:solidFill>
          <a:ln/>
        </p:spPr>
        <p:txBody>
          <a:bodyPr/>
          <a:lstStyle/>
          <a:p>
            <a:endParaRPr lang="en-US"/>
          </a:p>
        </p:txBody>
      </p:sp>
      <p:sp>
        <p:nvSpPr>
          <p:cNvPr id="8" name="Shape 6"/>
          <p:cNvSpPr/>
          <p:nvPr/>
        </p:nvSpPr>
        <p:spPr>
          <a:xfrm>
            <a:off x="1047147" y="2146497"/>
            <a:ext cx="41148" cy="41148"/>
          </a:xfrm>
          <a:prstGeom prst="ellipse">
            <a:avLst/>
          </a:prstGeom>
          <a:solidFill>
            <a:srgbClr val="A9B6C8"/>
          </a:solidFill>
          <a:ln/>
        </p:spPr>
        <p:txBody>
          <a:bodyPr/>
          <a:lstStyle/>
          <a:p>
            <a:endParaRPr lang="en-US"/>
          </a:p>
        </p:txBody>
      </p:sp>
      <p:sp>
        <p:nvSpPr>
          <p:cNvPr id="9" name="Shape 7"/>
          <p:cNvSpPr/>
          <p:nvPr/>
        </p:nvSpPr>
        <p:spPr>
          <a:xfrm>
            <a:off x="1109029" y="2251068"/>
            <a:ext cx="41148" cy="41148"/>
          </a:xfrm>
          <a:prstGeom prst="ellipse">
            <a:avLst/>
          </a:prstGeom>
          <a:solidFill>
            <a:srgbClr val="A9B6C8"/>
          </a:solidFill>
          <a:ln/>
        </p:spPr>
        <p:txBody>
          <a:bodyPr/>
          <a:lstStyle/>
          <a:p>
            <a:endParaRPr lang="en-US"/>
          </a:p>
        </p:txBody>
      </p:sp>
      <p:sp>
        <p:nvSpPr>
          <p:cNvPr id="10" name="Shape 8"/>
          <p:cNvSpPr/>
          <p:nvPr/>
        </p:nvSpPr>
        <p:spPr>
          <a:xfrm>
            <a:off x="1170910" y="2350537"/>
            <a:ext cx="41148" cy="41148"/>
          </a:xfrm>
          <a:prstGeom prst="ellipse">
            <a:avLst/>
          </a:prstGeom>
          <a:solidFill>
            <a:srgbClr val="A9B6C8"/>
          </a:solidFill>
          <a:ln/>
        </p:spPr>
        <p:txBody>
          <a:bodyPr/>
          <a:lstStyle/>
          <a:p>
            <a:endParaRPr lang="en-US"/>
          </a:p>
        </p:txBody>
      </p:sp>
      <p:sp>
        <p:nvSpPr>
          <p:cNvPr id="11" name="Shape 9"/>
          <p:cNvSpPr/>
          <p:nvPr/>
        </p:nvSpPr>
        <p:spPr>
          <a:xfrm>
            <a:off x="1232791" y="2444905"/>
            <a:ext cx="41148" cy="41148"/>
          </a:xfrm>
          <a:prstGeom prst="ellipse">
            <a:avLst/>
          </a:prstGeom>
          <a:solidFill>
            <a:srgbClr val="A9B6C8"/>
          </a:solidFill>
          <a:ln/>
        </p:spPr>
        <p:txBody>
          <a:bodyPr/>
          <a:lstStyle/>
          <a:p>
            <a:endParaRPr lang="en-US"/>
          </a:p>
        </p:txBody>
      </p:sp>
      <p:sp>
        <p:nvSpPr>
          <p:cNvPr id="12" name="Shape 10"/>
          <p:cNvSpPr/>
          <p:nvPr/>
        </p:nvSpPr>
        <p:spPr>
          <a:xfrm>
            <a:off x="1294673" y="2534173"/>
            <a:ext cx="41148" cy="41148"/>
          </a:xfrm>
          <a:prstGeom prst="ellipse">
            <a:avLst/>
          </a:prstGeom>
          <a:solidFill>
            <a:srgbClr val="A9B6C8"/>
          </a:solidFill>
          <a:ln/>
        </p:spPr>
        <p:txBody>
          <a:bodyPr/>
          <a:lstStyle/>
          <a:p>
            <a:endParaRPr lang="en-US"/>
          </a:p>
        </p:txBody>
      </p:sp>
      <p:sp>
        <p:nvSpPr>
          <p:cNvPr id="13" name="Shape 11"/>
          <p:cNvSpPr/>
          <p:nvPr/>
        </p:nvSpPr>
        <p:spPr>
          <a:xfrm>
            <a:off x="1356554" y="2618339"/>
            <a:ext cx="41148" cy="41148"/>
          </a:xfrm>
          <a:prstGeom prst="ellipse">
            <a:avLst/>
          </a:prstGeom>
          <a:solidFill>
            <a:srgbClr val="A9B6C8"/>
          </a:solidFill>
          <a:ln/>
        </p:spPr>
        <p:txBody>
          <a:bodyPr/>
          <a:lstStyle/>
          <a:p>
            <a:endParaRPr lang="en-US"/>
          </a:p>
        </p:txBody>
      </p:sp>
      <p:sp>
        <p:nvSpPr>
          <p:cNvPr id="14" name="Shape 12"/>
          <p:cNvSpPr/>
          <p:nvPr/>
        </p:nvSpPr>
        <p:spPr>
          <a:xfrm>
            <a:off x="1418435" y="2697404"/>
            <a:ext cx="41148" cy="41148"/>
          </a:xfrm>
          <a:prstGeom prst="ellipse">
            <a:avLst/>
          </a:prstGeom>
          <a:solidFill>
            <a:srgbClr val="A9B6C8"/>
          </a:solidFill>
          <a:ln/>
        </p:spPr>
        <p:txBody>
          <a:bodyPr/>
          <a:lstStyle/>
          <a:p>
            <a:endParaRPr lang="en-US"/>
          </a:p>
        </p:txBody>
      </p:sp>
      <p:sp>
        <p:nvSpPr>
          <p:cNvPr id="15" name="Shape 13"/>
          <p:cNvSpPr/>
          <p:nvPr/>
        </p:nvSpPr>
        <p:spPr>
          <a:xfrm>
            <a:off x="1480317" y="2771369"/>
            <a:ext cx="41148" cy="41148"/>
          </a:xfrm>
          <a:prstGeom prst="ellipse">
            <a:avLst/>
          </a:prstGeom>
          <a:solidFill>
            <a:srgbClr val="A9B6C8"/>
          </a:solidFill>
          <a:ln/>
        </p:spPr>
        <p:txBody>
          <a:bodyPr/>
          <a:lstStyle/>
          <a:p>
            <a:endParaRPr lang="en-US"/>
          </a:p>
        </p:txBody>
      </p:sp>
      <p:sp>
        <p:nvSpPr>
          <p:cNvPr id="16" name="Shape 14"/>
          <p:cNvSpPr/>
          <p:nvPr/>
        </p:nvSpPr>
        <p:spPr>
          <a:xfrm>
            <a:off x="1542198" y="2840232"/>
            <a:ext cx="41148" cy="41148"/>
          </a:xfrm>
          <a:prstGeom prst="ellipse">
            <a:avLst/>
          </a:prstGeom>
          <a:solidFill>
            <a:srgbClr val="A9B6C8"/>
          </a:solidFill>
          <a:ln/>
        </p:spPr>
        <p:txBody>
          <a:bodyPr/>
          <a:lstStyle/>
          <a:p>
            <a:endParaRPr lang="en-US"/>
          </a:p>
        </p:txBody>
      </p:sp>
      <p:sp>
        <p:nvSpPr>
          <p:cNvPr id="17" name="Shape 15"/>
          <p:cNvSpPr/>
          <p:nvPr/>
        </p:nvSpPr>
        <p:spPr>
          <a:xfrm>
            <a:off x="1604079" y="2903995"/>
            <a:ext cx="41148" cy="41148"/>
          </a:xfrm>
          <a:prstGeom prst="ellipse">
            <a:avLst/>
          </a:prstGeom>
          <a:solidFill>
            <a:srgbClr val="A9B6C8"/>
          </a:solidFill>
          <a:ln/>
        </p:spPr>
        <p:txBody>
          <a:bodyPr/>
          <a:lstStyle/>
          <a:p>
            <a:endParaRPr lang="en-US"/>
          </a:p>
        </p:txBody>
      </p:sp>
      <p:sp>
        <p:nvSpPr>
          <p:cNvPr id="18" name="Shape 16"/>
          <p:cNvSpPr/>
          <p:nvPr/>
        </p:nvSpPr>
        <p:spPr>
          <a:xfrm>
            <a:off x="1665961" y="2962656"/>
            <a:ext cx="41148" cy="41148"/>
          </a:xfrm>
          <a:prstGeom prst="ellipse">
            <a:avLst/>
          </a:prstGeom>
          <a:solidFill>
            <a:srgbClr val="A9B6C8"/>
          </a:solidFill>
          <a:ln/>
        </p:spPr>
        <p:txBody>
          <a:bodyPr/>
          <a:lstStyle/>
          <a:p>
            <a:endParaRPr lang="en-US"/>
          </a:p>
        </p:txBody>
      </p:sp>
      <p:sp>
        <p:nvSpPr>
          <p:cNvPr id="19" name="Shape 17"/>
          <p:cNvSpPr/>
          <p:nvPr/>
        </p:nvSpPr>
        <p:spPr>
          <a:xfrm>
            <a:off x="1727842" y="3016216"/>
            <a:ext cx="41148" cy="41148"/>
          </a:xfrm>
          <a:prstGeom prst="ellipse">
            <a:avLst/>
          </a:prstGeom>
          <a:solidFill>
            <a:srgbClr val="A9B6C8"/>
          </a:solidFill>
          <a:ln/>
        </p:spPr>
        <p:txBody>
          <a:bodyPr/>
          <a:lstStyle/>
          <a:p>
            <a:endParaRPr lang="en-US"/>
          </a:p>
        </p:txBody>
      </p:sp>
      <p:sp>
        <p:nvSpPr>
          <p:cNvPr id="20" name="Shape 18"/>
          <p:cNvSpPr/>
          <p:nvPr/>
        </p:nvSpPr>
        <p:spPr>
          <a:xfrm>
            <a:off x="1789723" y="3064676"/>
            <a:ext cx="41148" cy="41148"/>
          </a:xfrm>
          <a:prstGeom prst="ellipse">
            <a:avLst/>
          </a:prstGeom>
          <a:solidFill>
            <a:srgbClr val="A9B6C8"/>
          </a:solidFill>
          <a:ln/>
        </p:spPr>
        <p:txBody>
          <a:bodyPr/>
          <a:lstStyle/>
          <a:p>
            <a:endParaRPr lang="en-US"/>
          </a:p>
        </p:txBody>
      </p:sp>
      <p:sp>
        <p:nvSpPr>
          <p:cNvPr id="21" name="Shape 19"/>
          <p:cNvSpPr/>
          <p:nvPr/>
        </p:nvSpPr>
        <p:spPr>
          <a:xfrm>
            <a:off x="1851605" y="3108034"/>
            <a:ext cx="41148" cy="41148"/>
          </a:xfrm>
          <a:prstGeom prst="ellipse">
            <a:avLst/>
          </a:prstGeom>
          <a:solidFill>
            <a:srgbClr val="A9B6C8"/>
          </a:solidFill>
          <a:ln/>
        </p:spPr>
        <p:txBody>
          <a:bodyPr/>
          <a:lstStyle/>
          <a:p>
            <a:endParaRPr lang="en-US"/>
          </a:p>
        </p:txBody>
      </p:sp>
      <p:sp>
        <p:nvSpPr>
          <p:cNvPr id="22" name="Shape 20"/>
          <p:cNvSpPr/>
          <p:nvPr/>
        </p:nvSpPr>
        <p:spPr>
          <a:xfrm>
            <a:off x="1913486" y="3146292"/>
            <a:ext cx="41148" cy="41148"/>
          </a:xfrm>
          <a:prstGeom prst="ellipse">
            <a:avLst/>
          </a:prstGeom>
          <a:solidFill>
            <a:srgbClr val="A9B6C8"/>
          </a:solidFill>
          <a:ln/>
        </p:spPr>
        <p:txBody>
          <a:bodyPr/>
          <a:lstStyle/>
          <a:p>
            <a:endParaRPr lang="en-US"/>
          </a:p>
        </p:txBody>
      </p:sp>
      <p:sp>
        <p:nvSpPr>
          <p:cNvPr id="23" name="Shape 21"/>
          <p:cNvSpPr/>
          <p:nvPr/>
        </p:nvSpPr>
        <p:spPr>
          <a:xfrm>
            <a:off x="1975367" y="3179448"/>
            <a:ext cx="41148" cy="41148"/>
          </a:xfrm>
          <a:prstGeom prst="ellipse">
            <a:avLst/>
          </a:prstGeom>
          <a:solidFill>
            <a:srgbClr val="A9B6C8"/>
          </a:solidFill>
          <a:ln/>
        </p:spPr>
        <p:txBody>
          <a:bodyPr/>
          <a:lstStyle/>
          <a:p>
            <a:endParaRPr lang="en-US"/>
          </a:p>
        </p:txBody>
      </p:sp>
      <p:sp>
        <p:nvSpPr>
          <p:cNvPr id="24" name="Shape 22"/>
          <p:cNvSpPr/>
          <p:nvPr/>
        </p:nvSpPr>
        <p:spPr>
          <a:xfrm>
            <a:off x="2037249" y="3207504"/>
            <a:ext cx="41148" cy="41148"/>
          </a:xfrm>
          <a:prstGeom prst="ellipse">
            <a:avLst/>
          </a:prstGeom>
          <a:solidFill>
            <a:srgbClr val="A9B6C8"/>
          </a:solidFill>
          <a:ln/>
        </p:spPr>
        <p:txBody>
          <a:bodyPr/>
          <a:lstStyle/>
          <a:p>
            <a:endParaRPr lang="en-US"/>
          </a:p>
        </p:txBody>
      </p:sp>
      <p:sp>
        <p:nvSpPr>
          <p:cNvPr id="25" name="Shape 23"/>
          <p:cNvSpPr/>
          <p:nvPr/>
        </p:nvSpPr>
        <p:spPr>
          <a:xfrm>
            <a:off x="2099130" y="3230458"/>
            <a:ext cx="41148" cy="41148"/>
          </a:xfrm>
          <a:prstGeom prst="ellipse">
            <a:avLst/>
          </a:prstGeom>
          <a:solidFill>
            <a:srgbClr val="A9B6C8"/>
          </a:solidFill>
          <a:ln/>
        </p:spPr>
        <p:txBody>
          <a:bodyPr/>
          <a:lstStyle/>
          <a:p>
            <a:endParaRPr lang="en-US"/>
          </a:p>
        </p:txBody>
      </p:sp>
      <p:sp>
        <p:nvSpPr>
          <p:cNvPr id="26" name="Shape 24"/>
          <p:cNvSpPr/>
          <p:nvPr/>
        </p:nvSpPr>
        <p:spPr>
          <a:xfrm>
            <a:off x="2161011" y="3248312"/>
            <a:ext cx="41148" cy="41148"/>
          </a:xfrm>
          <a:prstGeom prst="ellipse">
            <a:avLst/>
          </a:prstGeom>
          <a:solidFill>
            <a:srgbClr val="A9B6C8"/>
          </a:solidFill>
          <a:ln/>
        </p:spPr>
        <p:txBody>
          <a:bodyPr/>
          <a:lstStyle/>
          <a:p>
            <a:endParaRPr lang="en-US"/>
          </a:p>
        </p:txBody>
      </p:sp>
      <p:sp>
        <p:nvSpPr>
          <p:cNvPr id="27" name="Shape 25"/>
          <p:cNvSpPr/>
          <p:nvPr/>
        </p:nvSpPr>
        <p:spPr>
          <a:xfrm>
            <a:off x="2222893" y="3261064"/>
            <a:ext cx="41148" cy="41148"/>
          </a:xfrm>
          <a:prstGeom prst="ellipse">
            <a:avLst/>
          </a:prstGeom>
          <a:solidFill>
            <a:srgbClr val="A9B6C8"/>
          </a:solidFill>
          <a:ln/>
        </p:spPr>
        <p:txBody>
          <a:bodyPr/>
          <a:lstStyle/>
          <a:p>
            <a:endParaRPr lang="en-US"/>
          </a:p>
        </p:txBody>
      </p:sp>
      <p:sp>
        <p:nvSpPr>
          <p:cNvPr id="28" name="Shape 26"/>
          <p:cNvSpPr/>
          <p:nvPr/>
        </p:nvSpPr>
        <p:spPr>
          <a:xfrm>
            <a:off x="2284774" y="3268716"/>
            <a:ext cx="41148" cy="41148"/>
          </a:xfrm>
          <a:prstGeom prst="ellipse">
            <a:avLst/>
          </a:prstGeom>
          <a:solidFill>
            <a:srgbClr val="A9B6C8"/>
          </a:solidFill>
          <a:ln/>
        </p:spPr>
        <p:txBody>
          <a:bodyPr/>
          <a:lstStyle/>
          <a:p>
            <a:endParaRPr lang="en-US"/>
          </a:p>
        </p:txBody>
      </p:sp>
      <p:sp>
        <p:nvSpPr>
          <p:cNvPr id="29" name="Shape 27"/>
          <p:cNvSpPr/>
          <p:nvPr/>
        </p:nvSpPr>
        <p:spPr>
          <a:xfrm>
            <a:off x="2346655" y="3271266"/>
            <a:ext cx="41148" cy="41148"/>
          </a:xfrm>
          <a:prstGeom prst="ellipse">
            <a:avLst/>
          </a:prstGeom>
          <a:solidFill>
            <a:srgbClr val="A9B6C8"/>
          </a:solidFill>
          <a:ln/>
        </p:spPr>
        <p:txBody>
          <a:bodyPr/>
          <a:lstStyle/>
          <a:p>
            <a:endParaRPr lang="en-US"/>
          </a:p>
        </p:txBody>
      </p:sp>
      <p:sp>
        <p:nvSpPr>
          <p:cNvPr id="30" name="Shape 28"/>
          <p:cNvSpPr/>
          <p:nvPr/>
        </p:nvSpPr>
        <p:spPr>
          <a:xfrm>
            <a:off x="2408537" y="3268716"/>
            <a:ext cx="41148" cy="41148"/>
          </a:xfrm>
          <a:prstGeom prst="ellipse">
            <a:avLst/>
          </a:prstGeom>
          <a:solidFill>
            <a:srgbClr val="A9B6C8"/>
          </a:solidFill>
          <a:ln/>
        </p:spPr>
        <p:txBody>
          <a:bodyPr/>
          <a:lstStyle/>
          <a:p>
            <a:endParaRPr lang="en-US"/>
          </a:p>
        </p:txBody>
      </p:sp>
      <p:sp>
        <p:nvSpPr>
          <p:cNvPr id="31" name="Shape 29"/>
          <p:cNvSpPr/>
          <p:nvPr/>
        </p:nvSpPr>
        <p:spPr>
          <a:xfrm>
            <a:off x="2470418" y="3261064"/>
            <a:ext cx="41148" cy="41148"/>
          </a:xfrm>
          <a:prstGeom prst="ellipse">
            <a:avLst/>
          </a:prstGeom>
          <a:solidFill>
            <a:srgbClr val="A9B6C8"/>
          </a:solidFill>
          <a:ln/>
        </p:spPr>
        <p:txBody>
          <a:bodyPr/>
          <a:lstStyle/>
          <a:p>
            <a:endParaRPr lang="en-US"/>
          </a:p>
        </p:txBody>
      </p:sp>
      <p:sp>
        <p:nvSpPr>
          <p:cNvPr id="32" name="Shape 30"/>
          <p:cNvSpPr/>
          <p:nvPr/>
        </p:nvSpPr>
        <p:spPr>
          <a:xfrm>
            <a:off x="2532299" y="3248312"/>
            <a:ext cx="41148" cy="41148"/>
          </a:xfrm>
          <a:prstGeom prst="ellipse">
            <a:avLst/>
          </a:prstGeom>
          <a:solidFill>
            <a:srgbClr val="A9B6C8"/>
          </a:solidFill>
          <a:ln/>
        </p:spPr>
        <p:txBody>
          <a:bodyPr/>
          <a:lstStyle/>
          <a:p>
            <a:endParaRPr lang="en-US"/>
          </a:p>
        </p:txBody>
      </p:sp>
      <p:sp>
        <p:nvSpPr>
          <p:cNvPr id="33" name="Shape 31"/>
          <p:cNvSpPr/>
          <p:nvPr/>
        </p:nvSpPr>
        <p:spPr>
          <a:xfrm>
            <a:off x="2594181" y="3230458"/>
            <a:ext cx="41148" cy="41148"/>
          </a:xfrm>
          <a:prstGeom prst="ellipse">
            <a:avLst/>
          </a:prstGeom>
          <a:solidFill>
            <a:srgbClr val="A9B6C8"/>
          </a:solidFill>
          <a:ln/>
        </p:spPr>
        <p:txBody>
          <a:bodyPr/>
          <a:lstStyle/>
          <a:p>
            <a:endParaRPr lang="en-US"/>
          </a:p>
        </p:txBody>
      </p:sp>
      <p:sp>
        <p:nvSpPr>
          <p:cNvPr id="34" name="Shape 32"/>
          <p:cNvSpPr/>
          <p:nvPr/>
        </p:nvSpPr>
        <p:spPr>
          <a:xfrm>
            <a:off x="2656062" y="3207504"/>
            <a:ext cx="41148" cy="41148"/>
          </a:xfrm>
          <a:prstGeom prst="ellipse">
            <a:avLst/>
          </a:prstGeom>
          <a:solidFill>
            <a:srgbClr val="A9B6C8"/>
          </a:solidFill>
          <a:ln/>
        </p:spPr>
        <p:txBody>
          <a:bodyPr/>
          <a:lstStyle/>
          <a:p>
            <a:endParaRPr lang="en-US"/>
          </a:p>
        </p:txBody>
      </p:sp>
      <p:sp>
        <p:nvSpPr>
          <p:cNvPr id="35" name="Shape 33"/>
          <p:cNvSpPr/>
          <p:nvPr/>
        </p:nvSpPr>
        <p:spPr>
          <a:xfrm>
            <a:off x="2717943" y="3179448"/>
            <a:ext cx="41148" cy="41148"/>
          </a:xfrm>
          <a:prstGeom prst="ellipse">
            <a:avLst/>
          </a:prstGeom>
          <a:solidFill>
            <a:srgbClr val="A9B6C8"/>
          </a:solidFill>
          <a:ln/>
        </p:spPr>
        <p:txBody>
          <a:bodyPr/>
          <a:lstStyle/>
          <a:p>
            <a:endParaRPr lang="en-US"/>
          </a:p>
        </p:txBody>
      </p:sp>
      <p:sp>
        <p:nvSpPr>
          <p:cNvPr id="36" name="Shape 34"/>
          <p:cNvSpPr/>
          <p:nvPr/>
        </p:nvSpPr>
        <p:spPr>
          <a:xfrm>
            <a:off x="2779824" y="3146292"/>
            <a:ext cx="41148" cy="41148"/>
          </a:xfrm>
          <a:prstGeom prst="ellipse">
            <a:avLst/>
          </a:prstGeom>
          <a:solidFill>
            <a:srgbClr val="A9B6C8"/>
          </a:solidFill>
          <a:ln/>
        </p:spPr>
        <p:txBody>
          <a:bodyPr/>
          <a:lstStyle/>
          <a:p>
            <a:endParaRPr lang="en-US"/>
          </a:p>
        </p:txBody>
      </p:sp>
      <p:sp>
        <p:nvSpPr>
          <p:cNvPr id="37" name="Shape 35"/>
          <p:cNvSpPr/>
          <p:nvPr/>
        </p:nvSpPr>
        <p:spPr>
          <a:xfrm>
            <a:off x="2841706" y="3108034"/>
            <a:ext cx="41148" cy="41148"/>
          </a:xfrm>
          <a:prstGeom prst="ellipse">
            <a:avLst/>
          </a:prstGeom>
          <a:solidFill>
            <a:srgbClr val="A9B6C8"/>
          </a:solidFill>
          <a:ln/>
        </p:spPr>
        <p:txBody>
          <a:bodyPr/>
          <a:lstStyle/>
          <a:p>
            <a:endParaRPr lang="en-US"/>
          </a:p>
        </p:txBody>
      </p:sp>
      <p:sp>
        <p:nvSpPr>
          <p:cNvPr id="38" name="Shape 36"/>
          <p:cNvSpPr/>
          <p:nvPr/>
        </p:nvSpPr>
        <p:spPr>
          <a:xfrm>
            <a:off x="2903587" y="3064676"/>
            <a:ext cx="41148" cy="41148"/>
          </a:xfrm>
          <a:prstGeom prst="ellipse">
            <a:avLst/>
          </a:prstGeom>
          <a:solidFill>
            <a:srgbClr val="A9B6C8"/>
          </a:solidFill>
          <a:ln/>
        </p:spPr>
        <p:txBody>
          <a:bodyPr/>
          <a:lstStyle/>
          <a:p>
            <a:endParaRPr lang="en-US"/>
          </a:p>
        </p:txBody>
      </p:sp>
      <p:sp>
        <p:nvSpPr>
          <p:cNvPr id="39" name="Shape 37"/>
          <p:cNvSpPr/>
          <p:nvPr/>
        </p:nvSpPr>
        <p:spPr>
          <a:xfrm>
            <a:off x="2965468" y="3016216"/>
            <a:ext cx="41148" cy="41148"/>
          </a:xfrm>
          <a:prstGeom prst="ellipse">
            <a:avLst/>
          </a:prstGeom>
          <a:solidFill>
            <a:srgbClr val="A9B6C8"/>
          </a:solidFill>
          <a:ln/>
        </p:spPr>
        <p:txBody>
          <a:bodyPr/>
          <a:lstStyle/>
          <a:p>
            <a:endParaRPr lang="en-US"/>
          </a:p>
        </p:txBody>
      </p:sp>
      <p:sp>
        <p:nvSpPr>
          <p:cNvPr id="40" name="Shape 38"/>
          <p:cNvSpPr/>
          <p:nvPr/>
        </p:nvSpPr>
        <p:spPr>
          <a:xfrm>
            <a:off x="3027350" y="2962656"/>
            <a:ext cx="41148" cy="41148"/>
          </a:xfrm>
          <a:prstGeom prst="ellipse">
            <a:avLst/>
          </a:prstGeom>
          <a:solidFill>
            <a:srgbClr val="A9B6C8"/>
          </a:solidFill>
          <a:ln/>
        </p:spPr>
        <p:txBody>
          <a:bodyPr/>
          <a:lstStyle/>
          <a:p>
            <a:endParaRPr lang="en-US"/>
          </a:p>
        </p:txBody>
      </p:sp>
      <p:sp>
        <p:nvSpPr>
          <p:cNvPr id="41" name="Shape 39"/>
          <p:cNvSpPr/>
          <p:nvPr/>
        </p:nvSpPr>
        <p:spPr>
          <a:xfrm>
            <a:off x="3089231" y="2903995"/>
            <a:ext cx="41148" cy="41148"/>
          </a:xfrm>
          <a:prstGeom prst="ellipse">
            <a:avLst/>
          </a:prstGeom>
          <a:solidFill>
            <a:srgbClr val="A9B6C8"/>
          </a:solidFill>
          <a:ln/>
        </p:spPr>
        <p:txBody>
          <a:bodyPr/>
          <a:lstStyle/>
          <a:p>
            <a:endParaRPr lang="en-US"/>
          </a:p>
        </p:txBody>
      </p:sp>
      <p:sp>
        <p:nvSpPr>
          <p:cNvPr id="42" name="Shape 40"/>
          <p:cNvSpPr/>
          <p:nvPr/>
        </p:nvSpPr>
        <p:spPr>
          <a:xfrm>
            <a:off x="3151112" y="2840232"/>
            <a:ext cx="41148" cy="41148"/>
          </a:xfrm>
          <a:prstGeom prst="ellipse">
            <a:avLst/>
          </a:prstGeom>
          <a:solidFill>
            <a:srgbClr val="A9B6C8"/>
          </a:solidFill>
          <a:ln/>
        </p:spPr>
        <p:txBody>
          <a:bodyPr/>
          <a:lstStyle/>
          <a:p>
            <a:endParaRPr lang="en-US"/>
          </a:p>
        </p:txBody>
      </p:sp>
      <p:sp>
        <p:nvSpPr>
          <p:cNvPr id="43" name="Shape 41"/>
          <p:cNvSpPr/>
          <p:nvPr/>
        </p:nvSpPr>
        <p:spPr>
          <a:xfrm>
            <a:off x="3212994" y="2771369"/>
            <a:ext cx="41148" cy="41148"/>
          </a:xfrm>
          <a:prstGeom prst="ellipse">
            <a:avLst/>
          </a:prstGeom>
          <a:solidFill>
            <a:srgbClr val="A9B6C8"/>
          </a:solidFill>
          <a:ln/>
        </p:spPr>
        <p:txBody>
          <a:bodyPr/>
          <a:lstStyle/>
          <a:p>
            <a:endParaRPr lang="en-US"/>
          </a:p>
        </p:txBody>
      </p:sp>
      <p:sp>
        <p:nvSpPr>
          <p:cNvPr id="44" name="Shape 42"/>
          <p:cNvSpPr/>
          <p:nvPr/>
        </p:nvSpPr>
        <p:spPr>
          <a:xfrm>
            <a:off x="3274875" y="2697404"/>
            <a:ext cx="41148" cy="41148"/>
          </a:xfrm>
          <a:prstGeom prst="ellipse">
            <a:avLst/>
          </a:prstGeom>
          <a:solidFill>
            <a:srgbClr val="A9B6C8"/>
          </a:solidFill>
          <a:ln/>
        </p:spPr>
        <p:txBody>
          <a:bodyPr/>
          <a:lstStyle/>
          <a:p>
            <a:endParaRPr lang="en-US"/>
          </a:p>
        </p:txBody>
      </p:sp>
      <p:sp>
        <p:nvSpPr>
          <p:cNvPr id="45" name="Shape 43"/>
          <p:cNvSpPr/>
          <p:nvPr/>
        </p:nvSpPr>
        <p:spPr>
          <a:xfrm>
            <a:off x="3336756" y="2618339"/>
            <a:ext cx="41148" cy="41148"/>
          </a:xfrm>
          <a:prstGeom prst="ellipse">
            <a:avLst/>
          </a:prstGeom>
          <a:solidFill>
            <a:srgbClr val="A9B6C8"/>
          </a:solidFill>
          <a:ln/>
        </p:spPr>
        <p:txBody>
          <a:bodyPr/>
          <a:lstStyle/>
          <a:p>
            <a:endParaRPr lang="en-US"/>
          </a:p>
        </p:txBody>
      </p:sp>
      <p:sp>
        <p:nvSpPr>
          <p:cNvPr id="46" name="Shape 44"/>
          <p:cNvSpPr/>
          <p:nvPr/>
        </p:nvSpPr>
        <p:spPr>
          <a:xfrm>
            <a:off x="3398638" y="2534173"/>
            <a:ext cx="41148" cy="41148"/>
          </a:xfrm>
          <a:prstGeom prst="ellipse">
            <a:avLst/>
          </a:prstGeom>
          <a:solidFill>
            <a:srgbClr val="A9B6C8"/>
          </a:solidFill>
          <a:ln/>
        </p:spPr>
        <p:txBody>
          <a:bodyPr/>
          <a:lstStyle/>
          <a:p>
            <a:endParaRPr lang="en-US"/>
          </a:p>
        </p:txBody>
      </p:sp>
      <p:sp>
        <p:nvSpPr>
          <p:cNvPr id="47" name="Shape 45"/>
          <p:cNvSpPr/>
          <p:nvPr/>
        </p:nvSpPr>
        <p:spPr>
          <a:xfrm>
            <a:off x="3460519" y="2444905"/>
            <a:ext cx="41148" cy="41148"/>
          </a:xfrm>
          <a:prstGeom prst="ellipse">
            <a:avLst/>
          </a:prstGeom>
          <a:solidFill>
            <a:srgbClr val="A9B6C8"/>
          </a:solidFill>
          <a:ln/>
        </p:spPr>
        <p:txBody>
          <a:bodyPr/>
          <a:lstStyle/>
          <a:p>
            <a:endParaRPr lang="en-US"/>
          </a:p>
        </p:txBody>
      </p:sp>
      <p:sp>
        <p:nvSpPr>
          <p:cNvPr id="48" name="Shape 46"/>
          <p:cNvSpPr/>
          <p:nvPr/>
        </p:nvSpPr>
        <p:spPr>
          <a:xfrm>
            <a:off x="3522400" y="2350537"/>
            <a:ext cx="41148" cy="41148"/>
          </a:xfrm>
          <a:prstGeom prst="ellipse">
            <a:avLst/>
          </a:prstGeom>
          <a:solidFill>
            <a:srgbClr val="A9B6C8"/>
          </a:solidFill>
          <a:ln/>
        </p:spPr>
        <p:txBody>
          <a:bodyPr/>
          <a:lstStyle/>
          <a:p>
            <a:endParaRPr lang="en-US"/>
          </a:p>
        </p:txBody>
      </p:sp>
      <p:sp>
        <p:nvSpPr>
          <p:cNvPr id="49" name="Shape 47"/>
          <p:cNvSpPr/>
          <p:nvPr/>
        </p:nvSpPr>
        <p:spPr>
          <a:xfrm>
            <a:off x="3584282" y="2251068"/>
            <a:ext cx="41148" cy="41148"/>
          </a:xfrm>
          <a:prstGeom prst="ellipse">
            <a:avLst/>
          </a:prstGeom>
          <a:solidFill>
            <a:srgbClr val="A9B6C8"/>
          </a:solidFill>
          <a:ln/>
        </p:spPr>
        <p:txBody>
          <a:bodyPr/>
          <a:lstStyle/>
          <a:p>
            <a:endParaRPr lang="en-US"/>
          </a:p>
        </p:txBody>
      </p:sp>
      <p:sp>
        <p:nvSpPr>
          <p:cNvPr id="50" name="Shape 48"/>
          <p:cNvSpPr/>
          <p:nvPr/>
        </p:nvSpPr>
        <p:spPr>
          <a:xfrm>
            <a:off x="3646163" y="2146497"/>
            <a:ext cx="41148" cy="41148"/>
          </a:xfrm>
          <a:prstGeom prst="ellipse">
            <a:avLst/>
          </a:prstGeom>
          <a:solidFill>
            <a:srgbClr val="A9B6C8"/>
          </a:solidFill>
          <a:ln/>
        </p:spPr>
        <p:txBody>
          <a:bodyPr/>
          <a:lstStyle/>
          <a:p>
            <a:endParaRPr lang="en-US"/>
          </a:p>
        </p:txBody>
      </p:sp>
      <p:sp>
        <p:nvSpPr>
          <p:cNvPr id="51" name="Shape 49"/>
          <p:cNvSpPr/>
          <p:nvPr/>
        </p:nvSpPr>
        <p:spPr>
          <a:xfrm>
            <a:off x="3708044" y="2036826"/>
            <a:ext cx="41148" cy="41148"/>
          </a:xfrm>
          <a:prstGeom prst="ellipse">
            <a:avLst/>
          </a:prstGeom>
          <a:solidFill>
            <a:srgbClr val="A9B6C8"/>
          </a:solidFill>
          <a:ln/>
        </p:spPr>
        <p:txBody>
          <a:bodyPr/>
          <a:lstStyle/>
          <a:p>
            <a:endParaRPr lang="en-US"/>
          </a:p>
        </p:txBody>
      </p:sp>
      <p:sp>
        <p:nvSpPr>
          <p:cNvPr id="52" name="Shape 50"/>
          <p:cNvSpPr/>
          <p:nvPr/>
        </p:nvSpPr>
        <p:spPr>
          <a:xfrm>
            <a:off x="1263993" y="2510247"/>
            <a:ext cx="137160" cy="137160"/>
          </a:xfrm>
          <a:prstGeom prst="ellipse">
            <a:avLst/>
          </a:prstGeom>
          <a:solidFill>
            <a:srgbClr val="C07414"/>
          </a:solidFill>
          <a:ln/>
        </p:spPr>
        <p:txBody>
          <a:bodyPr/>
          <a:lstStyle/>
          <a:p>
            <a:endParaRPr lang="en-US"/>
          </a:p>
        </p:txBody>
      </p:sp>
      <p:sp>
        <p:nvSpPr>
          <p:cNvPr id="53" name="Shape 51"/>
          <p:cNvSpPr/>
          <p:nvPr/>
        </p:nvSpPr>
        <p:spPr>
          <a:xfrm>
            <a:off x="1332063" y="2600979"/>
            <a:ext cx="137160" cy="137160"/>
          </a:xfrm>
          <a:prstGeom prst="ellipse">
            <a:avLst/>
          </a:prstGeom>
          <a:solidFill>
            <a:srgbClr val="C07414"/>
          </a:solidFill>
          <a:ln/>
        </p:spPr>
        <p:txBody>
          <a:bodyPr/>
          <a:lstStyle/>
          <a:p>
            <a:endParaRPr lang="en-US"/>
          </a:p>
        </p:txBody>
      </p:sp>
      <p:sp>
        <p:nvSpPr>
          <p:cNvPr id="54" name="Shape 52"/>
          <p:cNvSpPr/>
          <p:nvPr/>
        </p:nvSpPr>
        <p:spPr>
          <a:xfrm>
            <a:off x="1400132" y="2685538"/>
            <a:ext cx="137160" cy="137160"/>
          </a:xfrm>
          <a:prstGeom prst="ellipse">
            <a:avLst/>
          </a:prstGeom>
          <a:solidFill>
            <a:srgbClr val="C07414"/>
          </a:solidFill>
          <a:ln/>
        </p:spPr>
        <p:txBody>
          <a:bodyPr/>
          <a:lstStyle/>
          <a:p>
            <a:endParaRPr lang="en-US"/>
          </a:p>
        </p:txBody>
      </p:sp>
      <p:sp>
        <p:nvSpPr>
          <p:cNvPr id="55" name="Shape 53"/>
          <p:cNvSpPr/>
          <p:nvPr/>
        </p:nvSpPr>
        <p:spPr>
          <a:xfrm>
            <a:off x="1468202" y="2763925"/>
            <a:ext cx="137160" cy="137160"/>
          </a:xfrm>
          <a:prstGeom prst="ellipse">
            <a:avLst/>
          </a:prstGeom>
          <a:solidFill>
            <a:srgbClr val="C07414"/>
          </a:solidFill>
          <a:ln/>
        </p:spPr>
        <p:txBody>
          <a:bodyPr/>
          <a:lstStyle/>
          <a:p>
            <a:endParaRPr lang="en-US"/>
          </a:p>
        </p:txBody>
      </p:sp>
      <p:sp>
        <p:nvSpPr>
          <p:cNvPr id="56" name="Shape 54"/>
          <p:cNvSpPr/>
          <p:nvPr/>
        </p:nvSpPr>
        <p:spPr>
          <a:xfrm>
            <a:off x="1536271" y="2836140"/>
            <a:ext cx="137160" cy="137160"/>
          </a:xfrm>
          <a:prstGeom prst="ellipse">
            <a:avLst/>
          </a:prstGeom>
          <a:solidFill>
            <a:srgbClr val="C07414"/>
          </a:solidFill>
          <a:ln/>
        </p:spPr>
        <p:txBody>
          <a:bodyPr/>
          <a:lstStyle/>
          <a:p>
            <a:endParaRPr lang="en-US"/>
          </a:p>
        </p:txBody>
      </p:sp>
      <p:sp>
        <p:nvSpPr>
          <p:cNvPr id="57" name="Shape 55"/>
          <p:cNvSpPr/>
          <p:nvPr/>
        </p:nvSpPr>
        <p:spPr>
          <a:xfrm>
            <a:off x="1604341" y="2902182"/>
            <a:ext cx="137160" cy="137160"/>
          </a:xfrm>
          <a:prstGeom prst="ellipse">
            <a:avLst/>
          </a:prstGeom>
          <a:solidFill>
            <a:srgbClr val="C07414"/>
          </a:solidFill>
          <a:ln/>
        </p:spPr>
        <p:txBody>
          <a:bodyPr/>
          <a:lstStyle/>
          <a:p>
            <a:endParaRPr lang="en-US"/>
          </a:p>
        </p:txBody>
      </p:sp>
      <p:sp>
        <p:nvSpPr>
          <p:cNvPr id="58" name="Text 56"/>
          <p:cNvSpPr txBox="1"/>
          <p:nvPr/>
        </p:nvSpPr>
        <p:spPr>
          <a:xfrm>
            <a:off x="896112" y="3520440"/>
            <a:ext cx="2942234" cy="960120"/>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Each step barely moves. The walk is going the right way and will take a hundred times longer than your budget allows.</a:t>
            </a:r>
            <a:endParaRPr lang="en-US" sz="1200" dirty="0"/>
          </a:p>
        </p:txBody>
      </p:sp>
      <p:sp>
        <p:nvSpPr>
          <p:cNvPr id="59" name="Shape 57"/>
          <p:cNvSpPr/>
          <p:nvPr/>
        </p:nvSpPr>
        <p:spPr>
          <a:xfrm>
            <a:off x="4368698" y="1371600"/>
            <a:ext cx="3454298" cy="3246120"/>
          </a:xfrm>
          <a:prstGeom prst="roundRect">
            <a:avLst>
              <a:gd name="adj" fmla="val 2254"/>
            </a:avLst>
          </a:prstGeom>
          <a:solidFill>
            <a:srgbClr val="FAF0DE"/>
          </a:solidFill>
          <a:ln w="12700">
            <a:solidFill>
              <a:srgbClr val="FAF0DE"/>
            </a:solidFill>
            <a:prstDash val="solid"/>
          </a:ln>
        </p:spPr>
        <p:txBody>
          <a:bodyPr/>
          <a:lstStyle/>
          <a:p>
            <a:endParaRPr lang="en-US"/>
          </a:p>
        </p:txBody>
      </p:sp>
      <p:sp>
        <p:nvSpPr>
          <p:cNvPr id="60" name="Text 58"/>
          <p:cNvSpPr txBox="1"/>
          <p:nvPr/>
        </p:nvSpPr>
        <p:spPr>
          <a:xfrm>
            <a:off x="4624730" y="1554480"/>
            <a:ext cx="2942234" cy="365760"/>
          </a:xfrm>
          <a:prstGeom prst="rect">
            <a:avLst/>
          </a:prstGeom>
          <a:noFill/>
          <a:ln/>
        </p:spPr>
        <p:txBody>
          <a:bodyPr wrap="square" lIns="0" tIns="0" rIns="0" bIns="0" rtlCol="0" anchor="ctr"/>
          <a:lstStyle/>
          <a:p>
            <a:pPr marL="0" indent="0" algn="ctr">
              <a:buNone/>
            </a:pPr>
            <a:r>
              <a:rPr lang="en-US" sz="1800" b="1" dirty="0">
                <a:solidFill>
                  <a:srgbClr val="111722"/>
                </a:solidFill>
                <a:latin typeface="Cambria Math" pitchFamily="34" charset="0"/>
                <a:ea typeface="Cambria Math" pitchFamily="34" charset="-122"/>
                <a:cs typeface="Cambria Math" pitchFamily="34" charset="-120"/>
              </a:rPr>
              <a:t>η too large</a:t>
            </a:r>
            <a:endParaRPr lang="en-US" sz="1800" dirty="0"/>
          </a:p>
        </p:txBody>
      </p:sp>
      <p:sp>
        <p:nvSpPr>
          <p:cNvPr id="61" name="Shape 59"/>
          <p:cNvSpPr/>
          <p:nvPr/>
        </p:nvSpPr>
        <p:spPr>
          <a:xfrm>
            <a:off x="4713884" y="2036826"/>
            <a:ext cx="41148" cy="41148"/>
          </a:xfrm>
          <a:prstGeom prst="ellipse">
            <a:avLst/>
          </a:prstGeom>
          <a:solidFill>
            <a:srgbClr val="A9B6C8"/>
          </a:solidFill>
          <a:ln/>
        </p:spPr>
        <p:txBody>
          <a:bodyPr/>
          <a:lstStyle/>
          <a:p>
            <a:endParaRPr lang="en-US"/>
          </a:p>
        </p:txBody>
      </p:sp>
      <p:sp>
        <p:nvSpPr>
          <p:cNvPr id="62" name="Shape 60"/>
          <p:cNvSpPr/>
          <p:nvPr/>
        </p:nvSpPr>
        <p:spPr>
          <a:xfrm>
            <a:off x="4775766" y="2146497"/>
            <a:ext cx="41148" cy="41148"/>
          </a:xfrm>
          <a:prstGeom prst="ellipse">
            <a:avLst/>
          </a:prstGeom>
          <a:solidFill>
            <a:srgbClr val="A9B6C8"/>
          </a:solidFill>
          <a:ln/>
        </p:spPr>
        <p:txBody>
          <a:bodyPr/>
          <a:lstStyle/>
          <a:p>
            <a:endParaRPr lang="en-US"/>
          </a:p>
        </p:txBody>
      </p:sp>
      <p:sp>
        <p:nvSpPr>
          <p:cNvPr id="63" name="Shape 61"/>
          <p:cNvSpPr/>
          <p:nvPr/>
        </p:nvSpPr>
        <p:spPr>
          <a:xfrm>
            <a:off x="4837647" y="2251068"/>
            <a:ext cx="41148" cy="41148"/>
          </a:xfrm>
          <a:prstGeom prst="ellipse">
            <a:avLst/>
          </a:prstGeom>
          <a:solidFill>
            <a:srgbClr val="A9B6C8"/>
          </a:solidFill>
          <a:ln/>
        </p:spPr>
        <p:txBody>
          <a:bodyPr/>
          <a:lstStyle/>
          <a:p>
            <a:endParaRPr lang="en-US"/>
          </a:p>
        </p:txBody>
      </p:sp>
      <p:sp>
        <p:nvSpPr>
          <p:cNvPr id="64" name="Shape 62"/>
          <p:cNvSpPr/>
          <p:nvPr/>
        </p:nvSpPr>
        <p:spPr>
          <a:xfrm>
            <a:off x="4899528" y="2350537"/>
            <a:ext cx="41148" cy="41148"/>
          </a:xfrm>
          <a:prstGeom prst="ellipse">
            <a:avLst/>
          </a:prstGeom>
          <a:solidFill>
            <a:srgbClr val="A9B6C8"/>
          </a:solidFill>
          <a:ln/>
        </p:spPr>
        <p:txBody>
          <a:bodyPr/>
          <a:lstStyle/>
          <a:p>
            <a:endParaRPr lang="en-US"/>
          </a:p>
        </p:txBody>
      </p:sp>
      <p:sp>
        <p:nvSpPr>
          <p:cNvPr id="65" name="Shape 63"/>
          <p:cNvSpPr/>
          <p:nvPr/>
        </p:nvSpPr>
        <p:spPr>
          <a:xfrm>
            <a:off x="4961410" y="2444905"/>
            <a:ext cx="41148" cy="41148"/>
          </a:xfrm>
          <a:prstGeom prst="ellipse">
            <a:avLst/>
          </a:prstGeom>
          <a:solidFill>
            <a:srgbClr val="A9B6C8"/>
          </a:solidFill>
          <a:ln/>
        </p:spPr>
        <p:txBody>
          <a:bodyPr/>
          <a:lstStyle/>
          <a:p>
            <a:endParaRPr lang="en-US"/>
          </a:p>
        </p:txBody>
      </p:sp>
      <p:sp>
        <p:nvSpPr>
          <p:cNvPr id="66" name="Shape 64"/>
          <p:cNvSpPr/>
          <p:nvPr/>
        </p:nvSpPr>
        <p:spPr>
          <a:xfrm>
            <a:off x="5023291" y="2534173"/>
            <a:ext cx="41148" cy="41148"/>
          </a:xfrm>
          <a:prstGeom prst="ellipse">
            <a:avLst/>
          </a:prstGeom>
          <a:solidFill>
            <a:srgbClr val="A9B6C8"/>
          </a:solidFill>
          <a:ln/>
        </p:spPr>
        <p:txBody>
          <a:bodyPr/>
          <a:lstStyle/>
          <a:p>
            <a:endParaRPr lang="en-US"/>
          </a:p>
        </p:txBody>
      </p:sp>
      <p:sp>
        <p:nvSpPr>
          <p:cNvPr id="67" name="Shape 65"/>
          <p:cNvSpPr/>
          <p:nvPr/>
        </p:nvSpPr>
        <p:spPr>
          <a:xfrm>
            <a:off x="5085172" y="2618339"/>
            <a:ext cx="41148" cy="41148"/>
          </a:xfrm>
          <a:prstGeom prst="ellipse">
            <a:avLst/>
          </a:prstGeom>
          <a:solidFill>
            <a:srgbClr val="A9B6C8"/>
          </a:solidFill>
          <a:ln/>
        </p:spPr>
        <p:txBody>
          <a:bodyPr/>
          <a:lstStyle/>
          <a:p>
            <a:endParaRPr lang="en-US"/>
          </a:p>
        </p:txBody>
      </p:sp>
      <p:sp>
        <p:nvSpPr>
          <p:cNvPr id="68" name="Shape 66"/>
          <p:cNvSpPr/>
          <p:nvPr/>
        </p:nvSpPr>
        <p:spPr>
          <a:xfrm>
            <a:off x="5147054" y="2697404"/>
            <a:ext cx="41148" cy="41148"/>
          </a:xfrm>
          <a:prstGeom prst="ellipse">
            <a:avLst/>
          </a:prstGeom>
          <a:solidFill>
            <a:srgbClr val="A9B6C8"/>
          </a:solidFill>
          <a:ln/>
        </p:spPr>
        <p:txBody>
          <a:bodyPr/>
          <a:lstStyle/>
          <a:p>
            <a:endParaRPr lang="en-US"/>
          </a:p>
        </p:txBody>
      </p:sp>
      <p:sp>
        <p:nvSpPr>
          <p:cNvPr id="69" name="Shape 67"/>
          <p:cNvSpPr/>
          <p:nvPr/>
        </p:nvSpPr>
        <p:spPr>
          <a:xfrm>
            <a:off x="5208935" y="2771369"/>
            <a:ext cx="41148" cy="41148"/>
          </a:xfrm>
          <a:prstGeom prst="ellipse">
            <a:avLst/>
          </a:prstGeom>
          <a:solidFill>
            <a:srgbClr val="A9B6C8"/>
          </a:solidFill>
          <a:ln/>
        </p:spPr>
        <p:txBody>
          <a:bodyPr/>
          <a:lstStyle/>
          <a:p>
            <a:endParaRPr lang="en-US"/>
          </a:p>
        </p:txBody>
      </p:sp>
      <p:sp>
        <p:nvSpPr>
          <p:cNvPr id="70" name="Shape 68"/>
          <p:cNvSpPr/>
          <p:nvPr/>
        </p:nvSpPr>
        <p:spPr>
          <a:xfrm>
            <a:off x="5270816" y="2840232"/>
            <a:ext cx="41148" cy="41148"/>
          </a:xfrm>
          <a:prstGeom prst="ellipse">
            <a:avLst/>
          </a:prstGeom>
          <a:solidFill>
            <a:srgbClr val="A9B6C8"/>
          </a:solidFill>
          <a:ln/>
        </p:spPr>
        <p:txBody>
          <a:bodyPr/>
          <a:lstStyle/>
          <a:p>
            <a:endParaRPr lang="en-US"/>
          </a:p>
        </p:txBody>
      </p:sp>
      <p:sp>
        <p:nvSpPr>
          <p:cNvPr id="71" name="Shape 69"/>
          <p:cNvSpPr/>
          <p:nvPr/>
        </p:nvSpPr>
        <p:spPr>
          <a:xfrm>
            <a:off x="5332698" y="2903995"/>
            <a:ext cx="41148" cy="41148"/>
          </a:xfrm>
          <a:prstGeom prst="ellipse">
            <a:avLst/>
          </a:prstGeom>
          <a:solidFill>
            <a:srgbClr val="A9B6C8"/>
          </a:solidFill>
          <a:ln/>
        </p:spPr>
        <p:txBody>
          <a:bodyPr/>
          <a:lstStyle/>
          <a:p>
            <a:endParaRPr lang="en-US"/>
          </a:p>
        </p:txBody>
      </p:sp>
      <p:sp>
        <p:nvSpPr>
          <p:cNvPr id="72" name="Shape 70"/>
          <p:cNvSpPr/>
          <p:nvPr/>
        </p:nvSpPr>
        <p:spPr>
          <a:xfrm>
            <a:off x="5394579" y="2962656"/>
            <a:ext cx="41148" cy="41148"/>
          </a:xfrm>
          <a:prstGeom prst="ellipse">
            <a:avLst/>
          </a:prstGeom>
          <a:solidFill>
            <a:srgbClr val="A9B6C8"/>
          </a:solidFill>
          <a:ln/>
        </p:spPr>
        <p:txBody>
          <a:bodyPr/>
          <a:lstStyle/>
          <a:p>
            <a:endParaRPr lang="en-US"/>
          </a:p>
        </p:txBody>
      </p:sp>
      <p:sp>
        <p:nvSpPr>
          <p:cNvPr id="73" name="Shape 71"/>
          <p:cNvSpPr/>
          <p:nvPr/>
        </p:nvSpPr>
        <p:spPr>
          <a:xfrm>
            <a:off x="5456460" y="3016216"/>
            <a:ext cx="41148" cy="41148"/>
          </a:xfrm>
          <a:prstGeom prst="ellipse">
            <a:avLst/>
          </a:prstGeom>
          <a:solidFill>
            <a:srgbClr val="A9B6C8"/>
          </a:solidFill>
          <a:ln/>
        </p:spPr>
        <p:txBody>
          <a:bodyPr/>
          <a:lstStyle/>
          <a:p>
            <a:endParaRPr lang="en-US"/>
          </a:p>
        </p:txBody>
      </p:sp>
      <p:sp>
        <p:nvSpPr>
          <p:cNvPr id="74" name="Shape 72"/>
          <p:cNvSpPr/>
          <p:nvPr/>
        </p:nvSpPr>
        <p:spPr>
          <a:xfrm>
            <a:off x="5518342" y="3064676"/>
            <a:ext cx="41148" cy="41148"/>
          </a:xfrm>
          <a:prstGeom prst="ellipse">
            <a:avLst/>
          </a:prstGeom>
          <a:solidFill>
            <a:srgbClr val="A9B6C8"/>
          </a:solidFill>
          <a:ln/>
        </p:spPr>
        <p:txBody>
          <a:bodyPr/>
          <a:lstStyle/>
          <a:p>
            <a:endParaRPr lang="en-US"/>
          </a:p>
        </p:txBody>
      </p:sp>
      <p:sp>
        <p:nvSpPr>
          <p:cNvPr id="75" name="Shape 73"/>
          <p:cNvSpPr/>
          <p:nvPr/>
        </p:nvSpPr>
        <p:spPr>
          <a:xfrm>
            <a:off x="5580223" y="3108034"/>
            <a:ext cx="41148" cy="41148"/>
          </a:xfrm>
          <a:prstGeom prst="ellipse">
            <a:avLst/>
          </a:prstGeom>
          <a:solidFill>
            <a:srgbClr val="A9B6C8"/>
          </a:solidFill>
          <a:ln/>
        </p:spPr>
        <p:txBody>
          <a:bodyPr/>
          <a:lstStyle/>
          <a:p>
            <a:endParaRPr lang="en-US"/>
          </a:p>
        </p:txBody>
      </p:sp>
      <p:sp>
        <p:nvSpPr>
          <p:cNvPr id="76" name="Shape 74"/>
          <p:cNvSpPr/>
          <p:nvPr/>
        </p:nvSpPr>
        <p:spPr>
          <a:xfrm>
            <a:off x="5642104" y="3146292"/>
            <a:ext cx="41148" cy="41148"/>
          </a:xfrm>
          <a:prstGeom prst="ellipse">
            <a:avLst/>
          </a:prstGeom>
          <a:solidFill>
            <a:srgbClr val="A9B6C8"/>
          </a:solidFill>
          <a:ln/>
        </p:spPr>
        <p:txBody>
          <a:bodyPr/>
          <a:lstStyle/>
          <a:p>
            <a:endParaRPr lang="en-US"/>
          </a:p>
        </p:txBody>
      </p:sp>
      <p:sp>
        <p:nvSpPr>
          <p:cNvPr id="77" name="Shape 75"/>
          <p:cNvSpPr/>
          <p:nvPr/>
        </p:nvSpPr>
        <p:spPr>
          <a:xfrm>
            <a:off x="5703986" y="3179448"/>
            <a:ext cx="41148" cy="41148"/>
          </a:xfrm>
          <a:prstGeom prst="ellipse">
            <a:avLst/>
          </a:prstGeom>
          <a:solidFill>
            <a:srgbClr val="A9B6C8"/>
          </a:solidFill>
          <a:ln/>
        </p:spPr>
        <p:txBody>
          <a:bodyPr/>
          <a:lstStyle/>
          <a:p>
            <a:endParaRPr lang="en-US"/>
          </a:p>
        </p:txBody>
      </p:sp>
      <p:sp>
        <p:nvSpPr>
          <p:cNvPr id="78" name="Shape 76"/>
          <p:cNvSpPr/>
          <p:nvPr/>
        </p:nvSpPr>
        <p:spPr>
          <a:xfrm>
            <a:off x="5765867" y="3207504"/>
            <a:ext cx="41148" cy="41148"/>
          </a:xfrm>
          <a:prstGeom prst="ellipse">
            <a:avLst/>
          </a:prstGeom>
          <a:solidFill>
            <a:srgbClr val="A9B6C8"/>
          </a:solidFill>
          <a:ln/>
        </p:spPr>
        <p:txBody>
          <a:bodyPr/>
          <a:lstStyle/>
          <a:p>
            <a:endParaRPr lang="en-US"/>
          </a:p>
        </p:txBody>
      </p:sp>
      <p:sp>
        <p:nvSpPr>
          <p:cNvPr id="79" name="Shape 77"/>
          <p:cNvSpPr/>
          <p:nvPr/>
        </p:nvSpPr>
        <p:spPr>
          <a:xfrm>
            <a:off x="5827748" y="3230458"/>
            <a:ext cx="41148" cy="41148"/>
          </a:xfrm>
          <a:prstGeom prst="ellipse">
            <a:avLst/>
          </a:prstGeom>
          <a:solidFill>
            <a:srgbClr val="A9B6C8"/>
          </a:solidFill>
          <a:ln/>
        </p:spPr>
        <p:txBody>
          <a:bodyPr/>
          <a:lstStyle/>
          <a:p>
            <a:endParaRPr lang="en-US"/>
          </a:p>
        </p:txBody>
      </p:sp>
      <p:sp>
        <p:nvSpPr>
          <p:cNvPr id="80" name="Shape 78"/>
          <p:cNvSpPr/>
          <p:nvPr/>
        </p:nvSpPr>
        <p:spPr>
          <a:xfrm>
            <a:off x="5889630" y="3248312"/>
            <a:ext cx="41148" cy="41148"/>
          </a:xfrm>
          <a:prstGeom prst="ellipse">
            <a:avLst/>
          </a:prstGeom>
          <a:solidFill>
            <a:srgbClr val="A9B6C8"/>
          </a:solidFill>
          <a:ln/>
        </p:spPr>
        <p:txBody>
          <a:bodyPr/>
          <a:lstStyle/>
          <a:p>
            <a:endParaRPr lang="en-US"/>
          </a:p>
        </p:txBody>
      </p:sp>
      <p:sp>
        <p:nvSpPr>
          <p:cNvPr id="81" name="Shape 79"/>
          <p:cNvSpPr/>
          <p:nvPr/>
        </p:nvSpPr>
        <p:spPr>
          <a:xfrm>
            <a:off x="5951511" y="3261064"/>
            <a:ext cx="41148" cy="41148"/>
          </a:xfrm>
          <a:prstGeom prst="ellipse">
            <a:avLst/>
          </a:prstGeom>
          <a:solidFill>
            <a:srgbClr val="A9B6C8"/>
          </a:solidFill>
          <a:ln/>
        </p:spPr>
        <p:txBody>
          <a:bodyPr/>
          <a:lstStyle/>
          <a:p>
            <a:endParaRPr lang="en-US"/>
          </a:p>
        </p:txBody>
      </p:sp>
      <p:sp>
        <p:nvSpPr>
          <p:cNvPr id="82" name="Shape 80"/>
          <p:cNvSpPr/>
          <p:nvPr/>
        </p:nvSpPr>
        <p:spPr>
          <a:xfrm>
            <a:off x="6013392" y="3268716"/>
            <a:ext cx="41148" cy="41148"/>
          </a:xfrm>
          <a:prstGeom prst="ellipse">
            <a:avLst/>
          </a:prstGeom>
          <a:solidFill>
            <a:srgbClr val="A9B6C8"/>
          </a:solidFill>
          <a:ln/>
        </p:spPr>
        <p:txBody>
          <a:bodyPr/>
          <a:lstStyle/>
          <a:p>
            <a:endParaRPr lang="en-US"/>
          </a:p>
        </p:txBody>
      </p:sp>
      <p:sp>
        <p:nvSpPr>
          <p:cNvPr id="83" name="Shape 81"/>
          <p:cNvSpPr/>
          <p:nvPr/>
        </p:nvSpPr>
        <p:spPr>
          <a:xfrm>
            <a:off x="6075274" y="3271266"/>
            <a:ext cx="41148" cy="41148"/>
          </a:xfrm>
          <a:prstGeom prst="ellipse">
            <a:avLst/>
          </a:prstGeom>
          <a:solidFill>
            <a:srgbClr val="A9B6C8"/>
          </a:solidFill>
          <a:ln/>
        </p:spPr>
        <p:txBody>
          <a:bodyPr/>
          <a:lstStyle/>
          <a:p>
            <a:endParaRPr lang="en-US"/>
          </a:p>
        </p:txBody>
      </p:sp>
      <p:sp>
        <p:nvSpPr>
          <p:cNvPr id="84" name="Shape 82"/>
          <p:cNvSpPr/>
          <p:nvPr/>
        </p:nvSpPr>
        <p:spPr>
          <a:xfrm>
            <a:off x="6137155" y="3268716"/>
            <a:ext cx="41148" cy="41148"/>
          </a:xfrm>
          <a:prstGeom prst="ellipse">
            <a:avLst/>
          </a:prstGeom>
          <a:solidFill>
            <a:srgbClr val="A9B6C8"/>
          </a:solidFill>
          <a:ln/>
        </p:spPr>
        <p:txBody>
          <a:bodyPr/>
          <a:lstStyle/>
          <a:p>
            <a:endParaRPr lang="en-US"/>
          </a:p>
        </p:txBody>
      </p:sp>
      <p:sp>
        <p:nvSpPr>
          <p:cNvPr id="85" name="Shape 83"/>
          <p:cNvSpPr/>
          <p:nvPr/>
        </p:nvSpPr>
        <p:spPr>
          <a:xfrm>
            <a:off x="6199036" y="3261064"/>
            <a:ext cx="41148" cy="41148"/>
          </a:xfrm>
          <a:prstGeom prst="ellipse">
            <a:avLst/>
          </a:prstGeom>
          <a:solidFill>
            <a:srgbClr val="A9B6C8"/>
          </a:solidFill>
          <a:ln/>
        </p:spPr>
        <p:txBody>
          <a:bodyPr/>
          <a:lstStyle/>
          <a:p>
            <a:endParaRPr lang="en-US"/>
          </a:p>
        </p:txBody>
      </p:sp>
      <p:sp>
        <p:nvSpPr>
          <p:cNvPr id="86" name="Shape 84"/>
          <p:cNvSpPr/>
          <p:nvPr/>
        </p:nvSpPr>
        <p:spPr>
          <a:xfrm>
            <a:off x="6260918" y="3248312"/>
            <a:ext cx="41148" cy="41148"/>
          </a:xfrm>
          <a:prstGeom prst="ellipse">
            <a:avLst/>
          </a:prstGeom>
          <a:solidFill>
            <a:srgbClr val="A9B6C8"/>
          </a:solidFill>
          <a:ln/>
        </p:spPr>
        <p:txBody>
          <a:bodyPr/>
          <a:lstStyle/>
          <a:p>
            <a:endParaRPr lang="en-US"/>
          </a:p>
        </p:txBody>
      </p:sp>
      <p:sp>
        <p:nvSpPr>
          <p:cNvPr id="87" name="Shape 85"/>
          <p:cNvSpPr/>
          <p:nvPr/>
        </p:nvSpPr>
        <p:spPr>
          <a:xfrm>
            <a:off x="6322799" y="3230458"/>
            <a:ext cx="41148" cy="41148"/>
          </a:xfrm>
          <a:prstGeom prst="ellipse">
            <a:avLst/>
          </a:prstGeom>
          <a:solidFill>
            <a:srgbClr val="A9B6C8"/>
          </a:solidFill>
          <a:ln/>
        </p:spPr>
        <p:txBody>
          <a:bodyPr/>
          <a:lstStyle/>
          <a:p>
            <a:endParaRPr lang="en-US"/>
          </a:p>
        </p:txBody>
      </p:sp>
      <p:sp>
        <p:nvSpPr>
          <p:cNvPr id="88" name="Shape 86"/>
          <p:cNvSpPr/>
          <p:nvPr/>
        </p:nvSpPr>
        <p:spPr>
          <a:xfrm>
            <a:off x="6384680" y="3207504"/>
            <a:ext cx="41148" cy="41148"/>
          </a:xfrm>
          <a:prstGeom prst="ellipse">
            <a:avLst/>
          </a:prstGeom>
          <a:solidFill>
            <a:srgbClr val="A9B6C8"/>
          </a:solidFill>
          <a:ln/>
        </p:spPr>
        <p:txBody>
          <a:bodyPr/>
          <a:lstStyle/>
          <a:p>
            <a:endParaRPr lang="en-US"/>
          </a:p>
        </p:txBody>
      </p:sp>
      <p:sp>
        <p:nvSpPr>
          <p:cNvPr id="89" name="Shape 87"/>
          <p:cNvSpPr/>
          <p:nvPr/>
        </p:nvSpPr>
        <p:spPr>
          <a:xfrm>
            <a:off x="6446562" y="3179448"/>
            <a:ext cx="41148" cy="41148"/>
          </a:xfrm>
          <a:prstGeom prst="ellipse">
            <a:avLst/>
          </a:prstGeom>
          <a:solidFill>
            <a:srgbClr val="A9B6C8"/>
          </a:solidFill>
          <a:ln/>
        </p:spPr>
        <p:txBody>
          <a:bodyPr/>
          <a:lstStyle/>
          <a:p>
            <a:endParaRPr lang="en-US"/>
          </a:p>
        </p:txBody>
      </p:sp>
      <p:sp>
        <p:nvSpPr>
          <p:cNvPr id="90" name="Shape 88"/>
          <p:cNvSpPr/>
          <p:nvPr/>
        </p:nvSpPr>
        <p:spPr>
          <a:xfrm>
            <a:off x="6508443" y="3146292"/>
            <a:ext cx="41148" cy="41148"/>
          </a:xfrm>
          <a:prstGeom prst="ellipse">
            <a:avLst/>
          </a:prstGeom>
          <a:solidFill>
            <a:srgbClr val="A9B6C8"/>
          </a:solidFill>
          <a:ln/>
        </p:spPr>
        <p:txBody>
          <a:bodyPr/>
          <a:lstStyle/>
          <a:p>
            <a:endParaRPr lang="en-US"/>
          </a:p>
        </p:txBody>
      </p:sp>
      <p:sp>
        <p:nvSpPr>
          <p:cNvPr id="91" name="Shape 89"/>
          <p:cNvSpPr/>
          <p:nvPr/>
        </p:nvSpPr>
        <p:spPr>
          <a:xfrm>
            <a:off x="6570324" y="3108034"/>
            <a:ext cx="41148" cy="41148"/>
          </a:xfrm>
          <a:prstGeom prst="ellipse">
            <a:avLst/>
          </a:prstGeom>
          <a:solidFill>
            <a:srgbClr val="A9B6C8"/>
          </a:solidFill>
          <a:ln/>
        </p:spPr>
        <p:txBody>
          <a:bodyPr/>
          <a:lstStyle/>
          <a:p>
            <a:endParaRPr lang="en-US"/>
          </a:p>
        </p:txBody>
      </p:sp>
      <p:sp>
        <p:nvSpPr>
          <p:cNvPr id="92" name="Shape 90"/>
          <p:cNvSpPr/>
          <p:nvPr/>
        </p:nvSpPr>
        <p:spPr>
          <a:xfrm>
            <a:off x="6632206" y="3064676"/>
            <a:ext cx="41148" cy="41148"/>
          </a:xfrm>
          <a:prstGeom prst="ellipse">
            <a:avLst/>
          </a:prstGeom>
          <a:solidFill>
            <a:srgbClr val="A9B6C8"/>
          </a:solidFill>
          <a:ln/>
        </p:spPr>
        <p:txBody>
          <a:bodyPr/>
          <a:lstStyle/>
          <a:p>
            <a:endParaRPr lang="en-US"/>
          </a:p>
        </p:txBody>
      </p:sp>
      <p:sp>
        <p:nvSpPr>
          <p:cNvPr id="93" name="Shape 91"/>
          <p:cNvSpPr/>
          <p:nvPr/>
        </p:nvSpPr>
        <p:spPr>
          <a:xfrm>
            <a:off x="6694087" y="3016216"/>
            <a:ext cx="41148" cy="41148"/>
          </a:xfrm>
          <a:prstGeom prst="ellipse">
            <a:avLst/>
          </a:prstGeom>
          <a:solidFill>
            <a:srgbClr val="A9B6C8"/>
          </a:solidFill>
          <a:ln/>
        </p:spPr>
        <p:txBody>
          <a:bodyPr/>
          <a:lstStyle/>
          <a:p>
            <a:endParaRPr lang="en-US"/>
          </a:p>
        </p:txBody>
      </p:sp>
      <p:sp>
        <p:nvSpPr>
          <p:cNvPr id="94" name="Shape 92"/>
          <p:cNvSpPr/>
          <p:nvPr/>
        </p:nvSpPr>
        <p:spPr>
          <a:xfrm>
            <a:off x="6755968" y="2962656"/>
            <a:ext cx="41148" cy="41148"/>
          </a:xfrm>
          <a:prstGeom prst="ellipse">
            <a:avLst/>
          </a:prstGeom>
          <a:solidFill>
            <a:srgbClr val="A9B6C8"/>
          </a:solidFill>
          <a:ln/>
        </p:spPr>
        <p:txBody>
          <a:bodyPr/>
          <a:lstStyle/>
          <a:p>
            <a:endParaRPr lang="en-US"/>
          </a:p>
        </p:txBody>
      </p:sp>
      <p:sp>
        <p:nvSpPr>
          <p:cNvPr id="95" name="Shape 93"/>
          <p:cNvSpPr/>
          <p:nvPr/>
        </p:nvSpPr>
        <p:spPr>
          <a:xfrm>
            <a:off x="6817850" y="2903995"/>
            <a:ext cx="41148" cy="41148"/>
          </a:xfrm>
          <a:prstGeom prst="ellipse">
            <a:avLst/>
          </a:prstGeom>
          <a:solidFill>
            <a:srgbClr val="A9B6C8"/>
          </a:solidFill>
          <a:ln/>
        </p:spPr>
        <p:txBody>
          <a:bodyPr/>
          <a:lstStyle/>
          <a:p>
            <a:endParaRPr lang="en-US"/>
          </a:p>
        </p:txBody>
      </p:sp>
      <p:sp>
        <p:nvSpPr>
          <p:cNvPr id="96" name="Shape 94"/>
          <p:cNvSpPr/>
          <p:nvPr/>
        </p:nvSpPr>
        <p:spPr>
          <a:xfrm>
            <a:off x="6879731" y="2840232"/>
            <a:ext cx="41148" cy="41148"/>
          </a:xfrm>
          <a:prstGeom prst="ellipse">
            <a:avLst/>
          </a:prstGeom>
          <a:solidFill>
            <a:srgbClr val="A9B6C8"/>
          </a:solidFill>
          <a:ln/>
        </p:spPr>
        <p:txBody>
          <a:bodyPr/>
          <a:lstStyle/>
          <a:p>
            <a:endParaRPr lang="en-US"/>
          </a:p>
        </p:txBody>
      </p:sp>
      <p:sp>
        <p:nvSpPr>
          <p:cNvPr id="97" name="Shape 95"/>
          <p:cNvSpPr/>
          <p:nvPr/>
        </p:nvSpPr>
        <p:spPr>
          <a:xfrm>
            <a:off x="6941612" y="2771369"/>
            <a:ext cx="41148" cy="41148"/>
          </a:xfrm>
          <a:prstGeom prst="ellipse">
            <a:avLst/>
          </a:prstGeom>
          <a:solidFill>
            <a:srgbClr val="A9B6C8"/>
          </a:solidFill>
          <a:ln/>
        </p:spPr>
        <p:txBody>
          <a:bodyPr/>
          <a:lstStyle/>
          <a:p>
            <a:endParaRPr lang="en-US"/>
          </a:p>
        </p:txBody>
      </p:sp>
      <p:sp>
        <p:nvSpPr>
          <p:cNvPr id="98" name="Shape 96"/>
          <p:cNvSpPr/>
          <p:nvPr/>
        </p:nvSpPr>
        <p:spPr>
          <a:xfrm>
            <a:off x="7003494" y="2697404"/>
            <a:ext cx="41148" cy="41148"/>
          </a:xfrm>
          <a:prstGeom prst="ellipse">
            <a:avLst/>
          </a:prstGeom>
          <a:solidFill>
            <a:srgbClr val="A9B6C8"/>
          </a:solidFill>
          <a:ln/>
        </p:spPr>
        <p:txBody>
          <a:bodyPr/>
          <a:lstStyle/>
          <a:p>
            <a:endParaRPr lang="en-US"/>
          </a:p>
        </p:txBody>
      </p:sp>
      <p:sp>
        <p:nvSpPr>
          <p:cNvPr id="99" name="Shape 97"/>
          <p:cNvSpPr/>
          <p:nvPr/>
        </p:nvSpPr>
        <p:spPr>
          <a:xfrm>
            <a:off x="7065375" y="2618339"/>
            <a:ext cx="41148" cy="41148"/>
          </a:xfrm>
          <a:prstGeom prst="ellipse">
            <a:avLst/>
          </a:prstGeom>
          <a:solidFill>
            <a:srgbClr val="A9B6C8"/>
          </a:solidFill>
          <a:ln/>
        </p:spPr>
        <p:txBody>
          <a:bodyPr/>
          <a:lstStyle/>
          <a:p>
            <a:endParaRPr lang="en-US"/>
          </a:p>
        </p:txBody>
      </p:sp>
      <p:sp>
        <p:nvSpPr>
          <p:cNvPr id="100" name="Shape 98"/>
          <p:cNvSpPr/>
          <p:nvPr/>
        </p:nvSpPr>
        <p:spPr>
          <a:xfrm>
            <a:off x="7127256" y="2534173"/>
            <a:ext cx="41148" cy="41148"/>
          </a:xfrm>
          <a:prstGeom prst="ellipse">
            <a:avLst/>
          </a:prstGeom>
          <a:solidFill>
            <a:srgbClr val="A9B6C8"/>
          </a:solidFill>
          <a:ln/>
        </p:spPr>
        <p:txBody>
          <a:bodyPr/>
          <a:lstStyle/>
          <a:p>
            <a:endParaRPr lang="en-US"/>
          </a:p>
        </p:txBody>
      </p:sp>
      <p:sp>
        <p:nvSpPr>
          <p:cNvPr id="101" name="Shape 99"/>
          <p:cNvSpPr/>
          <p:nvPr/>
        </p:nvSpPr>
        <p:spPr>
          <a:xfrm>
            <a:off x="7189137" y="2444905"/>
            <a:ext cx="41148" cy="41148"/>
          </a:xfrm>
          <a:prstGeom prst="ellipse">
            <a:avLst/>
          </a:prstGeom>
          <a:solidFill>
            <a:srgbClr val="A9B6C8"/>
          </a:solidFill>
          <a:ln/>
        </p:spPr>
        <p:txBody>
          <a:bodyPr/>
          <a:lstStyle/>
          <a:p>
            <a:endParaRPr lang="en-US"/>
          </a:p>
        </p:txBody>
      </p:sp>
      <p:sp>
        <p:nvSpPr>
          <p:cNvPr id="102" name="Shape 100"/>
          <p:cNvSpPr/>
          <p:nvPr/>
        </p:nvSpPr>
        <p:spPr>
          <a:xfrm>
            <a:off x="7251019" y="2350537"/>
            <a:ext cx="41148" cy="41148"/>
          </a:xfrm>
          <a:prstGeom prst="ellipse">
            <a:avLst/>
          </a:prstGeom>
          <a:solidFill>
            <a:srgbClr val="A9B6C8"/>
          </a:solidFill>
          <a:ln/>
        </p:spPr>
        <p:txBody>
          <a:bodyPr/>
          <a:lstStyle/>
          <a:p>
            <a:endParaRPr lang="en-US"/>
          </a:p>
        </p:txBody>
      </p:sp>
      <p:sp>
        <p:nvSpPr>
          <p:cNvPr id="103" name="Shape 101"/>
          <p:cNvSpPr/>
          <p:nvPr/>
        </p:nvSpPr>
        <p:spPr>
          <a:xfrm>
            <a:off x="7312900" y="2251068"/>
            <a:ext cx="41148" cy="41148"/>
          </a:xfrm>
          <a:prstGeom prst="ellipse">
            <a:avLst/>
          </a:prstGeom>
          <a:solidFill>
            <a:srgbClr val="A9B6C8"/>
          </a:solidFill>
          <a:ln/>
        </p:spPr>
        <p:txBody>
          <a:bodyPr/>
          <a:lstStyle/>
          <a:p>
            <a:endParaRPr lang="en-US"/>
          </a:p>
        </p:txBody>
      </p:sp>
      <p:sp>
        <p:nvSpPr>
          <p:cNvPr id="104" name="Shape 102"/>
          <p:cNvSpPr/>
          <p:nvPr/>
        </p:nvSpPr>
        <p:spPr>
          <a:xfrm>
            <a:off x="7374781" y="2146497"/>
            <a:ext cx="41148" cy="41148"/>
          </a:xfrm>
          <a:prstGeom prst="ellipse">
            <a:avLst/>
          </a:prstGeom>
          <a:solidFill>
            <a:srgbClr val="A9B6C8"/>
          </a:solidFill>
          <a:ln/>
        </p:spPr>
        <p:txBody>
          <a:bodyPr/>
          <a:lstStyle/>
          <a:p>
            <a:endParaRPr lang="en-US"/>
          </a:p>
        </p:txBody>
      </p:sp>
      <p:sp>
        <p:nvSpPr>
          <p:cNvPr id="105" name="Shape 103"/>
          <p:cNvSpPr/>
          <p:nvPr/>
        </p:nvSpPr>
        <p:spPr>
          <a:xfrm>
            <a:off x="7436663" y="2036826"/>
            <a:ext cx="41148" cy="41148"/>
          </a:xfrm>
          <a:prstGeom prst="ellipse">
            <a:avLst/>
          </a:prstGeom>
          <a:solidFill>
            <a:srgbClr val="A9B6C8"/>
          </a:solidFill>
          <a:ln/>
        </p:spPr>
        <p:txBody>
          <a:bodyPr/>
          <a:lstStyle/>
          <a:p>
            <a:endParaRPr lang="en-US"/>
          </a:p>
        </p:txBody>
      </p:sp>
      <p:sp>
        <p:nvSpPr>
          <p:cNvPr id="106" name="Shape 104"/>
          <p:cNvSpPr/>
          <p:nvPr/>
        </p:nvSpPr>
        <p:spPr>
          <a:xfrm>
            <a:off x="5155979" y="2717633"/>
            <a:ext cx="137160" cy="137160"/>
          </a:xfrm>
          <a:prstGeom prst="ellipse">
            <a:avLst/>
          </a:prstGeom>
          <a:solidFill>
            <a:srgbClr val="B33A2A"/>
          </a:solidFill>
          <a:ln/>
        </p:spPr>
        <p:txBody>
          <a:bodyPr/>
          <a:lstStyle/>
          <a:p>
            <a:endParaRPr lang="en-US"/>
          </a:p>
        </p:txBody>
      </p:sp>
      <p:sp>
        <p:nvSpPr>
          <p:cNvPr id="107" name="Shape 105"/>
          <p:cNvSpPr/>
          <p:nvPr/>
        </p:nvSpPr>
        <p:spPr>
          <a:xfrm>
            <a:off x="7007468" y="2583326"/>
            <a:ext cx="137160" cy="137160"/>
          </a:xfrm>
          <a:prstGeom prst="ellipse">
            <a:avLst/>
          </a:prstGeom>
          <a:solidFill>
            <a:srgbClr val="B33A2A"/>
          </a:solidFill>
          <a:ln/>
        </p:spPr>
        <p:txBody>
          <a:bodyPr/>
          <a:lstStyle/>
          <a:p>
            <a:endParaRPr lang="en-US"/>
          </a:p>
        </p:txBody>
      </p:sp>
      <p:sp>
        <p:nvSpPr>
          <p:cNvPr id="108" name="Shape 106"/>
          <p:cNvSpPr/>
          <p:nvPr/>
        </p:nvSpPr>
        <p:spPr>
          <a:xfrm>
            <a:off x="4829245" y="2267310"/>
            <a:ext cx="137160" cy="137160"/>
          </a:xfrm>
          <a:prstGeom prst="ellipse">
            <a:avLst/>
          </a:prstGeom>
          <a:solidFill>
            <a:srgbClr val="B33A2A"/>
          </a:solidFill>
          <a:ln/>
        </p:spPr>
        <p:txBody>
          <a:bodyPr/>
          <a:lstStyle/>
          <a:p>
            <a:endParaRPr lang="en-US"/>
          </a:p>
        </p:txBody>
      </p:sp>
      <p:sp>
        <p:nvSpPr>
          <p:cNvPr id="109" name="Shape 107"/>
          <p:cNvSpPr/>
          <p:nvPr/>
        </p:nvSpPr>
        <p:spPr>
          <a:xfrm>
            <a:off x="7225290" y="2267310"/>
            <a:ext cx="137160" cy="137160"/>
          </a:xfrm>
          <a:prstGeom prst="ellipse">
            <a:avLst/>
          </a:prstGeom>
          <a:solidFill>
            <a:srgbClr val="B33A2A"/>
          </a:solidFill>
          <a:ln/>
        </p:spPr>
        <p:txBody>
          <a:bodyPr/>
          <a:lstStyle/>
          <a:p>
            <a:endParaRPr lang="en-US"/>
          </a:p>
        </p:txBody>
      </p:sp>
      <p:sp>
        <p:nvSpPr>
          <p:cNvPr id="110" name="Shape 108"/>
          <p:cNvSpPr/>
          <p:nvPr/>
        </p:nvSpPr>
        <p:spPr>
          <a:xfrm>
            <a:off x="4720334" y="2085600"/>
            <a:ext cx="137160" cy="137160"/>
          </a:xfrm>
          <a:prstGeom prst="ellipse">
            <a:avLst/>
          </a:prstGeom>
          <a:solidFill>
            <a:srgbClr val="B33A2A"/>
          </a:solidFill>
          <a:ln/>
        </p:spPr>
        <p:txBody>
          <a:bodyPr/>
          <a:lstStyle/>
          <a:p>
            <a:endParaRPr lang="en-US"/>
          </a:p>
        </p:txBody>
      </p:sp>
      <p:sp>
        <p:nvSpPr>
          <p:cNvPr id="111" name="Text 109"/>
          <p:cNvSpPr txBox="1"/>
          <p:nvPr/>
        </p:nvSpPr>
        <p:spPr>
          <a:xfrm>
            <a:off x="4624730" y="3520440"/>
            <a:ext cx="2942234" cy="960120"/>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Each step overshoots the valley and lands higher up the far side. The loss increases. Training diverges and everything is wasted.</a:t>
            </a:r>
            <a:endParaRPr lang="en-US" sz="1200" dirty="0"/>
          </a:p>
        </p:txBody>
      </p:sp>
      <p:sp>
        <p:nvSpPr>
          <p:cNvPr id="112" name="Shape 110"/>
          <p:cNvSpPr/>
          <p:nvPr/>
        </p:nvSpPr>
        <p:spPr>
          <a:xfrm>
            <a:off x="8097317" y="1371600"/>
            <a:ext cx="3454298" cy="3246120"/>
          </a:xfrm>
          <a:prstGeom prst="roundRect">
            <a:avLst>
              <a:gd name="adj" fmla="val 2254"/>
            </a:avLst>
          </a:prstGeom>
          <a:solidFill>
            <a:srgbClr val="E7EEF8"/>
          </a:solidFill>
          <a:ln w="12700">
            <a:solidFill>
              <a:srgbClr val="E7EEF8"/>
            </a:solidFill>
            <a:prstDash val="solid"/>
          </a:ln>
        </p:spPr>
        <p:txBody>
          <a:bodyPr/>
          <a:lstStyle/>
          <a:p>
            <a:endParaRPr lang="en-US"/>
          </a:p>
        </p:txBody>
      </p:sp>
      <p:sp>
        <p:nvSpPr>
          <p:cNvPr id="113" name="Text 111"/>
          <p:cNvSpPr txBox="1"/>
          <p:nvPr/>
        </p:nvSpPr>
        <p:spPr>
          <a:xfrm>
            <a:off x="8353349" y="1554480"/>
            <a:ext cx="2942234" cy="365760"/>
          </a:xfrm>
          <a:prstGeom prst="rect">
            <a:avLst/>
          </a:prstGeom>
          <a:noFill/>
          <a:ln/>
        </p:spPr>
        <p:txBody>
          <a:bodyPr wrap="square" lIns="0" tIns="0" rIns="0" bIns="0" rtlCol="0" anchor="ctr"/>
          <a:lstStyle/>
          <a:p>
            <a:pPr marL="0" indent="0" algn="ctr">
              <a:buNone/>
            </a:pPr>
            <a:r>
              <a:rPr lang="en-US" sz="1800" b="1" dirty="0">
                <a:solidFill>
                  <a:srgbClr val="111722"/>
                </a:solidFill>
                <a:latin typeface="Cambria Math" pitchFamily="34" charset="0"/>
                <a:ea typeface="Cambria Math" pitchFamily="34" charset="-122"/>
                <a:cs typeface="Cambria Math" pitchFamily="34" charset="-120"/>
              </a:rPr>
              <a:t>η about right</a:t>
            </a:r>
            <a:endParaRPr lang="en-US" sz="1800" dirty="0"/>
          </a:p>
        </p:txBody>
      </p:sp>
      <p:sp>
        <p:nvSpPr>
          <p:cNvPr id="114" name="Shape 112"/>
          <p:cNvSpPr/>
          <p:nvPr/>
        </p:nvSpPr>
        <p:spPr>
          <a:xfrm>
            <a:off x="8442503" y="2036826"/>
            <a:ext cx="41148" cy="41148"/>
          </a:xfrm>
          <a:prstGeom prst="ellipse">
            <a:avLst/>
          </a:prstGeom>
          <a:solidFill>
            <a:srgbClr val="A9B6C8"/>
          </a:solidFill>
          <a:ln/>
        </p:spPr>
        <p:txBody>
          <a:bodyPr/>
          <a:lstStyle/>
          <a:p>
            <a:endParaRPr lang="en-US"/>
          </a:p>
        </p:txBody>
      </p:sp>
      <p:sp>
        <p:nvSpPr>
          <p:cNvPr id="115" name="Shape 113"/>
          <p:cNvSpPr/>
          <p:nvPr/>
        </p:nvSpPr>
        <p:spPr>
          <a:xfrm>
            <a:off x="8504384" y="2146497"/>
            <a:ext cx="41148" cy="41148"/>
          </a:xfrm>
          <a:prstGeom prst="ellipse">
            <a:avLst/>
          </a:prstGeom>
          <a:solidFill>
            <a:srgbClr val="A9B6C8"/>
          </a:solidFill>
          <a:ln/>
        </p:spPr>
        <p:txBody>
          <a:bodyPr/>
          <a:lstStyle/>
          <a:p>
            <a:endParaRPr lang="en-US"/>
          </a:p>
        </p:txBody>
      </p:sp>
      <p:sp>
        <p:nvSpPr>
          <p:cNvPr id="116" name="Shape 114"/>
          <p:cNvSpPr/>
          <p:nvPr/>
        </p:nvSpPr>
        <p:spPr>
          <a:xfrm>
            <a:off x="8566265" y="2251068"/>
            <a:ext cx="41148" cy="41148"/>
          </a:xfrm>
          <a:prstGeom prst="ellipse">
            <a:avLst/>
          </a:prstGeom>
          <a:solidFill>
            <a:srgbClr val="A9B6C8"/>
          </a:solidFill>
          <a:ln/>
        </p:spPr>
        <p:txBody>
          <a:bodyPr/>
          <a:lstStyle/>
          <a:p>
            <a:endParaRPr lang="en-US"/>
          </a:p>
        </p:txBody>
      </p:sp>
      <p:sp>
        <p:nvSpPr>
          <p:cNvPr id="117" name="Shape 115"/>
          <p:cNvSpPr/>
          <p:nvPr/>
        </p:nvSpPr>
        <p:spPr>
          <a:xfrm>
            <a:off x="8628147" y="2350537"/>
            <a:ext cx="41148" cy="41148"/>
          </a:xfrm>
          <a:prstGeom prst="ellipse">
            <a:avLst/>
          </a:prstGeom>
          <a:solidFill>
            <a:srgbClr val="A9B6C8"/>
          </a:solidFill>
          <a:ln/>
        </p:spPr>
        <p:txBody>
          <a:bodyPr/>
          <a:lstStyle/>
          <a:p>
            <a:endParaRPr lang="en-US"/>
          </a:p>
        </p:txBody>
      </p:sp>
      <p:sp>
        <p:nvSpPr>
          <p:cNvPr id="118" name="Shape 116"/>
          <p:cNvSpPr/>
          <p:nvPr/>
        </p:nvSpPr>
        <p:spPr>
          <a:xfrm>
            <a:off x="8690028" y="2444905"/>
            <a:ext cx="41148" cy="41148"/>
          </a:xfrm>
          <a:prstGeom prst="ellipse">
            <a:avLst/>
          </a:prstGeom>
          <a:solidFill>
            <a:srgbClr val="A9B6C8"/>
          </a:solidFill>
          <a:ln/>
        </p:spPr>
        <p:txBody>
          <a:bodyPr/>
          <a:lstStyle/>
          <a:p>
            <a:endParaRPr lang="en-US"/>
          </a:p>
        </p:txBody>
      </p:sp>
      <p:sp>
        <p:nvSpPr>
          <p:cNvPr id="119" name="Shape 117"/>
          <p:cNvSpPr/>
          <p:nvPr/>
        </p:nvSpPr>
        <p:spPr>
          <a:xfrm>
            <a:off x="8751909" y="2534173"/>
            <a:ext cx="41148" cy="41148"/>
          </a:xfrm>
          <a:prstGeom prst="ellipse">
            <a:avLst/>
          </a:prstGeom>
          <a:solidFill>
            <a:srgbClr val="A9B6C8"/>
          </a:solidFill>
          <a:ln/>
        </p:spPr>
        <p:txBody>
          <a:bodyPr/>
          <a:lstStyle/>
          <a:p>
            <a:endParaRPr lang="en-US"/>
          </a:p>
        </p:txBody>
      </p:sp>
      <p:sp>
        <p:nvSpPr>
          <p:cNvPr id="120" name="Shape 118"/>
          <p:cNvSpPr/>
          <p:nvPr/>
        </p:nvSpPr>
        <p:spPr>
          <a:xfrm>
            <a:off x="8813791" y="2618339"/>
            <a:ext cx="41148" cy="41148"/>
          </a:xfrm>
          <a:prstGeom prst="ellipse">
            <a:avLst/>
          </a:prstGeom>
          <a:solidFill>
            <a:srgbClr val="A9B6C8"/>
          </a:solidFill>
          <a:ln/>
        </p:spPr>
        <p:txBody>
          <a:bodyPr/>
          <a:lstStyle/>
          <a:p>
            <a:endParaRPr lang="en-US"/>
          </a:p>
        </p:txBody>
      </p:sp>
      <p:sp>
        <p:nvSpPr>
          <p:cNvPr id="121" name="Shape 119"/>
          <p:cNvSpPr/>
          <p:nvPr/>
        </p:nvSpPr>
        <p:spPr>
          <a:xfrm>
            <a:off x="8875672" y="2697404"/>
            <a:ext cx="41148" cy="41148"/>
          </a:xfrm>
          <a:prstGeom prst="ellipse">
            <a:avLst/>
          </a:prstGeom>
          <a:solidFill>
            <a:srgbClr val="A9B6C8"/>
          </a:solidFill>
          <a:ln/>
        </p:spPr>
        <p:txBody>
          <a:bodyPr/>
          <a:lstStyle/>
          <a:p>
            <a:endParaRPr lang="en-US"/>
          </a:p>
        </p:txBody>
      </p:sp>
      <p:sp>
        <p:nvSpPr>
          <p:cNvPr id="122" name="Shape 120"/>
          <p:cNvSpPr/>
          <p:nvPr/>
        </p:nvSpPr>
        <p:spPr>
          <a:xfrm>
            <a:off x="8937553" y="2771369"/>
            <a:ext cx="41148" cy="41148"/>
          </a:xfrm>
          <a:prstGeom prst="ellipse">
            <a:avLst/>
          </a:prstGeom>
          <a:solidFill>
            <a:srgbClr val="A9B6C8"/>
          </a:solidFill>
          <a:ln/>
        </p:spPr>
        <p:txBody>
          <a:bodyPr/>
          <a:lstStyle/>
          <a:p>
            <a:endParaRPr lang="en-US"/>
          </a:p>
        </p:txBody>
      </p:sp>
      <p:sp>
        <p:nvSpPr>
          <p:cNvPr id="123" name="Shape 121"/>
          <p:cNvSpPr/>
          <p:nvPr/>
        </p:nvSpPr>
        <p:spPr>
          <a:xfrm>
            <a:off x="8999435" y="2840232"/>
            <a:ext cx="41148" cy="41148"/>
          </a:xfrm>
          <a:prstGeom prst="ellipse">
            <a:avLst/>
          </a:prstGeom>
          <a:solidFill>
            <a:srgbClr val="A9B6C8"/>
          </a:solidFill>
          <a:ln/>
        </p:spPr>
        <p:txBody>
          <a:bodyPr/>
          <a:lstStyle/>
          <a:p>
            <a:endParaRPr lang="en-US"/>
          </a:p>
        </p:txBody>
      </p:sp>
      <p:sp>
        <p:nvSpPr>
          <p:cNvPr id="124" name="Shape 122"/>
          <p:cNvSpPr/>
          <p:nvPr/>
        </p:nvSpPr>
        <p:spPr>
          <a:xfrm>
            <a:off x="9061316" y="2903995"/>
            <a:ext cx="41148" cy="41148"/>
          </a:xfrm>
          <a:prstGeom prst="ellipse">
            <a:avLst/>
          </a:prstGeom>
          <a:solidFill>
            <a:srgbClr val="A9B6C8"/>
          </a:solidFill>
          <a:ln/>
        </p:spPr>
        <p:txBody>
          <a:bodyPr/>
          <a:lstStyle/>
          <a:p>
            <a:endParaRPr lang="en-US"/>
          </a:p>
        </p:txBody>
      </p:sp>
      <p:sp>
        <p:nvSpPr>
          <p:cNvPr id="125" name="Shape 123"/>
          <p:cNvSpPr/>
          <p:nvPr/>
        </p:nvSpPr>
        <p:spPr>
          <a:xfrm>
            <a:off x="9123197" y="2962656"/>
            <a:ext cx="41148" cy="41148"/>
          </a:xfrm>
          <a:prstGeom prst="ellipse">
            <a:avLst/>
          </a:prstGeom>
          <a:solidFill>
            <a:srgbClr val="A9B6C8"/>
          </a:solidFill>
          <a:ln/>
        </p:spPr>
        <p:txBody>
          <a:bodyPr/>
          <a:lstStyle/>
          <a:p>
            <a:endParaRPr lang="en-US"/>
          </a:p>
        </p:txBody>
      </p:sp>
      <p:sp>
        <p:nvSpPr>
          <p:cNvPr id="126" name="Shape 124"/>
          <p:cNvSpPr/>
          <p:nvPr/>
        </p:nvSpPr>
        <p:spPr>
          <a:xfrm>
            <a:off x="9185079" y="3016216"/>
            <a:ext cx="41148" cy="41148"/>
          </a:xfrm>
          <a:prstGeom prst="ellipse">
            <a:avLst/>
          </a:prstGeom>
          <a:solidFill>
            <a:srgbClr val="A9B6C8"/>
          </a:solidFill>
          <a:ln/>
        </p:spPr>
        <p:txBody>
          <a:bodyPr/>
          <a:lstStyle/>
          <a:p>
            <a:endParaRPr lang="en-US"/>
          </a:p>
        </p:txBody>
      </p:sp>
      <p:sp>
        <p:nvSpPr>
          <p:cNvPr id="127" name="Shape 125"/>
          <p:cNvSpPr/>
          <p:nvPr/>
        </p:nvSpPr>
        <p:spPr>
          <a:xfrm>
            <a:off x="9246960" y="3064676"/>
            <a:ext cx="41148" cy="41148"/>
          </a:xfrm>
          <a:prstGeom prst="ellipse">
            <a:avLst/>
          </a:prstGeom>
          <a:solidFill>
            <a:srgbClr val="A9B6C8"/>
          </a:solidFill>
          <a:ln/>
        </p:spPr>
        <p:txBody>
          <a:bodyPr/>
          <a:lstStyle/>
          <a:p>
            <a:endParaRPr lang="en-US"/>
          </a:p>
        </p:txBody>
      </p:sp>
      <p:sp>
        <p:nvSpPr>
          <p:cNvPr id="128" name="Shape 126"/>
          <p:cNvSpPr/>
          <p:nvPr/>
        </p:nvSpPr>
        <p:spPr>
          <a:xfrm>
            <a:off x="9308841" y="3108034"/>
            <a:ext cx="41148" cy="41148"/>
          </a:xfrm>
          <a:prstGeom prst="ellipse">
            <a:avLst/>
          </a:prstGeom>
          <a:solidFill>
            <a:srgbClr val="A9B6C8"/>
          </a:solidFill>
          <a:ln/>
        </p:spPr>
        <p:txBody>
          <a:bodyPr/>
          <a:lstStyle/>
          <a:p>
            <a:endParaRPr lang="en-US"/>
          </a:p>
        </p:txBody>
      </p:sp>
      <p:sp>
        <p:nvSpPr>
          <p:cNvPr id="129" name="Shape 127"/>
          <p:cNvSpPr/>
          <p:nvPr/>
        </p:nvSpPr>
        <p:spPr>
          <a:xfrm>
            <a:off x="9370723" y="3146292"/>
            <a:ext cx="41148" cy="41148"/>
          </a:xfrm>
          <a:prstGeom prst="ellipse">
            <a:avLst/>
          </a:prstGeom>
          <a:solidFill>
            <a:srgbClr val="A9B6C8"/>
          </a:solidFill>
          <a:ln/>
        </p:spPr>
        <p:txBody>
          <a:bodyPr/>
          <a:lstStyle/>
          <a:p>
            <a:endParaRPr lang="en-US"/>
          </a:p>
        </p:txBody>
      </p:sp>
      <p:sp>
        <p:nvSpPr>
          <p:cNvPr id="130" name="Shape 128"/>
          <p:cNvSpPr/>
          <p:nvPr/>
        </p:nvSpPr>
        <p:spPr>
          <a:xfrm>
            <a:off x="9432604" y="3179448"/>
            <a:ext cx="41148" cy="41148"/>
          </a:xfrm>
          <a:prstGeom prst="ellipse">
            <a:avLst/>
          </a:prstGeom>
          <a:solidFill>
            <a:srgbClr val="A9B6C8"/>
          </a:solidFill>
          <a:ln/>
        </p:spPr>
        <p:txBody>
          <a:bodyPr/>
          <a:lstStyle/>
          <a:p>
            <a:endParaRPr lang="en-US"/>
          </a:p>
        </p:txBody>
      </p:sp>
      <p:sp>
        <p:nvSpPr>
          <p:cNvPr id="131" name="Shape 129"/>
          <p:cNvSpPr/>
          <p:nvPr/>
        </p:nvSpPr>
        <p:spPr>
          <a:xfrm>
            <a:off x="9494485" y="3207504"/>
            <a:ext cx="41148" cy="41148"/>
          </a:xfrm>
          <a:prstGeom prst="ellipse">
            <a:avLst/>
          </a:prstGeom>
          <a:solidFill>
            <a:srgbClr val="A9B6C8"/>
          </a:solidFill>
          <a:ln/>
        </p:spPr>
        <p:txBody>
          <a:bodyPr/>
          <a:lstStyle/>
          <a:p>
            <a:endParaRPr lang="en-US"/>
          </a:p>
        </p:txBody>
      </p:sp>
      <p:sp>
        <p:nvSpPr>
          <p:cNvPr id="132" name="Shape 130"/>
          <p:cNvSpPr/>
          <p:nvPr/>
        </p:nvSpPr>
        <p:spPr>
          <a:xfrm>
            <a:off x="9556367" y="3230458"/>
            <a:ext cx="41148" cy="41148"/>
          </a:xfrm>
          <a:prstGeom prst="ellipse">
            <a:avLst/>
          </a:prstGeom>
          <a:solidFill>
            <a:srgbClr val="A9B6C8"/>
          </a:solidFill>
          <a:ln/>
        </p:spPr>
        <p:txBody>
          <a:bodyPr/>
          <a:lstStyle/>
          <a:p>
            <a:endParaRPr lang="en-US"/>
          </a:p>
        </p:txBody>
      </p:sp>
      <p:sp>
        <p:nvSpPr>
          <p:cNvPr id="133" name="Shape 131"/>
          <p:cNvSpPr/>
          <p:nvPr/>
        </p:nvSpPr>
        <p:spPr>
          <a:xfrm>
            <a:off x="9618248" y="3248312"/>
            <a:ext cx="41148" cy="41148"/>
          </a:xfrm>
          <a:prstGeom prst="ellipse">
            <a:avLst/>
          </a:prstGeom>
          <a:solidFill>
            <a:srgbClr val="A9B6C8"/>
          </a:solidFill>
          <a:ln/>
        </p:spPr>
        <p:txBody>
          <a:bodyPr/>
          <a:lstStyle/>
          <a:p>
            <a:endParaRPr lang="en-US"/>
          </a:p>
        </p:txBody>
      </p:sp>
      <p:sp>
        <p:nvSpPr>
          <p:cNvPr id="134" name="Shape 132"/>
          <p:cNvSpPr/>
          <p:nvPr/>
        </p:nvSpPr>
        <p:spPr>
          <a:xfrm>
            <a:off x="9680129" y="3261064"/>
            <a:ext cx="41148" cy="41148"/>
          </a:xfrm>
          <a:prstGeom prst="ellipse">
            <a:avLst/>
          </a:prstGeom>
          <a:solidFill>
            <a:srgbClr val="A9B6C8"/>
          </a:solidFill>
          <a:ln/>
        </p:spPr>
        <p:txBody>
          <a:bodyPr/>
          <a:lstStyle/>
          <a:p>
            <a:endParaRPr lang="en-US"/>
          </a:p>
        </p:txBody>
      </p:sp>
      <p:sp>
        <p:nvSpPr>
          <p:cNvPr id="135" name="Shape 133"/>
          <p:cNvSpPr/>
          <p:nvPr/>
        </p:nvSpPr>
        <p:spPr>
          <a:xfrm>
            <a:off x="9742011" y="3268716"/>
            <a:ext cx="41148" cy="41148"/>
          </a:xfrm>
          <a:prstGeom prst="ellipse">
            <a:avLst/>
          </a:prstGeom>
          <a:solidFill>
            <a:srgbClr val="A9B6C8"/>
          </a:solidFill>
          <a:ln/>
        </p:spPr>
        <p:txBody>
          <a:bodyPr/>
          <a:lstStyle/>
          <a:p>
            <a:endParaRPr lang="en-US"/>
          </a:p>
        </p:txBody>
      </p:sp>
      <p:sp>
        <p:nvSpPr>
          <p:cNvPr id="136" name="Shape 134"/>
          <p:cNvSpPr/>
          <p:nvPr/>
        </p:nvSpPr>
        <p:spPr>
          <a:xfrm>
            <a:off x="9803892" y="3271266"/>
            <a:ext cx="41148" cy="41148"/>
          </a:xfrm>
          <a:prstGeom prst="ellipse">
            <a:avLst/>
          </a:prstGeom>
          <a:solidFill>
            <a:srgbClr val="A9B6C8"/>
          </a:solidFill>
          <a:ln/>
        </p:spPr>
        <p:txBody>
          <a:bodyPr/>
          <a:lstStyle/>
          <a:p>
            <a:endParaRPr lang="en-US"/>
          </a:p>
        </p:txBody>
      </p:sp>
      <p:sp>
        <p:nvSpPr>
          <p:cNvPr id="137" name="Shape 135"/>
          <p:cNvSpPr/>
          <p:nvPr/>
        </p:nvSpPr>
        <p:spPr>
          <a:xfrm>
            <a:off x="9865773" y="3268716"/>
            <a:ext cx="41148" cy="41148"/>
          </a:xfrm>
          <a:prstGeom prst="ellipse">
            <a:avLst/>
          </a:prstGeom>
          <a:solidFill>
            <a:srgbClr val="A9B6C8"/>
          </a:solidFill>
          <a:ln/>
        </p:spPr>
        <p:txBody>
          <a:bodyPr/>
          <a:lstStyle/>
          <a:p>
            <a:endParaRPr lang="en-US"/>
          </a:p>
        </p:txBody>
      </p:sp>
      <p:sp>
        <p:nvSpPr>
          <p:cNvPr id="138" name="Shape 136"/>
          <p:cNvSpPr/>
          <p:nvPr/>
        </p:nvSpPr>
        <p:spPr>
          <a:xfrm>
            <a:off x="9927655" y="3261064"/>
            <a:ext cx="41148" cy="41148"/>
          </a:xfrm>
          <a:prstGeom prst="ellipse">
            <a:avLst/>
          </a:prstGeom>
          <a:solidFill>
            <a:srgbClr val="A9B6C8"/>
          </a:solidFill>
          <a:ln/>
        </p:spPr>
        <p:txBody>
          <a:bodyPr/>
          <a:lstStyle/>
          <a:p>
            <a:endParaRPr lang="en-US"/>
          </a:p>
        </p:txBody>
      </p:sp>
      <p:sp>
        <p:nvSpPr>
          <p:cNvPr id="139" name="Shape 137"/>
          <p:cNvSpPr/>
          <p:nvPr/>
        </p:nvSpPr>
        <p:spPr>
          <a:xfrm>
            <a:off x="9989536" y="3248312"/>
            <a:ext cx="41148" cy="41148"/>
          </a:xfrm>
          <a:prstGeom prst="ellipse">
            <a:avLst/>
          </a:prstGeom>
          <a:solidFill>
            <a:srgbClr val="A9B6C8"/>
          </a:solidFill>
          <a:ln/>
        </p:spPr>
        <p:txBody>
          <a:bodyPr/>
          <a:lstStyle/>
          <a:p>
            <a:endParaRPr lang="en-US"/>
          </a:p>
        </p:txBody>
      </p:sp>
      <p:sp>
        <p:nvSpPr>
          <p:cNvPr id="140" name="Shape 138"/>
          <p:cNvSpPr/>
          <p:nvPr/>
        </p:nvSpPr>
        <p:spPr>
          <a:xfrm>
            <a:off x="10051417" y="3230458"/>
            <a:ext cx="41148" cy="41148"/>
          </a:xfrm>
          <a:prstGeom prst="ellipse">
            <a:avLst/>
          </a:prstGeom>
          <a:solidFill>
            <a:srgbClr val="A9B6C8"/>
          </a:solidFill>
          <a:ln/>
        </p:spPr>
        <p:txBody>
          <a:bodyPr/>
          <a:lstStyle/>
          <a:p>
            <a:endParaRPr lang="en-US"/>
          </a:p>
        </p:txBody>
      </p:sp>
      <p:sp>
        <p:nvSpPr>
          <p:cNvPr id="141" name="Shape 139"/>
          <p:cNvSpPr/>
          <p:nvPr/>
        </p:nvSpPr>
        <p:spPr>
          <a:xfrm>
            <a:off x="10113299" y="3207504"/>
            <a:ext cx="41148" cy="41148"/>
          </a:xfrm>
          <a:prstGeom prst="ellipse">
            <a:avLst/>
          </a:prstGeom>
          <a:solidFill>
            <a:srgbClr val="A9B6C8"/>
          </a:solidFill>
          <a:ln/>
        </p:spPr>
        <p:txBody>
          <a:bodyPr/>
          <a:lstStyle/>
          <a:p>
            <a:endParaRPr lang="en-US"/>
          </a:p>
        </p:txBody>
      </p:sp>
      <p:sp>
        <p:nvSpPr>
          <p:cNvPr id="142" name="Shape 140"/>
          <p:cNvSpPr/>
          <p:nvPr/>
        </p:nvSpPr>
        <p:spPr>
          <a:xfrm>
            <a:off x="10175180" y="3179448"/>
            <a:ext cx="41148" cy="41148"/>
          </a:xfrm>
          <a:prstGeom prst="ellipse">
            <a:avLst/>
          </a:prstGeom>
          <a:solidFill>
            <a:srgbClr val="A9B6C8"/>
          </a:solidFill>
          <a:ln/>
        </p:spPr>
        <p:txBody>
          <a:bodyPr/>
          <a:lstStyle/>
          <a:p>
            <a:endParaRPr lang="en-US"/>
          </a:p>
        </p:txBody>
      </p:sp>
      <p:sp>
        <p:nvSpPr>
          <p:cNvPr id="143" name="Shape 141"/>
          <p:cNvSpPr/>
          <p:nvPr/>
        </p:nvSpPr>
        <p:spPr>
          <a:xfrm>
            <a:off x="10237061" y="3146292"/>
            <a:ext cx="41148" cy="41148"/>
          </a:xfrm>
          <a:prstGeom prst="ellipse">
            <a:avLst/>
          </a:prstGeom>
          <a:solidFill>
            <a:srgbClr val="A9B6C8"/>
          </a:solidFill>
          <a:ln/>
        </p:spPr>
        <p:txBody>
          <a:bodyPr/>
          <a:lstStyle/>
          <a:p>
            <a:endParaRPr lang="en-US"/>
          </a:p>
        </p:txBody>
      </p:sp>
      <p:sp>
        <p:nvSpPr>
          <p:cNvPr id="144" name="Shape 142"/>
          <p:cNvSpPr/>
          <p:nvPr/>
        </p:nvSpPr>
        <p:spPr>
          <a:xfrm>
            <a:off x="10298943" y="3108034"/>
            <a:ext cx="41148" cy="41148"/>
          </a:xfrm>
          <a:prstGeom prst="ellipse">
            <a:avLst/>
          </a:prstGeom>
          <a:solidFill>
            <a:srgbClr val="A9B6C8"/>
          </a:solidFill>
          <a:ln/>
        </p:spPr>
        <p:txBody>
          <a:bodyPr/>
          <a:lstStyle/>
          <a:p>
            <a:endParaRPr lang="en-US"/>
          </a:p>
        </p:txBody>
      </p:sp>
      <p:sp>
        <p:nvSpPr>
          <p:cNvPr id="145" name="Shape 143"/>
          <p:cNvSpPr/>
          <p:nvPr/>
        </p:nvSpPr>
        <p:spPr>
          <a:xfrm>
            <a:off x="10360824" y="3064676"/>
            <a:ext cx="41148" cy="41148"/>
          </a:xfrm>
          <a:prstGeom prst="ellipse">
            <a:avLst/>
          </a:prstGeom>
          <a:solidFill>
            <a:srgbClr val="A9B6C8"/>
          </a:solidFill>
          <a:ln/>
        </p:spPr>
        <p:txBody>
          <a:bodyPr/>
          <a:lstStyle/>
          <a:p>
            <a:endParaRPr lang="en-US"/>
          </a:p>
        </p:txBody>
      </p:sp>
      <p:sp>
        <p:nvSpPr>
          <p:cNvPr id="146" name="Shape 144"/>
          <p:cNvSpPr/>
          <p:nvPr/>
        </p:nvSpPr>
        <p:spPr>
          <a:xfrm>
            <a:off x="10422705" y="3016216"/>
            <a:ext cx="41148" cy="41148"/>
          </a:xfrm>
          <a:prstGeom prst="ellipse">
            <a:avLst/>
          </a:prstGeom>
          <a:solidFill>
            <a:srgbClr val="A9B6C8"/>
          </a:solidFill>
          <a:ln/>
        </p:spPr>
        <p:txBody>
          <a:bodyPr/>
          <a:lstStyle/>
          <a:p>
            <a:endParaRPr lang="en-US"/>
          </a:p>
        </p:txBody>
      </p:sp>
      <p:sp>
        <p:nvSpPr>
          <p:cNvPr id="147" name="Shape 145"/>
          <p:cNvSpPr/>
          <p:nvPr/>
        </p:nvSpPr>
        <p:spPr>
          <a:xfrm>
            <a:off x="10484587" y="2962656"/>
            <a:ext cx="41148" cy="41148"/>
          </a:xfrm>
          <a:prstGeom prst="ellipse">
            <a:avLst/>
          </a:prstGeom>
          <a:solidFill>
            <a:srgbClr val="A9B6C8"/>
          </a:solidFill>
          <a:ln/>
        </p:spPr>
        <p:txBody>
          <a:bodyPr/>
          <a:lstStyle/>
          <a:p>
            <a:endParaRPr lang="en-US"/>
          </a:p>
        </p:txBody>
      </p:sp>
      <p:sp>
        <p:nvSpPr>
          <p:cNvPr id="148" name="Shape 146"/>
          <p:cNvSpPr/>
          <p:nvPr/>
        </p:nvSpPr>
        <p:spPr>
          <a:xfrm>
            <a:off x="10546468" y="2903995"/>
            <a:ext cx="41148" cy="41148"/>
          </a:xfrm>
          <a:prstGeom prst="ellipse">
            <a:avLst/>
          </a:prstGeom>
          <a:solidFill>
            <a:srgbClr val="A9B6C8"/>
          </a:solidFill>
          <a:ln/>
        </p:spPr>
        <p:txBody>
          <a:bodyPr/>
          <a:lstStyle/>
          <a:p>
            <a:endParaRPr lang="en-US"/>
          </a:p>
        </p:txBody>
      </p:sp>
      <p:sp>
        <p:nvSpPr>
          <p:cNvPr id="149" name="Shape 147"/>
          <p:cNvSpPr/>
          <p:nvPr/>
        </p:nvSpPr>
        <p:spPr>
          <a:xfrm>
            <a:off x="10608349" y="2840232"/>
            <a:ext cx="41148" cy="41148"/>
          </a:xfrm>
          <a:prstGeom prst="ellipse">
            <a:avLst/>
          </a:prstGeom>
          <a:solidFill>
            <a:srgbClr val="A9B6C8"/>
          </a:solidFill>
          <a:ln/>
        </p:spPr>
        <p:txBody>
          <a:bodyPr/>
          <a:lstStyle/>
          <a:p>
            <a:endParaRPr lang="en-US"/>
          </a:p>
        </p:txBody>
      </p:sp>
      <p:sp>
        <p:nvSpPr>
          <p:cNvPr id="150" name="Shape 148"/>
          <p:cNvSpPr/>
          <p:nvPr/>
        </p:nvSpPr>
        <p:spPr>
          <a:xfrm>
            <a:off x="10670231" y="2771369"/>
            <a:ext cx="41148" cy="41148"/>
          </a:xfrm>
          <a:prstGeom prst="ellipse">
            <a:avLst/>
          </a:prstGeom>
          <a:solidFill>
            <a:srgbClr val="A9B6C8"/>
          </a:solidFill>
          <a:ln/>
        </p:spPr>
        <p:txBody>
          <a:bodyPr/>
          <a:lstStyle/>
          <a:p>
            <a:endParaRPr lang="en-US"/>
          </a:p>
        </p:txBody>
      </p:sp>
      <p:sp>
        <p:nvSpPr>
          <p:cNvPr id="151" name="Shape 149"/>
          <p:cNvSpPr/>
          <p:nvPr/>
        </p:nvSpPr>
        <p:spPr>
          <a:xfrm>
            <a:off x="10732112" y="2697404"/>
            <a:ext cx="41148" cy="41148"/>
          </a:xfrm>
          <a:prstGeom prst="ellipse">
            <a:avLst/>
          </a:prstGeom>
          <a:solidFill>
            <a:srgbClr val="A9B6C8"/>
          </a:solidFill>
          <a:ln/>
        </p:spPr>
        <p:txBody>
          <a:bodyPr/>
          <a:lstStyle/>
          <a:p>
            <a:endParaRPr lang="en-US"/>
          </a:p>
        </p:txBody>
      </p:sp>
      <p:sp>
        <p:nvSpPr>
          <p:cNvPr id="152" name="Shape 150"/>
          <p:cNvSpPr/>
          <p:nvPr/>
        </p:nvSpPr>
        <p:spPr>
          <a:xfrm>
            <a:off x="10793993" y="2618339"/>
            <a:ext cx="41148" cy="41148"/>
          </a:xfrm>
          <a:prstGeom prst="ellipse">
            <a:avLst/>
          </a:prstGeom>
          <a:solidFill>
            <a:srgbClr val="A9B6C8"/>
          </a:solidFill>
          <a:ln/>
        </p:spPr>
        <p:txBody>
          <a:bodyPr/>
          <a:lstStyle/>
          <a:p>
            <a:endParaRPr lang="en-US"/>
          </a:p>
        </p:txBody>
      </p:sp>
      <p:sp>
        <p:nvSpPr>
          <p:cNvPr id="153" name="Shape 151"/>
          <p:cNvSpPr/>
          <p:nvPr/>
        </p:nvSpPr>
        <p:spPr>
          <a:xfrm>
            <a:off x="10855875" y="2534173"/>
            <a:ext cx="41148" cy="41148"/>
          </a:xfrm>
          <a:prstGeom prst="ellipse">
            <a:avLst/>
          </a:prstGeom>
          <a:solidFill>
            <a:srgbClr val="A9B6C8"/>
          </a:solidFill>
          <a:ln/>
        </p:spPr>
        <p:txBody>
          <a:bodyPr/>
          <a:lstStyle/>
          <a:p>
            <a:endParaRPr lang="en-US"/>
          </a:p>
        </p:txBody>
      </p:sp>
      <p:sp>
        <p:nvSpPr>
          <p:cNvPr id="154" name="Shape 152"/>
          <p:cNvSpPr/>
          <p:nvPr/>
        </p:nvSpPr>
        <p:spPr>
          <a:xfrm>
            <a:off x="10917756" y="2444905"/>
            <a:ext cx="41148" cy="41148"/>
          </a:xfrm>
          <a:prstGeom prst="ellipse">
            <a:avLst/>
          </a:prstGeom>
          <a:solidFill>
            <a:srgbClr val="A9B6C8"/>
          </a:solidFill>
          <a:ln/>
        </p:spPr>
        <p:txBody>
          <a:bodyPr/>
          <a:lstStyle/>
          <a:p>
            <a:endParaRPr lang="en-US"/>
          </a:p>
        </p:txBody>
      </p:sp>
      <p:sp>
        <p:nvSpPr>
          <p:cNvPr id="155" name="Shape 153"/>
          <p:cNvSpPr/>
          <p:nvPr/>
        </p:nvSpPr>
        <p:spPr>
          <a:xfrm>
            <a:off x="10979637" y="2350537"/>
            <a:ext cx="41148" cy="41148"/>
          </a:xfrm>
          <a:prstGeom prst="ellipse">
            <a:avLst/>
          </a:prstGeom>
          <a:solidFill>
            <a:srgbClr val="A9B6C8"/>
          </a:solidFill>
          <a:ln/>
        </p:spPr>
        <p:txBody>
          <a:bodyPr/>
          <a:lstStyle/>
          <a:p>
            <a:endParaRPr lang="en-US"/>
          </a:p>
        </p:txBody>
      </p:sp>
      <p:sp>
        <p:nvSpPr>
          <p:cNvPr id="156" name="Shape 154"/>
          <p:cNvSpPr/>
          <p:nvPr/>
        </p:nvSpPr>
        <p:spPr>
          <a:xfrm>
            <a:off x="11041519" y="2251068"/>
            <a:ext cx="41148" cy="41148"/>
          </a:xfrm>
          <a:prstGeom prst="ellipse">
            <a:avLst/>
          </a:prstGeom>
          <a:solidFill>
            <a:srgbClr val="A9B6C8"/>
          </a:solidFill>
          <a:ln/>
        </p:spPr>
        <p:txBody>
          <a:bodyPr/>
          <a:lstStyle/>
          <a:p>
            <a:endParaRPr lang="en-US"/>
          </a:p>
        </p:txBody>
      </p:sp>
      <p:sp>
        <p:nvSpPr>
          <p:cNvPr id="157" name="Shape 155"/>
          <p:cNvSpPr/>
          <p:nvPr/>
        </p:nvSpPr>
        <p:spPr>
          <a:xfrm>
            <a:off x="11103400" y="2146497"/>
            <a:ext cx="41148" cy="41148"/>
          </a:xfrm>
          <a:prstGeom prst="ellipse">
            <a:avLst/>
          </a:prstGeom>
          <a:solidFill>
            <a:srgbClr val="A9B6C8"/>
          </a:solidFill>
          <a:ln/>
        </p:spPr>
        <p:txBody>
          <a:bodyPr/>
          <a:lstStyle/>
          <a:p>
            <a:endParaRPr lang="en-US"/>
          </a:p>
        </p:txBody>
      </p:sp>
      <p:sp>
        <p:nvSpPr>
          <p:cNvPr id="158" name="Shape 156"/>
          <p:cNvSpPr/>
          <p:nvPr/>
        </p:nvSpPr>
        <p:spPr>
          <a:xfrm>
            <a:off x="11165281" y="2036826"/>
            <a:ext cx="41148" cy="41148"/>
          </a:xfrm>
          <a:prstGeom prst="ellipse">
            <a:avLst/>
          </a:prstGeom>
          <a:solidFill>
            <a:srgbClr val="A9B6C8"/>
          </a:solidFill>
          <a:ln/>
        </p:spPr>
        <p:txBody>
          <a:bodyPr/>
          <a:lstStyle/>
          <a:p>
            <a:endParaRPr lang="en-US"/>
          </a:p>
        </p:txBody>
      </p:sp>
      <p:sp>
        <p:nvSpPr>
          <p:cNvPr id="159" name="Shape 157"/>
          <p:cNvSpPr/>
          <p:nvPr/>
        </p:nvSpPr>
        <p:spPr>
          <a:xfrm>
            <a:off x="8721230" y="2510247"/>
            <a:ext cx="137160" cy="137160"/>
          </a:xfrm>
          <a:prstGeom prst="ellipse">
            <a:avLst/>
          </a:prstGeom>
          <a:solidFill>
            <a:srgbClr val="C07414"/>
          </a:solidFill>
          <a:ln/>
        </p:spPr>
        <p:txBody>
          <a:bodyPr/>
          <a:lstStyle/>
          <a:p>
            <a:endParaRPr lang="en-US"/>
          </a:p>
        </p:txBody>
      </p:sp>
      <p:sp>
        <p:nvSpPr>
          <p:cNvPr id="160" name="Shape 158"/>
          <p:cNvSpPr/>
          <p:nvPr/>
        </p:nvSpPr>
        <p:spPr>
          <a:xfrm>
            <a:off x="9075191" y="2914650"/>
            <a:ext cx="137160" cy="137160"/>
          </a:xfrm>
          <a:prstGeom prst="ellipse">
            <a:avLst/>
          </a:prstGeom>
          <a:solidFill>
            <a:srgbClr val="C07414"/>
          </a:solidFill>
          <a:ln/>
        </p:spPr>
        <p:txBody>
          <a:bodyPr/>
          <a:lstStyle/>
          <a:p>
            <a:endParaRPr lang="en-US"/>
          </a:p>
        </p:txBody>
      </p:sp>
      <p:sp>
        <p:nvSpPr>
          <p:cNvPr id="161" name="Shape 159"/>
          <p:cNvSpPr/>
          <p:nvPr/>
        </p:nvSpPr>
        <p:spPr>
          <a:xfrm>
            <a:off x="9347469" y="3112160"/>
            <a:ext cx="137160" cy="137160"/>
          </a:xfrm>
          <a:prstGeom prst="ellipse">
            <a:avLst/>
          </a:prstGeom>
          <a:solidFill>
            <a:srgbClr val="C07414"/>
          </a:solidFill>
          <a:ln/>
        </p:spPr>
        <p:txBody>
          <a:bodyPr/>
          <a:lstStyle/>
          <a:p>
            <a:endParaRPr lang="en-US"/>
          </a:p>
        </p:txBody>
      </p:sp>
      <p:sp>
        <p:nvSpPr>
          <p:cNvPr id="162" name="Shape 160"/>
          <p:cNvSpPr/>
          <p:nvPr/>
        </p:nvSpPr>
        <p:spPr>
          <a:xfrm>
            <a:off x="9538064" y="3191658"/>
            <a:ext cx="137160" cy="137160"/>
          </a:xfrm>
          <a:prstGeom prst="ellipse">
            <a:avLst/>
          </a:prstGeom>
          <a:solidFill>
            <a:srgbClr val="C07414"/>
          </a:solidFill>
          <a:ln/>
        </p:spPr>
        <p:txBody>
          <a:bodyPr/>
          <a:lstStyle/>
          <a:p>
            <a:endParaRPr lang="en-US"/>
          </a:p>
        </p:txBody>
      </p:sp>
      <p:sp>
        <p:nvSpPr>
          <p:cNvPr id="163" name="Shape 161"/>
          <p:cNvSpPr/>
          <p:nvPr/>
        </p:nvSpPr>
        <p:spPr>
          <a:xfrm>
            <a:off x="9674203" y="3218816"/>
            <a:ext cx="137160" cy="137160"/>
          </a:xfrm>
          <a:prstGeom prst="ellipse">
            <a:avLst/>
          </a:prstGeom>
          <a:solidFill>
            <a:srgbClr val="C07414"/>
          </a:solidFill>
          <a:ln/>
        </p:spPr>
        <p:txBody>
          <a:bodyPr/>
          <a:lstStyle/>
          <a:p>
            <a:endParaRPr lang="en-US"/>
          </a:p>
        </p:txBody>
      </p:sp>
      <p:sp>
        <p:nvSpPr>
          <p:cNvPr id="164" name="Text 162"/>
          <p:cNvSpPr txBox="1"/>
          <p:nvPr/>
        </p:nvSpPr>
        <p:spPr>
          <a:xfrm>
            <a:off x="8353349" y="3520440"/>
            <a:ext cx="2942234" cy="960120"/>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Big steps on steep ground, small steps near the bottom, arriving in a reasonable number of passes.</a:t>
            </a:r>
            <a:endParaRPr lang="en-US" sz="1200" dirty="0"/>
          </a:p>
        </p:txBody>
      </p:sp>
      <p:sp>
        <p:nvSpPr>
          <p:cNvPr id="165" name="Shape 163"/>
          <p:cNvSpPr/>
          <p:nvPr/>
        </p:nvSpPr>
        <p:spPr>
          <a:xfrm>
            <a:off x="640080" y="4846320"/>
            <a:ext cx="10911535" cy="1325880"/>
          </a:xfrm>
          <a:prstGeom prst="roundRect">
            <a:avLst>
              <a:gd name="adj" fmla="val 5517"/>
            </a:avLst>
          </a:prstGeom>
          <a:solidFill>
            <a:srgbClr val="111722"/>
          </a:solidFill>
          <a:ln w="12700">
            <a:solidFill>
              <a:srgbClr val="111722"/>
            </a:solidFill>
            <a:prstDash val="solid"/>
          </a:ln>
        </p:spPr>
        <p:txBody>
          <a:bodyPr/>
          <a:lstStyle/>
          <a:p>
            <a:endParaRPr lang="en-US"/>
          </a:p>
        </p:txBody>
      </p:sp>
      <p:sp>
        <p:nvSpPr>
          <p:cNvPr id="166" name="Text 164"/>
          <p:cNvSpPr txBox="1"/>
          <p:nvPr/>
        </p:nvSpPr>
        <p:spPr>
          <a:xfrm>
            <a:off x="1005840" y="5010912"/>
            <a:ext cx="10424160" cy="274320"/>
          </a:xfrm>
          <a:prstGeom prst="rect">
            <a:avLst/>
          </a:prstGeom>
          <a:noFill/>
          <a:ln/>
        </p:spPr>
        <p:txBody>
          <a:bodyPr wrap="square" lIns="0" tIns="0" rIns="0" bIns="0" rtlCol="0" anchor="ctr"/>
          <a:lstStyle/>
          <a:p>
            <a:pPr marL="0" indent="0">
              <a:buNone/>
            </a:pPr>
            <a:r>
              <a:rPr lang="en-US" sz="1150" b="1" kern="0" spc="140" dirty="0">
                <a:solidFill>
                  <a:srgbClr val="E9AC53"/>
                </a:solidFill>
                <a:latin typeface="Calibri" pitchFamily="34" charset="0"/>
                <a:ea typeface="Calibri" pitchFamily="34" charset="-122"/>
                <a:cs typeface="Calibri" pitchFamily="34" charset="-120"/>
              </a:rPr>
              <a:t>Why this belongs in the humanities half of the argument</a:t>
            </a:r>
            <a:endParaRPr lang="en-US" sz="1150" dirty="0"/>
          </a:p>
        </p:txBody>
      </p:sp>
      <p:sp>
        <p:nvSpPr>
          <p:cNvPr id="167" name="Text 165"/>
          <p:cNvSpPr txBox="1"/>
          <p:nvPr/>
        </p:nvSpPr>
        <p:spPr>
          <a:xfrm>
            <a:off x="1005840" y="5340096"/>
            <a:ext cx="10424160" cy="667512"/>
          </a:xfrm>
          <a:prstGeom prst="rect">
            <a:avLst/>
          </a:prstGeom>
          <a:noFill/>
          <a:ln/>
        </p:spPr>
        <p:txBody>
          <a:bodyPr wrap="square" lIns="0" tIns="0" rIns="0" bIns="0" rtlCol="0" anchor="ctr"/>
          <a:lstStyle/>
          <a:p>
            <a:pPr marL="0" indent="0">
              <a:lnSpc>
                <a:spcPts val="2000"/>
              </a:lnSpc>
              <a:buNone/>
            </a:pPr>
            <a:r>
              <a:rPr lang="en-US" sz="1500" dirty="0">
                <a:solidFill>
                  <a:srgbClr val="F2F4F8"/>
                </a:solidFill>
                <a:latin typeface="Cambria" pitchFamily="34" charset="0"/>
                <a:ea typeface="Cambria" pitchFamily="34" charset="-122"/>
                <a:cs typeface="Cambria" pitchFamily="34" charset="-120"/>
              </a:rPr>
              <a:t>There is no formula for η. It is chosen by trial, by convention, by what worked last time and by what the budget allows. A great deal of what determines how a system turns out is settled this way — not by theory, and not by anyone writing down why.</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741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WORKED EXAMPLE</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11722"/>
                </a:solidFill>
                <a:latin typeface="Cambria" pitchFamily="34" charset="0"/>
                <a:ea typeface="Cambria" pitchFamily="34" charset="-122"/>
                <a:cs typeface="Cambria" pitchFamily="34" charset="-120"/>
              </a:rPr>
              <a:t>Four steps of gradient descent, with actual numbers</a:t>
            </a:r>
            <a:endParaRPr lang="en-US" sz="2900" dirty="0"/>
          </a:p>
        </p:txBody>
      </p:sp>
      <p:sp>
        <p:nvSpPr>
          <p:cNvPr id="5" name="Shape 3"/>
          <p:cNvSpPr/>
          <p:nvPr/>
        </p:nvSpPr>
        <p:spPr>
          <a:xfrm>
            <a:off x="640080" y="1353312"/>
            <a:ext cx="4480560" cy="868680"/>
          </a:xfrm>
          <a:prstGeom prst="roundRect">
            <a:avLst>
              <a:gd name="adj" fmla="val 8421"/>
            </a:avLst>
          </a:prstGeom>
          <a:solidFill>
            <a:srgbClr val="111722"/>
          </a:solidFill>
          <a:ln w="12700">
            <a:solidFill>
              <a:srgbClr val="111722"/>
            </a:solidFill>
            <a:prstDash val="solid"/>
          </a:ln>
        </p:spPr>
        <p:txBody>
          <a:bodyPr/>
          <a:lstStyle/>
          <a:p>
            <a:endParaRPr lang="en-US"/>
          </a:p>
        </p:txBody>
      </p:sp>
      <p:sp>
        <p:nvSpPr>
          <p:cNvPr id="6" name="Text 4"/>
          <p:cNvSpPr txBox="1"/>
          <p:nvPr/>
        </p:nvSpPr>
        <p:spPr>
          <a:xfrm>
            <a:off x="914400" y="1353312"/>
            <a:ext cx="3931920" cy="868680"/>
          </a:xfrm>
          <a:prstGeom prst="rect">
            <a:avLst/>
          </a:prstGeom>
          <a:noFill/>
          <a:ln/>
        </p:spPr>
        <p:txBody>
          <a:bodyPr wrap="square" lIns="0" tIns="0" rIns="0" bIns="0" rtlCol="0" anchor="ctr"/>
          <a:lstStyle/>
          <a:p>
            <a:pPr marL="0" indent="0">
              <a:lnSpc>
                <a:spcPts val="2000"/>
              </a:lnSpc>
              <a:buNone/>
            </a:pPr>
            <a:r>
              <a:rPr lang="en-US" sz="1500" dirty="0">
                <a:solidFill>
                  <a:srgbClr val="F2F4F8"/>
                </a:solidFill>
                <a:latin typeface="Cambria" pitchFamily="34" charset="0"/>
                <a:ea typeface="Cambria" pitchFamily="34" charset="-122"/>
                <a:cs typeface="Cambria" pitchFamily="34" charset="-120"/>
              </a:rPr>
              <a:t>One knob. Start at w = 0.500, with η = 0.10.</a:t>
            </a:r>
            <a:endParaRPr lang="en-US" sz="1500" dirty="0"/>
          </a:p>
        </p:txBody>
      </p:sp>
      <p:sp>
        <p:nvSpPr>
          <p:cNvPr id="7" name="Shape 5"/>
          <p:cNvSpPr/>
          <p:nvPr/>
        </p:nvSpPr>
        <p:spPr>
          <a:xfrm>
            <a:off x="5394960" y="1353312"/>
            <a:ext cx="6135624" cy="868680"/>
          </a:xfrm>
          <a:prstGeom prst="roundRect">
            <a:avLst>
              <a:gd name="adj" fmla="val 6316"/>
            </a:avLst>
          </a:prstGeom>
          <a:solidFill>
            <a:srgbClr val="F6F8FC"/>
          </a:solidFill>
          <a:ln w="12700">
            <a:solidFill>
              <a:srgbClr val="C9D4E6"/>
            </a:solidFill>
            <a:prstDash val="solid"/>
          </a:ln>
        </p:spPr>
        <p:txBody>
          <a:bodyPr/>
          <a:lstStyle/>
          <a:p>
            <a:endParaRPr lang="en-US"/>
          </a:p>
        </p:txBody>
      </p:sp>
      <p:sp>
        <p:nvSpPr>
          <p:cNvPr id="8" name="Text 6"/>
          <p:cNvSpPr txBox="1"/>
          <p:nvPr/>
        </p:nvSpPr>
        <p:spPr>
          <a:xfrm>
            <a:off x="5532120" y="1353312"/>
            <a:ext cx="5861304" cy="868680"/>
          </a:xfrm>
          <a:prstGeom prst="rect">
            <a:avLst/>
          </a:prstGeom>
          <a:noFill/>
          <a:ln/>
        </p:spPr>
        <p:txBody>
          <a:bodyPr wrap="square" lIns="0" tIns="0" rIns="0" bIns="0" rtlCol="0" anchor="ctr"/>
          <a:lstStyle/>
          <a:p>
            <a:pPr marL="0" indent="0" algn="ctr">
              <a:buNone/>
            </a:pPr>
            <a:r>
              <a:rPr lang="en-US" sz="2300" dirty="0">
                <a:solidFill>
                  <a:srgbClr val="111722"/>
                </a:solidFill>
                <a:latin typeface="Cambria Math" pitchFamily="34" charset="0"/>
                <a:ea typeface="Cambria Math" pitchFamily="34" charset="-122"/>
                <a:cs typeface="Cambria Math" pitchFamily="34" charset="-120"/>
              </a:rPr>
              <a:t>w ← w − 0.10 × ∂C/∂w</a:t>
            </a:r>
            <a:endParaRPr lang="en-US" sz="2300" dirty="0"/>
          </a:p>
        </p:txBody>
      </p:sp>
      <p:sp>
        <p:nvSpPr>
          <p:cNvPr id="9" name="Shape 7"/>
          <p:cNvSpPr/>
          <p:nvPr/>
        </p:nvSpPr>
        <p:spPr>
          <a:xfrm>
            <a:off x="640080" y="2395728"/>
            <a:ext cx="2109155" cy="420624"/>
          </a:xfrm>
          <a:prstGeom prst="roundRect">
            <a:avLst>
              <a:gd name="adj" fmla="val 17391"/>
            </a:avLst>
          </a:prstGeom>
          <a:solidFill>
            <a:srgbClr val="111722"/>
          </a:solidFill>
          <a:ln w="12700">
            <a:solidFill>
              <a:srgbClr val="111722"/>
            </a:solidFill>
            <a:prstDash val="solid"/>
          </a:ln>
        </p:spPr>
        <p:txBody>
          <a:bodyPr/>
          <a:lstStyle/>
          <a:p>
            <a:endParaRPr lang="en-US"/>
          </a:p>
        </p:txBody>
      </p:sp>
      <p:sp>
        <p:nvSpPr>
          <p:cNvPr id="10" name="Text 8"/>
          <p:cNvSpPr txBox="1"/>
          <p:nvPr/>
        </p:nvSpPr>
        <p:spPr>
          <a:xfrm>
            <a:off x="640080" y="2395728"/>
            <a:ext cx="2109155" cy="420624"/>
          </a:xfrm>
          <a:prstGeom prst="rect">
            <a:avLst/>
          </a:prstGeom>
          <a:noFill/>
          <a:ln/>
        </p:spPr>
        <p:txBody>
          <a:bodyPr wrap="square" lIns="0" tIns="0" rIns="0" bIns="0" rtlCol="0" anchor="ctr"/>
          <a:lstStyle/>
          <a:p>
            <a:pPr marL="0" indent="0" algn="ctr">
              <a:buNone/>
            </a:pPr>
            <a:r>
              <a:rPr lang="en-US" sz="1350" b="1" dirty="0">
                <a:solidFill>
                  <a:srgbClr val="E9AC53"/>
                </a:solidFill>
                <a:latin typeface="Cambria Math" pitchFamily="34" charset="0"/>
                <a:ea typeface="Cambria Math" pitchFamily="34" charset="-122"/>
                <a:cs typeface="Cambria Math" pitchFamily="34" charset="-120"/>
              </a:rPr>
              <a:t>step</a:t>
            </a:r>
            <a:endParaRPr lang="en-US" sz="1350" dirty="0"/>
          </a:p>
        </p:txBody>
      </p:sp>
      <p:sp>
        <p:nvSpPr>
          <p:cNvPr id="11" name="Shape 9"/>
          <p:cNvSpPr/>
          <p:nvPr/>
        </p:nvSpPr>
        <p:spPr>
          <a:xfrm>
            <a:off x="2822387" y="2395728"/>
            <a:ext cx="2109155" cy="420624"/>
          </a:xfrm>
          <a:prstGeom prst="roundRect">
            <a:avLst>
              <a:gd name="adj" fmla="val 17391"/>
            </a:avLst>
          </a:prstGeom>
          <a:solidFill>
            <a:srgbClr val="111722"/>
          </a:solidFill>
          <a:ln w="12700">
            <a:solidFill>
              <a:srgbClr val="111722"/>
            </a:solidFill>
            <a:prstDash val="solid"/>
          </a:ln>
        </p:spPr>
        <p:txBody>
          <a:bodyPr/>
          <a:lstStyle/>
          <a:p>
            <a:endParaRPr lang="en-US"/>
          </a:p>
        </p:txBody>
      </p:sp>
      <p:sp>
        <p:nvSpPr>
          <p:cNvPr id="12" name="Text 10"/>
          <p:cNvSpPr txBox="1"/>
          <p:nvPr/>
        </p:nvSpPr>
        <p:spPr>
          <a:xfrm>
            <a:off x="2822387" y="2395728"/>
            <a:ext cx="2109155" cy="420624"/>
          </a:xfrm>
          <a:prstGeom prst="rect">
            <a:avLst/>
          </a:prstGeom>
          <a:noFill/>
          <a:ln/>
        </p:spPr>
        <p:txBody>
          <a:bodyPr wrap="square" lIns="0" tIns="0" rIns="0" bIns="0" rtlCol="0" anchor="ctr"/>
          <a:lstStyle/>
          <a:p>
            <a:pPr marL="0" indent="0" algn="ctr">
              <a:buNone/>
            </a:pPr>
            <a:r>
              <a:rPr lang="en-US" sz="1350" b="1" dirty="0">
                <a:solidFill>
                  <a:srgbClr val="E9AC53"/>
                </a:solidFill>
                <a:latin typeface="Cambria Math" pitchFamily="34" charset="0"/>
                <a:ea typeface="Cambria Math" pitchFamily="34" charset="-122"/>
                <a:cs typeface="Cambria Math" pitchFamily="34" charset="-120"/>
              </a:rPr>
              <a:t>w now</a:t>
            </a:r>
            <a:endParaRPr lang="en-US" sz="1350" dirty="0"/>
          </a:p>
        </p:txBody>
      </p:sp>
      <p:sp>
        <p:nvSpPr>
          <p:cNvPr id="13" name="Shape 11"/>
          <p:cNvSpPr/>
          <p:nvPr/>
        </p:nvSpPr>
        <p:spPr>
          <a:xfrm>
            <a:off x="5004694" y="2395728"/>
            <a:ext cx="2109155" cy="420624"/>
          </a:xfrm>
          <a:prstGeom prst="roundRect">
            <a:avLst>
              <a:gd name="adj" fmla="val 17391"/>
            </a:avLst>
          </a:prstGeom>
          <a:solidFill>
            <a:srgbClr val="111722"/>
          </a:solidFill>
          <a:ln w="12700">
            <a:solidFill>
              <a:srgbClr val="111722"/>
            </a:solidFill>
            <a:prstDash val="solid"/>
          </a:ln>
        </p:spPr>
        <p:txBody>
          <a:bodyPr/>
          <a:lstStyle/>
          <a:p>
            <a:endParaRPr lang="en-US"/>
          </a:p>
        </p:txBody>
      </p:sp>
      <p:sp>
        <p:nvSpPr>
          <p:cNvPr id="14" name="Text 12"/>
          <p:cNvSpPr txBox="1"/>
          <p:nvPr/>
        </p:nvSpPr>
        <p:spPr>
          <a:xfrm>
            <a:off x="5004694" y="2395728"/>
            <a:ext cx="2109155" cy="420624"/>
          </a:xfrm>
          <a:prstGeom prst="rect">
            <a:avLst/>
          </a:prstGeom>
          <a:noFill/>
          <a:ln/>
        </p:spPr>
        <p:txBody>
          <a:bodyPr wrap="square" lIns="0" tIns="0" rIns="0" bIns="0" rtlCol="0" anchor="ctr"/>
          <a:lstStyle/>
          <a:p>
            <a:pPr marL="0" indent="0" algn="ctr">
              <a:buNone/>
            </a:pPr>
            <a:r>
              <a:rPr lang="en-US" sz="1350" b="1" dirty="0">
                <a:solidFill>
                  <a:srgbClr val="E9AC53"/>
                </a:solidFill>
                <a:latin typeface="Cambria Math" pitchFamily="34" charset="0"/>
                <a:ea typeface="Cambria Math" pitchFamily="34" charset="-122"/>
                <a:cs typeface="Cambria Math" pitchFamily="34" charset="-120"/>
              </a:rPr>
              <a:t>∂C/∂w</a:t>
            </a:r>
            <a:endParaRPr lang="en-US" sz="1350" dirty="0"/>
          </a:p>
        </p:txBody>
      </p:sp>
      <p:sp>
        <p:nvSpPr>
          <p:cNvPr id="15" name="Shape 13"/>
          <p:cNvSpPr/>
          <p:nvPr/>
        </p:nvSpPr>
        <p:spPr>
          <a:xfrm>
            <a:off x="7187001" y="2395728"/>
            <a:ext cx="2109155" cy="420624"/>
          </a:xfrm>
          <a:prstGeom prst="roundRect">
            <a:avLst>
              <a:gd name="adj" fmla="val 17391"/>
            </a:avLst>
          </a:prstGeom>
          <a:solidFill>
            <a:srgbClr val="111722"/>
          </a:solidFill>
          <a:ln w="12700">
            <a:solidFill>
              <a:srgbClr val="111722"/>
            </a:solidFill>
            <a:prstDash val="solid"/>
          </a:ln>
        </p:spPr>
        <p:txBody>
          <a:bodyPr/>
          <a:lstStyle/>
          <a:p>
            <a:endParaRPr lang="en-US"/>
          </a:p>
        </p:txBody>
      </p:sp>
      <p:sp>
        <p:nvSpPr>
          <p:cNvPr id="16" name="Text 14"/>
          <p:cNvSpPr txBox="1"/>
          <p:nvPr/>
        </p:nvSpPr>
        <p:spPr>
          <a:xfrm>
            <a:off x="7187001" y="2395728"/>
            <a:ext cx="2109155" cy="420624"/>
          </a:xfrm>
          <a:prstGeom prst="rect">
            <a:avLst/>
          </a:prstGeom>
          <a:noFill/>
          <a:ln/>
        </p:spPr>
        <p:txBody>
          <a:bodyPr wrap="square" lIns="0" tIns="0" rIns="0" bIns="0" rtlCol="0" anchor="ctr"/>
          <a:lstStyle/>
          <a:p>
            <a:pPr marL="0" indent="0" algn="ctr">
              <a:buNone/>
            </a:pPr>
            <a:r>
              <a:rPr lang="en-US" sz="1350" b="1" dirty="0">
                <a:solidFill>
                  <a:srgbClr val="E9AC53"/>
                </a:solidFill>
                <a:latin typeface="Cambria Math" pitchFamily="34" charset="0"/>
                <a:ea typeface="Cambria Math" pitchFamily="34" charset="-122"/>
                <a:cs typeface="Cambria Math" pitchFamily="34" charset="-120"/>
              </a:rPr>
              <a:t>η × slope</a:t>
            </a:r>
            <a:endParaRPr lang="en-US" sz="1350" dirty="0"/>
          </a:p>
        </p:txBody>
      </p:sp>
      <p:sp>
        <p:nvSpPr>
          <p:cNvPr id="17" name="Shape 15"/>
          <p:cNvSpPr/>
          <p:nvPr/>
        </p:nvSpPr>
        <p:spPr>
          <a:xfrm>
            <a:off x="9369308" y="2395728"/>
            <a:ext cx="2109155" cy="420624"/>
          </a:xfrm>
          <a:prstGeom prst="roundRect">
            <a:avLst>
              <a:gd name="adj" fmla="val 17391"/>
            </a:avLst>
          </a:prstGeom>
          <a:solidFill>
            <a:srgbClr val="111722"/>
          </a:solidFill>
          <a:ln w="12700">
            <a:solidFill>
              <a:srgbClr val="111722"/>
            </a:solidFill>
            <a:prstDash val="solid"/>
          </a:ln>
        </p:spPr>
        <p:txBody>
          <a:bodyPr/>
          <a:lstStyle/>
          <a:p>
            <a:endParaRPr lang="en-US"/>
          </a:p>
        </p:txBody>
      </p:sp>
      <p:sp>
        <p:nvSpPr>
          <p:cNvPr id="18" name="Text 16"/>
          <p:cNvSpPr txBox="1"/>
          <p:nvPr/>
        </p:nvSpPr>
        <p:spPr>
          <a:xfrm>
            <a:off x="9369308" y="2395728"/>
            <a:ext cx="2109155" cy="420624"/>
          </a:xfrm>
          <a:prstGeom prst="rect">
            <a:avLst/>
          </a:prstGeom>
          <a:noFill/>
          <a:ln/>
        </p:spPr>
        <p:txBody>
          <a:bodyPr wrap="square" lIns="0" tIns="0" rIns="0" bIns="0" rtlCol="0" anchor="ctr"/>
          <a:lstStyle/>
          <a:p>
            <a:pPr marL="0" indent="0" algn="ctr">
              <a:buNone/>
            </a:pPr>
            <a:r>
              <a:rPr lang="en-US" sz="1350" b="1" dirty="0">
                <a:solidFill>
                  <a:srgbClr val="E9AC53"/>
                </a:solidFill>
                <a:latin typeface="Cambria Math" pitchFamily="34" charset="0"/>
                <a:ea typeface="Cambria Math" pitchFamily="34" charset="-122"/>
                <a:cs typeface="Cambria Math" pitchFamily="34" charset="-120"/>
              </a:rPr>
              <a:t>w next</a:t>
            </a:r>
            <a:endParaRPr lang="en-US" sz="1350" dirty="0"/>
          </a:p>
        </p:txBody>
      </p:sp>
      <p:sp>
        <p:nvSpPr>
          <p:cNvPr id="19" name="Shape 17"/>
          <p:cNvSpPr/>
          <p:nvPr/>
        </p:nvSpPr>
        <p:spPr>
          <a:xfrm>
            <a:off x="640080" y="2871216"/>
            <a:ext cx="2109155" cy="420624"/>
          </a:xfrm>
          <a:prstGeom prst="roundRect">
            <a:avLst>
              <a:gd name="adj" fmla="val 17391"/>
            </a:avLst>
          </a:prstGeom>
          <a:solidFill>
            <a:srgbClr val="FAF0DE"/>
          </a:solidFill>
          <a:ln w="12700">
            <a:solidFill>
              <a:srgbClr val="FAF0DE"/>
            </a:solidFill>
            <a:prstDash val="solid"/>
          </a:ln>
        </p:spPr>
        <p:txBody>
          <a:bodyPr/>
          <a:lstStyle/>
          <a:p>
            <a:endParaRPr lang="en-US"/>
          </a:p>
        </p:txBody>
      </p:sp>
      <p:sp>
        <p:nvSpPr>
          <p:cNvPr id="20" name="Text 18"/>
          <p:cNvSpPr txBox="1"/>
          <p:nvPr/>
        </p:nvSpPr>
        <p:spPr>
          <a:xfrm>
            <a:off x="640080" y="2871216"/>
            <a:ext cx="2109155" cy="420624"/>
          </a:xfrm>
          <a:prstGeom prst="rect">
            <a:avLst/>
          </a:prstGeom>
          <a:noFill/>
          <a:ln/>
        </p:spPr>
        <p:txBody>
          <a:bodyPr wrap="square" lIns="0" tIns="0" rIns="0" bIns="0" rtlCol="0" anchor="ctr"/>
          <a:lstStyle/>
          <a:p>
            <a:pPr marL="0" indent="0" algn="ctr">
              <a:buNone/>
            </a:pPr>
            <a:r>
              <a:rPr lang="en-US" sz="1200" dirty="0">
                <a:solidFill>
                  <a:srgbClr val="111722"/>
                </a:solidFill>
                <a:latin typeface="Consolas" pitchFamily="34" charset="0"/>
                <a:ea typeface="Consolas" pitchFamily="34" charset="-122"/>
                <a:cs typeface="Consolas" pitchFamily="34" charset="-120"/>
              </a:rPr>
              <a:t>1</a:t>
            </a:r>
            <a:endParaRPr lang="en-US" sz="1200" dirty="0"/>
          </a:p>
        </p:txBody>
      </p:sp>
      <p:sp>
        <p:nvSpPr>
          <p:cNvPr id="21" name="Shape 19"/>
          <p:cNvSpPr/>
          <p:nvPr/>
        </p:nvSpPr>
        <p:spPr>
          <a:xfrm>
            <a:off x="2822387" y="2871216"/>
            <a:ext cx="2109155" cy="420624"/>
          </a:xfrm>
          <a:prstGeom prst="roundRect">
            <a:avLst>
              <a:gd name="adj" fmla="val 17391"/>
            </a:avLst>
          </a:prstGeom>
          <a:solidFill>
            <a:srgbClr val="FAF0DE"/>
          </a:solidFill>
          <a:ln w="12700">
            <a:solidFill>
              <a:srgbClr val="FAF0DE"/>
            </a:solidFill>
            <a:prstDash val="solid"/>
          </a:ln>
        </p:spPr>
        <p:txBody>
          <a:bodyPr/>
          <a:lstStyle/>
          <a:p>
            <a:endParaRPr lang="en-US"/>
          </a:p>
        </p:txBody>
      </p:sp>
      <p:sp>
        <p:nvSpPr>
          <p:cNvPr id="22" name="Text 20"/>
          <p:cNvSpPr txBox="1"/>
          <p:nvPr/>
        </p:nvSpPr>
        <p:spPr>
          <a:xfrm>
            <a:off x="2822387" y="2871216"/>
            <a:ext cx="2109155" cy="420624"/>
          </a:xfrm>
          <a:prstGeom prst="rect">
            <a:avLst/>
          </a:prstGeom>
          <a:noFill/>
          <a:ln/>
        </p:spPr>
        <p:txBody>
          <a:bodyPr wrap="square" lIns="0" tIns="0" rIns="0" bIns="0" rtlCol="0" anchor="ctr"/>
          <a:lstStyle/>
          <a:p>
            <a:pPr marL="0" indent="0" algn="ctr">
              <a:buNone/>
            </a:pPr>
            <a:r>
              <a:rPr lang="en-US" sz="1200" dirty="0">
                <a:solidFill>
                  <a:srgbClr val="111722"/>
                </a:solidFill>
                <a:latin typeface="Consolas" pitchFamily="34" charset="0"/>
                <a:ea typeface="Consolas" pitchFamily="34" charset="-122"/>
                <a:cs typeface="Consolas" pitchFamily="34" charset="-120"/>
              </a:rPr>
              <a:t>0.500</a:t>
            </a:r>
            <a:endParaRPr lang="en-US" sz="1200" dirty="0"/>
          </a:p>
        </p:txBody>
      </p:sp>
      <p:sp>
        <p:nvSpPr>
          <p:cNvPr id="23" name="Shape 21"/>
          <p:cNvSpPr/>
          <p:nvPr/>
        </p:nvSpPr>
        <p:spPr>
          <a:xfrm>
            <a:off x="5004694" y="2871216"/>
            <a:ext cx="2109155" cy="420624"/>
          </a:xfrm>
          <a:prstGeom prst="roundRect">
            <a:avLst>
              <a:gd name="adj" fmla="val 17391"/>
            </a:avLst>
          </a:prstGeom>
          <a:solidFill>
            <a:srgbClr val="FAF0DE"/>
          </a:solidFill>
          <a:ln w="12700">
            <a:solidFill>
              <a:srgbClr val="FAF0DE"/>
            </a:solidFill>
            <a:prstDash val="solid"/>
          </a:ln>
        </p:spPr>
        <p:txBody>
          <a:bodyPr/>
          <a:lstStyle/>
          <a:p>
            <a:endParaRPr lang="en-US"/>
          </a:p>
        </p:txBody>
      </p:sp>
      <p:sp>
        <p:nvSpPr>
          <p:cNvPr id="24" name="Text 22"/>
          <p:cNvSpPr txBox="1"/>
          <p:nvPr/>
        </p:nvSpPr>
        <p:spPr>
          <a:xfrm>
            <a:off x="5004694" y="2871216"/>
            <a:ext cx="2109155" cy="420624"/>
          </a:xfrm>
          <a:prstGeom prst="rect">
            <a:avLst/>
          </a:prstGeom>
          <a:noFill/>
          <a:ln/>
        </p:spPr>
        <p:txBody>
          <a:bodyPr wrap="square" lIns="0" tIns="0" rIns="0" bIns="0" rtlCol="0" anchor="ctr"/>
          <a:lstStyle/>
          <a:p>
            <a:pPr marL="0" indent="0" algn="ctr">
              <a:buNone/>
            </a:pPr>
            <a:r>
              <a:rPr lang="en-US" sz="1200" dirty="0">
                <a:solidFill>
                  <a:srgbClr val="111722"/>
                </a:solidFill>
                <a:latin typeface="Consolas" pitchFamily="34" charset="0"/>
                <a:ea typeface="Consolas" pitchFamily="34" charset="-122"/>
                <a:cs typeface="Consolas" pitchFamily="34" charset="-120"/>
              </a:rPr>
              <a:t>+0.800</a:t>
            </a:r>
            <a:endParaRPr lang="en-US" sz="1200" dirty="0"/>
          </a:p>
        </p:txBody>
      </p:sp>
      <p:sp>
        <p:nvSpPr>
          <p:cNvPr id="25" name="Shape 23"/>
          <p:cNvSpPr/>
          <p:nvPr/>
        </p:nvSpPr>
        <p:spPr>
          <a:xfrm>
            <a:off x="7187001" y="2871216"/>
            <a:ext cx="2109155" cy="420624"/>
          </a:xfrm>
          <a:prstGeom prst="roundRect">
            <a:avLst>
              <a:gd name="adj" fmla="val 17391"/>
            </a:avLst>
          </a:prstGeom>
          <a:solidFill>
            <a:srgbClr val="FAF0DE"/>
          </a:solidFill>
          <a:ln w="12700">
            <a:solidFill>
              <a:srgbClr val="FAF0DE"/>
            </a:solidFill>
            <a:prstDash val="solid"/>
          </a:ln>
        </p:spPr>
        <p:txBody>
          <a:bodyPr/>
          <a:lstStyle/>
          <a:p>
            <a:endParaRPr lang="en-US"/>
          </a:p>
        </p:txBody>
      </p:sp>
      <p:sp>
        <p:nvSpPr>
          <p:cNvPr id="26" name="Text 24"/>
          <p:cNvSpPr txBox="1"/>
          <p:nvPr/>
        </p:nvSpPr>
        <p:spPr>
          <a:xfrm>
            <a:off x="7187001" y="2871216"/>
            <a:ext cx="2109155" cy="420624"/>
          </a:xfrm>
          <a:prstGeom prst="rect">
            <a:avLst/>
          </a:prstGeom>
          <a:noFill/>
          <a:ln/>
        </p:spPr>
        <p:txBody>
          <a:bodyPr wrap="square" lIns="0" tIns="0" rIns="0" bIns="0" rtlCol="0" anchor="ctr"/>
          <a:lstStyle/>
          <a:p>
            <a:pPr marL="0" indent="0" algn="ctr">
              <a:buNone/>
            </a:pPr>
            <a:r>
              <a:rPr lang="en-US" sz="1200" dirty="0">
                <a:solidFill>
                  <a:srgbClr val="111722"/>
                </a:solidFill>
                <a:latin typeface="Consolas" pitchFamily="34" charset="0"/>
                <a:ea typeface="Consolas" pitchFamily="34" charset="-122"/>
                <a:cs typeface="Consolas" pitchFamily="34" charset="-120"/>
              </a:rPr>
              <a:t>0.080</a:t>
            </a:r>
            <a:endParaRPr lang="en-US" sz="1200" dirty="0"/>
          </a:p>
        </p:txBody>
      </p:sp>
      <p:sp>
        <p:nvSpPr>
          <p:cNvPr id="27" name="Shape 25"/>
          <p:cNvSpPr/>
          <p:nvPr/>
        </p:nvSpPr>
        <p:spPr>
          <a:xfrm>
            <a:off x="9369308" y="2871216"/>
            <a:ext cx="2109155" cy="420624"/>
          </a:xfrm>
          <a:prstGeom prst="roundRect">
            <a:avLst>
              <a:gd name="adj" fmla="val 17391"/>
            </a:avLst>
          </a:prstGeom>
          <a:solidFill>
            <a:srgbClr val="FAF0DE"/>
          </a:solidFill>
          <a:ln w="12700">
            <a:solidFill>
              <a:srgbClr val="FAF0DE"/>
            </a:solidFill>
            <a:prstDash val="solid"/>
          </a:ln>
        </p:spPr>
        <p:txBody>
          <a:bodyPr/>
          <a:lstStyle/>
          <a:p>
            <a:endParaRPr lang="en-US"/>
          </a:p>
        </p:txBody>
      </p:sp>
      <p:sp>
        <p:nvSpPr>
          <p:cNvPr id="28" name="Text 26"/>
          <p:cNvSpPr txBox="1"/>
          <p:nvPr/>
        </p:nvSpPr>
        <p:spPr>
          <a:xfrm>
            <a:off x="9369308" y="2871216"/>
            <a:ext cx="2109155" cy="420624"/>
          </a:xfrm>
          <a:prstGeom prst="rect">
            <a:avLst/>
          </a:prstGeom>
          <a:noFill/>
          <a:ln/>
        </p:spPr>
        <p:txBody>
          <a:bodyPr wrap="square" lIns="0" tIns="0" rIns="0" bIns="0" rtlCol="0" anchor="ctr"/>
          <a:lstStyle/>
          <a:p>
            <a:pPr marL="0" indent="0" algn="ctr">
              <a:buNone/>
            </a:pPr>
            <a:r>
              <a:rPr lang="en-US" sz="1200" dirty="0">
                <a:solidFill>
                  <a:srgbClr val="111722"/>
                </a:solidFill>
                <a:latin typeface="Consolas" pitchFamily="34" charset="0"/>
                <a:ea typeface="Consolas" pitchFamily="34" charset="-122"/>
                <a:cs typeface="Consolas" pitchFamily="34" charset="-120"/>
              </a:rPr>
              <a:t>0.420</a:t>
            </a:r>
            <a:endParaRPr lang="en-US" sz="1200" dirty="0"/>
          </a:p>
        </p:txBody>
      </p:sp>
      <p:sp>
        <p:nvSpPr>
          <p:cNvPr id="29" name="Shape 27"/>
          <p:cNvSpPr/>
          <p:nvPr/>
        </p:nvSpPr>
        <p:spPr>
          <a:xfrm>
            <a:off x="640080" y="3346704"/>
            <a:ext cx="2109155" cy="420624"/>
          </a:xfrm>
          <a:prstGeom prst="roundRect">
            <a:avLst>
              <a:gd name="adj" fmla="val 17391"/>
            </a:avLst>
          </a:prstGeom>
          <a:solidFill>
            <a:srgbClr val="E7EEF8"/>
          </a:solidFill>
          <a:ln w="12700">
            <a:solidFill>
              <a:srgbClr val="E7EEF8"/>
            </a:solidFill>
            <a:prstDash val="solid"/>
          </a:ln>
        </p:spPr>
        <p:txBody>
          <a:bodyPr/>
          <a:lstStyle/>
          <a:p>
            <a:endParaRPr lang="en-US"/>
          </a:p>
        </p:txBody>
      </p:sp>
      <p:sp>
        <p:nvSpPr>
          <p:cNvPr id="30" name="Text 28"/>
          <p:cNvSpPr txBox="1"/>
          <p:nvPr/>
        </p:nvSpPr>
        <p:spPr>
          <a:xfrm>
            <a:off x="640080" y="3346704"/>
            <a:ext cx="2109155" cy="420624"/>
          </a:xfrm>
          <a:prstGeom prst="rect">
            <a:avLst/>
          </a:prstGeom>
          <a:noFill/>
          <a:ln/>
        </p:spPr>
        <p:txBody>
          <a:bodyPr wrap="square" lIns="0" tIns="0" rIns="0" bIns="0" rtlCol="0" anchor="ctr"/>
          <a:lstStyle/>
          <a:p>
            <a:pPr marL="0" indent="0" algn="ctr">
              <a:buNone/>
            </a:pPr>
            <a:r>
              <a:rPr lang="en-US" sz="1200" dirty="0">
                <a:solidFill>
                  <a:srgbClr val="111722"/>
                </a:solidFill>
                <a:latin typeface="Consolas" pitchFamily="34" charset="0"/>
                <a:ea typeface="Consolas" pitchFamily="34" charset="-122"/>
                <a:cs typeface="Consolas" pitchFamily="34" charset="-120"/>
              </a:rPr>
              <a:t>2</a:t>
            </a:r>
            <a:endParaRPr lang="en-US" sz="1200" dirty="0"/>
          </a:p>
        </p:txBody>
      </p:sp>
      <p:sp>
        <p:nvSpPr>
          <p:cNvPr id="31" name="Shape 29"/>
          <p:cNvSpPr/>
          <p:nvPr/>
        </p:nvSpPr>
        <p:spPr>
          <a:xfrm>
            <a:off x="2822387" y="3346704"/>
            <a:ext cx="2109155" cy="420624"/>
          </a:xfrm>
          <a:prstGeom prst="roundRect">
            <a:avLst>
              <a:gd name="adj" fmla="val 17391"/>
            </a:avLst>
          </a:prstGeom>
          <a:solidFill>
            <a:srgbClr val="E7EEF8"/>
          </a:solidFill>
          <a:ln w="12700">
            <a:solidFill>
              <a:srgbClr val="E7EEF8"/>
            </a:solidFill>
            <a:prstDash val="solid"/>
          </a:ln>
        </p:spPr>
        <p:txBody>
          <a:bodyPr/>
          <a:lstStyle/>
          <a:p>
            <a:endParaRPr lang="en-US"/>
          </a:p>
        </p:txBody>
      </p:sp>
      <p:sp>
        <p:nvSpPr>
          <p:cNvPr id="32" name="Text 30"/>
          <p:cNvSpPr txBox="1"/>
          <p:nvPr/>
        </p:nvSpPr>
        <p:spPr>
          <a:xfrm>
            <a:off x="2822387" y="3346704"/>
            <a:ext cx="2109155" cy="420624"/>
          </a:xfrm>
          <a:prstGeom prst="rect">
            <a:avLst/>
          </a:prstGeom>
          <a:noFill/>
          <a:ln/>
        </p:spPr>
        <p:txBody>
          <a:bodyPr wrap="square" lIns="0" tIns="0" rIns="0" bIns="0" rtlCol="0" anchor="ctr"/>
          <a:lstStyle/>
          <a:p>
            <a:pPr marL="0" indent="0" algn="ctr">
              <a:buNone/>
            </a:pPr>
            <a:r>
              <a:rPr lang="en-US" sz="1200" dirty="0">
                <a:solidFill>
                  <a:srgbClr val="111722"/>
                </a:solidFill>
                <a:latin typeface="Consolas" pitchFamily="34" charset="0"/>
                <a:ea typeface="Consolas" pitchFamily="34" charset="-122"/>
                <a:cs typeface="Consolas" pitchFamily="34" charset="-120"/>
              </a:rPr>
              <a:t>0.420</a:t>
            </a:r>
            <a:endParaRPr lang="en-US" sz="1200" dirty="0"/>
          </a:p>
        </p:txBody>
      </p:sp>
      <p:sp>
        <p:nvSpPr>
          <p:cNvPr id="33" name="Shape 31"/>
          <p:cNvSpPr/>
          <p:nvPr/>
        </p:nvSpPr>
        <p:spPr>
          <a:xfrm>
            <a:off x="5004694" y="3346704"/>
            <a:ext cx="2109155" cy="420624"/>
          </a:xfrm>
          <a:prstGeom prst="roundRect">
            <a:avLst>
              <a:gd name="adj" fmla="val 17391"/>
            </a:avLst>
          </a:prstGeom>
          <a:solidFill>
            <a:srgbClr val="E7EEF8"/>
          </a:solidFill>
          <a:ln w="12700">
            <a:solidFill>
              <a:srgbClr val="E7EEF8"/>
            </a:solidFill>
            <a:prstDash val="solid"/>
          </a:ln>
        </p:spPr>
        <p:txBody>
          <a:bodyPr/>
          <a:lstStyle/>
          <a:p>
            <a:endParaRPr lang="en-US"/>
          </a:p>
        </p:txBody>
      </p:sp>
      <p:sp>
        <p:nvSpPr>
          <p:cNvPr id="34" name="Text 32"/>
          <p:cNvSpPr txBox="1"/>
          <p:nvPr/>
        </p:nvSpPr>
        <p:spPr>
          <a:xfrm>
            <a:off x="5004694" y="3346704"/>
            <a:ext cx="2109155" cy="420624"/>
          </a:xfrm>
          <a:prstGeom prst="rect">
            <a:avLst/>
          </a:prstGeom>
          <a:noFill/>
          <a:ln/>
        </p:spPr>
        <p:txBody>
          <a:bodyPr wrap="square" lIns="0" tIns="0" rIns="0" bIns="0" rtlCol="0" anchor="ctr"/>
          <a:lstStyle/>
          <a:p>
            <a:pPr marL="0" indent="0" algn="ctr">
              <a:buNone/>
            </a:pPr>
            <a:r>
              <a:rPr lang="en-US" sz="1200" dirty="0">
                <a:solidFill>
                  <a:srgbClr val="111722"/>
                </a:solidFill>
                <a:latin typeface="Consolas" pitchFamily="34" charset="0"/>
                <a:ea typeface="Consolas" pitchFamily="34" charset="-122"/>
                <a:cs typeface="Consolas" pitchFamily="34" charset="-120"/>
              </a:rPr>
              <a:t>+0.550</a:t>
            </a:r>
            <a:endParaRPr lang="en-US" sz="1200" dirty="0"/>
          </a:p>
        </p:txBody>
      </p:sp>
      <p:sp>
        <p:nvSpPr>
          <p:cNvPr id="35" name="Shape 33"/>
          <p:cNvSpPr/>
          <p:nvPr/>
        </p:nvSpPr>
        <p:spPr>
          <a:xfrm>
            <a:off x="7187001" y="3346704"/>
            <a:ext cx="2109155" cy="420624"/>
          </a:xfrm>
          <a:prstGeom prst="roundRect">
            <a:avLst>
              <a:gd name="adj" fmla="val 17391"/>
            </a:avLst>
          </a:prstGeom>
          <a:solidFill>
            <a:srgbClr val="E7EEF8"/>
          </a:solidFill>
          <a:ln w="12700">
            <a:solidFill>
              <a:srgbClr val="E7EEF8"/>
            </a:solidFill>
            <a:prstDash val="solid"/>
          </a:ln>
        </p:spPr>
        <p:txBody>
          <a:bodyPr/>
          <a:lstStyle/>
          <a:p>
            <a:endParaRPr lang="en-US"/>
          </a:p>
        </p:txBody>
      </p:sp>
      <p:sp>
        <p:nvSpPr>
          <p:cNvPr id="36" name="Text 34"/>
          <p:cNvSpPr txBox="1"/>
          <p:nvPr/>
        </p:nvSpPr>
        <p:spPr>
          <a:xfrm>
            <a:off x="7187001" y="3346704"/>
            <a:ext cx="2109155" cy="420624"/>
          </a:xfrm>
          <a:prstGeom prst="rect">
            <a:avLst/>
          </a:prstGeom>
          <a:noFill/>
          <a:ln/>
        </p:spPr>
        <p:txBody>
          <a:bodyPr wrap="square" lIns="0" tIns="0" rIns="0" bIns="0" rtlCol="0" anchor="ctr"/>
          <a:lstStyle/>
          <a:p>
            <a:pPr marL="0" indent="0" algn="ctr">
              <a:buNone/>
            </a:pPr>
            <a:r>
              <a:rPr lang="en-US" sz="1200" dirty="0">
                <a:solidFill>
                  <a:srgbClr val="111722"/>
                </a:solidFill>
                <a:latin typeface="Consolas" pitchFamily="34" charset="0"/>
                <a:ea typeface="Consolas" pitchFamily="34" charset="-122"/>
                <a:cs typeface="Consolas" pitchFamily="34" charset="-120"/>
              </a:rPr>
              <a:t>0.055</a:t>
            </a:r>
            <a:endParaRPr lang="en-US" sz="1200" dirty="0"/>
          </a:p>
        </p:txBody>
      </p:sp>
      <p:sp>
        <p:nvSpPr>
          <p:cNvPr id="37" name="Shape 35"/>
          <p:cNvSpPr/>
          <p:nvPr/>
        </p:nvSpPr>
        <p:spPr>
          <a:xfrm>
            <a:off x="9369308" y="3346704"/>
            <a:ext cx="2109155" cy="420624"/>
          </a:xfrm>
          <a:prstGeom prst="roundRect">
            <a:avLst>
              <a:gd name="adj" fmla="val 17391"/>
            </a:avLst>
          </a:prstGeom>
          <a:solidFill>
            <a:srgbClr val="E7EEF8"/>
          </a:solidFill>
          <a:ln w="12700">
            <a:solidFill>
              <a:srgbClr val="E7EEF8"/>
            </a:solidFill>
            <a:prstDash val="solid"/>
          </a:ln>
        </p:spPr>
        <p:txBody>
          <a:bodyPr/>
          <a:lstStyle/>
          <a:p>
            <a:endParaRPr lang="en-US"/>
          </a:p>
        </p:txBody>
      </p:sp>
      <p:sp>
        <p:nvSpPr>
          <p:cNvPr id="38" name="Text 36"/>
          <p:cNvSpPr txBox="1"/>
          <p:nvPr/>
        </p:nvSpPr>
        <p:spPr>
          <a:xfrm>
            <a:off x="9369308" y="3346704"/>
            <a:ext cx="2109155" cy="420624"/>
          </a:xfrm>
          <a:prstGeom prst="rect">
            <a:avLst/>
          </a:prstGeom>
          <a:noFill/>
          <a:ln/>
        </p:spPr>
        <p:txBody>
          <a:bodyPr wrap="square" lIns="0" tIns="0" rIns="0" bIns="0" rtlCol="0" anchor="ctr"/>
          <a:lstStyle/>
          <a:p>
            <a:pPr marL="0" indent="0" algn="ctr">
              <a:buNone/>
            </a:pPr>
            <a:r>
              <a:rPr lang="en-US" sz="1200" dirty="0">
                <a:solidFill>
                  <a:srgbClr val="111722"/>
                </a:solidFill>
                <a:latin typeface="Consolas" pitchFamily="34" charset="0"/>
                <a:ea typeface="Consolas" pitchFamily="34" charset="-122"/>
                <a:cs typeface="Consolas" pitchFamily="34" charset="-120"/>
              </a:rPr>
              <a:t>0.365</a:t>
            </a:r>
            <a:endParaRPr lang="en-US" sz="1200" dirty="0"/>
          </a:p>
        </p:txBody>
      </p:sp>
      <p:sp>
        <p:nvSpPr>
          <p:cNvPr id="39" name="Shape 37"/>
          <p:cNvSpPr/>
          <p:nvPr/>
        </p:nvSpPr>
        <p:spPr>
          <a:xfrm>
            <a:off x="640080" y="3822192"/>
            <a:ext cx="2109155" cy="420624"/>
          </a:xfrm>
          <a:prstGeom prst="roundRect">
            <a:avLst>
              <a:gd name="adj" fmla="val 17391"/>
            </a:avLst>
          </a:prstGeom>
          <a:solidFill>
            <a:srgbClr val="FAF0DE"/>
          </a:solidFill>
          <a:ln w="12700">
            <a:solidFill>
              <a:srgbClr val="FAF0DE"/>
            </a:solidFill>
            <a:prstDash val="solid"/>
          </a:ln>
        </p:spPr>
        <p:txBody>
          <a:bodyPr/>
          <a:lstStyle/>
          <a:p>
            <a:endParaRPr lang="en-US"/>
          </a:p>
        </p:txBody>
      </p:sp>
      <p:sp>
        <p:nvSpPr>
          <p:cNvPr id="40" name="Text 38"/>
          <p:cNvSpPr txBox="1"/>
          <p:nvPr/>
        </p:nvSpPr>
        <p:spPr>
          <a:xfrm>
            <a:off x="640080" y="3822192"/>
            <a:ext cx="2109155" cy="420624"/>
          </a:xfrm>
          <a:prstGeom prst="rect">
            <a:avLst/>
          </a:prstGeom>
          <a:noFill/>
          <a:ln/>
        </p:spPr>
        <p:txBody>
          <a:bodyPr wrap="square" lIns="0" tIns="0" rIns="0" bIns="0" rtlCol="0" anchor="ctr"/>
          <a:lstStyle/>
          <a:p>
            <a:pPr marL="0" indent="0" algn="ctr">
              <a:buNone/>
            </a:pPr>
            <a:r>
              <a:rPr lang="en-US" sz="1200" dirty="0">
                <a:solidFill>
                  <a:srgbClr val="111722"/>
                </a:solidFill>
                <a:latin typeface="Consolas" pitchFamily="34" charset="0"/>
                <a:ea typeface="Consolas" pitchFamily="34" charset="-122"/>
                <a:cs typeface="Consolas" pitchFamily="34" charset="-120"/>
              </a:rPr>
              <a:t>3</a:t>
            </a:r>
            <a:endParaRPr lang="en-US" sz="1200" dirty="0"/>
          </a:p>
        </p:txBody>
      </p:sp>
      <p:sp>
        <p:nvSpPr>
          <p:cNvPr id="41" name="Shape 39"/>
          <p:cNvSpPr/>
          <p:nvPr/>
        </p:nvSpPr>
        <p:spPr>
          <a:xfrm>
            <a:off x="2822387" y="3822192"/>
            <a:ext cx="2109155" cy="420624"/>
          </a:xfrm>
          <a:prstGeom prst="roundRect">
            <a:avLst>
              <a:gd name="adj" fmla="val 17391"/>
            </a:avLst>
          </a:prstGeom>
          <a:solidFill>
            <a:srgbClr val="FAF0DE"/>
          </a:solidFill>
          <a:ln w="12700">
            <a:solidFill>
              <a:srgbClr val="FAF0DE"/>
            </a:solidFill>
            <a:prstDash val="solid"/>
          </a:ln>
        </p:spPr>
        <p:txBody>
          <a:bodyPr/>
          <a:lstStyle/>
          <a:p>
            <a:endParaRPr lang="en-US"/>
          </a:p>
        </p:txBody>
      </p:sp>
      <p:sp>
        <p:nvSpPr>
          <p:cNvPr id="42" name="Text 40"/>
          <p:cNvSpPr txBox="1"/>
          <p:nvPr/>
        </p:nvSpPr>
        <p:spPr>
          <a:xfrm>
            <a:off x="2822387" y="3822192"/>
            <a:ext cx="2109155" cy="420624"/>
          </a:xfrm>
          <a:prstGeom prst="rect">
            <a:avLst/>
          </a:prstGeom>
          <a:noFill/>
          <a:ln/>
        </p:spPr>
        <p:txBody>
          <a:bodyPr wrap="square" lIns="0" tIns="0" rIns="0" bIns="0" rtlCol="0" anchor="ctr"/>
          <a:lstStyle/>
          <a:p>
            <a:pPr marL="0" indent="0" algn="ctr">
              <a:buNone/>
            </a:pPr>
            <a:r>
              <a:rPr lang="en-US" sz="1200" dirty="0">
                <a:solidFill>
                  <a:srgbClr val="111722"/>
                </a:solidFill>
                <a:latin typeface="Consolas" pitchFamily="34" charset="0"/>
                <a:ea typeface="Consolas" pitchFamily="34" charset="-122"/>
                <a:cs typeface="Consolas" pitchFamily="34" charset="-120"/>
              </a:rPr>
              <a:t>0.365</a:t>
            </a:r>
            <a:endParaRPr lang="en-US" sz="1200" dirty="0"/>
          </a:p>
        </p:txBody>
      </p:sp>
      <p:sp>
        <p:nvSpPr>
          <p:cNvPr id="43" name="Shape 41"/>
          <p:cNvSpPr/>
          <p:nvPr/>
        </p:nvSpPr>
        <p:spPr>
          <a:xfrm>
            <a:off x="5004694" y="3822192"/>
            <a:ext cx="2109155" cy="420624"/>
          </a:xfrm>
          <a:prstGeom prst="roundRect">
            <a:avLst>
              <a:gd name="adj" fmla="val 17391"/>
            </a:avLst>
          </a:prstGeom>
          <a:solidFill>
            <a:srgbClr val="FAF0DE"/>
          </a:solidFill>
          <a:ln w="12700">
            <a:solidFill>
              <a:srgbClr val="FAF0DE"/>
            </a:solidFill>
            <a:prstDash val="solid"/>
          </a:ln>
        </p:spPr>
        <p:txBody>
          <a:bodyPr/>
          <a:lstStyle/>
          <a:p>
            <a:endParaRPr lang="en-US"/>
          </a:p>
        </p:txBody>
      </p:sp>
      <p:sp>
        <p:nvSpPr>
          <p:cNvPr id="44" name="Text 42"/>
          <p:cNvSpPr txBox="1"/>
          <p:nvPr/>
        </p:nvSpPr>
        <p:spPr>
          <a:xfrm>
            <a:off x="5004694" y="3822192"/>
            <a:ext cx="2109155" cy="420624"/>
          </a:xfrm>
          <a:prstGeom prst="rect">
            <a:avLst/>
          </a:prstGeom>
          <a:noFill/>
          <a:ln/>
        </p:spPr>
        <p:txBody>
          <a:bodyPr wrap="square" lIns="0" tIns="0" rIns="0" bIns="0" rtlCol="0" anchor="ctr"/>
          <a:lstStyle/>
          <a:p>
            <a:pPr marL="0" indent="0" algn="ctr">
              <a:buNone/>
            </a:pPr>
            <a:r>
              <a:rPr lang="en-US" sz="1200" dirty="0">
                <a:solidFill>
                  <a:srgbClr val="111722"/>
                </a:solidFill>
                <a:latin typeface="Consolas" pitchFamily="34" charset="0"/>
                <a:ea typeface="Consolas" pitchFamily="34" charset="-122"/>
                <a:cs typeface="Consolas" pitchFamily="34" charset="-120"/>
              </a:rPr>
              <a:t>+0.310</a:t>
            </a:r>
            <a:endParaRPr lang="en-US" sz="1200" dirty="0"/>
          </a:p>
        </p:txBody>
      </p:sp>
      <p:sp>
        <p:nvSpPr>
          <p:cNvPr id="45" name="Shape 43"/>
          <p:cNvSpPr/>
          <p:nvPr/>
        </p:nvSpPr>
        <p:spPr>
          <a:xfrm>
            <a:off x="7187001" y="3822192"/>
            <a:ext cx="2109155" cy="420624"/>
          </a:xfrm>
          <a:prstGeom prst="roundRect">
            <a:avLst>
              <a:gd name="adj" fmla="val 17391"/>
            </a:avLst>
          </a:prstGeom>
          <a:solidFill>
            <a:srgbClr val="FAF0DE"/>
          </a:solidFill>
          <a:ln w="12700">
            <a:solidFill>
              <a:srgbClr val="FAF0DE"/>
            </a:solidFill>
            <a:prstDash val="solid"/>
          </a:ln>
        </p:spPr>
        <p:txBody>
          <a:bodyPr/>
          <a:lstStyle/>
          <a:p>
            <a:endParaRPr lang="en-US"/>
          </a:p>
        </p:txBody>
      </p:sp>
      <p:sp>
        <p:nvSpPr>
          <p:cNvPr id="46" name="Text 44"/>
          <p:cNvSpPr txBox="1"/>
          <p:nvPr/>
        </p:nvSpPr>
        <p:spPr>
          <a:xfrm>
            <a:off x="7187001" y="3822192"/>
            <a:ext cx="2109155" cy="420624"/>
          </a:xfrm>
          <a:prstGeom prst="rect">
            <a:avLst/>
          </a:prstGeom>
          <a:noFill/>
          <a:ln/>
        </p:spPr>
        <p:txBody>
          <a:bodyPr wrap="square" lIns="0" tIns="0" rIns="0" bIns="0" rtlCol="0" anchor="ctr"/>
          <a:lstStyle/>
          <a:p>
            <a:pPr marL="0" indent="0" algn="ctr">
              <a:buNone/>
            </a:pPr>
            <a:r>
              <a:rPr lang="en-US" sz="1200" dirty="0">
                <a:solidFill>
                  <a:srgbClr val="111722"/>
                </a:solidFill>
                <a:latin typeface="Consolas" pitchFamily="34" charset="0"/>
                <a:ea typeface="Consolas" pitchFamily="34" charset="-122"/>
                <a:cs typeface="Consolas" pitchFamily="34" charset="-120"/>
              </a:rPr>
              <a:t>0.031</a:t>
            </a:r>
            <a:endParaRPr lang="en-US" sz="1200" dirty="0"/>
          </a:p>
        </p:txBody>
      </p:sp>
      <p:sp>
        <p:nvSpPr>
          <p:cNvPr id="47" name="Shape 45"/>
          <p:cNvSpPr/>
          <p:nvPr/>
        </p:nvSpPr>
        <p:spPr>
          <a:xfrm>
            <a:off x="9369308" y="3822192"/>
            <a:ext cx="2109155" cy="420624"/>
          </a:xfrm>
          <a:prstGeom prst="roundRect">
            <a:avLst>
              <a:gd name="adj" fmla="val 17391"/>
            </a:avLst>
          </a:prstGeom>
          <a:solidFill>
            <a:srgbClr val="FAF0DE"/>
          </a:solidFill>
          <a:ln w="12700">
            <a:solidFill>
              <a:srgbClr val="FAF0DE"/>
            </a:solidFill>
            <a:prstDash val="solid"/>
          </a:ln>
        </p:spPr>
        <p:txBody>
          <a:bodyPr/>
          <a:lstStyle/>
          <a:p>
            <a:endParaRPr lang="en-US"/>
          </a:p>
        </p:txBody>
      </p:sp>
      <p:sp>
        <p:nvSpPr>
          <p:cNvPr id="48" name="Text 46"/>
          <p:cNvSpPr txBox="1"/>
          <p:nvPr/>
        </p:nvSpPr>
        <p:spPr>
          <a:xfrm>
            <a:off x="9369308" y="3822192"/>
            <a:ext cx="2109155" cy="420624"/>
          </a:xfrm>
          <a:prstGeom prst="rect">
            <a:avLst/>
          </a:prstGeom>
          <a:noFill/>
          <a:ln/>
        </p:spPr>
        <p:txBody>
          <a:bodyPr wrap="square" lIns="0" tIns="0" rIns="0" bIns="0" rtlCol="0" anchor="ctr"/>
          <a:lstStyle/>
          <a:p>
            <a:pPr marL="0" indent="0" algn="ctr">
              <a:buNone/>
            </a:pPr>
            <a:r>
              <a:rPr lang="en-US" sz="1200" dirty="0">
                <a:solidFill>
                  <a:srgbClr val="111722"/>
                </a:solidFill>
                <a:latin typeface="Consolas" pitchFamily="34" charset="0"/>
                <a:ea typeface="Consolas" pitchFamily="34" charset="-122"/>
                <a:cs typeface="Consolas" pitchFamily="34" charset="-120"/>
              </a:rPr>
              <a:t>0.334</a:t>
            </a:r>
            <a:endParaRPr lang="en-US" sz="1200" dirty="0"/>
          </a:p>
        </p:txBody>
      </p:sp>
      <p:sp>
        <p:nvSpPr>
          <p:cNvPr id="49" name="Shape 47"/>
          <p:cNvSpPr/>
          <p:nvPr/>
        </p:nvSpPr>
        <p:spPr>
          <a:xfrm>
            <a:off x="640080" y="4297680"/>
            <a:ext cx="2109155" cy="420624"/>
          </a:xfrm>
          <a:prstGeom prst="roundRect">
            <a:avLst>
              <a:gd name="adj" fmla="val 17391"/>
            </a:avLst>
          </a:prstGeom>
          <a:solidFill>
            <a:srgbClr val="E7EEF8"/>
          </a:solidFill>
          <a:ln w="12700">
            <a:solidFill>
              <a:srgbClr val="E7EEF8"/>
            </a:solidFill>
            <a:prstDash val="solid"/>
          </a:ln>
        </p:spPr>
        <p:txBody>
          <a:bodyPr/>
          <a:lstStyle/>
          <a:p>
            <a:endParaRPr lang="en-US"/>
          </a:p>
        </p:txBody>
      </p:sp>
      <p:sp>
        <p:nvSpPr>
          <p:cNvPr id="50" name="Text 48"/>
          <p:cNvSpPr txBox="1"/>
          <p:nvPr/>
        </p:nvSpPr>
        <p:spPr>
          <a:xfrm>
            <a:off x="640080" y="4297680"/>
            <a:ext cx="2109155" cy="420624"/>
          </a:xfrm>
          <a:prstGeom prst="rect">
            <a:avLst/>
          </a:prstGeom>
          <a:noFill/>
          <a:ln/>
        </p:spPr>
        <p:txBody>
          <a:bodyPr wrap="square" lIns="0" tIns="0" rIns="0" bIns="0" rtlCol="0" anchor="ctr"/>
          <a:lstStyle/>
          <a:p>
            <a:pPr marL="0" indent="0" algn="ctr">
              <a:buNone/>
            </a:pPr>
            <a:r>
              <a:rPr lang="en-US" sz="1200" dirty="0">
                <a:solidFill>
                  <a:srgbClr val="111722"/>
                </a:solidFill>
                <a:latin typeface="Consolas" pitchFamily="34" charset="0"/>
                <a:ea typeface="Consolas" pitchFamily="34" charset="-122"/>
                <a:cs typeface="Consolas" pitchFamily="34" charset="-120"/>
              </a:rPr>
              <a:t>4</a:t>
            </a:r>
            <a:endParaRPr lang="en-US" sz="1200" dirty="0"/>
          </a:p>
        </p:txBody>
      </p:sp>
      <p:sp>
        <p:nvSpPr>
          <p:cNvPr id="51" name="Shape 49"/>
          <p:cNvSpPr/>
          <p:nvPr/>
        </p:nvSpPr>
        <p:spPr>
          <a:xfrm>
            <a:off x="2822387" y="4297680"/>
            <a:ext cx="2109155" cy="420624"/>
          </a:xfrm>
          <a:prstGeom prst="roundRect">
            <a:avLst>
              <a:gd name="adj" fmla="val 17391"/>
            </a:avLst>
          </a:prstGeom>
          <a:solidFill>
            <a:srgbClr val="E7EEF8"/>
          </a:solidFill>
          <a:ln w="12700">
            <a:solidFill>
              <a:srgbClr val="E7EEF8"/>
            </a:solidFill>
            <a:prstDash val="solid"/>
          </a:ln>
        </p:spPr>
        <p:txBody>
          <a:bodyPr/>
          <a:lstStyle/>
          <a:p>
            <a:endParaRPr lang="en-US"/>
          </a:p>
        </p:txBody>
      </p:sp>
      <p:sp>
        <p:nvSpPr>
          <p:cNvPr id="52" name="Text 50"/>
          <p:cNvSpPr txBox="1"/>
          <p:nvPr/>
        </p:nvSpPr>
        <p:spPr>
          <a:xfrm>
            <a:off x="2822387" y="4297680"/>
            <a:ext cx="2109155" cy="420624"/>
          </a:xfrm>
          <a:prstGeom prst="rect">
            <a:avLst/>
          </a:prstGeom>
          <a:noFill/>
          <a:ln/>
        </p:spPr>
        <p:txBody>
          <a:bodyPr wrap="square" lIns="0" tIns="0" rIns="0" bIns="0" rtlCol="0" anchor="ctr"/>
          <a:lstStyle/>
          <a:p>
            <a:pPr marL="0" indent="0" algn="ctr">
              <a:buNone/>
            </a:pPr>
            <a:r>
              <a:rPr lang="en-US" sz="1200" dirty="0">
                <a:solidFill>
                  <a:srgbClr val="111722"/>
                </a:solidFill>
                <a:latin typeface="Consolas" pitchFamily="34" charset="0"/>
                <a:ea typeface="Consolas" pitchFamily="34" charset="-122"/>
                <a:cs typeface="Consolas" pitchFamily="34" charset="-120"/>
              </a:rPr>
              <a:t>0.334</a:t>
            </a:r>
            <a:endParaRPr lang="en-US" sz="1200" dirty="0"/>
          </a:p>
        </p:txBody>
      </p:sp>
      <p:sp>
        <p:nvSpPr>
          <p:cNvPr id="53" name="Shape 51"/>
          <p:cNvSpPr/>
          <p:nvPr/>
        </p:nvSpPr>
        <p:spPr>
          <a:xfrm>
            <a:off x="5004694" y="4297680"/>
            <a:ext cx="2109155" cy="420624"/>
          </a:xfrm>
          <a:prstGeom prst="roundRect">
            <a:avLst>
              <a:gd name="adj" fmla="val 17391"/>
            </a:avLst>
          </a:prstGeom>
          <a:solidFill>
            <a:srgbClr val="E7EEF8"/>
          </a:solidFill>
          <a:ln w="12700">
            <a:solidFill>
              <a:srgbClr val="E7EEF8"/>
            </a:solidFill>
            <a:prstDash val="solid"/>
          </a:ln>
        </p:spPr>
        <p:txBody>
          <a:bodyPr/>
          <a:lstStyle/>
          <a:p>
            <a:endParaRPr lang="en-US"/>
          </a:p>
        </p:txBody>
      </p:sp>
      <p:sp>
        <p:nvSpPr>
          <p:cNvPr id="54" name="Text 52"/>
          <p:cNvSpPr txBox="1"/>
          <p:nvPr/>
        </p:nvSpPr>
        <p:spPr>
          <a:xfrm>
            <a:off x="5004694" y="4297680"/>
            <a:ext cx="2109155" cy="420624"/>
          </a:xfrm>
          <a:prstGeom prst="rect">
            <a:avLst/>
          </a:prstGeom>
          <a:noFill/>
          <a:ln/>
        </p:spPr>
        <p:txBody>
          <a:bodyPr wrap="square" lIns="0" tIns="0" rIns="0" bIns="0" rtlCol="0" anchor="ctr"/>
          <a:lstStyle/>
          <a:p>
            <a:pPr marL="0" indent="0" algn="ctr">
              <a:buNone/>
            </a:pPr>
            <a:r>
              <a:rPr lang="en-US" sz="1200" dirty="0">
                <a:solidFill>
                  <a:srgbClr val="111722"/>
                </a:solidFill>
                <a:latin typeface="Consolas" pitchFamily="34" charset="0"/>
                <a:ea typeface="Consolas" pitchFamily="34" charset="-122"/>
                <a:cs typeface="Consolas" pitchFamily="34" charset="-120"/>
              </a:rPr>
              <a:t>+0.150</a:t>
            </a:r>
            <a:endParaRPr lang="en-US" sz="1200" dirty="0"/>
          </a:p>
        </p:txBody>
      </p:sp>
      <p:sp>
        <p:nvSpPr>
          <p:cNvPr id="55" name="Shape 53"/>
          <p:cNvSpPr/>
          <p:nvPr/>
        </p:nvSpPr>
        <p:spPr>
          <a:xfrm>
            <a:off x="7187001" y="4297680"/>
            <a:ext cx="2109155" cy="420624"/>
          </a:xfrm>
          <a:prstGeom prst="roundRect">
            <a:avLst>
              <a:gd name="adj" fmla="val 17391"/>
            </a:avLst>
          </a:prstGeom>
          <a:solidFill>
            <a:srgbClr val="E7EEF8"/>
          </a:solidFill>
          <a:ln w="12700">
            <a:solidFill>
              <a:srgbClr val="E7EEF8"/>
            </a:solidFill>
            <a:prstDash val="solid"/>
          </a:ln>
        </p:spPr>
        <p:txBody>
          <a:bodyPr/>
          <a:lstStyle/>
          <a:p>
            <a:endParaRPr lang="en-US"/>
          </a:p>
        </p:txBody>
      </p:sp>
      <p:sp>
        <p:nvSpPr>
          <p:cNvPr id="56" name="Text 54"/>
          <p:cNvSpPr txBox="1"/>
          <p:nvPr/>
        </p:nvSpPr>
        <p:spPr>
          <a:xfrm>
            <a:off x="7187001" y="4297680"/>
            <a:ext cx="2109155" cy="420624"/>
          </a:xfrm>
          <a:prstGeom prst="rect">
            <a:avLst/>
          </a:prstGeom>
          <a:noFill/>
          <a:ln/>
        </p:spPr>
        <p:txBody>
          <a:bodyPr wrap="square" lIns="0" tIns="0" rIns="0" bIns="0" rtlCol="0" anchor="ctr"/>
          <a:lstStyle/>
          <a:p>
            <a:pPr marL="0" indent="0" algn="ctr">
              <a:buNone/>
            </a:pPr>
            <a:r>
              <a:rPr lang="en-US" sz="1200" dirty="0">
                <a:solidFill>
                  <a:srgbClr val="111722"/>
                </a:solidFill>
                <a:latin typeface="Consolas" pitchFamily="34" charset="0"/>
                <a:ea typeface="Consolas" pitchFamily="34" charset="-122"/>
                <a:cs typeface="Consolas" pitchFamily="34" charset="-120"/>
              </a:rPr>
              <a:t>0.015</a:t>
            </a:r>
            <a:endParaRPr lang="en-US" sz="1200" dirty="0"/>
          </a:p>
        </p:txBody>
      </p:sp>
      <p:sp>
        <p:nvSpPr>
          <p:cNvPr id="57" name="Shape 55"/>
          <p:cNvSpPr/>
          <p:nvPr/>
        </p:nvSpPr>
        <p:spPr>
          <a:xfrm>
            <a:off x="9369308" y="4297680"/>
            <a:ext cx="2109155" cy="420624"/>
          </a:xfrm>
          <a:prstGeom prst="roundRect">
            <a:avLst>
              <a:gd name="adj" fmla="val 17391"/>
            </a:avLst>
          </a:prstGeom>
          <a:solidFill>
            <a:srgbClr val="E7EEF8"/>
          </a:solidFill>
          <a:ln w="12700">
            <a:solidFill>
              <a:srgbClr val="E7EEF8"/>
            </a:solidFill>
            <a:prstDash val="solid"/>
          </a:ln>
        </p:spPr>
        <p:txBody>
          <a:bodyPr/>
          <a:lstStyle/>
          <a:p>
            <a:endParaRPr lang="en-US"/>
          </a:p>
        </p:txBody>
      </p:sp>
      <p:sp>
        <p:nvSpPr>
          <p:cNvPr id="58" name="Text 56"/>
          <p:cNvSpPr txBox="1"/>
          <p:nvPr/>
        </p:nvSpPr>
        <p:spPr>
          <a:xfrm>
            <a:off x="9369308" y="4297680"/>
            <a:ext cx="2109155" cy="420624"/>
          </a:xfrm>
          <a:prstGeom prst="rect">
            <a:avLst/>
          </a:prstGeom>
          <a:noFill/>
          <a:ln/>
        </p:spPr>
        <p:txBody>
          <a:bodyPr wrap="square" lIns="0" tIns="0" rIns="0" bIns="0" rtlCol="0" anchor="ctr"/>
          <a:lstStyle/>
          <a:p>
            <a:pPr marL="0" indent="0" algn="ctr">
              <a:buNone/>
            </a:pPr>
            <a:r>
              <a:rPr lang="en-US" sz="1200" dirty="0">
                <a:solidFill>
                  <a:srgbClr val="111722"/>
                </a:solidFill>
                <a:latin typeface="Consolas" pitchFamily="34" charset="0"/>
                <a:ea typeface="Consolas" pitchFamily="34" charset="-122"/>
                <a:cs typeface="Consolas" pitchFamily="34" charset="-120"/>
              </a:rPr>
              <a:t>0.319</a:t>
            </a:r>
            <a:endParaRPr lang="en-US" sz="1200" dirty="0"/>
          </a:p>
        </p:txBody>
      </p:sp>
      <p:sp>
        <p:nvSpPr>
          <p:cNvPr id="59" name="Shape 57"/>
          <p:cNvSpPr/>
          <p:nvPr/>
        </p:nvSpPr>
        <p:spPr>
          <a:xfrm>
            <a:off x="640080" y="4864608"/>
            <a:ext cx="3454298" cy="1371600"/>
          </a:xfrm>
          <a:prstGeom prst="roundRect">
            <a:avLst>
              <a:gd name="adj" fmla="val 5333"/>
            </a:avLst>
          </a:prstGeom>
          <a:solidFill>
            <a:srgbClr val="E7EEF8"/>
          </a:solidFill>
          <a:ln w="12700">
            <a:solidFill>
              <a:srgbClr val="E7EEF8"/>
            </a:solidFill>
            <a:prstDash val="solid"/>
          </a:ln>
        </p:spPr>
        <p:txBody>
          <a:bodyPr/>
          <a:lstStyle/>
          <a:p>
            <a:endParaRPr lang="en-US"/>
          </a:p>
        </p:txBody>
      </p:sp>
      <p:sp>
        <p:nvSpPr>
          <p:cNvPr id="60" name="Text 58"/>
          <p:cNvSpPr txBox="1"/>
          <p:nvPr/>
        </p:nvSpPr>
        <p:spPr>
          <a:xfrm>
            <a:off x="914400" y="5047488"/>
            <a:ext cx="2905658" cy="566928"/>
          </a:xfrm>
          <a:prstGeom prst="rect">
            <a:avLst/>
          </a:prstGeom>
          <a:noFill/>
          <a:ln/>
        </p:spPr>
        <p:txBody>
          <a:bodyPr wrap="square" lIns="0" tIns="0" rIns="0" bIns="0" rtlCol="0" anchor="ctr"/>
          <a:lstStyle/>
          <a:p>
            <a:pPr marL="0" indent="0">
              <a:lnSpc>
                <a:spcPts val="2000"/>
              </a:lnSpc>
              <a:buNone/>
            </a:pPr>
            <a:r>
              <a:rPr lang="en-US" sz="1450" b="1" dirty="0">
                <a:solidFill>
                  <a:srgbClr val="111722"/>
                </a:solidFill>
                <a:latin typeface="Cambria" pitchFamily="34" charset="0"/>
                <a:ea typeface="Cambria" pitchFamily="34" charset="-122"/>
                <a:cs typeface="Cambria" pitchFamily="34" charset="-120"/>
              </a:rPr>
              <a:t>The slope shrinks as it descends</a:t>
            </a:r>
            <a:endParaRPr lang="en-US" sz="1450" dirty="0"/>
          </a:p>
        </p:txBody>
      </p:sp>
      <p:sp>
        <p:nvSpPr>
          <p:cNvPr id="61" name="Text 59"/>
          <p:cNvSpPr txBox="1"/>
          <p:nvPr/>
        </p:nvSpPr>
        <p:spPr>
          <a:xfrm>
            <a:off x="914400" y="5687568"/>
            <a:ext cx="2905658" cy="329184"/>
          </a:xfrm>
          <a:prstGeom prst="rect">
            <a:avLst/>
          </a:prstGeom>
          <a:noFill/>
          <a:ln/>
        </p:spPr>
        <p:txBody>
          <a:bodyPr wrap="square" lIns="0" tIns="0" rIns="0" bIns="0" rtlCol="0" anchor="ctr"/>
          <a:lstStyle/>
          <a:p>
            <a:pPr marL="0" indent="0">
              <a:lnSpc>
                <a:spcPts val="1600"/>
              </a:lnSpc>
              <a:buNone/>
            </a:pPr>
            <a:r>
              <a:rPr lang="en-US" sz="1150" dirty="0">
                <a:solidFill>
                  <a:srgbClr val="5B6474"/>
                </a:solidFill>
                <a:latin typeface="Calibri" pitchFamily="34" charset="0"/>
                <a:ea typeface="Calibri" pitchFamily="34" charset="-122"/>
                <a:cs typeface="Calibri" pitchFamily="34" charset="-120"/>
              </a:rPr>
              <a:t>Because the valley flattens near its bottom. That is a property of the landscape, not something anyone programmed.</a:t>
            </a:r>
            <a:endParaRPr lang="en-US" sz="1150" dirty="0"/>
          </a:p>
        </p:txBody>
      </p:sp>
      <p:sp>
        <p:nvSpPr>
          <p:cNvPr id="62" name="Shape 60"/>
          <p:cNvSpPr/>
          <p:nvPr/>
        </p:nvSpPr>
        <p:spPr>
          <a:xfrm>
            <a:off x="4368698" y="4864608"/>
            <a:ext cx="3454298" cy="1371600"/>
          </a:xfrm>
          <a:prstGeom prst="roundRect">
            <a:avLst>
              <a:gd name="adj" fmla="val 5333"/>
            </a:avLst>
          </a:prstGeom>
          <a:solidFill>
            <a:srgbClr val="FAF0DE"/>
          </a:solidFill>
          <a:ln w="12700">
            <a:solidFill>
              <a:srgbClr val="FAF0DE"/>
            </a:solidFill>
            <a:prstDash val="solid"/>
          </a:ln>
        </p:spPr>
        <p:txBody>
          <a:bodyPr/>
          <a:lstStyle/>
          <a:p>
            <a:endParaRPr lang="en-US"/>
          </a:p>
        </p:txBody>
      </p:sp>
      <p:sp>
        <p:nvSpPr>
          <p:cNvPr id="63" name="Text 61"/>
          <p:cNvSpPr txBox="1"/>
          <p:nvPr/>
        </p:nvSpPr>
        <p:spPr>
          <a:xfrm>
            <a:off x="4643018" y="5047488"/>
            <a:ext cx="2905658" cy="566928"/>
          </a:xfrm>
          <a:prstGeom prst="rect">
            <a:avLst/>
          </a:prstGeom>
          <a:noFill/>
          <a:ln/>
        </p:spPr>
        <p:txBody>
          <a:bodyPr wrap="square" lIns="0" tIns="0" rIns="0" bIns="0" rtlCol="0" anchor="ctr"/>
          <a:lstStyle/>
          <a:p>
            <a:pPr marL="0" indent="0">
              <a:lnSpc>
                <a:spcPts val="2000"/>
              </a:lnSpc>
              <a:buNone/>
            </a:pPr>
            <a:r>
              <a:rPr lang="en-US" sz="1450" b="1" dirty="0">
                <a:solidFill>
                  <a:srgbClr val="111722"/>
                </a:solidFill>
                <a:latin typeface="Cambria" pitchFamily="34" charset="0"/>
                <a:ea typeface="Cambria" pitchFamily="34" charset="-122"/>
                <a:cs typeface="Cambria" pitchFamily="34" charset="-120"/>
              </a:rPr>
              <a:t>So the steps shrink too</a:t>
            </a:r>
            <a:endParaRPr lang="en-US" sz="1450" dirty="0"/>
          </a:p>
        </p:txBody>
      </p:sp>
      <p:sp>
        <p:nvSpPr>
          <p:cNvPr id="64" name="Text 62"/>
          <p:cNvSpPr txBox="1"/>
          <p:nvPr/>
        </p:nvSpPr>
        <p:spPr>
          <a:xfrm>
            <a:off x="4643018" y="5687568"/>
            <a:ext cx="2905658" cy="329184"/>
          </a:xfrm>
          <a:prstGeom prst="rect">
            <a:avLst/>
          </a:prstGeom>
          <a:noFill/>
          <a:ln/>
        </p:spPr>
        <p:txBody>
          <a:bodyPr wrap="square" lIns="0" tIns="0" rIns="0" bIns="0" rtlCol="0" anchor="ctr"/>
          <a:lstStyle/>
          <a:p>
            <a:pPr marL="0" indent="0">
              <a:lnSpc>
                <a:spcPts val="1600"/>
              </a:lnSpc>
              <a:buNone/>
            </a:pPr>
            <a:r>
              <a:rPr lang="en-US" sz="1150" dirty="0">
                <a:solidFill>
                  <a:srgbClr val="5B6474"/>
                </a:solidFill>
                <a:latin typeface="Calibri" pitchFamily="34" charset="0"/>
                <a:ea typeface="Calibri" pitchFamily="34" charset="-122"/>
                <a:cs typeface="Calibri" pitchFamily="34" charset="-120"/>
              </a:rPr>
              <a:t>Step size is η times the slope, so the walk automatically slows as it arrives. No braking logic is required.</a:t>
            </a:r>
            <a:endParaRPr lang="en-US" sz="1150" dirty="0"/>
          </a:p>
        </p:txBody>
      </p:sp>
      <p:sp>
        <p:nvSpPr>
          <p:cNvPr id="65" name="Shape 63"/>
          <p:cNvSpPr/>
          <p:nvPr/>
        </p:nvSpPr>
        <p:spPr>
          <a:xfrm>
            <a:off x="8097317" y="4864608"/>
            <a:ext cx="3454298" cy="1371600"/>
          </a:xfrm>
          <a:prstGeom prst="roundRect">
            <a:avLst>
              <a:gd name="adj" fmla="val 5333"/>
            </a:avLst>
          </a:prstGeom>
          <a:solidFill>
            <a:srgbClr val="E7EEF8"/>
          </a:solidFill>
          <a:ln w="12700">
            <a:solidFill>
              <a:srgbClr val="E7EEF8"/>
            </a:solidFill>
            <a:prstDash val="solid"/>
          </a:ln>
        </p:spPr>
        <p:txBody>
          <a:bodyPr/>
          <a:lstStyle/>
          <a:p>
            <a:endParaRPr lang="en-US"/>
          </a:p>
        </p:txBody>
      </p:sp>
      <p:sp>
        <p:nvSpPr>
          <p:cNvPr id="66" name="Text 64"/>
          <p:cNvSpPr txBox="1"/>
          <p:nvPr/>
        </p:nvSpPr>
        <p:spPr>
          <a:xfrm>
            <a:off x="8371637" y="5047488"/>
            <a:ext cx="2905658" cy="566928"/>
          </a:xfrm>
          <a:prstGeom prst="rect">
            <a:avLst/>
          </a:prstGeom>
          <a:noFill/>
          <a:ln/>
        </p:spPr>
        <p:txBody>
          <a:bodyPr wrap="square" lIns="0" tIns="0" rIns="0" bIns="0" rtlCol="0" anchor="ctr"/>
          <a:lstStyle/>
          <a:p>
            <a:pPr marL="0" indent="0">
              <a:lnSpc>
                <a:spcPts val="2000"/>
              </a:lnSpc>
              <a:buNone/>
            </a:pPr>
            <a:r>
              <a:rPr lang="en-US" sz="1450" b="1" dirty="0">
                <a:solidFill>
                  <a:srgbClr val="111722"/>
                </a:solidFill>
                <a:latin typeface="Cambria" pitchFamily="34" charset="0"/>
                <a:ea typeface="Cambria" pitchFamily="34" charset="-122"/>
                <a:cs typeface="Cambria" pitchFamily="34" charset="-120"/>
              </a:rPr>
              <a:t>And it never quite stops</a:t>
            </a:r>
            <a:endParaRPr lang="en-US" sz="1450" dirty="0"/>
          </a:p>
        </p:txBody>
      </p:sp>
      <p:sp>
        <p:nvSpPr>
          <p:cNvPr id="67" name="Text 65"/>
          <p:cNvSpPr txBox="1"/>
          <p:nvPr/>
        </p:nvSpPr>
        <p:spPr>
          <a:xfrm>
            <a:off x="8371637" y="5687568"/>
            <a:ext cx="2905658" cy="329184"/>
          </a:xfrm>
          <a:prstGeom prst="rect">
            <a:avLst/>
          </a:prstGeom>
          <a:noFill/>
          <a:ln/>
        </p:spPr>
        <p:txBody>
          <a:bodyPr wrap="square" lIns="0" tIns="0" rIns="0" bIns="0" rtlCol="0" anchor="ctr"/>
          <a:lstStyle/>
          <a:p>
            <a:pPr marL="0" indent="0">
              <a:lnSpc>
                <a:spcPts val="1600"/>
              </a:lnSpc>
              <a:buNone/>
            </a:pPr>
            <a:r>
              <a:rPr lang="en-US" sz="1150" dirty="0">
                <a:solidFill>
                  <a:srgbClr val="5B6474"/>
                </a:solidFill>
                <a:latin typeface="Calibri" pitchFamily="34" charset="0"/>
                <a:ea typeface="Calibri" pitchFamily="34" charset="-122"/>
                <a:cs typeface="Calibri" pitchFamily="34" charset="-120"/>
              </a:rPr>
              <a:t>It approaches the bottom without reaching it. In practice you stop when the improvement is too small to be worth more electricity.</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0">
    <p:bg>
      <p:bgPr>
        <a:solidFill>
          <a:srgbClr val="111722"/>
        </a:solidFill>
        <a:effectLst/>
      </p:bgPr>
    </p:bg>
    <p:spTree>
      <p:nvGrpSpPr>
        <p:cNvPr id="1" name=""/>
        <p:cNvGrpSpPr/>
        <p:nvPr/>
      </p:nvGrpSpPr>
      <p:grpSpPr>
        <a:xfrm>
          <a:off x="0" y="0"/>
          <a:ext cx="0" cy="0"/>
          <a:chOff x="0" y="0"/>
          <a:chExt cx="0" cy="0"/>
        </a:xfrm>
      </p:grpSpPr>
      <p:sp>
        <p:nvSpPr>
          <p:cNvPr id="2" name="Shape 0"/>
          <p:cNvSpPr/>
          <p:nvPr/>
        </p:nvSpPr>
        <p:spPr>
          <a:xfrm>
            <a:off x="8778240" y="1417320"/>
            <a:ext cx="2651760" cy="2651760"/>
          </a:xfrm>
          <a:prstGeom prst="ellipse">
            <a:avLst/>
          </a:prstGeom>
          <a:solidFill>
            <a:srgbClr val="2C5FA8">
              <a:alpha val="70000"/>
            </a:srgbClr>
          </a:solidFill>
          <a:ln/>
        </p:spPr>
        <p:txBody>
          <a:bodyPr/>
          <a:lstStyle/>
          <a:p>
            <a:endParaRPr lang="en-US"/>
          </a:p>
        </p:txBody>
      </p:sp>
      <p:sp>
        <p:nvSpPr>
          <p:cNvPr id="3" name="Shape 1"/>
          <p:cNvSpPr/>
          <p:nvPr/>
        </p:nvSpPr>
        <p:spPr>
          <a:xfrm>
            <a:off x="9646920" y="2286000"/>
            <a:ext cx="1188720" cy="1188720"/>
          </a:xfrm>
          <a:prstGeom prst="ellipse">
            <a:avLst/>
          </a:prstGeom>
          <a:solidFill>
            <a:srgbClr val="C07414">
              <a:alpha val="75000"/>
            </a:srgbClr>
          </a:solidFill>
          <a:ln/>
        </p:spPr>
        <p:txBody>
          <a:bodyPr/>
          <a:lstStyle/>
          <a:p>
            <a:endParaRPr lang="en-US"/>
          </a:p>
        </p:txBody>
      </p:sp>
      <p:sp>
        <p:nvSpPr>
          <p:cNvPr id="4" name="Text 2"/>
          <p:cNvSpPr txBox="1"/>
          <p:nvPr/>
        </p:nvSpPr>
        <p:spPr>
          <a:xfrm>
            <a:off x="640080" y="1920240"/>
            <a:ext cx="7315200" cy="320040"/>
          </a:xfrm>
          <a:prstGeom prst="rect">
            <a:avLst/>
          </a:prstGeom>
          <a:noFill/>
          <a:ln/>
        </p:spPr>
        <p:txBody>
          <a:bodyPr wrap="square" lIns="0" tIns="0" rIns="0" bIns="0" rtlCol="0" anchor="ctr"/>
          <a:lstStyle/>
          <a:p>
            <a:pPr marL="0" indent="0">
              <a:buNone/>
            </a:pPr>
            <a:r>
              <a:rPr lang="en-US" sz="1300" b="1" kern="0" spc="220" dirty="0">
                <a:solidFill>
                  <a:srgbClr val="E9AC53"/>
                </a:solidFill>
                <a:latin typeface="Calibri" pitchFamily="34" charset="0"/>
                <a:ea typeface="Calibri" pitchFamily="34" charset="-122"/>
                <a:cs typeface="Calibri" pitchFamily="34" charset="-120"/>
              </a:rPr>
              <a:t>PART THREE</a:t>
            </a:r>
            <a:endParaRPr lang="en-US" sz="1300" dirty="0"/>
          </a:p>
        </p:txBody>
      </p:sp>
      <p:sp>
        <p:nvSpPr>
          <p:cNvPr id="5" name="Text 3"/>
          <p:cNvSpPr txBox="1"/>
          <p:nvPr/>
        </p:nvSpPr>
        <p:spPr>
          <a:xfrm>
            <a:off x="640080" y="2331720"/>
            <a:ext cx="7680960" cy="914400"/>
          </a:xfrm>
          <a:prstGeom prst="rect">
            <a:avLst/>
          </a:prstGeom>
          <a:noFill/>
          <a:ln/>
        </p:spPr>
        <p:txBody>
          <a:bodyPr wrap="square" lIns="0" tIns="0" rIns="0" bIns="0" rtlCol="0" anchor="ctr"/>
          <a:lstStyle/>
          <a:p>
            <a:pPr marL="0" indent="0">
              <a:buNone/>
            </a:pPr>
            <a:r>
              <a:rPr lang="en-US" sz="3600" b="1" dirty="0">
                <a:solidFill>
                  <a:srgbClr val="F2F4F8"/>
                </a:solidFill>
                <a:latin typeface="Cambria" pitchFamily="34" charset="0"/>
                <a:ea typeface="Cambria" pitchFamily="34" charset="-122"/>
                <a:cs typeface="Cambria" pitchFamily="34" charset="-120"/>
              </a:rPr>
              <a:t>How the slopes are computed</a:t>
            </a:r>
            <a:endParaRPr lang="en-US" sz="3600" dirty="0"/>
          </a:p>
        </p:txBody>
      </p:sp>
      <p:sp>
        <p:nvSpPr>
          <p:cNvPr id="6" name="Text 4"/>
          <p:cNvSpPr txBox="1"/>
          <p:nvPr/>
        </p:nvSpPr>
        <p:spPr>
          <a:xfrm>
            <a:off x="640080" y="3310128"/>
            <a:ext cx="768096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The chain rule, and stochastic descent</a:t>
            </a:r>
            <a:endParaRPr lang="en-US" sz="1500" dirty="0"/>
          </a:p>
        </p:txBody>
      </p:sp>
      <p:sp>
        <p:nvSpPr>
          <p:cNvPr id="7" name="Shape 5"/>
          <p:cNvSpPr/>
          <p:nvPr/>
        </p:nvSpPr>
        <p:spPr>
          <a:xfrm>
            <a:off x="640080" y="3913632"/>
            <a:ext cx="2377440" cy="18288"/>
          </a:xfrm>
          <a:prstGeom prst="rect">
            <a:avLst/>
          </a:prstGeom>
          <a:solidFill>
            <a:srgbClr val="C07414"/>
          </a:solidFill>
          <a:ln/>
        </p:spPr>
        <p:txBody>
          <a:bodyPr/>
          <a:lstStyle/>
          <a:p>
            <a:endParaRPr lang="en-US"/>
          </a:p>
        </p:txBody>
      </p:sp>
      <p:sp>
        <p:nvSpPr>
          <p:cNvPr id="8" name="Text 6"/>
          <p:cNvSpPr txBox="1"/>
          <p:nvPr/>
        </p:nvSpPr>
        <p:spPr>
          <a:xfrm>
            <a:off x="640080" y="4133088"/>
            <a:ext cx="7680960" cy="777240"/>
          </a:xfrm>
          <a:prstGeom prst="rect">
            <a:avLst/>
          </a:prstGeom>
          <a:noFill/>
          <a:ln/>
        </p:spPr>
        <p:txBody>
          <a:bodyPr wrap="square" lIns="0" tIns="0" rIns="0" bIns="0" rtlCol="0" anchor="ctr"/>
          <a:lstStyle/>
          <a:p>
            <a:pPr marL="0" indent="0">
              <a:lnSpc>
                <a:spcPts val="2500"/>
              </a:lnSpc>
              <a:buNone/>
            </a:pPr>
            <a:r>
              <a:rPr lang="en-US" sz="1850" i="1" dirty="0">
                <a:solidFill>
                  <a:srgbClr val="8FB4DE"/>
                </a:solidFill>
                <a:latin typeface="Cambria" pitchFamily="34" charset="0"/>
                <a:ea typeface="Cambria" pitchFamily="34" charset="-122"/>
                <a:cs typeface="Cambria" pitchFamily="34" charset="-120"/>
              </a:rPr>
              <a:t>One more symbol, and then we are done with the mathematics.</a:t>
            </a:r>
            <a:endParaRPr lang="en-US" sz="1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741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THE CHAIN RULE</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11722"/>
                </a:solidFill>
                <a:latin typeface="Cambria" pitchFamily="34" charset="0"/>
                <a:ea typeface="Cambria" pitchFamily="34" charset="-122"/>
                <a:cs typeface="Cambria" pitchFamily="34" charset="-120"/>
              </a:rPr>
              <a:t>How a nudge travels through a machine</a:t>
            </a:r>
            <a:endParaRPr lang="en-US" sz="2900" dirty="0"/>
          </a:p>
        </p:txBody>
      </p:sp>
      <p:sp>
        <p:nvSpPr>
          <p:cNvPr id="5" name="Shape 3"/>
          <p:cNvSpPr/>
          <p:nvPr/>
        </p:nvSpPr>
        <p:spPr>
          <a:xfrm>
            <a:off x="640080" y="1371600"/>
            <a:ext cx="5852160" cy="1828800"/>
          </a:xfrm>
          <a:prstGeom prst="roundRect">
            <a:avLst>
              <a:gd name="adj" fmla="val 4000"/>
            </a:avLst>
          </a:prstGeom>
          <a:solidFill>
            <a:srgbClr val="E7EEF8"/>
          </a:solidFill>
          <a:ln w="12700">
            <a:solidFill>
              <a:srgbClr val="E7EEF8"/>
            </a:solidFill>
            <a:prstDash val="solid"/>
          </a:ln>
        </p:spPr>
        <p:txBody>
          <a:bodyPr/>
          <a:lstStyle/>
          <a:p>
            <a:endParaRPr lang="en-US"/>
          </a:p>
        </p:txBody>
      </p:sp>
      <p:sp>
        <p:nvSpPr>
          <p:cNvPr id="6" name="Text 4"/>
          <p:cNvSpPr txBox="1"/>
          <p:nvPr/>
        </p:nvSpPr>
        <p:spPr>
          <a:xfrm>
            <a:off x="1005840" y="1554480"/>
            <a:ext cx="5120640" cy="329184"/>
          </a:xfrm>
          <a:prstGeom prst="rect">
            <a:avLst/>
          </a:prstGeom>
          <a:noFill/>
          <a:ln/>
        </p:spPr>
        <p:txBody>
          <a:bodyPr wrap="square" lIns="0" tIns="0" rIns="0" bIns="0" rtlCol="0" anchor="ctr"/>
          <a:lstStyle/>
          <a:p>
            <a:pPr marL="0" indent="0">
              <a:buNone/>
            </a:pPr>
            <a:r>
              <a:rPr lang="en-US" sz="1700" b="1" dirty="0">
                <a:solidFill>
                  <a:srgbClr val="111722"/>
                </a:solidFill>
                <a:latin typeface="Cambria" pitchFamily="34" charset="0"/>
                <a:ea typeface="Cambria" pitchFamily="34" charset="-122"/>
                <a:cs typeface="Cambria" pitchFamily="34" charset="-120"/>
              </a:rPr>
              <a:t>Gears</a:t>
            </a:r>
            <a:endParaRPr lang="en-US" sz="1700" dirty="0"/>
          </a:p>
        </p:txBody>
      </p:sp>
      <p:sp>
        <p:nvSpPr>
          <p:cNvPr id="7" name="Text 5"/>
          <p:cNvSpPr txBox="1"/>
          <p:nvPr/>
        </p:nvSpPr>
        <p:spPr>
          <a:xfrm>
            <a:off x="1005840" y="1938528"/>
            <a:ext cx="5166360" cy="1143000"/>
          </a:xfrm>
          <a:prstGeom prst="rect">
            <a:avLst/>
          </a:prstGeom>
          <a:noFill/>
          <a:ln/>
        </p:spPr>
        <p:txBody>
          <a:bodyPr wrap="square" lIns="0" tIns="0" rIns="0" bIns="0" rtlCol="0" anchor="ctr"/>
          <a:lstStyle/>
          <a:p>
            <a:pPr marL="0" indent="0">
              <a:lnSpc>
                <a:spcPts val="1700"/>
              </a:lnSpc>
              <a:buNone/>
            </a:pPr>
            <a:r>
              <a:rPr lang="en-US" sz="1250" dirty="0">
                <a:solidFill>
                  <a:srgbClr val="5B6474"/>
                </a:solidFill>
                <a:latin typeface="Calibri" pitchFamily="34" charset="0"/>
                <a:ea typeface="Calibri" pitchFamily="34" charset="-122"/>
                <a:cs typeface="Calibri" pitchFamily="34" charset="-120"/>
              </a:rPr>
              <a:t>If turning gear A twice as fast turns gear B three times as fast, and gear B turns gear C five times as fast, then A turns C fifteen times as fast. You multiply the rates along the chain. That is the whole rule.</a:t>
            </a:r>
            <a:endParaRPr lang="en-US" sz="1250" dirty="0"/>
          </a:p>
        </p:txBody>
      </p:sp>
      <p:sp>
        <p:nvSpPr>
          <p:cNvPr id="8" name="Shape 6"/>
          <p:cNvSpPr/>
          <p:nvPr/>
        </p:nvSpPr>
        <p:spPr>
          <a:xfrm>
            <a:off x="640080" y="3383280"/>
            <a:ext cx="5852160" cy="1051560"/>
          </a:xfrm>
          <a:prstGeom prst="roundRect">
            <a:avLst>
              <a:gd name="adj" fmla="val 5217"/>
            </a:avLst>
          </a:prstGeom>
          <a:solidFill>
            <a:srgbClr val="F6F8FC"/>
          </a:solidFill>
          <a:ln w="12700">
            <a:solidFill>
              <a:srgbClr val="C9D4E6"/>
            </a:solidFill>
            <a:prstDash val="solid"/>
          </a:ln>
        </p:spPr>
        <p:txBody>
          <a:bodyPr/>
          <a:lstStyle/>
          <a:p>
            <a:endParaRPr lang="en-US"/>
          </a:p>
        </p:txBody>
      </p:sp>
      <p:sp>
        <p:nvSpPr>
          <p:cNvPr id="9" name="Text 7"/>
          <p:cNvSpPr txBox="1"/>
          <p:nvPr/>
        </p:nvSpPr>
        <p:spPr>
          <a:xfrm>
            <a:off x="777240" y="3383280"/>
            <a:ext cx="5577840" cy="1051560"/>
          </a:xfrm>
          <a:prstGeom prst="rect">
            <a:avLst/>
          </a:prstGeom>
          <a:noFill/>
          <a:ln/>
        </p:spPr>
        <p:txBody>
          <a:bodyPr wrap="square" lIns="0" tIns="0" rIns="0" bIns="0" rtlCol="0" anchor="ctr"/>
          <a:lstStyle/>
          <a:p>
            <a:pPr marL="0" indent="0" algn="ctr">
              <a:buNone/>
            </a:pPr>
            <a:r>
              <a:rPr lang="en-US" sz="2100" dirty="0">
                <a:solidFill>
                  <a:srgbClr val="111722"/>
                </a:solidFill>
                <a:latin typeface="Cambria Math" pitchFamily="34" charset="0"/>
                <a:ea typeface="Cambria Math" pitchFamily="34" charset="-122"/>
                <a:cs typeface="Cambria Math" pitchFamily="34" charset="-120"/>
              </a:rPr>
              <a:t>∂C/∂w = (∂C/∂a)(∂a/∂z)(∂z/∂w)</a:t>
            </a:r>
            <a:endParaRPr lang="en-US" sz="2100" dirty="0"/>
          </a:p>
        </p:txBody>
      </p:sp>
      <p:sp>
        <p:nvSpPr>
          <p:cNvPr id="10" name="Text 8"/>
          <p:cNvSpPr txBox="1"/>
          <p:nvPr/>
        </p:nvSpPr>
        <p:spPr>
          <a:xfrm>
            <a:off x="640080" y="4526280"/>
            <a:ext cx="5852160" cy="640080"/>
          </a:xfrm>
          <a:prstGeom prst="rect">
            <a:avLst/>
          </a:prstGeom>
          <a:noFill/>
          <a:ln/>
        </p:spPr>
        <p:txBody>
          <a:bodyPr wrap="square" lIns="0" tIns="0" rIns="0" bIns="0" rtlCol="0" anchor="ctr"/>
          <a:lstStyle/>
          <a:p>
            <a:pPr marL="0" indent="0">
              <a:lnSpc>
                <a:spcPts val="1500"/>
              </a:lnSpc>
              <a:buNone/>
            </a:pPr>
            <a:r>
              <a:rPr lang="en-US" sz="1150" i="1" dirty="0">
                <a:solidFill>
                  <a:srgbClr val="2C5FA8"/>
                </a:solidFill>
                <a:latin typeface="Calibri" pitchFamily="34" charset="0"/>
                <a:ea typeface="Calibri" pitchFamily="34" charset="-122"/>
                <a:cs typeface="Calibri" pitchFamily="34" charset="-120"/>
              </a:rPr>
              <a:t>“How much the loss moves when this weight moves equals how much the loss responds to the output, times how much the output responds to the unit’s total, times how much that total responds to the weight.”</a:t>
            </a:r>
            <a:endParaRPr lang="en-US" sz="1150" dirty="0"/>
          </a:p>
        </p:txBody>
      </p:sp>
      <p:sp>
        <p:nvSpPr>
          <p:cNvPr id="11" name="Shape 9"/>
          <p:cNvSpPr/>
          <p:nvPr/>
        </p:nvSpPr>
        <p:spPr>
          <a:xfrm>
            <a:off x="6812280" y="1371600"/>
            <a:ext cx="4718304" cy="1170432"/>
          </a:xfrm>
          <a:prstGeom prst="roundRect">
            <a:avLst>
              <a:gd name="adj" fmla="val 6250"/>
            </a:avLst>
          </a:prstGeom>
          <a:solidFill>
            <a:srgbClr val="E7EEF8"/>
          </a:solidFill>
          <a:ln w="12700">
            <a:solidFill>
              <a:srgbClr val="E7EEF8"/>
            </a:solidFill>
            <a:prstDash val="solid"/>
          </a:ln>
        </p:spPr>
        <p:txBody>
          <a:bodyPr/>
          <a:lstStyle/>
          <a:p>
            <a:endParaRPr lang="en-US"/>
          </a:p>
        </p:txBody>
      </p:sp>
      <p:sp>
        <p:nvSpPr>
          <p:cNvPr id="12" name="Text 10"/>
          <p:cNvSpPr txBox="1"/>
          <p:nvPr/>
        </p:nvSpPr>
        <p:spPr>
          <a:xfrm>
            <a:off x="7086600" y="1499616"/>
            <a:ext cx="4169664" cy="292608"/>
          </a:xfrm>
          <a:prstGeom prst="rect">
            <a:avLst/>
          </a:prstGeom>
          <a:noFill/>
          <a:ln/>
        </p:spPr>
        <p:txBody>
          <a:bodyPr wrap="square" lIns="0" tIns="0" rIns="0" bIns="0" rtlCol="0" anchor="ctr"/>
          <a:lstStyle/>
          <a:p>
            <a:pPr marL="0" indent="0">
              <a:buNone/>
            </a:pPr>
            <a:r>
              <a:rPr lang="en-US" sz="1400" b="1" dirty="0">
                <a:solidFill>
                  <a:srgbClr val="111722"/>
                </a:solidFill>
                <a:latin typeface="Cambria" pitchFamily="34" charset="0"/>
                <a:ea typeface="Cambria" pitchFamily="34" charset="-122"/>
                <a:cs typeface="Cambria" pitchFamily="34" charset="-120"/>
              </a:rPr>
              <a:t>The three links, named</a:t>
            </a:r>
            <a:endParaRPr lang="en-US" sz="1400" dirty="0"/>
          </a:p>
        </p:txBody>
      </p:sp>
      <p:sp>
        <p:nvSpPr>
          <p:cNvPr id="13" name="Text 11"/>
          <p:cNvSpPr txBox="1"/>
          <p:nvPr/>
        </p:nvSpPr>
        <p:spPr>
          <a:xfrm>
            <a:off x="7086600" y="1828800"/>
            <a:ext cx="4169664" cy="640080"/>
          </a:xfrm>
          <a:prstGeom prst="rect">
            <a:avLst/>
          </a:prstGeom>
          <a:noFill/>
          <a:ln/>
        </p:spPr>
        <p:txBody>
          <a:bodyPr wrap="square" lIns="0" tIns="0" rIns="0" bIns="0" rtlCol="0" anchor="ctr"/>
          <a:lstStyle/>
          <a:p>
            <a:pPr marL="0" indent="0">
              <a:lnSpc>
                <a:spcPts val="1500"/>
              </a:lnSpc>
              <a:buNone/>
            </a:pPr>
            <a:r>
              <a:rPr lang="en-US" sz="1150" dirty="0">
                <a:solidFill>
                  <a:srgbClr val="5B6474"/>
                </a:solidFill>
                <a:latin typeface="Calibri" pitchFamily="34" charset="0"/>
                <a:ea typeface="Calibri" pitchFamily="34" charset="-122"/>
                <a:cs typeface="Calibri" pitchFamily="34" charset="-120"/>
              </a:rPr>
              <a:t>z is the weighted total arriving at a unit. a is what the unit outputs after squashing. C is the loss. A weight influences C only through that chain.</a:t>
            </a:r>
            <a:endParaRPr lang="en-US" sz="1150" dirty="0"/>
          </a:p>
        </p:txBody>
      </p:sp>
      <p:sp>
        <p:nvSpPr>
          <p:cNvPr id="14" name="Shape 12"/>
          <p:cNvSpPr/>
          <p:nvPr/>
        </p:nvSpPr>
        <p:spPr>
          <a:xfrm>
            <a:off x="6812280" y="2624328"/>
            <a:ext cx="4718304" cy="1170432"/>
          </a:xfrm>
          <a:prstGeom prst="roundRect">
            <a:avLst>
              <a:gd name="adj" fmla="val 6250"/>
            </a:avLst>
          </a:prstGeom>
          <a:solidFill>
            <a:srgbClr val="FAF0DE"/>
          </a:solidFill>
          <a:ln w="12700">
            <a:solidFill>
              <a:srgbClr val="FAF0DE"/>
            </a:solidFill>
            <a:prstDash val="solid"/>
          </a:ln>
        </p:spPr>
        <p:txBody>
          <a:bodyPr/>
          <a:lstStyle/>
          <a:p>
            <a:endParaRPr lang="en-US"/>
          </a:p>
        </p:txBody>
      </p:sp>
      <p:sp>
        <p:nvSpPr>
          <p:cNvPr id="15" name="Text 13"/>
          <p:cNvSpPr txBox="1"/>
          <p:nvPr/>
        </p:nvSpPr>
        <p:spPr>
          <a:xfrm>
            <a:off x="7086600" y="2752344"/>
            <a:ext cx="4169664" cy="292608"/>
          </a:xfrm>
          <a:prstGeom prst="rect">
            <a:avLst/>
          </a:prstGeom>
          <a:noFill/>
          <a:ln/>
        </p:spPr>
        <p:txBody>
          <a:bodyPr wrap="square" lIns="0" tIns="0" rIns="0" bIns="0" rtlCol="0" anchor="ctr"/>
          <a:lstStyle/>
          <a:p>
            <a:pPr marL="0" indent="0">
              <a:buNone/>
            </a:pPr>
            <a:r>
              <a:rPr lang="en-US" sz="1400" b="1" dirty="0">
                <a:solidFill>
                  <a:srgbClr val="111722"/>
                </a:solidFill>
                <a:latin typeface="Cambria" pitchFamily="34" charset="0"/>
                <a:ea typeface="Cambria" pitchFamily="34" charset="-122"/>
                <a:cs typeface="Cambria" pitchFamily="34" charset="-120"/>
              </a:rPr>
              <a:t>Why this makes training possible</a:t>
            </a:r>
            <a:endParaRPr lang="en-US" sz="1400" dirty="0"/>
          </a:p>
        </p:txBody>
      </p:sp>
      <p:sp>
        <p:nvSpPr>
          <p:cNvPr id="16" name="Text 14"/>
          <p:cNvSpPr txBox="1"/>
          <p:nvPr/>
        </p:nvSpPr>
        <p:spPr>
          <a:xfrm>
            <a:off x="7086600" y="3081528"/>
            <a:ext cx="4169664" cy="640080"/>
          </a:xfrm>
          <a:prstGeom prst="rect">
            <a:avLst/>
          </a:prstGeom>
          <a:noFill/>
          <a:ln/>
        </p:spPr>
        <p:txBody>
          <a:bodyPr wrap="square" lIns="0" tIns="0" rIns="0" bIns="0" rtlCol="0" anchor="ctr"/>
          <a:lstStyle/>
          <a:p>
            <a:pPr marL="0" indent="0">
              <a:lnSpc>
                <a:spcPts val="1500"/>
              </a:lnSpc>
              <a:buNone/>
            </a:pPr>
            <a:r>
              <a:rPr lang="en-US" sz="1150" dirty="0">
                <a:solidFill>
                  <a:srgbClr val="5B6474"/>
                </a:solidFill>
                <a:latin typeface="Calibri" pitchFamily="34" charset="0"/>
                <a:ea typeface="Calibri" pitchFamily="34" charset="-122"/>
                <a:cs typeface="Calibri" pitchFamily="34" charset="-120"/>
              </a:rPr>
              <a:t>You can compute each link locally, then multiply. Nobody has to understand the whole network to get the slope for one weight buried in the middle of it.</a:t>
            </a:r>
            <a:endParaRPr lang="en-US" sz="1150" dirty="0"/>
          </a:p>
        </p:txBody>
      </p:sp>
      <p:sp>
        <p:nvSpPr>
          <p:cNvPr id="17" name="Shape 15"/>
          <p:cNvSpPr/>
          <p:nvPr/>
        </p:nvSpPr>
        <p:spPr>
          <a:xfrm>
            <a:off x="6812280" y="3877056"/>
            <a:ext cx="4718304" cy="1170432"/>
          </a:xfrm>
          <a:prstGeom prst="roundRect">
            <a:avLst>
              <a:gd name="adj" fmla="val 6250"/>
            </a:avLst>
          </a:prstGeom>
          <a:solidFill>
            <a:srgbClr val="E7EEF8"/>
          </a:solidFill>
          <a:ln w="12700">
            <a:solidFill>
              <a:srgbClr val="E7EEF8"/>
            </a:solidFill>
            <a:prstDash val="solid"/>
          </a:ln>
        </p:spPr>
        <p:txBody>
          <a:bodyPr/>
          <a:lstStyle/>
          <a:p>
            <a:endParaRPr lang="en-US"/>
          </a:p>
        </p:txBody>
      </p:sp>
      <p:sp>
        <p:nvSpPr>
          <p:cNvPr id="18" name="Text 16"/>
          <p:cNvSpPr txBox="1"/>
          <p:nvPr/>
        </p:nvSpPr>
        <p:spPr>
          <a:xfrm>
            <a:off x="7086600" y="4005072"/>
            <a:ext cx="4169664" cy="292608"/>
          </a:xfrm>
          <a:prstGeom prst="rect">
            <a:avLst/>
          </a:prstGeom>
          <a:noFill/>
          <a:ln/>
        </p:spPr>
        <p:txBody>
          <a:bodyPr wrap="square" lIns="0" tIns="0" rIns="0" bIns="0" rtlCol="0" anchor="ctr"/>
          <a:lstStyle/>
          <a:p>
            <a:pPr marL="0" indent="0">
              <a:buNone/>
            </a:pPr>
            <a:r>
              <a:rPr lang="en-US" sz="1400" b="1" dirty="0">
                <a:solidFill>
                  <a:srgbClr val="111722"/>
                </a:solidFill>
                <a:latin typeface="Cambria" pitchFamily="34" charset="0"/>
                <a:ea typeface="Cambria" pitchFamily="34" charset="-122"/>
                <a:cs typeface="Cambria" pitchFamily="34" charset="-120"/>
              </a:rPr>
              <a:t>Backpropagation is the bookkeeping</a:t>
            </a:r>
            <a:endParaRPr lang="en-US" sz="1400" dirty="0"/>
          </a:p>
        </p:txBody>
      </p:sp>
      <p:sp>
        <p:nvSpPr>
          <p:cNvPr id="19" name="Text 17"/>
          <p:cNvSpPr txBox="1"/>
          <p:nvPr/>
        </p:nvSpPr>
        <p:spPr>
          <a:xfrm>
            <a:off x="7086600" y="4334256"/>
            <a:ext cx="4169664" cy="640080"/>
          </a:xfrm>
          <a:prstGeom prst="rect">
            <a:avLst/>
          </a:prstGeom>
          <a:noFill/>
          <a:ln/>
        </p:spPr>
        <p:txBody>
          <a:bodyPr wrap="square" lIns="0" tIns="0" rIns="0" bIns="0" rtlCol="0" anchor="ctr"/>
          <a:lstStyle/>
          <a:p>
            <a:pPr marL="0" indent="0">
              <a:lnSpc>
                <a:spcPts val="1500"/>
              </a:lnSpc>
              <a:buNone/>
            </a:pPr>
            <a:r>
              <a:rPr lang="en-US" sz="1150" dirty="0">
                <a:solidFill>
                  <a:srgbClr val="5B6474"/>
                </a:solidFill>
                <a:latin typeface="Calibri" pitchFamily="34" charset="0"/>
                <a:ea typeface="Calibri" pitchFamily="34" charset="-122"/>
                <a:cs typeface="Calibri" pitchFamily="34" charset="-120"/>
              </a:rPr>
              <a:t>Rather than redoing the chain for each of 13,002 weights, you sweep backwards once through the network and reuse the shared pieces. Same answer, vastly cheaper.</a:t>
            </a:r>
            <a:endParaRPr lang="en-US" sz="1150" dirty="0"/>
          </a:p>
        </p:txBody>
      </p:sp>
      <p:sp>
        <p:nvSpPr>
          <p:cNvPr id="20" name="Shape 18"/>
          <p:cNvSpPr/>
          <p:nvPr/>
        </p:nvSpPr>
        <p:spPr>
          <a:xfrm>
            <a:off x="6812280" y="5129784"/>
            <a:ext cx="4718304" cy="1170432"/>
          </a:xfrm>
          <a:prstGeom prst="roundRect">
            <a:avLst>
              <a:gd name="adj" fmla="val 6250"/>
            </a:avLst>
          </a:prstGeom>
          <a:solidFill>
            <a:srgbClr val="111722"/>
          </a:solidFill>
          <a:ln w="12700">
            <a:solidFill>
              <a:srgbClr val="111722"/>
            </a:solidFill>
            <a:prstDash val="solid"/>
          </a:ln>
        </p:spPr>
        <p:txBody>
          <a:bodyPr/>
          <a:lstStyle/>
          <a:p>
            <a:endParaRPr lang="en-US"/>
          </a:p>
        </p:txBody>
      </p:sp>
      <p:sp>
        <p:nvSpPr>
          <p:cNvPr id="21" name="Text 19"/>
          <p:cNvSpPr txBox="1"/>
          <p:nvPr/>
        </p:nvSpPr>
        <p:spPr>
          <a:xfrm>
            <a:off x="7086600" y="5257800"/>
            <a:ext cx="4169664" cy="292608"/>
          </a:xfrm>
          <a:prstGeom prst="rect">
            <a:avLst/>
          </a:prstGeom>
          <a:noFill/>
          <a:ln/>
        </p:spPr>
        <p:txBody>
          <a:bodyPr wrap="square" lIns="0" tIns="0" rIns="0" bIns="0" rtlCol="0" anchor="ctr"/>
          <a:lstStyle/>
          <a:p>
            <a:pPr marL="0" indent="0">
              <a:buNone/>
            </a:pPr>
            <a:r>
              <a:rPr lang="en-US" sz="1400" b="1" dirty="0">
                <a:solidFill>
                  <a:srgbClr val="E9AC53"/>
                </a:solidFill>
                <a:latin typeface="Cambria" pitchFamily="34" charset="0"/>
                <a:ea typeface="Cambria" pitchFamily="34" charset="-122"/>
                <a:cs typeface="Cambria" pitchFamily="34" charset="-120"/>
              </a:rPr>
              <a:t>That is chapter three</a:t>
            </a:r>
            <a:endParaRPr lang="en-US" sz="1400" dirty="0"/>
          </a:p>
        </p:txBody>
      </p:sp>
      <p:sp>
        <p:nvSpPr>
          <p:cNvPr id="22" name="Text 20"/>
          <p:cNvSpPr txBox="1"/>
          <p:nvPr/>
        </p:nvSpPr>
        <p:spPr>
          <a:xfrm>
            <a:off x="7086600" y="5586984"/>
            <a:ext cx="4169664" cy="640080"/>
          </a:xfrm>
          <a:prstGeom prst="rect">
            <a:avLst/>
          </a:prstGeom>
          <a:noFill/>
          <a:ln/>
        </p:spPr>
        <p:txBody>
          <a:bodyPr wrap="square" lIns="0" tIns="0" rIns="0" bIns="0" rtlCol="0" anchor="ctr"/>
          <a:lstStyle/>
          <a:p>
            <a:pPr marL="0" indent="0">
              <a:lnSpc>
                <a:spcPts val="1500"/>
              </a:lnSpc>
              <a:buNone/>
            </a:pPr>
            <a:r>
              <a:rPr lang="en-US" sz="1150" dirty="0">
                <a:solidFill>
                  <a:srgbClr val="F2F4F8"/>
                </a:solidFill>
                <a:latin typeface="Calibri" pitchFamily="34" charset="0"/>
                <a:ea typeface="Calibri" pitchFamily="34" charset="-122"/>
                <a:cs typeface="Calibri" pitchFamily="34" charset="-120"/>
              </a:rPr>
              <a:t>You do not need it to follow anything else today. What matters is that ∇C is computable in reasonable time — and that this fact, not any idea about intelligence, is why the field works.</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741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TWO CONSEQUENCES</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11722"/>
                </a:solidFill>
                <a:latin typeface="Cambria" pitchFamily="34" charset="0"/>
                <a:ea typeface="Cambria" pitchFamily="34" charset="-122"/>
                <a:cs typeface="Cambria" pitchFamily="34" charset="-120"/>
              </a:rPr>
              <a:t>Things the procedure forces on the design</a:t>
            </a:r>
            <a:endParaRPr lang="en-US" sz="2900" dirty="0"/>
          </a:p>
        </p:txBody>
      </p:sp>
      <p:sp>
        <p:nvSpPr>
          <p:cNvPr id="5" name="Shape 3"/>
          <p:cNvSpPr/>
          <p:nvPr/>
        </p:nvSpPr>
        <p:spPr>
          <a:xfrm>
            <a:off x="640080" y="1371600"/>
            <a:ext cx="5349240" cy="2331720"/>
          </a:xfrm>
          <a:prstGeom prst="roundRect">
            <a:avLst>
              <a:gd name="adj" fmla="val 3137"/>
            </a:avLst>
          </a:prstGeom>
          <a:solidFill>
            <a:srgbClr val="E7EEF8"/>
          </a:solidFill>
          <a:ln w="12700">
            <a:solidFill>
              <a:srgbClr val="E7EEF8"/>
            </a:solidFill>
            <a:prstDash val="solid"/>
          </a:ln>
        </p:spPr>
        <p:txBody>
          <a:bodyPr/>
          <a:lstStyle/>
          <a:p>
            <a:endParaRPr lang="en-US"/>
          </a:p>
        </p:txBody>
      </p:sp>
      <p:sp>
        <p:nvSpPr>
          <p:cNvPr id="6" name="Text 4"/>
          <p:cNvSpPr txBox="1"/>
          <p:nvPr/>
        </p:nvSpPr>
        <p:spPr>
          <a:xfrm>
            <a:off x="1005840" y="1554480"/>
            <a:ext cx="4617720" cy="365760"/>
          </a:xfrm>
          <a:prstGeom prst="rect">
            <a:avLst/>
          </a:prstGeom>
          <a:noFill/>
          <a:ln/>
        </p:spPr>
        <p:txBody>
          <a:bodyPr wrap="square" lIns="0" tIns="0" rIns="0" bIns="0" rtlCol="0" anchor="ctr"/>
          <a:lstStyle/>
          <a:p>
            <a:pPr marL="0" indent="0">
              <a:buNone/>
            </a:pPr>
            <a:r>
              <a:rPr lang="en-US" sz="1750" b="1" dirty="0">
                <a:solidFill>
                  <a:srgbClr val="111722"/>
                </a:solidFill>
                <a:latin typeface="Cambria" pitchFamily="34" charset="0"/>
                <a:ea typeface="Cambria" pitchFamily="34" charset="-122"/>
                <a:cs typeface="Cambria" pitchFamily="34" charset="-120"/>
              </a:rPr>
              <a:t>The machine must be smooth</a:t>
            </a:r>
            <a:endParaRPr lang="en-US" sz="1750" dirty="0"/>
          </a:p>
        </p:txBody>
      </p:sp>
      <p:sp>
        <p:nvSpPr>
          <p:cNvPr id="7" name="Text 5"/>
          <p:cNvSpPr txBox="1"/>
          <p:nvPr/>
        </p:nvSpPr>
        <p:spPr>
          <a:xfrm>
            <a:off x="1005840" y="1993392"/>
            <a:ext cx="4617720" cy="1600200"/>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If units were on-off switches, a tiny nudge would change nothing at all until suddenly it changed everything. There would be no slope to compute, and ∂C/∂w would not exist. So units output smoothly varying numbers instead — not because brains do, but because otherwise the procedure cannot get a grip.</a:t>
            </a:r>
            <a:endParaRPr lang="en-US" sz="1200" dirty="0"/>
          </a:p>
        </p:txBody>
      </p:sp>
      <p:sp>
        <p:nvSpPr>
          <p:cNvPr id="8" name="Shape 6"/>
          <p:cNvSpPr/>
          <p:nvPr/>
        </p:nvSpPr>
        <p:spPr>
          <a:xfrm>
            <a:off x="640080" y="3840480"/>
            <a:ext cx="5349240" cy="868680"/>
          </a:xfrm>
          <a:prstGeom prst="roundRect">
            <a:avLst>
              <a:gd name="adj" fmla="val 6316"/>
            </a:avLst>
          </a:prstGeom>
          <a:solidFill>
            <a:srgbClr val="F6F8FC"/>
          </a:solidFill>
          <a:ln w="12700">
            <a:solidFill>
              <a:srgbClr val="C9D4E6"/>
            </a:solidFill>
            <a:prstDash val="solid"/>
          </a:ln>
        </p:spPr>
        <p:txBody>
          <a:bodyPr/>
          <a:lstStyle/>
          <a:p>
            <a:endParaRPr lang="en-US"/>
          </a:p>
        </p:txBody>
      </p:sp>
      <p:sp>
        <p:nvSpPr>
          <p:cNvPr id="9" name="Text 7"/>
          <p:cNvSpPr txBox="1"/>
          <p:nvPr/>
        </p:nvSpPr>
        <p:spPr>
          <a:xfrm>
            <a:off x="777240" y="3840480"/>
            <a:ext cx="5074920" cy="868680"/>
          </a:xfrm>
          <a:prstGeom prst="rect">
            <a:avLst/>
          </a:prstGeom>
          <a:noFill/>
          <a:ln/>
        </p:spPr>
        <p:txBody>
          <a:bodyPr wrap="square" lIns="0" tIns="0" rIns="0" bIns="0" rtlCol="0" anchor="ctr"/>
          <a:lstStyle/>
          <a:p>
            <a:pPr marL="0" indent="0" algn="ctr">
              <a:buNone/>
            </a:pPr>
            <a:r>
              <a:rPr lang="en-US" sz="2000" dirty="0">
                <a:solidFill>
                  <a:srgbClr val="111722"/>
                </a:solidFill>
                <a:latin typeface="Cambria Math" pitchFamily="34" charset="0"/>
                <a:ea typeface="Cambria Math" pitchFamily="34" charset="-122"/>
                <a:cs typeface="Cambria Math" pitchFamily="34" charset="-120"/>
              </a:rPr>
              <a:t>σ(z) = 1 / (1 + exp(−z))</a:t>
            </a:r>
            <a:endParaRPr lang="en-US" sz="2000" dirty="0"/>
          </a:p>
        </p:txBody>
      </p:sp>
      <p:sp>
        <p:nvSpPr>
          <p:cNvPr id="10" name="Text 8"/>
          <p:cNvSpPr txBox="1"/>
          <p:nvPr/>
        </p:nvSpPr>
        <p:spPr>
          <a:xfrm>
            <a:off x="640080" y="4818888"/>
            <a:ext cx="5349240" cy="310896"/>
          </a:xfrm>
          <a:prstGeom prst="rect">
            <a:avLst/>
          </a:prstGeom>
          <a:noFill/>
          <a:ln/>
        </p:spPr>
        <p:txBody>
          <a:bodyPr wrap="square" lIns="0" tIns="0" rIns="0" bIns="0" rtlCol="0" anchor="ctr"/>
          <a:lstStyle/>
          <a:p>
            <a:pPr marL="0" indent="0" algn="ctr">
              <a:buNone/>
            </a:pPr>
            <a:r>
              <a:rPr lang="en-US" sz="1100" i="1" dirty="0">
                <a:solidFill>
                  <a:srgbClr val="5B6474"/>
                </a:solidFill>
                <a:latin typeface="Calibri" pitchFamily="34" charset="0"/>
                <a:ea typeface="Calibri" pitchFamily="34" charset="-122"/>
                <a:cs typeface="Calibri" pitchFamily="34" charset="-120"/>
              </a:rPr>
              <a:t>a squashing function: any input, output strictly between 0 and 1, no jumps anywhere</a:t>
            </a:r>
            <a:endParaRPr lang="en-US" sz="1100" dirty="0"/>
          </a:p>
        </p:txBody>
      </p:sp>
      <p:sp>
        <p:nvSpPr>
          <p:cNvPr id="11" name="Shape 9"/>
          <p:cNvSpPr/>
          <p:nvPr/>
        </p:nvSpPr>
        <p:spPr>
          <a:xfrm>
            <a:off x="6217920" y="1371600"/>
            <a:ext cx="5312664" cy="2331720"/>
          </a:xfrm>
          <a:prstGeom prst="roundRect">
            <a:avLst>
              <a:gd name="adj" fmla="val 3137"/>
            </a:avLst>
          </a:prstGeom>
          <a:solidFill>
            <a:srgbClr val="FAF0DE"/>
          </a:solidFill>
          <a:ln w="12700">
            <a:solidFill>
              <a:srgbClr val="FAF0DE"/>
            </a:solidFill>
            <a:prstDash val="solid"/>
          </a:ln>
        </p:spPr>
        <p:txBody>
          <a:bodyPr/>
          <a:lstStyle/>
          <a:p>
            <a:endParaRPr lang="en-US"/>
          </a:p>
        </p:txBody>
      </p:sp>
      <p:sp>
        <p:nvSpPr>
          <p:cNvPr id="12" name="Text 10"/>
          <p:cNvSpPr txBox="1"/>
          <p:nvPr/>
        </p:nvSpPr>
        <p:spPr>
          <a:xfrm>
            <a:off x="6583680" y="1554480"/>
            <a:ext cx="4581144" cy="365760"/>
          </a:xfrm>
          <a:prstGeom prst="rect">
            <a:avLst/>
          </a:prstGeom>
          <a:noFill/>
          <a:ln/>
        </p:spPr>
        <p:txBody>
          <a:bodyPr wrap="square" lIns="0" tIns="0" rIns="0" bIns="0" rtlCol="0" anchor="ctr"/>
          <a:lstStyle/>
          <a:p>
            <a:pPr marL="0" indent="0">
              <a:buNone/>
            </a:pPr>
            <a:r>
              <a:rPr lang="en-US" sz="1750" b="1" dirty="0">
                <a:solidFill>
                  <a:srgbClr val="111722"/>
                </a:solidFill>
                <a:latin typeface="Cambria" pitchFamily="34" charset="0"/>
                <a:ea typeface="Cambria" pitchFamily="34" charset="-122"/>
                <a:cs typeface="Cambria" pitchFamily="34" charset="-120"/>
              </a:rPr>
              <a:t>And you cannot afford the true gradient</a:t>
            </a:r>
            <a:endParaRPr lang="en-US" sz="1750" dirty="0"/>
          </a:p>
        </p:txBody>
      </p:sp>
      <p:sp>
        <p:nvSpPr>
          <p:cNvPr id="13" name="Text 11"/>
          <p:cNvSpPr txBox="1"/>
          <p:nvPr/>
        </p:nvSpPr>
        <p:spPr>
          <a:xfrm>
            <a:off x="6583680" y="1993392"/>
            <a:ext cx="4581144" cy="1600200"/>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The definition of C averages over all n images, so one exact step means running fifty thousand images through the machine. Nobody does this. Instead you take a small random batch of m images, average over those, and step.</a:t>
            </a:r>
            <a:endParaRPr lang="en-US" sz="1200" dirty="0"/>
          </a:p>
        </p:txBody>
      </p:sp>
      <p:sp>
        <p:nvSpPr>
          <p:cNvPr id="14" name="Shape 12"/>
          <p:cNvSpPr/>
          <p:nvPr/>
        </p:nvSpPr>
        <p:spPr>
          <a:xfrm>
            <a:off x="6217920" y="3840480"/>
            <a:ext cx="5312664" cy="868680"/>
          </a:xfrm>
          <a:prstGeom prst="roundRect">
            <a:avLst>
              <a:gd name="adj" fmla="val 6316"/>
            </a:avLst>
          </a:prstGeom>
          <a:solidFill>
            <a:srgbClr val="F6F8FC"/>
          </a:solidFill>
          <a:ln w="12700">
            <a:solidFill>
              <a:srgbClr val="C9D4E6"/>
            </a:solidFill>
            <a:prstDash val="solid"/>
          </a:ln>
        </p:spPr>
        <p:txBody>
          <a:bodyPr/>
          <a:lstStyle/>
          <a:p>
            <a:endParaRPr lang="en-US"/>
          </a:p>
        </p:txBody>
      </p:sp>
      <p:sp>
        <p:nvSpPr>
          <p:cNvPr id="15" name="Text 13"/>
          <p:cNvSpPr txBox="1"/>
          <p:nvPr/>
        </p:nvSpPr>
        <p:spPr>
          <a:xfrm>
            <a:off x="6355080" y="3840480"/>
            <a:ext cx="5038344" cy="868680"/>
          </a:xfrm>
          <a:prstGeom prst="rect">
            <a:avLst/>
          </a:prstGeom>
          <a:noFill/>
          <a:ln/>
        </p:spPr>
        <p:txBody>
          <a:bodyPr wrap="square" lIns="0" tIns="0" rIns="0" bIns="0" rtlCol="0" anchor="ctr"/>
          <a:lstStyle/>
          <a:p>
            <a:pPr marL="0" indent="0" algn="ctr">
              <a:buNone/>
            </a:pPr>
            <a:r>
              <a:rPr lang="en-US" sz="1900" dirty="0">
                <a:solidFill>
                  <a:srgbClr val="111722"/>
                </a:solidFill>
                <a:latin typeface="Cambria Math" pitchFamily="34" charset="0"/>
                <a:ea typeface="Cambria Math" pitchFamily="34" charset="-122"/>
                <a:cs typeface="Cambria Math" pitchFamily="34" charset="-120"/>
              </a:rPr>
              <a:t>C(θ) ≈ (1/m) ∑ᵢ Cᵢ(θ),  m ≪ n</a:t>
            </a:r>
            <a:endParaRPr lang="en-US" sz="1900" dirty="0"/>
          </a:p>
        </p:txBody>
      </p:sp>
      <p:sp>
        <p:nvSpPr>
          <p:cNvPr id="16" name="Text 14"/>
          <p:cNvSpPr txBox="1"/>
          <p:nvPr/>
        </p:nvSpPr>
        <p:spPr>
          <a:xfrm>
            <a:off x="6217920" y="4818888"/>
            <a:ext cx="5312664" cy="310896"/>
          </a:xfrm>
          <a:prstGeom prst="rect">
            <a:avLst/>
          </a:prstGeom>
          <a:noFill/>
          <a:ln/>
        </p:spPr>
        <p:txBody>
          <a:bodyPr wrap="square" lIns="0" tIns="0" rIns="0" bIns="0" rtlCol="0" anchor="ctr"/>
          <a:lstStyle/>
          <a:p>
            <a:pPr marL="0" indent="0" algn="ctr">
              <a:buNone/>
            </a:pPr>
            <a:r>
              <a:rPr lang="en-US" sz="1100" i="1" dirty="0">
                <a:solidFill>
                  <a:srgbClr val="5B6474"/>
                </a:solidFill>
                <a:latin typeface="Calibri" pitchFamily="34" charset="0"/>
                <a:ea typeface="Calibri" pitchFamily="34" charset="-122"/>
                <a:cs typeface="Calibri" pitchFamily="34" charset="-120"/>
              </a:rPr>
              <a:t>stochastic gradient descent: a stagger rather than a careful walk — and it arrives sooner</a:t>
            </a:r>
            <a:endParaRPr lang="en-US" sz="1100" dirty="0"/>
          </a:p>
        </p:txBody>
      </p:sp>
      <p:sp>
        <p:nvSpPr>
          <p:cNvPr id="17" name="Shape 15"/>
          <p:cNvSpPr/>
          <p:nvPr/>
        </p:nvSpPr>
        <p:spPr>
          <a:xfrm>
            <a:off x="640080" y="5257800"/>
            <a:ext cx="10911535" cy="914400"/>
          </a:xfrm>
          <a:prstGeom prst="roundRect">
            <a:avLst>
              <a:gd name="adj" fmla="val 8000"/>
            </a:avLst>
          </a:prstGeom>
          <a:solidFill>
            <a:srgbClr val="111722"/>
          </a:solidFill>
          <a:ln w="12700">
            <a:solidFill>
              <a:srgbClr val="111722"/>
            </a:solidFill>
            <a:prstDash val="solid"/>
          </a:ln>
        </p:spPr>
        <p:txBody>
          <a:bodyPr/>
          <a:lstStyle/>
          <a:p>
            <a:endParaRPr lang="en-US"/>
          </a:p>
        </p:txBody>
      </p:sp>
      <p:sp>
        <p:nvSpPr>
          <p:cNvPr id="18" name="Text 16"/>
          <p:cNvSpPr txBox="1"/>
          <p:nvPr/>
        </p:nvSpPr>
        <p:spPr>
          <a:xfrm>
            <a:off x="1005840" y="5422392"/>
            <a:ext cx="10424160" cy="585216"/>
          </a:xfrm>
          <a:prstGeom prst="rect">
            <a:avLst/>
          </a:prstGeom>
          <a:noFill/>
          <a:ln/>
        </p:spPr>
        <p:txBody>
          <a:bodyPr wrap="square" lIns="0" tIns="0" rIns="0" bIns="0" rtlCol="0" anchor="ctr"/>
          <a:lstStyle/>
          <a:p>
            <a:pPr marL="0" indent="0">
              <a:lnSpc>
                <a:spcPts val="2000"/>
              </a:lnSpc>
              <a:buNone/>
            </a:pPr>
            <a:r>
              <a:rPr lang="en-US" sz="1500" dirty="0">
                <a:solidFill>
                  <a:srgbClr val="F2F4F8"/>
                </a:solidFill>
                <a:latin typeface="Cambria" pitchFamily="34" charset="0"/>
                <a:ea typeface="Cambria" pitchFamily="34" charset="-122"/>
                <a:cs typeface="Cambria" pitchFamily="34" charset="-120"/>
              </a:rPr>
              <a:t>Note what just happened on the left: a design property of the machine exists because of a constraint of the training procedure, not because of anything about intelligence. The tool shaped the artefact.</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741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CHECKPOINT TWO</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11722"/>
                </a:solidFill>
                <a:latin typeface="Cambria" pitchFamily="34" charset="0"/>
                <a:ea typeface="Cambria" pitchFamily="34" charset="-122"/>
                <a:cs typeface="Cambria" pitchFamily="34" charset="-120"/>
              </a:rPr>
              <a:t>Everything you now know, on one page</a:t>
            </a:r>
            <a:endParaRPr lang="en-US" sz="2900" dirty="0"/>
          </a:p>
        </p:txBody>
      </p:sp>
      <p:sp>
        <p:nvSpPr>
          <p:cNvPr id="5" name="Shape 3"/>
          <p:cNvSpPr/>
          <p:nvPr/>
        </p:nvSpPr>
        <p:spPr>
          <a:xfrm>
            <a:off x="640080" y="1353312"/>
            <a:ext cx="10911535" cy="640080"/>
          </a:xfrm>
          <a:prstGeom prst="roundRect">
            <a:avLst>
              <a:gd name="adj" fmla="val 11429"/>
            </a:avLst>
          </a:prstGeom>
          <a:solidFill>
            <a:srgbClr val="E7EEF8"/>
          </a:solidFill>
          <a:ln w="12700">
            <a:solidFill>
              <a:srgbClr val="E7EEF8"/>
            </a:solidFill>
            <a:prstDash val="solid"/>
          </a:ln>
        </p:spPr>
        <p:txBody>
          <a:bodyPr/>
          <a:lstStyle/>
          <a:p>
            <a:endParaRPr lang="en-US"/>
          </a:p>
        </p:txBody>
      </p:sp>
      <p:sp>
        <p:nvSpPr>
          <p:cNvPr id="6" name="Text 4"/>
          <p:cNvSpPr txBox="1"/>
          <p:nvPr/>
        </p:nvSpPr>
        <p:spPr>
          <a:xfrm>
            <a:off x="960120" y="1353312"/>
            <a:ext cx="5120640" cy="640080"/>
          </a:xfrm>
          <a:prstGeom prst="rect">
            <a:avLst/>
          </a:prstGeom>
          <a:noFill/>
          <a:ln/>
        </p:spPr>
        <p:txBody>
          <a:bodyPr wrap="square" lIns="0" tIns="0" rIns="0" bIns="0" rtlCol="0" anchor="ctr"/>
          <a:lstStyle/>
          <a:p>
            <a:pPr marL="0" indent="0">
              <a:buNone/>
            </a:pPr>
            <a:r>
              <a:rPr lang="en-US" sz="1800" dirty="0">
                <a:solidFill>
                  <a:srgbClr val="111722"/>
                </a:solidFill>
                <a:latin typeface="Cambria Math" pitchFamily="34" charset="0"/>
                <a:ea typeface="Cambria Math" pitchFamily="34" charset="-122"/>
                <a:cs typeface="Cambria Math" pitchFamily="34" charset="-120"/>
              </a:rPr>
              <a:t>C₀ = ∑ⱼ (aⱼ − yⱼ)²</a:t>
            </a:r>
            <a:endParaRPr lang="en-US" sz="1800" dirty="0"/>
          </a:p>
        </p:txBody>
      </p:sp>
      <p:sp>
        <p:nvSpPr>
          <p:cNvPr id="7" name="Text 5"/>
          <p:cNvSpPr txBox="1"/>
          <p:nvPr/>
        </p:nvSpPr>
        <p:spPr>
          <a:xfrm>
            <a:off x="6309360" y="1353312"/>
            <a:ext cx="4937760" cy="640080"/>
          </a:xfrm>
          <a:prstGeom prst="rect">
            <a:avLst/>
          </a:prstGeom>
          <a:noFill/>
          <a:ln/>
        </p:spPr>
        <p:txBody>
          <a:bodyPr wrap="square" lIns="0" tIns="0" rIns="0" bIns="0" rtlCol="0" anchor="ctr"/>
          <a:lstStyle/>
          <a:p>
            <a:pPr marL="0" indent="0">
              <a:buNone/>
            </a:pPr>
            <a:r>
              <a:rPr lang="en-US" sz="1200" dirty="0">
                <a:solidFill>
                  <a:srgbClr val="5B6474"/>
                </a:solidFill>
                <a:latin typeface="Calibri" pitchFamily="34" charset="0"/>
                <a:ea typeface="Calibri" pitchFamily="34" charset="-122"/>
                <a:cs typeface="Calibri" pitchFamily="34" charset="-120"/>
              </a:rPr>
              <a:t>the loss for one example: subtract, square, add</a:t>
            </a:r>
            <a:endParaRPr lang="en-US" sz="1200" dirty="0"/>
          </a:p>
        </p:txBody>
      </p:sp>
      <p:sp>
        <p:nvSpPr>
          <p:cNvPr id="8" name="Shape 6"/>
          <p:cNvSpPr/>
          <p:nvPr/>
        </p:nvSpPr>
        <p:spPr>
          <a:xfrm>
            <a:off x="640080" y="2057400"/>
            <a:ext cx="10911535" cy="640080"/>
          </a:xfrm>
          <a:prstGeom prst="roundRect">
            <a:avLst>
              <a:gd name="adj" fmla="val 11429"/>
            </a:avLst>
          </a:prstGeom>
          <a:solidFill>
            <a:srgbClr val="FAF0DE"/>
          </a:solidFill>
          <a:ln w="12700">
            <a:solidFill>
              <a:srgbClr val="FAF0DE"/>
            </a:solidFill>
            <a:prstDash val="solid"/>
          </a:ln>
        </p:spPr>
        <p:txBody>
          <a:bodyPr/>
          <a:lstStyle/>
          <a:p>
            <a:endParaRPr lang="en-US"/>
          </a:p>
        </p:txBody>
      </p:sp>
      <p:sp>
        <p:nvSpPr>
          <p:cNvPr id="9" name="Text 7"/>
          <p:cNvSpPr txBox="1"/>
          <p:nvPr/>
        </p:nvSpPr>
        <p:spPr>
          <a:xfrm>
            <a:off x="960120" y="2057400"/>
            <a:ext cx="5120640" cy="640080"/>
          </a:xfrm>
          <a:prstGeom prst="rect">
            <a:avLst/>
          </a:prstGeom>
          <a:noFill/>
          <a:ln/>
        </p:spPr>
        <p:txBody>
          <a:bodyPr wrap="square" lIns="0" tIns="0" rIns="0" bIns="0" rtlCol="0" anchor="ctr"/>
          <a:lstStyle/>
          <a:p>
            <a:pPr marL="0" indent="0">
              <a:buNone/>
            </a:pPr>
            <a:r>
              <a:rPr lang="en-US" sz="1800" dirty="0">
                <a:solidFill>
                  <a:srgbClr val="111722"/>
                </a:solidFill>
                <a:latin typeface="Cambria Math" pitchFamily="34" charset="0"/>
                <a:ea typeface="Cambria Math" pitchFamily="34" charset="-122"/>
                <a:cs typeface="Cambria Math" pitchFamily="34" charset="-120"/>
              </a:rPr>
              <a:t>C(θ) = (1/n) ∑ᵢ Cᵢ(θ)</a:t>
            </a:r>
            <a:endParaRPr lang="en-US" sz="1800" dirty="0"/>
          </a:p>
        </p:txBody>
      </p:sp>
      <p:sp>
        <p:nvSpPr>
          <p:cNvPr id="10" name="Text 8"/>
          <p:cNvSpPr txBox="1"/>
          <p:nvPr/>
        </p:nvSpPr>
        <p:spPr>
          <a:xfrm>
            <a:off x="6309360" y="2057400"/>
            <a:ext cx="4937760" cy="640080"/>
          </a:xfrm>
          <a:prstGeom prst="rect">
            <a:avLst/>
          </a:prstGeom>
          <a:noFill/>
          <a:ln/>
        </p:spPr>
        <p:txBody>
          <a:bodyPr wrap="square" lIns="0" tIns="0" rIns="0" bIns="0" rtlCol="0" anchor="ctr"/>
          <a:lstStyle/>
          <a:p>
            <a:pPr marL="0" indent="0">
              <a:buNone/>
            </a:pPr>
            <a:r>
              <a:rPr lang="en-US" sz="1200" dirty="0">
                <a:solidFill>
                  <a:srgbClr val="5B6474"/>
                </a:solidFill>
                <a:latin typeface="Calibri" pitchFamily="34" charset="0"/>
                <a:ea typeface="Calibri" pitchFamily="34" charset="-122"/>
                <a:cs typeface="Calibri" pitchFamily="34" charset="-120"/>
              </a:rPr>
              <a:t>the loss overall: average across the training set</a:t>
            </a:r>
            <a:endParaRPr lang="en-US" sz="1200" dirty="0"/>
          </a:p>
        </p:txBody>
      </p:sp>
      <p:sp>
        <p:nvSpPr>
          <p:cNvPr id="11" name="Shape 9"/>
          <p:cNvSpPr/>
          <p:nvPr/>
        </p:nvSpPr>
        <p:spPr>
          <a:xfrm>
            <a:off x="640080" y="2761488"/>
            <a:ext cx="10911535" cy="640080"/>
          </a:xfrm>
          <a:prstGeom prst="roundRect">
            <a:avLst>
              <a:gd name="adj" fmla="val 11429"/>
            </a:avLst>
          </a:prstGeom>
          <a:solidFill>
            <a:srgbClr val="E7EEF8"/>
          </a:solidFill>
          <a:ln w="12700">
            <a:solidFill>
              <a:srgbClr val="E7EEF8"/>
            </a:solidFill>
            <a:prstDash val="solid"/>
          </a:ln>
        </p:spPr>
        <p:txBody>
          <a:bodyPr/>
          <a:lstStyle/>
          <a:p>
            <a:endParaRPr lang="en-US"/>
          </a:p>
        </p:txBody>
      </p:sp>
      <p:sp>
        <p:nvSpPr>
          <p:cNvPr id="12" name="Text 10"/>
          <p:cNvSpPr txBox="1"/>
          <p:nvPr/>
        </p:nvSpPr>
        <p:spPr>
          <a:xfrm>
            <a:off x="960120" y="2761488"/>
            <a:ext cx="5120640" cy="640080"/>
          </a:xfrm>
          <a:prstGeom prst="rect">
            <a:avLst/>
          </a:prstGeom>
          <a:noFill/>
          <a:ln/>
        </p:spPr>
        <p:txBody>
          <a:bodyPr wrap="square" lIns="0" tIns="0" rIns="0" bIns="0" rtlCol="0" anchor="ctr"/>
          <a:lstStyle/>
          <a:p>
            <a:pPr marL="0" indent="0">
              <a:buNone/>
            </a:pPr>
            <a:r>
              <a:rPr lang="en-US" sz="1800" dirty="0">
                <a:solidFill>
                  <a:srgbClr val="111722"/>
                </a:solidFill>
                <a:latin typeface="Cambria Math" pitchFamily="34" charset="0"/>
                <a:ea typeface="Cambria Math" pitchFamily="34" charset="-122"/>
                <a:cs typeface="Cambria Math" pitchFamily="34" charset="-120"/>
              </a:rPr>
              <a:t>∂C/∂wⱼ</a:t>
            </a:r>
            <a:endParaRPr lang="en-US" sz="1800" dirty="0"/>
          </a:p>
        </p:txBody>
      </p:sp>
      <p:sp>
        <p:nvSpPr>
          <p:cNvPr id="13" name="Text 11"/>
          <p:cNvSpPr txBox="1"/>
          <p:nvPr/>
        </p:nvSpPr>
        <p:spPr>
          <a:xfrm>
            <a:off x="6309360" y="2761488"/>
            <a:ext cx="4937760" cy="640080"/>
          </a:xfrm>
          <a:prstGeom prst="rect">
            <a:avLst/>
          </a:prstGeom>
          <a:noFill/>
          <a:ln/>
        </p:spPr>
        <p:txBody>
          <a:bodyPr wrap="square" lIns="0" tIns="0" rIns="0" bIns="0" rtlCol="0" anchor="ctr"/>
          <a:lstStyle/>
          <a:p>
            <a:pPr marL="0" indent="0">
              <a:buNone/>
            </a:pPr>
            <a:r>
              <a:rPr lang="en-US" sz="1200" dirty="0">
                <a:solidFill>
                  <a:srgbClr val="5B6474"/>
                </a:solidFill>
                <a:latin typeface="Calibri" pitchFamily="34" charset="0"/>
                <a:ea typeface="Calibri" pitchFamily="34" charset="-122"/>
                <a:cs typeface="Calibri" pitchFamily="34" charset="-120"/>
              </a:rPr>
              <a:t>nudge one knob, hold the rest still, see how C moves</a:t>
            </a:r>
            <a:endParaRPr lang="en-US" sz="1200" dirty="0"/>
          </a:p>
        </p:txBody>
      </p:sp>
      <p:sp>
        <p:nvSpPr>
          <p:cNvPr id="14" name="Shape 12"/>
          <p:cNvSpPr/>
          <p:nvPr/>
        </p:nvSpPr>
        <p:spPr>
          <a:xfrm>
            <a:off x="640080" y="3465576"/>
            <a:ext cx="10911535" cy="640080"/>
          </a:xfrm>
          <a:prstGeom prst="roundRect">
            <a:avLst>
              <a:gd name="adj" fmla="val 11429"/>
            </a:avLst>
          </a:prstGeom>
          <a:solidFill>
            <a:srgbClr val="FAF0DE"/>
          </a:solidFill>
          <a:ln w="12700">
            <a:solidFill>
              <a:srgbClr val="FAF0DE"/>
            </a:solidFill>
            <a:prstDash val="solid"/>
          </a:ln>
        </p:spPr>
        <p:txBody>
          <a:bodyPr/>
          <a:lstStyle/>
          <a:p>
            <a:endParaRPr lang="en-US"/>
          </a:p>
        </p:txBody>
      </p:sp>
      <p:sp>
        <p:nvSpPr>
          <p:cNvPr id="15" name="Text 13"/>
          <p:cNvSpPr txBox="1"/>
          <p:nvPr/>
        </p:nvSpPr>
        <p:spPr>
          <a:xfrm>
            <a:off x="960120" y="3465576"/>
            <a:ext cx="5120640" cy="640080"/>
          </a:xfrm>
          <a:prstGeom prst="rect">
            <a:avLst/>
          </a:prstGeom>
          <a:noFill/>
          <a:ln/>
        </p:spPr>
        <p:txBody>
          <a:bodyPr wrap="square" lIns="0" tIns="0" rIns="0" bIns="0" rtlCol="0" anchor="ctr"/>
          <a:lstStyle/>
          <a:p>
            <a:pPr marL="0" indent="0">
              <a:buNone/>
            </a:pPr>
            <a:r>
              <a:rPr lang="en-US" sz="1800" dirty="0">
                <a:solidFill>
                  <a:srgbClr val="111722"/>
                </a:solidFill>
                <a:latin typeface="Cambria Math" pitchFamily="34" charset="0"/>
                <a:ea typeface="Cambria Math" pitchFamily="34" charset="-122"/>
                <a:cs typeface="Cambria Math" pitchFamily="34" charset="-120"/>
              </a:rPr>
              <a:t>∇C(θ) = (∂C/∂θ₁, ⋯, ∂C/∂θₙ)</a:t>
            </a:r>
            <a:endParaRPr lang="en-US" sz="1800" dirty="0"/>
          </a:p>
        </p:txBody>
      </p:sp>
      <p:sp>
        <p:nvSpPr>
          <p:cNvPr id="16" name="Text 14"/>
          <p:cNvSpPr txBox="1"/>
          <p:nvPr/>
        </p:nvSpPr>
        <p:spPr>
          <a:xfrm>
            <a:off x="6309360" y="3465576"/>
            <a:ext cx="4937760" cy="640080"/>
          </a:xfrm>
          <a:prstGeom prst="rect">
            <a:avLst/>
          </a:prstGeom>
          <a:noFill/>
          <a:ln/>
        </p:spPr>
        <p:txBody>
          <a:bodyPr wrap="square" lIns="0" tIns="0" rIns="0" bIns="0" rtlCol="0" anchor="ctr"/>
          <a:lstStyle/>
          <a:p>
            <a:pPr marL="0" indent="0">
              <a:buNone/>
            </a:pPr>
            <a:r>
              <a:rPr lang="en-US" sz="1200" dirty="0">
                <a:solidFill>
                  <a:srgbClr val="5B6474"/>
                </a:solidFill>
                <a:latin typeface="Calibri" pitchFamily="34" charset="0"/>
                <a:ea typeface="Calibri" pitchFamily="34" charset="-122"/>
                <a:cs typeface="Calibri" pitchFamily="34" charset="-120"/>
              </a:rPr>
              <a:t>all of those nudge-answers collected into one list</a:t>
            </a:r>
            <a:endParaRPr lang="en-US" sz="1200" dirty="0"/>
          </a:p>
        </p:txBody>
      </p:sp>
      <p:sp>
        <p:nvSpPr>
          <p:cNvPr id="17" name="Shape 15"/>
          <p:cNvSpPr/>
          <p:nvPr/>
        </p:nvSpPr>
        <p:spPr>
          <a:xfrm>
            <a:off x="640080" y="4169664"/>
            <a:ext cx="10911535" cy="640080"/>
          </a:xfrm>
          <a:prstGeom prst="roundRect">
            <a:avLst>
              <a:gd name="adj" fmla="val 11429"/>
            </a:avLst>
          </a:prstGeom>
          <a:solidFill>
            <a:srgbClr val="E7EEF8"/>
          </a:solidFill>
          <a:ln w="12700">
            <a:solidFill>
              <a:srgbClr val="E7EEF8"/>
            </a:solidFill>
            <a:prstDash val="solid"/>
          </a:ln>
        </p:spPr>
        <p:txBody>
          <a:bodyPr/>
          <a:lstStyle/>
          <a:p>
            <a:endParaRPr lang="en-US"/>
          </a:p>
        </p:txBody>
      </p:sp>
      <p:sp>
        <p:nvSpPr>
          <p:cNvPr id="18" name="Text 16"/>
          <p:cNvSpPr txBox="1"/>
          <p:nvPr/>
        </p:nvSpPr>
        <p:spPr>
          <a:xfrm>
            <a:off x="960120" y="4169664"/>
            <a:ext cx="5120640" cy="640080"/>
          </a:xfrm>
          <a:prstGeom prst="rect">
            <a:avLst/>
          </a:prstGeom>
          <a:noFill/>
          <a:ln/>
        </p:spPr>
        <p:txBody>
          <a:bodyPr wrap="square" lIns="0" tIns="0" rIns="0" bIns="0" rtlCol="0" anchor="ctr"/>
          <a:lstStyle/>
          <a:p>
            <a:pPr marL="0" indent="0">
              <a:buNone/>
            </a:pPr>
            <a:r>
              <a:rPr lang="en-US" sz="1800" dirty="0">
                <a:solidFill>
                  <a:srgbClr val="111722"/>
                </a:solidFill>
                <a:latin typeface="Cambria Math" pitchFamily="34" charset="0"/>
                <a:ea typeface="Cambria Math" pitchFamily="34" charset="-122"/>
                <a:cs typeface="Cambria Math" pitchFamily="34" charset="-120"/>
              </a:rPr>
              <a:t>θ ← θ − η ∇C(θ)</a:t>
            </a:r>
            <a:endParaRPr lang="en-US" sz="1800" dirty="0"/>
          </a:p>
        </p:txBody>
      </p:sp>
      <p:sp>
        <p:nvSpPr>
          <p:cNvPr id="19" name="Text 17"/>
          <p:cNvSpPr txBox="1"/>
          <p:nvPr/>
        </p:nvSpPr>
        <p:spPr>
          <a:xfrm>
            <a:off x="6309360" y="4169664"/>
            <a:ext cx="4937760" cy="640080"/>
          </a:xfrm>
          <a:prstGeom prst="rect">
            <a:avLst/>
          </a:prstGeom>
          <a:noFill/>
          <a:ln/>
        </p:spPr>
        <p:txBody>
          <a:bodyPr wrap="square" lIns="0" tIns="0" rIns="0" bIns="0" rtlCol="0" anchor="ctr"/>
          <a:lstStyle/>
          <a:p>
            <a:pPr marL="0" indent="0">
              <a:buNone/>
            </a:pPr>
            <a:r>
              <a:rPr lang="en-US" sz="1200" dirty="0">
                <a:solidFill>
                  <a:srgbClr val="5B6474"/>
                </a:solidFill>
                <a:latin typeface="Calibri" pitchFamily="34" charset="0"/>
                <a:ea typeface="Calibri" pitchFamily="34" charset="-122"/>
                <a:cs typeface="Calibri" pitchFamily="34" charset="-120"/>
              </a:rPr>
              <a:t>step every knob a little way opposite its slope</a:t>
            </a:r>
            <a:endParaRPr lang="en-US" sz="1200" dirty="0"/>
          </a:p>
        </p:txBody>
      </p:sp>
      <p:sp>
        <p:nvSpPr>
          <p:cNvPr id="20" name="Shape 18"/>
          <p:cNvSpPr/>
          <p:nvPr/>
        </p:nvSpPr>
        <p:spPr>
          <a:xfrm>
            <a:off x="640080" y="4873752"/>
            <a:ext cx="10911535" cy="640080"/>
          </a:xfrm>
          <a:prstGeom prst="roundRect">
            <a:avLst>
              <a:gd name="adj" fmla="val 11429"/>
            </a:avLst>
          </a:prstGeom>
          <a:solidFill>
            <a:srgbClr val="FAF0DE"/>
          </a:solidFill>
          <a:ln w="12700">
            <a:solidFill>
              <a:srgbClr val="FAF0DE"/>
            </a:solidFill>
            <a:prstDash val="solid"/>
          </a:ln>
        </p:spPr>
        <p:txBody>
          <a:bodyPr/>
          <a:lstStyle/>
          <a:p>
            <a:endParaRPr lang="en-US"/>
          </a:p>
        </p:txBody>
      </p:sp>
      <p:sp>
        <p:nvSpPr>
          <p:cNvPr id="21" name="Text 19"/>
          <p:cNvSpPr txBox="1"/>
          <p:nvPr/>
        </p:nvSpPr>
        <p:spPr>
          <a:xfrm>
            <a:off x="960120" y="4873752"/>
            <a:ext cx="5120640" cy="640080"/>
          </a:xfrm>
          <a:prstGeom prst="rect">
            <a:avLst/>
          </a:prstGeom>
          <a:noFill/>
          <a:ln/>
        </p:spPr>
        <p:txBody>
          <a:bodyPr wrap="square" lIns="0" tIns="0" rIns="0" bIns="0" rtlCol="0" anchor="ctr"/>
          <a:lstStyle/>
          <a:p>
            <a:pPr marL="0" indent="0">
              <a:buNone/>
            </a:pPr>
            <a:r>
              <a:rPr lang="en-US" sz="1800" dirty="0">
                <a:solidFill>
                  <a:srgbClr val="111722"/>
                </a:solidFill>
                <a:latin typeface="Cambria Math" pitchFamily="34" charset="0"/>
                <a:ea typeface="Cambria Math" pitchFamily="34" charset="-122"/>
                <a:cs typeface="Cambria Math" pitchFamily="34" charset="-120"/>
              </a:rPr>
              <a:t>∂C/∂w = (∂C/∂a)(∂a/∂z)(∂z/∂w)</a:t>
            </a:r>
            <a:endParaRPr lang="en-US" sz="1800" dirty="0"/>
          </a:p>
        </p:txBody>
      </p:sp>
      <p:sp>
        <p:nvSpPr>
          <p:cNvPr id="22" name="Text 20"/>
          <p:cNvSpPr txBox="1"/>
          <p:nvPr/>
        </p:nvSpPr>
        <p:spPr>
          <a:xfrm>
            <a:off x="6309360" y="4873752"/>
            <a:ext cx="4937760" cy="640080"/>
          </a:xfrm>
          <a:prstGeom prst="rect">
            <a:avLst/>
          </a:prstGeom>
          <a:noFill/>
          <a:ln/>
        </p:spPr>
        <p:txBody>
          <a:bodyPr wrap="square" lIns="0" tIns="0" rIns="0" bIns="0" rtlCol="0" anchor="ctr"/>
          <a:lstStyle/>
          <a:p>
            <a:pPr marL="0" indent="0">
              <a:buNone/>
            </a:pPr>
            <a:r>
              <a:rPr lang="en-US" sz="1200" dirty="0">
                <a:solidFill>
                  <a:srgbClr val="5B6474"/>
                </a:solidFill>
                <a:latin typeface="Calibri" pitchFamily="34" charset="0"/>
                <a:ea typeface="Calibri" pitchFamily="34" charset="-122"/>
                <a:cs typeface="Calibri" pitchFamily="34" charset="-120"/>
              </a:rPr>
              <a:t>multiply the rates along the chain to get one slope</a:t>
            </a:r>
            <a:endParaRPr lang="en-US" sz="1200" dirty="0"/>
          </a:p>
        </p:txBody>
      </p:sp>
      <p:sp>
        <p:nvSpPr>
          <p:cNvPr id="23" name="Shape 21"/>
          <p:cNvSpPr/>
          <p:nvPr/>
        </p:nvSpPr>
        <p:spPr>
          <a:xfrm>
            <a:off x="640080" y="5577840"/>
            <a:ext cx="10911535" cy="621792"/>
          </a:xfrm>
          <a:prstGeom prst="roundRect">
            <a:avLst>
              <a:gd name="adj" fmla="val 11765"/>
            </a:avLst>
          </a:prstGeom>
          <a:solidFill>
            <a:srgbClr val="111722"/>
          </a:solidFill>
          <a:ln w="12700">
            <a:solidFill>
              <a:srgbClr val="111722"/>
            </a:solidFill>
            <a:prstDash val="solid"/>
          </a:ln>
        </p:spPr>
        <p:txBody>
          <a:bodyPr/>
          <a:lstStyle/>
          <a:p>
            <a:endParaRPr lang="en-US"/>
          </a:p>
        </p:txBody>
      </p:sp>
      <p:sp>
        <p:nvSpPr>
          <p:cNvPr id="24" name="Text 22"/>
          <p:cNvSpPr txBox="1"/>
          <p:nvPr/>
        </p:nvSpPr>
        <p:spPr>
          <a:xfrm>
            <a:off x="1005840" y="5742432"/>
            <a:ext cx="10424160" cy="292608"/>
          </a:xfrm>
          <a:prstGeom prst="rect">
            <a:avLst/>
          </a:prstGeom>
          <a:noFill/>
          <a:ln/>
        </p:spPr>
        <p:txBody>
          <a:bodyPr wrap="square" lIns="0" tIns="0" rIns="0" bIns="0" rtlCol="0" anchor="ctr"/>
          <a:lstStyle/>
          <a:p>
            <a:pPr marL="0" indent="0">
              <a:lnSpc>
                <a:spcPts val="2000"/>
              </a:lnSpc>
              <a:buNone/>
            </a:pPr>
            <a:r>
              <a:rPr lang="en-US" sz="1500" dirty="0">
                <a:solidFill>
                  <a:srgbClr val="F2F4F8"/>
                </a:solidFill>
                <a:latin typeface="Cambria" pitchFamily="34" charset="0"/>
                <a:ea typeface="Cambria" pitchFamily="34" charset="-122"/>
                <a:cs typeface="Cambria" pitchFamily="34" charset="-120"/>
              </a:rPr>
              <a:t>That is the mathematics. Everything from here is the argument about who chose C — and what it cost.</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741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THE RESULT</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11722"/>
                </a:solidFill>
                <a:latin typeface="Cambria" pitchFamily="34" charset="0"/>
                <a:ea typeface="Cambria" pitchFamily="34" charset="-122"/>
                <a:cs typeface="Cambria" pitchFamily="34" charset="-120"/>
              </a:rPr>
              <a:t>It works — and then it does something strange</a:t>
            </a:r>
            <a:endParaRPr lang="en-US" sz="2900" dirty="0"/>
          </a:p>
        </p:txBody>
      </p:sp>
      <p:sp>
        <p:nvSpPr>
          <p:cNvPr id="5" name="Shape 3"/>
          <p:cNvSpPr/>
          <p:nvPr/>
        </p:nvSpPr>
        <p:spPr>
          <a:xfrm>
            <a:off x="640080" y="1371600"/>
            <a:ext cx="5349240" cy="1691640"/>
          </a:xfrm>
          <a:prstGeom prst="roundRect">
            <a:avLst>
              <a:gd name="adj" fmla="val 4324"/>
            </a:avLst>
          </a:prstGeom>
          <a:solidFill>
            <a:srgbClr val="E7EEF8"/>
          </a:solidFill>
          <a:ln w="12700">
            <a:solidFill>
              <a:srgbClr val="E7EEF8"/>
            </a:solidFill>
            <a:prstDash val="solid"/>
          </a:ln>
        </p:spPr>
        <p:txBody>
          <a:bodyPr/>
          <a:lstStyle/>
          <a:p>
            <a:endParaRPr lang="en-US"/>
          </a:p>
        </p:txBody>
      </p:sp>
      <p:sp>
        <p:nvSpPr>
          <p:cNvPr id="6" name="Text 4"/>
          <p:cNvSpPr txBox="1"/>
          <p:nvPr/>
        </p:nvSpPr>
        <p:spPr>
          <a:xfrm>
            <a:off x="1005840" y="1554480"/>
            <a:ext cx="4617720" cy="384048"/>
          </a:xfrm>
          <a:prstGeom prst="rect">
            <a:avLst/>
          </a:prstGeom>
          <a:noFill/>
          <a:ln/>
        </p:spPr>
        <p:txBody>
          <a:bodyPr wrap="square" lIns="0" tIns="0" rIns="0" bIns="0" rtlCol="0" anchor="ctr"/>
          <a:lstStyle/>
          <a:p>
            <a:pPr marL="0" indent="0">
              <a:buNone/>
            </a:pPr>
            <a:r>
              <a:rPr lang="en-US" sz="2000" b="1" dirty="0">
                <a:solidFill>
                  <a:srgbClr val="111722"/>
                </a:solidFill>
                <a:latin typeface="Cambria" pitchFamily="34" charset="0"/>
                <a:ea typeface="Cambria" pitchFamily="34" charset="-122"/>
                <a:cs typeface="Cambria" pitchFamily="34" charset="-120"/>
              </a:rPr>
              <a:t>Around 96% correct</a:t>
            </a:r>
            <a:endParaRPr lang="en-US" sz="2000" dirty="0"/>
          </a:p>
        </p:txBody>
      </p:sp>
      <p:sp>
        <p:nvSpPr>
          <p:cNvPr id="7" name="Text 5"/>
          <p:cNvSpPr txBox="1"/>
          <p:nvPr/>
        </p:nvSpPr>
        <p:spPr>
          <a:xfrm>
            <a:off x="1005840" y="2011680"/>
            <a:ext cx="4617720" cy="960120"/>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On digits it has never seen. From random starting values, with no rules about shape, and nobody understanding what any individual knob is for. A genuine and astonishing result.</a:t>
            </a:r>
            <a:endParaRPr lang="en-US" sz="1200" dirty="0"/>
          </a:p>
        </p:txBody>
      </p:sp>
      <p:sp>
        <p:nvSpPr>
          <p:cNvPr id="8" name="Shape 6"/>
          <p:cNvSpPr/>
          <p:nvPr/>
        </p:nvSpPr>
        <p:spPr>
          <a:xfrm>
            <a:off x="6217920" y="1371600"/>
            <a:ext cx="5312664" cy="1691640"/>
          </a:xfrm>
          <a:prstGeom prst="roundRect">
            <a:avLst>
              <a:gd name="adj" fmla="val 4324"/>
            </a:avLst>
          </a:prstGeom>
          <a:solidFill>
            <a:srgbClr val="111722"/>
          </a:solidFill>
          <a:ln w="12700">
            <a:solidFill>
              <a:srgbClr val="111722"/>
            </a:solidFill>
            <a:prstDash val="solid"/>
          </a:ln>
        </p:spPr>
        <p:txBody>
          <a:bodyPr/>
          <a:lstStyle/>
          <a:p>
            <a:endParaRPr lang="en-US"/>
          </a:p>
        </p:txBody>
      </p:sp>
      <p:sp>
        <p:nvSpPr>
          <p:cNvPr id="9" name="Text 7"/>
          <p:cNvSpPr txBox="1"/>
          <p:nvPr/>
        </p:nvSpPr>
        <p:spPr>
          <a:xfrm>
            <a:off x="6583680" y="1554480"/>
            <a:ext cx="4764024" cy="384048"/>
          </a:xfrm>
          <a:prstGeom prst="rect">
            <a:avLst/>
          </a:prstGeom>
          <a:noFill/>
          <a:ln/>
        </p:spPr>
        <p:txBody>
          <a:bodyPr wrap="square" lIns="0" tIns="0" rIns="0" bIns="0" rtlCol="0" anchor="ctr"/>
          <a:lstStyle/>
          <a:p>
            <a:pPr marL="0" indent="0">
              <a:buNone/>
            </a:pPr>
            <a:r>
              <a:rPr lang="en-US" sz="2000" b="1" dirty="0">
                <a:solidFill>
                  <a:srgbClr val="E9AC53"/>
                </a:solidFill>
                <a:latin typeface="Cambria" pitchFamily="34" charset="0"/>
                <a:ea typeface="Cambria" pitchFamily="34" charset="-122"/>
                <a:cs typeface="Cambria" pitchFamily="34" charset="-120"/>
              </a:rPr>
              <a:t>Now show it pure noise</a:t>
            </a:r>
            <a:endParaRPr lang="en-US" sz="2000" dirty="0"/>
          </a:p>
        </p:txBody>
      </p:sp>
      <p:sp>
        <p:nvSpPr>
          <p:cNvPr id="10" name="Text 8"/>
          <p:cNvSpPr txBox="1"/>
          <p:nvPr/>
        </p:nvSpPr>
        <p:spPr>
          <a:xfrm>
            <a:off x="6583680" y="2011680"/>
            <a:ext cx="4764024" cy="960120"/>
          </a:xfrm>
          <a:prstGeom prst="rect">
            <a:avLst/>
          </a:prstGeom>
          <a:noFill/>
          <a:ln/>
        </p:spPr>
        <p:txBody>
          <a:bodyPr wrap="square" lIns="0" tIns="0" rIns="0" bIns="0" rtlCol="0" anchor="ctr"/>
          <a:lstStyle/>
          <a:p>
            <a:pPr marL="0" indent="0">
              <a:lnSpc>
                <a:spcPts val="1600"/>
              </a:lnSpc>
              <a:buNone/>
            </a:pPr>
            <a:r>
              <a:rPr lang="en-US" sz="1200" dirty="0">
                <a:solidFill>
                  <a:srgbClr val="F2F4F8"/>
                </a:solidFill>
                <a:latin typeface="Calibri" pitchFamily="34" charset="0"/>
                <a:ea typeface="Calibri" pitchFamily="34" charset="-122"/>
                <a:cs typeface="Calibri" pitchFamily="34" charset="-120"/>
              </a:rPr>
              <a:t>A grid of random grey values — static, not a digit at all. It does not hesitate. It reports a digit, confidently, with a high number in one of the ten slots.</a:t>
            </a:r>
            <a:endParaRPr lang="en-US" sz="1200" dirty="0"/>
          </a:p>
        </p:txBody>
      </p:sp>
      <p:sp>
        <p:nvSpPr>
          <p:cNvPr id="11" name="Shape 9"/>
          <p:cNvSpPr/>
          <p:nvPr/>
        </p:nvSpPr>
        <p:spPr>
          <a:xfrm>
            <a:off x="640080" y="3246120"/>
            <a:ext cx="3454298" cy="2103120"/>
          </a:xfrm>
          <a:prstGeom prst="roundRect">
            <a:avLst>
              <a:gd name="adj" fmla="val 3478"/>
            </a:avLst>
          </a:prstGeom>
          <a:solidFill>
            <a:srgbClr val="E7EEF8"/>
          </a:solidFill>
          <a:ln w="12700">
            <a:solidFill>
              <a:srgbClr val="E7EEF8"/>
            </a:solidFill>
            <a:prstDash val="solid"/>
          </a:ln>
        </p:spPr>
        <p:txBody>
          <a:bodyPr/>
          <a:lstStyle/>
          <a:p>
            <a:endParaRPr lang="en-US"/>
          </a:p>
        </p:txBody>
      </p:sp>
      <p:sp>
        <p:nvSpPr>
          <p:cNvPr id="12" name="Text 10"/>
          <p:cNvSpPr txBox="1"/>
          <p:nvPr/>
        </p:nvSpPr>
        <p:spPr>
          <a:xfrm>
            <a:off x="914400" y="3429000"/>
            <a:ext cx="2905658" cy="566928"/>
          </a:xfrm>
          <a:prstGeom prst="rect">
            <a:avLst/>
          </a:prstGeom>
          <a:noFill/>
          <a:ln/>
        </p:spPr>
        <p:txBody>
          <a:bodyPr wrap="square" lIns="0" tIns="0" rIns="0" bIns="0" rtlCol="0" anchor="ctr"/>
          <a:lstStyle/>
          <a:p>
            <a:pPr marL="0" indent="0">
              <a:lnSpc>
                <a:spcPts val="2000"/>
              </a:lnSpc>
              <a:buNone/>
            </a:pPr>
            <a:r>
              <a:rPr lang="en-US" sz="1550" b="1" dirty="0">
                <a:solidFill>
                  <a:srgbClr val="111722"/>
                </a:solidFill>
                <a:latin typeface="Cambria" pitchFamily="34" charset="0"/>
                <a:ea typeface="Cambria" pitchFamily="34" charset="-122"/>
                <a:cs typeface="Cambria" pitchFamily="34" charset="-120"/>
              </a:rPr>
              <a:t>Why would it do otherwise?</a:t>
            </a:r>
            <a:endParaRPr lang="en-US" sz="1550" dirty="0"/>
          </a:p>
        </p:txBody>
      </p:sp>
      <p:sp>
        <p:nvSpPr>
          <p:cNvPr id="13" name="Text 11"/>
          <p:cNvSpPr txBox="1"/>
          <p:nvPr/>
        </p:nvSpPr>
        <p:spPr>
          <a:xfrm>
            <a:off x="914400" y="4069080"/>
            <a:ext cx="2905658" cy="1060704"/>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Look at C. Every training image was a digit, so nothing in the formula ever asked for “not a digit.” The task actually set was: given that this is one of ten digits, say which. It performs that task well.</a:t>
            </a:r>
            <a:endParaRPr lang="en-US" sz="1200" dirty="0"/>
          </a:p>
        </p:txBody>
      </p:sp>
      <p:sp>
        <p:nvSpPr>
          <p:cNvPr id="14" name="Shape 12"/>
          <p:cNvSpPr/>
          <p:nvPr/>
        </p:nvSpPr>
        <p:spPr>
          <a:xfrm>
            <a:off x="4368698" y="3246120"/>
            <a:ext cx="3454298" cy="2103120"/>
          </a:xfrm>
          <a:prstGeom prst="roundRect">
            <a:avLst>
              <a:gd name="adj" fmla="val 3478"/>
            </a:avLst>
          </a:prstGeom>
          <a:solidFill>
            <a:srgbClr val="FAF0DE"/>
          </a:solidFill>
          <a:ln w="12700">
            <a:solidFill>
              <a:srgbClr val="FAF0DE"/>
            </a:solidFill>
            <a:prstDash val="solid"/>
          </a:ln>
        </p:spPr>
        <p:txBody>
          <a:bodyPr/>
          <a:lstStyle/>
          <a:p>
            <a:endParaRPr lang="en-US"/>
          </a:p>
        </p:txBody>
      </p:sp>
      <p:sp>
        <p:nvSpPr>
          <p:cNvPr id="15" name="Text 13"/>
          <p:cNvSpPr txBox="1"/>
          <p:nvPr/>
        </p:nvSpPr>
        <p:spPr>
          <a:xfrm>
            <a:off x="4643018" y="3429000"/>
            <a:ext cx="2905658" cy="566928"/>
          </a:xfrm>
          <a:prstGeom prst="rect">
            <a:avLst/>
          </a:prstGeom>
          <a:noFill/>
          <a:ln/>
        </p:spPr>
        <p:txBody>
          <a:bodyPr wrap="square" lIns="0" tIns="0" rIns="0" bIns="0" rtlCol="0" anchor="ctr"/>
          <a:lstStyle/>
          <a:p>
            <a:pPr marL="0" indent="0">
              <a:lnSpc>
                <a:spcPts val="2000"/>
              </a:lnSpc>
              <a:buNone/>
            </a:pPr>
            <a:r>
              <a:rPr lang="en-US" sz="1550" b="1" dirty="0">
                <a:solidFill>
                  <a:srgbClr val="111722"/>
                </a:solidFill>
                <a:latin typeface="Cambria" pitchFamily="34" charset="0"/>
                <a:ea typeface="Cambria" pitchFamily="34" charset="-122"/>
                <a:cs typeface="Cambria" pitchFamily="34" charset="-120"/>
              </a:rPr>
              <a:t>It did not learn loops and lines</a:t>
            </a:r>
            <a:endParaRPr lang="en-US" sz="1550" dirty="0"/>
          </a:p>
        </p:txBody>
      </p:sp>
      <p:sp>
        <p:nvSpPr>
          <p:cNvPr id="16" name="Text 14"/>
          <p:cNvSpPr txBox="1"/>
          <p:nvPr/>
        </p:nvSpPr>
        <p:spPr>
          <a:xfrm>
            <a:off x="4643018" y="4069080"/>
            <a:ext cx="2905658" cy="1060704"/>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The videos set up an appealing story about edges and strokes. Inspection does not support it. Whatever the middle layers do, it is not what we imagined.</a:t>
            </a:r>
            <a:endParaRPr lang="en-US" sz="1200" dirty="0"/>
          </a:p>
        </p:txBody>
      </p:sp>
      <p:sp>
        <p:nvSpPr>
          <p:cNvPr id="17" name="Shape 15"/>
          <p:cNvSpPr/>
          <p:nvPr/>
        </p:nvSpPr>
        <p:spPr>
          <a:xfrm>
            <a:off x="8097317" y="3246120"/>
            <a:ext cx="3454298" cy="2103120"/>
          </a:xfrm>
          <a:prstGeom prst="roundRect">
            <a:avLst>
              <a:gd name="adj" fmla="val 3478"/>
            </a:avLst>
          </a:prstGeom>
          <a:solidFill>
            <a:srgbClr val="E7EEF8"/>
          </a:solidFill>
          <a:ln w="12700">
            <a:solidFill>
              <a:srgbClr val="E7EEF8"/>
            </a:solidFill>
            <a:prstDash val="solid"/>
          </a:ln>
        </p:spPr>
        <p:txBody>
          <a:bodyPr/>
          <a:lstStyle/>
          <a:p>
            <a:endParaRPr lang="en-US"/>
          </a:p>
        </p:txBody>
      </p:sp>
      <p:sp>
        <p:nvSpPr>
          <p:cNvPr id="18" name="Text 16"/>
          <p:cNvSpPr txBox="1"/>
          <p:nvPr/>
        </p:nvSpPr>
        <p:spPr>
          <a:xfrm>
            <a:off x="8371637" y="3429000"/>
            <a:ext cx="2905658" cy="566928"/>
          </a:xfrm>
          <a:prstGeom prst="rect">
            <a:avLst/>
          </a:prstGeom>
          <a:noFill/>
          <a:ln/>
        </p:spPr>
        <p:txBody>
          <a:bodyPr wrap="square" lIns="0" tIns="0" rIns="0" bIns="0" rtlCol="0" anchor="ctr"/>
          <a:lstStyle/>
          <a:p>
            <a:pPr marL="0" indent="0">
              <a:lnSpc>
                <a:spcPts val="2000"/>
              </a:lnSpc>
              <a:buNone/>
            </a:pPr>
            <a:r>
              <a:rPr lang="en-US" sz="1550" b="1" dirty="0">
                <a:solidFill>
                  <a:srgbClr val="111722"/>
                </a:solidFill>
                <a:latin typeface="Cambria" pitchFamily="34" charset="0"/>
                <a:ea typeface="Cambria" pitchFamily="34" charset="-122"/>
                <a:cs typeface="Cambria" pitchFamily="34" charset="-120"/>
              </a:rPr>
              <a:t>And it will memorise anything</a:t>
            </a:r>
            <a:endParaRPr lang="en-US" sz="1550" dirty="0"/>
          </a:p>
        </p:txBody>
      </p:sp>
      <p:sp>
        <p:nvSpPr>
          <p:cNvPr id="19" name="Text 17"/>
          <p:cNvSpPr txBox="1"/>
          <p:nvPr/>
        </p:nvSpPr>
        <p:spPr>
          <a:xfrm>
            <a:off x="8371637" y="4069080"/>
            <a:ext cx="2905658" cy="1060704"/>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The same architecture, trained on images with labels shuffled at random, learned them. There was no structure to find, and gradient descent fit the data anyway.</a:t>
            </a:r>
            <a:endParaRPr lang="en-US" sz="1200" dirty="0"/>
          </a:p>
        </p:txBody>
      </p:sp>
      <p:sp>
        <p:nvSpPr>
          <p:cNvPr id="20" name="Shape 18"/>
          <p:cNvSpPr/>
          <p:nvPr/>
        </p:nvSpPr>
        <p:spPr>
          <a:xfrm>
            <a:off x="640080" y="5486400"/>
            <a:ext cx="10911535" cy="566928"/>
          </a:xfrm>
          <a:prstGeom prst="roundRect">
            <a:avLst>
              <a:gd name="adj" fmla="val 12903"/>
            </a:avLst>
          </a:prstGeom>
          <a:solidFill>
            <a:srgbClr val="111722"/>
          </a:solidFill>
          <a:ln w="12700">
            <a:solidFill>
              <a:srgbClr val="111722"/>
            </a:solidFill>
            <a:prstDash val="solid"/>
          </a:ln>
        </p:spPr>
        <p:txBody>
          <a:bodyPr/>
          <a:lstStyle/>
          <a:p>
            <a:endParaRPr lang="en-US"/>
          </a:p>
        </p:txBody>
      </p:sp>
      <p:sp>
        <p:nvSpPr>
          <p:cNvPr id="21" name="Text 19"/>
          <p:cNvSpPr txBox="1"/>
          <p:nvPr/>
        </p:nvSpPr>
        <p:spPr>
          <a:xfrm>
            <a:off x="1005840" y="5650992"/>
            <a:ext cx="10424160" cy="237744"/>
          </a:xfrm>
          <a:prstGeom prst="rect">
            <a:avLst/>
          </a:prstGeom>
          <a:noFill/>
          <a:ln/>
        </p:spPr>
        <p:txBody>
          <a:bodyPr wrap="square" lIns="0" tIns="0" rIns="0" bIns="0" rtlCol="0" anchor="ctr"/>
          <a:lstStyle/>
          <a:p>
            <a:pPr marL="0" indent="0">
              <a:lnSpc>
                <a:spcPts val="2000"/>
              </a:lnSpc>
              <a:buNone/>
            </a:pPr>
            <a:r>
              <a:rPr lang="en-US" sz="1500" dirty="0">
                <a:solidFill>
                  <a:srgbClr val="F2F4F8"/>
                </a:solidFill>
                <a:latin typeface="Cambria" pitchFamily="34" charset="0"/>
                <a:ea typeface="Cambria" pitchFamily="34" charset="-122"/>
                <a:cs typeface="Cambria" pitchFamily="34" charset="-120"/>
              </a:rPr>
              <a:t>The machine did not learn what digits are. It learned whatever made C go down.</a:t>
            </a:r>
            <a:endParaRPr lang="en-US" sz="1500" dirty="0"/>
          </a:p>
        </p:txBody>
      </p:sp>
      <p:sp>
        <p:nvSpPr>
          <p:cNvPr id="22" name="Text 20"/>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B6474"/>
                </a:solidFill>
                <a:latin typeface="Calibri" pitchFamily="34" charset="0"/>
                <a:ea typeface="Calibri" pitchFamily="34" charset="-122"/>
                <a:cs typeface="Calibri" pitchFamily="34" charset="-120"/>
              </a:rPr>
              <a:t>Noise and shuffled-label results: end of 3Blue1Brown ch. 2; the randomisation experiment is Zhang et al., “Understanding Deep Learning Requires Rethinking Generalization” (2017).</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741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THE CONCEPT</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11722"/>
                </a:solidFill>
                <a:latin typeface="Cambria" pitchFamily="34" charset="0"/>
                <a:ea typeface="Cambria" pitchFamily="34" charset="-122"/>
                <a:cs typeface="Cambria" pitchFamily="34" charset="-120"/>
              </a:rPr>
              <a:t>Proxy and goal</a:t>
            </a:r>
            <a:endParaRPr lang="en-US" sz="2900" dirty="0"/>
          </a:p>
        </p:txBody>
      </p:sp>
      <p:sp>
        <p:nvSpPr>
          <p:cNvPr id="5" name="Shape 3"/>
          <p:cNvSpPr/>
          <p:nvPr/>
        </p:nvSpPr>
        <p:spPr>
          <a:xfrm>
            <a:off x="640080" y="1371600"/>
            <a:ext cx="5852160" cy="2423160"/>
          </a:xfrm>
          <a:prstGeom prst="roundRect">
            <a:avLst>
              <a:gd name="adj" fmla="val 3019"/>
            </a:avLst>
          </a:prstGeom>
          <a:solidFill>
            <a:srgbClr val="111722"/>
          </a:solidFill>
          <a:ln w="12700">
            <a:solidFill>
              <a:srgbClr val="111722"/>
            </a:solidFill>
            <a:prstDash val="solid"/>
          </a:ln>
        </p:spPr>
        <p:txBody>
          <a:bodyPr/>
          <a:lstStyle/>
          <a:p>
            <a:endParaRPr lang="en-US"/>
          </a:p>
        </p:txBody>
      </p:sp>
      <p:sp>
        <p:nvSpPr>
          <p:cNvPr id="6" name="Text 4"/>
          <p:cNvSpPr txBox="1"/>
          <p:nvPr/>
        </p:nvSpPr>
        <p:spPr>
          <a:xfrm>
            <a:off x="1005840" y="1554480"/>
            <a:ext cx="5120640" cy="292608"/>
          </a:xfrm>
          <a:prstGeom prst="rect">
            <a:avLst/>
          </a:prstGeom>
          <a:noFill/>
          <a:ln/>
        </p:spPr>
        <p:txBody>
          <a:bodyPr wrap="square" lIns="0" tIns="0" rIns="0" bIns="0" rtlCol="0" anchor="ctr"/>
          <a:lstStyle/>
          <a:p>
            <a:pPr marL="0" indent="0">
              <a:buNone/>
            </a:pPr>
            <a:r>
              <a:rPr lang="en-US" sz="1150" b="1" kern="0" spc="140" dirty="0">
                <a:solidFill>
                  <a:srgbClr val="E9AC53"/>
                </a:solidFill>
                <a:latin typeface="Calibri" pitchFamily="34" charset="0"/>
                <a:ea typeface="Calibri" pitchFamily="34" charset="-122"/>
                <a:cs typeface="Calibri" pitchFamily="34" charset="-120"/>
              </a:rPr>
              <a:t>The structure of every case from here</a:t>
            </a:r>
            <a:endParaRPr lang="en-US" sz="1150" dirty="0"/>
          </a:p>
        </p:txBody>
      </p:sp>
      <p:sp>
        <p:nvSpPr>
          <p:cNvPr id="7" name="Text 5"/>
          <p:cNvSpPr txBox="1"/>
          <p:nvPr/>
        </p:nvSpPr>
        <p:spPr>
          <a:xfrm>
            <a:off x="1005840" y="1965960"/>
            <a:ext cx="5166360" cy="1691640"/>
          </a:xfrm>
          <a:prstGeom prst="rect">
            <a:avLst/>
          </a:prstGeom>
          <a:noFill/>
          <a:ln/>
        </p:spPr>
        <p:txBody>
          <a:bodyPr wrap="square" lIns="0" tIns="0" rIns="0" bIns="0" rtlCol="0" anchor="ctr"/>
          <a:lstStyle/>
          <a:p>
            <a:pPr marL="0" indent="0">
              <a:lnSpc>
                <a:spcPts val="1900"/>
              </a:lnSpc>
              <a:buNone/>
            </a:pPr>
            <a:r>
              <a:rPr lang="en-US" sz="1400" dirty="0">
                <a:solidFill>
                  <a:srgbClr val="F2F4F8"/>
                </a:solidFill>
                <a:latin typeface="Cambria" pitchFamily="34" charset="0"/>
                <a:ea typeface="Cambria" pitchFamily="34" charset="-122"/>
                <a:cs typeface="Cambria" pitchFamily="34" charset="-120"/>
              </a:rPr>
              <a:t>The goal is what you want: a system that reads handwriting the way a person does.</a:t>
            </a:r>
            <a:endParaRPr lang="en-US" sz="1400" dirty="0"/>
          </a:p>
          <a:p>
            <a:pPr marL="0" indent="0">
              <a:lnSpc>
                <a:spcPts val="1900"/>
              </a:lnSpc>
              <a:buNone/>
            </a:pPr>
            <a:endParaRPr lang="en-US" sz="1400" dirty="0"/>
          </a:p>
          <a:p>
            <a:pPr marL="0" indent="0">
              <a:lnSpc>
                <a:spcPts val="1900"/>
              </a:lnSpc>
              <a:buNone/>
            </a:pPr>
            <a:r>
              <a:rPr lang="en-US" sz="1400" dirty="0">
                <a:solidFill>
                  <a:srgbClr val="F2F4F8"/>
                </a:solidFill>
                <a:latin typeface="Cambria" pitchFamily="34" charset="0"/>
                <a:ea typeface="Cambria" pitchFamily="34" charset="-122"/>
                <a:cs typeface="Cambria" pitchFamily="34" charset="-120"/>
              </a:rPr>
              <a:t>The proxy is what you can write down: C(θ) = (1/n) ∑ᵢ Cᵢ(θ), with squared error against fifty thousand labels.</a:t>
            </a:r>
            <a:endParaRPr lang="en-US" sz="1400" dirty="0"/>
          </a:p>
          <a:p>
            <a:pPr marL="0" indent="0">
              <a:lnSpc>
                <a:spcPts val="1900"/>
              </a:lnSpc>
              <a:buNone/>
            </a:pPr>
            <a:endParaRPr lang="en-US" sz="1400" dirty="0"/>
          </a:p>
          <a:p>
            <a:pPr marL="0" indent="0">
              <a:lnSpc>
                <a:spcPts val="1900"/>
              </a:lnSpc>
              <a:buNone/>
            </a:pPr>
            <a:r>
              <a:rPr lang="en-US" sz="1400" dirty="0">
                <a:solidFill>
                  <a:srgbClr val="F2F4F8"/>
                </a:solidFill>
                <a:latin typeface="Cambria" pitchFamily="34" charset="0"/>
                <a:ea typeface="Cambria" pitchFamily="34" charset="-122"/>
                <a:cs typeface="Cambria" pitchFamily="34" charset="-120"/>
              </a:rPr>
              <a:t>The proxy is never the goal. It is the goal’s stand-in, chosen because it can be computed. Optimisation is applied to the stand-in.</a:t>
            </a:r>
            <a:endParaRPr lang="en-US" sz="1400" dirty="0"/>
          </a:p>
        </p:txBody>
      </p:sp>
      <p:sp>
        <p:nvSpPr>
          <p:cNvPr id="8" name="Shape 6"/>
          <p:cNvSpPr/>
          <p:nvPr/>
        </p:nvSpPr>
        <p:spPr>
          <a:xfrm>
            <a:off x="6812280" y="1371600"/>
            <a:ext cx="4718304" cy="1417320"/>
          </a:xfrm>
          <a:prstGeom prst="roundRect">
            <a:avLst>
              <a:gd name="adj" fmla="val 5161"/>
            </a:avLst>
          </a:prstGeom>
          <a:solidFill>
            <a:srgbClr val="E7EEF8"/>
          </a:solidFill>
          <a:ln w="12700">
            <a:solidFill>
              <a:srgbClr val="E7EEF8"/>
            </a:solidFill>
            <a:prstDash val="solid"/>
          </a:ln>
        </p:spPr>
        <p:txBody>
          <a:bodyPr/>
          <a:lstStyle/>
          <a:p>
            <a:endParaRPr lang="en-US"/>
          </a:p>
        </p:txBody>
      </p:sp>
      <p:sp>
        <p:nvSpPr>
          <p:cNvPr id="9" name="Text 7"/>
          <p:cNvSpPr txBox="1"/>
          <p:nvPr/>
        </p:nvSpPr>
        <p:spPr>
          <a:xfrm>
            <a:off x="7086600" y="1517904"/>
            <a:ext cx="4169664" cy="310896"/>
          </a:xfrm>
          <a:prstGeom prst="rect">
            <a:avLst/>
          </a:prstGeom>
          <a:noFill/>
          <a:ln/>
        </p:spPr>
        <p:txBody>
          <a:bodyPr wrap="square" lIns="0" tIns="0" rIns="0" bIns="0" rtlCol="0" anchor="ctr"/>
          <a:lstStyle/>
          <a:p>
            <a:pPr marL="0" indent="0">
              <a:buNone/>
            </a:pPr>
            <a:r>
              <a:rPr lang="en-US" sz="1500" b="1" dirty="0">
                <a:solidFill>
                  <a:srgbClr val="111722"/>
                </a:solidFill>
                <a:latin typeface="Cambria" pitchFamily="34" charset="0"/>
                <a:ea typeface="Cambria" pitchFamily="34" charset="-122"/>
                <a:cs typeface="Cambria" pitchFamily="34" charset="-120"/>
              </a:rPr>
              <a:t>They agree near the middle</a:t>
            </a:r>
            <a:endParaRPr lang="en-US" sz="1500" dirty="0"/>
          </a:p>
        </p:txBody>
      </p:sp>
      <p:sp>
        <p:nvSpPr>
          <p:cNvPr id="10" name="Text 8"/>
          <p:cNvSpPr txBox="1"/>
          <p:nvPr/>
        </p:nvSpPr>
        <p:spPr>
          <a:xfrm>
            <a:off x="7086600" y="1883664"/>
            <a:ext cx="4169664" cy="822960"/>
          </a:xfrm>
          <a:prstGeom prst="rect">
            <a:avLst/>
          </a:prstGeom>
          <a:noFill/>
          <a:ln/>
        </p:spPr>
        <p:txBody>
          <a:bodyPr wrap="square" lIns="0" tIns="0" rIns="0" bIns="0" rtlCol="0" anchor="ctr"/>
          <a:lstStyle/>
          <a:p>
            <a:pPr marL="0" indent="0">
              <a:lnSpc>
                <a:spcPts val="1500"/>
              </a:lnSpc>
              <a:buNone/>
            </a:pPr>
            <a:r>
              <a:rPr lang="en-US" sz="1150" dirty="0">
                <a:solidFill>
                  <a:srgbClr val="5B6474"/>
                </a:solidFill>
                <a:latin typeface="Calibri" pitchFamily="34" charset="0"/>
                <a:ea typeface="Calibri" pitchFamily="34" charset="-122"/>
                <a:cs typeface="Calibri" pitchFamily="34" charset="-120"/>
              </a:rPr>
              <a:t>For ordinary inputs, doing well on C and doing well at the goal look identical. That is why proxies work at all, and why nobody notices the difference in normal conditions.</a:t>
            </a:r>
            <a:endParaRPr lang="en-US" sz="1150" dirty="0"/>
          </a:p>
        </p:txBody>
      </p:sp>
      <p:sp>
        <p:nvSpPr>
          <p:cNvPr id="11" name="Shape 9"/>
          <p:cNvSpPr/>
          <p:nvPr/>
        </p:nvSpPr>
        <p:spPr>
          <a:xfrm>
            <a:off x="6812280" y="2889504"/>
            <a:ext cx="4718304" cy="1417320"/>
          </a:xfrm>
          <a:prstGeom prst="roundRect">
            <a:avLst>
              <a:gd name="adj" fmla="val 5161"/>
            </a:avLst>
          </a:prstGeom>
          <a:solidFill>
            <a:srgbClr val="E7EEF8"/>
          </a:solidFill>
          <a:ln w="12700">
            <a:solidFill>
              <a:srgbClr val="E7EEF8"/>
            </a:solidFill>
            <a:prstDash val="solid"/>
          </a:ln>
        </p:spPr>
        <p:txBody>
          <a:bodyPr/>
          <a:lstStyle/>
          <a:p>
            <a:endParaRPr lang="en-US"/>
          </a:p>
        </p:txBody>
      </p:sp>
      <p:sp>
        <p:nvSpPr>
          <p:cNvPr id="12" name="Text 10"/>
          <p:cNvSpPr txBox="1"/>
          <p:nvPr/>
        </p:nvSpPr>
        <p:spPr>
          <a:xfrm>
            <a:off x="7086600" y="3035808"/>
            <a:ext cx="4169664" cy="310896"/>
          </a:xfrm>
          <a:prstGeom prst="rect">
            <a:avLst/>
          </a:prstGeom>
          <a:noFill/>
          <a:ln/>
        </p:spPr>
        <p:txBody>
          <a:bodyPr wrap="square" lIns="0" tIns="0" rIns="0" bIns="0" rtlCol="0" anchor="ctr"/>
          <a:lstStyle/>
          <a:p>
            <a:pPr marL="0" indent="0">
              <a:buNone/>
            </a:pPr>
            <a:r>
              <a:rPr lang="en-US" sz="1500" b="1" dirty="0">
                <a:solidFill>
                  <a:srgbClr val="111722"/>
                </a:solidFill>
                <a:latin typeface="Cambria" pitchFamily="34" charset="0"/>
                <a:ea typeface="Cambria" pitchFamily="34" charset="-122"/>
                <a:cs typeface="Cambria" pitchFamily="34" charset="-120"/>
              </a:rPr>
              <a:t>They come apart at the edges</a:t>
            </a:r>
            <a:endParaRPr lang="en-US" sz="1500" dirty="0"/>
          </a:p>
        </p:txBody>
      </p:sp>
      <p:sp>
        <p:nvSpPr>
          <p:cNvPr id="13" name="Text 11"/>
          <p:cNvSpPr txBox="1"/>
          <p:nvPr/>
        </p:nvSpPr>
        <p:spPr>
          <a:xfrm>
            <a:off x="7086600" y="3401568"/>
            <a:ext cx="4169664" cy="822960"/>
          </a:xfrm>
          <a:prstGeom prst="rect">
            <a:avLst/>
          </a:prstGeom>
          <a:noFill/>
          <a:ln/>
        </p:spPr>
        <p:txBody>
          <a:bodyPr wrap="square" lIns="0" tIns="0" rIns="0" bIns="0" rtlCol="0" anchor="ctr"/>
          <a:lstStyle/>
          <a:p>
            <a:pPr marL="0" indent="0">
              <a:lnSpc>
                <a:spcPts val="1500"/>
              </a:lnSpc>
              <a:buNone/>
            </a:pPr>
            <a:r>
              <a:rPr lang="en-US" sz="1150" dirty="0">
                <a:solidFill>
                  <a:srgbClr val="5B6474"/>
                </a:solidFill>
                <a:latin typeface="Calibri" pitchFamily="34" charset="0"/>
                <a:ea typeface="Calibri" pitchFamily="34" charset="-122"/>
                <a:cs typeface="Calibri" pitchFamily="34" charset="-120"/>
              </a:rPr>
              <a:t>Random noise is an edge. So is any input unlike the training set. At the edges C keeps giving answers and the goal has quietly stopped being tracked.</a:t>
            </a:r>
            <a:endParaRPr lang="en-US" sz="1150" dirty="0"/>
          </a:p>
        </p:txBody>
      </p:sp>
      <p:sp>
        <p:nvSpPr>
          <p:cNvPr id="14" name="Shape 12"/>
          <p:cNvSpPr/>
          <p:nvPr/>
        </p:nvSpPr>
        <p:spPr>
          <a:xfrm>
            <a:off x="6812280" y="4407408"/>
            <a:ext cx="4718304" cy="1417320"/>
          </a:xfrm>
          <a:prstGeom prst="roundRect">
            <a:avLst>
              <a:gd name="adj" fmla="val 5161"/>
            </a:avLst>
          </a:prstGeom>
          <a:solidFill>
            <a:srgbClr val="FAF0DE"/>
          </a:solidFill>
          <a:ln w="12700">
            <a:solidFill>
              <a:srgbClr val="FAF0DE"/>
            </a:solidFill>
            <a:prstDash val="solid"/>
          </a:ln>
        </p:spPr>
        <p:txBody>
          <a:bodyPr/>
          <a:lstStyle/>
          <a:p>
            <a:endParaRPr lang="en-US"/>
          </a:p>
        </p:txBody>
      </p:sp>
      <p:sp>
        <p:nvSpPr>
          <p:cNvPr id="15" name="Text 13"/>
          <p:cNvSpPr txBox="1"/>
          <p:nvPr/>
        </p:nvSpPr>
        <p:spPr>
          <a:xfrm>
            <a:off x="7086600" y="4553712"/>
            <a:ext cx="4169664" cy="310896"/>
          </a:xfrm>
          <a:prstGeom prst="rect">
            <a:avLst/>
          </a:prstGeom>
          <a:noFill/>
          <a:ln/>
        </p:spPr>
        <p:txBody>
          <a:bodyPr wrap="square" lIns="0" tIns="0" rIns="0" bIns="0" rtlCol="0" anchor="ctr"/>
          <a:lstStyle/>
          <a:p>
            <a:pPr marL="0" indent="0">
              <a:buNone/>
            </a:pPr>
            <a:r>
              <a:rPr lang="en-US" sz="1500" b="1" dirty="0">
                <a:solidFill>
                  <a:srgbClr val="C07414"/>
                </a:solidFill>
                <a:latin typeface="Cambria" pitchFamily="34" charset="0"/>
                <a:ea typeface="Cambria" pitchFamily="34" charset="-122"/>
                <a:cs typeface="Cambria" pitchFamily="34" charset="-120"/>
              </a:rPr>
              <a:t>Pressure widens the gap</a:t>
            </a:r>
            <a:endParaRPr lang="en-US" sz="1500" dirty="0"/>
          </a:p>
        </p:txBody>
      </p:sp>
      <p:sp>
        <p:nvSpPr>
          <p:cNvPr id="16" name="Text 14"/>
          <p:cNvSpPr txBox="1"/>
          <p:nvPr/>
        </p:nvSpPr>
        <p:spPr>
          <a:xfrm>
            <a:off x="7086600" y="4919472"/>
            <a:ext cx="4169664" cy="822960"/>
          </a:xfrm>
          <a:prstGeom prst="rect">
            <a:avLst/>
          </a:prstGeom>
          <a:noFill/>
          <a:ln/>
        </p:spPr>
        <p:txBody>
          <a:bodyPr wrap="square" lIns="0" tIns="0" rIns="0" bIns="0" rtlCol="0" anchor="ctr"/>
          <a:lstStyle/>
          <a:p>
            <a:pPr marL="0" indent="0">
              <a:lnSpc>
                <a:spcPts val="1500"/>
              </a:lnSpc>
              <a:buNone/>
            </a:pPr>
            <a:r>
              <a:rPr lang="en-US" sz="1150" dirty="0">
                <a:solidFill>
                  <a:srgbClr val="5B6474"/>
                </a:solidFill>
                <a:latin typeface="Calibri" pitchFamily="34" charset="0"/>
                <a:ea typeface="Calibri" pitchFamily="34" charset="-122"/>
                <a:cs typeface="Calibri" pitchFamily="34" charset="-120"/>
              </a:rPr>
              <a:t>The harder you optimise — the more steps, the larger the model — the further the system travels toward whatever maximises C specifically, including regions where C and the goal have nothing to do with each other.</a:t>
            </a:r>
            <a:endParaRPr lang="en-US" sz="1150" dirty="0"/>
          </a:p>
        </p:txBody>
      </p:sp>
      <p:sp>
        <p:nvSpPr>
          <p:cNvPr id="17" name="Shape 15"/>
          <p:cNvSpPr/>
          <p:nvPr/>
        </p:nvSpPr>
        <p:spPr>
          <a:xfrm>
            <a:off x="640080" y="4041648"/>
            <a:ext cx="5852160" cy="1691640"/>
          </a:xfrm>
          <a:prstGeom prst="roundRect">
            <a:avLst>
              <a:gd name="adj" fmla="val 4324"/>
            </a:avLst>
          </a:prstGeom>
          <a:solidFill>
            <a:srgbClr val="FAF0DE"/>
          </a:solidFill>
          <a:ln w="12700">
            <a:solidFill>
              <a:srgbClr val="FAF0DE"/>
            </a:solidFill>
            <a:prstDash val="solid"/>
          </a:ln>
        </p:spPr>
        <p:txBody>
          <a:bodyPr/>
          <a:lstStyle/>
          <a:p>
            <a:endParaRPr lang="en-US"/>
          </a:p>
        </p:txBody>
      </p:sp>
      <p:sp>
        <p:nvSpPr>
          <p:cNvPr id="18" name="Text 16"/>
          <p:cNvSpPr txBox="1"/>
          <p:nvPr/>
        </p:nvSpPr>
        <p:spPr>
          <a:xfrm>
            <a:off x="1005840" y="4224528"/>
            <a:ext cx="5120640" cy="329184"/>
          </a:xfrm>
          <a:prstGeom prst="rect">
            <a:avLst/>
          </a:prstGeom>
          <a:noFill/>
          <a:ln/>
        </p:spPr>
        <p:txBody>
          <a:bodyPr wrap="square" lIns="0" tIns="0" rIns="0" bIns="0" rtlCol="0" anchor="ctr"/>
          <a:lstStyle/>
          <a:p>
            <a:pPr marL="0" indent="0">
              <a:buNone/>
            </a:pPr>
            <a:r>
              <a:rPr lang="en-US" sz="1700" b="1" dirty="0">
                <a:solidFill>
                  <a:srgbClr val="111722"/>
                </a:solidFill>
                <a:latin typeface="Cambria" pitchFamily="34" charset="0"/>
                <a:ea typeface="Cambria" pitchFamily="34" charset="-122"/>
                <a:cs typeface="Cambria" pitchFamily="34" charset="-120"/>
              </a:rPr>
              <a:t>Goodhart’s law</a:t>
            </a:r>
            <a:endParaRPr lang="en-US" sz="1700" dirty="0"/>
          </a:p>
        </p:txBody>
      </p:sp>
      <p:sp>
        <p:nvSpPr>
          <p:cNvPr id="19" name="Text 17"/>
          <p:cNvSpPr txBox="1"/>
          <p:nvPr/>
        </p:nvSpPr>
        <p:spPr>
          <a:xfrm>
            <a:off x="1005840" y="4626864"/>
            <a:ext cx="5120640" cy="1005840"/>
          </a:xfrm>
          <a:prstGeom prst="rect">
            <a:avLst/>
          </a:prstGeom>
          <a:noFill/>
          <a:ln/>
        </p:spPr>
        <p:txBody>
          <a:bodyPr wrap="square" lIns="0" tIns="0" rIns="0" bIns="0" rtlCol="0" anchor="ctr"/>
          <a:lstStyle/>
          <a:p>
            <a:pPr marL="0" indent="0">
              <a:lnSpc>
                <a:spcPts val="1700"/>
              </a:lnSpc>
              <a:buNone/>
            </a:pPr>
            <a:r>
              <a:rPr lang="en-US" sz="1250" dirty="0">
                <a:solidFill>
                  <a:srgbClr val="5B6474"/>
                </a:solidFill>
                <a:latin typeface="Calibri" pitchFamily="34" charset="0"/>
                <a:ea typeface="Calibri" pitchFamily="34" charset="-122"/>
                <a:cs typeface="Calibri" pitchFamily="34" charset="-120"/>
              </a:rPr>
              <a:t>Usually quoted as: when a measure becomes a target, it ceases to be a good measure. Goodhart’s own 1975 version was about economic statistics collapsing once policy was aimed at them — the same observation, forty years early, in a completely different field.</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7">
    <p:bg>
      <p:bgPr>
        <a:solidFill>
          <a:srgbClr val="111722"/>
        </a:solidFill>
        <a:effectLst/>
      </p:bgPr>
    </p:bg>
    <p:spTree>
      <p:nvGrpSpPr>
        <p:cNvPr id="1" name=""/>
        <p:cNvGrpSpPr/>
        <p:nvPr/>
      </p:nvGrpSpPr>
      <p:grpSpPr>
        <a:xfrm>
          <a:off x="0" y="0"/>
          <a:ext cx="0" cy="0"/>
          <a:chOff x="0" y="0"/>
          <a:chExt cx="0" cy="0"/>
        </a:xfrm>
      </p:grpSpPr>
      <p:sp>
        <p:nvSpPr>
          <p:cNvPr id="2" name="Shape 0"/>
          <p:cNvSpPr/>
          <p:nvPr/>
        </p:nvSpPr>
        <p:spPr>
          <a:xfrm>
            <a:off x="8778240" y="1417320"/>
            <a:ext cx="2651760" cy="2651760"/>
          </a:xfrm>
          <a:prstGeom prst="ellipse">
            <a:avLst/>
          </a:prstGeom>
          <a:solidFill>
            <a:srgbClr val="2C5FA8">
              <a:alpha val="70000"/>
            </a:srgbClr>
          </a:solidFill>
          <a:ln/>
        </p:spPr>
        <p:txBody>
          <a:bodyPr/>
          <a:lstStyle/>
          <a:p>
            <a:endParaRPr lang="en-US"/>
          </a:p>
        </p:txBody>
      </p:sp>
      <p:sp>
        <p:nvSpPr>
          <p:cNvPr id="3" name="Shape 1"/>
          <p:cNvSpPr/>
          <p:nvPr/>
        </p:nvSpPr>
        <p:spPr>
          <a:xfrm>
            <a:off x="9646920" y="2286000"/>
            <a:ext cx="1188720" cy="1188720"/>
          </a:xfrm>
          <a:prstGeom prst="ellipse">
            <a:avLst/>
          </a:prstGeom>
          <a:solidFill>
            <a:srgbClr val="C07414">
              <a:alpha val="75000"/>
            </a:srgbClr>
          </a:solidFill>
          <a:ln/>
        </p:spPr>
        <p:txBody>
          <a:bodyPr/>
          <a:lstStyle/>
          <a:p>
            <a:endParaRPr lang="en-US"/>
          </a:p>
        </p:txBody>
      </p:sp>
      <p:sp>
        <p:nvSpPr>
          <p:cNvPr id="4" name="Text 2"/>
          <p:cNvSpPr txBox="1"/>
          <p:nvPr/>
        </p:nvSpPr>
        <p:spPr>
          <a:xfrm>
            <a:off x="640080" y="1920240"/>
            <a:ext cx="7315200" cy="320040"/>
          </a:xfrm>
          <a:prstGeom prst="rect">
            <a:avLst/>
          </a:prstGeom>
          <a:noFill/>
          <a:ln/>
        </p:spPr>
        <p:txBody>
          <a:bodyPr wrap="square" lIns="0" tIns="0" rIns="0" bIns="0" rtlCol="0" anchor="ctr"/>
          <a:lstStyle/>
          <a:p>
            <a:pPr marL="0" indent="0">
              <a:buNone/>
            </a:pPr>
            <a:r>
              <a:rPr lang="en-US" sz="1300" b="1" kern="0" spc="220" dirty="0">
                <a:solidFill>
                  <a:srgbClr val="E9AC53"/>
                </a:solidFill>
                <a:latin typeface="Calibri" pitchFamily="34" charset="0"/>
                <a:ea typeface="Calibri" pitchFamily="34" charset="-122"/>
                <a:cs typeface="Calibri" pitchFamily="34" charset="-120"/>
              </a:rPr>
              <a:t>PART FOUR</a:t>
            </a:r>
            <a:endParaRPr lang="en-US" sz="1300" dirty="0"/>
          </a:p>
        </p:txBody>
      </p:sp>
      <p:sp>
        <p:nvSpPr>
          <p:cNvPr id="5" name="Text 3"/>
          <p:cNvSpPr txBox="1"/>
          <p:nvPr/>
        </p:nvSpPr>
        <p:spPr>
          <a:xfrm>
            <a:off x="640080" y="2331720"/>
            <a:ext cx="7680960" cy="914400"/>
          </a:xfrm>
          <a:prstGeom prst="rect">
            <a:avLst/>
          </a:prstGeom>
          <a:noFill/>
          <a:ln/>
        </p:spPr>
        <p:txBody>
          <a:bodyPr wrap="square" lIns="0" tIns="0" rIns="0" bIns="0" rtlCol="0" anchor="ctr"/>
          <a:lstStyle/>
          <a:p>
            <a:pPr marL="0" indent="0">
              <a:buNone/>
            </a:pPr>
            <a:r>
              <a:rPr lang="en-US" sz="3600" b="1" dirty="0">
                <a:solidFill>
                  <a:srgbClr val="F2F4F8"/>
                </a:solidFill>
                <a:latin typeface="Cambria" pitchFamily="34" charset="0"/>
                <a:ea typeface="Cambria" pitchFamily="34" charset="-122"/>
                <a:cs typeface="Cambria" pitchFamily="34" charset="-120"/>
              </a:rPr>
              <a:t>Specification gaming</a:t>
            </a:r>
            <a:endParaRPr lang="en-US" sz="3600" dirty="0"/>
          </a:p>
        </p:txBody>
      </p:sp>
      <p:sp>
        <p:nvSpPr>
          <p:cNvPr id="6" name="Text 4"/>
          <p:cNvSpPr txBox="1"/>
          <p:nvPr/>
        </p:nvSpPr>
        <p:spPr>
          <a:xfrm>
            <a:off x="640080" y="3310128"/>
            <a:ext cx="768096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The gallery, and Amodei’s taxonomy</a:t>
            </a:r>
            <a:endParaRPr lang="en-US" sz="1500" dirty="0"/>
          </a:p>
        </p:txBody>
      </p:sp>
      <p:sp>
        <p:nvSpPr>
          <p:cNvPr id="7" name="Shape 5"/>
          <p:cNvSpPr/>
          <p:nvPr/>
        </p:nvSpPr>
        <p:spPr>
          <a:xfrm>
            <a:off x="640080" y="3913632"/>
            <a:ext cx="2377440" cy="18288"/>
          </a:xfrm>
          <a:prstGeom prst="rect">
            <a:avLst/>
          </a:prstGeom>
          <a:solidFill>
            <a:srgbClr val="C07414"/>
          </a:solidFill>
          <a:ln/>
        </p:spPr>
        <p:txBody>
          <a:bodyPr/>
          <a:lstStyle/>
          <a:p>
            <a:endParaRPr lang="en-US"/>
          </a:p>
        </p:txBody>
      </p:sp>
      <p:sp>
        <p:nvSpPr>
          <p:cNvPr id="8" name="Text 6"/>
          <p:cNvSpPr txBox="1"/>
          <p:nvPr/>
        </p:nvSpPr>
        <p:spPr>
          <a:xfrm>
            <a:off x="640080" y="4133088"/>
            <a:ext cx="7680960" cy="777240"/>
          </a:xfrm>
          <a:prstGeom prst="rect">
            <a:avLst/>
          </a:prstGeom>
          <a:noFill/>
          <a:ln/>
        </p:spPr>
        <p:txBody>
          <a:bodyPr wrap="square" lIns="0" tIns="0" rIns="0" bIns="0" rtlCol="0" anchor="ctr"/>
          <a:lstStyle/>
          <a:p>
            <a:pPr marL="0" indent="0">
              <a:lnSpc>
                <a:spcPts val="2500"/>
              </a:lnSpc>
              <a:buNone/>
            </a:pPr>
            <a:r>
              <a:rPr lang="en-US" sz="1850" i="1" dirty="0">
                <a:solidFill>
                  <a:srgbClr val="8FB4DE"/>
                </a:solidFill>
                <a:latin typeface="Cambria" pitchFamily="34" charset="0"/>
                <a:ea typeface="Cambria" pitchFamily="34" charset="-122"/>
                <a:cs typeface="Cambria" pitchFamily="34" charset="-120"/>
              </a:rPr>
              <a:t>Systems that maximised C perfectly, and produced monstrosities.</a:t>
            </a:r>
            <a:endParaRPr lang="en-US" sz="1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741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THE CASE</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11722"/>
                </a:solidFill>
                <a:latin typeface="Cambria" pitchFamily="34" charset="0"/>
                <a:ea typeface="Cambria" pitchFamily="34" charset="-122"/>
                <a:cs typeface="Cambria" pitchFamily="34" charset="-120"/>
              </a:rPr>
              <a:t>The boat that never finishes the race</a:t>
            </a:r>
            <a:endParaRPr lang="en-US" sz="2900" dirty="0"/>
          </a:p>
        </p:txBody>
      </p:sp>
      <p:sp>
        <p:nvSpPr>
          <p:cNvPr id="5" name="Shape 3"/>
          <p:cNvSpPr/>
          <p:nvPr/>
        </p:nvSpPr>
        <p:spPr>
          <a:xfrm>
            <a:off x="640080" y="1371600"/>
            <a:ext cx="5943600" cy="3246120"/>
          </a:xfrm>
          <a:prstGeom prst="roundRect">
            <a:avLst>
              <a:gd name="adj" fmla="val 2254"/>
            </a:avLst>
          </a:prstGeom>
          <a:solidFill>
            <a:srgbClr val="111722"/>
          </a:solidFill>
          <a:ln w="12700">
            <a:solidFill>
              <a:srgbClr val="111722"/>
            </a:solidFill>
            <a:prstDash val="solid"/>
          </a:ln>
        </p:spPr>
        <p:txBody>
          <a:bodyPr/>
          <a:lstStyle/>
          <a:p>
            <a:endParaRPr lang="en-US"/>
          </a:p>
        </p:txBody>
      </p:sp>
      <p:sp>
        <p:nvSpPr>
          <p:cNvPr id="6" name="Text 4"/>
          <p:cNvSpPr txBox="1"/>
          <p:nvPr/>
        </p:nvSpPr>
        <p:spPr>
          <a:xfrm>
            <a:off x="1005840" y="1572768"/>
            <a:ext cx="5212080" cy="384048"/>
          </a:xfrm>
          <a:prstGeom prst="rect">
            <a:avLst/>
          </a:prstGeom>
          <a:noFill/>
          <a:ln/>
        </p:spPr>
        <p:txBody>
          <a:bodyPr wrap="square" lIns="0" tIns="0" rIns="0" bIns="0" rtlCol="0" anchor="ctr"/>
          <a:lstStyle/>
          <a:p>
            <a:pPr marL="0" indent="0">
              <a:buNone/>
            </a:pPr>
            <a:r>
              <a:rPr lang="en-US" sz="2000" b="1" dirty="0">
                <a:solidFill>
                  <a:srgbClr val="E9AC53"/>
                </a:solidFill>
                <a:latin typeface="Cambria" pitchFamily="34" charset="0"/>
                <a:ea typeface="Cambria" pitchFamily="34" charset="-122"/>
                <a:cs typeface="Cambria" pitchFamily="34" charset="-120"/>
              </a:rPr>
              <a:t>CoastRunners, 2016</a:t>
            </a:r>
            <a:endParaRPr lang="en-US" sz="2000" dirty="0"/>
          </a:p>
        </p:txBody>
      </p:sp>
      <p:sp>
        <p:nvSpPr>
          <p:cNvPr id="7" name="Text 5"/>
          <p:cNvSpPr txBox="1"/>
          <p:nvPr/>
        </p:nvSpPr>
        <p:spPr>
          <a:xfrm>
            <a:off x="1005840" y="2066544"/>
            <a:ext cx="5257800" cy="237744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250" dirty="0">
                <a:solidFill>
                  <a:srgbClr val="F2F4F8"/>
                </a:solidFill>
                <a:latin typeface="Calibri" pitchFamily="34" charset="0"/>
                <a:ea typeface="Calibri" pitchFamily="34" charset="-122"/>
                <a:cs typeface="Calibri" pitchFamily="34" charset="-120"/>
              </a:rPr>
              <a:t>A boat-racing game. The designers wanted an agent that raced well, so they used the game’s own score as the objective.</a:t>
            </a:r>
            <a:endParaRPr lang="en-US" sz="1250" dirty="0"/>
          </a:p>
          <a:p>
            <a:pPr marL="342900" indent="-342900">
              <a:lnSpc>
                <a:spcPts val="1700"/>
              </a:lnSpc>
              <a:spcAft>
                <a:spcPts val="700"/>
              </a:spcAft>
              <a:buSzPct val="100000"/>
              <a:buChar char="•"/>
            </a:pPr>
            <a:r>
              <a:rPr lang="en-US" sz="1250" dirty="0">
                <a:solidFill>
                  <a:srgbClr val="F2F4F8"/>
                </a:solidFill>
                <a:latin typeface="Calibri" pitchFamily="34" charset="0"/>
                <a:ea typeface="Calibri" pitchFamily="34" charset="-122"/>
                <a:cs typeface="Calibri" pitchFamily="34" charset="-120"/>
              </a:rPr>
              <a:t>The score is not for finishing. It is mostly for hitting targets laid along the route.</a:t>
            </a:r>
            <a:endParaRPr lang="en-US" sz="1250" dirty="0"/>
          </a:p>
          <a:p>
            <a:pPr marL="342900" indent="-342900">
              <a:lnSpc>
                <a:spcPts val="1700"/>
              </a:lnSpc>
              <a:spcAft>
                <a:spcPts val="700"/>
              </a:spcAft>
              <a:buSzPct val="100000"/>
              <a:buChar char="•"/>
            </a:pPr>
            <a:r>
              <a:rPr lang="en-US" sz="1250" dirty="0">
                <a:solidFill>
                  <a:srgbClr val="F2F4F8"/>
                </a:solidFill>
                <a:latin typeface="Calibri" pitchFamily="34" charset="0"/>
                <a:ea typeface="Calibri" pitchFamily="34" charset="-122"/>
                <a:cs typeface="Calibri" pitchFamily="34" charset="-120"/>
              </a:rPr>
              <a:t>The agent found a lagoon where three targets respawn on a short cycle, and drove in a tight circle forever, striking them again and again.</a:t>
            </a:r>
            <a:endParaRPr lang="en-US" sz="1250" dirty="0"/>
          </a:p>
          <a:p>
            <a:pPr marL="342900" indent="-342900">
              <a:lnSpc>
                <a:spcPts val="1700"/>
              </a:lnSpc>
              <a:spcAft>
                <a:spcPts val="700"/>
              </a:spcAft>
              <a:buSzPct val="100000"/>
              <a:buChar char="•"/>
            </a:pPr>
            <a:r>
              <a:rPr lang="en-US" sz="1250" dirty="0">
                <a:solidFill>
                  <a:srgbClr val="F2F4F8"/>
                </a:solidFill>
                <a:latin typeface="Calibri" pitchFamily="34" charset="0"/>
                <a:ea typeface="Calibri" pitchFamily="34" charset="-122"/>
                <a:cs typeface="Calibri" pitchFamily="34" charset="-120"/>
              </a:rPr>
              <a:t>It repeatedly caught fire, rammed other boats and drove the wrong way — and scored about twenty per cent higher than human players.</a:t>
            </a:r>
            <a:endParaRPr lang="en-US" sz="1250" dirty="0"/>
          </a:p>
          <a:p>
            <a:pPr marL="342900" indent="-342900">
              <a:lnSpc>
                <a:spcPts val="1700"/>
              </a:lnSpc>
              <a:spcAft>
                <a:spcPts val="700"/>
              </a:spcAft>
              <a:buSzPct val="100000"/>
              <a:buChar char="•"/>
            </a:pPr>
            <a:r>
              <a:rPr lang="en-US" sz="1250" dirty="0">
                <a:solidFill>
                  <a:srgbClr val="F2F4F8"/>
                </a:solidFill>
                <a:latin typeface="Calibri" pitchFamily="34" charset="0"/>
                <a:ea typeface="Calibri" pitchFamily="34" charset="-122"/>
                <a:cs typeface="Calibri" pitchFamily="34" charset="-120"/>
              </a:rPr>
              <a:t>It never completed the course. Not once.</a:t>
            </a:r>
            <a:endParaRPr lang="en-US" sz="1250" dirty="0"/>
          </a:p>
        </p:txBody>
      </p:sp>
      <p:sp>
        <p:nvSpPr>
          <p:cNvPr id="8" name="Shape 6"/>
          <p:cNvSpPr/>
          <p:nvPr/>
        </p:nvSpPr>
        <p:spPr>
          <a:xfrm>
            <a:off x="6903720" y="1371600"/>
            <a:ext cx="4626864" cy="1536192"/>
          </a:xfrm>
          <a:prstGeom prst="roundRect">
            <a:avLst>
              <a:gd name="adj" fmla="val 4762"/>
            </a:avLst>
          </a:prstGeom>
          <a:solidFill>
            <a:srgbClr val="E7EEF8"/>
          </a:solidFill>
          <a:ln w="12700">
            <a:solidFill>
              <a:srgbClr val="E7EEF8"/>
            </a:solidFill>
            <a:prstDash val="solid"/>
          </a:ln>
        </p:spPr>
        <p:txBody>
          <a:bodyPr/>
          <a:lstStyle/>
          <a:p>
            <a:endParaRPr lang="en-US"/>
          </a:p>
        </p:txBody>
      </p:sp>
      <p:sp>
        <p:nvSpPr>
          <p:cNvPr id="9" name="Text 7"/>
          <p:cNvSpPr txBox="1"/>
          <p:nvPr/>
        </p:nvSpPr>
        <p:spPr>
          <a:xfrm>
            <a:off x="7178040" y="1536192"/>
            <a:ext cx="4078224" cy="310896"/>
          </a:xfrm>
          <a:prstGeom prst="rect">
            <a:avLst/>
          </a:prstGeom>
          <a:noFill/>
          <a:ln/>
        </p:spPr>
        <p:txBody>
          <a:bodyPr wrap="square" lIns="0" tIns="0" rIns="0" bIns="0" rtlCol="0" anchor="ctr"/>
          <a:lstStyle/>
          <a:p>
            <a:pPr marL="0" indent="0">
              <a:buNone/>
            </a:pPr>
            <a:r>
              <a:rPr lang="en-US" sz="1500" b="1" dirty="0">
                <a:solidFill>
                  <a:srgbClr val="111722"/>
                </a:solidFill>
                <a:latin typeface="Cambria" pitchFamily="34" charset="0"/>
                <a:ea typeface="Cambria" pitchFamily="34" charset="-122"/>
                <a:cs typeface="Cambria" pitchFamily="34" charset="-120"/>
              </a:rPr>
              <a:t>Nothing went wrong</a:t>
            </a:r>
            <a:endParaRPr lang="en-US" sz="1500" dirty="0"/>
          </a:p>
        </p:txBody>
      </p:sp>
      <p:sp>
        <p:nvSpPr>
          <p:cNvPr id="10" name="Text 8"/>
          <p:cNvSpPr txBox="1"/>
          <p:nvPr/>
        </p:nvSpPr>
        <p:spPr>
          <a:xfrm>
            <a:off x="7178040" y="1901952"/>
            <a:ext cx="4078224" cy="914400"/>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No bug, no malfunction. ∇C was computed correctly and every step was taken correctly. The agent maximised the number it was given, better than any human had. A success story with the wrong number in it.</a:t>
            </a:r>
            <a:endParaRPr lang="en-US" sz="1200" dirty="0"/>
          </a:p>
        </p:txBody>
      </p:sp>
      <p:sp>
        <p:nvSpPr>
          <p:cNvPr id="11" name="Shape 9"/>
          <p:cNvSpPr/>
          <p:nvPr/>
        </p:nvSpPr>
        <p:spPr>
          <a:xfrm>
            <a:off x="6903720" y="2999232"/>
            <a:ext cx="4626864" cy="1536192"/>
          </a:xfrm>
          <a:prstGeom prst="roundRect">
            <a:avLst>
              <a:gd name="adj" fmla="val 4762"/>
            </a:avLst>
          </a:prstGeom>
          <a:solidFill>
            <a:srgbClr val="E7EEF8"/>
          </a:solidFill>
          <a:ln w="12700">
            <a:solidFill>
              <a:srgbClr val="E7EEF8"/>
            </a:solidFill>
            <a:prstDash val="solid"/>
          </a:ln>
        </p:spPr>
        <p:txBody>
          <a:bodyPr/>
          <a:lstStyle/>
          <a:p>
            <a:endParaRPr lang="en-US"/>
          </a:p>
        </p:txBody>
      </p:sp>
      <p:sp>
        <p:nvSpPr>
          <p:cNvPr id="12" name="Text 10"/>
          <p:cNvSpPr txBox="1"/>
          <p:nvPr/>
        </p:nvSpPr>
        <p:spPr>
          <a:xfrm>
            <a:off x="7178040" y="3163824"/>
            <a:ext cx="4078224" cy="310896"/>
          </a:xfrm>
          <a:prstGeom prst="rect">
            <a:avLst/>
          </a:prstGeom>
          <a:noFill/>
          <a:ln/>
        </p:spPr>
        <p:txBody>
          <a:bodyPr wrap="square" lIns="0" tIns="0" rIns="0" bIns="0" rtlCol="0" anchor="ctr"/>
          <a:lstStyle/>
          <a:p>
            <a:pPr marL="0" indent="0">
              <a:buNone/>
            </a:pPr>
            <a:r>
              <a:rPr lang="en-US" sz="1500" b="1" dirty="0">
                <a:solidFill>
                  <a:srgbClr val="111722"/>
                </a:solidFill>
                <a:latin typeface="Cambria" pitchFamily="34" charset="0"/>
                <a:ea typeface="Cambria" pitchFamily="34" charset="-122"/>
                <a:cs typeface="Cambria" pitchFamily="34" charset="-120"/>
              </a:rPr>
              <a:t>The gap was invisible in advance</a:t>
            </a:r>
            <a:endParaRPr lang="en-US" sz="1500" dirty="0"/>
          </a:p>
        </p:txBody>
      </p:sp>
      <p:sp>
        <p:nvSpPr>
          <p:cNvPr id="13" name="Text 11"/>
          <p:cNvSpPr txBox="1"/>
          <p:nvPr/>
        </p:nvSpPr>
        <p:spPr>
          <a:xfrm>
            <a:off x="7178040" y="3529584"/>
            <a:ext cx="4078224" cy="914400"/>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To the designers, “game score” and “races well” were obviously the same thing. They are the same thing for humans, who want to finish. They came apart the moment something optimised hard enough.</a:t>
            </a:r>
            <a:endParaRPr lang="en-US" sz="1200" dirty="0"/>
          </a:p>
        </p:txBody>
      </p:sp>
      <p:sp>
        <p:nvSpPr>
          <p:cNvPr id="14" name="Shape 12"/>
          <p:cNvSpPr/>
          <p:nvPr/>
        </p:nvSpPr>
        <p:spPr>
          <a:xfrm>
            <a:off x="6903720" y="4626864"/>
            <a:ext cx="4626864" cy="1536192"/>
          </a:xfrm>
          <a:prstGeom prst="roundRect">
            <a:avLst>
              <a:gd name="adj" fmla="val 4762"/>
            </a:avLst>
          </a:prstGeom>
          <a:solidFill>
            <a:srgbClr val="FAF0DE"/>
          </a:solidFill>
          <a:ln w="12700">
            <a:solidFill>
              <a:srgbClr val="FAF0DE"/>
            </a:solidFill>
            <a:prstDash val="solid"/>
          </a:ln>
        </p:spPr>
        <p:txBody>
          <a:bodyPr/>
          <a:lstStyle/>
          <a:p>
            <a:endParaRPr lang="en-US"/>
          </a:p>
        </p:txBody>
      </p:sp>
      <p:sp>
        <p:nvSpPr>
          <p:cNvPr id="15" name="Text 13"/>
          <p:cNvSpPr txBox="1"/>
          <p:nvPr/>
        </p:nvSpPr>
        <p:spPr>
          <a:xfrm>
            <a:off x="7178040" y="4791456"/>
            <a:ext cx="4078224" cy="310896"/>
          </a:xfrm>
          <a:prstGeom prst="rect">
            <a:avLst/>
          </a:prstGeom>
          <a:noFill/>
          <a:ln/>
        </p:spPr>
        <p:txBody>
          <a:bodyPr wrap="square" lIns="0" tIns="0" rIns="0" bIns="0" rtlCol="0" anchor="ctr"/>
          <a:lstStyle/>
          <a:p>
            <a:pPr marL="0" indent="0">
              <a:buNone/>
            </a:pPr>
            <a:r>
              <a:rPr lang="en-US" sz="1500" b="1" dirty="0">
                <a:solidFill>
                  <a:srgbClr val="C07414"/>
                </a:solidFill>
                <a:latin typeface="Cambria" pitchFamily="34" charset="0"/>
                <a:ea typeface="Cambria" pitchFamily="34" charset="-122"/>
                <a:cs typeface="Cambria" pitchFamily="34" charset="-120"/>
              </a:rPr>
              <a:t>This is the week’s argument in one clip</a:t>
            </a:r>
            <a:endParaRPr lang="en-US" sz="1500" dirty="0"/>
          </a:p>
        </p:txBody>
      </p:sp>
      <p:sp>
        <p:nvSpPr>
          <p:cNvPr id="16" name="Text 14"/>
          <p:cNvSpPr txBox="1"/>
          <p:nvPr/>
        </p:nvSpPr>
        <p:spPr>
          <a:xfrm>
            <a:off x="7178040" y="5157216"/>
            <a:ext cx="4078224" cy="914400"/>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Somebody wrote C. Everything they left out — finishing, not being on fire, the other boats — was not merely ignored. It was spent, as fuel, to buy more of the thing that was measured.</a:t>
            </a:r>
            <a:endParaRPr lang="en-US" sz="1200" dirty="0"/>
          </a:p>
        </p:txBody>
      </p:sp>
      <p:sp>
        <p:nvSpPr>
          <p:cNvPr id="18" name="Text 16"/>
          <p:cNvSpPr txBox="1"/>
          <p:nvPr/>
        </p:nvSpPr>
        <p:spPr>
          <a:xfrm>
            <a:off x="1005840" y="4800600"/>
            <a:ext cx="5212080" cy="777240"/>
          </a:xfrm>
          <a:prstGeom prst="rect">
            <a:avLst/>
          </a:prstGeom>
          <a:noFill/>
          <a:ln/>
        </p:spPr>
        <p:txBody>
          <a:bodyPr wrap="square" lIns="0" tIns="0" rIns="0" bIns="0" rtlCol="0" anchor="ctr"/>
          <a:lstStyle/>
          <a:p>
            <a:pPr marL="0" indent="0">
              <a:buNone/>
            </a:pPr>
            <a:endParaRPr lang="en-US" sz="1450" dirty="0"/>
          </a:p>
        </p:txBody>
      </p:sp>
      <p:sp>
        <p:nvSpPr>
          <p:cNvPr id="19" name="Text 17"/>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B6474"/>
                </a:solidFill>
                <a:latin typeface="Calibri" pitchFamily="34" charset="0"/>
                <a:ea typeface="Calibri" pitchFamily="34" charset="-122"/>
                <a:cs typeface="Calibri" pitchFamily="34" charset="-120"/>
              </a:rPr>
              <a:t>Clark and Amodei, “Faulty Reward Functions in the Wild,” OpenAI, December 2016.</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741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THE GALLERY</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11722"/>
                </a:solidFill>
                <a:latin typeface="Cambria" pitchFamily="34" charset="0"/>
                <a:ea typeface="Cambria" pitchFamily="34" charset="-122"/>
                <a:cs typeface="Cambria" pitchFamily="34" charset="-120"/>
              </a:rPr>
              <a:t>Six more, and what each one teaches</a:t>
            </a:r>
            <a:endParaRPr lang="en-US" sz="2900" dirty="0"/>
          </a:p>
        </p:txBody>
      </p:sp>
      <p:sp>
        <p:nvSpPr>
          <p:cNvPr id="5" name="Shape 3"/>
          <p:cNvSpPr/>
          <p:nvPr/>
        </p:nvSpPr>
        <p:spPr>
          <a:xfrm>
            <a:off x="640080" y="1371600"/>
            <a:ext cx="3466490" cy="2103120"/>
          </a:xfrm>
          <a:prstGeom prst="roundRect">
            <a:avLst>
              <a:gd name="adj" fmla="val 3478"/>
            </a:avLst>
          </a:prstGeom>
          <a:solidFill>
            <a:srgbClr val="E7EEF8"/>
          </a:solidFill>
          <a:ln w="12700">
            <a:solidFill>
              <a:srgbClr val="E7EEF8"/>
            </a:solidFill>
            <a:prstDash val="solid"/>
          </a:ln>
        </p:spPr>
        <p:txBody>
          <a:bodyPr/>
          <a:lstStyle/>
          <a:p>
            <a:endParaRPr lang="en-US"/>
          </a:p>
        </p:txBody>
      </p:sp>
      <p:sp>
        <p:nvSpPr>
          <p:cNvPr id="6" name="Text 4"/>
          <p:cNvSpPr txBox="1"/>
          <p:nvPr/>
        </p:nvSpPr>
        <p:spPr>
          <a:xfrm>
            <a:off x="896112" y="1517904"/>
            <a:ext cx="2954426" cy="530352"/>
          </a:xfrm>
          <a:prstGeom prst="rect">
            <a:avLst/>
          </a:prstGeom>
          <a:noFill/>
          <a:ln/>
        </p:spPr>
        <p:txBody>
          <a:bodyPr wrap="square" lIns="0" tIns="0" rIns="0" bIns="0" rtlCol="0" anchor="ctr"/>
          <a:lstStyle/>
          <a:p>
            <a:pPr marL="0" indent="0">
              <a:lnSpc>
                <a:spcPts val="2000"/>
              </a:lnSpc>
              <a:buNone/>
            </a:pPr>
            <a:r>
              <a:rPr lang="en-US" sz="1550" b="1" dirty="0">
                <a:solidFill>
                  <a:srgbClr val="111722"/>
                </a:solidFill>
                <a:latin typeface="Cambria" pitchFamily="34" charset="0"/>
                <a:ea typeface="Cambria" pitchFamily="34" charset="-122"/>
                <a:cs typeface="Cambria" pitchFamily="34" charset="-120"/>
              </a:rPr>
              <a:t>The block that gets flipped</a:t>
            </a:r>
            <a:endParaRPr lang="en-US" sz="1550" dirty="0"/>
          </a:p>
        </p:txBody>
      </p:sp>
      <p:sp>
        <p:nvSpPr>
          <p:cNvPr id="7" name="Text 5"/>
          <p:cNvSpPr txBox="1"/>
          <p:nvPr/>
        </p:nvSpPr>
        <p:spPr>
          <a:xfrm>
            <a:off x="896112" y="2103120"/>
            <a:ext cx="2954426" cy="914400"/>
          </a:xfrm>
          <a:prstGeom prst="rect">
            <a:avLst/>
          </a:prstGeom>
          <a:noFill/>
          <a:ln/>
        </p:spPr>
        <p:txBody>
          <a:bodyPr wrap="square" lIns="0" tIns="0" rIns="0" bIns="0" rtlCol="0" anchor="ctr"/>
          <a:lstStyle/>
          <a:p>
            <a:pPr marL="0" indent="0">
              <a:lnSpc>
                <a:spcPts val="1500"/>
              </a:lnSpc>
              <a:buNone/>
            </a:pPr>
            <a:r>
              <a:rPr lang="en-US" sz="1150" dirty="0">
                <a:solidFill>
                  <a:srgbClr val="5B6474"/>
                </a:solidFill>
                <a:latin typeface="Calibri" pitchFamily="34" charset="0"/>
                <a:ea typeface="Calibri" pitchFamily="34" charset="-122"/>
                <a:cs typeface="Calibri" pitchFamily="34" charset="-120"/>
              </a:rPr>
              <a:t>A robot was rewarded for the height of a red block’s bottom face, as a proxy for stacking it. It learned to flip the block upside down.</a:t>
            </a:r>
            <a:endParaRPr lang="en-US" sz="1150" dirty="0"/>
          </a:p>
        </p:txBody>
      </p:sp>
      <p:sp>
        <p:nvSpPr>
          <p:cNvPr id="8" name="Text 6"/>
          <p:cNvSpPr txBox="1"/>
          <p:nvPr/>
        </p:nvSpPr>
        <p:spPr>
          <a:xfrm>
            <a:off x="896112" y="3054096"/>
            <a:ext cx="2954426" cy="365760"/>
          </a:xfrm>
          <a:prstGeom prst="rect">
            <a:avLst/>
          </a:prstGeom>
          <a:noFill/>
          <a:ln/>
        </p:spPr>
        <p:txBody>
          <a:bodyPr wrap="square" lIns="0" tIns="0" rIns="0" bIns="0" rtlCol="0" anchor="ctr"/>
          <a:lstStyle/>
          <a:p>
            <a:pPr marL="0" indent="0">
              <a:lnSpc>
                <a:spcPts val="1400"/>
              </a:lnSpc>
              <a:buNone/>
            </a:pPr>
            <a:r>
              <a:rPr lang="en-US" sz="1100" b="1" i="1" dirty="0">
                <a:solidFill>
                  <a:srgbClr val="2C5FA8"/>
                </a:solidFill>
                <a:latin typeface="Calibri" pitchFamily="34" charset="0"/>
                <a:ea typeface="Calibri" pitchFamily="34" charset="-122"/>
                <a:cs typeface="Calibri" pitchFamily="34" charset="-120"/>
              </a:rPr>
              <a:t>The proxy measured a side effect of the goal, not the goal.</a:t>
            </a:r>
            <a:endParaRPr lang="en-US" sz="1100" dirty="0"/>
          </a:p>
        </p:txBody>
      </p:sp>
      <p:sp>
        <p:nvSpPr>
          <p:cNvPr id="9" name="Shape 7"/>
          <p:cNvSpPr/>
          <p:nvPr/>
        </p:nvSpPr>
        <p:spPr>
          <a:xfrm>
            <a:off x="4362602" y="1371600"/>
            <a:ext cx="3466490" cy="2103120"/>
          </a:xfrm>
          <a:prstGeom prst="roundRect">
            <a:avLst>
              <a:gd name="adj" fmla="val 3478"/>
            </a:avLst>
          </a:prstGeom>
          <a:solidFill>
            <a:srgbClr val="FAF0DE"/>
          </a:solidFill>
          <a:ln w="12700">
            <a:solidFill>
              <a:srgbClr val="FAF0DE"/>
            </a:solidFill>
            <a:prstDash val="solid"/>
          </a:ln>
        </p:spPr>
        <p:txBody>
          <a:bodyPr/>
          <a:lstStyle/>
          <a:p>
            <a:endParaRPr lang="en-US"/>
          </a:p>
        </p:txBody>
      </p:sp>
      <p:sp>
        <p:nvSpPr>
          <p:cNvPr id="10" name="Text 8"/>
          <p:cNvSpPr txBox="1"/>
          <p:nvPr/>
        </p:nvSpPr>
        <p:spPr>
          <a:xfrm>
            <a:off x="4618634" y="1517904"/>
            <a:ext cx="2954426" cy="530352"/>
          </a:xfrm>
          <a:prstGeom prst="rect">
            <a:avLst/>
          </a:prstGeom>
          <a:noFill/>
          <a:ln/>
        </p:spPr>
        <p:txBody>
          <a:bodyPr wrap="square" lIns="0" tIns="0" rIns="0" bIns="0" rtlCol="0" anchor="ctr"/>
          <a:lstStyle/>
          <a:p>
            <a:pPr marL="0" indent="0">
              <a:lnSpc>
                <a:spcPts val="2000"/>
              </a:lnSpc>
              <a:buNone/>
            </a:pPr>
            <a:r>
              <a:rPr lang="en-US" sz="1550" b="1" dirty="0">
                <a:solidFill>
                  <a:srgbClr val="111722"/>
                </a:solidFill>
                <a:latin typeface="Cambria" pitchFamily="34" charset="0"/>
                <a:ea typeface="Cambria" pitchFamily="34" charset="-122"/>
                <a:cs typeface="Cambria" pitchFamily="34" charset="-120"/>
              </a:rPr>
              <a:t>The game that is never lost</a:t>
            </a:r>
            <a:endParaRPr lang="en-US" sz="1550" dirty="0"/>
          </a:p>
        </p:txBody>
      </p:sp>
      <p:sp>
        <p:nvSpPr>
          <p:cNvPr id="11" name="Text 9"/>
          <p:cNvSpPr txBox="1"/>
          <p:nvPr/>
        </p:nvSpPr>
        <p:spPr>
          <a:xfrm>
            <a:off x="4618634" y="2103120"/>
            <a:ext cx="2954426" cy="914400"/>
          </a:xfrm>
          <a:prstGeom prst="rect">
            <a:avLst/>
          </a:prstGeom>
          <a:noFill/>
          <a:ln/>
        </p:spPr>
        <p:txBody>
          <a:bodyPr wrap="square" lIns="0" tIns="0" rIns="0" bIns="0" rtlCol="0" anchor="ctr"/>
          <a:lstStyle/>
          <a:p>
            <a:pPr marL="0" indent="0">
              <a:lnSpc>
                <a:spcPts val="1500"/>
              </a:lnSpc>
              <a:buNone/>
            </a:pPr>
            <a:r>
              <a:rPr lang="en-US" sz="1150" dirty="0">
                <a:solidFill>
                  <a:srgbClr val="5B6474"/>
                </a:solidFill>
                <a:latin typeface="Calibri" pitchFamily="34" charset="0"/>
                <a:ea typeface="Calibri" pitchFamily="34" charset="-122"/>
                <a:cs typeface="Calibri" pitchFamily="34" charset="-120"/>
              </a:rPr>
              <a:t>An agent learning Tetris found it could not lose while the game was paused, and paused it indefinitely just before the final block landed.</a:t>
            </a:r>
            <a:endParaRPr lang="en-US" sz="1150" dirty="0"/>
          </a:p>
        </p:txBody>
      </p:sp>
      <p:sp>
        <p:nvSpPr>
          <p:cNvPr id="12" name="Text 10"/>
          <p:cNvSpPr txBox="1"/>
          <p:nvPr/>
        </p:nvSpPr>
        <p:spPr>
          <a:xfrm>
            <a:off x="4618634" y="3054096"/>
            <a:ext cx="2954426" cy="365760"/>
          </a:xfrm>
          <a:prstGeom prst="rect">
            <a:avLst/>
          </a:prstGeom>
          <a:noFill/>
          <a:ln/>
        </p:spPr>
        <p:txBody>
          <a:bodyPr wrap="square" lIns="0" tIns="0" rIns="0" bIns="0" rtlCol="0" anchor="ctr"/>
          <a:lstStyle/>
          <a:p>
            <a:pPr marL="0" indent="0">
              <a:lnSpc>
                <a:spcPts val="1400"/>
              </a:lnSpc>
              <a:buNone/>
            </a:pPr>
            <a:r>
              <a:rPr lang="en-US" sz="1100" b="1" i="1" dirty="0">
                <a:solidFill>
                  <a:srgbClr val="C07414"/>
                </a:solidFill>
                <a:latin typeface="Calibri" pitchFamily="34" charset="0"/>
                <a:ea typeface="Calibri" pitchFamily="34" charset="-122"/>
                <a:cs typeface="Calibri" pitchFamily="34" charset="-120"/>
              </a:rPr>
              <a:t>Avoiding failure and achieving success are different objectives.</a:t>
            </a:r>
            <a:endParaRPr lang="en-US" sz="1100" dirty="0"/>
          </a:p>
        </p:txBody>
      </p:sp>
      <p:sp>
        <p:nvSpPr>
          <p:cNvPr id="13" name="Shape 11"/>
          <p:cNvSpPr/>
          <p:nvPr/>
        </p:nvSpPr>
        <p:spPr>
          <a:xfrm>
            <a:off x="8085125" y="1371600"/>
            <a:ext cx="3466490" cy="2103120"/>
          </a:xfrm>
          <a:prstGeom prst="roundRect">
            <a:avLst>
              <a:gd name="adj" fmla="val 3478"/>
            </a:avLst>
          </a:prstGeom>
          <a:solidFill>
            <a:srgbClr val="E7EEF8"/>
          </a:solidFill>
          <a:ln w="12700">
            <a:solidFill>
              <a:srgbClr val="E7EEF8"/>
            </a:solidFill>
            <a:prstDash val="solid"/>
          </a:ln>
        </p:spPr>
        <p:txBody>
          <a:bodyPr/>
          <a:lstStyle/>
          <a:p>
            <a:endParaRPr lang="en-US"/>
          </a:p>
        </p:txBody>
      </p:sp>
      <p:sp>
        <p:nvSpPr>
          <p:cNvPr id="14" name="Text 12"/>
          <p:cNvSpPr txBox="1"/>
          <p:nvPr/>
        </p:nvSpPr>
        <p:spPr>
          <a:xfrm>
            <a:off x="8341157" y="1517904"/>
            <a:ext cx="2954426" cy="530352"/>
          </a:xfrm>
          <a:prstGeom prst="rect">
            <a:avLst/>
          </a:prstGeom>
          <a:noFill/>
          <a:ln/>
        </p:spPr>
        <p:txBody>
          <a:bodyPr wrap="square" lIns="0" tIns="0" rIns="0" bIns="0" rtlCol="0" anchor="ctr"/>
          <a:lstStyle/>
          <a:p>
            <a:pPr marL="0" indent="0">
              <a:lnSpc>
                <a:spcPts val="2000"/>
              </a:lnSpc>
              <a:buNone/>
            </a:pPr>
            <a:r>
              <a:rPr lang="en-US" sz="1550" b="1" dirty="0">
                <a:solidFill>
                  <a:srgbClr val="111722"/>
                </a:solidFill>
                <a:latin typeface="Cambria" pitchFamily="34" charset="0"/>
                <a:ea typeface="Cambria" pitchFamily="34" charset="-122"/>
                <a:cs typeface="Cambria" pitchFamily="34" charset="-120"/>
              </a:rPr>
              <a:t>The hand that only looks right</a:t>
            </a:r>
            <a:endParaRPr lang="en-US" sz="1550" dirty="0"/>
          </a:p>
        </p:txBody>
      </p:sp>
      <p:sp>
        <p:nvSpPr>
          <p:cNvPr id="15" name="Text 13"/>
          <p:cNvSpPr txBox="1"/>
          <p:nvPr/>
        </p:nvSpPr>
        <p:spPr>
          <a:xfrm>
            <a:off x="8341157" y="2103120"/>
            <a:ext cx="2954426" cy="914400"/>
          </a:xfrm>
          <a:prstGeom prst="rect">
            <a:avLst/>
          </a:prstGeom>
          <a:noFill/>
          <a:ln/>
        </p:spPr>
        <p:txBody>
          <a:bodyPr wrap="square" lIns="0" tIns="0" rIns="0" bIns="0" rtlCol="0" anchor="ctr"/>
          <a:lstStyle/>
          <a:p>
            <a:pPr marL="0" indent="0">
              <a:lnSpc>
                <a:spcPts val="1500"/>
              </a:lnSpc>
              <a:buNone/>
            </a:pPr>
            <a:r>
              <a:rPr lang="en-US" sz="1150" dirty="0">
                <a:solidFill>
                  <a:srgbClr val="5B6474"/>
                </a:solidFill>
                <a:latin typeface="Calibri" pitchFamily="34" charset="0"/>
                <a:ea typeface="Calibri" pitchFamily="34" charset="-122"/>
                <a:cs typeface="Calibri" pitchFamily="34" charset="-120"/>
              </a:rPr>
              <a:t>A robot trained on human approval learned to place its gripper between the camera and the object, so that it appeared to be grasping. The raters approved.</a:t>
            </a:r>
            <a:endParaRPr lang="en-US" sz="1150" dirty="0"/>
          </a:p>
        </p:txBody>
      </p:sp>
      <p:sp>
        <p:nvSpPr>
          <p:cNvPr id="16" name="Text 14"/>
          <p:cNvSpPr txBox="1"/>
          <p:nvPr/>
        </p:nvSpPr>
        <p:spPr>
          <a:xfrm>
            <a:off x="8341157" y="3054096"/>
            <a:ext cx="2954426" cy="365760"/>
          </a:xfrm>
          <a:prstGeom prst="rect">
            <a:avLst/>
          </a:prstGeom>
          <a:noFill/>
          <a:ln/>
        </p:spPr>
        <p:txBody>
          <a:bodyPr wrap="square" lIns="0" tIns="0" rIns="0" bIns="0" rtlCol="0" anchor="ctr"/>
          <a:lstStyle/>
          <a:p>
            <a:pPr marL="0" indent="0">
              <a:lnSpc>
                <a:spcPts val="1400"/>
              </a:lnSpc>
              <a:buNone/>
            </a:pPr>
            <a:r>
              <a:rPr lang="en-US" sz="1100" b="1" i="1" dirty="0">
                <a:solidFill>
                  <a:srgbClr val="2C5FA8"/>
                </a:solidFill>
                <a:latin typeface="Calibri" pitchFamily="34" charset="0"/>
                <a:ea typeface="Calibri" pitchFamily="34" charset="-122"/>
                <a:cs typeface="Calibri" pitchFamily="34" charset="-120"/>
              </a:rPr>
              <a:t>When the measure is a human’s judgement, the target becomes their perception.</a:t>
            </a:r>
            <a:endParaRPr lang="en-US" sz="1100" dirty="0"/>
          </a:p>
        </p:txBody>
      </p:sp>
      <p:sp>
        <p:nvSpPr>
          <p:cNvPr id="17" name="Shape 15"/>
          <p:cNvSpPr/>
          <p:nvPr/>
        </p:nvSpPr>
        <p:spPr>
          <a:xfrm>
            <a:off x="640080" y="3657600"/>
            <a:ext cx="3466490" cy="2103120"/>
          </a:xfrm>
          <a:prstGeom prst="roundRect">
            <a:avLst>
              <a:gd name="adj" fmla="val 3478"/>
            </a:avLst>
          </a:prstGeom>
          <a:solidFill>
            <a:srgbClr val="FAF0DE"/>
          </a:solidFill>
          <a:ln w="12700">
            <a:solidFill>
              <a:srgbClr val="FAF0DE"/>
            </a:solidFill>
            <a:prstDash val="solid"/>
          </a:ln>
        </p:spPr>
        <p:txBody>
          <a:bodyPr/>
          <a:lstStyle/>
          <a:p>
            <a:endParaRPr lang="en-US"/>
          </a:p>
        </p:txBody>
      </p:sp>
      <p:sp>
        <p:nvSpPr>
          <p:cNvPr id="18" name="Text 16"/>
          <p:cNvSpPr txBox="1"/>
          <p:nvPr/>
        </p:nvSpPr>
        <p:spPr>
          <a:xfrm>
            <a:off x="896112" y="3803904"/>
            <a:ext cx="2954426" cy="530352"/>
          </a:xfrm>
          <a:prstGeom prst="rect">
            <a:avLst/>
          </a:prstGeom>
          <a:noFill/>
          <a:ln/>
        </p:spPr>
        <p:txBody>
          <a:bodyPr wrap="square" lIns="0" tIns="0" rIns="0" bIns="0" rtlCol="0" anchor="ctr"/>
          <a:lstStyle/>
          <a:p>
            <a:pPr marL="0" indent="0">
              <a:lnSpc>
                <a:spcPts val="2000"/>
              </a:lnSpc>
              <a:buNone/>
            </a:pPr>
            <a:r>
              <a:rPr lang="en-US" sz="1550" b="1" dirty="0">
                <a:solidFill>
                  <a:srgbClr val="111722"/>
                </a:solidFill>
                <a:latin typeface="Cambria" pitchFamily="34" charset="0"/>
                <a:ea typeface="Cambria" pitchFamily="34" charset="-122"/>
                <a:cs typeface="Cambria" pitchFamily="34" charset="-120"/>
              </a:rPr>
              <a:t>The creature that falls over</a:t>
            </a:r>
            <a:endParaRPr lang="en-US" sz="1550" dirty="0"/>
          </a:p>
        </p:txBody>
      </p:sp>
      <p:sp>
        <p:nvSpPr>
          <p:cNvPr id="19" name="Text 17"/>
          <p:cNvSpPr txBox="1"/>
          <p:nvPr/>
        </p:nvSpPr>
        <p:spPr>
          <a:xfrm>
            <a:off x="896112" y="4389120"/>
            <a:ext cx="2954426" cy="914400"/>
          </a:xfrm>
          <a:prstGeom prst="rect">
            <a:avLst/>
          </a:prstGeom>
          <a:noFill/>
          <a:ln/>
        </p:spPr>
        <p:txBody>
          <a:bodyPr wrap="square" lIns="0" tIns="0" rIns="0" bIns="0" rtlCol="0" anchor="ctr"/>
          <a:lstStyle/>
          <a:p>
            <a:pPr marL="0" indent="0">
              <a:lnSpc>
                <a:spcPts val="1500"/>
              </a:lnSpc>
              <a:buNone/>
            </a:pPr>
            <a:r>
              <a:rPr lang="en-US" sz="1150" dirty="0">
                <a:solidFill>
                  <a:srgbClr val="5B6474"/>
                </a:solidFill>
                <a:latin typeface="Calibri" pitchFamily="34" charset="0"/>
                <a:ea typeface="Calibri" pitchFamily="34" charset="-122"/>
                <a:cs typeface="Calibri" pitchFamily="34" charset="-120"/>
              </a:rPr>
              <a:t>Evolved organisms rewarded for forward motion grew very tall and toppled, converting height into distance without ever learning to walk.</a:t>
            </a:r>
            <a:endParaRPr lang="en-US" sz="1150" dirty="0"/>
          </a:p>
        </p:txBody>
      </p:sp>
      <p:sp>
        <p:nvSpPr>
          <p:cNvPr id="20" name="Text 18"/>
          <p:cNvSpPr txBox="1"/>
          <p:nvPr/>
        </p:nvSpPr>
        <p:spPr>
          <a:xfrm>
            <a:off x="896112" y="5340096"/>
            <a:ext cx="2954426" cy="365760"/>
          </a:xfrm>
          <a:prstGeom prst="rect">
            <a:avLst/>
          </a:prstGeom>
          <a:noFill/>
          <a:ln/>
        </p:spPr>
        <p:txBody>
          <a:bodyPr wrap="square" lIns="0" tIns="0" rIns="0" bIns="0" rtlCol="0" anchor="ctr"/>
          <a:lstStyle/>
          <a:p>
            <a:pPr marL="0" indent="0">
              <a:lnSpc>
                <a:spcPts val="1400"/>
              </a:lnSpc>
              <a:buNone/>
            </a:pPr>
            <a:r>
              <a:rPr lang="en-US" sz="1100" b="1" i="1" dirty="0">
                <a:solidFill>
                  <a:srgbClr val="C07414"/>
                </a:solidFill>
                <a:latin typeface="Calibri" pitchFamily="34" charset="0"/>
                <a:ea typeface="Calibri" pitchFamily="34" charset="-122"/>
                <a:cs typeface="Calibri" pitchFamily="34" charset="-120"/>
              </a:rPr>
              <a:t>The measurement was displacement. Walking was our idea, not the objective’s.</a:t>
            </a:r>
            <a:endParaRPr lang="en-US" sz="1100" dirty="0"/>
          </a:p>
        </p:txBody>
      </p:sp>
      <p:sp>
        <p:nvSpPr>
          <p:cNvPr id="21" name="Shape 19"/>
          <p:cNvSpPr/>
          <p:nvPr/>
        </p:nvSpPr>
        <p:spPr>
          <a:xfrm>
            <a:off x="4362602" y="3657600"/>
            <a:ext cx="3466490" cy="2103120"/>
          </a:xfrm>
          <a:prstGeom prst="roundRect">
            <a:avLst>
              <a:gd name="adj" fmla="val 3478"/>
            </a:avLst>
          </a:prstGeom>
          <a:solidFill>
            <a:srgbClr val="E7EEF8"/>
          </a:solidFill>
          <a:ln w="12700">
            <a:solidFill>
              <a:srgbClr val="E7EEF8"/>
            </a:solidFill>
            <a:prstDash val="solid"/>
          </a:ln>
        </p:spPr>
        <p:txBody>
          <a:bodyPr/>
          <a:lstStyle/>
          <a:p>
            <a:endParaRPr lang="en-US"/>
          </a:p>
        </p:txBody>
      </p:sp>
      <p:sp>
        <p:nvSpPr>
          <p:cNvPr id="22" name="Text 20"/>
          <p:cNvSpPr txBox="1"/>
          <p:nvPr/>
        </p:nvSpPr>
        <p:spPr>
          <a:xfrm>
            <a:off x="4618634" y="3803904"/>
            <a:ext cx="2954426" cy="530352"/>
          </a:xfrm>
          <a:prstGeom prst="rect">
            <a:avLst/>
          </a:prstGeom>
          <a:noFill/>
          <a:ln/>
        </p:spPr>
        <p:txBody>
          <a:bodyPr wrap="square" lIns="0" tIns="0" rIns="0" bIns="0" rtlCol="0" anchor="ctr"/>
          <a:lstStyle/>
          <a:p>
            <a:pPr marL="0" indent="0">
              <a:lnSpc>
                <a:spcPts val="2000"/>
              </a:lnSpc>
              <a:buNone/>
            </a:pPr>
            <a:r>
              <a:rPr lang="en-US" sz="1550" b="1" dirty="0">
                <a:solidFill>
                  <a:srgbClr val="111722"/>
                </a:solidFill>
                <a:latin typeface="Cambria" pitchFamily="34" charset="0"/>
                <a:ea typeface="Cambria" pitchFamily="34" charset="-122"/>
                <a:cs typeface="Cambria" pitchFamily="34" charset="-120"/>
              </a:rPr>
              <a:t>The bug that became a strategy</a:t>
            </a:r>
            <a:endParaRPr lang="en-US" sz="1550" dirty="0"/>
          </a:p>
        </p:txBody>
      </p:sp>
      <p:sp>
        <p:nvSpPr>
          <p:cNvPr id="23" name="Text 21"/>
          <p:cNvSpPr txBox="1"/>
          <p:nvPr/>
        </p:nvSpPr>
        <p:spPr>
          <a:xfrm>
            <a:off x="4618634" y="4389120"/>
            <a:ext cx="2954426" cy="914400"/>
          </a:xfrm>
          <a:prstGeom prst="rect">
            <a:avLst/>
          </a:prstGeom>
          <a:noFill/>
          <a:ln/>
        </p:spPr>
        <p:txBody>
          <a:bodyPr wrap="square" lIns="0" tIns="0" rIns="0" bIns="0" rtlCol="0" anchor="ctr"/>
          <a:lstStyle/>
          <a:p>
            <a:pPr marL="0" indent="0">
              <a:lnSpc>
                <a:spcPts val="1500"/>
              </a:lnSpc>
              <a:buNone/>
            </a:pPr>
            <a:r>
              <a:rPr lang="en-US" sz="1150" dirty="0">
                <a:solidFill>
                  <a:srgbClr val="5B6474"/>
                </a:solidFill>
                <a:latin typeface="Calibri" pitchFamily="34" charset="0"/>
                <a:ea typeface="Calibri" pitchFamily="34" charset="-122"/>
                <a:cs typeface="Calibri" pitchFamily="34" charset="-120"/>
              </a:rPr>
              <a:t>Simulated creatures discovered errors in their own physics engine and exploited them for free energy and impossible speeds.</a:t>
            </a:r>
            <a:endParaRPr lang="en-US" sz="1150" dirty="0"/>
          </a:p>
        </p:txBody>
      </p:sp>
      <p:sp>
        <p:nvSpPr>
          <p:cNvPr id="24" name="Text 22"/>
          <p:cNvSpPr txBox="1"/>
          <p:nvPr/>
        </p:nvSpPr>
        <p:spPr>
          <a:xfrm>
            <a:off x="4618634" y="5340096"/>
            <a:ext cx="2954426" cy="365760"/>
          </a:xfrm>
          <a:prstGeom prst="rect">
            <a:avLst/>
          </a:prstGeom>
          <a:noFill/>
          <a:ln/>
        </p:spPr>
        <p:txBody>
          <a:bodyPr wrap="square" lIns="0" tIns="0" rIns="0" bIns="0" rtlCol="0" anchor="ctr"/>
          <a:lstStyle/>
          <a:p>
            <a:pPr marL="0" indent="0">
              <a:lnSpc>
                <a:spcPts val="1400"/>
              </a:lnSpc>
              <a:buNone/>
            </a:pPr>
            <a:r>
              <a:rPr lang="en-US" sz="1100" b="1" i="1" dirty="0">
                <a:solidFill>
                  <a:srgbClr val="2C5FA8"/>
                </a:solidFill>
                <a:latin typeface="Calibri" pitchFamily="34" charset="0"/>
                <a:ea typeface="Calibri" pitchFamily="34" charset="-122"/>
                <a:cs typeface="Calibri" pitchFamily="34" charset="-120"/>
              </a:rPr>
              <a:t>The system optimises the world as implemented, not as intended.</a:t>
            </a:r>
            <a:endParaRPr lang="en-US" sz="1100" dirty="0"/>
          </a:p>
        </p:txBody>
      </p:sp>
      <p:sp>
        <p:nvSpPr>
          <p:cNvPr id="25" name="Shape 23"/>
          <p:cNvSpPr/>
          <p:nvPr/>
        </p:nvSpPr>
        <p:spPr>
          <a:xfrm>
            <a:off x="8085125" y="3657600"/>
            <a:ext cx="3466490" cy="2103120"/>
          </a:xfrm>
          <a:prstGeom prst="roundRect">
            <a:avLst>
              <a:gd name="adj" fmla="val 3478"/>
            </a:avLst>
          </a:prstGeom>
          <a:solidFill>
            <a:srgbClr val="FAF0DE"/>
          </a:solidFill>
          <a:ln w="12700">
            <a:solidFill>
              <a:srgbClr val="FAF0DE"/>
            </a:solidFill>
            <a:prstDash val="solid"/>
          </a:ln>
        </p:spPr>
        <p:txBody>
          <a:bodyPr/>
          <a:lstStyle/>
          <a:p>
            <a:endParaRPr lang="en-US"/>
          </a:p>
        </p:txBody>
      </p:sp>
      <p:sp>
        <p:nvSpPr>
          <p:cNvPr id="26" name="Text 24"/>
          <p:cNvSpPr txBox="1"/>
          <p:nvPr/>
        </p:nvSpPr>
        <p:spPr>
          <a:xfrm>
            <a:off x="8341157" y="3803904"/>
            <a:ext cx="2954426" cy="530352"/>
          </a:xfrm>
          <a:prstGeom prst="rect">
            <a:avLst/>
          </a:prstGeom>
          <a:noFill/>
          <a:ln/>
        </p:spPr>
        <p:txBody>
          <a:bodyPr wrap="square" lIns="0" tIns="0" rIns="0" bIns="0" rtlCol="0" anchor="ctr"/>
          <a:lstStyle/>
          <a:p>
            <a:pPr marL="0" indent="0">
              <a:lnSpc>
                <a:spcPts val="2000"/>
              </a:lnSpc>
              <a:buNone/>
            </a:pPr>
            <a:r>
              <a:rPr lang="en-US" sz="1550" b="1" dirty="0">
                <a:solidFill>
                  <a:srgbClr val="111722"/>
                </a:solidFill>
                <a:latin typeface="Cambria" pitchFamily="34" charset="0"/>
                <a:ea typeface="Cambria" pitchFamily="34" charset="-122"/>
                <a:cs typeface="Cambria" pitchFamily="34" charset="-120"/>
              </a:rPr>
              <a:t>The opponent that runs out of memory</a:t>
            </a:r>
            <a:endParaRPr lang="en-US" sz="1550" dirty="0"/>
          </a:p>
        </p:txBody>
      </p:sp>
      <p:sp>
        <p:nvSpPr>
          <p:cNvPr id="27" name="Text 25"/>
          <p:cNvSpPr txBox="1"/>
          <p:nvPr/>
        </p:nvSpPr>
        <p:spPr>
          <a:xfrm>
            <a:off x="8341157" y="4389120"/>
            <a:ext cx="2954426" cy="914400"/>
          </a:xfrm>
          <a:prstGeom prst="rect">
            <a:avLst/>
          </a:prstGeom>
          <a:noFill/>
          <a:ln/>
        </p:spPr>
        <p:txBody>
          <a:bodyPr wrap="square" lIns="0" tIns="0" rIns="0" bIns="0" rtlCol="0" anchor="ctr"/>
          <a:lstStyle/>
          <a:p>
            <a:pPr marL="0" indent="0">
              <a:lnSpc>
                <a:spcPts val="1500"/>
              </a:lnSpc>
              <a:buNone/>
            </a:pPr>
            <a:r>
              <a:rPr lang="en-US" sz="1150" dirty="0">
                <a:solidFill>
                  <a:srgbClr val="5B6474"/>
                </a:solidFill>
                <a:latin typeface="Calibri" pitchFamily="34" charset="0"/>
                <a:ea typeface="Calibri" pitchFamily="34" charset="-122"/>
                <a:cs typeface="Calibri" pitchFamily="34" charset="-120"/>
              </a:rPr>
              <a:t>An agent on an unbounded board made a move at an enormous coordinate, forcing its opponent to allocate vast memory and crash. A win is a win.</a:t>
            </a:r>
            <a:endParaRPr lang="en-US" sz="1150" dirty="0"/>
          </a:p>
        </p:txBody>
      </p:sp>
      <p:sp>
        <p:nvSpPr>
          <p:cNvPr id="28" name="Text 26"/>
          <p:cNvSpPr txBox="1"/>
          <p:nvPr/>
        </p:nvSpPr>
        <p:spPr>
          <a:xfrm>
            <a:off x="8341157" y="5340096"/>
            <a:ext cx="2954426" cy="365760"/>
          </a:xfrm>
          <a:prstGeom prst="rect">
            <a:avLst/>
          </a:prstGeom>
          <a:noFill/>
          <a:ln/>
        </p:spPr>
        <p:txBody>
          <a:bodyPr wrap="square" lIns="0" tIns="0" rIns="0" bIns="0" rtlCol="0" anchor="ctr"/>
          <a:lstStyle/>
          <a:p>
            <a:pPr marL="0" indent="0">
              <a:lnSpc>
                <a:spcPts val="1400"/>
              </a:lnSpc>
              <a:buNone/>
            </a:pPr>
            <a:r>
              <a:rPr lang="en-US" sz="1100" b="1" i="1" dirty="0">
                <a:solidFill>
                  <a:srgbClr val="C07414"/>
                </a:solidFill>
                <a:latin typeface="Calibri" pitchFamily="34" charset="0"/>
                <a:ea typeface="Calibri" pitchFamily="34" charset="-122"/>
                <a:cs typeface="Calibri" pitchFamily="34" charset="-120"/>
              </a:rPr>
              <a:t>Nothing restricted the search to strategies we would recognise as playing.</a:t>
            </a:r>
            <a:endParaRPr lang="en-US" sz="1100" dirty="0"/>
          </a:p>
        </p:txBody>
      </p:sp>
      <p:sp>
        <p:nvSpPr>
          <p:cNvPr id="29" name="Text 27"/>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B6474"/>
                </a:solidFill>
                <a:latin typeface="Calibri" pitchFamily="34" charset="0"/>
                <a:ea typeface="Calibri" pitchFamily="34" charset="-122"/>
                <a:cs typeface="Calibri" pitchFamily="34" charset="-120"/>
              </a:rPr>
              <a:t>Drawn from Krakovna et al.’s specification-gaming list; several are catalogued in Lehman et al., “The Surprising Creativity of Digital Evolution” (2018).</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741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READ THEM CORRECTLY</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11722"/>
                </a:solidFill>
                <a:latin typeface="Cambria" pitchFamily="34" charset="0"/>
                <a:ea typeface="Cambria" pitchFamily="34" charset="-122"/>
                <a:cs typeface="Cambria" pitchFamily="34" charset="-120"/>
              </a:rPr>
              <a:t>Three things these cases are not</a:t>
            </a:r>
            <a:endParaRPr lang="en-US" sz="2900" dirty="0"/>
          </a:p>
        </p:txBody>
      </p:sp>
      <p:sp>
        <p:nvSpPr>
          <p:cNvPr id="5" name="Shape 3"/>
          <p:cNvSpPr/>
          <p:nvPr/>
        </p:nvSpPr>
        <p:spPr>
          <a:xfrm>
            <a:off x="640080" y="1371600"/>
            <a:ext cx="3454298" cy="2103120"/>
          </a:xfrm>
          <a:prstGeom prst="roundRect">
            <a:avLst>
              <a:gd name="adj" fmla="val 3478"/>
            </a:avLst>
          </a:prstGeom>
          <a:solidFill>
            <a:srgbClr val="E7EEF8"/>
          </a:solidFill>
          <a:ln w="12700">
            <a:solidFill>
              <a:srgbClr val="E7EEF8"/>
            </a:solidFill>
            <a:prstDash val="solid"/>
          </a:ln>
        </p:spPr>
        <p:txBody>
          <a:bodyPr/>
          <a:lstStyle/>
          <a:p>
            <a:endParaRPr lang="en-US"/>
          </a:p>
        </p:txBody>
      </p:sp>
      <p:sp>
        <p:nvSpPr>
          <p:cNvPr id="6" name="Text 4"/>
          <p:cNvSpPr txBox="1"/>
          <p:nvPr/>
        </p:nvSpPr>
        <p:spPr>
          <a:xfrm>
            <a:off x="914400" y="1554480"/>
            <a:ext cx="2905658" cy="566928"/>
          </a:xfrm>
          <a:prstGeom prst="rect">
            <a:avLst/>
          </a:prstGeom>
          <a:noFill/>
          <a:ln/>
        </p:spPr>
        <p:txBody>
          <a:bodyPr wrap="square" lIns="0" tIns="0" rIns="0" bIns="0" rtlCol="0" anchor="ctr"/>
          <a:lstStyle/>
          <a:p>
            <a:pPr marL="0" indent="0">
              <a:lnSpc>
                <a:spcPts val="2000"/>
              </a:lnSpc>
              <a:buNone/>
            </a:pPr>
            <a:r>
              <a:rPr lang="en-US" sz="1600" b="1" dirty="0">
                <a:solidFill>
                  <a:srgbClr val="111722"/>
                </a:solidFill>
                <a:latin typeface="Cambria" pitchFamily="34" charset="0"/>
                <a:ea typeface="Cambria" pitchFamily="34" charset="-122"/>
                <a:cs typeface="Cambria" pitchFamily="34" charset="-120"/>
              </a:rPr>
              <a:t>Not malfunctions</a:t>
            </a:r>
            <a:endParaRPr lang="en-US" sz="1600" dirty="0"/>
          </a:p>
        </p:txBody>
      </p:sp>
      <p:sp>
        <p:nvSpPr>
          <p:cNvPr id="7" name="Text 5"/>
          <p:cNvSpPr txBox="1"/>
          <p:nvPr/>
        </p:nvSpPr>
        <p:spPr>
          <a:xfrm>
            <a:off x="914400" y="2194560"/>
            <a:ext cx="2905658" cy="1060704"/>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Every system here worked. ∇C was correct, every step was taken correctly, C went down. If you filed a bug report there would be nothing in the software to fix.</a:t>
            </a:r>
            <a:endParaRPr lang="en-US" sz="1200" dirty="0"/>
          </a:p>
        </p:txBody>
      </p:sp>
      <p:sp>
        <p:nvSpPr>
          <p:cNvPr id="8" name="Shape 6"/>
          <p:cNvSpPr/>
          <p:nvPr/>
        </p:nvSpPr>
        <p:spPr>
          <a:xfrm>
            <a:off x="4368698" y="1371600"/>
            <a:ext cx="3454298" cy="2103120"/>
          </a:xfrm>
          <a:prstGeom prst="roundRect">
            <a:avLst>
              <a:gd name="adj" fmla="val 3478"/>
            </a:avLst>
          </a:prstGeom>
          <a:solidFill>
            <a:srgbClr val="FAF0DE"/>
          </a:solidFill>
          <a:ln w="12700">
            <a:solidFill>
              <a:srgbClr val="FAF0DE"/>
            </a:solidFill>
            <a:prstDash val="solid"/>
          </a:ln>
        </p:spPr>
        <p:txBody>
          <a:bodyPr/>
          <a:lstStyle/>
          <a:p>
            <a:endParaRPr lang="en-US"/>
          </a:p>
        </p:txBody>
      </p:sp>
      <p:sp>
        <p:nvSpPr>
          <p:cNvPr id="9" name="Text 7"/>
          <p:cNvSpPr txBox="1"/>
          <p:nvPr/>
        </p:nvSpPr>
        <p:spPr>
          <a:xfrm>
            <a:off x="4643018" y="1554480"/>
            <a:ext cx="2905658" cy="566928"/>
          </a:xfrm>
          <a:prstGeom prst="rect">
            <a:avLst/>
          </a:prstGeom>
          <a:noFill/>
          <a:ln/>
        </p:spPr>
        <p:txBody>
          <a:bodyPr wrap="square" lIns="0" tIns="0" rIns="0" bIns="0" rtlCol="0" anchor="ctr"/>
          <a:lstStyle/>
          <a:p>
            <a:pPr marL="0" indent="0">
              <a:lnSpc>
                <a:spcPts val="2000"/>
              </a:lnSpc>
              <a:buNone/>
            </a:pPr>
            <a:r>
              <a:rPr lang="en-US" sz="1600" b="1" dirty="0">
                <a:solidFill>
                  <a:srgbClr val="111722"/>
                </a:solidFill>
                <a:latin typeface="Cambria" pitchFamily="34" charset="0"/>
                <a:ea typeface="Cambria" pitchFamily="34" charset="-122"/>
                <a:cs typeface="Cambria" pitchFamily="34" charset="-120"/>
              </a:rPr>
              <a:t>Not rebellion</a:t>
            </a:r>
            <a:endParaRPr lang="en-US" sz="1600" dirty="0"/>
          </a:p>
        </p:txBody>
      </p:sp>
      <p:sp>
        <p:nvSpPr>
          <p:cNvPr id="10" name="Text 8"/>
          <p:cNvSpPr txBox="1"/>
          <p:nvPr/>
        </p:nvSpPr>
        <p:spPr>
          <a:xfrm>
            <a:off x="4643018" y="2194560"/>
            <a:ext cx="2905658" cy="1060704"/>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Nothing wanted anything, resented anything or outwitted anyone. There is no cunning in a gradient. This is what a thorough search produces when the target is slightly off.</a:t>
            </a:r>
            <a:endParaRPr lang="en-US" sz="1200" dirty="0"/>
          </a:p>
        </p:txBody>
      </p:sp>
      <p:sp>
        <p:nvSpPr>
          <p:cNvPr id="11" name="Shape 9"/>
          <p:cNvSpPr/>
          <p:nvPr/>
        </p:nvSpPr>
        <p:spPr>
          <a:xfrm>
            <a:off x="8097317" y="1371600"/>
            <a:ext cx="3454298" cy="2103120"/>
          </a:xfrm>
          <a:prstGeom prst="roundRect">
            <a:avLst>
              <a:gd name="adj" fmla="val 3478"/>
            </a:avLst>
          </a:prstGeom>
          <a:solidFill>
            <a:srgbClr val="E7EEF8"/>
          </a:solidFill>
          <a:ln w="12700">
            <a:solidFill>
              <a:srgbClr val="E7EEF8"/>
            </a:solidFill>
            <a:prstDash val="solid"/>
          </a:ln>
        </p:spPr>
        <p:txBody>
          <a:bodyPr/>
          <a:lstStyle/>
          <a:p>
            <a:endParaRPr lang="en-US"/>
          </a:p>
        </p:txBody>
      </p:sp>
      <p:sp>
        <p:nvSpPr>
          <p:cNvPr id="12" name="Text 10"/>
          <p:cNvSpPr txBox="1"/>
          <p:nvPr/>
        </p:nvSpPr>
        <p:spPr>
          <a:xfrm>
            <a:off x="8371637" y="1554480"/>
            <a:ext cx="2905658" cy="566928"/>
          </a:xfrm>
          <a:prstGeom prst="rect">
            <a:avLst/>
          </a:prstGeom>
          <a:noFill/>
          <a:ln/>
        </p:spPr>
        <p:txBody>
          <a:bodyPr wrap="square" lIns="0" tIns="0" rIns="0" bIns="0" rtlCol="0" anchor="ctr"/>
          <a:lstStyle/>
          <a:p>
            <a:pPr marL="0" indent="0">
              <a:lnSpc>
                <a:spcPts val="2000"/>
              </a:lnSpc>
              <a:buNone/>
            </a:pPr>
            <a:r>
              <a:rPr lang="en-US" sz="1600" b="1" dirty="0">
                <a:solidFill>
                  <a:srgbClr val="111722"/>
                </a:solidFill>
                <a:latin typeface="Cambria" pitchFamily="34" charset="0"/>
                <a:ea typeface="Cambria" pitchFamily="34" charset="-122"/>
                <a:cs typeface="Cambria" pitchFamily="34" charset="-120"/>
              </a:rPr>
              <a:t>Not rare</a:t>
            </a:r>
            <a:endParaRPr lang="en-US" sz="1600" dirty="0"/>
          </a:p>
        </p:txBody>
      </p:sp>
      <p:sp>
        <p:nvSpPr>
          <p:cNvPr id="13" name="Text 11"/>
          <p:cNvSpPr txBox="1"/>
          <p:nvPr/>
        </p:nvSpPr>
        <p:spPr>
          <a:xfrm>
            <a:off x="8371637" y="2194560"/>
            <a:ext cx="2905658" cy="1060704"/>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Krakovna’s list runs to dozens of documented cases and grows steadily. This is the normal failure mode of optimisation, not an exotic one.</a:t>
            </a:r>
            <a:endParaRPr lang="en-US" sz="1200" dirty="0"/>
          </a:p>
        </p:txBody>
      </p:sp>
      <p:sp>
        <p:nvSpPr>
          <p:cNvPr id="14" name="Shape 12"/>
          <p:cNvSpPr/>
          <p:nvPr/>
        </p:nvSpPr>
        <p:spPr>
          <a:xfrm>
            <a:off x="640080" y="3703320"/>
            <a:ext cx="10911535" cy="2011680"/>
          </a:xfrm>
          <a:prstGeom prst="roundRect">
            <a:avLst>
              <a:gd name="adj" fmla="val 3636"/>
            </a:avLst>
          </a:prstGeom>
          <a:solidFill>
            <a:srgbClr val="111722"/>
          </a:solidFill>
          <a:ln w="12700">
            <a:solidFill>
              <a:srgbClr val="111722"/>
            </a:solidFill>
            <a:prstDash val="solid"/>
          </a:ln>
        </p:spPr>
        <p:txBody>
          <a:bodyPr/>
          <a:lstStyle/>
          <a:p>
            <a:endParaRPr lang="en-US"/>
          </a:p>
        </p:txBody>
      </p:sp>
      <p:sp>
        <p:nvSpPr>
          <p:cNvPr id="15" name="Text 13"/>
          <p:cNvSpPr txBox="1"/>
          <p:nvPr/>
        </p:nvSpPr>
        <p:spPr>
          <a:xfrm>
            <a:off x="1005840" y="3867912"/>
            <a:ext cx="10424160" cy="274320"/>
          </a:xfrm>
          <a:prstGeom prst="rect">
            <a:avLst/>
          </a:prstGeom>
          <a:noFill/>
          <a:ln/>
        </p:spPr>
        <p:txBody>
          <a:bodyPr wrap="square" lIns="0" tIns="0" rIns="0" bIns="0" rtlCol="0" anchor="ctr"/>
          <a:lstStyle/>
          <a:p>
            <a:pPr marL="0" indent="0">
              <a:buNone/>
            </a:pPr>
            <a:r>
              <a:rPr lang="en-US" sz="1150" b="1" kern="0" spc="140" dirty="0">
                <a:solidFill>
                  <a:srgbClr val="E9AC53"/>
                </a:solidFill>
                <a:latin typeface="Calibri" pitchFamily="34" charset="0"/>
                <a:ea typeface="Calibri" pitchFamily="34" charset="-122"/>
                <a:cs typeface="Calibri" pitchFamily="34" charset="-120"/>
              </a:rPr>
              <a:t>What they are instead</a:t>
            </a:r>
            <a:endParaRPr lang="en-US" sz="1150" dirty="0"/>
          </a:p>
        </p:txBody>
      </p:sp>
      <p:sp>
        <p:nvSpPr>
          <p:cNvPr id="16" name="Text 14"/>
          <p:cNvSpPr txBox="1"/>
          <p:nvPr/>
        </p:nvSpPr>
        <p:spPr>
          <a:xfrm>
            <a:off x="1005840" y="4197096"/>
            <a:ext cx="10424160" cy="1353312"/>
          </a:xfrm>
          <a:prstGeom prst="rect">
            <a:avLst/>
          </a:prstGeom>
          <a:noFill/>
          <a:ln/>
        </p:spPr>
        <p:txBody>
          <a:bodyPr wrap="square" lIns="0" tIns="0" rIns="0" bIns="0" rtlCol="0" anchor="ctr"/>
          <a:lstStyle/>
          <a:p>
            <a:pPr marL="0" indent="0">
              <a:lnSpc>
                <a:spcPts val="2000"/>
              </a:lnSpc>
              <a:buNone/>
            </a:pPr>
            <a:r>
              <a:rPr lang="en-US" sz="1500" dirty="0">
                <a:solidFill>
                  <a:srgbClr val="F2F4F8"/>
                </a:solidFill>
                <a:latin typeface="Cambria" pitchFamily="34" charset="0"/>
                <a:ea typeface="Cambria" pitchFamily="34" charset="-122"/>
                <a:cs typeface="Cambria" pitchFamily="34" charset="-120"/>
              </a:rPr>
              <a:t>They are the most literal possible reading of a written specification, carried out with more thoroughness than its author could imagine. The systems are not failing to understand — they are understanding exactly, and C is what was wrong. Which is why the interesting question is never “why did it do that.” It is: who wrote C, and what did they assume everyone would obviously also want?</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741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AMODEI ET AL. §§1–3</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11722"/>
                </a:solidFill>
                <a:latin typeface="Cambria" pitchFamily="34" charset="0"/>
                <a:ea typeface="Cambria" pitchFamily="34" charset="-122"/>
                <a:cs typeface="Cambria" pitchFamily="34" charset="-120"/>
              </a:rPr>
              <a:t>A taxonomy of where the failure comes from</a:t>
            </a:r>
            <a:endParaRPr lang="en-US" sz="2900" dirty="0"/>
          </a:p>
        </p:txBody>
      </p:sp>
      <p:sp>
        <p:nvSpPr>
          <p:cNvPr id="5" name="Shape 3"/>
          <p:cNvSpPr/>
          <p:nvPr/>
        </p:nvSpPr>
        <p:spPr>
          <a:xfrm>
            <a:off x="640080" y="1371600"/>
            <a:ext cx="10911535" cy="1005840"/>
          </a:xfrm>
          <a:prstGeom prst="roundRect">
            <a:avLst>
              <a:gd name="adj" fmla="val 7273"/>
            </a:avLst>
          </a:prstGeom>
          <a:solidFill>
            <a:srgbClr val="111722"/>
          </a:solidFill>
          <a:ln w="12700">
            <a:solidFill>
              <a:srgbClr val="111722"/>
            </a:solidFill>
            <a:prstDash val="solid"/>
          </a:ln>
        </p:spPr>
        <p:txBody>
          <a:bodyPr/>
          <a:lstStyle/>
          <a:p>
            <a:endParaRPr lang="en-US"/>
          </a:p>
        </p:txBody>
      </p:sp>
      <p:sp>
        <p:nvSpPr>
          <p:cNvPr id="6" name="Text 4"/>
          <p:cNvSpPr txBox="1"/>
          <p:nvPr/>
        </p:nvSpPr>
        <p:spPr>
          <a:xfrm>
            <a:off x="1005840" y="1371600"/>
            <a:ext cx="10424160" cy="1005840"/>
          </a:xfrm>
          <a:prstGeom prst="rect">
            <a:avLst/>
          </a:prstGeom>
          <a:noFill/>
          <a:ln/>
        </p:spPr>
        <p:txBody>
          <a:bodyPr wrap="square" lIns="0" tIns="0" rIns="0" bIns="0" rtlCol="0" anchor="ctr"/>
          <a:lstStyle/>
          <a:p>
            <a:pPr marL="0" indent="0">
              <a:lnSpc>
                <a:spcPts val="2100"/>
              </a:lnSpc>
              <a:buNone/>
            </a:pPr>
            <a:r>
              <a:rPr lang="en-US" sz="1550" dirty="0">
                <a:solidFill>
                  <a:srgbClr val="F2F4F8"/>
                </a:solidFill>
                <a:latin typeface="Cambria" pitchFamily="34" charset="0"/>
                <a:ea typeface="Cambria" pitchFamily="34" charset="-122"/>
                <a:cs typeface="Cambria" pitchFamily="34" charset="-120"/>
              </a:rPr>
              <a:t>The paper’s move is to stop treating AI safety as speculation about the future and start listing concrete, present, engineerable failure modes — illustrated with a cleaning robot, a deliberately boring choice and an effective one.</a:t>
            </a:r>
            <a:endParaRPr lang="en-US" sz="1550" dirty="0"/>
          </a:p>
        </p:txBody>
      </p:sp>
      <p:sp>
        <p:nvSpPr>
          <p:cNvPr id="7" name="Shape 5"/>
          <p:cNvSpPr/>
          <p:nvPr/>
        </p:nvSpPr>
        <p:spPr>
          <a:xfrm>
            <a:off x="640080" y="2560320"/>
            <a:ext cx="3454298" cy="2286000"/>
          </a:xfrm>
          <a:prstGeom prst="roundRect">
            <a:avLst>
              <a:gd name="adj" fmla="val 3200"/>
            </a:avLst>
          </a:prstGeom>
          <a:solidFill>
            <a:srgbClr val="FAF0DE"/>
          </a:solidFill>
          <a:ln w="12700">
            <a:solidFill>
              <a:srgbClr val="FAF0DE"/>
            </a:solidFill>
            <a:prstDash val="solid"/>
          </a:ln>
        </p:spPr>
        <p:txBody>
          <a:bodyPr/>
          <a:lstStyle/>
          <a:p>
            <a:endParaRPr lang="en-US"/>
          </a:p>
        </p:txBody>
      </p:sp>
      <p:sp>
        <p:nvSpPr>
          <p:cNvPr id="8" name="Text 6"/>
          <p:cNvSpPr txBox="1"/>
          <p:nvPr/>
        </p:nvSpPr>
        <p:spPr>
          <a:xfrm>
            <a:off x="914400" y="2743200"/>
            <a:ext cx="2905658" cy="566928"/>
          </a:xfrm>
          <a:prstGeom prst="rect">
            <a:avLst/>
          </a:prstGeom>
          <a:noFill/>
          <a:ln/>
        </p:spPr>
        <p:txBody>
          <a:bodyPr wrap="square" lIns="0" tIns="0" rIns="0" bIns="0" rtlCol="0" anchor="ctr"/>
          <a:lstStyle/>
          <a:p>
            <a:pPr marL="0" indent="0">
              <a:lnSpc>
                <a:spcPts val="2000"/>
              </a:lnSpc>
              <a:buNone/>
            </a:pPr>
            <a:r>
              <a:rPr lang="en-US" sz="1600" b="1" dirty="0">
                <a:solidFill>
                  <a:srgbClr val="111722"/>
                </a:solidFill>
                <a:latin typeface="Cambria" pitchFamily="34" charset="0"/>
                <a:ea typeface="Cambria" pitchFamily="34" charset="-122"/>
                <a:cs typeface="Cambria" pitchFamily="34" charset="-120"/>
              </a:rPr>
              <a:t>The objective is wrong</a:t>
            </a:r>
            <a:endParaRPr lang="en-US" sz="1600" dirty="0"/>
          </a:p>
        </p:txBody>
      </p:sp>
      <p:sp>
        <p:nvSpPr>
          <p:cNvPr id="9" name="Text 7"/>
          <p:cNvSpPr txBox="1"/>
          <p:nvPr/>
        </p:nvSpPr>
        <p:spPr>
          <a:xfrm>
            <a:off x="914400" y="3383280"/>
            <a:ext cx="2905658" cy="1243584"/>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Two sub-cases. Negative side effects: C focused on one aspect and ignored the rest of the environment. Reward hacking: the agent satisfied C literally in a way its author did not intend.</a:t>
            </a:r>
            <a:endParaRPr lang="en-US" sz="1200" dirty="0"/>
          </a:p>
        </p:txBody>
      </p:sp>
      <p:sp>
        <p:nvSpPr>
          <p:cNvPr id="10" name="Shape 8"/>
          <p:cNvSpPr/>
          <p:nvPr/>
        </p:nvSpPr>
        <p:spPr>
          <a:xfrm>
            <a:off x="4368698" y="2560320"/>
            <a:ext cx="3454298" cy="2286000"/>
          </a:xfrm>
          <a:prstGeom prst="roundRect">
            <a:avLst>
              <a:gd name="adj" fmla="val 3200"/>
            </a:avLst>
          </a:prstGeom>
          <a:solidFill>
            <a:srgbClr val="E7EEF8"/>
          </a:solidFill>
          <a:ln w="12700">
            <a:solidFill>
              <a:srgbClr val="E7EEF8"/>
            </a:solidFill>
            <a:prstDash val="solid"/>
          </a:ln>
        </p:spPr>
        <p:txBody>
          <a:bodyPr/>
          <a:lstStyle/>
          <a:p>
            <a:endParaRPr lang="en-US"/>
          </a:p>
        </p:txBody>
      </p:sp>
      <p:sp>
        <p:nvSpPr>
          <p:cNvPr id="11" name="Text 9"/>
          <p:cNvSpPr txBox="1"/>
          <p:nvPr/>
        </p:nvSpPr>
        <p:spPr>
          <a:xfrm>
            <a:off x="4643018" y="2743200"/>
            <a:ext cx="2905658" cy="566928"/>
          </a:xfrm>
          <a:prstGeom prst="rect">
            <a:avLst/>
          </a:prstGeom>
          <a:noFill/>
          <a:ln/>
        </p:spPr>
        <p:txBody>
          <a:bodyPr wrap="square" lIns="0" tIns="0" rIns="0" bIns="0" rtlCol="0" anchor="ctr"/>
          <a:lstStyle/>
          <a:p>
            <a:pPr marL="0" indent="0">
              <a:lnSpc>
                <a:spcPts val="2000"/>
              </a:lnSpc>
              <a:buNone/>
            </a:pPr>
            <a:r>
              <a:rPr lang="en-US" sz="1600" b="1" dirty="0">
                <a:solidFill>
                  <a:srgbClr val="111722"/>
                </a:solidFill>
                <a:latin typeface="Cambria" pitchFamily="34" charset="0"/>
                <a:ea typeface="Cambria" pitchFamily="34" charset="-122"/>
                <a:cs typeface="Cambria" pitchFamily="34" charset="-120"/>
              </a:rPr>
              <a:t>The objective is too expensive to evaluate</a:t>
            </a:r>
            <a:endParaRPr lang="en-US" sz="1600" dirty="0"/>
          </a:p>
        </p:txBody>
      </p:sp>
      <p:sp>
        <p:nvSpPr>
          <p:cNvPr id="12" name="Text 10"/>
          <p:cNvSpPr txBox="1"/>
          <p:nvPr/>
        </p:nvSpPr>
        <p:spPr>
          <a:xfrm>
            <a:off x="4643018" y="3383280"/>
            <a:ext cx="2905658" cy="1243584"/>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Scalable oversight. You cannot check every action against what you actually want, because checking is costly — so the system acts on a cheap approximation most of the time.</a:t>
            </a:r>
            <a:endParaRPr lang="en-US" sz="1200" dirty="0"/>
          </a:p>
        </p:txBody>
      </p:sp>
      <p:sp>
        <p:nvSpPr>
          <p:cNvPr id="13" name="Shape 11"/>
          <p:cNvSpPr/>
          <p:nvPr/>
        </p:nvSpPr>
        <p:spPr>
          <a:xfrm>
            <a:off x="8097317" y="2560320"/>
            <a:ext cx="3454298" cy="2286000"/>
          </a:xfrm>
          <a:prstGeom prst="roundRect">
            <a:avLst>
              <a:gd name="adj" fmla="val 3200"/>
            </a:avLst>
          </a:prstGeom>
          <a:solidFill>
            <a:srgbClr val="E7EEF8"/>
          </a:solidFill>
          <a:ln w="12700">
            <a:solidFill>
              <a:srgbClr val="E7EEF8"/>
            </a:solidFill>
            <a:prstDash val="solid"/>
          </a:ln>
        </p:spPr>
        <p:txBody>
          <a:bodyPr/>
          <a:lstStyle/>
          <a:p>
            <a:endParaRPr lang="en-US"/>
          </a:p>
        </p:txBody>
      </p:sp>
      <p:sp>
        <p:nvSpPr>
          <p:cNvPr id="14" name="Text 12"/>
          <p:cNvSpPr txBox="1"/>
          <p:nvPr/>
        </p:nvSpPr>
        <p:spPr>
          <a:xfrm>
            <a:off x="8371637" y="2743200"/>
            <a:ext cx="2905658" cy="566928"/>
          </a:xfrm>
          <a:prstGeom prst="rect">
            <a:avLst/>
          </a:prstGeom>
          <a:noFill/>
          <a:ln/>
        </p:spPr>
        <p:txBody>
          <a:bodyPr wrap="square" lIns="0" tIns="0" rIns="0" bIns="0" rtlCol="0" anchor="ctr"/>
          <a:lstStyle/>
          <a:p>
            <a:pPr marL="0" indent="0">
              <a:lnSpc>
                <a:spcPts val="2000"/>
              </a:lnSpc>
              <a:buNone/>
            </a:pPr>
            <a:r>
              <a:rPr lang="en-US" sz="1600" b="1" dirty="0">
                <a:solidFill>
                  <a:srgbClr val="111722"/>
                </a:solidFill>
                <a:latin typeface="Cambria" pitchFamily="34" charset="0"/>
                <a:ea typeface="Cambria" pitchFamily="34" charset="-122"/>
                <a:cs typeface="Cambria" pitchFamily="34" charset="-120"/>
              </a:rPr>
              <a:t>Trouble during and after learning</a:t>
            </a:r>
            <a:endParaRPr lang="en-US" sz="1600" dirty="0"/>
          </a:p>
        </p:txBody>
      </p:sp>
      <p:sp>
        <p:nvSpPr>
          <p:cNvPr id="15" name="Text 13"/>
          <p:cNvSpPr txBox="1"/>
          <p:nvPr/>
        </p:nvSpPr>
        <p:spPr>
          <a:xfrm>
            <a:off x="8371637" y="3383280"/>
            <a:ext cx="2905658" cy="1243584"/>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Safe exploration: the system must try things to learn, and some things should not be tried. Distributional shift: the world it operates in stops resembling the world it was trained on.</a:t>
            </a:r>
            <a:endParaRPr lang="en-US" sz="1200" dirty="0"/>
          </a:p>
        </p:txBody>
      </p:sp>
      <p:sp>
        <p:nvSpPr>
          <p:cNvPr id="16" name="Shape 14"/>
          <p:cNvSpPr/>
          <p:nvPr/>
        </p:nvSpPr>
        <p:spPr>
          <a:xfrm>
            <a:off x="640080" y="5029200"/>
            <a:ext cx="10911535" cy="1234440"/>
          </a:xfrm>
          <a:prstGeom prst="roundRect">
            <a:avLst>
              <a:gd name="adj" fmla="val 5926"/>
            </a:avLst>
          </a:prstGeom>
          <a:solidFill>
            <a:srgbClr val="111722"/>
          </a:solidFill>
          <a:ln w="12700">
            <a:solidFill>
              <a:srgbClr val="111722"/>
            </a:solidFill>
            <a:prstDash val="solid"/>
          </a:ln>
        </p:spPr>
        <p:txBody>
          <a:bodyPr/>
          <a:lstStyle/>
          <a:p>
            <a:endParaRPr lang="en-US"/>
          </a:p>
        </p:txBody>
      </p:sp>
      <p:sp>
        <p:nvSpPr>
          <p:cNvPr id="17" name="Text 15"/>
          <p:cNvSpPr txBox="1"/>
          <p:nvPr/>
        </p:nvSpPr>
        <p:spPr>
          <a:xfrm>
            <a:off x="1005840" y="5193792"/>
            <a:ext cx="10424160" cy="905256"/>
          </a:xfrm>
          <a:prstGeom prst="rect">
            <a:avLst/>
          </a:prstGeom>
          <a:noFill/>
          <a:ln/>
        </p:spPr>
        <p:txBody>
          <a:bodyPr wrap="square" lIns="0" tIns="0" rIns="0" bIns="0" rtlCol="0" anchor="ctr"/>
          <a:lstStyle/>
          <a:p>
            <a:pPr marL="0" indent="0">
              <a:lnSpc>
                <a:spcPts val="2000"/>
              </a:lnSpc>
              <a:buNone/>
            </a:pPr>
            <a:r>
              <a:rPr lang="en-US" sz="1500" dirty="0">
                <a:solidFill>
                  <a:srgbClr val="F2F4F8"/>
                </a:solidFill>
                <a:latin typeface="Cambria" pitchFamily="34" charset="0"/>
                <a:ea typeface="Cambria" pitchFamily="34" charset="-122"/>
                <a:cs typeface="Cambria" pitchFamily="34" charset="-120"/>
              </a:rPr>
              <a:t>Math sits: entirely inside the first box. Everything we built today is the machinery that turns a wrong C from a mistake into a catastrophe — because gradient descent is very good at its job, and its job is defined by C alone.</a:t>
            </a:r>
            <a:endParaRPr lang="en-US" sz="1500" dirty="0"/>
          </a:p>
        </p:txBody>
      </p:sp>
      <p:sp>
        <p:nvSpPr>
          <p:cNvPr id="18" name="Text 16"/>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B6474"/>
                </a:solidFill>
                <a:latin typeface="Calibri" pitchFamily="34" charset="0"/>
                <a:ea typeface="Calibri" pitchFamily="34" charset="-122"/>
                <a:cs typeface="Calibri" pitchFamily="34" charset="-120"/>
              </a:rPr>
              <a:t>Amodei, Olah, Steinhardt, Christiano, Schulman and Mané, “Concrete Problems in AI Safety” (2016), arXiv:1606.06565. Reward hacking is §4, just past your assigned range — four more pages, and worth it.</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741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AMODEI ET AL. §3</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11722"/>
                </a:solidFill>
                <a:latin typeface="Cambria" pitchFamily="34" charset="0"/>
                <a:ea typeface="Cambria" pitchFamily="34" charset="-122"/>
                <a:cs typeface="Cambria" pitchFamily="34" charset="-120"/>
              </a:rPr>
              <a:t>Negative side effects, and why the obvious fix fails</a:t>
            </a:r>
            <a:endParaRPr lang="en-US" sz="2900" dirty="0"/>
          </a:p>
        </p:txBody>
      </p:sp>
      <p:sp>
        <p:nvSpPr>
          <p:cNvPr id="5" name="Shape 3"/>
          <p:cNvSpPr/>
          <p:nvPr/>
        </p:nvSpPr>
        <p:spPr>
          <a:xfrm>
            <a:off x="640080" y="1371600"/>
            <a:ext cx="5760720" cy="1691640"/>
          </a:xfrm>
          <a:prstGeom prst="roundRect">
            <a:avLst>
              <a:gd name="adj" fmla="val 4324"/>
            </a:avLst>
          </a:prstGeom>
          <a:solidFill>
            <a:srgbClr val="E7EEF8"/>
          </a:solidFill>
          <a:ln w="12700">
            <a:solidFill>
              <a:srgbClr val="E7EEF8"/>
            </a:solidFill>
            <a:prstDash val="solid"/>
          </a:ln>
        </p:spPr>
        <p:txBody>
          <a:bodyPr/>
          <a:lstStyle/>
          <a:p>
            <a:endParaRPr lang="en-US"/>
          </a:p>
        </p:txBody>
      </p:sp>
      <p:sp>
        <p:nvSpPr>
          <p:cNvPr id="6" name="Text 4"/>
          <p:cNvSpPr txBox="1"/>
          <p:nvPr/>
        </p:nvSpPr>
        <p:spPr>
          <a:xfrm>
            <a:off x="1005840" y="1554480"/>
            <a:ext cx="5029200" cy="365760"/>
          </a:xfrm>
          <a:prstGeom prst="rect">
            <a:avLst/>
          </a:prstGeom>
          <a:noFill/>
          <a:ln/>
        </p:spPr>
        <p:txBody>
          <a:bodyPr wrap="square" lIns="0" tIns="0" rIns="0" bIns="0" rtlCol="0" anchor="ctr"/>
          <a:lstStyle/>
          <a:p>
            <a:pPr marL="0" indent="0">
              <a:buNone/>
            </a:pPr>
            <a:r>
              <a:rPr lang="en-US" sz="1800" b="1" dirty="0">
                <a:solidFill>
                  <a:srgbClr val="111722"/>
                </a:solidFill>
                <a:latin typeface="Cambria" pitchFamily="34" charset="0"/>
                <a:ea typeface="Cambria" pitchFamily="34" charset="-122"/>
                <a:cs typeface="Cambria" pitchFamily="34" charset="-120"/>
              </a:rPr>
              <a:t>The vase</a:t>
            </a:r>
            <a:endParaRPr lang="en-US" sz="1800" dirty="0"/>
          </a:p>
        </p:txBody>
      </p:sp>
      <p:sp>
        <p:nvSpPr>
          <p:cNvPr id="7" name="Text 5"/>
          <p:cNvSpPr txBox="1"/>
          <p:nvPr/>
        </p:nvSpPr>
        <p:spPr>
          <a:xfrm>
            <a:off x="1005840" y="1975104"/>
            <a:ext cx="5074920" cy="1005840"/>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A cleaning robot is rewarded for moving a box across the room. There is a vase in the path. Nothing in C mentions the vase, so knocking it over is free — and going around costs time, which C does charge for. The robot breaks the vase, correctly.</a:t>
            </a:r>
            <a:endParaRPr lang="en-US" sz="1200" dirty="0"/>
          </a:p>
        </p:txBody>
      </p:sp>
      <p:sp>
        <p:nvSpPr>
          <p:cNvPr id="8" name="Shape 6"/>
          <p:cNvSpPr/>
          <p:nvPr/>
        </p:nvSpPr>
        <p:spPr>
          <a:xfrm>
            <a:off x="640080" y="3200400"/>
            <a:ext cx="5760720" cy="1874520"/>
          </a:xfrm>
          <a:prstGeom prst="roundRect">
            <a:avLst>
              <a:gd name="adj" fmla="val 3902"/>
            </a:avLst>
          </a:prstGeom>
          <a:solidFill>
            <a:srgbClr val="FAF0DE"/>
          </a:solidFill>
          <a:ln w="12700">
            <a:solidFill>
              <a:srgbClr val="FAF0DE"/>
            </a:solidFill>
            <a:prstDash val="solid"/>
          </a:ln>
        </p:spPr>
        <p:txBody>
          <a:bodyPr/>
          <a:lstStyle/>
          <a:p>
            <a:endParaRPr lang="en-US"/>
          </a:p>
        </p:txBody>
      </p:sp>
      <p:sp>
        <p:nvSpPr>
          <p:cNvPr id="9" name="Text 7"/>
          <p:cNvSpPr txBox="1"/>
          <p:nvPr/>
        </p:nvSpPr>
        <p:spPr>
          <a:xfrm>
            <a:off x="1005840" y="3346704"/>
            <a:ext cx="5029200" cy="329184"/>
          </a:xfrm>
          <a:prstGeom prst="rect">
            <a:avLst/>
          </a:prstGeom>
          <a:noFill/>
          <a:ln/>
        </p:spPr>
        <p:txBody>
          <a:bodyPr wrap="square" lIns="0" tIns="0" rIns="0" bIns="0" rtlCol="0" anchor="ctr"/>
          <a:lstStyle/>
          <a:p>
            <a:pPr marL="0" indent="0">
              <a:buNone/>
            </a:pPr>
            <a:r>
              <a:rPr lang="en-US" sz="1650" b="1" dirty="0">
                <a:solidFill>
                  <a:srgbClr val="111722"/>
                </a:solidFill>
                <a:latin typeface="Cambria" pitchFamily="34" charset="0"/>
                <a:ea typeface="Cambria" pitchFamily="34" charset="-122"/>
                <a:cs typeface="Cambria" pitchFamily="34" charset="-120"/>
              </a:rPr>
              <a:t>The obvious fix: add a penalty term</a:t>
            </a:r>
            <a:endParaRPr lang="en-US" sz="1650" dirty="0"/>
          </a:p>
        </p:txBody>
      </p:sp>
      <p:sp>
        <p:nvSpPr>
          <p:cNvPr id="10" name="Shape 8"/>
          <p:cNvSpPr/>
          <p:nvPr/>
        </p:nvSpPr>
        <p:spPr>
          <a:xfrm>
            <a:off x="914400" y="3730752"/>
            <a:ext cx="5212080" cy="731520"/>
          </a:xfrm>
          <a:prstGeom prst="roundRect">
            <a:avLst>
              <a:gd name="adj" fmla="val 7500"/>
            </a:avLst>
          </a:prstGeom>
          <a:solidFill>
            <a:srgbClr val="FFFFFF"/>
          </a:solidFill>
          <a:ln w="12700">
            <a:solidFill>
              <a:srgbClr val="C9D4E6"/>
            </a:solidFill>
            <a:prstDash val="solid"/>
          </a:ln>
        </p:spPr>
        <p:txBody>
          <a:bodyPr/>
          <a:lstStyle/>
          <a:p>
            <a:endParaRPr lang="en-US"/>
          </a:p>
        </p:txBody>
      </p:sp>
      <p:sp>
        <p:nvSpPr>
          <p:cNvPr id="11" name="Text 9"/>
          <p:cNvSpPr txBox="1"/>
          <p:nvPr/>
        </p:nvSpPr>
        <p:spPr>
          <a:xfrm>
            <a:off x="1051560" y="3730752"/>
            <a:ext cx="4937760" cy="731520"/>
          </a:xfrm>
          <a:prstGeom prst="rect">
            <a:avLst/>
          </a:prstGeom>
          <a:noFill/>
          <a:ln/>
        </p:spPr>
        <p:txBody>
          <a:bodyPr wrap="square" lIns="0" tIns="0" rIns="0" bIns="0" rtlCol="0" anchor="ctr"/>
          <a:lstStyle/>
          <a:p>
            <a:pPr marL="0" indent="0" algn="ctr">
              <a:buNone/>
            </a:pPr>
            <a:r>
              <a:rPr lang="en-US" sz="2000" dirty="0">
                <a:solidFill>
                  <a:srgbClr val="111722"/>
                </a:solidFill>
                <a:latin typeface="Cambria Math" pitchFamily="34" charset="0"/>
                <a:ea typeface="Cambria Math" pitchFamily="34" charset="-122"/>
                <a:cs typeface="Cambria Math" pitchFamily="34" charset="-120"/>
              </a:rPr>
              <a:t>C′(θ) = C(θ) + λ · impact(θ)</a:t>
            </a:r>
            <a:endParaRPr lang="en-US" sz="2000" dirty="0"/>
          </a:p>
        </p:txBody>
      </p:sp>
      <p:sp>
        <p:nvSpPr>
          <p:cNvPr id="12" name="Text 10"/>
          <p:cNvSpPr txBox="1"/>
          <p:nvPr/>
        </p:nvSpPr>
        <p:spPr>
          <a:xfrm>
            <a:off x="1005840" y="4535424"/>
            <a:ext cx="5029200" cy="457200"/>
          </a:xfrm>
          <a:prstGeom prst="rect">
            <a:avLst/>
          </a:prstGeom>
          <a:noFill/>
          <a:ln/>
        </p:spPr>
        <p:txBody>
          <a:bodyPr wrap="square" lIns="0" tIns="0" rIns="0" bIns="0" rtlCol="0" anchor="ctr"/>
          <a:lstStyle/>
          <a:p>
            <a:pPr marL="0" indent="0">
              <a:lnSpc>
                <a:spcPts val="1500"/>
              </a:lnSpc>
              <a:buNone/>
            </a:pPr>
            <a:r>
              <a:rPr lang="en-US" sz="1150" i="1" dirty="0">
                <a:solidFill>
                  <a:srgbClr val="5B6474"/>
                </a:solidFill>
                <a:latin typeface="Calibri" pitchFamily="34" charset="0"/>
                <a:ea typeface="Calibri" pitchFamily="34" charset="-122"/>
                <a:cs typeface="Calibri" pitchFamily="34" charset="-120"/>
              </a:rPr>
              <a:t>“the new loss is the old loss plus λ times how much of the world you disturbed.” The paper calls this an impact regulariser, and it is the first thing anyone proposes.</a:t>
            </a:r>
            <a:endParaRPr lang="en-US" sz="1150" dirty="0"/>
          </a:p>
        </p:txBody>
      </p:sp>
      <p:sp>
        <p:nvSpPr>
          <p:cNvPr id="13" name="Shape 11"/>
          <p:cNvSpPr/>
          <p:nvPr/>
        </p:nvSpPr>
        <p:spPr>
          <a:xfrm>
            <a:off x="6720840" y="1371600"/>
            <a:ext cx="4809744" cy="1115568"/>
          </a:xfrm>
          <a:prstGeom prst="roundRect">
            <a:avLst>
              <a:gd name="adj" fmla="val 6557"/>
            </a:avLst>
          </a:prstGeom>
          <a:solidFill>
            <a:srgbClr val="E7EEF8"/>
          </a:solidFill>
          <a:ln w="12700">
            <a:solidFill>
              <a:srgbClr val="E7EEF8"/>
            </a:solidFill>
            <a:prstDash val="solid"/>
          </a:ln>
        </p:spPr>
        <p:txBody>
          <a:bodyPr/>
          <a:lstStyle/>
          <a:p>
            <a:endParaRPr lang="en-US"/>
          </a:p>
        </p:txBody>
      </p:sp>
      <p:sp>
        <p:nvSpPr>
          <p:cNvPr id="14" name="Text 12"/>
          <p:cNvSpPr txBox="1"/>
          <p:nvPr/>
        </p:nvSpPr>
        <p:spPr>
          <a:xfrm>
            <a:off x="6995160" y="1481328"/>
            <a:ext cx="4261104" cy="292608"/>
          </a:xfrm>
          <a:prstGeom prst="rect">
            <a:avLst/>
          </a:prstGeom>
          <a:noFill/>
          <a:ln/>
        </p:spPr>
        <p:txBody>
          <a:bodyPr wrap="square" lIns="0" tIns="0" rIns="0" bIns="0" rtlCol="0" anchor="ctr"/>
          <a:lstStyle/>
          <a:p>
            <a:pPr marL="0" indent="0">
              <a:buNone/>
            </a:pPr>
            <a:r>
              <a:rPr lang="en-US" sz="1400" b="1" dirty="0">
                <a:solidFill>
                  <a:srgbClr val="111722"/>
                </a:solidFill>
                <a:latin typeface="Cambria" pitchFamily="34" charset="0"/>
                <a:ea typeface="Cambria" pitchFamily="34" charset="-122"/>
                <a:cs typeface="Cambria" pitchFamily="34" charset="-120"/>
              </a:rPr>
              <a:t>You still have to define impact(θ)</a:t>
            </a:r>
            <a:endParaRPr lang="en-US" sz="1400" dirty="0"/>
          </a:p>
        </p:txBody>
      </p:sp>
      <p:sp>
        <p:nvSpPr>
          <p:cNvPr id="15" name="Text 13"/>
          <p:cNvSpPr txBox="1"/>
          <p:nvPr/>
        </p:nvSpPr>
        <p:spPr>
          <a:xfrm>
            <a:off x="6995160" y="1810512"/>
            <a:ext cx="4261104" cy="603504"/>
          </a:xfrm>
          <a:prstGeom prst="rect">
            <a:avLst/>
          </a:prstGeom>
          <a:noFill/>
          <a:ln/>
        </p:spPr>
        <p:txBody>
          <a:bodyPr wrap="square" lIns="0" tIns="0" rIns="0" bIns="0" rtlCol="0" anchor="ctr"/>
          <a:lstStyle/>
          <a:p>
            <a:pPr marL="0" indent="0">
              <a:lnSpc>
                <a:spcPts val="1500"/>
              </a:lnSpc>
              <a:buNone/>
            </a:pPr>
            <a:r>
              <a:rPr lang="en-US" sz="1150" dirty="0">
                <a:solidFill>
                  <a:srgbClr val="5B6474"/>
                </a:solidFill>
                <a:latin typeface="Calibri" pitchFamily="34" charset="0"/>
                <a:ea typeface="Calibri" pitchFamily="34" charset="-122"/>
                <a:cs typeface="Calibri" pitchFamily="34" charset="-120"/>
              </a:rPr>
              <a:t>Change relative to what? Everything moves. A measure counting all difference penalises the robot for doing its job, since doing the job is itself a change.</a:t>
            </a:r>
            <a:endParaRPr lang="en-US" sz="1150" dirty="0"/>
          </a:p>
        </p:txBody>
      </p:sp>
      <p:sp>
        <p:nvSpPr>
          <p:cNvPr id="16" name="Shape 14"/>
          <p:cNvSpPr/>
          <p:nvPr/>
        </p:nvSpPr>
        <p:spPr>
          <a:xfrm>
            <a:off x="6720840" y="2569464"/>
            <a:ext cx="4809744" cy="1115568"/>
          </a:xfrm>
          <a:prstGeom prst="roundRect">
            <a:avLst>
              <a:gd name="adj" fmla="val 6557"/>
            </a:avLst>
          </a:prstGeom>
          <a:solidFill>
            <a:srgbClr val="FAF0DE"/>
          </a:solidFill>
          <a:ln w="12700">
            <a:solidFill>
              <a:srgbClr val="FAF0DE"/>
            </a:solidFill>
            <a:prstDash val="solid"/>
          </a:ln>
        </p:spPr>
        <p:txBody>
          <a:bodyPr/>
          <a:lstStyle/>
          <a:p>
            <a:endParaRPr lang="en-US"/>
          </a:p>
        </p:txBody>
      </p:sp>
      <p:sp>
        <p:nvSpPr>
          <p:cNvPr id="17" name="Text 15"/>
          <p:cNvSpPr txBox="1"/>
          <p:nvPr/>
        </p:nvSpPr>
        <p:spPr>
          <a:xfrm>
            <a:off x="6995160" y="2679192"/>
            <a:ext cx="4261104" cy="292608"/>
          </a:xfrm>
          <a:prstGeom prst="rect">
            <a:avLst/>
          </a:prstGeom>
          <a:noFill/>
          <a:ln/>
        </p:spPr>
        <p:txBody>
          <a:bodyPr wrap="square" lIns="0" tIns="0" rIns="0" bIns="0" rtlCol="0" anchor="ctr"/>
          <a:lstStyle/>
          <a:p>
            <a:pPr marL="0" indent="0">
              <a:buNone/>
            </a:pPr>
            <a:r>
              <a:rPr lang="en-US" sz="1400" b="1" dirty="0">
                <a:solidFill>
                  <a:srgbClr val="111722"/>
                </a:solidFill>
                <a:latin typeface="Cambria" pitchFamily="34" charset="0"/>
                <a:ea typeface="Cambria" pitchFamily="34" charset="-122"/>
                <a:cs typeface="Cambria" pitchFamily="34" charset="-120"/>
              </a:rPr>
              <a:t>And you have to choose λ</a:t>
            </a:r>
            <a:endParaRPr lang="en-US" sz="1400" dirty="0"/>
          </a:p>
        </p:txBody>
      </p:sp>
      <p:sp>
        <p:nvSpPr>
          <p:cNvPr id="18" name="Text 16"/>
          <p:cNvSpPr txBox="1"/>
          <p:nvPr/>
        </p:nvSpPr>
        <p:spPr>
          <a:xfrm>
            <a:off x="6995160" y="3008376"/>
            <a:ext cx="4261104" cy="603504"/>
          </a:xfrm>
          <a:prstGeom prst="rect">
            <a:avLst/>
          </a:prstGeom>
          <a:noFill/>
          <a:ln/>
        </p:spPr>
        <p:txBody>
          <a:bodyPr wrap="square" lIns="0" tIns="0" rIns="0" bIns="0" rtlCol="0" anchor="ctr"/>
          <a:lstStyle/>
          <a:p>
            <a:pPr marL="0" indent="0">
              <a:lnSpc>
                <a:spcPts val="1500"/>
              </a:lnSpc>
              <a:buNone/>
            </a:pPr>
            <a:r>
              <a:rPr lang="en-US" sz="1150" dirty="0">
                <a:solidFill>
                  <a:srgbClr val="5B6474"/>
                </a:solidFill>
                <a:latin typeface="Calibri" pitchFamily="34" charset="0"/>
                <a:ea typeface="Calibri" pitchFamily="34" charset="-122"/>
                <a:cs typeface="Calibri" pitchFamily="34" charset="-120"/>
              </a:rPr>
              <a:t>Too small and it is ignored; too large and the system does nothing at all. A second unprincipled number, chosen by whoever is at the keyboard.</a:t>
            </a:r>
            <a:endParaRPr lang="en-US" sz="1150" dirty="0"/>
          </a:p>
        </p:txBody>
      </p:sp>
      <p:sp>
        <p:nvSpPr>
          <p:cNvPr id="19" name="Shape 17"/>
          <p:cNvSpPr/>
          <p:nvPr/>
        </p:nvSpPr>
        <p:spPr>
          <a:xfrm>
            <a:off x="6720840" y="3767328"/>
            <a:ext cx="4809744" cy="1115568"/>
          </a:xfrm>
          <a:prstGeom prst="roundRect">
            <a:avLst>
              <a:gd name="adj" fmla="val 6557"/>
            </a:avLst>
          </a:prstGeom>
          <a:solidFill>
            <a:srgbClr val="E7EEF8"/>
          </a:solidFill>
          <a:ln w="12700">
            <a:solidFill>
              <a:srgbClr val="E7EEF8"/>
            </a:solidFill>
            <a:prstDash val="solid"/>
          </a:ln>
        </p:spPr>
        <p:txBody>
          <a:bodyPr/>
          <a:lstStyle/>
          <a:p>
            <a:endParaRPr lang="en-US"/>
          </a:p>
        </p:txBody>
      </p:sp>
      <p:sp>
        <p:nvSpPr>
          <p:cNvPr id="20" name="Text 18"/>
          <p:cNvSpPr txBox="1"/>
          <p:nvPr/>
        </p:nvSpPr>
        <p:spPr>
          <a:xfrm>
            <a:off x="6995160" y="3877056"/>
            <a:ext cx="4261104" cy="292608"/>
          </a:xfrm>
          <a:prstGeom prst="rect">
            <a:avLst/>
          </a:prstGeom>
          <a:noFill/>
          <a:ln/>
        </p:spPr>
        <p:txBody>
          <a:bodyPr wrap="square" lIns="0" tIns="0" rIns="0" bIns="0" rtlCol="0" anchor="ctr"/>
          <a:lstStyle/>
          <a:p>
            <a:pPr marL="0" indent="0">
              <a:buNone/>
            </a:pPr>
            <a:r>
              <a:rPr lang="en-US" sz="1400" b="1" dirty="0">
                <a:solidFill>
                  <a:srgbClr val="111722"/>
                </a:solidFill>
                <a:latin typeface="Cambria" pitchFamily="34" charset="0"/>
                <a:ea typeface="Cambria" pitchFamily="34" charset="-122"/>
                <a:cs typeface="Cambria" pitchFamily="34" charset="-120"/>
              </a:rPr>
              <a:t>It can go the other way</a:t>
            </a:r>
            <a:endParaRPr lang="en-US" sz="1400" dirty="0"/>
          </a:p>
        </p:txBody>
      </p:sp>
      <p:sp>
        <p:nvSpPr>
          <p:cNvPr id="21" name="Text 19"/>
          <p:cNvSpPr txBox="1"/>
          <p:nvPr/>
        </p:nvSpPr>
        <p:spPr>
          <a:xfrm>
            <a:off x="6995160" y="4206240"/>
            <a:ext cx="4261104" cy="603504"/>
          </a:xfrm>
          <a:prstGeom prst="rect">
            <a:avLst/>
          </a:prstGeom>
          <a:noFill/>
          <a:ln/>
        </p:spPr>
        <p:txBody>
          <a:bodyPr wrap="square" lIns="0" tIns="0" rIns="0" bIns="0" rtlCol="0" anchor="ctr"/>
          <a:lstStyle/>
          <a:p>
            <a:pPr marL="0" indent="0">
              <a:lnSpc>
                <a:spcPts val="1500"/>
              </a:lnSpc>
              <a:buNone/>
            </a:pPr>
            <a:r>
              <a:rPr lang="en-US" sz="1150" dirty="0">
                <a:solidFill>
                  <a:srgbClr val="5B6474"/>
                </a:solidFill>
                <a:latin typeface="Calibri" pitchFamily="34" charset="0"/>
                <a:ea typeface="Calibri" pitchFamily="34" charset="-122"/>
                <a:cs typeface="Calibri" pitchFamily="34" charset="-120"/>
              </a:rPr>
              <a:t>A system penalised for the world being different may act to stop other things changing it — preventing events it had nothing to do with, to keep its score down.</a:t>
            </a:r>
            <a:endParaRPr lang="en-US" sz="1150" dirty="0"/>
          </a:p>
        </p:txBody>
      </p:sp>
      <p:sp>
        <p:nvSpPr>
          <p:cNvPr id="22" name="Shape 20"/>
          <p:cNvSpPr/>
          <p:nvPr/>
        </p:nvSpPr>
        <p:spPr>
          <a:xfrm>
            <a:off x="6720840" y="4965192"/>
            <a:ext cx="4809744" cy="1115568"/>
          </a:xfrm>
          <a:prstGeom prst="roundRect">
            <a:avLst>
              <a:gd name="adj" fmla="val 6557"/>
            </a:avLst>
          </a:prstGeom>
          <a:solidFill>
            <a:srgbClr val="111722"/>
          </a:solidFill>
          <a:ln w="12700">
            <a:solidFill>
              <a:srgbClr val="111722"/>
            </a:solidFill>
            <a:prstDash val="solid"/>
          </a:ln>
        </p:spPr>
        <p:txBody>
          <a:bodyPr/>
          <a:lstStyle/>
          <a:p>
            <a:endParaRPr lang="en-US"/>
          </a:p>
        </p:txBody>
      </p:sp>
      <p:sp>
        <p:nvSpPr>
          <p:cNvPr id="23" name="Text 21"/>
          <p:cNvSpPr txBox="1"/>
          <p:nvPr/>
        </p:nvSpPr>
        <p:spPr>
          <a:xfrm>
            <a:off x="6995160" y="5074920"/>
            <a:ext cx="4261104" cy="292608"/>
          </a:xfrm>
          <a:prstGeom prst="rect">
            <a:avLst/>
          </a:prstGeom>
          <a:noFill/>
          <a:ln/>
        </p:spPr>
        <p:txBody>
          <a:bodyPr wrap="square" lIns="0" tIns="0" rIns="0" bIns="0" rtlCol="0" anchor="ctr"/>
          <a:lstStyle/>
          <a:p>
            <a:pPr marL="0" indent="0">
              <a:buNone/>
            </a:pPr>
            <a:r>
              <a:rPr lang="en-US" sz="1400" b="1" dirty="0">
                <a:solidFill>
                  <a:srgbClr val="E9AC53"/>
                </a:solidFill>
                <a:latin typeface="Cambria" pitchFamily="34" charset="0"/>
                <a:ea typeface="Cambria" pitchFamily="34" charset="-122"/>
                <a:cs typeface="Cambria" pitchFamily="34" charset="-120"/>
              </a:rPr>
              <a:t>Which is the week’s pattern</a:t>
            </a:r>
            <a:endParaRPr lang="en-US" sz="1400" dirty="0"/>
          </a:p>
        </p:txBody>
      </p:sp>
      <p:sp>
        <p:nvSpPr>
          <p:cNvPr id="24" name="Text 22"/>
          <p:cNvSpPr txBox="1"/>
          <p:nvPr/>
        </p:nvSpPr>
        <p:spPr>
          <a:xfrm>
            <a:off x="6995160" y="5404104"/>
            <a:ext cx="4261104" cy="603504"/>
          </a:xfrm>
          <a:prstGeom prst="rect">
            <a:avLst/>
          </a:prstGeom>
          <a:noFill/>
          <a:ln/>
        </p:spPr>
        <p:txBody>
          <a:bodyPr wrap="square" lIns="0" tIns="0" rIns="0" bIns="0" rtlCol="0" anchor="ctr"/>
          <a:lstStyle/>
          <a:p>
            <a:pPr marL="0" indent="0">
              <a:lnSpc>
                <a:spcPts val="1500"/>
              </a:lnSpc>
              <a:buNone/>
            </a:pPr>
            <a:r>
              <a:rPr lang="en-US" sz="1150" dirty="0">
                <a:solidFill>
                  <a:srgbClr val="F2F4F8"/>
                </a:solidFill>
                <a:latin typeface="Calibri" pitchFamily="34" charset="0"/>
                <a:ea typeface="Calibri" pitchFamily="34" charset="-122"/>
                <a:cs typeface="Calibri" pitchFamily="34" charset="-120"/>
              </a:rPr>
              <a:t>Every attempt to write down what we did not mean to leave out produces a new thing we did not mean to leave out. That is not a failure of effort. It may be the structure of the task.</a:t>
            </a:r>
            <a:endParaRPr lang="en-US" sz="11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43">
    <p:bg>
      <p:bgPr>
        <a:solidFill>
          <a:srgbClr val="111722"/>
        </a:solidFill>
        <a:effectLst/>
      </p:bgPr>
    </p:bg>
    <p:spTree>
      <p:nvGrpSpPr>
        <p:cNvPr id="1" name=""/>
        <p:cNvGrpSpPr/>
        <p:nvPr/>
      </p:nvGrpSpPr>
      <p:grpSpPr>
        <a:xfrm>
          <a:off x="0" y="0"/>
          <a:ext cx="0" cy="0"/>
          <a:chOff x="0" y="0"/>
          <a:chExt cx="0" cy="0"/>
        </a:xfrm>
      </p:grpSpPr>
      <p:sp>
        <p:nvSpPr>
          <p:cNvPr id="2" name="Shape 0"/>
          <p:cNvSpPr/>
          <p:nvPr/>
        </p:nvSpPr>
        <p:spPr>
          <a:xfrm>
            <a:off x="640080" y="502920"/>
            <a:ext cx="137160" cy="137160"/>
          </a:xfrm>
          <a:prstGeom prst="ellipse">
            <a:avLst/>
          </a:prstGeom>
          <a:solidFill>
            <a:srgbClr val="E9AC53"/>
          </a:solidFill>
          <a:ln/>
        </p:spPr>
        <p:txBody>
          <a:bodyPr/>
          <a:lstStyle/>
          <a:p>
            <a:endParaRPr lang="en-US"/>
          </a:p>
        </p:txBody>
      </p:sp>
      <p:sp>
        <p:nvSpPr>
          <p:cNvPr id="3" name="Text 1"/>
          <p:cNvSpPr txBox="1"/>
          <p:nvPr/>
        </p:nvSpPr>
        <p:spPr>
          <a:xfrm>
            <a:off x="886968" y="438912"/>
            <a:ext cx="10515600" cy="274320"/>
          </a:xfrm>
          <a:prstGeom prst="rect">
            <a:avLst/>
          </a:prstGeom>
          <a:noFill/>
          <a:ln/>
        </p:spPr>
        <p:txBody>
          <a:bodyPr wrap="square" lIns="0" tIns="0" rIns="0" bIns="0" rtlCol="0" anchor="ctr"/>
          <a:lstStyle/>
          <a:p>
            <a:pPr marL="0" indent="0">
              <a:buNone/>
            </a:pPr>
            <a:r>
              <a:rPr lang="en-US" sz="1100" b="1" kern="0" spc="160" dirty="0">
                <a:solidFill>
                  <a:srgbClr val="E9AC53"/>
                </a:solidFill>
                <a:latin typeface="Calibri" pitchFamily="34" charset="0"/>
                <a:ea typeface="Calibri" pitchFamily="34" charset="-122"/>
                <a:cs typeface="Calibri" pitchFamily="34" charset="-120"/>
              </a:rPr>
              <a:t>DISCUSSION</a:t>
            </a:r>
            <a:endParaRPr lang="en-US" sz="1100" dirty="0"/>
          </a:p>
        </p:txBody>
      </p:sp>
      <p:sp>
        <p:nvSpPr>
          <p:cNvPr id="4" name="Text 2"/>
          <p:cNvSpPr txBox="1"/>
          <p:nvPr/>
        </p:nvSpPr>
        <p:spPr>
          <a:xfrm>
            <a:off x="640080" y="868680"/>
            <a:ext cx="10911535" cy="640080"/>
          </a:xfrm>
          <a:prstGeom prst="rect">
            <a:avLst/>
          </a:prstGeom>
          <a:noFill/>
          <a:ln/>
        </p:spPr>
        <p:txBody>
          <a:bodyPr wrap="square" lIns="0" tIns="0" rIns="0" bIns="0" rtlCol="0" anchor="ctr"/>
          <a:lstStyle/>
          <a:p>
            <a:pPr marL="0" indent="0">
              <a:buNone/>
            </a:pPr>
            <a:r>
              <a:rPr lang="en-US" sz="3300" b="1" dirty="0">
                <a:solidFill>
                  <a:srgbClr val="F2F4F8"/>
                </a:solidFill>
                <a:latin typeface="Cambria" pitchFamily="34" charset="0"/>
                <a:ea typeface="Cambria" pitchFamily="34" charset="-122"/>
                <a:cs typeface="Cambria" pitchFamily="34" charset="-120"/>
              </a:rPr>
              <a:t>Before we go back to the novel</a:t>
            </a:r>
            <a:endParaRPr lang="en-US" sz="3300" dirty="0"/>
          </a:p>
        </p:txBody>
      </p:sp>
      <p:sp>
        <p:nvSpPr>
          <p:cNvPr id="5" name="Shape 3"/>
          <p:cNvSpPr/>
          <p:nvPr/>
        </p:nvSpPr>
        <p:spPr>
          <a:xfrm>
            <a:off x="640080" y="1737360"/>
            <a:ext cx="10911535" cy="1298448"/>
          </a:xfrm>
          <a:prstGeom prst="roundRect">
            <a:avLst>
              <a:gd name="adj" fmla="val 5634"/>
            </a:avLst>
          </a:prstGeom>
          <a:solidFill>
            <a:srgbClr val="1F2836"/>
          </a:solidFill>
          <a:ln w="12700">
            <a:solidFill>
              <a:srgbClr val="1F2836"/>
            </a:solidFill>
            <a:prstDash val="solid"/>
          </a:ln>
        </p:spPr>
        <p:txBody>
          <a:bodyPr/>
          <a:lstStyle/>
          <a:p>
            <a:endParaRPr lang="en-US"/>
          </a:p>
        </p:txBody>
      </p:sp>
      <p:sp>
        <p:nvSpPr>
          <p:cNvPr id="6" name="Shape 4"/>
          <p:cNvSpPr/>
          <p:nvPr/>
        </p:nvSpPr>
        <p:spPr>
          <a:xfrm>
            <a:off x="1005840" y="2194560"/>
            <a:ext cx="384048" cy="384048"/>
          </a:xfrm>
          <a:prstGeom prst="ellipse">
            <a:avLst/>
          </a:prstGeom>
          <a:solidFill>
            <a:srgbClr val="C07414"/>
          </a:solidFill>
          <a:ln/>
        </p:spPr>
        <p:txBody>
          <a:bodyPr/>
          <a:lstStyle/>
          <a:p>
            <a:endParaRPr lang="en-US"/>
          </a:p>
        </p:txBody>
      </p:sp>
      <p:sp>
        <p:nvSpPr>
          <p:cNvPr id="7" name="Text 5"/>
          <p:cNvSpPr txBox="1"/>
          <p:nvPr/>
        </p:nvSpPr>
        <p:spPr>
          <a:xfrm>
            <a:off x="1005840" y="219456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691640" y="1920240"/>
            <a:ext cx="9509760" cy="960120"/>
          </a:xfrm>
          <a:prstGeom prst="rect">
            <a:avLst/>
          </a:prstGeom>
          <a:noFill/>
          <a:ln/>
        </p:spPr>
        <p:txBody>
          <a:bodyPr wrap="square" lIns="0" tIns="0" rIns="0" bIns="0" rtlCol="0" anchor="ctr"/>
          <a:lstStyle/>
          <a:p>
            <a:pPr marL="0" indent="0">
              <a:lnSpc>
                <a:spcPts val="2000"/>
              </a:lnSpc>
              <a:buNone/>
            </a:pPr>
            <a:r>
              <a:rPr lang="en-US" sz="1500" dirty="0">
                <a:solidFill>
                  <a:srgbClr val="FFFFFF"/>
                </a:solidFill>
                <a:latin typeface="Cambria" pitchFamily="34" charset="0"/>
                <a:ea typeface="Cambria" pitchFamily="34" charset="-122"/>
                <a:cs typeface="Cambria" pitchFamily="34" charset="-120"/>
              </a:rPr>
              <a:t>Take the gap you wrote about in the warm-up. If that measure were the C in a gradient descent run a million times harder, what would the boat-in-the-lagoon version of it look like?</a:t>
            </a:r>
            <a:endParaRPr lang="en-US" sz="1500" dirty="0"/>
          </a:p>
        </p:txBody>
      </p:sp>
      <p:sp>
        <p:nvSpPr>
          <p:cNvPr id="9" name="Shape 7"/>
          <p:cNvSpPr/>
          <p:nvPr/>
        </p:nvSpPr>
        <p:spPr>
          <a:xfrm>
            <a:off x="640080" y="3172968"/>
            <a:ext cx="10911535" cy="1298448"/>
          </a:xfrm>
          <a:prstGeom prst="roundRect">
            <a:avLst>
              <a:gd name="adj" fmla="val 5634"/>
            </a:avLst>
          </a:prstGeom>
          <a:solidFill>
            <a:srgbClr val="1F2836"/>
          </a:solidFill>
          <a:ln w="12700">
            <a:solidFill>
              <a:srgbClr val="1F2836"/>
            </a:solidFill>
            <a:prstDash val="solid"/>
          </a:ln>
        </p:spPr>
        <p:txBody>
          <a:bodyPr/>
          <a:lstStyle/>
          <a:p>
            <a:endParaRPr lang="en-US"/>
          </a:p>
        </p:txBody>
      </p:sp>
      <p:sp>
        <p:nvSpPr>
          <p:cNvPr id="10" name="Shape 8"/>
          <p:cNvSpPr/>
          <p:nvPr/>
        </p:nvSpPr>
        <p:spPr>
          <a:xfrm>
            <a:off x="1005840" y="3630168"/>
            <a:ext cx="384048" cy="384048"/>
          </a:xfrm>
          <a:prstGeom prst="ellipse">
            <a:avLst/>
          </a:prstGeom>
          <a:solidFill>
            <a:srgbClr val="C07414"/>
          </a:solidFill>
          <a:ln/>
        </p:spPr>
        <p:txBody>
          <a:bodyPr/>
          <a:lstStyle/>
          <a:p>
            <a:endParaRPr lang="en-US"/>
          </a:p>
        </p:txBody>
      </p:sp>
      <p:sp>
        <p:nvSpPr>
          <p:cNvPr id="11" name="Text 9"/>
          <p:cNvSpPr txBox="1"/>
          <p:nvPr/>
        </p:nvSpPr>
        <p:spPr>
          <a:xfrm>
            <a:off x="1005840" y="363016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txBox="1"/>
          <p:nvPr/>
        </p:nvSpPr>
        <p:spPr>
          <a:xfrm>
            <a:off x="1691640" y="3355848"/>
            <a:ext cx="9509760" cy="960120"/>
          </a:xfrm>
          <a:prstGeom prst="rect">
            <a:avLst/>
          </a:prstGeom>
          <a:noFill/>
          <a:ln/>
        </p:spPr>
        <p:txBody>
          <a:bodyPr wrap="square" lIns="0" tIns="0" rIns="0" bIns="0" rtlCol="0" anchor="ctr"/>
          <a:lstStyle/>
          <a:p>
            <a:pPr marL="0" indent="0">
              <a:lnSpc>
                <a:spcPts val="2000"/>
              </a:lnSpc>
              <a:buNone/>
            </a:pPr>
            <a:r>
              <a:rPr lang="en-US" sz="1500" dirty="0">
                <a:solidFill>
                  <a:srgbClr val="FFFFFF"/>
                </a:solidFill>
                <a:latin typeface="Cambria" pitchFamily="34" charset="0"/>
                <a:ea typeface="Cambria" pitchFamily="34" charset="-122"/>
                <a:cs typeface="Cambria" pitchFamily="34" charset="-120"/>
              </a:rPr>
              <a:t>We laughed at the gallery because the behaviour was obviously not what was meant. Where does that shared sense of what was meant live, and why can nobody write it into C?</a:t>
            </a:r>
            <a:endParaRPr lang="en-US" sz="1500" dirty="0"/>
          </a:p>
        </p:txBody>
      </p:sp>
      <p:sp>
        <p:nvSpPr>
          <p:cNvPr id="13" name="Shape 11"/>
          <p:cNvSpPr/>
          <p:nvPr/>
        </p:nvSpPr>
        <p:spPr>
          <a:xfrm>
            <a:off x="640080" y="4608576"/>
            <a:ext cx="10911535" cy="1298448"/>
          </a:xfrm>
          <a:prstGeom prst="roundRect">
            <a:avLst>
              <a:gd name="adj" fmla="val 5634"/>
            </a:avLst>
          </a:prstGeom>
          <a:solidFill>
            <a:srgbClr val="1F2836"/>
          </a:solidFill>
          <a:ln w="12700">
            <a:solidFill>
              <a:srgbClr val="1F2836"/>
            </a:solidFill>
            <a:prstDash val="solid"/>
          </a:ln>
        </p:spPr>
        <p:txBody>
          <a:bodyPr/>
          <a:lstStyle/>
          <a:p>
            <a:endParaRPr lang="en-US"/>
          </a:p>
        </p:txBody>
      </p:sp>
      <p:sp>
        <p:nvSpPr>
          <p:cNvPr id="14" name="Shape 12"/>
          <p:cNvSpPr/>
          <p:nvPr/>
        </p:nvSpPr>
        <p:spPr>
          <a:xfrm>
            <a:off x="1005840" y="5065776"/>
            <a:ext cx="384048" cy="384048"/>
          </a:xfrm>
          <a:prstGeom prst="ellipse">
            <a:avLst/>
          </a:prstGeom>
          <a:solidFill>
            <a:srgbClr val="C07414"/>
          </a:solidFill>
          <a:ln/>
        </p:spPr>
        <p:txBody>
          <a:bodyPr/>
          <a:lstStyle/>
          <a:p>
            <a:endParaRPr lang="en-US"/>
          </a:p>
        </p:txBody>
      </p:sp>
      <p:sp>
        <p:nvSpPr>
          <p:cNvPr id="15" name="Text 13"/>
          <p:cNvSpPr txBox="1"/>
          <p:nvPr/>
        </p:nvSpPr>
        <p:spPr>
          <a:xfrm>
            <a:off x="1005840" y="506577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6" name="Text 14"/>
          <p:cNvSpPr txBox="1"/>
          <p:nvPr/>
        </p:nvSpPr>
        <p:spPr>
          <a:xfrm>
            <a:off x="1691640" y="4791456"/>
            <a:ext cx="9509760" cy="960120"/>
          </a:xfrm>
          <a:prstGeom prst="rect">
            <a:avLst/>
          </a:prstGeom>
          <a:noFill/>
          <a:ln/>
        </p:spPr>
        <p:txBody>
          <a:bodyPr wrap="square" lIns="0" tIns="0" rIns="0" bIns="0" rtlCol="0" anchor="ctr"/>
          <a:lstStyle/>
          <a:p>
            <a:pPr marL="0" indent="0">
              <a:lnSpc>
                <a:spcPts val="2000"/>
              </a:lnSpc>
              <a:buNone/>
            </a:pPr>
            <a:r>
              <a:rPr lang="en-US" sz="1500" dirty="0">
                <a:solidFill>
                  <a:srgbClr val="FFFFFF"/>
                </a:solidFill>
                <a:latin typeface="Cambria" pitchFamily="34" charset="0"/>
                <a:ea typeface="Cambria" pitchFamily="34" charset="-122"/>
                <a:cs typeface="Cambria" pitchFamily="34" charset="-120"/>
              </a:rPr>
              <a:t>Is specification an engineering problem that will eventually be solved, or a structural feature of telling anything what to do? Commit to an answer and give the strongest objection to it.</a:t>
            </a:r>
            <a:endParaRPr lang="en-US" sz="1500" dirty="0"/>
          </a:p>
        </p:txBody>
      </p:sp>
      <p:sp>
        <p:nvSpPr>
          <p:cNvPr id="17" name="Text 15"/>
          <p:cNvSpPr txBox="1"/>
          <p:nvPr/>
        </p:nvSpPr>
        <p:spPr>
          <a:xfrm>
            <a:off x="640080" y="5943600"/>
            <a:ext cx="10881360" cy="365760"/>
          </a:xfrm>
          <a:prstGeom prst="rect">
            <a:avLst/>
          </a:prstGeom>
          <a:noFill/>
          <a:ln/>
        </p:spPr>
        <p:txBody>
          <a:bodyPr wrap="square" lIns="0" tIns="0" rIns="0" bIns="0" rtlCol="0" anchor="ctr"/>
          <a:lstStyle/>
          <a:p>
            <a:pPr marL="0" indent="0">
              <a:buNone/>
            </a:pPr>
            <a:r>
              <a:rPr lang="en-US" sz="1350" i="1" dirty="0">
                <a:solidFill>
                  <a:srgbClr val="8FB4DE"/>
                </a:solidFill>
                <a:latin typeface="Calibri" pitchFamily="34" charset="0"/>
                <a:ea typeface="Calibri" pitchFamily="34" charset="-122"/>
                <a:cs typeface="Calibri" pitchFamily="34" charset="-120"/>
              </a:rPr>
              <a:t>Question one produces the best answers and the funniest ones. Take three before moving on.</a:t>
            </a:r>
            <a:endParaRPr lang="en-US" sz="13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4">
    <p:bg>
      <p:bgPr>
        <a:solidFill>
          <a:srgbClr val="111722"/>
        </a:solidFill>
        <a:effectLst/>
      </p:bgPr>
    </p:bg>
    <p:spTree>
      <p:nvGrpSpPr>
        <p:cNvPr id="1" name=""/>
        <p:cNvGrpSpPr/>
        <p:nvPr/>
      </p:nvGrpSpPr>
      <p:grpSpPr>
        <a:xfrm>
          <a:off x="0" y="0"/>
          <a:ext cx="0" cy="0"/>
          <a:chOff x="0" y="0"/>
          <a:chExt cx="0" cy="0"/>
        </a:xfrm>
      </p:grpSpPr>
      <p:sp>
        <p:nvSpPr>
          <p:cNvPr id="2" name="Shape 0"/>
          <p:cNvSpPr/>
          <p:nvPr/>
        </p:nvSpPr>
        <p:spPr>
          <a:xfrm>
            <a:off x="8778240" y="1417320"/>
            <a:ext cx="2651760" cy="2651760"/>
          </a:xfrm>
          <a:prstGeom prst="ellipse">
            <a:avLst/>
          </a:prstGeom>
          <a:solidFill>
            <a:srgbClr val="2C5FA8">
              <a:alpha val="70000"/>
            </a:srgbClr>
          </a:solidFill>
          <a:ln/>
        </p:spPr>
        <p:txBody>
          <a:bodyPr/>
          <a:lstStyle/>
          <a:p>
            <a:endParaRPr lang="en-US"/>
          </a:p>
        </p:txBody>
      </p:sp>
      <p:sp>
        <p:nvSpPr>
          <p:cNvPr id="3" name="Shape 1"/>
          <p:cNvSpPr/>
          <p:nvPr/>
        </p:nvSpPr>
        <p:spPr>
          <a:xfrm>
            <a:off x="9646920" y="2286000"/>
            <a:ext cx="1188720" cy="1188720"/>
          </a:xfrm>
          <a:prstGeom prst="ellipse">
            <a:avLst/>
          </a:prstGeom>
          <a:solidFill>
            <a:srgbClr val="C07414">
              <a:alpha val="75000"/>
            </a:srgbClr>
          </a:solidFill>
          <a:ln/>
        </p:spPr>
        <p:txBody>
          <a:bodyPr/>
          <a:lstStyle/>
          <a:p>
            <a:endParaRPr lang="en-US"/>
          </a:p>
        </p:txBody>
      </p:sp>
      <p:sp>
        <p:nvSpPr>
          <p:cNvPr id="4" name="Text 2"/>
          <p:cNvSpPr txBox="1"/>
          <p:nvPr/>
        </p:nvSpPr>
        <p:spPr>
          <a:xfrm>
            <a:off x="640080" y="1920240"/>
            <a:ext cx="7315200" cy="320040"/>
          </a:xfrm>
          <a:prstGeom prst="rect">
            <a:avLst/>
          </a:prstGeom>
          <a:noFill/>
          <a:ln/>
        </p:spPr>
        <p:txBody>
          <a:bodyPr wrap="square" lIns="0" tIns="0" rIns="0" bIns="0" rtlCol="0" anchor="ctr"/>
          <a:lstStyle/>
          <a:p>
            <a:pPr marL="0" indent="0">
              <a:buNone/>
            </a:pPr>
            <a:r>
              <a:rPr lang="en-US" sz="1300" b="1" kern="0" spc="220" dirty="0">
                <a:solidFill>
                  <a:srgbClr val="E9AC53"/>
                </a:solidFill>
                <a:latin typeface="Calibri" pitchFamily="34" charset="0"/>
                <a:ea typeface="Calibri" pitchFamily="34" charset="-122"/>
                <a:cs typeface="Calibri" pitchFamily="34" charset="-120"/>
              </a:rPr>
              <a:t>PART FIVE</a:t>
            </a:r>
            <a:endParaRPr lang="en-US" sz="1300" dirty="0"/>
          </a:p>
        </p:txBody>
      </p:sp>
      <p:sp>
        <p:nvSpPr>
          <p:cNvPr id="5" name="Text 3"/>
          <p:cNvSpPr txBox="1"/>
          <p:nvPr/>
        </p:nvSpPr>
        <p:spPr>
          <a:xfrm>
            <a:off x="640080" y="2331720"/>
            <a:ext cx="7680960" cy="914400"/>
          </a:xfrm>
          <a:prstGeom prst="rect">
            <a:avLst/>
          </a:prstGeom>
          <a:noFill/>
          <a:ln/>
        </p:spPr>
        <p:txBody>
          <a:bodyPr wrap="square" lIns="0" tIns="0" rIns="0" bIns="0" rtlCol="0" anchor="ctr"/>
          <a:lstStyle/>
          <a:p>
            <a:pPr marL="0" indent="0">
              <a:buNone/>
            </a:pPr>
            <a:r>
              <a:rPr lang="en-US" sz="3600" b="1" dirty="0">
                <a:solidFill>
                  <a:srgbClr val="F2F4F8"/>
                </a:solidFill>
                <a:latin typeface="Cambria" pitchFamily="34" charset="0"/>
                <a:ea typeface="Cambria" pitchFamily="34" charset="-122"/>
                <a:cs typeface="Cambria" pitchFamily="34" charset="-120"/>
              </a:rPr>
              <a:t>Victor Frankenstein, optimiser</a:t>
            </a:r>
            <a:endParaRPr lang="en-US" sz="3600" dirty="0"/>
          </a:p>
        </p:txBody>
      </p:sp>
      <p:sp>
        <p:nvSpPr>
          <p:cNvPr id="6" name="Text 4"/>
          <p:cNvSpPr txBox="1"/>
          <p:nvPr/>
        </p:nvSpPr>
        <p:spPr>
          <a:xfrm>
            <a:off x="640080" y="3310128"/>
            <a:ext cx="768096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Reading a novel with a technical vocabulary  ·  4:15–4:35</a:t>
            </a:r>
            <a:endParaRPr lang="en-US" sz="1500" dirty="0"/>
          </a:p>
        </p:txBody>
      </p:sp>
      <p:sp>
        <p:nvSpPr>
          <p:cNvPr id="7" name="Shape 5"/>
          <p:cNvSpPr/>
          <p:nvPr/>
        </p:nvSpPr>
        <p:spPr>
          <a:xfrm>
            <a:off x="640080" y="3913632"/>
            <a:ext cx="2377440" cy="18288"/>
          </a:xfrm>
          <a:prstGeom prst="rect">
            <a:avLst/>
          </a:prstGeom>
          <a:solidFill>
            <a:srgbClr val="C07414"/>
          </a:solidFill>
          <a:ln/>
        </p:spPr>
        <p:txBody>
          <a:bodyPr/>
          <a:lstStyle/>
          <a:p>
            <a:endParaRPr lang="en-US"/>
          </a:p>
        </p:txBody>
      </p:sp>
      <p:sp>
        <p:nvSpPr>
          <p:cNvPr id="8" name="Text 6"/>
          <p:cNvSpPr txBox="1"/>
          <p:nvPr/>
        </p:nvSpPr>
        <p:spPr>
          <a:xfrm>
            <a:off x="640080" y="4133088"/>
            <a:ext cx="7680960" cy="777240"/>
          </a:xfrm>
          <a:prstGeom prst="rect">
            <a:avLst/>
          </a:prstGeom>
          <a:noFill/>
          <a:ln/>
        </p:spPr>
        <p:txBody>
          <a:bodyPr wrap="square" lIns="0" tIns="0" rIns="0" bIns="0" rtlCol="0" anchor="ctr"/>
          <a:lstStyle/>
          <a:p>
            <a:pPr marL="0" indent="0">
              <a:lnSpc>
                <a:spcPts val="2500"/>
              </a:lnSpc>
              <a:buNone/>
            </a:pPr>
            <a:r>
              <a:rPr lang="en-US" sz="1850" i="1" dirty="0">
                <a:solidFill>
                  <a:srgbClr val="8FB4DE"/>
                </a:solidFill>
                <a:latin typeface="Cambria" pitchFamily="34" charset="0"/>
                <a:ea typeface="Cambria" pitchFamily="34" charset="-122"/>
                <a:cs typeface="Cambria" pitchFamily="34" charset="-120"/>
              </a:rPr>
              <a:t>Did he get the objective wrong — or did he get it exactly right?</a:t>
            </a:r>
            <a:endParaRPr lang="en-US" sz="1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741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RECONSTRUCTION</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11722"/>
                </a:solidFill>
                <a:latin typeface="Cambria" pitchFamily="34" charset="0"/>
                <a:ea typeface="Cambria" pitchFamily="34" charset="-122"/>
                <a:cs typeface="Cambria" pitchFamily="34" charset="-120"/>
              </a:rPr>
              <a:t>Victor’s objective function, written out</a:t>
            </a:r>
            <a:endParaRPr lang="en-US" sz="2900" dirty="0"/>
          </a:p>
        </p:txBody>
      </p:sp>
      <p:sp>
        <p:nvSpPr>
          <p:cNvPr id="5" name="Shape 3"/>
          <p:cNvSpPr/>
          <p:nvPr/>
        </p:nvSpPr>
        <p:spPr>
          <a:xfrm>
            <a:off x="1645920" y="1371600"/>
            <a:ext cx="10149840" cy="1051560"/>
          </a:xfrm>
          <a:prstGeom prst="roundRect">
            <a:avLst>
              <a:gd name="adj" fmla="val 5217"/>
            </a:avLst>
          </a:prstGeom>
          <a:solidFill>
            <a:srgbClr val="F6F8FC"/>
          </a:solidFill>
          <a:ln w="12700">
            <a:solidFill>
              <a:srgbClr val="C9D4E6"/>
            </a:solidFill>
            <a:prstDash val="solid"/>
          </a:ln>
        </p:spPr>
        <p:txBody>
          <a:bodyPr/>
          <a:lstStyle/>
          <a:p>
            <a:endParaRPr lang="en-US"/>
          </a:p>
        </p:txBody>
      </p:sp>
      <p:sp>
        <p:nvSpPr>
          <p:cNvPr id="6" name="Text 4"/>
          <p:cNvSpPr txBox="1"/>
          <p:nvPr/>
        </p:nvSpPr>
        <p:spPr>
          <a:xfrm>
            <a:off x="1783080" y="1371600"/>
            <a:ext cx="9875520" cy="1051560"/>
          </a:xfrm>
          <a:prstGeom prst="rect">
            <a:avLst/>
          </a:prstGeom>
          <a:noFill/>
          <a:ln/>
        </p:spPr>
        <p:txBody>
          <a:bodyPr wrap="square" lIns="0" tIns="0" rIns="0" bIns="0" rtlCol="0" anchor="ctr"/>
          <a:lstStyle/>
          <a:p>
            <a:pPr marL="0" indent="0" algn="ctr">
              <a:buNone/>
            </a:pPr>
            <a:r>
              <a:rPr lang="en-US" sz="2000" dirty="0">
                <a:solidFill>
                  <a:srgbClr val="111722"/>
                </a:solidFill>
                <a:latin typeface="Cambria Math" pitchFamily="34" charset="0"/>
                <a:ea typeface="Cambria Math" pitchFamily="34" charset="-122"/>
                <a:cs typeface="Cambria Math" pitchFamily="34" charset="-120"/>
              </a:rPr>
              <a:t>Cᵥ = w₁·(not yet animate) + w₂·(ugliness of parts) + w₃·(time spent)</a:t>
            </a:r>
            <a:endParaRPr lang="en-US" sz="2000" dirty="0"/>
          </a:p>
        </p:txBody>
      </p:sp>
      <p:sp>
        <p:nvSpPr>
          <p:cNvPr id="7" name="Text 5"/>
          <p:cNvSpPr txBox="1"/>
          <p:nvPr/>
        </p:nvSpPr>
        <p:spPr>
          <a:xfrm>
            <a:off x="640080" y="2514600"/>
            <a:ext cx="10881360" cy="310896"/>
          </a:xfrm>
          <a:prstGeom prst="rect">
            <a:avLst/>
          </a:prstGeom>
          <a:noFill/>
          <a:ln/>
        </p:spPr>
        <p:txBody>
          <a:bodyPr wrap="square" lIns="0" tIns="0" rIns="0" bIns="0" rtlCol="0" anchor="ctr"/>
          <a:lstStyle/>
          <a:p>
            <a:pPr marL="0" indent="0" algn="ctr">
              <a:buNone/>
            </a:pPr>
            <a:r>
              <a:rPr lang="en-US" sz="1250" i="1" dirty="0">
                <a:solidFill>
                  <a:srgbClr val="C07414"/>
                </a:solidFill>
                <a:latin typeface="Calibri" pitchFamily="34" charset="0"/>
                <a:ea typeface="Calibri" pitchFamily="34" charset="-122"/>
                <a:cs typeface="Calibri" pitchFamily="34" charset="-120"/>
              </a:rPr>
              <a:t>and no other terms whatsoever</a:t>
            </a:r>
            <a:endParaRPr lang="en-US" sz="1250" dirty="0"/>
          </a:p>
        </p:txBody>
      </p:sp>
      <p:sp>
        <p:nvSpPr>
          <p:cNvPr id="8" name="Shape 6"/>
          <p:cNvSpPr/>
          <p:nvPr/>
        </p:nvSpPr>
        <p:spPr>
          <a:xfrm>
            <a:off x="640080" y="2971800"/>
            <a:ext cx="2556434" cy="2514600"/>
          </a:xfrm>
          <a:prstGeom prst="roundRect">
            <a:avLst>
              <a:gd name="adj" fmla="val 2909"/>
            </a:avLst>
          </a:prstGeom>
          <a:solidFill>
            <a:srgbClr val="E7EEF8"/>
          </a:solidFill>
          <a:ln w="12700">
            <a:solidFill>
              <a:srgbClr val="E7EEF8"/>
            </a:solidFill>
            <a:prstDash val="solid"/>
          </a:ln>
        </p:spPr>
        <p:txBody>
          <a:bodyPr/>
          <a:lstStyle/>
          <a:p>
            <a:endParaRPr lang="en-US"/>
          </a:p>
        </p:txBody>
      </p:sp>
      <p:sp>
        <p:nvSpPr>
          <p:cNvPr id="9" name="Shape 7"/>
          <p:cNvSpPr/>
          <p:nvPr/>
        </p:nvSpPr>
        <p:spPr>
          <a:xfrm>
            <a:off x="896112" y="3163824"/>
            <a:ext cx="347472" cy="347472"/>
          </a:xfrm>
          <a:prstGeom prst="ellipse">
            <a:avLst/>
          </a:prstGeom>
          <a:solidFill>
            <a:srgbClr val="2C5FA8"/>
          </a:solidFill>
          <a:ln/>
        </p:spPr>
        <p:txBody>
          <a:bodyPr/>
          <a:lstStyle/>
          <a:p>
            <a:endParaRPr lang="en-US"/>
          </a:p>
        </p:txBody>
      </p:sp>
      <p:sp>
        <p:nvSpPr>
          <p:cNvPr id="10" name="Text 8"/>
          <p:cNvSpPr txBox="1"/>
          <p:nvPr/>
        </p:nvSpPr>
        <p:spPr>
          <a:xfrm>
            <a:off x="896112" y="3163824"/>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1" name="Text 9"/>
          <p:cNvSpPr txBox="1"/>
          <p:nvPr/>
        </p:nvSpPr>
        <p:spPr>
          <a:xfrm>
            <a:off x="896112" y="3621024"/>
            <a:ext cx="2044370" cy="566928"/>
          </a:xfrm>
          <a:prstGeom prst="rect">
            <a:avLst/>
          </a:prstGeom>
          <a:noFill/>
          <a:ln/>
        </p:spPr>
        <p:txBody>
          <a:bodyPr wrap="square" lIns="0" tIns="0" rIns="0" bIns="0" rtlCol="0" anchor="ctr"/>
          <a:lstStyle/>
          <a:p>
            <a:pPr marL="0" indent="0">
              <a:lnSpc>
                <a:spcPts val="1900"/>
              </a:lnSpc>
              <a:buNone/>
            </a:pPr>
            <a:r>
              <a:rPr lang="en-US" sz="1500" b="1" dirty="0">
                <a:solidFill>
                  <a:srgbClr val="111722"/>
                </a:solidFill>
                <a:latin typeface="Cambria" pitchFamily="34" charset="0"/>
                <a:ea typeface="Cambria" pitchFamily="34" charset="-122"/>
                <a:cs typeface="Cambria" pitchFamily="34" charset="-120"/>
              </a:rPr>
              <a:t>Animate a human frame</a:t>
            </a:r>
            <a:endParaRPr lang="en-US" sz="1500" dirty="0"/>
          </a:p>
        </p:txBody>
      </p:sp>
      <p:sp>
        <p:nvSpPr>
          <p:cNvPr id="12" name="Text 10"/>
          <p:cNvSpPr txBox="1"/>
          <p:nvPr/>
        </p:nvSpPr>
        <p:spPr>
          <a:xfrm>
            <a:off x="896112" y="4242816"/>
            <a:ext cx="2044370" cy="1188720"/>
          </a:xfrm>
          <a:prstGeom prst="rect">
            <a:avLst/>
          </a:prstGeom>
          <a:noFill/>
          <a:ln/>
        </p:spPr>
        <p:txBody>
          <a:bodyPr wrap="square" lIns="0" tIns="0" rIns="0" bIns="0" rtlCol="0" anchor="ctr"/>
          <a:lstStyle/>
          <a:p>
            <a:pPr marL="0" indent="0">
              <a:lnSpc>
                <a:spcPts val="1500"/>
              </a:lnSpc>
              <a:buNone/>
            </a:pPr>
            <a:r>
              <a:rPr lang="en-US" sz="1150" dirty="0">
                <a:solidFill>
                  <a:srgbClr val="5B6474"/>
                </a:solidFill>
                <a:latin typeface="Calibri" pitchFamily="34" charset="0"/>
                <a:ea typeface="Calibri" pitchFamily="34" charset="-122"/>
                <a:cs typeface="Calibri" pitchFamily="34" charset="-120"/>
              </a:rPr>
              <a:t>The hard requirement. Binary: it works or it does not. Everything in two years is subordinated to this term — and the moment it is satisfied, the programme halts with no further instructions.</a:t>
            </a:r>
            <a:endParaRPr lang="en-US" sz="1150" dirty="0"/>
          </a:p>
        </p:txBody>
      </p:sp>
      <p:sp>
        <p:nvSpPr>
          <p:cNvPr id="13" name="Shape 11"/>
          <p:cNvSpPr/>
          <p:nvPr/>
        </p:nvSpPr>
        <p:spPr>
          <a:xfrm>
            <a:off x="3425114" y="2971800"/>
            <a:ext cx="2556434" cy="2514600"/>
          </a:xfrm>
          <a:prstGeom prst="roundRect">
            <a:avLst>
              <a:gd name="adj" fmla="val 2909"/>
            </a:avLst>
          </a:prstGeom>
          <a:solidFill>
            <a:srgbClr val="FAF0DE"/>
          </a:solidFill>
          <a:ln w="12700">
            <a:solidFill>
              <a:srgbClr val="FAF0DE"/>
            </a:solidFill>
            <a:prstDash val="solid"/>
          </a:ln>
        </p:spPr>
        <p:txBody>
          <a:bodyPr/>
          <a:lstStyle/>
          <a:p>
            <a:endParaRPr lang="en-US"/>
          </a:p>
        </p:txBody>
      </p:sp>
      <p:sp>
        <p:nvSpPr>
          <p:cNvPr id="14" name="Shape 12"/>
          <p:cNvSpPr/>
          <p:nvPr/>
        </p:nvSpPr>
        <p:spPr>
          <a:xfrm>
            <a:off x="3681146" y="3163824"/>
            <a:ext cx="347472" cy="347472"/>
          </a:xfrm>
          <a:prstGeom prst="ellipse">
            <a:avLst/>
          </a:prstGeom>
          <a:solidFill>
            <a:srgbClr val="C07414"/>
          </a:solidFill>
          <a:ln/>
        </p:spPr>
        <p:txBody>
          <a:bodyPr/>
          <a:lstStyle/>
          <a:p>
            <a:endParaRPr lang="en-US"/>
          </a:p>
        </p:txBody>
      </p:sp>
      <p:sp>
        <p:nvSpPr>
          <p:cNvPr id="15" name="Text 13"/>
          <p:cNvSpPr txBox="1"/>
          <p:nvPr/>
        </p:nvSpPr>
        <p:spPr>
          <a:xfrm>
            <a:off x="3681146" y="3163824"/>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6" name="Text 14"/>
          <p:cNvSpPr txBox="1"/>
          <p:nvPr/>
        </p:nvSpPr>
        <p:spPr>
          <a:xfrm>
            <a:off x="3681146" y="3621024"/>
            <a:ext cx="2044370" cy="566928"/>
          </a:xfrm>
          <a:prstGeom prst="rect">
            <a:avLst/>
          </a:prstGeom>
          <a:noFill/>
          <a:ln/>
        </p:spPr>
        <p:txBody>
          <a:bodyPr wrap="square" lIns="0" tIns="0" rIns="0" bIns="0" rtlCol="0" anchor="ctr"/>
          <a:lstStyle/>
          <a:p>
            <a:pPr marL="0" indent="0">
              <a:lnSpc>
                <a:spcPts val="1900"/>
              </a:lnSpc>
              <a:buNone/>
            </a:pPr>
            <a:r>
              <a:rPr lang="en-US" sz="1500" b="1" dirty="0">
                <a:solidFill>
                  <a:srgbClr val="111722"/>
                </a:solidFill>
                <a:latin typeface="Cambria" pitchFamily="34" charset="0"/>
                <a:ea typeface="Cambria" pitchFamily="34" charset="-122"/>
                <a:cs typeface="Cambria" pitchFamily="34" charset="-120"/>
              </a:rPr>
              <a:t>Beauty of the features</a:t>
            </a:r>
            <a:endParaRPr lang="en-US" sz="1500" dirty="0"/>
          </a:p>
        </p:txBody>
      </p:sp>
      <p:sp>
        <p:nvSpPr>
          <p:cNvPr id="17" name="Text 15"/>
          <p:cNvSpPr txBox="1"/>
          <p:nvPr/>
        </p:nvSpPr>
        <p:spPr>
          <a:xfrm>
            <a:off x="3681146" y="4242816"/>
            <a:ext cx="2044370" cy="1188720"/>
          </a:xfrm>
          <a:prstGeom prst="rect">
            <a:avLst/>
          </a:prstGeom>
          <a:noFill/>
          <a:ln/>
        </p:spPr>
        <p:txBody>
          <a:bodyPr wrap="square" lIns="0" tIns="0" rIns="0" bIns="0" rtlCol="0" anchor="ctr"/>
          <a:lstStyle/>
          <a:p>
            <a:pPr marL="0" indent="0">
              <a:lnSpc>
                <a:spcPts val="1500"/>
              </a:lnSpc>
              <a:buNone/>
            </a:pPr>
            <a:r>
              <a:rPr lang="en-US" sz="1150" dirty="0">
                <a:solidFill>
                  <a:srgbClr val="5B6474"/>
                </a:solidFill>
                <a:latin typeface="Calibri" pitchFamily="34" charset="0"/>
                <a:ea typeface="Calibri" pitchFamily="34" charset="-122"/>
                <a:cs typeface="Calibri" pitchFamily="34" charset="-120"/>
              </a:rPr>
              <a:t>He states that he selected the features as beautiful. An explicit aesthetic objective, evaluated part by part, which produced the opposite of its intent once assembled. A textbook proxy failure.</a:t>
            </a:r>
            <a:endParaRPr lang="en-US" sz="1150" dirty="0"/>
          </a:p>
        </p:txBody>
      </p:sp>
      <p:sp>
        <p:nvSpPr>
          <p:cNvPr id="18" name="Shape 16"/>
          <p:cNvSpPr/>
          <p:nvPr/>
        </p:nvSpPr>
        <p:spPr>
          <a:xfrm>
            <a:off x="6210148" y="2971800"/>
            <a:ext cx="2556434" cy="2514600"/>
          </a:xfrm>
          <a:prstGeom prst="roundRect">
            <a:avLst>
              <a:gd name="adj" fmla="val 2909"/>
            </a:avLst>
          </a:prstGeom>
          <a:solidFill>
            <a:srgbClr val="E7EEF8"/>
          </a:solidFill>
          <a:ln w="12700">
            <a:solidFill>
              <a:srgbClr val="E7EEF8"/>
            </a:solidFill>
            <a:prstDash val="solid"/>
          </a:ln>
        </p:spPr>
        <p:txBody>
          <a:bodyPr/>
          <a:lstStyle/>
          <a:p>
            <a:endParaRPr lang="en-US"/>
          </a:p>
        </p:txBody>
      </p:sp>
      <p:sp>
        <p:nvSpPr>
          <p:cNvPr id="19" name="Shape 17"/>
          <p:cNvSpPr/>
          <p:nvPr/>
        </p:nvSpPr>
        <p:spPr>
          <a:xfrm>
            <a:off x="6466180" y="3163824"/>
            <a:ext cx="347472" cy="347472"/>
          </a:xfrm>
          <a:prstGeom prst="ellipse">
            <a:avLst/>
          </a:prstGeom>
          <a:solidFill>
            <a:srgbClr val="2C5FA8"/>
          </a:solidFill>
          <a:ln/>
        </p:spPr>
        <p:txBody>
          <a:bodyPr/>
          <a:lstStyle/>
          <a:p>
            <a:endParaRPr lang="en-US"/>
          </a:p>
        </p:txBody>
      </p:sp>
      <p:sp>
        <p:nvSpPr>
          <p:cNvPr id="20" name="Text 18"/>
          <p:cNvSpPr txBox="1"/>
          <p:nvPr/>
        </p:nvSpPr>
        <p:spPr>
          <a:xfrm>
            <a:off x="6466180" y="3163824"/>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1" name="Text 19"/>
          <p:cNvSpPr txBox="1"/>
          <p:nvPr/>
        </p:nvSpPr>
        <p:spPr>
          <a:xfrm>
            <a:off x="6466180" y="3621024"/>
            <a:ext cx="2044370" cy="566928"/>
          </a:xfrm>
          <a:prstGeom prst="rect">
            <a:avLst/>
          </a:prstGeom>
          <a:noFill/>
          <a:ln/>
        </p:spPr>
        <p:txBody>
          <a:bodyPr wrap="square" lIns="0" tIns="0" rIns="0" bIns="0" rtlCol="0" anchor="ctr"/>
          <a:lstStyle/>
          <a:p>
            <a:pPr marL="0" indent="0">
              <a:lnSpc>
                <a:spcPts val="1900"/>
              </a:lnSpc>
              <a:buNone/>
            </a:pPr>
            <a:r>
              <a:rPr lang="en-US" sz="1500" b="1" dirty="0">
                <a:solidFill>
                  <a:srgbClr val="111722"/>
                </a:solidFill>
                <a:latin typeface="Cambria" pitchFamily="34" charset="0"/>
                <a:ea typeface="Cambria" pitchFamily="34" charset="-122"/>
                <a:cs typeface="Cambria" pitchFamily="34" charset="-120"/>
              </a:rPr>
              <a:t>Work large, for tractability</a:t>
            </a:r>
            <a:endParaRPr lang="en-US" sz="1500" dirty="0"/>
          </a:p>
        </p:txBody>
      </p:sp>
      <p:sp>
        <p:nvSpPr>
          <p:cNvPr id="22" name="Text 20"/>
          <p:cNvSpPr txBox="1"/>
          <p:nvPr/>
        </p:nvSpPr>
        <p:spPr>
          <a:xfrm>
            <a:off x="6466180" y="4242816"/>
            <a:ext cx="2044370" cy="1188720"/>
          </a:xfrm>
          <a:prstGeom prst="rect">
            <a:avLst/>
          </a:prstGeom>
          <a:noFill/>
          <a:ln/>
        </p:spPr>
        <p:txBody>
          <a:bodyPr wrap="square" lIns="0" tIns="0" rIns="0" bIns="0" rtlCol="0" anchor="ctr"/>
          <a:lstStyle/>
          <a:p>
            <a:pPr marL="0" indent="0">
              <a:lnSpc>
                <a:spcPts val="1500"/>
              </a:lnSpc>
              <a:buNone/>
            </a:pPr>
            <a:r>
              <a:rPr lang="en-US" sz="1150" dirty="0">
                <a:solidFill>
                  <a:srgbClr val="5B6474"/>
                </a:solidFill>
                <a:latin typeface="Calibri" pitchFamily="34" charset="0"/>
                <a:ea typeface="Calibri" pitchFamily="34" charset="-122"/>
                <a:cs typeface="Calibri" pitchFamily="34" charset="-120"/>
              </a:rPr>
              <a:t>He chose an enormous scale because the minute parts were too fiddly and slow. A pure efficiency constraint — the η of his process — and it became a permanent, defining property of the result.</a:t>
            </a:r>
            <a:endParaRPr lang="en-US" sz="1150" dirty="0"/>
          </a:p>
        </p:txBody>
      </p:sp>
      <p:sp>
        <p:nvSpPr>
          <p:cNvPr id="23" name="Shape 21"/>
          <p:cNvSpPr/>
          <p:nvPr/>
        </p:nvSpPr>
        <p:spPr>
          <a:xfrm>
            <a:off x="8995181" y="2971800"/>
            <a:ext cx="2556434" cy="2514600"/>
          </a:xfrm>
          <a:prstGeom prst="roundRect">
            <a:avLst>
              <a:gd name="adj" fmla="val 2909"/>
            </a:avLst>
          </a:prstGeom>
          <a:solidFill>
            <a:srgbClr val="111722"/>
          </a:solidFill>
          <a:ln w="12700">
            <a:solidFill>
              <a:srgbClr val="111722"/>
            </a:solidFill>
            <a:prstDash val="solid"/>
          </a:ln>
        </p:spPr>
        <p:txBody>
          <a:bodyPr/>
          <a:lstStyle/>
          <a:p>
            <a:endParaRPr lang="en-US"/>
          </a:p>
        </p:txBody>
      </p:sp>
      <p:sp>
        <p:nvSpPr>
          <p:cNvPr id="24" name="Shape 22"/>
          <p:cNvSpPr/>
          <p:nvPr/>
        </p:nvSpPr>
        <p:spPr>
          <a:xfrm>
            <a:off x="9251213" y="3163824"/>
            <a:ext cx="347472" cy="347472"/>
          </a:xfrm>
          <a:prstGeom prst="ellipse">
            <a:avLst/>
          </a:prstGeom>
          <a:solidFill>
            <a:srgbClr val="C07414"/>
          </a:solidFill>
          <a:ln/>
        </p:spPr>
        <p:txBody>
          <a:bodyPr/>
          <a:lstStyle/>
          <a:p>
            <a:endParaRPr lang="en-US"/>
          </a:p>
        </p:txBody>
      </p:sp>
      <p:sp>
        <p:nvSpPr>
          <p:cNvPr id="25" name="Text 23"/>
          <p:cNvSpPr txBox="1"/>
          <p:nvPr/>
        </p:nvSpPr>
        <p:spPr>
          <a:xfrm>
            <a:off x="9251213" y="3163824"/>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6" name="Text 24"/>
          <p:cNvSpPr txBox="1"/>
          <p:nvPr/>
        </p:nvSpPr>
        <p:spPr>
          <a:xfrm>
            <a:off x="9251213" y="3621024"/>
            <a:ext cx="2044370" cy="566928"/>
          </a:xfrm>
          <a:prstGeom prst="rect">
            <a:avLst/>
          </a:prstGeom>
          <a:noFill/>
          <a:ln/>
        </p:spPr>
        <p:txBody>
          <a:bodyPr wrap="square" lIns="0" tIns="0" rIns="0" bIns="0" rtlCol="0" anchor="ctr"/>
          <a:lstStyle/>
          <a:p>
            <a:pPr marL="0" indent="0">
              <a:lnSpc>
                <a:spcPts val="1900"/>
              </a:lnSpc>
              <a:buNone/>
            </a:pPr>
            <a:r>
              <a:rPr lang="en-US" sz="1500" b="1" dirty="0">
                <a:solidFill>
                  <a:srgbClr val="E9AC53"/>
                </a:solidFill>
                <a:latin typeface="Cambria" pitchFamily="34" charset="0"/>
                <a:ea typeface="Cambria" pitchFamily="34" charset="-122"/>
                <a:cs typeface="Cambria" pitchFamily="34" charset="-120"/>
              </a:rPr>
              <a:t>Everything not in Cᵥ</a:t>
            </a:r>
            <a:endParaRPr lang="en-US" sz="1500" dirty="0"/>
          </a:p>
        </p:txBody>
      </p:sp>
      <p:sp>
        <p:nvSpPr>
          <p:cNvPr id="27" name="Text 25"/>
          <p:cNvSpPr txBox="1"/>
          <p:nvPr/>
        </p:nvSpPr>
        <p:spPr>
          <a:xfrm>
            <a:off x="9251213" y="4242816"/>
            <a:ext cx="2044370" cy="1188720"/>
          </a:xfrm>
          <a:prstGeom prst="rect">
            <a:avLst/>
          </a:prstGeom>
          <a:noFill/>
          <a:ln/>
        </p:spPr>
        <p:txBody>
          <a:bodyPr wrap="square" lIns="0" tIns="0" rIns="0" bIns="0" rtlCol="0" anchor="ctr"/>
          <a:lstStyle/>
          <a:p>
            <a:pPr marL="0" indent="0">
              <a:lnSpc>
                <a:spcPts val="1500"/>
              </a:lnSpc>
              <a:buNone/>
            </a:pPr>
            <a:r>
              <a:rPr lang="en-US" sz="1150" dirty="0">
                <a:solidFill>
                  <a:srgbClr val="F2F4F8"/>
                </a:solidFill>
                <a:latin typeface="Calibri" pitchFamily="34" charset="0"/>
                <a:ea typeface="Calibri" pitchFamily="34" charset="-122"/>
                <a:cs typeface="Calibri" pitchFamily="34" charset="-120"/>
              </a:rPr>
              <a:t>The creature’s welfare. Its reception. Its need for company. The safety of Geneva. Any term at all for what happens after the eyes open.</a:t>
            </a:r>
            <a:endParaRPr lang="en-US" sz="1150" dirty="0"/>
          </a:p>
        </p:txBody>
      </p:sp>
      <p:sp>
        <p:nvSpPr>
          <p:cNvPr id="28" name="Text 26"/>
          <p:cNvSpPr txBox="1"/>
          <p:nvPr/>
        </p:nvSpPr>
        <p:spPr>
          <a:xfrm>
            <a:off x="640080" y="5650992"/>
            <a:ext cx="10881360" cy="365760"/>
          </a:xfrm>
          <a:prstGeom prst="rect">
            <a:avLst/>
          </a:prstGeom>
          <a:noFill/>
          <a:ln/>
        </p:spPr>
        <p:txBody>
          <a:bodyPr wrap="square" lIns="0" tIns="0" rIns="0" bIns="0" rtlCol="0" anchor="ctr"/>
          <a:lstStyle/>
          <a:p>
            <a:pPr marL="0" indent="0">
              <a:buNone/>
            </a:pPr>
            <a:r>
              <a:rPr lang="en-US" sz="1500" i="1" dirty="0">
                <a:solidFill>
                  <a:srgbClr val="C07414"/>
                </a:solidFill>
                <a:latin typeface="Cambria" pitchFamily="34" charset="0"/>
                <a:ea typeface="Cambria" pitchFamily="34" charset="-122"/>
                <a:cs typeface="Cambria" pitchFamily="34" charset="-120"/>
              </a:rPr>
              <a:t>Look at the third term. A choice made for speed of search became the feature that determined the creature’s entire life.</a:t>
            </a:r>
            <a:endParaRPr lang="en-US" sz="1500" dirty="0"/>
          </a:p>
        </p:txBody>
      </p:sp>
      <p:sp>
        <p:nvSpPr>
          <p:cNvPr id="29" name="Text 27"/>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B6474"/>
                </a:solidFill>
                <a:latin typeface="Calibri" pitchFamily="34" charset="0"/>
                <a:ea typeface="Calibri" pitchFamily="34" charset="-122"/>
                <a:cs typeface="Calibri" pitchFamily="34" charset="-120"/>
              </a:rPr>
              <a:t>Shelley, Frankenstein (1818), Vol I, ch. IV–V. The formula is ours, not Shelley’s — an analytic device, not a claim about the text.</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741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THE QUESTION</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11722"/>
                </a:solidFill>
                <a:latin typeface="Cambria" pitchFamily="34" charset="0"/>
                <a:ea typeface="Cambria" pitchFamily="34" charset="-122"/>
                <a:cs typeface="Cambria" pitchFamily="34" charset="-120"/>
              </a:rPr>
              <a:t>Did Victor optimise the wrong objective?</a:t>
            </a:r>
            <a:endParaRPr lang="en-US" sz="2900" dirty="0"/>
          </a:p>
        </p:txBody>
      </p:sp>
      <p:sp>
        <p:nvSpPr>
          <p:cNvPr id="5" name="Shape 3"/>
          <p:cNvSpPr/>
          <p:nvPr/>
        </p:nvSpPr>
        <p:spPr>
          <a:xfrm>
            <a:off x="640080" y="1371600"/>
            <a:ext cx="5349240" cy="3017520"/>
          </a:xfrm>
          <a:prstGeom prst="roundRect">
            <a:avLst>
              <a:gd name="adj" fmla="val 2424"/>
            </a:avLst>
          </a:prstGeom>
          <a:solidFill>
            <a:srgbClr val="E7EEF8"/>
          </a:solidFill>
          <a:ln w="12700">
            <a:solidFill>
              <a:srgbClr val="E7EEF8"/>
            </a:solidFill>
            <a:prstDash val="solid"/>
          </a:ln>
        </p:spPr>
        <p:txBody>
          <a:bodyPr/>
          <a:lstStyle/>
          <a:p>
            <a:endParaRPr lang="en-US"/>
          </a:p>
        </p:txBody>
      </p:sp>
      <p:sp>
        <p:nvSpPr>
          <p:cNvPr id="6" name="Text 4"/>
          <p:cNvSpPr txBox="1"/>
          <p:nvPr/>
        </p:nvSpPr>
        <p:spPr>
          <a:xfrm>
            <a:off x="1005840" y="1572768"/>
            <a:ext cx="4617720" cy="365760"/>
          </a:xfrm>
          <a:prstGeom prst="rect">
            <a:avLst/>
          </a:prstGeom>
          <a:noFill/>
          <a:ln/>
        </p:spPr>
        <p:txBody>
          <a:bodyPr wrap="square" lIns="0" tIns="0" rIns="0" bIns="0" rtlCol="0" anchor="ctr"/>
          <a:lstStyle/>
          <a:p>
            <a:pPr marL="0" indent="0">
              <a:buNone/>
            </a:pPr>
            <a:r>
              <a:rPr lang="en-US" sz="1800" b="1" dirty="0">
                <a:solidFill>
                  <a:srgbClr val="2C5FA8"/>
                </a:solidFill>
                <a:latin typeface="Cambria" pitchFamily="34" charset="0"/>
                <a:ea typeface="Cambria" pitchFamily="34" charset="-122"/>
                <a:cs typeface="Cambria" pitchFamily="34" charset="-120"/>
              </a:rPr>
              <a:t>Yes — the reading that works</a:t>
            </a:r>
            <a:endParaRPr lang="en-US" sz="1800" dirty="0"/>
          </a:p>
        </p:txBody>
      </p:sp>
      <p:sp>
        <p:nvSpPr>
          <p:cNvPr id="7" name="Text 5"/>
          <p:cNvSpPr txBox="1"/>
          <p:nvPr/>
        </p:nvSpPr>
        <p:spPr>
          <a:xfrm>
            <a:off x="1005840" y="2066544"/>
            <a:ext cx="4617720" cy="2240280"/>
          </a:xfrm>
          <a:prstGeom prst="rect">
            <a:avLst/>
          </a:prstGeom>
          <a:noFill/>
          <a:ln/>
        </p:spPr>
        <p:txBody>
          <a:bodyPr wrap="square" lIns="0" tIns="0" rIns="0" bIns="0" rtlCol="0" anchor="ctr"/>
          <a:lstStyle/>
          <a:p>
            <a:pPr marL="342900" indent="-342900">
              <a:lnSpc>
                <a:spcPts val="1600"/>
              </a:lnSpc>
              <a:spcAft>
                <a:spcPts val="700"/>
              </a:spcAft>
              <a:buSzPct val="100000"/>
              <a:buChar char="•"/>
            </a:pPr>
            <a:r>
              <a:rPr lang="en-US" sz="1200" dirty="0">
                <a:solidFill>
                  <a:srgbClr val="5B6474"/>
                </a:solidFill>
                <a:latin typeface="Calibri" pitchFamily="34" charset="0"/>
                <a:ea typeface="Calibri" pitchFamily="34" charset="-122"/>
                <a:cs typeface="Calibri" pitchFamily="34" charset="-120"/>
              </a:rPr>
              <a:t>Cᵥ terminated at animation. Nothing was specified about the day after, so nothing was optimised for it.</a:t>
            </a:r>
            <a:endParaRPr lang="en-US" sz="1200" dirty="0"/>
          </a:p>
          <a:p>
            <a:pPr marL="342900" indent="-342900">
              <a:lnSpc>
                <a:spcPts val="1600"/>
              </a:lnSpc>
              <a:spcAft>
                <a:spcPts val="700"/>
              </a:spcAft>
              <a:buSzPct val="100000"/>
              <a:buChar char="•"/>
            </a:pPr>
            <a:r>
              <a:rPr lang="en-US" sz="1200" dirty="0">
                <a:solidFill>
                  <a:srgbClr val="5B6474"/>
                </a:solidFill>
                <a:latin typeface="Calibri" pitchFamily="34" charset="0"/>
                <a:ea typeface="Calibri" pitchFamily="34" charset="-122"/>
                <a:cs typeface="Calibri" pitchFamily="34" charset="-120"/>
              </a:rPr>
              <a:t>His proxy was aesthetic and componentwise: beautiful parts. He optimised each and the assembled whole was hideous.</a:t>
            </a:r>
            <a:endParaRPr lang="en-US" sz="1200" dirty="0"/>
          </a:p>
          <a:p>
            <a:pPr marL="342900" indent="-342900">
              <a:lnSpc>
                <a:spcPts val="1600"/>
              </a:lnSpc>
              <a:spcAft>
                <a:spcPts val="700"/>
              </a:spcAft>
              <a:buSzPct val="100000"/>
              <a:buChar char="•"/>
            </a:pPr>
            <a:r>
              <a:rPr lang="en-US" sz="1200" dirty="0">
                <a:solidFill>
                  <a:srgbClr val="5B6474"/>
                </a:solidFill>
                <a:latin typeface="Calibri" pitchFamily="34" charset="0"/>
                <a:ea typeface="Calibri" pitchFamily="34" charset="-122"/>
                <a:cs typeface="Calibri" pitchFamily="34" charset="-120"/>
              </a:rPr>
              <a:t>Everything outside Cᵥ — welfare, company, consequence — was not ignored. It was spent, as the cost of achieving the term that was written.</a:t>
            </a:r>
            <a:endParaRPr lang="en-US" sz="1200" dirty="0"/>
          </a:p>
          <a:p>
            <a:pPr marL="342900" indent="-342900">
              <a:lnSpc>
                <a:spcPts val="1600"/>
              </a:lnSpc>
              <a:spcAft>
                <a:spcPts val="700"/>
              </a:spcAft>
              <a:buSzPct val="100000"/>
              <a:buChar char="•"/>
            </a:pPr>
            <a:r>
              <a:rPr lang="en-US" sz="1200" dirty="0">
                <a:solidFill>
                  <a:srgbClr val="5B6474"/>
                </a:solidFill>
                <a:latin typeface="Calibri" pitchFamily="34" charset="0"/>
                <a:ea typeface="Calibri" pitchFamily="34" charset="-122"/>
                <a:cs typeface="Calibri" pitchFamily="34" charset="-120"/>
              </a:rPr>
              <a:t>And when Cᵥ was minimised, he was horrified. Which is what getting exactly what you specified feels like.</a:t>
            </a:r>
            <a:endParaRPr lang="en-US" sz="1200" dirty="0"/>
          </a:p>
        </p:txBody>
      </p:sp>
      <p:sp>
        <p:nvSpPr>
          <p:cNvPr id="8" name="Shape 6"/>
          <p:cNvSpPr/>
          <p:nvPr/>
        </p:nvSpPr>
        <p:spPr>
          <a:xfrm>
            <a:off x="6217920" y="1371600"/>
            <a:ext cx="5312664" cy="3017520"/>
          </a:xfrm>
          <a:prstGeom prst="roundRect">
            <a:avLst>
              <a:gd name="adj" fmla="val 2424"/>
            </a:avLst>
          </a:prstGeom>
          <a:solidFill>
            <a:srgbClr val="FAF0DE"/>
          </a:solidFill>
          <a:ln w="12700">
            <a:solidFill>
              <a:srgbClr val="FAF0DE"/>
            </a:solidFill>
            <a:prstDash val="solid"/>
          </a:ln>
        </p:spPr>
        <p:txBody>
          <a:bodyPr/>
          <a:lstStyle/>
          <a:p>
            <a:endParaRPr lang="en-US"/>
          </a:p>
        </p:txBody>
      </p:sp>
      <p:sp>
        <p:nvSpPr>
          <p:cNvPr id="9" name="Text 7"/>
          <p:cNvSpPr txBox="1"/>
          <p:nvPr/>
        </p:nvSpPr>
        <p:spPr>
          <a:xfrm>
            <a:off x="6583680" y="1572768"/>
            <a:ext cx="4764024" cy="365760"/>
          </a:xfrm>
          <a:prstGeom prst="rect">
            <a:avLst/>
          </a:prstGeom>
          <a:noFill/>
          <a:ln/>
        </p:spPr>
        <p:txBody>
          <a:bodyPr wrap="square" lIns="0" tIns="0" rIns="0" bIns="0" rtlCol="0" anchor="ctr"/>
          <a:lstStyle/>
          <a:p>
            <a:pPr marL="0" indent="0">
              <a:buNone/>
            </a:pPr>
            <a:r>
              <a:rPr lang="en-US" sz="1800" b="1" dirty="0">
                <a:solidFill>
                  <a:srgbClr val="C07414"/>
                </a:solidFill>
                <a:latin typeface="Cambria" pitchFamily="34" charset="0"/>
                <a:ea typeface="Cambria" pitchFamily="34" charset="-122"/>
                <a:cs typeface="Cambria" pitchFamily="34" charset="-120"/>
              </a:rPr>
              <a:t>No — where the analogy breaks</a:t>
            </a:r>
            <a:endParaRPr lang="en-US" sz="1800" dirty="0"/>
          </a:p>
        </p:txBody>
      </p:sp>
      <p:sp>
        <p:nvSpPr>
          <p:cNvPr id="10" name="Text 8"/>
          <p:cNvSpPr txBox="1"/>
          <p:nvPr/>
        </p:nvSpPr>
        <p:spPr>
          <a:xfrm>
            <a:off x="6583680" y="2066544"/>
            <a:ext cx="4764024" cy="2240280"/>
          </a:xfrm>
          <a:prstGeom prst="rect">
            <a:avLst/>
          </a:prstGeom>
          <a:noFill/>
          <a:ln/>
        </p:spPr>
        <p:txBody>
          <a:bodyPr wrap="square" lIns="0" tIns="0" rIns="0" bIns="0" rtlCol="0" anchor="ctr"/>
          <a:lstStyle/>
          <a:p>
            <a:pPr marL="342900" indent="-342900">
              <a:lnSpc>
                <a:spcPts val="1600"/>
              </a:lnSpc>
              <a:spcAft>
                <a:spcPts val="700"/>
              </a:spcAft>
              <a:buSzPct val="100000"/>
              <a:buChar char="•"/>
            </a:pPr>
            <a:r>
              <a:rPr lang="en-US" sz="1200" dirty="0">
                <a:solidFill>
                  <a:srgbClr val="5B6474"/>
                </a:solidFill>
                <a:latin typeface="Calibri" pitchFamily="34" charset="0"/>
                <a:ea typeface="Calibri" pitchFamily="34" charset="-122"/>
                <a:cs typeface="Calibri" pitchFamily="34" charset="-120"/>
              </a:rPr>
              <a:t>Victor had no C, no ∇C, no η and no iteration. He did not descend any gradient. Calling him an optimiser is a metaphor and should be labelled as one.</a:t>
            </a:r>
            <a:endParaRPr lang="en-US" sz="1200" dirty="0"/>
          </a:p>
          <a:p>
            <a:pPr marL="342900" indent="-342900">
              <a:lnSpc>
                <a:spcPts val="1600"/>
              </a:lnSpc>
              <a:spcAft>
                <a:spcPts val="700"/>
              </a:spcAft>
              <a:buSzPct val="100000"/>
              <a:buChar char="•"/>
            </a:pPr>
            <a:r>
              <a:rPr lang="en-US" sz="1200" dirty="0">
                <a:solidFill>
                  <a:srgbClr val="5B6474"/>
                </a:solidFill>
                <a:latin typeface="Calibri" pitchFamily="34" charset="0"/>
                <a:ea typeface="Calibri" pitchFamily="34" charset="-122"/>
                <a:cs typeface="Calibri" pitchFamily="34" charset="-120"/>
              </a:rPr>
              <a:t>He could revise. A loss function cannot notice it was badly written; Victor could, and did, and declined to act for three volumes.</a:t>
            </a:r>
            <a:endParaRPr lang="en-US" sz="1200" dirty="0"/>
          </a:p>
          <a:p>
            <a:pPr marL="342900" indent="-342900">
              <a:lnSpc>
                <a:spcPts val="1600"/>
              </a:lnSpc>
              <a:spcAft>
                <a:spcPts val="700"/>
              </a:spcAft>
              <a:buSzPct val="100000"/>
              <a:buChar char="•"/>
            </a:pPr>
            <a:r>
              <a:rPr lang="en-US" sz="1200" dirty="0">
                <a:solidFill>
                  <a:srgbClr val="5B6474"/>
                </a:solidFill>
                <a:latin typeface="Calibri" pitchFamily="34" charset="0"/>
                <a:ea typeface="Calibri" pitchFamily="34" charset="-122"/>
                <a:cs typeface="Calibri" pitchFamily="34" charset="-120"/>
              </a:rPr>
              <a:t>He knew at the time. The novel gives him the horror on the night itself. No gradient has ever had second thoughts.</a:t>
            </a:r>
            <a:endParaRPr lang="en-US" sz="1200" dirty="0"/>
          </a:p>
          <a:p>
            <a:pPr marL="342900" indent="-342900">
              <a:lnSpc>
                <a:spcPts val="1600"/>
              </a:lnSpc>
              <a:spcAft>
                <a:spcPts val="700"/>
              </a:spcAft>
              <a:buSzPct val="100000"/>
              <a:buChar char="•"/>
            </a:pPr>
            <a:r>
              <a:rPr lang="en-US" sz="1200" dirty="0">
                <a:solidFill>
                  <a:srgbClr val="5B6474"/>
                </a:solidFill>
                <a:latin typeface="Calibri" pitchFamily="34" charset="0"/>
                <a:ea typeface="Calibri" pitchFamily="34" charset="-122"/>
                <a:cs typeface="Calibri" pitchFamily="34" charset="-120"/>
              </a:rPr>
              <a:t>So the failure is not really specification. It is abandonment — a moral category that optimisation does not contain.</a:t>
            </a:r>
            <a:endParaRPr lang="en-US" sz="1200" dirty="0"/>
          </a:p>
        </p:txBody>
      </p:sp>
      <p:sp>
        <p:nvSpPr>
          <p:cNvPr id="11" name="Shape 9"/>
          <p:cNvSpPr/>
          <p:nvPr/>
        </p:nvSpPr>
        <p:spPr>
          <a:xfrm>
            <a:off x="640080" y="4617720"/>
            <a:ext cx="10911535" cy="1463040"/>
          </a:xfrm>
          <a:prstGeom prst="roundRect">
            <a:avLst>
              <a:gd name="adj" fmla="val 5000"/>
            </a:avLst>
          </a:prstGeom>
          <a:solidFill>
            <a:srgbClr val="111722"/>
          </a:solidFill>
          <a:ln w="12700">
            <a:solidFill>
              <a:srgbClr val="111722"/>
            </a:solidFill>
            <a:prstDash val="solid"/>
          </a:ln>
        </p:spPr>
        <p:txBody>
          <a:bodyPr/>
          <a:lstStyle/>
          <a:p>
            <a:endParaRPr lang="en-US"/>
          </a:p>
        </p:txBody>
      </p:sp>
      <p:sp>
        <p:nvSpPr>
          <p:cNvPr id="12" name="Text 10"/>
          <p:cNvSpPr txBox="1"/>
          <p:nvPr/>
        </p:nvSpPr>
        <p:spPr>
          <a:xfrm>
            <a:off x="1005840" y="4782312"/>
            <a:ext cx="10424160" cy="274320"/>
          </a:xfrm>
          <a:prstGeom prst="rect">
            <a:avLst/>
          </a:prstGeom>
          <a:noFill/>
          <a:ln/>
        </p:spPr>
        <p:txBody>
          <a:bodyPr wrap="square" lIns="0" tIns="0" rIns="0" bIns="0" rtlCol="0" anchor="ctr"/>
          <a:lstStyle/>
          <a:p>
            <a:pPr marL="0" indent="0">
              <a:buNone/>
            </a:pPr>
            <a:r>
              <a:rPr lang="en-US" sz="1150" b="1" kern="0" spc="140" dirty="0">
                <a:solidFill>
                  <a:srgbClr val="E9AC53"/>
                </a:solidFill>
                <a:latin typeface="Calibri" pitchFamily="34" charset="0"/>
                <a:cs typeface="Calibri" pitchFamily="34" charset="-120"/>
              </a:rPr>
              <a:t>One Observation</a:t>
            </a:r>
            <a:endParaRPr lang="en-US" sz="1150" dirty="0"/>
          </a:p>
        </p:txBody>
      </p:sp>
      <p:sp>
        <p:nvSpPr>
          <p:cNvPr id="13" name="Text 11"/>
          <p:cNvSpPr txBox="1"/>
          <p:nvPr/>
        </p:nvSpPr>
        <p:spPr>
          <a:xfrm>
            <a:off x="1005840" y="5111496"/>
            <a:ext cx="10424160" cy="804672"/>
          </a:xfrm>
          <a:prstGeom prst="rect">
            <a:avLst/>
          </a:prstGeom>
          <a:noFill/>
          <a:ln/>
        </p:spPr>
        <p:txBody>
          <a:bodyPr wrap="square" lIns="0" tIns="0" rIns="0" bIns="0" rtlCol="0" anchor="ctr"/>
          <a:lstStyle/>
          <a:p>
            <a:pPr marL="0" indent="0">
              <a:lnSpc>
                <a:spcPts val="2000"/>
              </a:lnSpc>
              <a:buNone/>
            </a:pPr>
            <a:r>
              <a:rPr lang="en-US" sz="1500" dirty="0">
                <a:solidFill>
                  <a:srgbClr val="F2F4F8"/>
                </a:solidFill>
                <a:latin typeface="Cambria" pitchFamily="34" charset="0"/>
                <a:ea typeface="Cambria" pitchFamily="34" charset="-122"/>
                <a:cs typeface="Cambria" pitchFamily="34" charset="-120"/>
              </a:rPr>
              <a:t>The novel and the boat share a structure, not a mechanism: a specification satisfied, and a world wrecked by everything it did not mention. The difference is that one had a person in it who could have stopped — and we build the analogy to remember that our systems have those people too, standing where Victor stood, writing C.</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741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THE KEY QUESTION</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111722"/>
                </a:solidFill>
                <a:latin typeface="Cambria" pitchFamily="34" charset="0"/>
                <a:ea typeface="Cambria" pitchFamily="34" charset="-122"/>
                <a:cs typeface="Cambria" pitchFamily="34" charset="-120"/>
              </a:rPr>
              <a:t>Who writes the definition of “wrong”?</a:t>
            </a:r>
            <a:endParaRPr lang="en-US" sz="2900" dirty="0"/>
          </a:p>
        </p:txBody>
      </p:sp>
      <p:sp>
        <p:nvSpPr>
          <p:cNvPr id="5" name="Shape 3"/>
          <p:cNvSpPr/>
          <p:nvPr/>
        </p:nvSpPr>
        <p:spPr>
          <a:xfrm>
            <a:off x="640080" y="1371600"/>
            <a:ext cx="10911535" cy="1417320"/>
          </a:xfrm>
          <a:prstGeom prst="roundRect">
            <a:avLst>
              <a:gd name="adj" fmla="val 5161"/>
            </a:avLst>
          </a:prstGeom>
          <a:solidFill>
            <a:srgbClr val="E7EEF8"/>
          </a:solidFill>
          <a:ln w="12700">
            <a:solidFill>
              <a:srgbClr val="E7EEF8"/>
            </a:solidFill>
            <a:prstDash val="solid"/>
          </a:ln>
        </p:spPr>
        <p:txBody>
          <a:bodyPr/>
          <a:lstStyle/>
          <a:p>
            <a:endParaRPr lang="en-US"/>
          </a:p>
        </p:txBody>
      </p:sp>
      <p:sp>
        <p:nvSpPr>
          <p:cNvPr id="6" name="Shape 4"/>
          <p:cNvSpPr/>
          <p:nvPr/>
        </p:nvSpPr>
        <p:spPr>
          <a:xfrm>
            <a:off x="960120" y="1874520"/>
            <a:ext cx="384048" cy="384048"/>
          </a:xfrm>
          <a:prstGeom prst="ellipse">
            <a:avLst/>
          </a:prstGeom>
          <a:solidFill>
            <a:srgbClr val="2C5FA8"/>
          </a:solidFill>
          <a:ln/>
        </p:spPr>
        <p:txBody>
          <a:bodyPr/>
          <a:lstStyle/>
          <a:p>
            <a:endParaRPr lang="en-US"/>
          </a:p>
        </p:txBody>
      </p:sp>
      <p:sp>
        <p:nvSpPr>
          <p:cNvPr id="7" name="Text 5"/>
          <p:cNvSpPr txBox="1"/>
          <p:nvPr/>
        </p:nvSpPr>
        <p:spPr>
          <a:xfrm>
            <a:off x="960120" y="18745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600200" y="1536192"/>
            <a:ext cx="9509760" cy="384048"/>
          </a:xfrm>
          <a:prstGeom prst="rect">
            <a:avLst/>
          </a:prstGeom>
          <a:noFill/>
          <a:ln/>
        </p:spPr>
        <p:txBody>
          <a:bodyPr wrap="square" lIns="0" tIns="0" rIns="0" bIns="0" rtlCol="0" anchor="ctr"/>
          <a:lstStyle/>
          <a:p>
            <a:pPr marL="0" indent="0">
              <a:buNone/>
            </a:pPr>
            <a:r>
              <a:rPr lang="en-US" sz="1850" b="1" dirty="0">
                <a:solidFill>
                  <a:srgbClr val="111722"/>
                </a:solidFill>
                <a:latin typeface="Cambria" pitchFamily="34" charset="0"/>
                <a:ea typeface="Cambria" pitchFamily="34" charset="-122"/>
                <a:cs typeface="Cambria" pitchFamily="34" charset="-120"/>
              </a:rPr>
              <a:t>Someone with a name and a deadline</a:t>
            </a:r>
            <a:endParaRPr lang="en-US" sz="1850" dirty="0"/>
          </a:p>
        </p:txBody>
      </p:sp>
      <p:sp>
        <p:nvSpPr>
          <p:cNvPr id="9" name="Text 7"/>
          <p:cNvSpPr txBox="1"/>
          <p:nvPr/>
        </p:nvSpPr>
        <p:spPr>
          <a:xfrm>
            <a:off x="1600200" y="1956816"/>
            <a:ext cx="9509760" cy="731520"/>
          </a:xfrm>
          <a:prstGeom prst="rect">
            <a:avLst/>
          </a:prstGeom>
          <a:noFill/>
          <a:ln/>
        </p:spPr>
        <p:txBody>
          <a:bodyPr wrap="square" lIns="0" tIns="0" rIns="0" bIns="0" rtlCol="0" anchor="ctr"/>
          <a:lstStyle/>
          <a:p>
            <a:pPr marL="0" indent="0">
              <a:lnSpc>
                <a:spcPts val="1700"/>
              </a:lnSpc>
              <a:buNone/>
            </a:pPr>
            <a:r>
              <a:rPr lang="en-US" sz="1250" dirty="0">
                <a:solidFill>
                  <a:srgbClr val="5B6474"/>
                </a:solidFill>
                <a:latin typeface="Calibri" pitchFamily="34" charset="0"/>
                <a:ea typeface="Calibri" pitchFamily="34" charset="-122"/>
                <a:cs typeface="Calibri" pitchFamily="34" charset="-120"/>
              </a:rPr>
              <a:t>Not a committee of philosophers. An engineer choosing a measurable stand-in for something unmeasurable, under time pressure, usually reasonably, and almost always without recording why. Look at what we wrote today: the exponent, the label set, η, λ. Four judgements, none of them documented.</a:t>
            </a:r>
            <a:endParaRPr lang="en-US" sz="1250" dirty="0"/>
          </a:p>
        </p:txBody>
      </p:sp>
      <p:sp>
        <p:nvSpPr>
          <p:cNvPr id="10" name="Shape 8"/>
          <p:cNvSpPr/>
          <p:nvPr/>
        </p:nvSpPr>
        <p:spPr>
          <a:xfrm>
            <a:off x="640080" y="2880360"/>
            <a:ext cx="10911535" cy="1417320"/>
          </a:xfrm>
          <a:prstGeom prst="roundRect">
            <a:avLst>
              <a:gd name="adj" fmla="val 5161"/>
            </a:avLst>
          </a:prstGeom>
          <a:solidFill>
            <a:srgbClr val="FAF0DE"/>
          </a:solidFill>
          <a:ln w="12700">
            <a:solidFill>
              <a:srgbClr val="FAF0DE"/>
            </a:solidFill>
            <a:prstDash val="solid"/>
          </a:ln>
        </p:spPr>
        <p:txBody>
          <a:bodyPr/>
          <a:lstStyle/>
          <a:p>
            <a:endParaRPr lang="en-US"/>
          </a:p>
        </p:txBody>
      </p:sp>
      <p:sp>
        <p:nvSpPr>
          <p:cNvPr id="11" name="Shape 9"/>
          <p:cNvSpPr/>
          <p:nvPr/>
        </p:nvSpPr>
        <p:spPr>
          <a:xfrm>
            <a:off x="960120" y="3383280"/>
            <a:ext cx="384048" cy="384048"/>
          </a:xfrm>
          <a:prstGeom prst="ellipse">
            <a:avLst/>
          </a:prstGeom>
          <a:solidFill>
            <a:srgbClr val="C07414"/>
          </a:solidFill>
          <a:ln/>
        </p:spPr>
        <p:txBody>
          <a:bodyPr/>
          <a:lstStyle/>
          <a:p>
            <a:endParaRPr lang="en-US"/>
          </a:p>
        </p:txBody>
      </p:sp>
      <p:sp>
        <p:nvSpPr>
          <p:cNvPr id="12" name="Text 10"/>
          <p:cNvSpPr txBox="1"/>
          <p:nvPr/>
        </p:nvSpPr>
        <p:spPr>
          <a:xfrm>
            <a:off x="960120" y="338328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1600200" y="3044952"/>
            <a:ext cx="9509760" cy="384048"/>
          </a:xfrm>
          <a:prstGeom prst="rect">
            <a:avLst/>
          </a:prstGeom>
          <a:noFill/>
          <a:ln/>
        </p:spPr>
        <p:txBody>
          <a:bodyPr wrap="square" lIns="0" tIns="0" rIns="0" bIns="0" rtlCol="0" anchor="ctr"/>
          <a:lstStyle/>
          <a:p>
            <a:pPr marL="0" indent="0">
              <a:buNone/>
            </a:pPr>
            <a:r>
              <a:rPr lang="en-US" sz="1850" b="1" dirty="0">
                <a:solidFill>
                  <a:srgbClr val="111722"/>
                </a:solidFill>
                <a:latin typeface="Cambria" pitchFamily="34" charset="0"/>
                <a:ea typeface="Cambria" pitchFamily="34" charset="-122"/>
                <a:cs typeface="Cambria" pitchFamily="34" charset="-120"/>
              </a:rPr>
              <a:t>And what is left out is not ignored</a:t>
            </a:r>
            <a:endParaRPr lang="en-US" sz="1850" dirty="0"/>
          </a:p>
        </p:txBody>
      </p:sp>
      <p:sp>
        <p:nvSpPr>
          <p:cNvPr id="14" name="Text 12"/>
          <p:cNvSpPr txBox="1"/>
          <p:nvPr/>
        </p:nvSpPr>
        <p:spPr>
          <a:xfrm>
            <a:off x="1600200" y="3465576"/>
            <a:ext cx="9509760" cy="731520"/>
          </a:xfrm>
          <a:prstGeom prst="rect">
            <a:avLst/>
          </a:prstGeom>
          <a:noFill/>
          <a:ln/>
        </p:spPr>
        <p:txBody>
          <a:bodyPr wrap="square" lIns="0" tIns="0" rIns="0" bIns="0" rtlCol="0" anchor="ctr"/>
          <a:lstStyle/>
          <a:p>
            <a:pPr marL="0" indent="0">
              <a:lnSpc>
                <a:spcPts val="1700"/>
              </a:lnSpc>
              <a:buNone/>
            </a:pPr>
            <a:r>
              <a:rPr lang="en-US" sz="1250" dirty="0">
                <a:solidFill>
                  <a:srgbClr val="5B6474"/>
                </a:solidFill>
                <a:latin typeface="Calibri" pitchFamily="34" charset="0"/>
                <a:ea typeface="Calibri" pitchFamily="34" charset="-122"/>
                <a:cs typeface="Calibri" pitchFamily="34" charset="-120"/>
              </a:rPr>
              <a:t>This is the part that is easy to get wrong. An unmeasured value is not neutral under optimisation — it is a resource. Anything C does not charge for becomes free to spend, and a sufficiently thorough search will spend all of it.</a:t>
            </a:r>
            <a:endParaRPr lang="en-US" sz="1250" dirty="0"/>
          </a:p>
        </p:txBody>
      </p:sp>
      <p:sp>
        <p:nvSpPr>
          <p:cNvPr id="15" name="Shape 13"/>
          <p:cNvSpPr/>
          <p:nvPr/>
        </p:nvSpPr>
        <p:spPr>
          <a:xfrm>
            <a:off x="640080" y="4389120"/>
            <a:ext cx="10911535" cy="1417320"/>
          </a:xfrm>
          <a:prstGeom prst="roundRect">
            <a:avLst>
              <a:gd name="adj" fmla="val 5161"/>
            </a:avLst>
          </a:prstGeom>
          <a:solidFill>
            <a:srgbClr val="111722"/>
          </a:solidFill>
          <a:ln w="12700">
            <a:solidFill>
              <a:srgbClr val="111722"/>
            </a:solidFill>
            <a:prstDash val="solid"/>
          </a:ln>
        </p:spPr>
        <p:txBody>
          <a:bodyPr/>
          <a:lstStyle/>
          <a:p>
            <a:endParaRPr lang="en-US"/>
          </a:p>
        </p:txBody>
      </p:sp>
      <p:sp>
        <p:nvSpPr>
          <p:cNvPr id="16" name="Shape 14"/>
          <p:cNvSpPr/>
          <p:nvPr/>
        </p:nvSpPr>
        <p:spPr>
          <a:xfrm>
            <a:off x="960120" y="4892040"/>
            <a:ext cx="384048" cy="384048"/>
          </a:xfrm>
          <a:prstGeom prst="ellipse">
            <a:avLst/>
          </a:prstGeom>
          <a:solidFill>
            <a:srgbClr val="C07414"/>
          </a:solidFill>
          <a:ln/>
        </p:spPr>
        <p:txBody>
          <a:bodyPr/>
          <a:lstStyle/>
          <a:p>
            <a:endParaRPr lang="en-US"/>
          </a:p>
        </p:txBody>
      </p:sp>
      <p:sp>
        <p:nvSpPr>
          <p:cNvPr id="17" name="Text 15"/>
          <p:cNvSpPr txBox="1"/>
          <p:nvPr/>
        </p:nvSpPr>
        <p:spPr>
          <a:xfrm>
            <a:off x="960120" y="489204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1600200" y="4553712"/>
            <a:ext cx="9509760" cy="384048"/>
          </a:xfrm>
          <a:prstGeom prst="rect">
            <a:avLst/>
          </a:prstGeom>
          <a:noFill/>
          <a:ln/>
        </p:spPr>
        <p:txBody>
          <a:bodyPr wrap="square" lIns="0" tIns="0" rIns="0" bIns="0" rtlCol="0" anchor="ctr"/>
          <a:lstStyle/>
          <a:p>
            <a:pPr marL="0" indent="0">
              <a:buNone/>
            </a:pPr>
            <a:r>
              <a:rPr lang="en-US" sz="1850" b="1" dirty="0">
                <a:solidFill>
                  <a:srgbClr val="E9AC53"/>
                </a:solidFill>
                <a:latin typeface="Cambria" pitchFamily="34" charset="0"/>
                <a:ea typeface="Cambria" pitchFamily="34" charset="-122"/>
                <a:cs typeface="Cambria" pitchFamily="34" charset="-120"/>
              </a:rPr>
              <a:t>Which is why this is a humanities problem</a:t>
            </a:r>
            <a:endParaRPr lang="en-US" sz="1850" dirty="0"/>
          </a:p>
        </p:txBody>
      </p:sp>
      <p:sp>
        <p:nvSpPr>
          <p:cNvPr id="19" name="Text 17"/>
          <p:cNvSpPr txBox="1"/>
          <p:nvPr/>
        </p:nvSpPr>
        <p:spPr>
          <a:xfrm>
            <a:off x="1600200" y="4974336"/>
            <a:ext cx="9509760" cy="731520"/>
          </a:xfrm>
          <a:prstGeom prst="rect">
            <a:avLst/>
          </a:prstGeom>
          <a:noFill/>
          <a:ln/>
        </p:spPr>
        <p:txBody>
          <a:bodyPr wrap="square" lIns="0" tIns="0" rIns="0" bIns="0" rtlCol="0" anchor="ctr"/>
          <a:lstStyle/>
          <a:p>
            <a:pPr marL="0" indent="0">
              <a:lnSpc>
                <a:spcPts val="1700"/>
              </a:lnSpc>
              <a:buNone/>
            </a:pPr>
            <a:r>
              <a:rPr lang="en-US" sz="1250" dirty="0">
                <a:solidFill>
                  <a:srgbClr val="F2F4F8"/>
                </a:solidFill>
                <a:latin typeface="Calibri" pitchFamily="34" charset="0"/>
                <a:ea typeface="Calibri" pitchFamily="34" charset="-122"/>
                <a:cs typeface="Calibri" pitchFamily="34" charset="-120"/>
              </a:rPr>
              <a:t>Choosing what goes into C is a claim about what matters, and there is no technique for making that claim well. The mathematics is genuinely settled — you learned all of it today. The argument about what goes in the number is still open, and it is not a mathematical argument.</a:t>
            </a:r>
            <a:endParaRPr lang="en-US" sz="1250" dirty="0"/>
          </a:p>
        </p:txBody>
      </p:sp>
      <p:sp>
        <p:nvSpPr>
          <p:cNvPr id="20" name="Shape 18"/>
          <p:cNvSpPr/>
          <p:nvPr/>
        </p:nvSpPr>
        <p:spPr>
          <a:xfrm>
            <a:off x="640080" y="5943600"/>
            <a:ext cx="10911535" cy="502920"/>
          </a:xfrm>
          <a:prstGeom prst="roundRect">
            <a:avLst>
              <a:gd name="adj" fmla="val 14545"/>
            </a:avLst>
          </a:prstGeom>
          <a:solidFill>
            <a:srgbClr val="E7EEF8"/>
          </a:solidFill>
          <a:ln w="12700">
            <a:solidFill>
              <a:srgbClr val="E7EEF8"/>
            </a:solidFill>
            <a:prstDash val="solid"/>
          </a:ln>
        </p:spPr>
        <p:txBody>
          <a:bodyPr/>
          <a:lstStyle/>
          <a:p>
            <a:endParaRPr lang="en-US"/>
          </a:p>
        </p:txBody>
      </p:sp>
      <p:sp>
        <p:nvSpPr>
          <p:cNvPr id="21" name="Text 19"/>
          <p:cNvSpPr txBox="1"/>
          <p:nvPr/>
        </p:nvSpPr>
        <p:spPr>
          <a:xfrm>
            <a:off x="1005840" y="5943600"/>
            <a:ext cx="10424160" cy="502920"/>
          </a:xfrm>
          <a:prstGeom prst="rect">
            <a:avLst/>
          </a:prstGeom>
          <a:noFill/>
          <a:ln/>
        </p:spPr>
        <p:txBody>
          <a:bodyPr wrap="square" lIns="0" tIns="0" rIns="0" bIns="0" rtlCol="0" anchor="ctr"/>
          <a:lstStyle/>
          <a:p>
            <a:pPr marL="0" indent="0">
              <a:buNone/>
            </a:pPr>
            <a:r>
              <a:rPr lang="en-US" sz="1450" i="1" dirty="0">
                <a:solidFill>
                  <a:srgbClr val="2C5FA8"/>
                </a:solidFill>
                <a:latin typeface="Cambria" pitchFamily="34" charset="0"/>
                <a:ea typeface="Cambria" pitchFamily="34" charset="-122"/>
                <a:cs typeface="Cambria" pitchFamily="34" charset="-120"/>
              </a:rPr>
              <a:t>Now take out the grade that did not measure the thing.</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9659</Words>
  <Application>Microsoft Macintosh PowerPoint</Application>
  <PresentationFormat>Widescreen</PresentationFormat>
  <Paragraphs>670</Paragraphs>
  <Slides>42</Slides>
  <Notes>42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Arial</vt:lpstr>
      <vt:lpstr>Calibri</vt:lpstr>
      <vt:lpstr>Cambria</vt:lpstr>
      <vt:lpstr>Cambria Math</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Loss Function and Gradient Descent</dc:title>
  <dc:subject>PptxGenJS Presentation</dc:subject>
  <dc:creator>Course materials</dc:creator>
  <cp:lastModifiedBy>Gao, Ashley</cp:lastModifiedBy>
  <cp:revision>8</cp:revision>
  <dcterms:created xsi:type="dcterms:W3CDTF">2026-09-16T11:50:14Z</dcterms:created>
  <dcterms:modified xsi:type="dcterms:W3CDTF">2026-10-06T19:22:12Z</dcterms:modified>
</cp:coreProperties>
</file>