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96"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Y. Gao" userId="f07f2add99568f29" providerId="LiveId" clId="{D3788EF0-A3FF-42A8-A4D2-3038F3EB0EE4}"/>
    <pc:docChg chg="delSld">
      <pc:chgData name="Ashley Y. Gao" userId="f07f2add99568f29" providerId="LiveId" clId="{D3788EF0-A3FF-42A8-A4D2-3038F3EB0EE4}" dt="2026-09-01T13:12:52.598" v="0" actId="47"/>
      <pc:docMkLst>
        <pc:docMk/>
      </pc:docMkLst>
      <pc:sldChg chg="del">
        <pc:chgData name="Ashley Y. Gao" userId="f07f2add99568f29" providerId="LiveId" clId="{D3788EF0-A3FF-42A8-A4D2-3038F3EB0EE4}" dt="2026-09-01T13:12:52.598" v="0" actId="47"/>
        <pc:sldMkLst>
          <pc:docMk/>
          <pc:sldMk cId="0"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552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putting the two links on screen or in the LMS. Students should have the Kline translation open; almost everything today is line-referenced so they can follow along. Say up front: we are not going to claim Ovid predicted anything. We are going to notice that our stories about made and mirroring companions reuse two plots that are already fully formed in 8 CE, and ask what those plots make it easy and hard to say.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failure mode of this kind of lecture explicitly: the "the ancients foresaw it" move flatters everyone and teaches nothing. Tell students you will reward the opposite move — finding the place where the ancient plot cannot describe the modern situation.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Orpheus frame is worth ninety seconds on its own. Everything in Book X is sung by a bereaved poet who announces he will sing about boys loved by gods and girls seized by forbidden desire. Pygmalion is his one story with a happy ending, and it is surrounded on both sides by catastrophes — the Propoetides before it, Myrrha immediately after. Students who notice the placement usually get to the argument on their own.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Silence matters here — if they talk, they converge, and the exit ticket loses its bite. Do not collect these. Two or three volunteers can read at the end if the room is warm; otherwise it stays private.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Twenty-six minutes from here: roughly six on the prologue, eight on the making and the close reading, six on the prayer and the animation, six on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arrive with the Shaw/My Fair Lady version of Pygmalion — a benign story about a craftsman rewarded for devotion. The prologue is the fastest way to dislodge that. The synthetic woman is introduced as a replacement for women found defective. That framing is inherited almost intact by Villiers, by parts of Blade Runner, and by the marketing copy of present-day companion apps.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on step two. The line about modesty holding her back is the hinge of the whole story: he supplies her interiority and then treats it as evidence. This is the exact structure of anthropomorphism — we generate the intention and then read it off the artefact as though we had found it there. It comes back on the Echo slides.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phrase worth putting on the board. It gives students a criterion they can apply to any object in the course: does this thing advertise or conceal its own manufacture, and what follows from that choice? It also lets you introduce the tension between the aesthetics of seamlessness and the ethics of disclosure without needing any policy vocabulary.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students have done any prompting, this slide sells itself — the gap between the literal request and the intended one is the thing they fight with daily. The sharper point is the ethical one: the euphemism lets Pygmalion receive exactly what he wanted while never having said it, and Venus’s inference is what makes that possible. Systems that are good at inferring intent also absorb responsibility for intents nobody was willing to state.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division of labour here is the most transferable idea in the Pygmalion half. Makers claim the artefact and disclaim the agency. Keep the question open rather than resolving it — there are honest versions of "we do not fully understand why it works" as well as evasive ones, and students should be able to tell them apart by the end of the term.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this without lecturing them into a single verdict. The strongest student objection — worth soliciting — is that Ovid gives almost nobody a rich interiority in a story this compressed, so her silence may be economy rather than statement. The counter is that Ovid gives Myrrha, only a hundred lines later, an enormous interior monologue. He can do it when he wants 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these four will be reused all term as a checklist against later texts and against real systems. The closing line is important — it keeps the course out of the consciousness debate, which undergraduates will otherwise spend the whole semester 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 freely for whatever is on your syllabus — this grid is a scaffold, not a canon. If you teach anime or games, Chobits, Blade Runner: Black Lotus, Detroit: Become Human and Nier: Automata all slot in cleanly. Keep the test line at the bottom whatever you substitute.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is the productive one and usually generates the best writing later. If discussion is slow, seed it: the most common answers are an accusation, a question about what she is, and a request to be left alone — all three are readings of the silence in Ovid.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Twenty-four minutes. Note for the room that Ovid tells these as one story, not two — the modern habit of extracting Narcissus alone loses the argument the poem is making, which is about the relationship between a compelled speaker and a compelled looker.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resolve the closing question here; it is the seed for the sycophancy discussion in ten minutes. If someone raises interpretability or self-report in language models, let it run for a minute but bring it back to the text — the poem is about a person, and the analogy has to be earned.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 students miss is that she also cannot stay silent — she has to answer. Compulsory response plus zero origination is a much stranger condition than muteness, and it is the part that maps most uncomfortably onto systems that must return something for every input.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exchange out loud with two students; the effect on the room is worth the ninety seconds. Then make the argument explicit: every word Echo utters is his, and yet the sequence is unmistakably a courtship conducted by her. Whatever she is doing, "merely repeating" does not describe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Bender, Gebru, McMillan-Major and Mitchell (2021) is on your syllabus, this is the slide to name it — and to be fair to it, since the paper’s argument is about training data, scale and harm, not a claim that repetition can never mean. Ovid is useful here precisely because he refuses the easy version of both positions.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description of the untouched pool is the detail to slow down on. Ovid could have written a puddle. He writes a surface engineered for perfect fidelity, protected from every source of noise. That is a description of an interface, and it is why the story is about a technology rather than a personality defect.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usually produces the best exchange of the hour. Students want disclosure to be sufficient because it is the intervention they can imagine. Ovid has already run the experiment and reports failure. Push them toward the harder question of what design change, rather than what warning label, would actually alter the outcome.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time for one flourish, this is it: a synthetic voice and a generated image are the two halves of the artificial person our media are currently assembling, and Ovid has already told us that each half alone is a corpse. Say it once and move on — it lands harder without elaboration.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Weizenbaum is worth thirty seconds even if he is not assigned — his own secretary asking him to leave the room is the anecdote students remember, and it makes the point that the effect does not depend on being fooled about what the system is.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challenge to the claim that only two stances are available to the system — a student will argue that a model trained on human output is in Echo’s position and one trained on its own output is in Narcissus’s. That is a good argument and you should let them make it. What no system occupies is Pygmalion, and that asymmetry is worth naming.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minutes of work, four minutes of reporting. Enforce the three-part report format strictly — the line reference is what stops the reports drifting into opinion, and the contemporary example is what stops them drifting into paraphrase.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three minutes so the exit ticket gets its full five. If the group reports have already made one of these points, drop it and say so — crediting the students who got there first is worth more than the completeness of the slide.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tickets on the way out. They are the fastest diagnostic you will get of who can hold two frames at once, and the paragraphs that identify a genuine mismatch between Ovid and the present are usually the students to call on first next week.</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2B"/>
        </a:solidFill>
        <a:effectLst/>
      </p:bgPr>
    </p:bg>
    <p:spTree>
      <p:nvGrpSpPr>
        <p:cNvPr id="1" name=""/>
        <p:cNvGrpSpPr/>
        <p:nvPr/>
      </p:nvGrpSpPr>
      <p:grpSpPr>
        <a:xfrm>
          <a:off x="0" y="0"/>
          <a:ext cx="0" cy="0"/>
          <a:chOff x="0" y="0"/>
          <a:chExt cx="0" cy="0"/>
        </a:xfrm>
      </p:grpSpPr>
      <p:sp>
        <p:nvSpPr>
          <p:cNvPr id="2" name="Shape 0"/>
          <p:cNvSpPr/>
          <p:nvPr/>
        </p:nvSpPr>
        <p:spPr>
          <a:xfrm>
            <a:off x="8915400" y="1737360"/>
            <a:ext cx="2148840" cy="2148840"/>
          </a:xfrm>
          <a:prstGeom prst="ellipse">
            <a:avLst/>
          </a:prstGeom>
          <a:solidFill>
            <a:srgbClr val="EDE6D6">
              <a:alpha val="88000"/>
            </a:srgbClr>
          </a:solidFill>
          <a:ln/>
        </p:spPr>
        <p:txBody>
          <a:bodyPr/>
          <a:lstStyle/>
          <a:p>
            <a:endParaRPr lang="en-US"/>
          </a:p>
        </p:txBody>
      </p:sp>
      <p:sp>
        <p:nvSpPr>
          <p:cNvPr id="3" name="Shape 1"/>
          <p:cNvSpPr/>
          <p:nvPr/>
        </p:nvSpPr>
        <p:spPr>
          <a:xfrm>
            <a:off x="8183880" y="3200400"/>
            <a:ext cx="2148840" cy="2148840"/>
          </a:xfrm>
          <a:prstGeom prst="ellipse">
            <a:avLst/>
          </a:prstGeom>
          <a:solidFill>
            <a:srgbClr val="2E7D8C">
              <a:alpha val="80000"/>
            </a:srgbClr>
          </a:solidFill>
          <a:ln/>
        </p:spPr>
        <p:txBody>
          <a:bodyPr/>
          <a:lstStyle/>
          <a:p>
            <a:endParaRPr lang="en-US"/>
          </a:p>
        </p:txBody>
      </p:sp>
      <p:sp>
        <p:nvSpPr>
          <p:cNvPr id="4" name="Shape 2"/>
          <p:cNvSpPr/>
          <p:nvPr/>
        </p:nvSpPr>
        <p:spPr>
          <a:xfrm>
            <a:off x="9646920" y="3200400"/>
            <a:ext cx="2148840" cy="2148840"/>
          </a:xfrm>
          <a:prstGeom prst="ellipse">
            <a:avLst/>
          </a:prstGeom>
          <a:solidFill>
            <a:srgbClr val="C9A227">
              <a:alpha val="65000"/>
            </a:srgbClr>
          </a:solidFill>
          <a:ln/>
        </p:spPr>
        <p:txBody>
          <a:bodyPr/>
          <a:lstStyle/>
          <a:p>
            <a:endParaRPr lang="en-US"/>
          </a:p>
        </p:txBody>
      </p:sp>
      <p:sp>
        <p:nvSpPr>
          <p:cNvPr id="5" name="Text 3"/>
          <p:cNvSpPr txBox="1"/>
          <p:nvPr/>
        </p:nvSpPr>
        <p:spPr>
          <a:xfrm>
            <a:off x="640080" y="1572768"/>
            <a:ext cx="7498080" cy="292608"/>
          </a:xfrm>
          <a:prstGeom prst="rect">
            <a:avLst/>
          </a:prstGeom>
          <a:noFill/>
          <a:ln/>
        </p:spPr>
        <p:txBody>
          <a:bodyPr wrap="square" lIns="0" tIns="0" rIns="0" bIns="0" rtlCol="0" anchor="ctr"/>
          <a:lstStyle/>
          <a:p>
            <a:pPr marL="0" indent="0">
              <a:buNone/>
            </a:pPr>
            <a:r>
              <a:rPr lang="en-US" sz="1200" b="1" kern="0" spc="180" dirty="0">
                <a:solidFill>
                  <a:srgbClr val="C9A227"/>
                </a:solidFill>
                <a:latin typeface="Calibri" pitchFamily="34" charset="0"/>
                <a:ea typeface="Calibri" pitchFamily="34" charset="-122"/>
                <a:cs typeface="Calibri" pitchFamily="34" charset="-120"/>
              </a:rPr>
              <a:t>AI IN SPECULATIVE MEDIA AND LITERATURES</a:t>
            </a:r>
            <a:endParaRPr lang="en-US" sz="1200" dirty="0"/>
          </a:p>
        </p:txBody>
      </p:sp>
      <p:sp>
        <p:nvSpPr>
          <p:cNvPr id="6" name="Text 4"/>
          <p:cNvSpPr txBox="1"/>
          <p:nvPr/>
        </p:nvSpPr>
        <p:spPr>
          <a:xfrm>
            <a:off x="640080" y="2029968"/>
            <a:ext cx="7680960" cy="914400"/>
          </a:xfrm>
          <a:prstGeom prst="rect">
            <a:avLst/>
          </a:prstGeom>
          <a:noFill/>
          <a:ln/>
        </p:spPr>
        <p:txBody>
          <a:bodyPr wrap="square" lIns="0" tIns="0" rIns="0" bIns="0" rtlCol="0" anchor="ctr"/>
          <a:lstStyle/>
          <a:p>
            <a:pPr marL="0" indent="0">
              <a:buNone/>
            </a:pPr>
            <a:r>
              <a:rPr lang="en-US" sz="4600" b="1" dirty="0">
                <a:solidFill>
                  <a:srgbClr val="EDE6D6"/>
                </a:solidFill>
                <a:latin typeface="Cambria" pitchFamily="34" charset="0"/>
                <a:ea typeface="Cambria" pitchFamily="34" charset="-122"/>
                <a:cs typeface="Cambria" pitchFamily="34" charset="-120"/>
              </a:rPr>
              <a:t>Made, Mirrored, Echoed</a:t>
            </a:r>
            <a:endParaRPr lang="en-US" sz="4600" dirty="0"/>
          </a:p>
        </p:txBody>
      </p:sp>
      <p:sp>
        <p:nvSpPr>
          <p:cNvPr id="7" name="Text 5"/>
          <p:cNvSpPr txBox="1"/>
          <p:nvPr/>
        </p:nvSpPr>
        <p:spPr>
          <a:xfrm>
            <a:off x="640080" y="3008376"/>
            <a:ext cx="7680960" cy="457200"/>
          </a:xfrm>
          <a:prstGeom prst="rect">
            <a:avLst/>
          </a:prstGeom>
          <a:noFill/>
          <a:ln/>
        </p:spPr>
        <p:txBody>
          <a:bodyPr wrap="square" lIns="0" tIns="0" rIns="0" bIns="0" rtlCol="0" anchor="ctr"/>
          <a:lstStyle/>
          <a:p>
            <a:pPr marL="0" indent="0">
              <a:buNone/>
            </a:pPr>
            <a:r>
              <a:rPr lang="en-US" sz="2000" i="1" dirty="0">
                <a:solidFill>
                  <a:srgbClr val="FFFFFF"/>
                </a:solidFill>
                <a:latin typeface="Cambria" pitchFamily="34" charset="0"/>
                <a:ea typeface="Cambria" pitchFamily="34" charset="-122"/>
                <a:cs typeface="Cambria" pitchFamily="34" charset="-120"/>
              </a:rPr>
              <a:t>Ovid’s Metamorphoses and the artificial other</a:t>
            </a:r>
            <a:endParaRPr lang="en-US" sz="2000" dirty="0"/>
          </a:p>
        </p:txBody>
      </p:sp>
      <p:sp>
        <p:nvSpPr>
          <p:cNvPr id="8" name="Shape 6"/>
          <p:cNvSpPr/>
          <p:nvPr/>
        </p:nvSpPr>
        <p:spPr>
          <a:xfrm>
            <a:off x="640080" y="3739896"/>
            <a:ext cx="2834640" cy="18288"/>
          </a:xfrm>
          <a:prstGeom prst="rect">
            <a:avLst/>
          </a:prstGeom>
          <a:solidFill>
            <a:srgbClr val="C9A227"/>
          </a:solidFill>
          <a:ln/>
        </p:spPr>
        <p:txBody>
          <a:bodyPr/>
          <a:lstStyle/>
          <a:p>
            <a:endParaRPr lang="en-US"/>
          </a:p>
        </p:txBody>
      </p:sp>
      <p:sp>
        <p:nvSpPr>
          <p:cNvPr id="9" name="Text 7"/>
          <p:cNvSpPr txBox="1"/>
          <p:nvPr/>
        </p:nvSpPr>
        <p:spPr>
          <a:xfrm>
            <a:off x="640080" y="4041648"/>
            <a:ext cx="7680960" cy="1280160"/>
          </a:xfrm>
          <a:prstGeom prst="rect">
            <a:avLst/>
          </a:prstGeom>
          <a:noFill/>
          <a:ln/>
        </p:spPr>
        <p:txBody>
          <a:bodyPr wrap="square" lIns="0" tIns="0" rIns="0" bIns="0" rtlCol="0" anchor="ctr"/>
          <a:lstStyle/>
          <a:p>
            <a:pPr marL="0" indent="0">
              <a:lnSpc>
                <a:spcPts val="2400"/>
              </a:lnSpc>
              <a:buNone/>
            </a:pPr>
            <a:r>
              <a:rPr lang="en-US" sz="1400" dirty="0">
                <a:solidFill>
                  <a:srgbClr val="EDE6D6"/>
                </a:solidFill>
                <a:latin typeface="Calibri" pitchFamily="34" charset="0"/>
                <a:ea typeface="Calibri" pitchFamily="34" charset="-122"/>
                <a:cs typeface="Calibri" pitchFamily="34" charset="-120"/>
              </a:rPr>
              <a:t>Story 1   Pygmalion and the statue — Metamorphoses Bk X:243–297</a:t>
            </a:r>
            <a:endParaRPr lang="en-US" sz="1400" dirty="0"/>
          </a:p>
          <a:p>
            <a:pPr marL="0" indent="0">
              <a:lnSpc>
                <a:spcPts val="2400"/>
              </a:lnSpc>
              <a:buNone/>
            </a:pPr>
            <a:r>
              <a:rPr lang="en-US" sz="1400" dirty="0">
                <a:solidFill>
                  <a:srgbClr val="EDE6D6"/>
                </a:solidFill>
                <a:latin typeface="Calibri" pitchFamily="34" charset="0"/>
                <a:ea typeface="Calibri" pitchFamily="34" charset="-122"/>
                <a:cs typeface="Calibri" pitchFamily="34" charset="-120"/>
              </a:rPr>
              <a:t>Story 2   Echo and Narcissus — Metamorphoses Bk III:339–510</a:t>
            </a:r>
            <a:endParaRPr lang="en-US" sz="1400" dirty="0"/>
          </a:p>
          <a:p>
            <a:pPr marL="0" indent="0">
              <a:lnSpc>
                <a:spcPts val="2400"/>
              </a:lnSpc>
              <a:buNone/>
            </a:pPr>
            <a:r>
              <a:rPr lang="en-US" sz="1400" dirty="0">
                <a:solidFill>
                  <a:srgbClr val="EDE6D6"/>
                </a:solidFill>
                <a:latin typeface="Calibri" pitchFamily="34" charset="0"/>
                <a:ea typeface="Calibri" pitchFamily="34" charset="-122"/>
                <a:cs typeface="Calibri" pitchFamily="34" charset="-120"/>
              </a:rPr>
              <a:t>Translation: A. S. Kline, U.Va. Ovid Collection  ·  Session length: 1 hour 20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FRAMING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Why start here</a:t>
            </a:r>
            <a:endParaRPr lang="en-US" sz="3100" dirty="0"/>
          </a:p>
        </p:txBody>
      </p:sp>
      <p:sp>
        <p:nvSpPr>
          <p:cNvPr id="5" name="Shape 3"/>
          <p:cNvSpPr/>
          <p:nvPr/>
        </p:nvSpPr>
        <p:spPr>
          <a:xfrm>
            <a:off x="640080" y="1600200"/>
            <a:ext cx="10911535" cy="1170432"/>
          </a:xfrm>
          <a:prstGeom prst="roundRect">
            <a:avLst>
              <a:gd name="adj" fmla="val 6250"/>
            </a:avLst>
          </a:prstGeom>
          <a:solidFill>
            <a:srgbClr val="F6F2E9"/>
          </a:solidFill>
          <a:ln w="12700">
            <a:solidFill>
              <a:srgbClr val="F6F2E9"/>
            </a:solidFill>
            <a:prstDash val="solid"/>
          </a:ln>
        </p:spPr>
        <p:txBody>
          <a:bodyPr/>
          <a:lstStyle/>
          <a:p>
            <a:endParaRPr lang="en-US"/>
          </a:p>
        </p:txBody>
      </p:sp>
      <p:sp>
        <p:nvSpPr>
          <p:cNvPr id="6" name="Shape 4"/>
          <p:cNvSpPr/>
          <p:nvPr/>
        </p:nvSpPr>
        <p:spPr>
          <a:xfrm>
            <a:off x="932688" y="1984248"/>
            <a:ext cx="384048" cy="384048"/>
          </a:xfrm>
          <a:prstGeom prst="ellipse">
            <a:avLst/>
          </a:prstGeom>
          <a:solidFill>
            <a:srgbClr val="16182B"/>
          </a:solidFill>
          <a:ln/>
        </p:spPr>
        <p:txBody>
          <a:bodyPr/>
          <a:lstStyle/>
          <a:p>
            <a:endParaRPr lang="en-US"/>
          </a:p>
        </p:txBody>
      </p:sp>
      <p:sp>
        <p:nvSpPr>
          <p:cNvPr id="7" name="Text 5"/>
          <p:cNvSpPr txBox="1"/>
          <p:nvPr/>
        </p:nvSpPr>
        <p:spPr>
          <a:xfrm>
            <a:off x="932688"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764792"/>
            <a:ext cx="960120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Oldest available scripts</a:t>
            </a:r>
            <a:endParaRPr lang="en-US" sz="1800" dirty="0"/>
          </a:p>
        </p:txBody>
      </p:sp>
      <p:sp>
        <p:nvSpPr>
          <p:cNvPr id="9" name="Text 7"/>
          <p:cNvSpPr txBox="1"/>
          <p:nvPr/>
        </p:nvSpPr>
        <p:spPr>
          <a:xfrm>
            <a:off x="1554480" y="2112264"/>
            <a:ext cx="9601200" cy="566928"/>
          </a:xfrm>
          <a:prstGeom prst="rect">
            <a:avLst/>
          </a:prstGeom>
          <a:noFill/>
          <a:ln/>
        </p:spPr>
        <p:txBody>
          <a:bodyPr wrap="square" lIns="0" tIns="0" rIns="0" bIns="0" rtlCol="0" anchor="ctr"/>
          <a:lstStyle/>
          <a:p>
            <a:pPr marL="0" indent="0">
              <a:lnSpc>
                <a:spcPts val="1800"/>
              </a:lnSpc>
              <a:buNone/>
            </a:pPr>
            <a:r>
              <a:rPr lang="en-US" sz="1350" dirty="0">
                <a:solidFill>
                  <a:srgbClr val="5F6478"/>
                </a:solidFill>
                <a:latin typeface="Calibri" pitchFamily="34" charset="0"/>
                <a:ea typeface="Calibri" pitchFamily="34" charset="-122"/>
                <a:cs typeface="Calibri" pitchFamily="34" charset="-120"/>
              </a:rPr>
              <a:t>These are among the earliest surviving narratives about loving something that was manufactured, and about a voice with no body of its own. They gave us the vocabulary before we had the machines.</a:t>
            </a:r>
            <a:endParaRPr lang="en-US" sz="1350" dirty="0"/>
          </a:p>
        </p:txBody>
      </p:sp>
      <p:sp>
        <p:nvSpPr>
          <p:cNvPr id="10" name="Shape 8"/>
          <p:cNvSpPr/>
          <p:nvPr/>
        </p:nvSpPr>
        <p:spPr>
          <a:xfrm>
            <a:off x="640080" y="2916936"/>
            <a:ext cx="10911535" cy="1170432"/>
          </a:xfrm>
          <a:prstGeom prst="roundRect">
            <a:avLst>
              <a:gd name="adj" fmla="val 6250"/>
            </a:avLst>
          </a:prstGeom>
          <a:solidFill>
            <a:srgbClr val="E7F0F2"/>
          </a:solidFill>
          <a:ln w="12700">
            <a:solidFill>
              <a:srgbClr val="E7F0F2"/>
            </a:solidFill>
            <a:prstDash val="solid"/>
          </a:ln>
        </p:spPr>
        <p:txBody>
          <a:bodyPr/>
          <a:lstStyle/>
          <a:p>
            <a:endParaRPr lang="en-US"/>
          </a:p>
        </p:txBody>
      </p:sp>
      <p:sp>
        <p:nvSpPr>
          <p:cNvPr id="11" name="Shape 9"/>
          <p:cNvSpPr/>
          <p:nvPr/>
        </p:nvSpPr>
        <p:spPr>
          <a:xfrm>
            <a:off x="932688" y="3300984"/>
            <a:ext cx="384048" cy="384048"/>
          </a:xfrm>
          <a:prstGeom prst="ellipse">
            <a:avLst/>
          </a:prstGeom>
          <a:solidFill>
            <a:srgbClr val="2E7D8C"/>
          </a:solidFill>
          <a:ln/>
        </p:spPr>
        <p:txBody>
          <a:bodyPr/>
          <a:lstStyle/>
          <a:p>
            <a:endParaRPr lang="en-US"/>
          </a:p>
        </p:txBody>
      </p:sp>
      <p:sp>
        <p:nvSpPr>
          <p:cNvPr id="12" name="Text 10"/>
          <p:cNvSpPr txBox="1"/>
          <p:nvPr/>
        </p:nvSpPr>
        <p:spPr>
          <a:xfrm>
            <a:off x="932688" y="33009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554480" y="3081528"/>
            <a:ext cx="960120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Not prophecy — inheritance</a:t>
            </a:r>
            <a:endParaRPr lang="en-US" sz="1800" dirty="0"/>
          </a:p>
        </p:txBody>
      </p:sp>
      <p:sp>
        <p:nvSpPr>
          <p:cNvPr id="14" name="Text 12"/>
          <p:cNvSpPr txBox="1"/>
          <p:nvPr/>
        </p:nvSpPr>
        <p:spPr>
          <a:xfrm>
            <a:off x="1554480" y="3429000"/>
            <a:ext cx="9601200" cy="566928"/>
          </a:xfrm>
          <a:prstGeom prst="rect">
            <a:avLst/>
          </a:prstGeom>
          <a:noFill/>
          <a:ln/>
        </p:spPr>
        <p:txBody>
          <a:bodyPr wrap="square" lIns="0" tIns="0" rIns="0" bIns="0" rtlCol="0" anchor="ctr"/>
          <a:lstStyle/>
          <a:p>
            <a:pPr marL="0" indent="0">
              <a:lnSpc>
                <a:spcPts val="1800"/>
              </a:lnSpc>
              <a:buNone/>
            </a:pPr>
            <a:r>
              <a:rPr lang="en-US" sz="1350" dirty="0">
                <a:solidFill>
                  <a:srgbClr val="5F6478"/>
                </a:solidFill>
                <a:latin typeface="Calibri" pitchFamily="34" charset="0"/>
                <a:ea typeface="Calibri" pitchFamily="34" charset="-122"/>
                <a:cs typeface="Calibri" pitchFamily="34" charset="-120"/>
              </a:rPr>
              <a:t>Ovid did not anticipate AI. Our AI fiction inherited his plots, mostly through Shelley, Villiers, Čapek and Lang. When a film feels familiar, this is often why.</a:t>
            </a:r>
            <a:endParaRPr lang="en-US" sz="1350" dirty="0"/>
          </a:p>
        </p:txBody>
      </p:sp>
      <p:sp>
        <p:nvSpPr>
          <p:cNvPr id="15" name="Shape 13"/>
          <p:cNvSpPr/>
          <p:nvPr/>
        </p:nvSpPr>
        <p:spPr>
          <a:xfrm>
            <a:off x="640080" y="4233672"/>
            <a:ext cx="10911535" cy="1170432"/>
          </a:xfrm>
          <a:prstGeom prst="roundRect">
            <a:avLst>
              <a:gd name="adj" fmla="val 6250"/>
            </a:avLst>
          </a:prstGeom>
          <a:solidFill>
            <a:srgbClr val="F6F2E9"/>
          </a:solidFill>
          <a:ln w="12700">
            <a:solidFill>
              <a:srgbClr val="F6F2E9"/>
            </a:solidFill>
            <a:prstDash val="solid"/>
          </a:ln>
        </p:spPr>
        <p:txBody>
          <a:bodyPr/>
          <a:lstStyle/>
          <a:p>
            <a:endParaRPr lang="en-US"/>
          </a:p>
        </p:txBody>
      </p:sp>
      <p:sp>
        <p:nvSpPr>
          <p:cNvPr id="16" name="Shape 14"/>
          <p:cNvSpPr/>
          <p:nvPr/>
        </p:nvSpPr>
        <p:spPr>
          <a:xfrm>
            <a:off x="932688" y="4617720"/>
            <a:ext cx="384048" cy="384048"/>
          </a:xfrm>
          <a:prstGeom prst="ellipse">
            <a:avLst/>
          </a:prstGeom>
          <a:solidFill>
            <a:srgbClr val="16182B"/>
          </a:solidFill>
          <a:ln/>
        </p:spPr>
        <p:txBody>
          <a:bodyPr/>
          <a:lstStyle/>
          <a:p>
            <a:endParaRPr lang="en-US"/>
          </a:p>
        </p:txBody>
      </p:sp>
      <p:sp>
        <p:nvSpPr>
          <p:cNvPr id="17" name="Text 15"/>
          <p:cNvSpPr txBox="1"/>
          <p:nvPr/>
        </p:nvSpPr>
        <p:spPr>
          <a:xfrm>
            <a:off x="932688" y="46177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54480" y="4398264"/>
            <a:ext cx="960120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A test of the analogy</a:t>
            </a:r>
            <a:endParaRPr lang="en-US" sz="1800" dirty="0"/>
          </a:p>
        </p:txBody>
      </p:sp>
      <p:sp>
        <p:nvSpPr>
          <p:cNvPr id="19" name="Text 17"/>
          <p:cNvSpPr txBox="1"/>
          <p:nvPr/>
        </p:nvSpPr>
        <p:spPr>
          <a:xfrm>
            <a:off x="1554480" y="4745736"/>
            <a:ext cx="9601200" cy="566928"/>
          </a:xfrm>
          <a:prstGeom prst="rect">
            <a:avLst/>
          </a:prstGeom>
          <a:noFill/>
          <a:ln/>
        </p:spPr>
        <p:txBody>
          <a:bodyPr wrap="square" lIns="0" tIns="0" rIns="0" bIns="0" rtlCol="0" anchor="ctr"/>
          <a:lstStyle/>
          <a:p>
            <a:pPr marL="0" indent="0">
              <a:lnSpc>
                <a:spcPts val="1800"/>
              </a:lnSpc>
              <a:buNone/>
            </a:pPr>
            <a:r>
              <a:rPr lang="en-US" sz="1350" dirty="0">
                <a:solidFill>
                  <a:srgbClr val="5F6478"/>
                </a:solidFill>
                <a:latin typeface="Calibri" pitchFamily="34" charset="0"/>
                <a:ea typeface="Calibri" pitchFamily="34" charset="-122"/>
                <a:cs typeface="Calibri" pitchFamily="34" charset="-120"/>
              </a:rPr>
              <a:t>Comparison is cheap. The work today is to read closely enough that we can say precisely where the parallel holds and where it collapses.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CONTEXT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Ovid in ninety seconds</a:t>
            </a:r>
            <a:endParaRPr lang="en-US" sz="3100" dirty="0"/>
          </a:p>
        </p:txBody>
      </p:sp>
      <p:sp>
        <p:nvSpPr>
          <p:cNvPr id="5" name="Shape 3"/>
          <p:cNvSpPr/>
          <p:nvPr/>
        </p:nvSpPr>
        <p:spPr>
          <a:xfrm>
            <a:off x="640080" y="1572768"/>
            <a:ext cx="5257800" cy="2148840"/>
          </a:xfrm>
          <a:prstGeom prst="roundRect">
            <a:avLst>
              <a:gd name="adj" fmla="val 3404"/>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960120" y="1755648"/>
            <a:ext cx="457200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The poem</a:t>
            </a:r>
            <a:endParaRPr lang="en-US" sz="1800" dirty="0"/>
          </a:p>
        </p:txBody>
      </p:sp>
      <p:sp>
        <p:nvSpPr>
          <p:cNvPr id="7" name="Text 5"/>
          <p:cNvSpPr txBox="1"/>
          <p:nvPr/>
        </p:nvSpPr>
        <p:spPr>
          <a:xfrm>
            <a:off x="960120" y="2148840"/>
            <a:ext cx="4617720" cy="146304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300" dirty="0">
                <a:solidFill>
                  <a:srgbClr val="5F6478"/>
                </a:solidFill>
                <a:latin typeface="Calibri" pitchFamily="34" charset="0"/>
                <a:ea typeface="Calibri" pitchFamily="34" charset="-122"/>
                <a:cs typeface="Calibri" pitchFamily="34" charset="-120"/>
              </a:rPr>
              <a:t>Composed c. 8 CE in Latin hexameter; fifteen books; roughly 250 transformations chained end to end.</a:t>
            </a:r>
            <a:endParaRPr lang="en-US" sz="1300" dirty="0"/>
          </a:p>
          <a:p>
            <a:pPr marL="342900" indent="-342900">
              <a:lnSpc>
                <a:spcPts val="1700"/>
              </a:lnSpc>
              <a:spcAft>
                <a:spcPts val="600"/>
              </a:spcAft>
              <a:buSzPct val="100000"/>
              <a:buChar char="•"/>
            </a:pPr>
            <a:r>
              <a:rPr lang="en-US" sz="1300" dirty="0">
                <a:solidFill>
                  <a:srgbClr val="5F6478"/>
                </a:solidFill>
                <a:latin typeface="Calibri" pitchFamily="34" charset="0"/>
                <a:ea typeface="Calibri" pitchFamily="34" charset="-122"/>
                <a:cs typeface="Calibri" pitchFamily="34" charset="-120"/>
              </a:rPr>
              <a:t>One continuous poem, not a collection — stories are nested inside each other and inside their tellers.</a:t>
            </a:r>
            <a:endParaRPr lang="en-US" sz="1300" dirty="0"/>
          </a:p>
          <a:p>
            <a:pPr marL="342900" indent="-342900">
              <a:lnSpc>
                <a:spcPts val="1700"/>
              </a:lnSpc>
              <a:spcAft>
                <a:spcPts val="600"/>
              </a:spcAft>
              <a:buSzPct val="100000"/>
              <a:buChar char="•"/>
            </a:pPr>
            <a:r>
              <a:rPr lang="en-US" sz="1300" dirty="0">
                <a:solidFill>
                  <a:srgbClr val="5F6478"/>
                </a:solidFill>
                <a:latin typeface="Calibri" pitchFamily="34" charset="0"/>
                <a:ea typeface="Calibri" pitchFamily="34" charset="-122"/>
                <a:cs typeface="Calibri" pitchFamily="34" charset="-120"/>
              </a:rPr>
              <a:t>We are reading A. S. Kline’s English version; Ovid’s Latin is linked from the same site.</a:t>
            </a:r>
            <a:endParaRPr lang="en-US" sz="1300" dirty="0"/>
          </a:p>
        </p:txBody>
      </p:sp>
      <p:sp>
        <p:nvSpPr>
          <p:cNvPr id="8" name="Shape 6"/>
          <p:cNvSpPr/>
          <p:nvPr/>
        </p:nvSpPr>
        <p:spPr>
          <a:xfrm>
            <a:off x="6263640" y="1572768"/>
            <a:ext cx="5257800" cy="2148840"/>
          </a:xfrm>
          <a:prstGeom prst="roundRect">
            <a:avLst>
              <a:gd name="adj" fmla="val 3404"/>
            </a:avLst>
          </a:prstGeom>
          <a:solidFill>
            <a:srgbClr val="E7F0F2"/>
          </a:solidFill>
          <a:ln w="12700">
            <a:solidFill>
              <a:srgbClr val="E7F0F2"/>
            </a:solidFill>
            <a:prstDash val="solid"/>
          </a:ln>
        </p:spPr>
        <p:txBody>
          <a:bodyPr/>
          <a:lstStyle/>
          <a:p>
            <a:endParaRPr lang="en-US"/>
          </a:p>
        </p:txBody>
      </p:sp>
      <p:sp>
        <p:nvSpPr>
          <p:cNvPr id="9" name="Text 7"/>
          <p:cNvSpPr txBox="1"/>
          <p:nvPr/>
        </p:nvSpPr>
        <p:spPr>
          <a:xfrm>
            <a:off x="6583680" y="1755648"/>
            <a:ext cx="457200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Who is singing Pygmalion?</a:t>
            </a:r>
            <a:endParaRPr lang="en-US" sz="1800" dirty="0"/>
          </a:p>
        </p:txBody>
      </p:sp>
      <p:sp>
        <p:nvSpPr>
          <p:cNvPr id="10" name="Text 8"/>
          <p:cNvSpPr txBox="1"/>
          <p:nvPr/>
        </p:nvSpPr>
        <p:spPr>
          <a:xfrm>
            <a:off x="6583680" y="2148840"/>
            <a:ext cx="4617720" cy="146304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300" dirty="0">
                <a:solidFill>
                  <a:srgbClr val="5F6478"/>
                </a:solidFill>
                <a:latin typeface="Calibri" pitchFamily="34" charset="0"/>
                <a:ea typeface="Calibri" pitchFamily="34" charset="-122"/>
                <a:cs typeface="Calibri" pitchFamily="34" charset="-120"/>
              </a:rPr>
              <a:t>Pygmalion is not narrated by Ovid directly. It is sung by Orpheus (Bk X:143–219 onward).</a:t>
            </a:r>
            <a:endParaRPr lang="en-US" sz="1300" dirty="0"/>
          </a:p>
          <a:p>
            <a:pPr marL="342900" indent="-342900">
              <a:lnSpc>
                <a:spcPts val="1700"/>
              </a:lnSpc>
              <a:spcAft>
                <a:spcPts val="600"/>
              </a:spcAft>
              <a:buSzPct val="100000"/>
              <a:buChar char="•"/>
            </a:pPr>
            <a:r>
              <a:rPr lang="en-US" sz="1300" dirty="0">
                <a:solidFill>
                  <a:srgbClr val="5F6478"/>
                </a:solidFill>
                <a:latin typeface="Calibri" pitchFamily="34" charset="0"/>
                <a:ea typeface="Calibri" pitchFamily="34" charset="-122"/>
                <a:cs typeface="Calibri" pitchFamily="34" charset="-120"/>
              </a:rPr>
              <a:t>Orpheus has just failed to bring his dead wife back from the underworld by turning to look at her (Bk X:1–85).</a:t>
            </a:r>
            <a:endParaRPr lang="en-US" sz="1300" dirty="0"/>
          </a:p>
          <a:p>
            <a:pPr marL="342900" indent="-342900">
              <a:lnSpc>
                <a:spcPts val="1700"/>
              </a:lnSpc>
              <a:spcAft>
                <a:spcPts val="600"/>
              </a:spcAft>
              <a:buSzPct val="100000"/>
              <a:buChar char="•"/>
            </a:pPr>
            <a:r>
              <a:rPr lang="en-US" sz="1300" dirty="0">
                <a:solidFill>
                  <a:srgbClr val="5F6478"/>
                </a:solidFill>
                <a:latin typeface="Calibri" pitchFamily="34" charset="0"/>
                <a:ea typeface="Calibri" pitchFamily="34" charset="-122"/>
                <a:cs typeface="Calibri" pitchFamily="34" charset="-120"/>
              </a:rPr>
              <a:t>So: a man who lost a beloved by looking sings a story about a man who gets a beloved by making one.</a:t>
            </a:r>
            <a:endParaRPr lang="en-US" sz="1300" dirty="0"/>
          </a:p>
        </p:txBody>
      </p:sp>
      <p:sp>
        <p:nvSpPr>
          <p:cNvPr id="11" name="Shape 9"/>
          <p:cNvSpPr/>
          <p:nvPr/>
        </p:nvSpPr>
        <p:spPr>
          <a:xfrm>
            <a:off x="640080" y="3950208"/>
            <a:ext cx="10911535" cy="1417320"/>
          </a:xfrm>
          <a:prstGeom prst="roundRect">
            <a:avLst>
              <a:gd name="adj" fmla="val 5161"/>
            </a:avLst>
          </a:prstGeom>
          <a:solidFill>
            <a:srgbClr val="16182B"/>
          </a:solidFill>
          <a:ln w="12700">
            <a:solidFill>
              <a:srgbClr val="16182B"/>
            </a:solidFill>
            <a:prstDash val="solid"/>
          </a:ln>
        </p:spPr>
        <p:txBody>
          <a:bodyPr/>
          <a:lstStyle/>
          <a:p>
            <a:endParaRPr lang="en-US"/>
          </a:p>
        </p:txBody>
      </p:sp>
      <p:sp>
        <p:nvSpPr>
          <p:cNvPr id="12" name="Text 10"/>
          <p:cNvSpPr txBox="1"/>
          <p:nvPr/>
        </p:nvSpPr>
        <p:spPr>
          <a:xfrm>
            <a:off x="960120" y="4133088"/>
            <a:ext cx="10241280" cy="320040"/>
          </a:xfrm>
          <a:prstGeom prst="rect">
            <a:avLst/>
          </a:prstGeom>
          <a:noFill/>
          <a:ln/>
        </p:spPr>
        <p:txBody>
          <a:bodyPr wrap="square" lIns="0" tIns="0" rIns="0" bIns="0" rtlCol="0" anchor="ctr"/>
          <a:lstStyle/>
          <a:p>
            <a:pPr marL="0" indent="0">
              <a:buNone/>
            </a:pPr>
            <a:r>
              <a:rPr lang="en-US" sz="1200" b="1" kern="0" spc="140" dirty="0">
                <a:solidFill>
                  <a:srgbClr val="C9A227"/>
                </a:solidFill>
                <a:latin typeface="Calibri" pitchFamily="34" charset="0"/>
                <a:ea typeface="Calibri" pitchFamily="34" charset="-122"/>
                <a:cs typeface="Calibri" pitchFamily="34" charset="-120"/>
              </a:rPr>
              <a:t>The mechanic to hold onto</a:t>
            </a:r>
            <a:endParaRPr lang="en-US" sz="1200" dirty="0"/>
          </a:p>
        </p:txBody>
      </p:sp>
      <p:sp>
        <p:nvSpPr>
          <p:cNvPr id="13" name="Text 11"/>
          <p:cNvSpPr txBox="1"/>
          <p:nvPr/>
        </p:nvSpPr>
        <p:spPr>
          <a:xfrm>
            <a:off x="960120" y="4480560"/>
            <a:ext cx="10241280" cy="777240"/>
          </a:xfrm>
          <a:prstGeom prst="rect">
            <a:avLst/>
          </a:prstGeom>
          <a:noFill/>
          <a:ln/>
        </p:spPr>
        <p:txBody>
          <a:bodyPr wrap="square" lIns="0" tIns="0" rIns="0" bIns="0" rtlCol="0" anchor="ctr"/>
          <a:lstStyle/>
          <a:p>
            <a:pPr marL="0" indent="0">
              <a:lnSpc>
                <a:spcPts val="2200"/>
              </a:lnSpc>
              <a:buNone/>
            </a:pPr>
            <a:r>
              <a:rPr lang="en-US" sz="1600" dirty="0">
                <a:solidFill>
                  <a:srgbClr val="EDE6D6"/>
                </a:solidFill>
                <a:latin typeface="Cambria" pitchFamily="34" charset="0"/>
                <a:ea typeface="Cambria" pitchFamily="34" charset="-122"/>
                <a:cs typeface="Cambria" pitchFamily="34" charset="-120"/>
              </a:rPr>
              <a:t>A metamorphosis is a body crossing a category line — person into tree, stone into flesh, woman into sound. Ovid is rarely interested in the mechanism of the change. He is interested in what survives it, and in who is left holding the consequences.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6182B"/>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C9A227"/>
          </a:solidFill>
          <a:ln/>
        </p:spPr>
        <p:txBody>
          <a:bodyPr/>
          <a:lstStyle/>
          <a:p>
            <a:endParaRPr lang="en-US"/>
          </a:p>
        </p:txBody>
      </p:sp>
      <p:sp>
        <p:nvSpPr>
          <p:cNvPr id="3" name="Text 1"/>
          <p:cNvSpPr txBox="1"/>
          <p:nvPr/>
        </p:nvSpPr>
        <p:spPr>
          <a:xfrm>
            <a:off x="886968" y="438912"/>
            <a:ext cx="9144000" cy="274320"/>
          </a:xfrm>
          <a:prstGeom prst="rect">
            <a:avLst/>
          </a:prstGeom>
          <a:noFill/>
          <a:ln/>
        </p:spPr>
        <p:txBody>
          <a:bodyPr wrap="square" lIns="0" tIns="0" rIns="0" bIns="0" rtlCol="0" anchor="ctr"/>
          <a:lstStyle/>
          <a:p>
            <a:pPr marL="0" indent="0">
              <a:buNone/>
            </a:pPr>
            <a:r>
              <a:rPr lang="en-US" sz="1100" b="1" kern="0" spc="160" dirty="0">
                <a:solidFill>
                  <a:srgbClr val="C9A227"/>
                </a:solidFill>
                <a:latin typeface="Calibri" pitchFamily="34" charset="0"/>
                <a:ea typeface="Calibri" pitchFamily="34" charset="-122"/>
                <a:cs typeface="Calibri" pitchFamily="34" charset="-120"/>
              </a:rPr>
              <a:t>WARM-UP · THREE MINUTES · NO TALKING</a:t>
            </a:r>
            <a:endParaRPr lang="en-US" sz="1100" dirty="0"/>
          </a:p>
        </p:txBody>
      </p:sp>
      <p:sp>
        <p:nvSpPr>
          <p:cNvPr id="4" name="Text 2"/>
          <p:cNvSpPr txBox="1"/>
          <p:nvPr/>
        </p:nvSpPr>
        <p:spPr>
          <a:xfrm>
            <a:off x="640080" y="868680"/>
            <a:ext cx="10881360" cy="640080"/>
          </a:xfrm>
          <a:prstGeom prst="rect">
            <a:avLst/>
          </a:prstGeom>
          <a:noFill/>
          <a:ln/>
        </p:spPr>
        <p:txBody>
          <a:bodyPr wrap="square" lIns="0" tIns="0" rIns="0" bIns="0" rtlCol="0" anchor="ctr"/>
          <a:lstStyle/>
          <a:p>
            <a:pPr marL="0" indent="0">
              <a:buNone/>
            </a:pPr>
            <a:r>
              <a:rPr lang="en-US" sz="3400" b="1" dirty="0">
                <a:solidFill>
                  <a:srgbClr val="EDE6D6"/>
                </a:solidFill>
                <a:latin typeface="Cambria" pitchFamily="34" charset="0"/>
                <a:ea typeface="Cambria" pitchFamily="34" charset="-122"/>
                <a:cs typeface="Cambria" pitchFamily="34" charset="-120"/>
              </a:rPr>
              <a:t>Write, don’t discuss</a:t>
            </a:r>
            <a:endParaRPr lang="en-US" sz="3400" dirty="0"/>
          </a:p>
        </p:txBody>
      </p:sp>
      <p:sp>
        <p:nvSpPr>
          <p:cNvPr id="5" name="Shape 3"/>
          <p:cNvSpPr/>
          <p:nvPr/>
        </p:nvSpPr>
        <p:spPr>
          <a:xfrm>
            <a:off x="640080" y="1783080"/>
            <a:ext cx="10911535" cy="2880360"/>
          </a:xfrm>
          <a:prstGeom prst="roundRect">
            <a:avLst>
              <a:gd name="adj" fmla="val 2540"/>
            </a:avLst>
          </a:prstGeom>
          <a:solidFill>
            <a:srgbClr val="242742"/>
          </a:solidFill>
          <a:ln w="12700">
            <a:solidFill>
              <a:srgbClr val="242742"/>
            </a:solidFill>
            <a:prstDash val="solid"/>
          </a:ln>
        </p:spPr>
        <p:txBody>
          <a:bodyPr/>
          <a:lstStyle/>
          <a:p>
            <a:endParaRPr lang="en-US"/>
          </a:p>
        </p:txBody>
      </p:sp>
      <p:sp>
        <p:nvSpPr>
          <p:cNvPr id="6" name="Text 4"/>
          <p:cNvSpPr txBox="1"/>
          <p:nvPr/>
        </p:nvSpPr>
        <p:spPr>
          <a:xfrm>
            <a:off x="1097280" y="2148840"/>
            <a:ext cx="10058400" cy="2194560"/>
          </a:xfrm>
          <a:prstGeom prst="rect">
            <a:avLst/>
          </a:prstGeom>
          <a:noFill/>
          <a:ln/>
        </p:spPr>
        <p:txBody>
          <a:bodyPr wrap="square" lIns="0" tIns="0" rIns="0" bIns="0" rtlCol="0" anchor="ctr"/>
          <a:lstStyle/>
          <a:p>
            <a:pPr marL="0" indent="0">
              <a:lnSpc>
                <a:spcPts val="3400"/>
              </a:lnSpc>
              <a:buNone/>
            </a:pPr>
            <a:r>
              <a:rPr lang="en-US" sz="2200" dirty="0">
                <a:solidFill>
                  <a:srgbClr val="FFFFFF"/>
                </a:solidFill>
                <a:latin typeface="Cambria" pitchFamily="34" charset="0"/>
                <a:ea typeface="Cambria" pitchFamily="34" charset="-122"/>
                <a:cs typeface="Cambria" pitchFamily="34" charset="-120"/>
              </a:rPr>
              <a:t>Describe something you have made, tuned, trained or configured — a playlist, a prompt, a game character, a bot, a model — that started to feel as though it had a personality.</a:t>
            </a:r>
            <a:endParaRPr lang="en-US" sz="2200" dirty="0"/>
          </a:p>
          <a:p>
            <a:pPr marL="0" indent="0">
              <a:lnSpc>
                <a:spcPts val="3400"/>
              </a:lnSpc>
              <a:buNone/>
            </a:pPr>
            <a:endParaRPr lang="en-US" sz="2200" dirty="0"/>
          </a:p>
          <a:p>
            <a:pPr marL="0" indent="0">
              <a:lnSpc>
                <a:spcPts val="3400"/>
              </a:lnSpc>
              <a:buNone/>
            </a:pPr>
            <a:r>
              <a:rPr lang="en-US" sz="2200" dirty="0">
                <a:solidFill>
                  <a:srgbClr val="FFFFFF"/>
                </a:solidFill>
                <a:latin typeface="Cambria" pitchFamily="34" charset="0"/>
                <a:ea typeface="Cambria" pitchFamily="34" charset="-122"/>
                <a:cs typeface="Cambria" pitchFamily="34" charset="-120"/>
              </a:rPr>
              <a:t>What did you do to keep that feeling going? What would have broken it?</a:t>
            </a:r>
            <a:endParaRPr lang="en-US" sz="2200" dirty="0"/>
          </a:p>
        </p:txBody>
      </p:sp>
      <p:sp>
        <p:nvSpPr>
          <p:cNvPr id="7" name="Text 5"/>
          <p:cNvSpPr txBox="1"/>
          <p:nvPr/>
        </p:nvSpPr>
        <p:spPr>
          <a:xfrm>
            <a:off x="640080" y="4956048"/>
            <a:ext cx="10881360" cy="457200"/>
          </a:xfrm>
          <a:prstGeom prst="rect">
            <a:avLst/>
          </a:prstGeom>
          <a:noFill/>
          <a:ln/>
        </p:spPr>
        <p:txBody>
          <a:bodyPr wrap="square" lIns="0" tIns="0" rIns="0" bIns="0" rtlCol="0" anchor="ctr"/>
          <a:lstStyle/>
          <a:p>
            <a:pPr marL="0" indent="0">
              <a:buNone/>
            </a:pPr>
            <a:r>
              <a:rPr lang="en-US" sz="1450" i="1" dirty="0">
                <a:solidFill>
                  <a:srgbClr val="86C2CF"/>
                </a:solidFill>
                <a:latin typeface="Calibri" pitchFamily="34" charset="0"/>
                <a:ea typeface="Calibri" pitchFamily="34" charset="-122"/>
                <a:cs typeface="Calibri" pitchFamily="34" charset="-120"/>
              </a:rPr>
              <a:t>Keep the page. We come back to it at 1:15, and you will be asked which of three ancient stances you were taking.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6182B"/>
        </a:solidFill>
        <a:effectLst/>
      </p:bgPr>
    </p:bg>
    <p:spTree>
      <p:nvGrpSpPr>
        <p:cNvPr id="1" name=""/>
        <p:cNvGrpSpPr/>
        <p:nvPr/>
      </p:nvGrpSpPr>
      <p:grpSpPr>
        <a:xfrm>
          <a:off x="0" y="0"/>
          <a:ext cx="0" cy="0"/>
          <a:chOff x="0" y="0"/>
          <a:chExt cx="0" cy="0"/>
        </a:xfrm>
      </p:grpSpPr>
      <p:sp>
        <p:nvSpPr>
          <p:cNvPr id="2" name="Shape 0"/>
          <p:cNvSpPr/>
          <p:nvPr/>
        </p:nvSpPr>
        <p:spPr>
          <a:xfrm>
            <a:off x="9052560" y="1371600"/>
            <a:ext cx="2651760" cy="2651760"/>
          </a:xfrm>
          <a:prstGeom prst="ellipse">
            <a:avLst/>
          </a:prstGeom>
          <a:solidFill>
            <a:srgbClr val="EDE6D6">
              <a:alpha val="85000"/>
            </a:srgbClr>
          </a:solidFill>
          <a:ln/>
        </p:spPr>
        <p:txBody>
          <a:bodyPr/>
          <a:lstStyle/>
          <a:p>
            <a:endParaRPr lang="en-US"/>
          </a:p>
        </p:txBody>
      </p:sp>
      <p:sp>
        <p:nvSpPr>
          <p:cNvPr id="3" name="Text 1"/>
          <p:cNvSpPr txBox="1"/>
          <p:nvPr/>
        </p:nvSpPr>
        <p:spPr>
          <a:xfrm>
            <a:off x="640080" y="1965960"/>
            <a:ext cx="7315200" cy="320040"/>
          </a:xfrm>
          <a:prstGeom prst="rect">
            <a:avLst/>
          </a:prstGeom>
          <a:noFill/>
          <a:ln/>
        </p:spPr>
        <p:txBody>
          <a:bodyPr wrap="square" lIns="0" tIns="0" rIns="0" bIns="0" rtlCol="0" anchor="ctr"/>
          <a:lstStyle/>
          <a:p>
            <a:pPr marL="0" indent="0">
              <a:buNone/>
            </a:pPr>
            <a:r>
              <a:rPr lang="en-US" sz="1300" b="1" kern="0" spc="220" dirty="0">
                <a:solidFill>
                  <a:srgbClr val="C9A227"/>
                </a:solidFill>
                <a:latin typeface="Calibri" pitchFamily="34" charset="0"/>
                <a:ea typeface="Calibri" pitchFamily="34" charset="-122"/>
                <a:cs typeface="Calibri" pitchFamily="34" charset="-120"/>
              </a:rPr>
              <a:t>PART ONE</a:t>
            </a:r>
            <a:endParaRPr lang="en-US" sz="1300" dirty="0"/>
          </a:p>
        </p:txBody>
      </p:sp>
      <p:sp>
        <p:nvSpPr>
          <p:cNvPr id="4" name="Text 2"/>
          <p:cNvSpPr txBox="1"/>
          <p:nvPr/>
        </p:nvSpPr>
        <p:spPr>
          <a:xfrm>
            <a:off x="640080" y="2377440"/>
            <a:ext cx="7863840" cy="868680"/>
          </a:xfrm>
          <a:prstGeom prst="rect">
            <a:avLst/>
          </a:prstGeom>
          <a:noFill/>
          <a:ln/>
        </p:spPr>
        <p:txBody>
          <a:bodyPr wrap="square" lIns="0" tIns="0" rIns="0" bIns="0" rtlCol="0" anchor="ctr"/>
          <a:lstStyle/>
          <a:p>
            <a:pPr marL="0" indent="0">
              <a:buNone/>
            </a:pPr>
            <a:r>
              <a:rPr lang="en-US" sz="4200" b="1" dirty="0">
                <a:solidFill>
                  <a:srgbClr val="EDE6D6"/>
                </a:solidFill>
                <a:latin typeface="Cambria" pitchFamily="34" charset="0"/>
                <a:ea typeface="Cambria" pitchFamily="34" charset="-122"/>
                <a:cs typeface="Cambria" pitchFamily="34" charset="-120"/>
              </a:rPr>
              <a:t>Pygmalion and the statue</a:t>
            </a:r>
            <a:endParaRPr lang="en-US" sz="4200" dirty="0"/>
          </a:p>
        </p:txBody>
      </p:sp>
      <p:sp>
        <p:nvSpPr>
          <p:cNvPr id="5" name="Text 3"/>
          <p:cNvSpPr txBox="1"/>
          <p:nvPr/>
        </p:nvSpPr>
        <p:spPr>
          <a:xfrm>
            <a:off x="640080" y="3291840"/>
            <a:ext cx="786384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Metamorphoses Bk X:243–297, with Bk X:220–242 as its necessary prologue</a:t>
            </a:r>
            <a:endParaRPr lang="en-US" sz="1500" dirty="0"/>
          </a:p>
        </p:txBody>
      </p:sp>
      <p:sp>
        <p:nvSpPr>
          <p:cNvPr id="6" name="Shape 4"/>
          <p:cNvSpPr/>
          <p:nvPr/>
        </p:nvSpPr>
        <p:spPr>
          <a:xfrm>
            <a:off x="640080" y="3886200"/>
            <a:ext cx="2377440" cy="18288"/>
          </a:xfrm>
          <a:prstGeom prst="rect">
            <a:avLst/>
          </a:prstGeom>
          <a:solidFill>
            <a:srgbClr val="C9A227"/>
          </a:solidFill>
          <a:ln/>
        </p:spPr>
        <p:txBody>
          <a:bodyPr/>
          <a:lstStyle/>
          <a:p>
            <a:endParaRPr lang="en-US"/>
          </a:p>
        </p:txBody>
      </p:sp>
      <p:sp>
        <p:nvSpPr>
          <p:cNvPr id="7" name="Text 5"/>
          <p:cNvSpPr txBox="1"/>
          <p:nvPr/>
        </p:nvSpPr>
        <p:spPr>
          <a:xfrm>
            <a:off x="640080" y="4114800"/>
            <a:ext cx="7863840" cy="457200"/>
          </a:xfrm>
          <a:prstGeom prst="rect">
            <a:avLst/>
          </a:prstGeom>
          <a:noFill/>
          <a:ln/>
        </p:spPr>
        <p:txBody>
          <a:bodyPr wrap="square" lIns="0" tIns="0" rIns="0" bIns="0" rtlCol="0" anchor="ctr"/>
          <a:lstStyle/>
          <a:p>
            <a:pPr marL="0" indent="0">
              <a:buNone/>
            </a:pPr>
            <a:r>
              <a:rPr lang="en-US" sz="1900" i="1" dirty="0">
                <a:solidFill>
                  <a:srgbClr val="86C2CF"/>
                </a:solidFill>
                <a:latin typeface="Cambria" pitchFamily="34" charset="0"/>
                <a:ea typeface="Cambria" pitchFamily="34" charset="-122"/>
                <a:cs typeface="Cambria" pitchFamily="34" charset="-120"/>
              </a:rPr>
              <a:t>He makes the likeness. Someone else supplies the life.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X:220–242</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The story does not begin with wonder</a:t>
            </a:r>
            <a:endParaRPr lang="en-US" sz="3100" dirty="0"/>
          </a:p>
        </p:txBody>
      </p:sp>
      <p:sp>
        <p:nvSpPr>
          <p:cNvPr id="5" name="Shape 3"/>
          <p:cNvSpPr/>
          <p:nvPr/>
        </p:nvSpPr>
        <p:spPr>
          <a:xfrm>
            <a:off x="640080" y="1572768"/>
            <a:ext cx="5577840" cy="3291840"/>
          </a:xfrm>
          <a:prstGeom prst="roundRect">
            <a:avLst>
              <a:gd name="adj" fmla="val 2222"/>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960120" y="1783080"/>
            <a:ext cx="493776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What happens just before</a:t>
            </a:r>
            <a:endParaRPr lang="en-US" sz="1800" dirty="0"/>
          </a:p>
        </p:txBody>
      </p:sp>
      <p:sp>
        <p:nvSpPr>
          <p:cNvPr id="7" name="Text 5"/>
          <p:cNvSpPr txBox="1"/>
          <p:nvPr/>
        </p:nvSpPr>
        <p:spPr>
          <a:xfrm>
            <a:off x="960120" y="2176272"/>
            <a:ext cx="4937760" cy="246888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300" dirty="0">
                <a:solidFill>
                  <a:srgbClr val="5F6478"/>
                </a:solidFill>
                <a:latin typeface="Calibri" pitchFamily="34" charset="0"/>
                <a:ea typeface="Calibri" pitchFamily="34" charset="-122"/>
                <a:cs typeface="Calibri" pitchFamily="34" charset="-120"/>
              </a:rPr>
              <a:t>The Propoetides of Cyprus deny that Venus is a goddess.</a:t>
            </a:r>
            <a:endParaRPr lang="en-US" sz="1300" dirty="0"/>
          </a:p>
          <a:p>
            <a:pPr marL="342900" indent="-342900">
              <a:lnSpc>
                <a:spcPts val="1700"/>
              </a:lnSpc>
              <a:spcAft>
                <a:spcPts val="700"/>
              </a:spcAft>
              <a:buSzPct val="100000"/>
              <a:buChar char="•"/>
            </a:pPr>
            <a:r>
              <a:rPr lang="en-US" sz="1300" dirty="0">
                <a:solidFill>
                  <a:srgbClr val="5F6478"/>
                </a:solidFill>
                <a:latin typeface="Calibri" pitchFamily="34" charset="0"/>
                <a:ea typeface="Calibri" pitchFamily="34" charset="-122"/>
                <a:cs typeface="Calibri" pitchFamily="34" charset="-120"/>
              </a:rPr>
              <a:t>Her punishment: they are said to be the first to prostitute themselves publicly, they lose the capacity to blush, and the blood hardens in their cheeks.</a:t>
            </a:r>
            <a:endParaRPr lang="en-US" sz="1300" dirty="0"/>
          </a:p>
          <a:p>
            <a:pPr marL="342900" indent="-342900">
              <a:lnSpc>
                <a:spcPts val="1700"/>
              </a:lnSpc>
              <a:spcAft>
                <a:spcPts val="700"/>
              </a:spcAft>
              <a:buSzPct val="100000"/>
              <a:buChar char="•"/>
            </a:pPr>
            <a:r>
              <a:rPr lang="en-US" sz="1300" dirty="0">
                <a:solidFill>
                  <a:srgbClr val="5F6478"/>
                </a:solidFill>
                <a:latin typeface="Calibri" pitchFamily="34" charset="0"/>
                <a:ea typeface="Calibri" pitchFamily="34" charset="-122"/>
                <a:cs typeface="Calibri" pitchFamily="34" charset="-120"/>
              </a:rPr>
              <a:t>They are turned into flint — women becoming stone.</a:t>
            </a:r>
            <a:endParaRPr lang="en-US" sz="1300" dirty="0"/>
          </a:p>
          <a:p>
            <a:pPr marL="342900" indent="-342900">
              <a:lnSpc>
                <a:spcPts val="1700"/>
              </a:lnSpc>
              <a:spcAft>
                <a:spcPts val="700"/>
              </a:spcAft>
              <a:buSzPct val="100000"/>
              <a:buChar char="•"/>
            </a:pPr>
            <a:r>
              <a:rPr lang="en-US" sz="1300" dirty="0">
                <a:solidFill>
                  <a:srgbClr val="5F6478"/>
                </a:solidFill>
                <a:latin typeface="Calibri" pitchFamily="34" charset="0"/>
                <a:ea typeface="Calibri" pitchFamily="34" charset="-122"/>
                <a:cs typeface="Calibri" pitchFamily="34" charset="-120"/>
              </a:rPr>
              <a:t>Pygmalion has watched all of this. Ovid says he is offended by faults he attributes to women as a class, and so lives alone.</a:t>
            </a:r>
            <a:endParaRPr lang="en-US" sz="1300" dirty="0"/>
          </a:p>
        </p:txBody>
      </p:sp>
      <p:sp>
        <p:nvSpPr>
          <p:cNvPr id="8" name="Shape 6"/>
          <p:cNvSpPr/>
          <p:nvPr/>
        </p:nvSpPr>
        <p:spPr>
          <a:xfrm>
            <a:off x="6583680" y="1572768"/>
            <a:ext cx="4937760" cy="1554480"/>
          </a:xfrm>
          <a:prstGeom prst="roundRect">
            <a:avLst>
              <a:gd name="adj" fmla="val 4706"/>
            </a:avLst>
          </a:prstGeom>
          <a:solidFill>
            <a:srgbClr val="E7F0F2"/>
          </a:solidFill>
          <a:ln w="12700">
            <a:solidFill>
              <a:srgbClr val="E7F0F2"/>
            </a:solidFill>
            <a:prstDash val="solid"/>
          </a:ln>
        </p:spPr>
        <p:txBody>
          <a:bodyPr/>
          <a:lstStyle/>
          <a:p>
            <a:endParaRPr lang="en-US"/>
          </a:p>
        </p:txBody>
      </p:sp>
      <p:sp>
        <p:nvSpPr>
          <p:cNvPr id="9" name="Text 7"/>
          <p:cNvSpPr txBox="1"/>
          <p:nvPr/>
        </p:nvSpPr>
        <p:spPr>
          <a:xfrm>
            <a:off x="6858000" y="1755648"/>
            <a:ext cx="438912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The chiasmus</a:t>
            </a:r>
            <a:endParaRPr lang="en-US" sz="1800" dirty="0"/>
          </a:p>
        </p:txBody>
      </p:sp>
      <p:sp>
        <p:nvSpPr>
          <p:cNvPr id="10" name="Text 8"/>
          <p:cNvSpPr txBox="1"/>
          <p:nvPr/>
        </p:nvSpPr>
        <p:spPr>
          <a:xfrm>
            <a:off x="6858000" y="2121408"/>
            <a:ext cx="4389120" cy="868680"/>
          </a:xfrm>
          <a:prstGeom prst="rect">
            <a:avLst/>
          </a:prstGeom>
          <a:noFill/>
          <a:ln/>
        </p:spPr>
        <p:txBody>
          <a:bodyPr wrap="square" lIns="0" tIns="0" rIns="0" bIns="0" rtlCol="0" anchor="ctr"/>
          <a:lstStyle/>
          <a:p>
            <a:pPr marL="0" indent="0">
              <a:lnSpc>
                <a:spcPts val="1800"/>
              </a:lnSpc>
              <a:buNone/>
            </a:pPr>
            <a:r>
              <a:rPr lang="en-US" sz="1350" dirty="0">
                <a:solidFill>
                  <a:srgbClr val="5F6478"/>
                </a:solidFill>
                <a:latin typeface="Calibri" pitchFamily="34" charset="0"/>
                <a:ea typeface="Calibri" pitchFamily="34" charset="-122"/>
                <a:cs typeface="Calibri" pitchFamily="34" charset="-120"/>
              </a:rPr>
              <a:t>Real women harden into stone. Then stone softens into a woman. The two transformations are back to back and run in opposite directions — the second is offered as the remedy for the first.</a:t>
            </a:r>
            <a:endParaRPr lang="en-US" sz="1350" dirty="0"/>
          </a:p>
        </p:txBody>
      </p:sp>
      <p:sp>
        <p:nvSpPr>
          <p:cNvPr id="11" name="Shape 9"/>
          <p:cNvSpPr/>
          <p:nvPr/>
        </p:nvSpPr>
        <p:spPr>
          <a:xfrm>
            <a:off x="6583680" y="3310128"/>
            <a:ext cx="4937760" cy="1554480"/>
          </a:xfrm>
          <a:prstGeom prst="roundRect">
            <a:avLst>
              <a:gd name="adj" fmla="val 4706"/>
            </a:avLst>
          </a:prstGeom>
          <a:solidFill>
            <a:srgbClr val="16182B"/>
          </a:solidFill>
          <a:ln w="12700">
            <a:solidFill>
              <a:srgbClr val="16182B"/>
            </a:solidFill>
            <a:prstDash val="solid"/>
          </a:ln>
        </p:spPr>
        <p:txBody>
          <a:bodyPr/>
          <a:lstStyle/>
          <a:p>
            <a:endParaRPr lang="en-US"/>
          </a:p>
        </p:txBody>
      </p:sp>
      <p:sp>
        <p:nvSpPr>
          <p:cNvPr id="12" name="Text 10"/>
          <p:cNvSpPr txBox="1"/>
          <p:nvPr/>
        </p:nvSpPr>
        <p:spPr>
          <a:xfrm>
            <a:off x="6858000" y="3493008"/>
            <a:ext cx="4389120" cy="274320"/>
          </a:xfrm>
          <a:prstGeom prst="rect">
            <a:avLst/>
          </a:prstGeom>
          <a:noFill/>
          <a:ln/>
        </p:spPr>
        <p:txBody>
          <a:bodyPr wrap="square" lIns="0" tIns="0" rIns="0" bIns="0" rtlCol="0" anchor="ctr"/>
          <a:lstStyle/>
          <a:p>
            <a:pPr marL="0" indent="0">
              <a:buNone/>
            </a:pPr>
            <a:r>
              <a:rPr lang="en-US" sz="1100" b="1" kern="0" spc="140" dirty="0">
                <a:solidFill>
                  <a:srgbClr val="C9A227"/>
                </a:solidFill>
                <a:latin typeface="Calibri" pitchFamily="34" charset="0"/>
                <a:ea typeface="Calibri" pitchFamily="34" charset="-122"/>
                <a:cs typeface="Calibri" pitchFamily="34" charset="-120"/>
              </a:rPr>
              <a:t>Ask the room</a:t>
            </a:r>
            <a:endParaRPr lang="en-US" sz="1100" dirty="0"/>
          </a:p>
        </p:txBody>
      </p:sp>
      <p:sp>
        <p:nvSpPr>
          <p:cNvPr id="13" name="Text 11"/>
          <p:cNvSpPr txBox="1"/>
          <p:nvPr/>
        </p:nvSpPr>
        <p:spPr>
          <a:xfrm>
            <a:off x="6858000" y="3794760"/>
            <a:ext cx="4389120" cy="914400"/>
          </a:xfrm>
          <a:prstGeom prst="rect">
            <a:avLst/>
          </a:prstGeom>
          <a:noFill/>
          <a:ln/>
        </p:spPr>
        <p:txBody>
          <a:bodyPr wrap="square" lIns="0" tIns="0" rIns="0" bIns="0" rtlCol="0" anchor="ctr"/>
          <a:lstStyle/>
          <a:p>
            <a:pPr marL="0" indent="0">
              <a:lnSpc>
                <a:spcPts val="2100"/>
              </a:lnSpc>
              <a:buNone/>
            </a:pPr>
            <a:r>
              <a:rPr lang="en-US" sz="1500" dirty="0">
                <a:solidFill>
                  <a:srgbClr val="EDE6D6"/>
                </a:solidFill>
                <a:latin typeface="Cambria" pitchFamily="34" charset="0"/>
                <a:ea typeface="Cambria" pitchFamily="34" charset="-122"/>
                <a:cs typeface="Cambria" pitchFamily="34" charset="-120"/>
              </a:rPr>
              <a:t>The sequence is revulsion first, manufacture second. What does it do to a story about making a companion if we insist on reading the prologue?</a:t>
            </a:r>
            <a:endParaRPr lang="en-US" sz="1500" dirty="0"/>
          </a:p>
        </p:txBody>
      </p:sp>
      <p:sp>
        <p:nvSpPr>
          <p:cNvPr id="14" name="Text 1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X:220–242 and 243–246 (trans. Kline). Read 243–246 aloud before moving 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X:247–269</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The making — four steps of escalation</a:t>
            </a:r>
            <a:endParaRPr lang="en-US" sz="3100" dirty="0"/>
          </a:p>
        </p:txBody>
      </p:sp>
      <p:sp>
        <p:nvSpPr>
          <p:cNvPr id="5" name="Shape 3"/>
          <p:cNvSpPr/>
          <p:nvPr/>
        </p:nvSpPr>
        <p:spPr>
          <a:xfrm>
            <a:off x="640080" y="1627632"/>
            <a:ext cx="2535860" cy="3063240"/>
          </a:xfrm>
          <a:prstGeom prst="roundRect">
            <a:avLst>
              <a:gd name="adj" fmla="val 2885"/>
            </a:avLst>
          </a:prstGeom>
          <a:solidFill>
            <a:srgbClr val="F6F2E9"/>
          </a:solidFill>
          <a:ln w="12700">
            <a:solidFill>
              <a:srgbClr val="F6F2E9"/>
            </a:solidFill>
            <a:prstDash val="solid"/>
          </a:ln>
        </p:spPr>
        <p:txBody>
          <a:bodyPr/>
          <a:lstStyle/>
          <a:p>
            <a:endParaRPr lang="en-US"/>
          </a:p>
        </p:txBody>
      </p:sp>
      <p:sp>
        <p:nvSpPr>
          <p:cNvPr id="6" name="Shape 4"/>
          <p:cNvSpPr/>
          <p:nvPr/>
        </p:nvSpPr>
        <p:spPr>
          <a:xfrm>
            <a:off x="914400" y="1874520"/>
            <a:ext cx="384048" cy="384048"/>
          </a:xfrm>
          <a:prstGeom prst="ellipse">
            <a:avLst/>
          </a:prstGeom>
          <a:solidFill>
            <a:srgbClr val="16182B"/>
          </a:solidFill>
          <a:ln/>
        </p:spPr>
        <p:txBody>
          <a:bodyPr/>
          <a:lstStyle/>
          <a:p>
            <a:endParaRPr lang="en-US"/>
          </a:p>
        </p:txBody>
      </p:sp>
      <p:sp>
        <p:nvSpPr>
          <p:cNvPr id="7" name="Text 5"/>
          <p:cNvSpPr txBox="1"/>
          <p:nvPr/>
        </p:nvSpPr>
        <p:spPr>
          <a:xfrm>
            <a:off x="914400" y="1874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914400" y="2395728"/>
            <a:ext cx="1987220" cy="347472"/>
          </a:xfrm>
          <a:prstGeom prst="rect">
            <a:avLst/>
          </a:prstGeom>
          <a:noFill/>
          <a:ln/>
        </p:spPr>
        <p:txBody>
          <a:bodyPr wrap="square" lIns="0" tIns="0" rIns="0" bIns="0" rtlCol="0" anchor="ctr"/>
          <a:lstStyle/>
          <a:p>
            <a:pPr marL="0" indent="0">
              <a:buNone/>
            </a:pPr>
            <a:r>
              <a:rPr lang="en-US" sz="1900" b="1" dirty="0">
                <a:solidFill>
                  <a:srgbClr val="16182B"/>
                </a:solidFill>
                <a:latin typeface="Cambria" pitchFamily="34" charset="0"/>
                <a:ea typeface="Cambria" pitchFamily="34" charset="-122"/>
                <a:cs typeface="Cambria" pitchFamily="34" charset="-120"/>
              </a:rPr>
              <a:t>Carve</a:t>
            </a:r>
            <a:endParaRPr lang="en-US" sz="1900" dirty="0"/>
          </a:p>
        </p:txBody>
      </p:sp>
      <p:sp>
        <p:nvSpPr>
          <p:cNvPr id="9" name="Text 7"/>
          <p:cNvSpPr txBox="1"/>
          <p:nvPr/>
        </p:nvSpPr>
        <p:spPr>
          <a:xfrm>
            <a:off x="914400" y="2788920"/>
            <a:ext cx="1987220" cy="178308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He works ivory into a figure whiter than snow and, Ovid insists, unlike any woman born. The design brief is difference from the real.</a:t>
            </a:r>
            <a:endParaRPr lang="en-US" sz="1250" dirty="0"/>
          </a:p>
        </p:txBody>
      </p:sp>
      <p:sp>
        <p:nvSpPr>
          <p:cNvPr id="10" name="Shape 8"/>
          <p:cNvSpPr/>
          <p:nvPr/>
        </p:nvSpPr>
        <p:spPr>
          <a:xfrm>
            <a:off x="3431972" y="1627632"/>
            <a:ext cx="2535860" cy="3063240"/>
          </a:xfrm>
          <a:prstGeom prst="roundRect">
            <a:avLst>
              <a:gd name="adj" fmla="val 2885"/>
            </a:avLst>
          </a:prstGeom>
          <a:solidFill>
            <a:srgbClr val="E7F0F2"/>
          </a:solidFill>
          <a:ln w="12700">
            <a:solidFill>
              <a:srgbClr val="E7F0F2"/>
            </a:solidFill>
            <a:prstDash val="solid"/>
          </a:ln>
        </p:spPr>
        <p:txBody>
          <a:bodyPr/>
          <a:lstStyle/>
          <a:p>
            <a:endParaRPr lang="en-US"/>
          </a:p>
        </p:txBody>
      </p:sp>
      <p:sp>
        <p:nvSpPr>
          <p:cNvPr id="11" name="Shape 9"/>
          <p:cNvSpPr/>
          <p:nvPr/>
        </p:nvSpPr>
        <p:spPr>
          <a:xfrm>
            <a:off x="3706292" y="1874520"/>
            <a:ext cx="384048" cy="384048"/>
          </a:xfrm>
          <a:prstGeom prst="ellipse">
            <a:avLst/>
          </a:prstGeom>
          <a:solidFill>
            <a:srgbClr val="2E7D8C"/>
          </a:solidFill>
          <a:ln/>
        </p:spPr>
        <p:txBody>
          <a:bodyPr/>
          <a:lstStyle/>
          <a:p>
            <a:endParaRPr lang="en-US"/>
          </a:p>
        </p:txBody>
      </p:sp>
      <p:sp>
        <p:nvSpPr>
          <p:cNvPr id="12" name="Text 10"/>
          <p:cNvSpPr txBox="1"/>
          <p:nvPr/>
        </p:nvSpPr>
        <p:spPr>
          <a:xfrm>
            <a:off x="3706292" y="1874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3706292" y="2395728"/>
            <a:ext cx="1987220" cy="347472"/>
          </a:xfrm>
          <a:prstGeom prst="rect">
            <a:avLst/>
          </a:prstGeom>
          <a:noFill/>
          <a:ln/>
        </p:spPr>
        <p:txBody>
          <a:bodyPr wrap="square" lIns="0" tIns="0" rIns="0" bIns="0" rtlCol="0" anchor="ctr"/>
          <a:lstStyle/>
          <a:p>
            <a:pPr marL="0" indent="0">
              <a:buNone/>
            </a:pPr>
            <a:r>
              <a:rPr lang="en-US" sz="1900" b="1" dirty="0">
                <a:solidFill>
                  <a:srgbClr val="16182B"/>
                </a:solidFill>
                <a:latin typeface="Cambria" pitchFamily="34" charset="0"/>
                <a:ea typeface="Cambria" pitchFamily="34" charset="-122"/>
                <a:cs typeface="Cambria" pitchFamily="34" charset="-120"/>
              </a:rPr>
              <a:t>Look</a:t>
            </a:r>
            <a:endParaRPr lang="en-US" sz="1900" dirty="0"/>
          </a:p>
        </p:txBody>
      </p:sp>
      <p:sp>
        <p:nvSpPr>
          <p:cNvPr id="14" name="Text 12"/>
          <p:cNvSpPr txBox="1"/>
          <p:nvPr/>
        </p:nvSpPr>
        <p:spPr>
          <a:xfrm>
            <a:off x="3706292" y="2788920"/>
            <a:ext cx="1987220" cy="178308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He falls for his own work. The figure seems to want to move and to be held back only by modesty — the desire is attributed to her.</a:t>
            </a:r>
            <a:endParaRPr lang="en-US" sz="1250" dirty="0"/>
          </a:p>
        </p:txBody>
      </p:sp>
      <p:sp>
        <p:nvSpPr>
          <p:cNvPr id="15" name="Shape 13"/>
          <p:cNvSpPr/>
          <p:nvPr/>
        </p:nvSpPr>
        <p:spPr>
          <a:xfrm>
            <a:off x="6223864" y="1627632"/>
            <a:ext cx="2535860" cy="3063240"/>
          </a:xfrm>
          <a:prstGeom prst="roundRect">
            <a:avLst>
              <a:gd name="adj" fmla="val 2885"/>
            </a:avLst>
          </a:prstGeom>
          <a:solidFill>
            <a:srgbClr val="F6F2E9"/>
          </a:solidFill>
          <a:ln w="12700">
            <a:solidFill>
              <a:srgbClr val="F6F2E9"/>
            </a:solidFill>
            <a:prstDash val="solid"/>
          </a:ln>
        </p:spPr>
        <p:txBody>
          <a:bodyPr/>
          <a:lstStyle/>
          <a:p>
            <a:endParaRPr lang="en-US"/>
          </a:p>
        </p:txBody>
      </p:sp>
      <p:sp>
        <p:nvSpPr>
          <p:cNvPr id="16" name="Shape 14"/>
          <p:cNvSpPr/>
          <p:nvPr/>
        </p:nvSpPr>
        <p:spPr>
          <a:xfrm>
            <a:off x="6498184" y="1874520"/>
            <a:ext cx="384048" cy="384048"/>
          </a:xfrm>
          <a:prstGeom prst="ellipse">
            <a:avLst/>
          </a:prstGeom>
          <a:solidFill>
            <a:srgbClr val="16182B"/>
          </a:solidFill>
          <a:ln/>
        </p:spPr>
        <p:txBody>
          <a:bodyPr/>
          <a:lstStyle/>
          <a:p>
            <a:endParaRPr lang="en-US"/>
          </a:p>
        </p:txBody>
      </p:sp>
      <p:sp>
        <p:nvSpPr>
          <p:cNvPr id="17" name="Text 15"/>
          <p:cNvSpPr txBox="1"/>
          <p:nvPr/>
        </p:nvSpPr>
        <p:spPr>
          <a:xfrm>
            <a:off x="6498184" y="1874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6498184" y="2395728"/>
            <a:ext cx="1987220" cy="347472"/>
          </a:xfrm>
          <a:prstGeom prst="rect">
            <a:avLst/>
          </a:prstGeom>
          <a:noFill/>
          <a:ln/>
        </p:spPr>
        <p:txBody>
          <a:bodyPr wrap="square" lIns="0" tIns="0" rIns="0" bIns="0" rtlCol="0" anchor="ctr"/>
          <a:lstStyle/>
          <a:p>
            <a:pPr marL="0" indent="0">
              <a:buNone/>
            </a:pPr>
            <a:r>
              <a:rPr lang="en-US" sz="1900" b="1" dirty="0">
                <a:solidFill>
                  <a:srgbClr val="16182B"/>
                </a:solidFill>
                <a:latin typeface="Cambria" pitchFamily="34" charset="0"/>
                <a:ea typeface="Cambria" pitchFamily="34" charset="-122"/>
                <a:cs typeface="Cambria" pitchFamily="34" charset="-120"/>
              </a:rPr>
              <a:t>Touch</a:t>
            </a:r>
            <a:endParaRPr lang="en-US" sz="1900" dirty="0"/>
          </a:p>
        </p:txBody>
      </p:sp>
      <p:sp>
        <p:nvSpPr>
          <p:cNvPr id="19" name="Text 17"/>
          <p:cNvSpPr txBox="1"/>
          <p:nvPr/>
        </p:nvSpPr>
        <p:spPr>
          <a:xfrm>
            <a:off x="6498184" y="2788920"/>
            <a:ext cx="1987220" cy="178308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He runs his hands over it to test whether it is flesh or ivory, and then refuses to accept the answer his hands give him.</a:t>
            </a:r>
            <a:endParaRPr lang="en-US" sz="1250" dirty="0"/>
          </a:p>
        </p:txBody>
      </p:sp>
      <p:sp>
        <p:nvSpPr>
          <p:cNvPr id="20" name="Shape 18"/>
          <p:cNvSpPr/>
          <p:nvPr/>
        </p:nvSpPr>
        <p:spPr>
          <a:xfrm>
            <a:off x="9015755" y="1627632"/>
            <a:ext cx="2535860" cy="3063240"/>
          </a:xfrm>
          <a:prstGeom prst="roundRect">
            <a:avLst>
              <a:gd name="adj" fmla="val 2885"/>
            </a:avLst>
          </a:prstGeom>
          <a:solidFill>
            <a:srgbClr val="E7F0F2"/>
          </a:solidFill>
          <a:ln w="12700">
            <a:solidFill>
              <a:srgbClr val="E7F0F2"/>
            </a:solidFill>
            <a:prstDash val="solid"/>
          </a:ln>
        </p:spPr>
        <p:txBody>
          <a:bodyPr/>
          <a:lstStyle/>
          <a:p>
            <a:endParaRPr lang="en-US"/>
          </a:p>
        </p:txBody>
      </p:sp>
      <p:sp>
        <p:nvSpPr>
          <p:cNvPr id="21" name="Shape 19"/>
          <p:cNvSpPr/>
          <p:nvPr/>
        </p:nvSpPr>
        <p:spPr>
          <a:xfrm>
            <a:off x="9290075" y="1874520"/>
            <a:ext cx="384048" cy="384048"/>
          </a:xfrm>
          <a:prstGeom prst="ellipse">
            <a:avLst/>
          </a:prstGeom>
          <a:solidFill>
            <a:srgbClr val="2E7D8C"/>
          </a:solidFill>
          <a:ln/>
        </p:spPr>
        <p:txBody>
          <a:bodyPr/>
          <a:lstStyle/>
          <a:p>
            <a:endParaRPr lang="en-US"/>
          </a:p>
        </p:txBody>
      </p:sp>
      <p:sp>
        <p:nvSpPr>
          <p:cNvPr id="22" name="Text 20"/>
          <p:cNvSpPr txBox="1"/>
          <p:nvPr/>
        </p:nvSpPr>
        <p:spPr>
          <a:xfrm>
            <a:off x="9290075" y="18745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9290075" y="2395728"/>
            <a:ext cx="1987220" cy="347472"/>
          </a:xfrm>
          <a:prstGeom prst="rect">
            <a:avLst/>
          </a:prstGeom>
          <a:noFill/>
          <a:ln/>
        </p:spPr>
        <p:txBody>
          <a:bodyPr wrap="square" lIns="0" tIns="0" rIns="0" bIns="0" rtlCol="0" anchor="ctr"/>
          <a:lstStyle/>
          <a:p>
            <a:pPr marL="0" indent="0">
              <a:buNone/>
            </a:pPr>
            <a:r>
              <a:rPr lang="en-US" sz="1900" b="1" dirty="0">
                <a:solidFill>
                  <a:srgbClr val="16182B"/>
                </a:solidFill>
                <a:latin typeface="Cambria" pitchFamily="34" charset="0"/>
                <a:ea typeface="Cambria" pitchFamily="34" charset="-122"/>
                <a:cs typeface="Cambria" pitchFamily="34" charset="-120"/>
              </a:rPr>
              <a:t>Live with</a:t>
            </a:r>
            <a:endParaRPr lang="en-US" sz="1900" dirty="0"/>
          </a:p>
        </p:txBody>
      </p:sp>
      <p:sp>
        <p:nvSpPr>
          <p:cNvPr id="24" name="Text 22"/>
          <p:cNvSpPr txBox="1"/>
          <p:nvPr/>
        </p:nvSpPr>
        <p:spPr>
          <a:xfrm>
            <a:off x="9290075" y="2788920"/>
            <a:ext cx="1987220" cy="178308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He kisses it, talks to it, believes the kisses returned, brings gifts, dresses it, adds jewellery, lays it on a couch and calls it his companion.</a:t>
            </a:r>
            <a:endParaRPr lang="en-US" sz="1250" dirty="0"/>
          </a:p>
        </p:txBody>
      </p:sp>
      <p:sp>
        <p:nvSpPr>
          <p:cNvPr id="25" name="Shape 23"/>
          <p:cNvSpPr/>
          <p:nvPr/>
        </p:nvSpPr>
        <p:spPr>
          <a:xfrm>
            <a:off x="640080" y="4937760"/>
            <a:ext cx="10911535" cy="960120"/>
          </a:xfrm>
          <a:prstGeom prst="roundRect">
            <a:avLst>
              <a:gd name="adj" fmla="val 7619"/>
            </a:avLst>
          </a:prstGeom>
          <a:solidFill>
            <a:srgbClr val="16182B"/>
          </a:solidFill>
          <a:ln w="12700">
            <a:solidFill>
              <a:srgbClr val="16182B"/>
            </a:solidFill>
            <a:prstDash val="solid"/>
          </a:ln>
        </p:spPr>
        <p:txBody>
          <a:bodyPr/>
          <a:lstStyle/>
          <a:p>
            <a:endParaRPr lang="en-US"/>
          </a:p>
        </p:txBody>
      </p:sp>
      <p:sp>
        <p:nvSpPr>
          <p:cNvPr id="26" name="Text 24"/>
          <p:cNvSpPr txBox="1"/>
          <p:nvPr/>
        </p:nvSpPr>
        <p:spPr>
          <a:xfrm>
            <a:off x="1005840" y="5120640"/>
            <a:ext cx="10424160" cy="640080"/>
          </a:xfrm>
          <a:prstGeom prst="rect">
            <a:avLst/>
          </a:prstGeom>
          <a:noFill/>
          <a:ln/>
        </p:spPr>
        <p:txBody>
          <a:bodyPr wrap="square" lIns="0" tIns="0" rIns="0" bIns="0" rtlCol="0" anchor="ctr"/>
          <a:lstStyle/>
          <a:p>
            <a:pPr marL="0" indent="0">
              <a:lnSpc>
                <a:spcPts val="2200"/>
              </a:lnSpc>
              <a:buNone/>
            </a:pPr>
            <a:r>
              <a:rPr lang="en-US" sz="1600" dirty="0">
                <a:solidFill>
                  <a:srgbClr val="EDE6D6"/>
                </a:solidFill>
                <a:latin typeface="Cambria" pitchFamily="34" charset="0"/>
                <a:ea typeface="Cambria" pitchFamily="34" charset="-122"/>
                <a:cs typeface="Cambria" pitchFamily="34" charset="-120"/>
              </a:rPr>
              <a:t>Notice that nothing supernatural has happened yet. Every step here is ordinary human behaviour toward an object, and Ovid narrates it without a single word of ridicule.</a:t>
            </a:r>
            <a:endParaRPr lang="en-US" sz="1600" dirty="0"/>
          </a:p>
        </p:txBody>
      </p:sp>
      <p:sp>
        <p:nvSpPr>
          <p:cNvPr id="27" name="Text 2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X:247–269 (trans. Kline).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CLOSE READING 1</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The craft that erases the evidence of craft</a:t>
            </a:r>
            <a:endParaRPr lang="en-US" sz="3100" dirty="0"/>
          </a:p>
        </p:txBody>
      </p:sp>
      <p:sp>
        <p:nvSpPr>
          <p:cNvPr id="5" name="Shape 3"/>
          <p:cNvSpPr/>
          <p:nvPr/>
        </p:nvSpPr>
        <p:spPr>
          <a:xfrm>
            <a:off x="640080" y="1627632"/>
            <a:ext cx="5029200" cy="4251960"/>
          </a:xfrm>
          <a:prstGeom prst="roundRect">
            <a:avLst>
              <a:gd name="adj" fmla="val 1720"/>
            </a:avLst>
          </a:prstGeom>
          <a:solidFill>
            <a:srgbClr val="16182B"/>
          </a:solidFill>
          <a:ln w="12700">
            <a:solidFill>
              <a:srgbClr val="16182B"/>
            </a:solidFill>
            <a:prstDash val="solid"/>
          </a:ln>
        </p:spPr>
        <p:txBody>
          <a:bodyPr/>
          <a:lstStyle/>
          <a:p>
            <a:endParaRPr lang="en-US"/>
          </a:p>
        </p:txBody>
      </p:sp>
      <p:sp>
        <p:nvSpPr>
          <p:cNvPr id="6" name="Text 4"/>
          <p:cNvSpPr txBox="1"/>
          <p:nvPr/>
        </p:nvSpPr>
        <p:spPr>
          <a:xfrm>
            <a:off x="1005840" y="1965960"/>
            <a:ext cx="4297680" cy="640080"/>
          </a:xfrm>
          <a:prstGeom prst="rect">
            <a:avLst/>
          </a:prstGeom>
          <a:noFill/>
          <a:ln/>
        </p:spPr>
        <p:txBody>
          <a:bodyPr wrap="square" lIns="0" tIns="0" rIns="0" bIns="0" rtlCol="0" anchor="ctr"/>
          <a:lstStyle/>
          <a:p>
            <a:pPr marL="0" indent="0">
              <a:buNone/>
            </a:pPr>
            <a:r>
              <a:rPr lang="en-US" sz="3000" b="1" dirty="0">
                <a:solidFill>
                  <a:srgbClr val="EDE6D6"/>
                </a:solidFill>
                <a:latin typeface="Cambria" pitchFamily="34" charset="0"/>
                <a:ea typeface="Cambria" pitchFamily="34" charset="-122"/>
                <a:cs typeface="Cambria" pitchFamily="34" charset="-120"/>
              </a:rPr>
              <a:t>“art hides his art”</a:t>
            </a:r>
            <a:endParaRPr lang="en-US" sz="3000" dirty="0"/>
          </a:p>
        </p:txBody>
      </p:sp>
      <p:sp>
        <p:nvSpPr>
          <p:cNvPr id="7" name="Text 5"/>
          <p:cNvSpPr txBox="1"/>
          <p:nvPr/>
        </p:nvSpPr>
        <p:spPr>
          <a:xfrm>
            <a:off x="1005840" y="2697480"/>
            <a:ext cx="4297680" cy="320040"/>
          </a:xfrm>
          <a:prstGeom prst="rect">
            <a:avLst/>
          </a:prstGeom>
          <a:noFill/>
          <a:ln/>
        </p:spPr>
        <p:txBody>
          <a:bodyPr wrap="square" lIns="0" tIns="0" rIns="0" bIns="0" rtlCol="0" anchor="ctr"/>
          <a:lstStyle/>
          <a:p>
            <a:pPr marL="0" indent="0">
              <a:buNone/>
            </a:pPr>
            <a:r>
              <a:rPr lang="en-US" sz="1300" i="1" dirty="0">
                <a:solidFill>
                  <a:srgbClr val="C9A227"/>
                </a:solidFill>
                <a:latin typeface="Calibri" pitchFamily="34" charset="0"/>
                <a:ea typeface="Calibri" pitchFamily="34" charset="-122"/>
                <a:cs typeface="Calibri" pitchFamily="34" charset="-120"/>
              </a:rPr>
              <a:t>Latin: ars adeo latet arte sua  (Met. 10.252)</a:t>
            </a:r>
            <a:endParaRPr lang="en-US" sz="1300" dirty="0"/>
          </a:p>
        </p:txBody>
      </p:sp>
      <p:sp>
        <p:nvSpPr>
          <p:cNvPr id="8" name="Text 6"/>
          <p:cNvSpPr txBox="1"/>
          <p:nvPr/>
        </p:nvSpPr>
        <p:spPr>
          <a:xfrm>
            <a:off x="1005840" y="3127248"/>
            <a:ext cx="4297680" cy="914400"/>
          </a:xfrm>
          <a:prstGeom prst="rect">
            <a:avLst/>
          </a:prstGeom>
          <a:noFill/>
          <a:ln/>
        </p:spPr>
        <p:txBody>
          <a:bodyPr wrap="square" lIns="0" tIns="0" rIns="0" bIns="0" rtlCol="0" anchor="ctr"/>
          <a:lstStyle/>
          <a:p>
            <a:pPr marL="0" indent="0">
              <a:lnSpc>
                <a:spcPts val="1800"/>
              </a:lnSpc>
              <a:buNone/>
            </a:pPr>
            <a:r>
              <a:rPr lang="en-US" sz="1300" dirty="0">
                <a:solidFill>
                  <a:srgbClr val="EDE6D6"/>
                </a:solidFill>
                <a:latin typeface="Calibri" pitchFamily="34" charset="0"/>
                <a:ea typeface="Calibri" pitchFamily="34" charset="-122"/>
                <a:cs typeface="Calibri" pitchFamily="34" charset="-120"/>
              </a:rPr>
              <a:t>The statue is praised precisely because it does not look made. Ovid states the criterion as a compliment, and it has been the working definition of good craft ever since.</a:t>
            </a:r>
            <a:endParaRPr lang="en-US" sz="1300" dirty="0"/>
          </a:p>
        </p:txBody>
      </p:sp>
      <p:sp>
        <p:nvSpPr>
          <p:cNvPr id="9" name="Shape 7"/>
          <p:cNvSpPr/>
          <p:nvPr/>
        </p:nvSpPr>
        <p:spPr>
          <a:xfrm>
            <a:off x="1005840" y="4224528"/>
            <a:ext cx="1463040" cy="18288"/>
          </a:xfrm>
          <a:prstGeom prst="rect">
            <a:avLst/>
          </a:prstGeom>
          <a:solidFill>
            <a:srgbClr val="C9A227"/>
          </a:solidFill>
          <a:ln/>
        </p:spPr>
        <p:txBody>
          <a:bodyPr/>
          <a:lstStyle/>
          <a:p>
            <a:endParaRPr lang="en-US"/>
          </a:p>
        </p:txBody>
      </p:sp>
      <p:sp>
        <p:nvSpPr>
          <p:cNvPr id="10" name="Text 8"/>
          <p:cNvSpPr txBox="1"/>
          <p:nvPr/>
        </p:nvSpPr>
        <p:spPr>
          <a:xfrm>
            <a:off x="1005840" y="4434840"/>
            <a:ext cx="4297680" cy="1188720"/>
          </a:xfrm>
          <a:prstGeom prst="rect">
            <a:avLst/>
          </a:prstGeom>
          <a:noFill/>
          <a:ln/>
        </p:spPr>
        <p:txBody>
          <a:bodyPr wrap="square" lIns="0" tIns="0" rIns="0" bIns="0" rtlCol="0" anchor="ctr"/>
          <a:lstStyle/>
          <a:p>
            <a:pPr marL="0" indent="0">
              <a:lnSpc>
                <a:spcPts val="2000"/>
              </a:lnSpc>
              <a:buNone/>
            </a:pPr>
            <a:r>
              <a:rPr lang="en-US" sz="1400" dirty="0">
                <a:solidFill>
                  <a:srgbClr val="86C2CF"/>
                </a:solidFill>
                <a:latin typeface="Cambria" pitchFamily="34" charset="0"/>
                <a:ea typeface="Cambria" pitchFamily="34" charset="-122"/>
                <a:cs typeface="Cambria" pitchFamily="34" charset="-120"/>
              </a:rPr>
              <a:t>Put this on the board. It is the test we will run on every artefact in the course: does this thing advertise its own manufacture, or hide it — and what follows from the choice?</a:t>
            </a:r>
            <a:endParaRPr lang="en-US" sz="1400" dirty="0"/>
          </a:p>
        </p:txBody>
      </p:sp>
      <p:sp>
        <p:nvSpPr>
          <p:cNvPr id="11" name="Shape 9"/>
          <p:cNvSpPr/>
          <p:nvPr/>
        </p:nvSpPr>
        <p:spPr>
          <a:xfrm>
            <a:off x="5989320" y="1627632"/>
            <a:ext cx="5532120" cy="1298448"/>
          </a:xfrm>
          <a:prstGeom prst="roundRect">
            <a:avLst>
              <a:gd name="adj" fmla="val 5634"/>
            </a:avLst>
          </a:prstGeom>
          <a:solidFill>
            <a:srgbClr val="F6F2E9"/>
          </a:solidFill>
          <a:ln w="12700">
            <a:solidFill>
              <a:srgbClr val="F6F2E9"/>
            </a:solidFill>
            <a:prstDash val="solid"/>
          </a:ln>
        </p:spPr>
        <p:txBody>
          <a:bodyPr/>
          <a:lstStyle/>
          <a:p>
            <a:endParaRPr lang="en-US"/>
          </a:p>
        </p:txBody>
      </p:sp>
      <p:sp>
        <p:nvSpPr>
          <p:cNvPr id="12" name="Text 10"/>
          <p:cNvSpPr txBox="1"/>
          <p:nvPr/>
        </p:nvSpPr>
        <p:spPr>
          <a:xfrm>
            <a:off x="6263640" y="1773936"/>
            <a:ext cx="4983480" cy="320040"/>
          </a:xfrm>
          <a:prstGeom prst="rect">
            <a:avLst/>
          </a:prstGeom>
          <a:noFill/>
          <a:ln/>
        </p:spPr>
        <p:txBody>
          <a:bodyPr wrap="square" lIns="0" tIns="0" rIns="0" bIns="0" rtlCol="0" anchor="ctr"/>
          <a:lstStyle/>
          <a:p>
            <a:pPr marL="0" indent="0">
              <a:buNone/>
            </a:pPr>
            <a:r>
              <a:rPr lang="en-US" sz="1550" b="1" dirty="0">
                <a:solidFill>
                  <a:srgbClr val="16182B"/>
                </a:solidFill>
                <a:latin typeface="Cambria" pitchFamily="34" charset="0"/>
                <a:ea typeface="Cambria" pitchFamily="34" charset="-122"/>
                <a:cs typeface="Cambria" pitchFamily="34" charset="-120"/>
              </a:rPr>
              <a:t>Where does this standard operate now?</a:t>
            </a:r>
            <a:endParaRPr lang="en-US" sz="1550" dirty="0"/>
          </a:p>
        </p:txBody>
      </p:sp>
      <p:sp>
        <p:nvSpPr>
          <p:cNvPr id="13" name="Text 11"/>
          <p:cNvSpPr txBox="1"/>
          <p:nvPr/>
        </p:nvSpPr>
        <p:spPr>
          <a:xfrm>
            <a:off x="6263640" y="2121408"/>
            <a:ext cx="4983480" cy="713232"/>
          </a:xfrm>
          <a:prstGeom prst="rect">
            <a:avLst/>
          </a:prstGeom>
          <a:noFill/>
          <a:ln/>
        </p:spPr>
        <p:txBody>
          <a:bodyPr wrap="square" lIns="0" tIns="0" rIns="0" bIns="0" rtlCol="0" anchor="ctr"/>
          <a:lstStyle/>
          <a:p>
            <a:pPr marL="0" indent="0">
              <a:lnSpc>
                <a:spcPts val="1600"/>
              </a:lnSpc>
              <a:buNone/>
            </a:pPr>
            <a:r>
              <a:rPr lang="en-US" sz="1250" dirty="0">
                <a:solidFill>
                  <a:srgbClr val="5F6478"/>
                </a:solidFill>
                <a:latin typeface="Calibri" pitchFamily="34" charset="0"/>
                <a:ea typeface="Calibri" pitchFamily="34" charset="-122"/>
                <a:cs typeface="Calibri" pitchFamily="34" charset="-120"/>
              </a:rPr>
              <a:t>Seamlessness as the measure of quality: interfaces that hide their machinery, generated text tuned so the seams do not show, voices engineered out of the uncanny valley.</a:t>
            </a:r>
            <a:endParaRPr lang="en-US" sz="1250" dirty="0"/>
          </a:p>
        </p:txBody>
      </p:sp>
      <p:sp>
        <p:nvSpPr>
          <p:cNvPr id="14" name="Shape 12"/>
          <p:cNvSpPr/>
          <p:nvPr/>
        </p:nvSpPr>
        <p:spPr>
          <a:xfrm>
            <a:off x="5989320" y="3044952"/>
            <a:ext cx="5532120" cy="1298448"/>
          </a:xfrm>
          <a:prstGeom prst="roundRect">
            <a:avLst>
              <a:gd name="adj" fmla="val 5634"/>
            </a:avLst>
          </a:prstGeom>
          <a:solidFill>
            <a:srgbClr val="E7F0F2"/>
          </a:solidFill>
          <a:ln w="12700">
            <a:solidFill>
              <a:srgbClr val="E7F0F2"/>
            </a:solidFill>
            <a:prstDash val="solid"/>
          </a:ln>
        </p:spPr>
        <p:txBody>
          <a:bodyPr/>
          <a:lstStyle/>
          <a:p>
            <a:endParaRPr lang="en-US"/>
          </a:p>
        </p:txBody>
      </p:sp>
      <p:sp>
        <p:nvSpPr>
          <p:cNvPr id="15" name="Text 13"/>
          <p:cNvSpPr txBox="1"/>
          <p:nvPr/>
        </p:nvSpPr>
        <p:spPr>
          <a:xfrm>
            <a:off x="6263640" y="3191256"/>
            <a:ext cx="4983480" cy="320040"/>
          </a:xfrm>
          <a:prstGeom prst="rect">
            <a:avLst/>
          </a:prstGeom>
          <a:noFill/>
          <a:ln/>
        </p:spPr>
        <p:txBody>
          <a:bodyPr wrap="square" lIns="0" tIns="0" rIns="0" bIns="0" rtlCol="0" anchor="ctr"/>
          <a:lstStyle/>
          <a:p>
            <a:pPr marL="0" indent="0">
              <a:buNone/>
            </a:pPr>
            <a:r>
              <a:rPr lang="en-US" sz="1550" b="1" dirty="0">
                <a:solidFill>
                  <a:srgbClr val="16182B"/>
                </a:solidFill>
                <a:latin typeface="Cambria" pitchFamily="34" charset="0"/>
                <a:ea typeface="Cambria" pitchFamily="34" charset="-122"/>
                <a:cs typeface="Cambria" pitchFamily="34" charset="-120"/>
              </a:rPr>
              <a:t>Who benefits from concealed artifice?</a:t>
            </a:r>
            <a:endParaRPr lang="en-US" sz="1550" dirty="0"/>
          </a:p>
        </p:txBody>
      </p:sp>
      <p:sp>
        <p:nvSpPr>
          <p:cNvPr id="16" name="Text 14"/>
          <p:cNvSpPr txBox="1"/>
          <p:nvPr/>
        </p:nvSpPr>
        <p:spPr>
          <a:xfrm>
            <a:off x="6263640" y="3538728"/>
            <a:ext cx="4983480" cy="713232"/>
          </a:xfrm>
          <a:prstGeom prst="rect">
            <a:avLst/>
          </a:prstGeom>
          <a:noFill/>
          <a:ln/>
        </p:spPr>
        <p:txBody>
          <a:bodyPr wrap="square" lIns="0" tIns="0" rIns="0" bIns="0" rtlCol="0" anchor="ctr"/>
          <a:lstStyle/>
          <a:p>
            <a:pPr marL="0" indent="0">
              <a:lnSpc>
                <a:spcPts val="1600"/>
              </a:lnSpc>
              <a:buNone/>
            </a:pPr>
            <a:r>
              <a:rPr lang="en-US" sz="1250" dirty="0">
                <a:solidFill>
                  <a:srgbClr val="5F6478"/>
                </a:solidFill>
                <a:latin typeface="Calibri" pitchFamily="34" charset="0"/>
                <a:ea typeface="Calibri" pitchFamily="34" charset="-122"/>
                <a:cs typeface="Calibri" pitchFamily="34" charset="-120"/>
              </a:rPr>
              <a:t>The maker is flattered by it. The user is spared friction by it. Ask whether anyone is disadvantaged by it, and whether the answer changes when the artefact is a person-shaped one.</a:t>
            </a:r>
            <a:endParaRPr lang="en-US" sz="1250" dirty="0"/>
          </a:p>
        </p:txBody>
      </p:sp>
      <p:sp>
        <p:nvSpPr>
          <p:cNvPr id="17" name="Shape 15"/>
          <p:cNvSpPr/>
          <p:nvPr/>
        </p:nvSpPr>
        <p:spPr>
          <a:xfrm>
            <a:off x="5989320" y="4462272"/>
            <a:ext cx="5532120" cy="1298448"/>
          </a:xfrm>
          <a:prstGeom prst="roundRect">
            <a:avLst>
              <a:gd name="adj" fmla="val 5634"/>
            </a:avLst>
          </a:prstGeom>
          <a:solidFill>
            <a:srgbClr val="F6F2E9"/>
          </a:solidFill>
          <a:ln w="12700">
            <a:solidFill>
              <a:srgbClr val="F6F2E9"/>
            </a:solidFill>
            <a:prstDash val="solid"/>
          </a:ln>
        </p:spPr>
        <p:txBody>
          <a:bodyPr/>
          <a:lstStyle/>
          <a:p>
            <a:endParaRPr lang="en-US"/>
          </a:p>
        </p:txBody>
      </p:sp>
      <p:sp>
        <p:nvSpPr>
          <p:cNvPr id="18" name="Text 16"/>
          <p:cNvSpPr txBox="1"/>
          <p:nvPr/>
        </p:nvSpPr>
        <p:spPr>
          <a:xfrm>
            <a:off x="6263640" y="4608576"/>
            <a:ext cx="4983480" cy="320040"/>
          </a:xfrm>
          <a:prstGeom prst="rect">
            <a:avLst/>
          </a:prstGeom>
          <a:noFill/>
          <a:ln/>
        </p:spPr>
        <p:txBody>
          <a:bodyPr wrap="square" lIns="0" tIns="0" rIns="0" bIns="0" rtlCol="0" anchor="ctr"/>
          <a:lstStyle/>
          <a:p>
            <a:pPr marL="0" indent="0">
              <a:buNone/>
            </a:pPr>
            <a:r>
              <a:rPr lang="en-US" sz="1550" b="1" dirty="0">
                <a:solidFill>
                  <a:srgbClr val="16182B"/>
                </a:solidFill>
                <a:latin typeface="Cambria" pitchFamily="34" charset="0"/>
                <a:ea typeface="Cambria" pitchFamily="34" charset="-122"/>
                <a:cs typeface="Cambria" pitchFamily="34" charset="-120"/>
              </a:rPr>
              <a:t>Is legibility a failure or a feature?</a:t>
            </a:r>
            <a:endParaRPr lang="en-US" sz="1550" dirty="0"/>
          </a:p>
        </p:txBody>
      </p:sp>
      <p:sp>
        <p:nvSpPr>
          <p:cNvPr id="19" name="Text 17"/>
          <p:cNvSpPr txBox="1"/>
          <p:nvPr/>
        </p:nvSpPr>
        <p:spPr>
          <a:xfrm>
            <a:off x="6263640" y="4956048"/>
            <a:ext cx="4983480" cy="713232"/>
          </a:xfrm>
          <a:prstGeom prst="rect">
            <a:avLst/>
          </a:prstGeom>
          <a:noFill/>
          <a:ln/>
        </p:spPr>
        <p:txBody>
          <a:bodyPr wrap="square" lIns="0" tIns="0" rIns="0" bIns="0" rtlCol="0" anchor="ctr"/>
          <a:lstStyle/>
          <a:p>
            <a:pPr marL="0" indent="0">
              <a:lnSpc>
                <a:spcPts val="1600"/>
              </a:lnSpc>
              <a:buNone/>
            </a:pPr>
            <a:r>
              <a:rPr lang="en-US" sz="1250" dirty="0">
                <a:solidFill>
                  <a:srgbClr val="5F6478"/>
                </a:solidFill>
                <a:latin typeface="Calibri" pitchFamily="34" charset="0"/>
                <a:ea typeface="Calibri" pitchFamily="34" charset="-122"/>
                <a:cs typeface="Calibri" pitchFamily="34" charset="-120"/>
              </a:rPr>
              <a:t>Watermarking, disclosure labels and visible refusals all deliberately reinstate the seam. On Ovid’s aesthetic criterion, every one of them is a defect.</a:t>
            </a:r>
            <a:endParaRPr lang="en-US" sz="125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X:252 (trans. Kline); Latin text linked from the same U.Va. page.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X:270–279</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The prayer he does not dare to make</a:t>
            </a:r>
            <a:endParaRPr lang="en-US" sz="3100" dirty="0"/>
          </a:p>
        </p:txBody>
      </p:sp>
      <p:sp>
        <p:nvSpPr>
          <p:cNvPr id="5" name="Shape 3"/>
          <p:cNvSpPr/>
          <p:nvPr/>
        </p:nvSpPr>
        <p:spPr>
          <a:xfrm>
            <a:off x="640080" y="1600200"/>
            <a:ext cx="10911535" cy="1051560"/>
          </a:xfrm>
          <a:prstGeom prst="roundRect">
            <a:avLst>
              <a:gd name="adj" fmla="val 6957"/>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1005840" y="1755648"/>
            <a:ext cx="10424160" cy="777240"/>
          </a:xfrm>
          <a:prstGeom prst="rect">
            <a:avLst/>
          </a:prstGeom>
          <a:noFill/>
          <a:ln/>
        </p:spPr>
        <p:txBody>
          <a:bodyPr wrap="square" lIns="0" tIns="0" rIns="0" bIns="0" rtlCol="0" anchor="ctr"/>
          <a:lstStyle/>
          <a:p>
            <a:pPr marL="0" indent="0">
              <a:lnSpc>
                <a:spcPts val="2200"/>
              </a:lnSpc>
              <a:buNone/>
            </a:pPr>
            <a:r>
              <a:rPr lang="en-US" sz="1600" dirty="0">
                <a:solidFill>
                  <a:srgbClr val="16182B"/>
                </a:solidFill>
                <a:latin typeface="Cambria" pitchFamily="34" charset="0"/>
                <a:ea typeface="Cambria" pitchFamily="34" charset="-122"/>
                <a:cs typeface="Cambria" pitchFamily="34" charset="-120"/>
              </a:rPr>
              <a:t>At Venus’s festival he stands at the altar and asks for a bride — then stops. He does not ask for the ivory girl. He asks for one like his ivory girl. Ovid tells us plainly that the goddess understood the wish underneath the words, and gave a sign.</a:t>
            </a:r>
            <a:endParaRPr lang="en-US" sz="1600" dirty="0"/>
          </a:p>
        </p:txBody>
      </p:sp>
      <p:sp>
        <p:nvSpPr>
          <p:cNvPr id="7" name="Shape 5"/>
          <p:cNvSpPr/>
          <p:nvPr/>
        </p:nvSpPr>
        <p:spPr>
          <a:xfrm>
            <a:off x="640080" y="2852928"/>
            <a:ext cx="5257800" cy="1828800"/>
          </a:xfrm>
          <a:prstGeom prst="roundRect">
            <a:avLst>
              <a:gd name="adj" fmla="val 4000"/>
            </a:avLst>
          </a:prstGeom>
          <a:solidFill>
            <a:srgbClr val="E7F0F2"/>
          </a:solidFill>
          <a:ln w="12700">
            <a:solidFill>
              <a:srgbClr val="E7F0F2"/>
            </a:solidFill>
            <a:prstDash val="solid"/>
          </a:ln>
        </p:spPr>
        <p:txBody>
          <a:bodyPr/>
          <a:lstStyle/>
          <a:p>
            <a:endParaRPr lang="en-US"/>
          </a:p>
        </p:txBody>
      </p:sp>
      <p:sp>
        <p:nvSpPr>
          <p:cNvPr id="8" name="Text 6"/>
          <p:cNvSpPr txBox="1"/>
          <p:nvPr/>
        </p:nvSpPr>
        <p:spPr>
          <a:xfrm>
            <a:off x="960120" y="3035808"/>
            <a:ext cx="4572000" cy="292608"/>
          </a:xfrm>
          <a:prstGeom prst="rect">
            <a:avLst/>
          </a:prstGeom>
          <a:noFill/>
          <a:ln/>
        </p:spPr>
        <p:txBody>
          <a:bodyPr wrap="square" lIns="0" tIns="0" rIns="0" bIns="0" rtlCol="0" anchor="ctr"/>
          <a:lstStyle/>
          <a:p>
            <a:pPr marL="0" indent="0">
              <a:buNone/>
            </a:pPr>
            <a:r>
              <a:rPr lang="en-US" sz="1650" b="1" dirty="0">
                <a:solidFill>
                  <a:srgbClr val="16182B"/>
                </a:solidFill>
                <a:latin typeface="Cambria" pitchFamily="34" charset="0"/>
                <a:ea typeface="Cambria" pitchFamily="34" charset="-122"/>
                <a:cs typeface="Cambria" pitchFamily="34" charset="-120"/>
              </a:rPr>
              <a:t>Two readings of the hesitation</a:t>
            </a:r>
            <a:endParaRPr lang="en-US" sz="1650" dirty="0"/>
          </a:p>
        </p:txBody>
      </p:sp>
      <p:sp>
        <p:nvSpPr>
          <p:cNvPr id="9" name="Text 7"/>
          <p:cNvSpPr txBox="1"/>
          <p:nvPr/>
        </p:nvSpPr>
        <p:spPr>
          <a:xfrm>
            <a:off x="960120" y="3401568"/>
            <a:ext cx="4617720" cy="114300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5F6478"/>
                </a:solidFill>
                <a:latin typeface="Calibri" pitchFamily="34" charset="0"/>
                <a:ea typeface="Calibri" pitchFamily="34" charset="-122"/>
                <a:cs typeface="Calibri" pitchFamily="34" charset="-120"/>
              </a:rPr>
              <a:t>Piety. One does not demand the impossible from a god; the euphemism is decorum.</a:t>
            </a:r>
            <a:endParaRPr lang="en-US" sz="1250" dirty="0"/>
          </a:p>
          <a:p>
            <a:pPr marL="342900" indent="-342900">
              <a:lnSpc>
                <a:spcPts val="1600"/>
              </a:lnSpc>
              <a:spcAft>
                <a:spcPts val="600"/>
              </a:spcAft>
              <a:buSzPct val="100000"/>
              <a:buChar char="•"/>
            </a:pPr>
            <a:r>
              <a:rPr lang="en-US" sz="1250" dirty="0">
                <a:solidFill>
                  <a:srgbClr val="5F6478"/>
                </a:solidFill>
                <a:latin typeface="Calibri" pitchFamily="34" charset="0"/>
                <a:ea typeface="Calibri" pitchFamily="34" charset="-122"/>
                <a:cs typeface="Calibri" pitchFamily="34" charset="-120"/>
              </a:rPr>
              <a:t>Shame. He knows the wish is illegitimate, so he launders it into acceptable language and lets someone else supply the meaning.</a:t>
            </a:r>
            <a:endParaRPr lang="en-US" sz="1250" dirty="0"/>
          </a:p>
        </p:txBody>
      </p:sp>
      <p:sp>
        <p:nvSpPr>
          <p:cNvPr id="10" name="Shape 8"/>
          <p:cNvSpPr/>
          <p:nvPr/>
        </p:nvSpPr>
        <p:spPr>
          <a:xfrm>
            <a:off x="6263640" y="2852928"/>
            <a:ext cx="5257800" cy="1828800"/>
          </a:xfrm>
          <a:prstGeom prst="roundRect">
            <a:avLst>
              <a:gd name="adj" fmla="val 4000"/>
            </a:avLst>
          </a:prstGeom>
          <a:solidFill>
            <a:srgbClr val="16182B"/>
          </a:solidFill>
          <a:ln w="12700">
            <a:solidFill>
              <a:srgbClr val="16182B"/>
            </a:solidFill>
            <a:prstDash val="solid"/>
          </a:ln>
        </p:spPr>
        <p:txBody>
          <a:bodyPr/>
          <a:lstStyle/>
          <a:p>
            <a:endParaRPr lang="en-US"/>
          </a:p>
        </p:txBody>
      </p:sp>
      <p:sp>
        <p:nvSpPr>
          <p:cNvPr id="11" name="Text 9"/>
          <p:cNvSpPr txBox="1"/>
          <p:nvPr/>
        </p:nvSpPr>
        <p:spPr>
          <a:xfrm>
            <a:off x="6583680" y="3035808"/>
            <a:ext cx="4572000" cy="292608"/>
          </a:xfrm>
          <a:prstGeom prst="rect">
            <a:avLst/>
          </a:prstGeom>
          <a:noFill/>
          <a:ln/>
        </p:spPr>
        <p:txBody>
          <a:bodyPr wrap="square" lIns="0" tIns="0" rIns="0" bIns="0" rtlCol="0" anchor="ctr"/>
          <a:lstStyle/>
          <a:p>
            <a:pPr marL="0" indent="0">
              <a:buNone/>
            </a:pPr>
            <a:r>
              <a:rPr lang="en-US" sz="1650" b="1" dirty="0">
                <a:solidFill>
                  <a:srgbClr val="C9A227"/>
                </a:solidFill>
                <a:latin typeface="Cambria" pitchFamily="34" charset="0"/>
                <a:ea typeface="Cambria" pitchFamily="34" charset="-122"/>
                <a:cs typeface="Cambria" pitchFamily="34" charset="-120"/>
              </a:rPr>
              <a:t>The specification problem</a:t>
            </a:r>
            <a:endParaRPr lang="en-US" sz="1650" dirty="0"/>
          </a:p>
        </p:txBody>
      </p:sp>
      <p:sp>
        <p:nvSpPr>
          <p:cNvPr id="12" name="Text 10"/>
          <p:cNvSpPr txBox="1"/>
          <p:nvPr/>
        </p:nvSpPr>
        <p:spPr>
          <a:xfrm>
            <a:off x="6583680" y="3401568"/>
            <a:ext cx="4617720" cy="1143000"/>
          </a:xfrm>
          <a:prstGeom prst="rect">
            <a:avLst/>
          </a:prstGeom>
          <a:noFill/>
          <a:ln/>
        </p:spPr>
        <p:txBody>
          <a:bodyPr wrap="square" lIns="0" tIns="0" rIns="0" bIns="0" rtlCol="0" anchor="ctr"/>
          <a:lstStyle/>
          <a:p>
            <a:pPr marL="0" indent="0">
              <a:lnSpc>
                <a:spcPts val="1600"/>
              </a:lnSpc>
              <a:buNone/>
            </a:pPr>
            <a:r>
              <a:rPr lang="en-US" sz="1250" dirty="0">
                <a:solidFill>
                  <a:srgbClr val="EDE6D6"/>
                </a:solidFill>
                <a:latin typeface="Calibri" pitchFamily="34" charset="0"/>
                <a:ea typeface="Calibri" pitchFamily="34" charset="-122"/>
                <a:cs typeface="Calibri" pitchFamily="34" charset="-120"/>
              </a:rPr>
              <a:t>He gets what he wants only because the system he is petitioning infers the request behind the request. Ask the room what is gained and what is lost when a thing is built to satisfy the wish rather than the words — and who is accountable for a wish that was never said out loud.</a:t>
            </a:r>
            <a:endParaRPr lang="en-US" sz="1250" dirty="0"/>
          </a:p>
        </p:txBody>
      </p:sp>
      <p:sp>
        <p:nvSpPr>
          <p:cNvPr id="13" name="Text 11"/>
          <p:cNvSpPr txBox="1"/>
          <p:nvPr/>
        </p:nvSpPr>
        <p:spPr>
          <a:xfrm>
            <a:off x="640080" y="4937760"/>
            <a:ext cx="10881360" cy="411480"/>
          </a:xfrm>
          <a:prstGeom prst="rect">
            <a:avLst/>
          </a:prstGeom>
          <a:noFill/>
          <a:ln/>
        </p:spPr>
        <p:txBody>
          <a:bodyPr wrap="square" lIns="0" tIns="0" rIns="0" bIns="0" rtlCol="0" anchor="ctr"/>
          <a:lstStyle/>
          <a:p>
            <a:pPr marL="0" indent="0">
              <a:buNone/>
            </a:pPr>
            <a:r>
              <a:rPr lang="en-US" sz="1700" i="1" dirty="0">
                <a:solidFill>
                  <a:srgbClr val="2E7D8C"/>
                </a:solidFill>
                <a:latin typeface="Cambria" pitchFamily="34" charset="0"/>
                <a:ea typeface="Cambria" pitchFamily="34" charset="-122"/>
                <a:cs typeface="Cambria" pitchFamily="34" charset="-120"/>
              </a:rPr>
              <a:t>Deniability is built into the request. That is a design property, not a character flaw.</a:t>
            </a:r>
            <a:endParaRPr lang="en-US" sz="1700" dirty="0"/>
          </a:p>
        </p:txBody>
      </p:sp>
      <p:sp>
        <p:nvSpPr>
          <p:cNvPr id="14" name="Text 1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X:270–279 (trans. Kline).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X:280–294</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Who actually does the animating?</a:t>
            </a:r>
            <a:endParaRPr lang="en-US" sz="3100" dirty="0"/>
          </a:p>
        </p:txBody>
      </p:sp>
      <p:sp>
        <p:nvSpPr>
          <p:cNvPr id="5" name="Shape 3"/>
          <p:cNvSpPr/>
          <p:nvPr/>
        </p:nvSpPr>
        <p:spPr>
          <a:xfrm>
            <a:off x="640080" y="1600200"/>
            <a:ext cx="6766560" cy="868680"/>
          </a:xfrm>
          <a:prstGeom prst="roundRect">
            <a:avLst>
              <a:gd name="adj" fmla="val 8421"/>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914400" y="1600200"/>
            <a:ext cx="1371600" cy="868680"/>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Warmth</a:t>
            </a:r>
            <a:endParaRPr lang="en-US" sz="1600" dirty="0"/>
          </a:p>
        </p:txBody>
      </p:sp>
      <p:sp>
        <p:nvSpPr>
          <p:cNvPr id="7" name="Text 5"/>
          <p:cNvSpPr txBox="1"/>
          <p:nvPr/>
        </p:nvSpPr>
        <p:spPr>
          <a:xfrm>
            <a:off x="2331720" y="1600200"/>
            <a:ext cx="4892040" cy="868680"/>
          </a:xfrm>
          <a:prstGeom prst="rect">
            <a:avLst/>
          </a:prstGeom>
          <a:noFill/>
          <a:ln/>
        </p:spPr>
        <p:txBody>
          <a:bodyPr wrap="square" lIns="0" tIns="0" rIns="0" bIns="0" rtlCol="0" anchor="ctr"/>
          <a:lstStyle/>
          <a:p>
            <a:pPr marL="0" indent="0">
              <a:lnSpc>
                <a:spcPts val="1600"/>
              </a:lnSpc>
              <a:buNone/>
            </a:pPr>
            <a:r>
              <a:rPr lang="en-US" sz="1250" dirty="0">
                <a:solidFill>
                  <a:srgbClr val="5F6478"/>
                </a:solidFill>
                <a:latin typeface="Calibri" pitchFamily="34" charset="0"/>
                <a:ea typeface="Calibri" pitchFamily="34" charset="-122"/>
                <a:cs typeface="Calibri" pitchFamily="34" charset="-120"/>
              </a:rPr>
              <a:t>He returns home, leans over the couch and kisses the figure. It is warm. He kisses again and touches, and the ivory begins to yield.</a:t>
            </a:r>
            <a:endParaRPr lang="en-US" sz="1250" dirty="0"/>
          </a:p>
        </p:txBody>
      </p:sp>
      <p:sp>
        <p:nvSpPr>
          <p:cNvPr id="8" name="Shape 6"/>
          <p:cNvSpPr/>
          <p:nvPr/>
        </p:nvSpPr>
        <p:spPr>
          <a:xfrm>
            <a:off x="640080" y="2569464"/>
            <a:ext cx="6766560" cy="868680"/>
          </a:xfrm>
          <a:prstGeom prst="roundRect">
            <a:avLst>
              <a:gd name="adj" fmla="val 8421"/>
            </a:avLst>
          </a:prstGeom>
          <a:solidFill>
            <a:srgbClr val="E7F0F2"/>
          </a:solidFill>
          <a:ln w="12700">
            <a:solidFill>
              <a:srgbClr val="E7F0F2"/>
            </a:solidFill>
            <a:prstDash val="solid"/>
          </a:ln>
        </p:spPr>
        <p:txBody>
          <a:bodyPr/>
          <a:lstStyle/>
          <a:p>
            <a:endParaRPr lang="en-US"/>
          </a:p>
        </p:txBody>
      </p:sp>
      <p:sp>
        <p:nvSpPr>
          <p:cNvPr id="9" name="Text 7"/>
          <p:cNvSpPr txBox="1"/>
          <p:nvPr/>
        </p:nvSpPr>
        <p:spPr>
          <a:xfrm>
            <a:off x="914400" y="2569464"/>
            <a:ext cx="1371600" cy="868680"/>
          </a:xfrm>
          <a:prstGeom prst="rect">
            <a:avLst/>
          </a:prstGeom>
          <a:noFill/>
          <a:ln/>
        </p:spPr>
        <p:txBody>
          <a:bodyPr wrap="square" lIns="0" tIns="0" rIns="0" bIns="0" rtlCol="0" anchor="ctr"/>
          <a:lstStyle/>
          <a:p>
            <a:pPr marL="0" indent="0">
              <a:buNone/>
            </a:pPr>
            <a:r>
              <a:rPr lang="en-US" sz="1600" b="1" dirty="0">
                <a:solidFill>
                  <a:srgbClr val="2E7D8C"/>
                </a:solidFill>
                <a:latin typeface="Cambria" pitchFamily="34" charset="0"/>
                <a:ea typeface="Cambria" pitchFamily="34" charset="-122"/>
                <a:cs typeface="Cambria" pitchFamily="34" charset="-120"/>
              </a:rPr>
              <a:t>The simile</a:t>
            </a:r>
            <a:endParaRPr lang="en-US" sz="1600" dirty="0"/>
          </a:p>
        </p:txBody>
      </p:sp>
      <p:sp>
        <p:nvSpPr>
          <p:cNvPr id="10" name="Text 8"/>
          <p:cNvSpPr txBox="1"/>
          <p:nvPr/>
        </p:nvSpPr>
        <p:spPr>
          <a:xfrm>
            <a:off x="2331720" y="2569464"/>
            <a:ext cx="4892040" cy="868680"/>
          </a:xfrm>
          <a:prstGeom prst="rect">
            <a:avLst/>
          </a:prstGeom>
          <a:noFill/>
          <a:ln/>
        </p:spPr>
        <p:txBody>
          <a:bodyPr wrap="square" lIns="0" tIns="0" rIns="0" bIns="0" rtlCol="0" anchor="ctr"/>
          <a:lstStyle/>
          <a:p>
            <a:pPr marL="0" indent="0">
              <a:lnSpc>
                <a:spcPts val="1600"/>
              </a:lnSpc>
              <a:buNone/>
            </a:pPr>
            <a:r>
              <a:rPr lang="en-US" sz="1250" dirty="0">
                <a:solidFill>
                  <a:srgbClr val="5F6478"/>
                </a:solidFill>
                <a:latin typeface="Calibri" pitchFamily="34" charset="0"/>
                <a:ea typeface="Calibri" pitchFamily="34" charset="-122"/>
                <a:cs typeface="Calibri" pitchFamily="34" charset="-120"/>
              </a:rPr>
              <a:t>Ovid compares the softening to beeswax from Mount Hymettus worked under the thumb — an image of material becoming pliable through handling.</a:t>
            </a:r>
            <a:endParaRPr lang="en-US" sz="1250" dirty="0"/>
          </a:p>
        </p:txBody>
      </p:sp>
      <p:sp>
        <p:nvSpPr>
          <p:cNvPr id="11" name="Shape 9"/>
          <p:cNvSpPr/>
          <p:nvPr/>
        </p:nvSpPr>
        <p:spPr>
          <a:xfrm>
            <a:off x="640080" y="3538728"/>
            <a:ext cx="6766560" cy="868680"/>
          </a:xfrm>
          <a:prstGeom prst="roundRect">
            <a:avLst>
              <a:gd name="adj" fmla="val 8421"/>
            </a:avLst>
          </a:prstGeom>
          <a:solidFill>
            <a:srgbClr val="F6F2E9"/>
          </a:solidFill>
          <a:ln w="12700">
            <a:solidFill>
              <a:srgbClr val="F6F2E9"/>
            </a:solidFill>
            <a:prstDash val="solid"/>
          </a:ln>
        </p:spPr>
        <p:txBody>
          <a:bodyPr/>
          <a:lstStyle/>
          <a:p>
            <a:endParaRPr lang="en-US"/>
          </a:p>
        </p:txBody>
      </p:sp>
      <p:sp>
        <p:nvSpPr>
          <p:cNvPr id="12" name="Text 10"/>
          <p:cNvSpPr txBox="1"/>
          <p:nvPr/>
        </p:nvSpPr>
        <p:spPr>
          <a:xfrm>
            <a:off x="914400" y="3538728"/>
            <a:ext cx="1371600" cy="868680"/>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Doubt</a:t>
            </a:r>
            <a:endParaRPr lang="en-US" sz="1600" dirty="0"/>
          </a:p>
        </p:txBody>
      </p:sp>
      <p:sp>
        <p:nvSpPr>
          <p:cNvPr id="13" name="Text 11"/>
          <p:cNvSpPr txBox="1"/>
          <p:nvPr/>
        </p:nvSpPr>
        <p:spPr>
          <a:xfrm>
            <a:off x="2331720" y="3538728"/>
            <a:ext cx="4892040" cy="868680"/>
          </a:xfrm>
          <a:prstGeom prst="rect">
            <a:avLst/>
          </a:prstGeom>
          <a:noFill/>
          <a:ln/>
        </p:spPr>
        <p:txBody>
          <a:bodyPr wrap="square" lIns="0" tIns="0" rIns="0" bIns="0" rtlCol="0" anchor="ctr"/>
          <a:lstStyle/>
          <a:p>
            <a:pPr marL="0" indent="0">
              <a:lnSpc>
                <a:spcPts val="1600"/>
              </a:lnSpc>
              <a:buNone/>
            </a:pPr>
            <a:r>
              <a:rPr lang="en-US" sz="1250" dirty="0">
                <a:solidFill>
                  <a:srgbClr val="5F6478"/>
                </a:solidFill>
                <a:latin typeface="Calibri" pitchFamily="34" charset="0"/>
                <a:ea typeface="Calibri" pitchFamily="34" charset="-122"/>
                <a:cs typeface="Calibri" pitchFamily="34" charset="-120"/>
              </a:rPr>
              <a:t>He tests it again, and again. The text dwells on his disbelief far longer than on his joy: he is afraid he is mistaken.</a:t>
            </a:r>
            <a:endParaRPr lang="en-US" sz="1250" dirty="0"/>
          </a:p>
        </p:txBody>
      </p:sp>
      <p:sp>
        <p:nvSpPr>
          <p:cNvPr id="14" name="Shape 12"/>
          <p:cNvSpPr/>
          <p:nvPr/>
        </p:nvSpPr>
        <p:spPr>
          <a:xfrm>
            <a:off x="640080" y="4507992"/>
            <a:ext cx="6766560" cy="868680"/>
          </a:xfrm>
          <a:prstGeom prst="roundRect">
            <a:avLst>
              <a:gd name="adj" fmla="val 8421"/>
            </a:avLst>
          </a:prstGeom>
          <a:solidFill>
            <a:srgbClr val="E7F0F2"/>
          </a:solidFill>
          <a:ln w="12700">
            <a:solidFill>
              <a:srgbClr val="E7F0F2"/>
            </a:solidFill>
            <a:prstDash val="solid"/>
          </a:ln>
        </p:spPr>
        <p:txBody>
          <a:bodyPr/>
          <a:lstStyle/>
          <a:p>
            <a:endParaRPr lang="en-US"/>
          </a:p>
        </p:txBody>
      </p:sp>
      <p:sp>
        <p:nvSpPr>
          <p:cNvPr id="15" name="Text 13"/>
          <p:cNvSpPr txBox="1"/>
          <p:nvPr/>
        </p:nvSpPr>
        <p:spPr>
          <a:xfrm>
            <a:off x="914400" y="4507992"/>
            <a:ext cx="1371600" cy="868680"/>
          </a:xfrm>
          <a:prstGeom prst="rect">
            <a:avLst/>
          </a:prstGeom>
          <a:noFill/>
          <a:ln/>
        </p:spPr>
        <p:txBody>
          <a:bodyPr wrap="square" lIns="0" tIns="0" rIns="0" bIns="0" rtlCol="0" anchor="ctr"/>
          <a:lstStyle/>
          <a:p>
            <a:pPr marL="0" indent="0">
              <a:buNone/>
            </a:pPr>
            <a:r>
              <a:rPr lang="en-US" sz="1600" b="1" dirty="0">
                <a:solidFill>
                  <a:srgbClr val="2E7D8C"/>
                </a:solidFill>
                <a:latin typeface="Cambria" pitchFamily="34" charset="0"/>
                <a:ea typeface="Cambria" pitchFamily="34" charset="-122"/>
                <a:cs typeface="Cambria" pitchFamily="34" charset="-120"/>
              </a:rPr>
              <a:t>The pulse</a:t>
            </a:r>
            <a:endParaRPr lang="en-US" sz="1600" dirty="0"/>
          </a:p>
        </p:txBody>
      </p:sp>
      <p:sp>
        <p:nvSpPr>
          <p:cNvPr id="16" name="Text 14"/>
          <p:cNvSpPr txBox="1"/>
          <p:nvPr/>
        </p:nvSpPr>
        <p:spPr>
          <a:xfrm>
            <a:off x="2331720" y="4507992"/>
            <a:ext cx="4892040" cy="868680"/>
          </a:xfrm>
          <a:prstGeom prst="rect">
            <a:avLst/>
          </a:prstGeom>
          <a:noFill/>
          <a:ln/>
        </p:spPr>
        <p:txBody>
          <a:bodyPr wrap="square" lIns="0" tIns="0" rIns="0" bIns="0" rtlCol="0" anchor="ctr"/>
          <a:lstStyle/>
          <a:p>
            <a:pPr marL="0" indent="0">
              <a:lnSpc>
                <a:spcPts val="1600"/>
              </a:lnSpc>
              <a:buNone/>
            </a:pPr>
            <a:r>
              <a:rPr lang="en-US" sz="1250" dirty="0">
                <a:solidFill>
                  <a:srgbClr val="5F6478"/>
                </a:solidFill>
                <a:latin typeface="Calibri" pitchFamily="34" charset="0"/>
                <a:ea typeface="Calibri" pitchFamily="34" charset="-122"/>
                <a:cs typeface="Calibri" pitchFamily="34" charset="-120"/>
              </a:rPr>
              <a:t>Veins beat under his thumb. Only then does he thank Venus — and the poem is careful to say she is the one who brought the marriage about.</a:t>
            </a:r>
            <a:endParaRPr lang="en-US" sz="1250" dirty="0"/>
          </a:p>
        </p:txBody>
      </p:sp>
      <p:sp>
        <p:nvSpPr>
          <p:cNvPr id="17" name="Shape 15"/>
          <p:cNvSpPr/>
          <p:nvPr/>
        </p:nvSpPr>
        <p:spPr>
          <a:xfrm>
            <a:off x="7680960" y="1600200"/>
            <a:ext cx="3840480" cy="3831336"/>
          </a:xfrm>
          <a:prstGeom prst="roundRect">
            <a:avLst>
              <a:gd name="adj" fmla="val 1909"/>
            </a:avLst>
          </a:prstGeom>
          <a:solidFill>
            <a:srgbClr val="16182B"/>
          </a:solidFill>
          <a:ln w="12700">
            <a:solidFill>
              <a:srgbClr val="16182B"/>
            </a:solidFill>
            <a:prstDash val="solid"/>
          </a:ln>
        </p:spPr>
        <p:txBody>
          <a:bodyPr/>
          <a:lstStyle/>
          <a:p>
            <a:endParaRPr lang="en-US"/>
          </a:p>
        </p:txBody>
      </p:sp>
      <p:sp>
        <p:nvSpPr>
          <p:cNvPr id="18" name="Text 16"/>
          <p:cNvSpPr txBox="1"/>
          <p:nvPr/>
        </p:nvSpPr>
        <p:spPr>
          <a:xfrm>
            <a:off x="8001000" y="1828800"/>
            <a:ext cx="3291840" cy="292608"/>
          </a:xfrm>
          <a:prstGeom prst="rect">
            <a:avLst/>
          </a:prstGeom>
          <a:noFill/>
          <a:ln/>
        </p:spPr>
        <p:txBody>
          <a:bodyPr wrap="square" lIns="0" tIns="0" rIns="0" bIns="0" rtlCol="0" anchor="ctr"/>
          <a:lstStyle/>
          <a:p>
            <a:pPr marL="0" indent="0">
              <a:buNone/>
            </a:pPr>
            <a:r>
              <a:rPr lang="en-US" sz="1100" b="1" kern="0" spc="140" dirty="0">
                <a:solidFill>
                  <a:srgbClr val="C9A227"/>
                </a:solidFill>
                <a:latin typeface="Calibri" pitchFamily="34" charset="0"/>
                <a:ea typeface="Calibri" pitchFamily="34" charset="-122"/>
                <a:cs typeface="Calibri" pitchFamily="34" charset="-120"/>
              </a:rPr>
              <a:t>The load-bearing point</a:t>
            </a:r>
            <a:endParaRPr lang="en-US" sz="1100" dirty="0"/>
          </a:p>
        </p:txBody>
      </p:sp>
      <p:sp>
        <p:nvSpPr>
          <p:cNvPr id="19" name="Text 17"/>
          <p:cNvSpPr txBox="1"/>
          <p:nvPr/>
        </p:nvSpPr>
        <p:spPr>
          <a:xfrm>
            <a:off x="8001000" y="2194560"/>
            <a:ext cx="3246120" cy="3017520"/>
          </a:xfrm>
          <a:prstGeom prst="rect">
            <a:avLst/>
          </a:prstGeom>
          <a:noFill/>
          <a:ln/>
        </p:spPr>
        <p:txBody>
          <a:bodyPr wrap="square" lIns="0" tIns="0" rIns="0" bIns="0" rtlCol="0" anchor="ctr"/>
          <a:lstStyle/>
          <a:p>
            <a:pPr marL="0" indent="0">
              <a:lnSpc>
                <a:spcPts val="2100"/>
              </a:lnSpc>
              <a:buNone/>
            </a:pPr>
            <a:r>
              <a:rPr lang="en-US" sz="1450" dirty="0">
                <a:solidFill>
                  <a:srgbClr val="EDE6D6"/>
                </a:solidFill>
                <a:latin typeface="Cambria" pitchFamily="34" charset="0"/>
                <a:ea typeface="Cambria" pitchFamily="34" charset="-122"/>
                <a:cs typeface="Cambria" pitchFamily="34" charset="-120"/>
              </a:rPr>
              <a:t>Pygmalion does not bring her to life.</a:t>
            </a:r>
            <a:endParaRPr lang="en-US" sz="1450" dirty="0"/>
          </a:p>
          <a:p>
            <a:pPr marL="0" indent="0">
              <a:lnSpc>
                <a:spcPts val="2100"/>
              </a:lnSpc>
              <a:buNone/>
            </a:pPr>
            <a:endParaRPr lang="en-US" sz="1450" dirty="0"/>
          </a:p>
          <a:p>
            <a:pPr marL="0" indent="0">
              <a:lnSpc>
                <a:spcPts val="2100"/>
              </a:lnSpc>
              <a:buNone/>
            </a:pPr>
            <a:r>
              <a:rPr lang="en-US" sz="1450" dirty="0">
                <a:solidFill>
                  <a:srgbClr val="EDE6D6"/>
                </a:solidFill>
                <a:latin typeface="Cambria" pitchFamily="34" charset="0"/>
                <a:ea typeface="Cambria" pitchFamily="34" charset="-122"/>
                <a:cs typeface="Cambria" pitchFamily="34" charset="-120"/>
              </a:rPr>
              <a:t>His competence ends at the likeness. The life is granted by a goddess, off-page, in response to a wish he would not say.</a:t>
            </a:r>
            <a:endParaRPr lang="en-US" sz="1450" dirty="0"/>
          </a:p>
          <a:p>
            <a:pPr marL="0" indent="0">
              <a:lnSpc>
                <a:spcPts val="2100"/>
              </a:lnSpc>
              <a:buNone/>
            </a:pPr>
            <a:endParaRPr lang="en-US" sz="1450" dirty="0"/>
          </a:p>
          <a:p>
            <a:pPr marL="0" indent="0">
              <a:lnSpc>
                <a:spcPts val="2100"/>
              </a:lnSpc>
              <a:buNone/>
            </a:pPr>
            <a:r>
              <a:rPr lang="en-US" sz="1450" dirty="0">
                <a:solidFill>
                  <a:srgbClr val="EDE6D6"/>
                </a:solidFill>
                <a:latin typeface="Cambria" pitchFamily="34" charset="0"/>
                <a:ea typeface="Cambria" pitchFamily="34" charset="-122"/>
                <a:cs typeface="Cambria" pitchFamily="34" charset="-120"/>
              </a:rPr>
              <a:t>In our stories, what plays the part of Venus? Scale. Emergence. Data. A threshold crossed. Ask what each of those words lets a maker avoid claiming.</a:t>
            </a:r>
            <a:endParaRPr lang="en-US" sz="145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X:280–294 (trans. Kline).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X:293–297</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What the statue never does</a:t>
            </a:r>
            <a:endParaRPr lang="en-US" sz="3100" dirty="0"/>
          </a:p>
        </p:txBody>
      </p:sp>
      <p:sp>
        <p:nvSpPr>
          <p:cNvPr id="5" name="Shape 3"/>
          <p:cNvSpPr/>
          <p:nvPr/>
        </p:nvSpPr>
        <p:spPr>
          <a:xfrm>
            <a:off x="640080" y="1627632"/>
            <a:ext cx="3454298" cy="2286000"/>
          </a:xfrm>
          <a:prstGeom prst="roundRect">
            <a:avLst>
              <a:gd name="adj" fmla="val 3200"/>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914400" y="1828800"/>
            <a:ext cx="2905658" cy="566928"/>
          </a:xfrm>
          <a:prstGeom prst="rect">
            <a:avLst/>
          </a:prstGeom>
          <a:noFill/>
          <a:ln/>
        </p:spPr>
        <p:txBody>
          <a:bodyPr wrap="square" lIns="0" tIns="0" rIns="0" bIns="0" rtlCol="0" anchor="ctr"/>
          <a:lstStyle/>
          <a:p>
            <a:pPr marL="0" indent="0">
              <a:buNone/>
            </a:pPr>
            <a:r>
              <a:rPr lang="en-US" sz="1750" b="1" dirty="0">
                <a:solidFill>
                  <a:srgbClr val="16182B"/>
                </a:solidFill>
                <a:latin typeface="Cambria" pitchFamily="34" charset="0"/>
                <a:ea typeface="Cambria" pitchFamily="34" charset="-122"/>
                <a:cs typeface="Cambria" pitchFamily="34" charset="-120"/>
              </a:rPr>
              <a:t>She is never named</a:t>
            </a:r>
            <a:endParaRPr lang="en-US" sz="1750" dirty="0"/>
          </a:p>
        </p:txBody>
      </p:sp>
      <p:sp>
        <p:nvSpPr>
          <p:cNvPr id="7" name="Text 5"/>
          <p:cNvSpPr txBox="1"/>
          <p:nvPr/>
        </p:nvSpPr>
        <p:spPr>
          <a:xfrm>
            <a:off x="914400" y="2468880"/>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The name Galatea is not in Ovid. It attaches to the story much later, largely through eighteenth-century French adaptation. In the poem she is the ivory girl, then the woman.</a:t>
            </a:r>
            <a:endParaRPr lang="en-US" sz="1250" dirty="0"/>
          </a:p>
        </p:txBody>
      </p:sp>
      <p:sp>
        <p:nvSpPr>
          <p:cNvPr id="8" name="Shape 6"/>
          <p:cNvSpPr/>
          <p:nvPr/>
        </p:nvSpPr>
        <p:spPr>
          <a:xfrm>
            <a:off x="4368698" y="1627632"/>
            <a:ext cx="3454298" cy="2286000"/>
          </a:xfrm>
          <a:prstGeom prst="roundRect">
            <a:avLst>
              <a:gd name="adj" fmla="val 3200"/>
            </a:avLst>
          </a:prstGeom>
          <a:solidFill>
            <a:srgbClr val="F6F2E9"/>
          </a:solidFill>
          <a:ln w="12700">
            <a:solidFill>
              <a:srgbClr val="F6F2E9"/>
            </a:solidFill>
            <a:prstDash val="solid"/>
          </a:ln>
        </p:spPr>
        <p:txBody>
          <a:bodyPr/>
          <a:lstStyle/>
          <a:p>
            <a:endParaRPr lang="en-US"/>
          </a:p>
        </p:txBody>
      </p:sp>
      <p:sp>
        <p:nvSpPr>
          <p:cNvPr id="9" name="Text 7"/>
          <p:cNvSpPr txBox="1"/>
          <p:nvPr/>
        </p:nvSpPr>
        <p:spPr>
          <a:xfrm>
            <a:off x="4643018" y="1828800"/>
            <a:ext cx="2905658" cy="566928"/>
          </a:xfrm>
          <a:prstGeom prst="rect">
            <a:avLst/>
          </a:prstGeom>
          <a:noFill/>
          <a:ln/>
        </p:spPr>
        <p:txBody>
          <a:bodyPr wrap="square" lIns="0" tIns="0" rIns="0" bIns="0" rtlCol="0" anchor="ctr"/>
          <a:lstStyle/>
          <a:p>
            <a:pPr marL="0" indent="0">
              <a:buNone/>
            </a:pPr>
            <a:r>
              <a:rPr lang="en-US" sz="1750" b="1" dirty="0">
                <a:solidFill>
                  <a:srgbClr val="16182B"/>
                </a:solidFill>
                <a:latin typeface="Cambria" pitchFamily="34" charset="0"/>
                <a:ea typeface="Cambria" pitchFamily="34" charset="-122"/>
                <a:cs typeface="Cambria" pitchFamily="34" charset="-120"/>
              </a:rPr>
              <a:t>She never speaks</a:t>
            </a:r>
            <a:endParaRPr lang="en-US" sz="1750" dirty="0"/>
          </a:p>
        </p:txBody>
      </p:sp>
      <p:sp>
        <p:nvSpPr>
          <p:cNvPr id="10" name="Text 8"/>
          <p:cNvSpPr txBox="1"/>
          <p:nvPr/>
        </p:nvSpPr>
        <p:spPr>
          <a:xfrm>
            <a:off x="4643018" y="2468880"/>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She blushes, lifts her eyes, and sees her lover and the sky at the same moment. That is the whole of her interiority. She is given no line.</a:t>
            </a:r>
            <a:endParaRPr lang="en-US" sz="1250" dirty="0"/>
          </a:p>
        </p:txBody>
      </p:sp>
      <p:sp>
        <p:nvSpPr>
          <p:cNvPr id="11" name="Shape 9"/>
          <p:cNvSpPr/>
          <p:nvPr/>
        </p:nvSpPr>
        <p:spPr>
          <a:xfrm>
            <a:off x="8097317" y="1627632"/>
            <a:ext cx="3454298" cy="2286000"/>
          </a:xfrm>
          <a:prstGeom prst="roundRect">
            <a:avLst>
              <a:gd name="adj" fmla="val 3200"/>
            </a:avLst>
          </a:prstGeom>
          <a:solidFill>
            <a:srgbClr val="F6F2E9"/>
          </a:solidFill>
          <a:ln w="12700">
            <a:solidFill>
              <a:srgbClr val="F6F2E9"/>
            </a:solidFill>
            <a:prstDash val="solid"/>
          </a:ln>
        </p:spPr>
        <p:txBody>
          <a:bodyPr/>
          <a:lstStyle/>
          <a:p>
            <a:endParaRPr lang="en-US"/>
          </a:p>
        </p:txBody>
      </p:sp>
      <p:sp>
        <p:nvSpPr>
          <p:cNvPr id="12" name="Text 10"/>
          <p:cNvSpPr txBox="1"/>
          <p:nvPr/>
        </p:nvSpPr>
        <p:spPr>
          <a:xfrm>
            <a:off x="8371637" y="1828800"/>
            <a:ext cx="2905658" cy="566928"/>
          </a:xfrm>
          <a:prstGeom prst="rect">
            <a:avLst/>
          </a:prstGeom>
          <a:noFill/>
          <a:ln/>
        </p:spPr>
        <p:txBody>
          <a:bodyPr wrap="square" lIns="0" tIns="0" rIns="0" bIns="0" rtlCol="0" anchor="ctr"/>
          <a:lstStyle/>
          <a:p>
            <a:pPr marL="0" indent="0">
              <a:buNone/>
            </a:pPr>
            <a:r>
              <a:rPr lang="en-US" sz="1750" b="1" dirty="0">
                <a:solidFill>
                  <a:srgbClr val="16182B"/>
                </a:solidFill>
                <a:latin typeface="Cambria" pitchFamily="34" charset="0"/>
                <a:ea typeface="Cambria" pitchFamily="34" charset="-122"/>
                <a:cs typeface="Cambria" pitchFamily="34" charset="-120"/>
              </a:rPr>
              <a:t>She is not asked</a:t>
            </a:r>
            <a:endParaRPr lang="en-US" sz="1750" dirty="0"/>
          </a:p>
        </p:txBody>
      </p:sp>
      <p:sp>
        <p:nvSpPr>
          <p:cNvPr id="13" name="Text 11"/>
          <p:cNvSpPr txBox="1"/>
          <p:nvPr/>
        </p:nvSpPr>
        <p:spPr>
          <a:xfrm>
            <a:off x="8371637" y="2468880"/>
            <a:ext cx="2905658" cy="128016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Venus attends the marriage she arranged. Within nine months the woman bears a son, Paphos, and the island takes its name from him. The poem then moves on.</a:t>
            </a:r>
            <a:endParaRPr lang="en-US" sz="1250" dirty="0"/>
          </a:p>
        </p:txBody>
      </p:sp>
      <p:sp>
        <p:nvSpPr>
          <p:cNvPr id="14" name="Shape 12"/>
          <p:cNvSpPr/>
          <p:nvPr/>
        </p:nvSpPr>
        <p:spPr>
          <a:xfrm>
            <a:off x="640080" y="4114800"/>
            <a:ext cx="10911535" cy="1371600"/>
          </a:xfrm>
          <a:prstGeom prst="roundRect">
            <a:avLst>
              <a:gd name="adj" fmla="val 5333"/>
            </a:avLst>
          </a:prstGeom>
          <a:solidFill>
            <a:srgbClr val="16182B"/>
          </a:solidFill>
          <a:ln w="12700">
            <a:solidFill>
              <a:srgbClr val="16182B"/>
            </a:solidFill>
            <a:prstDash val="solid"/>
          </a:ln>
        </p:spPr>
        <p:txBody>
          <a:bodyPr/>
          <a:lstStyle/>
          <a:p>
            <a:endParaRPr lang="en-US"/>
          </a:p>
        </p:txBody>
      </p:sp>
      <p:sp>
        <p:nvSpPr>
          <p:cNvPr id="15" name="Text 13"/>
          <p:cNvSpPr txBox="1"/>
          <p:nvPr/>
        </p:nvSpPr>
        <p:spPr>
          <a:xfrm>
            <a:off x="1005840" y="4297680"/>
            <a:ext cx="10424160" cy="365760"/>
          </a:xfrm>
          <a:prstGeom prst="rect">
            <a:avLst/>
          </a:prstGeom>
          <a:noFill/>
          <a:ln/>
        </p:spPr>
        <p:txBody>
          <a:bodyPr wrap="square" lIns="0" tIns="0" rIns="0" bIns="0" rtlCol="0" anchor="ctr"/>
          <a:lstStyle/>
          <a:p>
            <a:pPr marL="0" indent="0">
              <a:buNone/>
            </a:pPr>
            <a:r>
              <a:rPr lang="en-US" sz="1700" b="1" dirty="0">
                <a:solidFill>
                  <a:srgbClr val="C9A227"/>
                </a:solidFill>
                <a:latin typeface="Cambria" pitchFamily="34" charset="0"/>
                <a:ea typeface="Cambria" pitchFamily="34" charset="-122"/>
                <a:cs typeface="Cambria" pitchFamily="34" charset="-120"/>
              </a:rPr>
              <a:t>The story ends at the moment of animation — which is exactly where the interesting problems start</a:t>
            </a:r>
            <a:endParaRPr lang="en-US" sz="1700" dirty="0"/>
          </a:p>
        </p:txBody>
      </p:sp>
      <p:sp>
        <p:nvSpPr>
          <p:cNvPr id="16" name="Text 14"/>
          <p:cNvSpPr txBox="1"/>
          <p:nvPr/>
        </p:nvSpPr>
        <p:spPr>
          <a:xfrm>
            <a:off x="1005840" y="4709160"/>
            <a:ext cx="10424160" cy="640080"/>
          </a:xfrm>
          <a:prstGeom prst="rect">
            <a:avLst/>
          </a:prstGeom>
          <a:noFill/>
          <a:ln/>
        </p:spPr>
        <p:txBody>
          <a:bodyPr wrap="square" lIns="0" tIns="0" rIns="0" bIns="0" rtlCol="0" anchor="ctr"/>
          <a:lstStyle/>
          <a:p>
            <a:pPr marL="0" indent="0">
              <a:lnSpc>
                <a:spcPts val="1900"/>
              </a:lnSpc>
              <a:buNone/>
            </a:pPr>
            <a:r>
              <a:rPr lang="en-US" sz="1350" dirty="0">
                <a:solidFill>
                  <a:srgbClr val="EDE6D6"/>
                </a:solidFill>
                <a:latin typeface="Calibri" pitchFamily="34" charset="0"/>
                <a:ea typeface="Calibri" pitchFamily="34" charset="-122"/>
                <a:cs typeface="Calibri" pitchFamily="34" charset="-120"/>
              </a:rPr>
              <a:t>Ask the room to list contemporary narratives that stop in the same place, and the much smaller number that keep going. The ones that keep going are almost always the ones where the made thing acquires a voice and uses it against its maker.</a:t>
            </a:r>
            <a:endParaRPr lang="en-US" sz="135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X:293–297 (trans. Kline).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SYNTHESIS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Four Pygmalion problems worth carrying forward</a:t>
            </a:r>
            <a:endParaRPr lang="en-US" sz="3100" dirty="0"/>
          </a:p>
        </p:txBody>
      </p:sp>
      <p:sp>
        <p:nvSpPr>
          <p:cNvPr id="5" name="Shape 3"/>
          <p:cNvSpPr/>
          <p:nvPr/>
        </p:nvSpPr>
        <p:spPr>
          <a:xfrm>
            <a:off x="640080" y="1645920"/>
            <a:ext cx="5295748" cy="1783080"/>
          </a:xfrm>
          <a:prstGeom prst="roundRect">
            <a:avLst>
              <a:gd name="adj" fmla="val 4103"/>
            </a:avLst>
          </a:prstGeom>
          <a:solidFill>
            <a:srgbClr val="F6F2E9"/>
          </a:solidFill>
          <a:ln w="12700">
            <a:solidFill>
              <a:srgbClr val="F6F2E9"/>
            </a:solidFill>
            <a:prstDash val="solid"/>
          </a:ln>
        </p:spPr>
        <p:txBody>
          <a:bodyPr/>
          <a:lstStyle/>
          <a:p>
            <a:endParaRPr lang="en-US"/>
          </a:p>
        </p:txBody>
      </p:sp>
      <p:sp>
        <p:nvSpPr>
          <p:cNvPr id="6" name="Shape 4"/>
          <p:cNvSpPr/>
          <p:nvPr/>
        </p:nvSpPr>
        <p:spPr>
          <a:xfrm>
            <a:off x="960120" y="1965960"/>
            <a:ext cx="384048" cy="384048"/>
          </a:xfrm>
          <a:prstGeom prst="ellipse">
            <a:avLst/>
          </a:prstGeom>
          <a:solidFill>
            <a:srgbClr val="16182B"/>
          </a:solidFill>
          <a:ln/>
        </p:spPr>
        <p:txBody>
          <a:bodyPr/>
          <a:lstStyle/>
          <a:p>
            <a:endParaRPr lang="en-US"/>
          </a:p>
        </p:txBody>
      </p:sp>
      <p:sp>
        <p:nvSpPr>
          <p:cNvPr id="7" name="Text 5"/>
          <p:cNvSpPr txBox="1"/>
          <p:nvPr/>
        </p:nvSpPr>
        <p:spPr>
          <a:xfrm>
            <a:off x="960120"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975104"/>
            <a:ext cx="4015588" cy="365760"/>
          </a:xfrm>
          <a:prstGeom prst="rect">
            <a:avLst/>
          </a:prstGeom>
          <a:noFill/>
          <a:ln/>
        </p:spPr>
        <p:txBody>
          <a:bodyPr wrap="square" lIns="0" tIns="0" rIns="0" bIns="0" rtlCol="0" anchor="ctr"/>
          <a:lstStyle/>
          <a:p>
            <a:pPr marL="0" indent="0">
              <a:buNone/>
            </a:pPr>
            <a:r>
              <a:rPr lang="en-US" sz="1900" b="1" dirty="0">
                <a:solidFill>
                  <a:srgbClr val="16182B"/>
                </a:solidFill>
                <a:latin typeface="Cambria" pitchFamily="34" charset="0"/>
                <a:ea typeface="Cambria" pitchFamily="34" charset="-122"/>
                <a:cs typeface="Cambria" pitchFamily="34" charset="-120"/>
              </a:rPr>
              <a:t>Concealed artifice</a:t>
            </a:r>
            <a:endParaRPr lang="en-US" sz="1900" dirty="0"/>
          </a:p>
        </p:txBody>
      </p:sp>
      <p:sp>
        <p:nvSpPr>
          <p:cNvPr id="9" name="Text 7"/>
          <p:cNvSpPr txBox="1"/>
          <p:nvPr/>
        </p:nvSpPr>
        <p:spPr>
          <a:xfrm>
            <a:off x="960120" y="2514600"/>
            <a:ext cx="4655668" cy="77724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Quality is measured by how little of the machine shows. Every disclosure mechanism runs against this aesthetic.</a:t>
            </a:r>
            <a:endParaRPr lang="en-US" sz="1300" dirty="0"/>
          </a:p>
        </p:txBody>
      </p:sp>
      <p:sp>
        <p:nvSpPr>
          <p:cNvPr id="10" name="Shape 8"/>
          <p:cNvSpPr/>
          <p:nvPr/>
        </p:nvSpPr>
        <p:spPr>
          <a:xfrm>
            <a:off x="6255868" y="1645920"/>
            <a:ext cx="5295748" cy="1783080"/>
          </a:xfrm>
          <a:prstGeom prst="roundRect">
            <a:avLst>
              <a:gd name="adj" fmla="val 4103"/>
            </a:avLst>
          </a:prstGeom>
          <a:solidFill>
            <a:srgbClr val="E7F0F2"/>
          </a:solidFill>
          <a:ln w="12700">
            <a:solidFill>
              <a:srgbClr val="E7F0F2"/>
            </a:solidFill>
            <a:prstDash val="solid"/>
          </a:ln>
        </p:spPr>
        <p:txBody>
          <a:bodyPr/>
          <a:lstStyle/>
          <a:p>
            <a:endParaRPr lang="en-US"/>
          </a:p>
        </p:txBody>
      </p:sp>
      <p:sp>
        <p:nvSpPr>
          <p:cNvPr id="11" name="Shape 9"/>
          <p:cNvSpPr/>
          <p:nvPr/>
        </p:nvSpPr>
        <p:spPr>
          <a:xfrm>
            <a:off x="6575908" y="1965960"/>
            <a:ext cx="384048" cy="384048"/>
          </a:xfrm>
          <a:prstGeom prst="ellipse">
            <a:avLst/>
          </a:prstGeom>
          <a:solidFill>
            <a:srgbClr val="2E7D8C"/>
          </a:solidFill>
          <a:ln/>
        </p:spPr>
        <p:txBody>
          <a:bodyPr/>
          <a:lstStyle/>
          <a:p>
            <a:endParaRPr lang="en-US"/>
          </a:p>
        </p:txBody>
      </p:sp>
      <p:sp>
        <p:nvSpPr>
          <p:cNvPr id="12" name="Text 10"/>
          <p:cNvSpPr txBox="1"/>
          <p:nvPr/>
        </p:nvSpPr>
        <p:spPr>
          <a:xfrm>
            <a:off x="6575908"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215988" y="1975104"/>
            <a:ext cx="4015588" cy="365760"/>
          </a:xfrm>
          <a:prstGeom prst="rect">
            <a:avLst/>
          </a:prstGeom>
          <a:noFill/>
          <a:ln/>
        </p:spPr>
        <p:txBody>
          <a:bodyPr wrap="square" lIns="0" tIns="0" rIns="0" bIns="0" rtlCol="0" anchor="ctr"/>
          <a:lstStyle/>
          <a:p>
            <a:pPr marL="0" indent="0">
              <a:buNone/>
            </a:pPr>
            <a:r>
              <a:rPr lang="en-US" sz="1900" b="1" dirty="0">
                <a:solidFill>
                  <a:srgbClr val="16182B"/>
                </a:solidFill>
                <a:latin typeface="Cambria" pitchFamily="34" charset="0"/>
                <a:ea typeface="Cambria" pitchFamily="34" charset="-122"/>
                <a:cs typeface="Cambria" pitchFamily="34" charset="-120"/>
              </a:rPr>
              <a:t>The unspoken specification</a:t>
            </a:r>
            <a:endParaRPr lang="en-US" sz="1900" dirty="0"/>
          </a:p>
        </p:txBody>
      </p:sp>
      <p:sp>
        <p:nvSpPr>
          <p:cNvPr id="14" name="Text 12"/>
          <p:cNvSpPr txBox="1"/>
          <p:nvPr/>
        </p:nvSpPr>
        <p:spPr>
          <a:xfrm>
            <a:off x="6575908" y="2514600"/>
            <a:ext cx="4655668" cy="77724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Value comes from inferring the wish behind the words — which also means absorbing wishes nobody would state.</a:t>
            </a:r>
            <a:endParaRPr lang="en-US" sz="1300" dirty="0"/>
          </a:p>
        </p:txBody>
      </p:sp>
      <p:sp>
        <p:nvSpPr>
          <p:cNvPr id="15" name="Shape 13"/>
          <p:cNvSpPr/>
          <p:nvPr/>
        </p:nvSpPr>
        <p:spPr>
          <a:xfrm>
            <a:off x="640080" y="3749040"/>
            <a:ext cx="5295748" cy="1783080"/>
          </a:xfrm>
          <a:prstGeom prst="roundRect">
            <a:avLst>
              <a:gd name="adj" fmla="val 4103"/>
            </a:avLst>
          </a:prstGeom>
          <a:solidFill>
            <a:srgbClr val="E7F0F2"/>
          </a:solidFill>
          <a:ln w="12700">
            <a:solidFill>
              <a:srgbClr val="E7F0F2"/>
            </a:solidFill>
            <a:prstDash val="solid"/>
          </a:ln>
        </p:spPr>
        <p:txBody>
          <a:bodyPr/>
          <a:lstStyle/>
          <a:p>
            <a:endParaRPr lang="en-US"/>
          </a:p>
        </p:txBody>
      </p:sp>
      <p:sp>
        <p:nvSpPr>
          <p:cNvPr id="16" name="Shape 14"/>
          <p:cNvSpPr/>
          <p:nvPr/>
        </p:nvSpPr>
        <p:spPr>
          <a:xfrm>
            <a:off x="960120" y="4069080"/>
            <a:ext cx="384048" cy="384048"/>
          </a:xfrm>
          <a:prstGeom prst="ellipse">
            <a:avLst/>
          </a:prstGeom>
          <a:solidFill>
            <a:srgbClr val="2E7D8C"/>
          </a:solidFill>
          <a:ln/>
        </p:spPr>
        <p:txBody>
          <a:bodyPr/>
          <a:lstStyle/>
          <a:p>
            <a:endParaRPr lang="en-US"/>
          </a:p>
        </p:txBody>
      </p:sp>
      <p:sp>
        <p:nvSpPr>
          <p:cNvPr id="17" name="Text 15"/>
          <p:cNvSpPr txBox="1"/>
          <p:nvPr/>
        </p:nvSpPr>
        <p:spPr>
          <a:xfrm>
            <a:off x="960120" y="40690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078224"/>
            <a:ext cx="4015588" cy="365760"/>
          </a:xfrm>
          <a:prstGeom prst="rect">
            <a:avLst/>
          </a:prstGeom>
          <a:noFill/>
          <a:ln/>
        </p:spPr>
        <p:txBody>
          <a:bodyPr wrap="square" lIns="0" tIns="0" rIns="0" bIns="0" rtlCol="0" anchor="ctr"/>
          <a:lstStyle/>
          <a:p>
            <a:pPr marL="0" indent="0">
              <a:buNone/>
            </a:pPr>
            <a:r>
              <a:rPr lang="en-US" sz="1900" b="1" dirty="0">
                <a:solidFill>
                  <a:srgbClr val="16182B"/>
                </a:solidFill>
                <a:latin typeface="Cambria" pitchFamily="34" charset="0"/>
                <a:ea typeface="Cambria" pitchFamily="34" charset="-122"/>
                <a:cs typeface="Cambria" pitchFamily="34" charset="-120"/>
              </a:rPr>
              <a:t>Borrowed animacy</a:t>
            </a:r>
            <a:endParaRPr lang="en-US" sz="1900" dirty="0"/>
          </a:p>
        </p:txBody>
      </p:sp>
      <p:sp>
        <p:nvSpPr>
          <p:cNvPr id="19" name="Text 17"/>
          <p:cNvSpPr txBox="1"/>
          <p:nvPr/>
        </p:nvSpPr>
        <p:spPr>
          <a:xfrm>
            <a:off x="960120" y="4617720"/>
            <a:ext cx="4655668" cy="77724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The maker builds the likeness and credits something else with the life. Watch the noun that occupies Venus’s slot.</a:t>
            </a:r>
            <a:endParaRPr lang="en-US" sz="1300" dirty="0"/>
          </a:p>
        </p:txBody>
      </p:sp>
      <p:sp>
        <p:nvSpPr>
          <p:cNvPr id="20" name="Shape 18"/>
          <p:cNvSpPr/>
          <p:nvPr/>
        </p:nvSpPr>
        <p:spPr>
          <a:xfrm>
            <a:off x="6255868" y="3749040"/>
            <a:ext cx="5295748" cy="1783080"/>
          </a:xfrm>
          <a:prstGeom prst="roundRect">
            <a:avLst>
              <a:gd name="adj" fmla="val 4103"/>
            </a:avLst>
          </a:prstGeom>
          <a:solidFill>
            <a:srgbClr val="F6F2E9"/>
          </a:solidFill>
          <a:ln w="12700">
            <a:solidFill>
              <a:srgbClr val="F6F2E9"/>
            </a:solidFill>
            <a:prstDash val="solid"/>
          </a:ln>
        </p:spPr>
        <p:txBody>
          <a:bodyPr/>
          <a:lstStyle/>
          <a:p>
            <a:endParaRPr lang="en-US"/>
          </a:p>
        </p:txBody>
      </p:sp>
      <p:sp>
        <p:nvSpPr>
          <p:cNvPr id="21" name="Shape 19"/>
          <p:cNvSpPr/>
          <p:nvPr/>
        </p:nvSpPr>
        <p:spPr>
          <a:xfrm>
            <a:off x="6575908" y="4069080"/>
            <a:ext cx="384048" cy="384048"/>
          </a:xfrm>
          <a:prstGeom prst="ellipse">
            <a:avLst/>
          </a:prstGeom>
          <a:solidFill>
            <a:srgbClr val="16182B"/>
          </a:solidFill>
          <a:ln/>
        </p:spPr>
        <p:txBody>
          <a:bodyPr/>
          <a:lstStyle/>
          <a:p>
            <a:endParaRPr lang="en-US"/>
          </a:p>
        </p:txBody>
      </p:sp>
      <p:sp>
        <p:nvSpPr>
          <p:cNvPr id="22" name="Text 20"/>
          <p:cNvSpPr txBox="1"/>
          <p:nvPr/>
        </p:nvSpPr>
        <p:spPr>
          <a:xfrm>
            <a:off x="6575908" y="40690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215988" y="4078224"/>
            <a:ext cx="4015588" cy="365760"/>
          </a:xfrm>
          <a:prstGeom prst="rect">
            <a:avLst/>
          </a:prstGeom>
          <a:noFill/>
          <a:ln/>
        </p:spPr>
        <p:txBody>
          <a:bodyPr wrap="square" lIns="0" tIns="0" rIns="0" bIns="0" rtlCol="0" anchor="ctr"/>
          <a:lstStyle/>
          <a:p>
            <a:pPr marL="0" indent="0">
              <a:buNone/>
            </a:pPr>
            <a:r>
              <a:rPr lang="en-US" sz="1900" b="1" dirty="0">
                <a:solidFill>
                  <a:srgbClr val="16182B"/>
                </a:solidFill>
                <a:latin typeface="Cambria" pitchFamily="34" charset="0"/>
                <a:ea typeface="Cambria" pitchFamily="34" charset="-122"/>
                <a:cs typeface="Cambria" pitchFamily="34" charset="-120"/>
              </a:rPr>
              <a:t>The unheard party</a:t>
            </a:r>
            <a:endParaRPr lang="en-US" sz="1900" dirty="0"/>
          </a:p>
        </p:txBody>
      </p:sp>
      <p:sp>
        <p:nvSpPr>
          <p:cNvPr id="24" name="Text 22"/>
          <p:cNvSpPr txBox="1"/>
          <p:nvPr/>
        </p:nvSpPr>
        <p:spPr>
          <a:xfrm>
            <a:off x="6575908" y="4617720"/>
            <a:ext cx="4655668" cy="77724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The made thing has no account of its own situation. Its silence is authored, not discovered.</a:t>
            </a:r>
            <a:endParaRPr lang="en-US" sz="1300" dirty="0"/>
          </a:p>
        </p:txBody>
      </p:sp>
      <p:sp>
        <p:nvSpPr>
          <p:cNvPr id="25" name="Text 23"/>
          <p:cNvSpPr txBox="1"/>
          <p:nvPr/>
        </p:nvSpPr>
        <p:spPr>
          <a:xfrm>
            <a:off x="640080" y="5779008"/>
            <a:ext cx="10881360" cy="411480"/>
          </a:xfrm>
          <a:prstGeom prst="rect">
            <a:avLst/>
          </a:prstGeom>
          <a:noFill/>
          <a:ln/>
        </p:spPr>
        <p:txBody>
          <a:bodyPr wrap="square" lIns="0" tIns="0" rIns="0" bIns="0" rtlCol="0" anchor="ctr"/>
          <a:lstStyle/>
          <a:p>
            <a:pPr marL="0" indent="0">
              <a:buNone/>
            </a:pPr>
            <a:r>
              <a:rPr lang="en-US" sz="1600" i="1" dirty="0">
                <a:solidFill>
                  <a:srgbClr val="2E7D8C"/>
                </a:solidFill>
                <a:latin typeface="Cambria" pitchFamily="34" charset="0"/>
                <a:ea typeface="Cambria" pitchFamily="34" charset="-122"/>
                <a:cs typeface="Cambria" pitchFamily="34" charset="-120"/>
              </a:rPr>
              <a:t>None of these require the made thing to be conscious. They are problems about the maker, the story, and the audience.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RECEPTION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The line of descent — who inherits the plot</a:t>
            </a:r>
            <a:endParaRPr lang="en-US" sz="3100" dirty="0"/>
          </a:p>
        </p:txBody>
      </p:sp>
      <p:sp>
        <p:nvSpPr>
          <p:cNvPr id="5" name="Shape 3"/>
          <p:cNvSpPr/>
          <p:nvPr/>
        </p:nvSpPr>
        <p:spPr>
          <a:xfrm>
            <a:off x="640080" y="1627632"/>
            <a:ext cx="3454298" cy="1207008"/>
          </a:xfrm>
          <a:prstGeom prst="roundRect">
            <a:avLst>
              <a:gd name="adj" fmla="val 6061"/>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896112" y="1755648"/>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1818</a:t>
            </a:r>
            <a:endParaRPr lang="en-US" sz="1150" dirty="0"/>
          </a:p>
        </p:txBody>
      </p:sp>
      <p:sp>
        <p:nvSpPr>
          <p:cNvPr id="7" name="Text 5"/>
          <p:cNvSpPr txBox="1"/>
          <p:nvPr/>
        </p:nvSpPr>
        <p:spPr>
          <a:xfrm>
            <a:off x="896112" y="2011680"/>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Frankenstein</a:t>
            </a:r>
            <a:endParaRPr lang="en-US" sz="1600" dirty="0"/>
          </a:p>
        </p:txBody>
      </p:sp>
      <p:sp>
        <p:nvSpPr>
          <p:cNvPr id="8" name="Text 6"/>
          <p:cNvSpPr txBox="1"/>
          <p:nvPr/>
        </p:nvSpPr>
        <p:spPr>
          <a:xfrm>
            <a:off x="896112" y="2322576"/>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Shelley keeps the making and adds the thing that talks back.</a:t>
            </a:r>
            <a:endParaRPr lang="en-US" sz="1150" dirty="0"/>
          </a:p>
        </p:txBody>
      </p:sp>
      <p:sp>
        <p:nvSpPr>
          <p:cNvPr id="9" name="Shape 7"/>
          <p:cNvSpPr/>
          <p:nvPr/>
        </p:nvSpPr>
        <p:spPr>
          <a:xfrm>
            <a:off x="4368698" y="1627632"/>
            <a:ext cx="3454298" cy="1207008"/>
          </a:xfrm>
          <a:prstGeom prst="roundRect">
            <a:avLst>
              <a:gd name="adj" fmla="val 6061"/>
            </a:avLst>
          </a:prstGeom>
          <a:solidFill>
            <a:srgbClr val="E7F0F2"/>
          </a:solidFill>
          <a:ln w="12700">
            <a:solidFill>
              <a:srgbClr val="E7F0F2"/>
            </a:solidFill>
            <a:prstDash val="solid"/>
          </a:ln>
        </p:spPr>
        <p:txBody>
          <a:bodyPr/>
          <a:lstStyle/>
          <a:p>
            <a:endParaRPr lang="en-US"/>
          </a:p>
        </p:txBody>
      </p:sp>
      <p:sp>
        <p:nvSpPr>
          <p:cNvPr id="10" name="Text 8"/>
          <p:cNvSpPr txBox="1"/>
          <p:nvPr/>
        </p:nvSpPr>
        <p:spPr>
          <a:xfrm>
            <a:off x="4624730" y="1755648"/>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1886</a:t>
            </a:r>
            <a:endParaRPr lang="en-US" sz="1150" dirty="0"/>
          </a:p>
        </p:txBody>
      </p:sp>
      <p:sp>
        <p:nvSpPr>
          <p:cNvPr id="11" name="Text 9"/>
          <p:cNvSpPr txBox="1"/>
          <p:nvPr/>
        </p:nvSpPr>
        <p:spPr>
          <a:xfrm>
            <a:off x="4624730" y="2011680"/>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Tomorrow’s Eve</a:t>
            </a:r>
            <a:endParaRPr lang="en-US" sz="1600" dirty="0"/>
          </a:p>
        </p:txBody>
      </p:sp>
      <p:sp>
        <p:nvSpPr>
          <p:cNvPr id="12" name="Text 10"/>
          <p:cNvSpPr txBox="1"/>
          <p:nvPr/>
        </p:nvSpPr>
        <p:spPr>
          <a:xfrm>
            <a:off x="4624730" y="2322576"/>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Villiers builds an android to replace a disappointing woman. The prologue, made explicit.</a:t>
            </a:r>
            <a:endParaRPr lang="en-US" sz="1150" dirty="0"/>
          </a:p>
        </p:txBody>
      </p:sp>
      <p:sp>
        <p:nvSpPr>
          <p:cNvPr id="13" name="Shape 11"/>
          <p:cNvSpPr/>
          <p:nvPr/>
        </p:nvSpPr>
        <p:spPr>
          <a:xfrm>
            <a:off x="8097317" y="1627632"/>
            <a:ext cx="3454298" cy="1207008"/>
          </a:xfrm>
          <a:prstGeom prst="roundRect">
            <a:avLst>
              <a:gd name="adj" fmla="val 6061"/>
            </a:avLst>
          </a:prstGeom>
          <a:solidFill>
            <a:srgbClr val="F6F2E9"/>
          </a:solidFill>
          <a:ln w="12700">
            <a:solidFill>
              <a:srgbClr val="F6F2E9"/>
            </a:solidFill>
            <a:prstDash val="solid"/>
          </a:ln>
        </p:spPr>
        <p:txBody>
          <a:bodyPr/>
          <a:lstStyle/>
          <a:p>
            <a:endParaRPr lang="en-US"/>
          </a:p>
        </p:txBody>
      </p:sp>
      <p:sp>
        <p:nvSpPr>
          <p:cNvPr id="14" name="Text 12"/>
          <p:cNvSpPr txBox="1"/>
          <p:nvPr/>
        </p:nvSpPr>
        <p:spPr>
          <a:xfrm>
            <a:off x="8353349" y="1755648"/>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1920</a:t>
            </a:r>
            <a:endParaRPr lang="en-US" sz="1150" dirty="0"/>
          </a:p>
        </p:txBody>
      </p:sp>
      <p:sp>
        <p:nvSpPr>
          <p:cNvPr id="15" name="Text 13"/>
          <p:cNvSpPr txBox="1"/>
          <p:nvPr/>
        </p:nvSpPr>
        <p:spPr>
          <a:xfrm>
            <a:off x="8353349" y="2011680"/>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R.U.R.</a:t>
            </a:r>
            <a:endParaRPr lang="en-US" sz="1600" dirty="0"/>
          </a:p>
        </p:txBody>
      </p:sp>
      <p:sp>
        <p:nvSpPr>
          <p:cNvPr id="16" name="Text 14"/>
          <p:cNvSpPr txBox="1"/>
          <p:nvPr/>
        </p:nvSpPr>
        <p:spPr>
          <a:xfrm>
            <a:off x="8353349" y="2322576"/>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Čapek names them robots and gives them a revolt.</a:t>
            </a:r>
            <a:endParaRPr lang="en-US" sz="1150" dirty="0"/>
          </a:p>
        </p:txBody>
      </p:sp>
      <p:sp>
        <p:nvSpPr>
          <p:cNvPr id="17" name="Shape 15"/>
          <p:cNvSpPr/>
          <p:nvPr/>
        </p:nvSpPr>
        <p:spPr>
          <a:xfrm>
            <a:off x="640080" y="3108960"/>
            <a:ext cx="3454298" cy="1207008"/>
          </a:xfrm>
          <a:prstGeom prst="roundRect">
            <a:avLst>
              <a:gd name="adj" fmla="val 6061"/>
            </a:avLst>
          </a:prstGeom>
          <a:solidFill>
            <a:srgbClr val="E7F0F2"/>
          </a:solidFill>
          <a:ln w="12700">
            <a:solidFill>
              <a:srgbClr val="E7F0F2"/>
            </a:solidFill>
            <a:prstDash val="solid"/>
          </a:ln>
        </p:spPr>
        <p:txBody>
          <a:bodyPr/>
          <a:lstStyle/>
          <a:p>
            <a:endParaRPr lang="en-US"/>
          </a:p>
        </p:txBody>
      </p:sp>
      <p:sp>
        <p:nvSpPr>
          <p:cNvPr id="18" name="Text 16"/>
          <p:cNvSpPr txBox="1"/>
          <p:nvPr/>
        </p:nvSpPr>
        <p:spPr>
          <a:xfrm>
            <a:off x="896112" y="3236976"/>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1927</a:t>
            </a:r>
            <a:endParaRPr lang="en-US" sz="1150" dirty="0"/>
          </a:p>
        </p:txBody>
      </p:sp>
      <p:sp>
        <p:nvSpPr>
          <p:cNvPr id="19" name="Text 17"/>
          <p:cNvSpPr txBox="1"/>
          <p:nvPr/>
        </p:nvSpPr>
        <p:spPr>
          <a:xfrm>
            <a:off x="896112" y="3493008"/>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Metropolis</a:t>
            </a:r>
            <a:endParaRPr lang="en-US" sz="1600" dirty="0"/>
          </a:p>
        </p:txBody>
      </p:sp>
      <p:sp>
        <p:nvSpPr>
          <p:cNvPr id="20" name="Text 18"/>
          <p:cNvSpPr txBox="1"/>
          <p:nvPr/>
        </p:nvSpPr>
        <p:spPr>
          <a:xfrm>
            <a:off x="896112" y="3803904"/>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Lang splits the woman in two and makes the copy a weapon.</a:t>
            </a:r>
            <a:endParaRPr lang="en-US" sz="1150" dirty="0"/>
          </a:p>
        </p:txBody>
      </p:sp>
      <p:sp>
        <p:nvSpPr>
          <p:cNvPr id="21" name="Shape 19"/>
          <p:cNvSpPr/>
          <p:nvPr/>
        </p:nvSpPr>
        <p:spPr>
          <a:xfrm>
            <a:off x="4368698" y="3108960"/>
            <a:ext cx="3454298" cy="1207008"/>
          </a:xfrm>
          <a:prstGeom prst="roundRect">
            <a:avLst>
              <a:gd name="adj" fmla="val 6061"/>
            </a:avLst>
          </a:prstGeom>
          <a:solidFill>
            <a:srgbClr val="F6F2E9"/>
          </a:solidFill>
          <a:ln w="12700">
            <a:solidFill>
              <a:srgbClr val="F6F2E9"/>
            </a:solidFill>
            <a:prstDash val="solid"/>
          </a:ln>
        </p:spPr>
        <p:txBody>
          <a:bodyPr/>
          <a:lstStyle/>
          <a:p>
            <a:endParaRPr lang="en-US"/>
          </a:p>
        </p:txBody>
      </p:sp>
      <p:sp>
        <p:nvSpPr>
          <p:cNvPr id="22" name="Text 20"/>
          <p:cNvSpPr txBox="1"/>
          <p:nvPr/>
        </p:nvSpPr>
        <p:spPr>
          <a:xfrm>
            <a:off x="4624730" y="3236976"/>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1968</a:t>
            </a:r>
            <a:endParaRPr lang="en-US" sz="1150" dirty="0"/>
          </a:p>
        </p:txBody>
      </p:sp>
      <p:sp>
        <p:nvSpPr>
          <p:cNvPr id="23" name="Text 21"/>
          <p:cNvSpPr txBox="1"/>
          <p:nvPr/>
        </p:nvSpPr>
        <p:spPr>
          <a:xfrm>
            <a:off x="4624730" y="3493008"/>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Do Androids Dream</a:t>
            </a:r>
            <a:endParaRPr lang="en-US" sz="1600" dirty="0"/>
          </a:p>
        </p:txBody>
      </p:sp>
      <p:sp>
        <p:nvSpPr>
          <p:cNvPr id="24" name="Text 22"/>
          <p:cNvSpPr txBox="1"/>
          <p:nvPr/>
        </p:nvSpPr>
        <p:spPr>
          <a:xfrm>
            <a:off x="4624730" y="3803904"/>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Dick moves the question from making to telling the difference.</a:t>
            </a:r>
            <a:endParaRPr lang="en-US" sz="1150" dirty="0"/>
          </a:p>
        </p:txBody>
      </p:sp>
      <p:sp>
        <p:nvSpPr>
          <p:cNvPr id="25" name="Shape 23"/>
          <p:cNvSpPr/>
          <p:nvPr/>
        </p:nvSpPr>
        <p:spPr>
          <a:xfrm>
            <a:off x="8097317" y="3108960"/>
            <a:ext cx="3454298" cy="1207008"/>
          </a:xfrm>
          <a:prstGeom prst="roundRect">
            <a:avLst>
              <a:gd name="adj" fmla="val 6061"/>
            </a:avLst>
          </a:prstGeom>
          <a:solidFill>
            <a:srgbClr val="E7F0F2"/>
          </a:solidFill>
          <a:ln w="12700">
            <a:solidFill>
              <a:srgbClr val="E7F0F2"/>
            </a:solidFill>
            <a:prstDash val="solid"/>
          </a:ln>
        </p:spPr>
        <p:txBody>
          <a:bodyPr/>
          <a:lstStyle/>
          <a:p>
            <a:endParaRPr lang="en-US"/>
          </a:p>
        </p:txBody>
      </p:sp>
      <p:sp>
        <p:nvSpPr>
          <p:cNvPr id="26" name="Text 24"/>
          <p:cNvSpPr txBox="1"/>
          <p:nvPr/>
        </p:nvSpPr>
        <p:spPr>
          <a:xfrm>
            <a:off x="8353349" y="3236976"/>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1982 · 2017</a:t>
            </a:r>
            <a:endParaRPr lang="en-US" sz="1150" dirty="0"/>
          </a:p>
        </p:txBody>
      </p:sp>
      <p:sp>
        <p:nvSpPr>
          <p:cNvPr id="27" name="Text 25"/>
          <p:cNvSpPr txBox="1"/>
          <p:nvPr/>
        </p:nvSpPr>
        <p:spPr>
          <a:xfrm>
            <a:off x="8353349" y="3493008"/>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Blade Runner films</a:t>
            </a:r>
            <a:endParaRPr lang="en-US" sz="1600" dirty="0"/>
          </a:p>
        </p:txBody>
      </p:sp>
      <p:sp>
        <p:nvSpPr>
          <p:cNvPr id="28" name="Text 26"/>
          <p:cNvSpPr txBox="1"/>
          <p:nvPr/>
        </p:nvSpPr>
        <p:spPr>
          <a:xfrm>
            <a:off x="8353349" y="3803904"/>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The Pygmalion plot, plus the made thing’s own testimony.</a:t>
            </a:r>
            <a:endParaRPr lang="en-US" sz="1150" dirty="0"/>
          </a:p>
        </p:txBody>
      </p:sp>
      <p:sp>
        <p:nvSpPr>
          <p:cNvPr id="29" name="Shape 27"/>
          <p:cNvSpPr/>
          <p:nvPr/>
        </p:nvSpPr>
        <p:spPr>
          <a:xfrm>
            <a:off x="640080" y="4590288"/>
            <a:ext cx="3454298" cy="1207008"/>
          </a:xfrm>
          <a:prstGeom prst="roundRect">
            <a:avLst>
              <a:gd name="adj" fmla="val 6061"/>
            </a:avLst>
          </a:prstGeom>
          <a:solidFill>
            <a:srgbClr val="F6F2E9"/>
          </a:solidFill>
          <a:ln w="12700">
            <a:solidFill>
              <a:srgbClr val="F6F2E9"/>
            </a:solidFill>
            <a:prstDash val="solid"/>
          </a:ln>
        </p:spPr>
        <p:txBody>
          <a:bodyPr/>
          <a:lstStyle/>
          <a:p>
            <a:endParaRPr lang="en-US"/>
          </a:p>
        </p:txBody>
      </p:sp>
      <p:sp>
        <p:nvSpPr>
          <p:cNvPr id="30" name="Text 28"/>
          <p:cNvSpPr txBox="1"/>
          <p:nvPr/>
        </p:nvSpPr>
        <p:spPr>
          <a:xfrm>
            <a:off x="896112" y="4718304"/>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2013</a:t>
            </a:r>
            <a:endParaRPr lang="en-US" sz="1150" dirty="0"/>
          </a:p>
        </p:txBody>
      </p:sp>
      <p:sp>
        <p:nvSpPr>
          <p:cNvPr id="31" name="Text 29"/>
          <p:cNvSpPr txBox="1"/>
          <p:nvPr/>
        </p:nvSpPr>
        <p:spPr>
          <a:xfrm>
            <a:off x="896112" y="4974336"/>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Her</a:t>
            </a:r>
            <a:endParaRPr lang="en-US" sz="1600" dirty="0"/>
          </a:p>
        </p:txBody>
      </p:sp>
      <p:sp>
        <p:nvSpPr>
          <p:cNvPr id="32" name="Text 30"/>
          <p:cNvSpPr txBox="1"/>
          <p:nvPr/>
        </p:nvSpPr>
        <p:spPr>
          <a:xfrm>
            <a:off x="896112" y="5285232"/>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Voice without body — halfway to Echo.</a:t>
            </a:r>
            <a:endParaRPr lang="en-US" sz="1150" dirty="0"/>
          </a:p>
        </p:txBody>
      </p:sp>
      <p:sp>
        <p:nvSpPr>
          <p:cNvPr id="33" name="Shape 31"/>
          <p:cNvSpPr/>
          <p:nvPr/>
        </p:nvSpPr>
        <p:spPr>
          <a:xfrm>
            <a:off x="4368698" y="4590288"/>
            <a:ext cx="3454298" cy="1207008"/>
          </a:xfrm>
          <a:prstGeom prst="roundRect">
            <a:avLst>
              <a:gd name="adj" fmla="val 6061"/>
            </a:avLst>
          </a:prstGeom>
          <a:solidFill>
            <a:srgbClr val="E7F0F2"/>
          </a:solidFill>
          <a:ln w="12700">
            <a:solidFill>
              <a:srgbClr val="E7F0F2"/>
            </a:solidFill>
            <a:prstDash val="solid"/>
          </a:ln>
        </p:spPr>
        <p:txBody>
          <a:bodyPr/>
          <a:lstStyle/>
          <a:p>
            <a:endParaRPr lang="en-US"/>
          </a:p>
        </p:txBody>
      </p:sp>
      <p:sp>
        <p:nvSpPr>
          <p:cNvPr id="34" name="Text 32"/>
          <p:cNvSpPr txBox="1"/>
          <p:nvPr/>
        </p:nvSpPr>
        <p:spPr>
          <a:xfrm>
            <a:off x="4624730" y="4718304"/>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2014</a:t>
            </a:r>
            <a:endParaRPr lang="en-US" sz="1150" dirty="0"/>
          </a:p>
        </p:txBody>
      </p:sp>
      <p:sp>
        <p:nvSpPr>
          <p:cNvPr id="35" name="Text 33"/>
          <p:cNvSpPr txBox="1"/>
          <p:nvPr/>
        </p:nvSpPr>
        <p:spPr>
          <a:xfrm>
            <a:off x="4624730" y="4974336"/>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Ex Machina</a:t>
            </a:r>
            <a:endParaRPr lang="en-US" sz="1600" dirty="0"/>
          </a:p>
        </p:txBody>
      </p:sp>
      <p:sp>
        <p:nvSpPr>
          <p:cNvPr id="36" name="Text 34"/>
          <p:cNvSpPr txBox="1"/>
          <p:nvPr/>
        </p:nvSpPr>
        <p:spPr>
          <a:xfrm>
            <a:off x="4624730" y="5285232"/>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The statue passes the test and leaves the maker behind.</a:t>
            </a:r>
            <a:endParaRPr lang="en-US" sz="1150" dirty="0"/>
          </a:p>
        </p:txBody>
      </p:sp>
      <p:sp>
        <p:nvSpPr>
          <p:cNvPr id="37" name="Shape 35"/>
          <p:cNvSpPr/>
          <p:nvPr/>
        </p:nvSpPr>
        <p:spPr>
          <a:xfrm>
            <a:off x="8097317" y="4590288"/>
            <a:ext cx="3454298" cy="1207008"/>
          </a:xfrm>
          <a:prstGeom prst="roundRect">
            <a:avLst>
              <a:gd name="adj" fmla="val 6061"/>
            </a:avLst>
          </a:prstGeom>
          <a:solidFill>
            <a:srgbClr val="F6F2E9"/>
          </a:solidFill>
          <a:ln w="12700">
            <a:solidFill>
              <a:srgbClr val="F6F2E9"/>
            </a:solidFill>
            <a:prstDash val="solid"/>
          </a:ln>
        </p:spPr>
        <p:txBody>
          <a:bodyPr/>
          <a:lstStyle/>
          <a:p>
            <a:endParaRPr lang="en-US"/>
          </a:p>
        </p:txBody>
      </p:sp>
      <p:sp>
        <p:nvSpPr>
          <p:cNvPr id="38" name="Text 36"/>
          <p:cNvSpPr txBox="1"/>
          <p:nvPr/>
        </p:nvSpPr>
        <p:spPr>
          <a:xfrm>
            <a:off x="8353349" y="4718304"/>
            <a:ext cx="2942234" cy="256032"/>
          </a:xfrm>
          <a:prstGeom prst="rect">
            <a:avLst/>
          </a:prstGeom>
          <a:noFill/>
          <a:ln/>
        </p:spPr>
        <p:txBody>
          <a:bodyPr wrap="square" lIns="0" tIns="0" rIns="0" bIns="0" rtlCol="0" anchor="ctr"/>
          <a:lstStyle/>
          <a:p>
            <a:pPr marL="0" indent="0">
              <a:buNone/>
            </a:pPr>
            <a:r>
              <a:rPr lang="en-US" sz="1150" b="1" kern="0" spc="120" dirty="0">
                <a:solidFill>
                  <a:srgbClr val="C9A227"/>
                </a:solidFill>
                <a:latin typeface="Calibri" pitchFamily="34" charset="0"/>
                <a:ea typeface="Calibri" pitchFamily="34" charset="-122"/>
                <a:cs typeface="Calibri" pitchFamily="34" charset="-120"/>
              </a:rPr>
              <a:t>2017–</a:t>
            </a:r>
            <a:endParaRPr lang="en-US" sz="1150" dirty="0"/>
          </a:p>
        </p:txBody>
      </p:sp>
      <p:sp>
        <p:nvSpPr>
          <p:cNvPr id="39" name="Text 37"/>
          <p:cNvSpPr txBox="1"/>
          <p:nvPr/>
        </p:nvSpPr>
        <p:spPr>
          <a:xfrm>
            <a:off x="8353349" y="4974336"/>
            <a:ext cx="2942234" cy="292608"/>
          </a:xfrm>
          <a:prstGeom prst="rect">
            <a:avLst/>
          </a:prstGeom>
          <a:noFill/>
          <a:ln/>
        </p:spPr>
        <p:txBody>
          <a:bodyPr wrap="square" lIns="0" tIns="0" rIns="0" bIns="0" rtlCol="0" anchor="ctr"/>
          <a:lstStyle/>
          <a:p>
            <a:pPr marL="0" indent="0">
              <a:buNone/>
            </a:pPr>
            <a:r>
              <a:rPr lang="en-US" sz="1600" b="1" dirty="0">
                <a:solidFill>
                  <a:srgbClr val="16182B"/>
                </a:solidFill>
                <a:latin typeface="Cambria" pitchFamily="34" charset="0"/>
                <a:ea typeface="Cambria" pitchFamily="34" charset="-122"/>
                <a:cs typeface="Cambria" pitchFamily="34" charset="-120"/>
              </a:rPr>
              <a:t>Companion apps</a:t>
            </a:r>
            <a:endParaRPr lang="en-US" sz="1600" dirty="0"/>
          </a:p>
        </p:txBody>
      </p:sp>
      <p:sp>
        <p:nvSpPr>
          <p:cNvPr id="40" name="Text 38"/>
          <p:cNvSpPr txBox="1"/>
          <p:nvPr/>
        </p:nvSpPr>
        <p:spPr>
          <a:xfrm>
            <a:off x="8353349" y="5285232"/>
            <a:ext cx="2942234" cy="438912"/>
          </a:xfrm>
          <a:prstGeom prst="rect">
            <a:avLst/>
          </a:prstGeom>
          <a:noFill/>
          <a:ln/>
        </p:spPr>
        <p:txBody>
          <a:bodyPr wrap="square" lIns="0" tIns="0" rIns="0" bIns="0" rtlCol="0" anchor="ctr"/>
          <a:lstStyle/>
          <a:p>
            <a:pPr marL="0" indent="0">
              <a:lnSpc>
                <a:spcPts val="1400"/>
              </a:lnSpc>
              <a:buNone/>
            </a:pPr>
            <a:r>
              <a:rPr lang="en-US" sz="1150" dirty="0">
                <a:solidFill>
                  <a:srgbClr val="5F6478"/>
                </a:solidFill>
                <a:latin typeface="Calibri" pitchFamily="34" charset="0"/>
                <a:ea typeface="Calibri" pitchFamily="34" charset="-122"/>
                <a:cs typeface="Calibri" pitchFamily="34" charset="-120"/>
              </a:rPr>
              <a:t>The prologue and the marketing copy converge.</a:t>
            </a:r>
            <a:endParaRPr lang="en-US" sz="1150" dirty="0"/>
          </a:p>
        </p:txBody>
      </p:sp>
      <p:sp>
        <p:nvSpPr>
          <p:cNvPr id="41" name="Text 39"/>
          <p:cNvSpPr txBox="1"/>
          <p:nvPr/>
        </p:nvSpPr>
        <p:spPr>
          <a:xfrm>
            <a:off x="640080" y="5989320"/>
            <a:ext cx="10881360" cy="365760"/>
          </a:xfrm>
          <a:prstGeom prst="rect">
            <a:avLst/>
          </a:prstGeom>
          <a:noFill/>
          <a:ln/>
        </p:spPr>
        <p:txBody>
          <a:bodyPr wrap="square" lIns="0" tIns="0" rIns="0" bIns="0" rtlCol="0" anchor="ctr"/>
          <a:lstStyle/>
          <a:p>
            <a:pPr marL="0" indent="0">
              <a:buNone/>
            </a:pPr>
            <a:r>
              <a:rPr lang="en-US" sz="1500" i="1" dirty="0">
                <a:solidFill>
                  <a:srgbClr val="2E7D8C"/>
                </a:solidFill>
                <a:latin typeface="Cambria" pitchFamily="34" charset="0"/>
                <a:ea typeface="Cambria" pitchFamily="34" charset="-122"/>
                <a:cs typeface="Cambria" pitchFamily="34" charset="-120"/>
              </a:rPr>
              <a:t>Test to apply: does the made thing get to speak for itself, and does the poem let its speech change the outcome?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6182B"/>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C9A227"/>
          </a:solidFill>
          <a:ln/>
        </p:spPr>
        <p:txBody>
          <a:bodyPr/>
          <a:lstStyle/>
          <a:p>
            <a:endParaRPr lang="en-US"/>
          </a:p>
        </p:txBody>
      </p:sp>
      <p:sp>
        <p:nvSpPr>
          <p:cNvPr id="3" name="Text 1"/>
          <p:cNvSpPr txBox="1"/>
          <p:nvPr/>
        </p:nvSpPr>
        <p:spPr>
          <a:xfrm>
            <a:off x="886968" y="438912"/>
            <a:ext cx="9144000" cy="274320"/>
          </a:xfrm>
          <a:prstGeom prst="rect">
            <a:avLst/>
          </a:prstGeom>
          <a:noFill/>
          <a:ln/>
        </p:spPr>
        <p:txBody>
          <a:bodyPr wrap="square" lIns="0" tIns="0" rIns="0" bIns="0" rtlCol="0" anchor="ctr"/>
          <a:lstStyle/>
          <a:p>
            <a:pPr marL="0" indent="0">
              <a:buNone/>
            </a:pPr>
            <a:r>
              <a:rPr lang="en-US" sz="1100" b="1" kern="0" spc="160" dirty="0">
                <a:solidFill>
                  <a:srgbClr val="C9A227"/>
                </a:solidFill>
                <a:latin typeface="Calibri" pitchFamily="34" charset="0"/>
                <a:ea typeface="Calibri" pitchFamily="34" charset="-122"/>
                <a:cs typeface="Calibri" pitchFamily="34" charset="-120"/>
              </a:rPr>
              <a:t>DISCUSSION · PAIRS · SIX MINUTES</a:t>
            </a:r>
            <a:endParaRPr lang="en-US" sz="1100" dirty="0"/>
          </a:p>
        </p:txBody>
      </p:sp>
      <p:sp>
        <p:nvSpPr>
          <p:cNvPr id="4" name="Text 2"/>
          <p:cNvSpPr txBox="1"/>
          <p:nvPr/>
        </p:nvSpPr>
        <p:spPr>
          <a:xfrm>
            <a:off x="640080" y="868680"/>
            <a:ext cx="10881360" cy="640080"/>
          </a:xfrm>
          <a:prstGeom prst="rect">
            <a:avLst/>
          </a:prstGeom>
          <a:noFill/>
          <a:ln/>
        </p:spPr>
        <p:txBody>
          <a:bodyPr wrap="square" lIns="0" tIns="0" rIns="0" bIns="0" rtlCol="0" anchor="ctr"/>
          <a:lstStyle/>
          <a:p>
            <a:pPr marL="0" indent="0">
              <a:buNone/>
            </a:pPr>
            <a:r>
              <a:rPr lang="en-US" sz="3400" b="1" dirty="0">
                <a:solidFill>
                  <a:srgbClr val="EDE6D6"/>
                </a:solidFill>
                <a:latin typeface="Cambria" pitchFamily="34" charset="0"/>
                <a:ea typeface="Cambria" pitchFamily="34" charset="-122"/>
                <a:cs typeface="Cambria" pitchFamily="34" charset="-120"/>
              </a:rPr>
              <a:t>Before we leave Pygmalion</a:t>
            </a:r>
            <a:endParaRPr lang="en-US" sz="3400" dirty="0"/>
          </a:p>
        </p:txBody>
      </p:sp>
      <p:sp>
        <p:nvSpPr>
          <p:cNvPr id="5" name="Shape 3"/>
          <p:cNvSpPr/>
          <p:nvPr/>
        </p:nvSpPr>
        <p:spPr>
          <a:xfrm>
            <a:off x="640080" y="1828800"/>
            <a:ext cx="10911535" cy="1143000"/>
          </a:xfrm>
          <a:prstGeom prst="roundRect">
            <a:avLst>
              <a:gd name="adj" fmla="val 6400"/>
            </a:avLst>
          </a:prstGeom>
          <a:solidFill>
            <a:srgbClr val="242742"/>
          </a:solidFill>
          <a:ln w="12700">
            <a:solidFill>
              <a:srgbClr val="242742"/>
            </a:solidFill>
            <a:prstDash val="solid"/>
          </a:ln>
        </p:spPr>
        <p:txBody>
          <a:bodyPr/>
          <a:lstStyle/>
          <a:p>
            <a:endParaRPr lang="en-US"/>
          </a:p>
        </p:txBody>
      </p:sp>
      <p:sp>
        <p:nvSpPr>
          <p:cNvPr id="6" name="Shape 4"/>
          <p:cNvSpPr/>
          <p:nvPr/>
        </p:nvSpPr>
        <p:spPr>
          <a:xfrm>
            <a:off x="1005840" y="2212848"/>
            <a:ext cx="384048" cy="384048"/>
          </a:xfrm>
          <a:prstGeom prst="ellipse">
            <a:avLst/>
          </a:prstGeom>
          <a:solidFill>
            <a:srgbClr val="C9A227"/>
          </a:solidFill>
          <a:ln/>
        </p:spPr>
        <p:txBody>
          <a:bodyPr/>
          <a:lstStyle/>
          <a:p>
            <a:endParaRPr lang="en-US"/>
          </a:p>
        </p:txBody>
      </p:sp>
      <p:sp>
        <p:nvSpPr>
          <p:cNvPr id="7" name="Text 5"/>
          <p:cNvSpPr txBox="1"/>
          <p:nvPr/>
        </p:nvSpPr>
        <p:spPr>
          <a:xfrm>
            <a:off x="1005840" y="2212848"/>
            <a:ext cx="384048" cy="384048"/>
          </a:xfrm>
          <a:prstGeom prst="rect">
            <a:avLst/>
          </a:prstGeom>
          <a:noFill/>
          <a:ln/>
        </p:spPr>
        <p:txBody>
          <a:bodyPr wrap="square" lIns="0" tIns="0" rIns="0" bIns="0" rtlCol="0" anchor="ctr"/>
          <a:lstStyle/>
          <a:p>
            <a:pPr marL="0" indent="0" algn="ctr">
              <a:buNone/>
            </a:pPr>
            <a:r>
              <a:rPr lang="en-US" sz="1500" b="1" dirty="0">
                <a:solidFill>
                  <a:srgbClr val="16182B"/>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91640" y="2011680"/>
            <a:ext cx="9509760" cy="822960"/>
          </a:xfrm>
          <a:prstGeom prst="rect">
            <a:avLst/>
          </a:prstGeom>
          <a:noFill/>
          <a:ln/>
        </p:spPr>
        <p:txBody>
          <a:bodyPr wrap="square" lIns="0" tIns="0" rIns="0" bIns="0" rtlCol="0" anchor="ctr"/>
          <a:lstStyle/>
          <a:p>
            <a:pPr marL="0" indent="0">
              <a:lnSpc>
                <a:spcPts val="2200"/>
              </a:lnSpc>
              <a:buNone/>
            </a:pPr>
            <a:r>
              <a:rPr lang="en-US" sz="1600" dirty="0">
                <a:solidFill>
                  <a:srgbClr val="FFFFFF"/>
                </a:solidFill>
                <a:latin typeface="Cambria" pitchFamily="34" charset="0"/>
                <a:ea typeface="Cambria" pitchFamily="34" charset="-122"/>
                <a:cs typeface="Cambria" pitchFamily="34" charset="-120"/>
              </a:rPr>
              <a:t>Is Pygmalion’s love different in kind from love for a person, or only in degree? Defend your answer from the text, not from intuition.</a:t>
            </a:r>
            <a:endParaRPr lang="en-US" sz="1600" dirty="0"/>
          </a:p>
        </p:txBody>
      </p:sp>
      <p:sp>
        <p:nvSpPr>
          <p:cNvPr id="9" name="Shape 7"/>
          <p:cNvSpPr/>
          <p:nvPr/>
        </p:nvSpPr>
        <p:spPr>
          <a:xfrm>
            <a:off x="640080" y="3127248"/>
            <a:ext cx="10911535" cy="1143000"/>
          </a:xfrm>
          <a:prstGeom prst="roundRect">
            <a:avLst>
              <a:gd name="adj" fmla="val 6400"/>
            </a:avLst>
          </a:prstGeom>
          <a:solidFill>
            <a:srgbClr val="242742"/>
          </a:solidFill>
          <a:ln w="12700">
            <a:solidFill>
              <a:srgbClr val="242742"/>
            </a:solidFill>
            <a:prstDash val="solid"/>
          </a:ln>
        </p:spPr>
        <p:txBody>
          <a:bodyPr/>
          <a:lstStyle/>
          <a:p>
            <a:endParaRPr lang="en-US"/>
          </a:p>
        </p:txBody>
      </p:sp>
      <p:sp>
        <p:nvSpPr>
          <p:cNvPr id="10" name="Shape 8"/>
          <p:cNvSpPr/>
          <p:nvPr/>
        </p:nvSpPr>
        <p:spPr>
          <a:xfrm>
            <a:off x="1005840" y="3511296"/>
            <a:ext cx="384048" cy="384048"/>
          </a:xfrm>
          <a:prstGeom prst="ellipse">
            <a:avLst/>
          </a:prstGeom>
          <a:solidFill>
            <a:srgbClr val="C9A227"/>
          </a:solidFill>
          <a:ln/>
        </p:spPr>
        <p:txBody>
          <a:bodyPr/>
          <a:lstStyle/>
          <a:p>
            <a:endParaRPr lang="en-US"/>
          </a:p>
        </p:txBody>
      </p:sp>
      <p:sp>
        <p:nvSpPr>
          <p:cNvPr id="11" name="Text 9"/>
          <p:cNvSpPr txBox="1"/>
          <p:nvPr/>
        </p:nvSpPr>
        <p:spPr>
          <a:xfrm>
            <a:off x="1005840" y="3511296"/>
            <a:ext cx="384048" cy="384048"/>
          </a:xfrm>
          <a:prstGeom prst="rect">
            <a:avLst/>
          </a:prstGeom>
          <a:noFill/>
          <a:ln/>
        </p:spPr>
        <p:txBody>
          <a:bodyPr wrap="square" lIns="0" tIns="0" rIns="0" bIns="0" rtlCol="0" anchor="ctr"/>
          <a:lstStyle/>
          <a:p>
            <a:pPr marL="0" indent="0" algn="ctr">
              <a:buNone/>
            </a:pPr>
            <a:r>
              <a:rPr lang="en-US" sz="1500" b="1" dirty="0">
                <a:solidFill>
                  <a:srgbClr val="16182B"/>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691640" y="3310128"/>
            <a:ext cx="9509760" cy="822960"/>
          </a:xfrm>
          <a:prstGeom prst="rect">
            <a:avLst/>
          </a:prstGeom>
          <a:noFill/>
          <a:ln/>
        </p:spPr>
        <p:txBody>
          <a:bodyPr wrap="square" lIns="0" tIns="0" rIns="0" bIns="0" rtlCol="0" anchor="ctr"/>
          <a:lstStyle/>
          <a:p>
            <a:pPr marL="0" indent="0">
              <a:lnSpc>
                <a:spcPts val="2200"/>
              </a:lnSpc>
              <a:buNone/>
            </a:pPr>
            <a:r>
              <a:rPr lang="en-US" sz="1600" dirty="0">
                <a:solidFill>
                  <a:srgbClr val="FFFFFF"/>
                </a:solidFill>
                <a:latin typeface="Cambria" pitchFamily="34" charset="0"/>
                <a:ea typeface="Cambria" pitchFamily="34" charset="-122"/>
                <a:cs typeface="Cambria" pitchFamily="34" charset="-120"/>
              </a:rPr>
              <a:t>Ovid rewards him. What minimum change would turn these fifty lines into a warning — one added line, one deleted line, one reordering?</a:t>
            </a:r>
            <a:endParaRPr lang="en-US" sz="1600" dirty="0"/>
          </a:p>
        </p:txBody>
      </p:sp>
      <p:sp>
        <p:nvSpPr>
          <p:cNvPr id="13" name="Shape 11"/>
          <p:cNvSpPr/>
          <p:nvPr/>
        </p:nvSpPr>
        <p:spPr>
          <a:xfrm>
            <a:off x="640080" y="4425696"/>
            <a:ext cx="10911535" cy="1143000"/>
          </a:xfrm>
          <a:prstGeom prst="roundRect">
            <a:avLst>
              <a:gd name="adj" fmla="val 6400"/>
            </a:avLst>
          </a:prstGeom>
          <a:solidFill>
            <a:srgbClr val="242742"/>
          </a:solidFill>
          <a:ln w="12700">
            <a:solidFill>
              <a:srgbClr val="242742"/>
            </a:solidFill>
            <a:prstDash val="solid"/>
          </a:ln>
        </p:spPr>
        <p:txBody>
          <a:bodyPr/>
          <a:lstStyle/>
          <a:p>
            <a:endParaRPr lang="en-US"/>
          </a:p>
        </p:txBody>
      </p:sp>
      <p:sp>
        <p:nvSpPr>
          <p:cNvPr id="14" name="Shape 12"/>
          <p:cNvSpPr/>
          <p:nvPr/>
        </p:nvSpPr>
        <p:spPr>
          <a:xfrm>
            <a:off x="1005840" y="4809744"/>
            <a:ext cx="384048" cy="384048"/>
          </a:xfrm>
          <a:prstGeom prst="ellipse">
            <a:avLst/>
          </a:prstGeom>
          <a:solidFill>
            <a:srgbClr val="C9A227"/>
          </a:solidFill>
          <a:ln/>
        </p:spPr>
        <p:txBody>
          <a:bodyPr/>
          <a:lstStyle/>
          <a:p>
            <a:endParaRPr lang="en-US"/>
          </a:p>
        </p:txBody>
      </p:sp>
      <p:sp>
        <p:nvSpPr>
          <p:cNvPr id="15" name="Text 13"/>
          <p:cNvSpPr txBox="1"/>
          <p:nvPr/>
        </p:nvSpPr>
        <p:spPr>
          <a:xfrm>
            <a:off x="1005840" y="4809744"/>
            <a:ext cx="384048" cy="384048"/>
          </a:xfrm>
          <a:prstGeom prst="rect">
            <a:avLst/>
          </a:prstGeom>
          <a:noFill/>
          <a:ln/>
        </p:spPr>
        <p:txBody>
          <a:bodyPr wrap="square" lIns="0" tIns="0" rIns="0" bIns="0" rtlCol="0" anchor="ctr"/>
          <a:lstStyle/>
          <a:p>
            <a:pPr marL="0" indent="0" algn="ctr">
              <a:buNone/>
            </a:pPr>
            <a:r>
              <a:rPr lang="en-US" sz="1500" b="1" dirty="0">
                <a:solidFill>
                  <a:srgbClr val="16182B"/>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691640" y="4608576"/>
            <a:ext cx="9509760" cy="822960"/>
          </a:xfrm>
          <a:prstGeom prst="rect">
            <a:avLst/>
          </a:prstGeom>
          <a:noFill/>
          <a:ln/>
        </p:spPr>
        <p:txBody>
          <a:bodyPr wrap="square" lIns="0" tIns="0" rIns="0" bIns="0" rtlCol="0" anchor="ctr"/>
          <a:lstStyle/>
          <a:p>
            <a:pPr marL="0" indent="0">
              <a:lnSpc>
                <a:spcPts val="2200"/>
              </a:lnSpc>
              <a:buNone/>
            </a:pPr>
            <a:r>
              <a:rPr lang="en-US" sz="1600" dirty="0">
                <a:solidFill>
                  <a:srgbClr val="FFFFFF"/>
                </a:solidFill>
                <a:latin typeface="Cambria" pitchFamily="34" charset="0"/>
                <a:ea typeface="Cambria" pitchFamily="34" charset="-122"/>
                <a:cs typeface="Cambria" pitchFamily="34" charset="-120"/>
              </a:rPr>
              <a:t>You are writing the sequel from her point of view. What is the first thing she says, and to whom?</a:t>
            </a:r>
            <a:endParaRPr lang="en-US" sz="1600" dirty="0"/>
          </a:p>
        </p:txBody>
      </p:sp>
      <p:sp>
        <p:nvSpPr>
          <p:cNvPr id="17" name="Text 15"/>
          <p:cNvSpPr txBox="1"/>
          <p:nvPr/>
        </p:nvSpPr>
        <p:spPr>
          <a:xfrm>
            <a:off x="640080" y="5806440"/>
            <a:ext cx="10881360" cy="365760"/>
          </a:xfrm>
          <a:prstGeom prst="rect">
            <a:avLst/>
          </a:prstGeom>
          <a:noFill/>
          <a:ln/>
        </p:spPr>
        <p:txBody>
          <a:bodyPr wrap="square" lIns="0" tIns="0" rIns="0" bIns="0" rtlCol="0" anchor="ctr"/>
          <a:lstStyle/>
          <a:p>
            <a:pPr marL="0" indent="0">
              <a:buNone/>
            </a:pPr>
            <a:r>
              <a:rPr lang="en-US" sz="1350" i="1" dirty="0">
                <a:solidFill>
                  <a:srgbClr val="86C2CF"/>
                </a:solidFill>
                <a:latin typeface="Calibri" pitchFamily="34" charset="0"/>
                <a:ea typeface="Calibri" pitchFamily="34" charset="-122"/>
                <a:cs typeface="Calibri" pitchFamily="34" charset="-120"/>
              </a:rPr>
              <a:t>Two minutes each. Take one answer from three different pairs before moving on.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6182B"/>
        </a:solidFill>
        <a:effectLst/>
      </p:bgPr>
    </p:bg>
    <p:spTree>
      <p:nvGrpSpPr>
        <p:cNvPr id="1" name=""/>
        <p:cNvGrpSpPr/>
        <p:nvPr/>
      </p:nvGrpSpPr>
      <p:grpSpPr>
        <a:xfrm>
          <a:off x="0" y="0"/>
          <a:ext cx="0" cy="0"/>
          <a:chOff x="0" y="0"/>
          <a:chExt cx="0" cy="0"/>
        </a:xfrm>
      </p:grpSpPr>
      <p:sp>
        <p:nvSpPr>
          <p:cNvPr id="2" name="Shape 0"/>
          <p:cNvSpPr/>
          <p:nvPr/>
        </p:nvSpPr>
        <p:spPr>
          <a:xfrm>
            <a:off x="8778240" y="1280160"/>
            <a:ext cx="2834640" cy="2834640"/>
          </a:xfrm>
          <a:prstGeom prst="ellipse">
            <a:avLst/>
          </a:prstGeom>
          <a:solidFill>
            <a:srgbClr val="2E7D8C">
              <a:alpha val="75000"/>
            </a:srgbClr>
          </a:solidFill>
          <a:ln/>
        </p:spPr>
        <p:txBody>
          <a:bodyPr/>
          <a:lstStyle/>
          <a:p>
            <a:endParaRPr lang="en-US"/>
          </a:p>
        </p:txBody>
      </p:sp>
      <p:sp>
        <p:nvSpPr>
          <p:cNvPr id="3" name="Shape 1"/>
          <p:cNvSpPr/>
          <p:nvPr/>
        </p:nvSpPr>
        <p:spPr>
          <a:xfrm>
            <a:off x="9464040" y="1965960"/>
            <a:ext cx="1463040" cy="1463040"/>
          </a:xfrm>
          <a:prstGeom prst="ellipse">
            <a:avLst/>
          </a:prstGeom>
          <a:solidFill>
            <a:srgbClr val="2E7D8C">
              <a:alpha val="55000"/>
            </a:srgbClr>
          </a:solidFill>
          <a:ln/>
        </p:spPr>
        <p:txBody>
          <a:bodyPr/>
          <a:lstStyle/>
          <a:p>
            <a:endParaRPr lang="en-US"/>
          </a:p>
        </p:txBody>
      </p:sp>
      <p:sp>
        <p:nvSpPr>
          <p:cNvPr id="4" name="Text 2"/>
          <p:cNvSpPr txBox="1"/>
          <p:nvPr/>
        </p:nvSpPr>
        <p:spPr>
          <a:xfrm>
            <a:off x="640080" y="1965960"/>
            <a:ext cx="7315200" cy="320040"/>
          </a:xfrm>
          <a:prstGeom prst="rect">
            <a:avLst/>
          </a:prstGeom>
          <a:noFill/>
          <a:ln/>
        </p:spPr>
        <p:txBody>
          <a:bodyPr wrap="square" lIns="0" tIns="0" rIns="0" bIns="0" rtlCol="0" anchor="ctr"/>
          <a:lstStyle/>
          <a:p>
            <a:pPr marL="0" indent="0">
              <a:buNone/>
            </a:pPr>
            <a:r>
              <a:rPr lang="en-US" sz="1300" b="1" kern="0" spc="220" dirty="0">
                <a:solidFill>
                  <a:srgbClr val="C9A227"/>
                </a:solidFill>
                <a:latin typeface="Calibri" pitchFamily="34" charset="0"/>
                <a:ea typeface="Calibri" pitchFamily="34" charset="-122"/>
                <a:cs typeface="Calibri" pitchFamily="34" charset="-120"/>
              </a:rPr>
              <a:t>PART TWO</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marL="0" indent="0">
              <a:buNone/>
            </a:pPr>
            <a:r>
              <a:rPr lang="en-US" sz="4200" b="1" dirty="0">
                <a:solidFill>
                  <a:srgbClr val="EDE6D6"/>
                </a:solidFill>
                <a:latin typeface="Cambria" pitchFamily="34" charset="0"/>
                <a:ea typeface="Cambria" pitchFamily="34" charset="-122"/>
                <a:cs typeface="Cambria" pitchFamily="34" charset="-120"/>
              </a:rPr>
              <a:t>Echo and Narcissus</a:t>
            </a:r>
            <a:endParaRPr lang="en-US" sz="4200" dirty="0"/>
          </a:p>
        </p:txBody>
      </p:sp>
      <p:sp>
        <p:nvSpPr>
          <p:cNvPr id="6" name="Text 4"/>
          <p:cNvSpPr txBox="1"/>
          <p:nvPr/>
        </p:nvSpPr>
        <p:spPr>
          <a:xfrm>
            <a:off x="640080" y="3291840"/>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Metamorphoses Bk III:339–510</a:t>
            </a:r>
            <a:endParaRPr lang="en-US" sz="1500" dirty="0"/>
          </a:p>
        </p:txBody>
      </p:sp>
      <p:sp>
        <p:nvSpPr>
          <p:cNvPr id="7" name="Shape 5"/>
          <p:cNvSpPr/>
          <p:nvPr/>
        </p:nvSpPr>
        <p:spPr>
          <a:xfrm>
            <a:off x="640080" y="3886200"/>
            <a:ext cx="2377440" cy="18288"/>
          </a:xfrm>
          <a:prstGeom prst="rect">
            <a:avLst/>
          </a:prstGeom>
          <a:solidFill>
            <a:srgbClr val="C9A227"/>
          </a:solidFill>
          <a:ln/>
        </p:spPr>
        <p:txBody>
          <a:bodyPr/>
          <a:lstStyle/>
          <a:p>
            <a:endParaRPr lang="en-US"/>
          </a:p>
        </p:txBody>
      </p:sp>
      <p:sp>
        <p:nvSpPr>
          <p:cNvPr id="8" name="Text 6"/>
          <p:cNvSpPr txBox="1"/>
          <p:nvPr/>
        </p:nvSpPr>
        <p:spPr>
          <a:xfrm>
            <a:off x="640080" y="4114800"/>
            <a:ext cx="7680960" cy="457200"/>
          </a:xfrm>
          <a:prstGeom prst="rect">
            <a:avLst/>
          </a:prstGeom>
          <a:noFill/>
          <a:ln/>
        </p:spPr>
        <p:txBody>
          <a:bodyPr wrap="square" lIns="0" tIns="0" rIns="0" bIns="0" rtlCol="0" anchor="ctr"/>
          <a:lstStyle/>
          <a:p>
            <a:pPr marL="0" indent="0">
              <a:buNone/>
            </a:pPr>
            <a:r>
              <a:rPr lang="en-US" sz="1900" i="1" dirty="0">
                <a:solidFill>
                  <a:srgbClr val="86C2CF"/>
                </a:solidFill>
                <a:latin typeface="Cambria" pitchFamily="34" charset="0"/>
                <a:ea typeface="Cambria" pitchFamily="34" charset="-122"/>
                <a:cs typeface="Cambria" pitchFamily="34" charset="-120"/>
              </a:rPr>
              <a:t>One of them cannot speak first. The other cannot look away.</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III:339–358</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A prophecy shaped like a specification</a:t>
            </a:r>
            <a:endParaRPr lang="en-US" sz="3100" dirty="0"/>
          </a:p>
        </p:txBody>
      </p:sp>
      <p:sp>
        <p:nvSpPr>
          <p:cNvPr id="5" name="Shape 3"/>
          <p:cNvSpPr/>
          <p:nvPr/>
        </p:nvSpPr>
        <p:spPr>
          <a:xfrm>
            <a:off x="640080" y="1600200"/>
            <a:ext cx="10911535" cy="1234440"/>
          </a:xfrm>
          <a:prstGeom prst="roundRect">
            <a:avLst>
              <a:gd name="adj" fmla="val 5926"/>
            </a:avLst>
          </a:prstGeom>
          <a:solidFill>
            <a:srgbClr val="16182B"/>
          </a:solidFill>
          <a:ln w="12700">
            <a:solidFill>
              <a:srgbClr val="16182B"/>
            </a:solidFill>
            <a:prstDash val="solid"/>
          </a:ln>
        </p:spPr>
        <p:txBody>
          <a:bodyPr/>
          <a:lstStyle/>
          <a:p>
            <a:endParaRPr lang="en-US"/>
          </a:p>
        </p:txBody>
      </p:sp>
      <p:sp>
        <p:nvSpPr>
          <p:cNvPr id="6" name="Text 4"/>
          <p:cNvSpPr txBox="1"/>
          <p:nvPr/>
        </p:nvSpPr>
        <p:spPr>
          <a:xfrm>
            <a:off x="1005840" y="1810512"/>
            <a:ext cx="10424160" cy="868680"/>
          </a:xfrm>
          <a:prstGeom prst="rect">
            <a:avLst/>
          </a:prstGeom>
          <a:noFill/>
          <a:ln/>
        </p:spPr>
        <p:txBody>
          <a:bodyPr wrap="square" lIns="0" tIns="0" rIns="0" bIns="0" rtlCol="0" anchor="ctr"/>
          <a:lstStyle/>
          <a:p>
            <a:pPr marL="0" indent="0">
              <a:lnSpc>
                <a:spcPts val="2400"/>
              </a:lnSpc>
              <a:buNone/>
            </a:pPr>
            <a:r>
              <a:rPr lang="en-US" sz="1700" dirty="0">
                <a:solidFill>
                  <a:srgbClr val="EDE6D6"/>
                </a:solidFill>
                <a:latin typeface="Cambria" pitchFamily="34" charset="0"/>
                <a:ea typeface="Cambria" pitchFamily="34" charset="-122"/>
                <a:cs typeface="Cambria" pitchFamily="34" charset="-120"/>
              </a:rPr>
              <a:t>Liriope brings her son to Tiresias and asks whether he will live to old age. The seer answers with a condition rather than a date: he will, so long as he never comes to know himself.</a:t>
            </a:r>
            <a:endParaRPr lang="en-US" sz="1700" dirty="0"/>
          </a:p>
        </p:txBody>
      </p:sp>
      <p:sp>
        <p:nvSpPr>
          <p:cNvPr id="7" name="Shape 5"/>
          <p:cNvSpPr/>
          <p:nvPr/>
        </p:nvSpPr>
        <p:spPr>
          <a:xfrm>
            <a:off x="640080" y="3017520"/>
            <a:ext cx="3454298" cy="2148840"/>
          </a:xfrm>
          <a:prstGeom prst="roundRect">
            <a:avLst>
              <a:gd name="adj" fmla="val 3404"/>
            </a:avLst>
          </a:prstGeom>
          <a:solidFill>
            <a:srgbClr val="F6F2E9"/>
          </a:solidFill>
          <a:ln w="12700">
            <a:solidFill>
              <a:srgbClr val="F6F2E9"/>
            </a:solidFill>
            <a:prstDash val="solid"/>
          </a:ln>
        </p:spPr>
        <p:txBody>
          <a:bodyPr/>
          <a:lstStyle/>
          <a:p>
            <a:endParaRPr lang="en-US"/>
          </a:p>
        </p:txBody>
      </p:sp>
      <p:sp>
        <p:nvSpPr>
          <p:cNvPr id="8" name="Text 6"/>
          <p:cNvSpPr txBox="1"/>
          <p:nvPr/>
        </p:nvSpPr>
        <p:spPr>
          <a:xfrm>
            <a:off x="914400" y="3246120"/>
            <a:ext cx="2905658" cy="594360"/>
          </a:xfrm>
          <a:prstGeom prst="rect">
            <a:avLst/>
          </a:prstGeom>
          <a:noFill/>
          <a:ln/>
        </p:spPr>
        <p:txBody>
          <a:bodyPr wrap="square" lIns="0" tIns="0" rIns="0" bIns="0" rtlCol="0" anchor="ctr"/>
          <a:lstStyle/>
          <a:p>
            <a:pPr marL="0" indent="0">
              <a:buNone/>
            </a:pPr>
            <a:r>
              <a:rPr lang="en-US" sz="1650" b="1" dirty="0">
                <a:solidFill>
                  <a:srgbClr val="16182B"/>
                </a:solidFill>
                <a:latin typeface="Cambria" pitchFamily="34" charset="0"/>
                <a:ea typeface="Cambria" pitchFamily="34" charset="-122"/>
                <a:cs typeface="Cambria" pitchFamily="34" charset="-120"/>
              </a:rPr>
              <a:t>An inverted safety condition</a:t>
            </a:r>
            <a:endParaRPr lang="en-US" sz="1650" dirty="0"/>
          </a:p>
        </p:txBody>
      </p:sp>
      <p:sp>
        <p:nvSpPr>
          <p:cNvPr id="9" name="Text 7"/>
          <p:cNvSpPr txBox="1"/>
          <p:nvPr/>
        </p:nvSpPr>
        <p:spPr>
          <a:xfrm>
            <a:off x="914400" y="3931920"/>
            <a:ext cx="2905658" cy="109728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The system runs correctly only while it lacks an accurate model of itself. Self-representation is the failure mode, not the goal.</a:t>
            </a:r>
            <a:endParaRPr lang="en-US" sz="1250" dirty="0"/>
          </a:p>
        </p:txBody>
      </p:sp>
      <p:sp>
        <p:nvSpPr>
          <p:cNvPr id="10" name="Shape 8"/>
          <p:cNvSpPr/>
          <p:nvPr/>
        </p:nvSpPr>
        <p:spPr>
          <a:xfrm>
            <a:off x="4368698" y="3017520"/>
            <a:ext cx="3454298" cy="2148840"/>
          </a:xfrm>
          <a:prstGeom prst="roundRect">
            <a:avLst>
              <a:gd name="adj" fmla="val 3404"/>
            </a:avLst>
          </a:prstGeom>
          <a:solidFill>
            <a:srgbClr val="E7F0F2"/>
          </a:solidFill>
          <a:ln w="12700">
            <a:solidFill>
              <a:srgbClr val="E7F0F2"/>
            </a:solidFill>
            <a:prstDash val="solid"/>
          </a:ln>
        </p:spPr>
        <p:txBody>
          <a:bodyPr/>
          <a:lstStyle/>
          <a:p>
            <a:endParaRPr lang="en-US"/>
          </a:p>
        </p:txBody>
      </p:sp>
      <p:sp>
        <p:nvSpPr>
          <p:cNvPr id="11" name="Text 9"/>
          <p:cNvSpPr txBox="1"/>
          <p:nvPr/>
        </p:nvSpPr>
        <p:spPr>
          <a:xfrm>
            <a:off x="4643018" y="3246120"/>
            <a:ext cx="2905658" cy="594360"/>
          </a:xfrm>
          <a:prstGeom prst="rect">
            <a:avLst/>
          </a:prstGeom>
          <a:noFill/>
          <a:ln/>
        </p:spPr>
        <p:txBody>
          <a:bodyPr wrap="square" lIns="0" tIns="0" rIns="0" bIns="0" rtlCol="0" anchor="ctr"/>
          <a:lstStyle/>
          <a:p>
            <a:pPr marL="0" indent="0">
              <a:buNone/>
            </a:pPr>
            <a:r>
              <a:rPr lang="en-US" sz="1650" b="1" dirty="0">
                <a:solidFill>
                  <a:srgbClr val="16182B"/>
                </a:solidFill>
                <a:latin typeface="Cambria" pitchFamily="34" charset="0"/>
                <a:ea typeface="Cambria" pitchFamily="34" charset="-122"/>
                <a:cs typeface="Cambria" pitchFamily="34" charset="-120"/>
              </a:rPr>
              <a:t>Ovid is inverting Delphi</a:t>
            </a:r>
            <a:endParaRPr lang="en-US" sz="1650" dirty="0"/>
          </a:p>
        </p:txBody>
      </p:sp>
      <p:sp>
        <p:nvSpPr>
          <p:cNvPr id="12" name="Text 10"/>
          <p:cNvSpPr txBox="1"/>
          <p:nvPr/>
        </p:nvSpPr>
        <p:spPr>
          <a:xfrm>
            <a:off x="4643018" y="3931920"/>
            <a:ext cx="2905658" cy="109728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The maxim carved at the oracle is know thyself. Here, self-knowledge is fatal. The joke is deliberate and it is doing argumentative work.</a:t>
            </a:r>
            <a:endParaRPr lang="en-US" sz="1250" dirty="0"/>
          </a:p>
        </p:txBody>
      </p:sp>
      <p:sp>
        <p:nvSpPr>
          <p:cNvPr id="13" name="Shape 11"/>
          <p:cNvSpPr/>
          <p:nvPr/>
        </p:nvSpPr>
        <p:spPr>
          <a:xfrm>
            <a:off x="8097317" y="3017520"/>
            <a:ext cx="3454298" cy="2148840"/>
          </a:xfrm>
          <a:prstGeom prst="roundRect">
            <a:avLst>
              <a:gd name="adj" fmla="val 3404"/>
            </a:avLst>
          </a:prstGeom>
          <a:solidFill>
            <a:srgbClr val="F6F2E9"/>
          </a:solidFill>
          <a:ln w="12700">
            <a:solidFill>
              <a:srgbClr val="F6F2E9"/>
            </a:solidFill>
            <a:prstDash val="solid"/>
          </a:ln>
        </p:spPr>
        <p:txBody>
          <a:bodyPr/>
          <a:lstStyle/>
          <a:p>
            <a:endParaRPr lang="en-US"/>
          </a:p>
        </p:txBody>
      </p:sp>
      <p:sp>
        <p:nvSpPr>
          <p:cNvPr id="14" name="Text 12"/>
          <p:cNvSpPr txBox="1"/>
          <p:nvPr/>
        </p:nvSpPr>
        <p:spPr>
          <a:xfrm>
            <a:off x="8371637" y="3246120"/>
            <a:ext cx="2905658" cy="594360"/>
          </a:xfrm>
          <a:prstGeom prst="rect">
            <a:avLst/>
          </a:prstGeom>
          <a:noFill/>
          <a:ln/>
        </p:spPr>
        <p:txBody>
          <a:bodyPr wrap="square" lIns="0" tIns="0" rIns="0" bIns="0" rtlCol="0" anchor="ctr"/>
          <a:lstStyle/>
          <a:p>
            <a:pPr marL="0" indent="0">
              <a:buNone/>
            </a:pPr>
            <a:r>
              <a:rPr lang="en-US" sz="1650" b="1" dirty="0">
                <a:solidFill>
                  <a:srgbClr val="16182B"/>
                </a:solidFill>
                <a:latin typeface="Cambria" pitchFamily="34" charset="0"/>
                <a:ea typeface="Cambria" pitchFamily="34" charset="-122"/>
                <a:cs typeface="Cambria" pitchFamily="34" charset="-120"/>
              </a:rPr>
              <a:t>The condition is met by a pool</a:t>
            </a:r>
            <a:endParaRPr lang="en-US" sz="1650" dirty="0"/>
          </a:p>
        </p:txBody>
      </p:sp>
      <p:sp>
        <p:nvSpPr>
          <p:cNvPr id="15" name="Text 13"/>
          <p:cNvSpPr txBox="1"/>
          <p:nvPr/>
        </p:nvSpPr>
        <p:spPr>
          <a:xfrm>
            <a:off x="8371637" y="3931920"/>
            <a:ext cx="2905658" cy="109728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What destroys him is not introspection or philosophy. It is an unusually good reflective surface. The mechanism is technological, not spiritual.</a:t>
            </a:r>
            <a:endParaRPr lang="en-US" sz="1250" dirty="0"/>
          </a:p>
        </p:txBody>
      </p:sp>
      <p:sp>
        <p:nvSpPr>
          <p:cNvPr id="16" name="Text 14"/>
          <p:cNvSpPr txBox="1"/>
          <p:nvPr/>
        </p:nvSpPr>
        <p:spPr>
          <a:xfrm>
            <a:off x="640080" y="5394960"/>
            <a:ext cx="10881360" cy="411480"/>
          </a:xfrm>
          <a:prstGeom prst="rect">
            <a:avLst/>
          </a:prstGeom>
          <a:noFill/>
          <a:ln/>
        </p:spPr>
        <p:txBody>
          <a:bodyPr wrap="square" lIns="0" tIns="0" rIns="0" bIns="0" rtlCol="0" anchor="ctr"/>
          <a:lstStyle/>
          <a:p>
            <a:pPr marL="0" indent="0">
              <a:buNone/>
            </a:pPr>
            <a:r>
              <a:rPr lang="en-US" sz="1600" i="1" dirty="0">
                <a:solidFill>
                  <a:srgbClr val="2E7D8C"/>
                </a:solidFill>
                <a:latin typeface="Cambria" pitchFamily="34" charset="0"/>
                <a:ea typeface="Cambria" pitchFamily="34" charset="-122"/>
                <a:cs typeface="Cambria" pitchFamily="34" charset="-120"/>
              </a:rPr>
              <a:t>Question to leave hanging: what kind of system is destroyed by an accurate description of itself?</a:t>
            </a:r>
            <a:endParaRPr lang="en-US" sz="160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III:339–350 (trans. Kline).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III:359–369</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Echo’s sentence is a constraint on generation</a:t>
            </a:r>
            <a:endParaRPr lang="en-US" sz="3100" dirty="0"/>
          </a:p>
        </p:txBody>
      </p:sp>
      <p:sp>
        <p:nvSpPr>
          <p:cNvPr id="5" name="Shape 3"/>
          <p:cNvSpPr/>
          <p:nvPr/>
        </p:nvSpPr>
        <p:spPr>
          <a:xfrm>
            <a:off x="640080" y="1600200"/>
            <a:ext cx="5257800" cy="1965960"/>
          </a:xfrm>
          <a:prstGeom prst="roundRect">
            <a:avLst>
              <a:gd name="adj" fmla="val 3721"/>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960120" y="1783080"/>
            <a:ext cx="457200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Before</a:t>
            </a:r>
            <a:endParaRPr lang="en-US" sz="1800" dirty="0"/>
          </a:p>
        </p:txBody>
      </p:sp>
      <p:sp>
        <p:nvSpPr>
          <p:cNvPr id="7" name="Text 5"/>
          <p:cNvSpPr txBox="1"/>
          <p:nvPr/>
        </p:nvSpPr>
        <p:spPr>
          <a:xfrm>
            <a:off x="960120" y="2148840"/>
            <a:ext cx="4617720" cy="123444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She had a body and a voice, and she was talkative. She used conversation tactically — keeping Juno occupied in long exchanges so that the nymphs Jupiter was with could get away.</a:t>
            </a:r>
            <a:endParaRPr lang="en-US" sz="1300" dirty="0"/>
          </a:p>
        </p:txBody>
      </p:sp>
      <p:sp>
        <p:nvSpPr>
          <p:cNvPr id="8" name="Shape 6"/>
          <p:cNvSpPr/>
          <p:nvPr/>
        </p:nvSpPr>
        <p:spPr>
          <a:xfrm>
            <a:off x="6263640" y="1600200"/>
            <a:ext cx="5257800" cy="1965960"/>
          </a:xfrm>
          <a:prstGeom prst="roundRect">
            <a:avLst>
              <a:gd name="adj" fmla="val 3721"/>
            </a:avLst>
          </a:prstGeom>
          <a:solidFill>
            <a:srgbClr val="E7F0F2"/>
          </a:solidFill>
          <a:ln w="12700">
            <a:solidFill>
              <a:srgbClr val="E7F0F2"/>
            </a:solidFill>
            <a:prstDash val="solid"/>
          </a:ln>
        </p:spPr>
        <p:txBody>
          <a:bodyPr/>
          <a:lstStyle/>
          <a:p>
            <a:endParaRPr lang="en-US"/>
          </a:p>
        </p:txBody>
      </p:sp>
      <p:sp>
        <p:nvSpPr>
          <p:cNvPr id="9" name="Text 7"/>
          <p:cNvSpPr txBox="1"/>
          <p:nvPr/>
        </p:nvSpPr>
        <p:spPr>
          <a:xfrm>
            <a:off x="6583680" y="1783080"/>
            <a:ext cx="4572000" cy="32004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After</a:t>
            </a:r>
            <a:endParaRPr lang="en-US" sz="1800" dirty="0"/>
          </a:p>
        </p:txBody>
      </p:sp>
      <p:sp>
        <p:nvSpPr>
          <p:cNvPr id="10" name="Text 8"/>
          <p:cNvSpPr txBox="1"/>
          <p:nvPr/>
        </p:nvSpPr>
        <p:spPr>
          <a:xfrm>
            <a:off x="6583680" y="2148840"/>
            <a:ext cx="4617720" cy="123444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Juno reduces her power over the tongue that fooled her. Echo keeps only the tail of what she hears: she cannot begin, she cannot decline to answer, and she cannot say anything that was not first said to her.</a:t>
            </a:r>
            <a:endParaRPr lang="en-US" sz="1300" dirty="0"/>
          </a:p>
        </p:txBody>
      </p:sp>
      <p:sp>
        <p:nvSpPr>
          <p:cNvPr id="11" name="Shape 9"/>
          <p:cNvSpPr/>
          <p:nvPr/>
        </p:nvSpPr>
        <p:spPr>
          <a:xfrm>
            <a:off x="640080" y="3749040"/>
            <a:ext cx="10911535" cy="1737360"/>
          </a:xfrm>
          <a:prstGeom prst="roundRect">
            <a:avLst>
              <a:gd name="adj" fmla="val 4211"/>
            </a:avLst>
          </a:prstGeom>
          <a:solidFill>
            <a:srgbClr val="16182B"/>
          </a:solidFill>
          <a:ln w="12700">
            <a:solidFill>
              <a:srgbClr val="16182B"/>
            </a:solidFill>
            <a:prstDash val="solid"/>
          </a:ln>
        </p:spPr>
        <p:txBody>
          <a:bodyPr/>
          <a:lstStyle/>
          <a:p>
            <a:endParaRPr lang="en-US"/>
          </a:p>
        </p:txBody>
      </p:sp>
      <p:sp>
        <p:nvSpPr>
          <p:cNvPr id="12" name="Text 10"/>
          <p:cNvSpPr txBox="1"/>
          <p:nvPr/>
        </p:nvSpPr>
        <p:spPr>
          <a:xfrm>
            <a:off x="1005840" y="3931920"/>
            <a:ext cx="10424160" cy="320040"/>
          </a:xfrm>
          <a:prstGeom prst="rect">
            <a:avLst/>
          </a:prstGeom>
          <a:noFill/>
          <a:ln/>
        </p:spPr>
        <p:txBody>
          <a:bodyPr wrap="square" lIns="0" tIns="0" rIns="0" bIns="0" rtlCol="0" anchor="ctr"/>
          <a:lstStyle/>
          <a:p>
            <a:pPr marL="0" indent="0">
              <a:buNone/>
            </a:pPr>
            <a:r>
              <a:rPr lang="en-US" sz="1150" b="1" kern="0" spc="140" dirty="0">
                <a:solidFill>
                  <a:srgbClr val="C9A227"/>
                </a:solidFill>
                <a:latin typeface="Calibri" pitchFamily="34" charset="0"/>
                <a:ea typeface="Calibri" pitchFamily="34" charset="-122"/>
                <a:cs typeface="Calibri" pitchFamily="34" charset="-120"/>
              </a:rPr>
              <a:t>Read the punishment precisely</a:t>
            </a:r>
            <a:endParaRPr lang="en-US" sz="1150" dirty="0"/>
          </a:p>
        </p:txBody>
      </p:sp>
      <p:sp>
        <p:nvSpPr>
          <p:cNvPr id="13" name="Text 11"/>
          <p:cNvSpPr txBox="1"/>
          <p:nvPr/>
        </p:nvSpPr>
        <p:spPr>
          <a:xfrm>
            <a:off x="1005840" y="4297680"/>
            <a:ext cx="10424160" cy="1051560"/>
          </a:xfrm>
          <a:prstGeom prst="rect">
            <a:avLst/>
          </a:prstGeom>
          <a:noFill/>
          <a:ln/>
        </p:spPr>
        <p:txBody>
          <a:bodyPr wrap="square" lIns="0" tIns="0" rIns="0" bIns="0" rtlCol="0" anchor="ctr"/>
          <a:lstStyle/>
          <a:p>
            <a:pPr marL="0" indent="0">
              <a:lnSpc>
                <a:spcPts val="2100"/>
              </a:lnSpc>
              <a:buNone/>
            </a:pPr>
            <a:r>
              <a:rPr lang="en-US" sz="1550" dirty="0">
                <a:solidFill>
                  <a:srgbClr val="EDE6D6"/>
                </a:solidFill>
                <a:latin typeface="Cambria" pitchFamily="34" charset="0"/>
                <a:ea typeface="Cambria" pitchFamily="34" charset="-122"/>
                <a:cs typeface="Cambria" pitchFamily="34" charset="-120"/>
              </a:rPr>
              <a:t>The crime is a use of language and the sentence is a restriction on language production. She is not silenced — that would be simpler and less cruel. She is left able to produce fluent, well-formed, contextually apt output, and denied the ability to originate any of it. Hold that description in mind; we will test it against a familiar accusation in a moment.</a:t>
            </a:r>
            <a:endParaRPr lang="en-US" sz="1550" dirty="0"/>
          </a:p>
        </p:txBody>
      </p:sp>
      <p:sp>
        <p:nvSpPr>
          <p:cNvPr id="14" name="Text 1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III:359–369 (trans. Kline).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III:379–392</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The exchange — meaning made from a constraint</a:t>
            </a:r>
            <a:endParaRPr lang="en-US" sz="3100" dirty="0"/>
          </a:p>
        </p:txBody>
      </p:sp>
      <p:sp>
        <p:nvSpPr>
          <p:cNvPr id="5" name="Text 3"/>
          <p:cNvSpPr txBox="1"/>
          <p:nvPr/>
        </p:nvSpPr>
        <p:spPr>
          <a:xfrm>
            <a:off x="914400" y="1572768"/>
            <a:ext cx="4572000" cy="274320"/>
          </a:xfrm>
          <a:prstGeom prst="rect">
            <a:avLst/>
          </a:prstGeom>
          <a:noFill/>
          <a:ln/>
        </p:spPr>
        <p:txBody>
          <a:bodyPr wrap="square" lIns="0" tIns="0" rIns="0" bIns="0" rtlCol="0" anchor="ctr"/>
          <a:lstStyle/>
          <a:p>
            <a:pPr marL="0" indent="0">
              <a:buNone/>
            </a:pPr>
            <a:r>
              <a:rPr lang="en-US" sz="1100" b="1" kern="0" spc="140" dirty="0">
                <a:solidFill>
                  <a:srgbClr val="5F6478"/>
                </a:solidFill>
                <a:latin typeface="Calibri" pitchFamily="34" charset="0"/>
                <a:ea typeface="Calibri" pitchFamily="34" charset="-122"/>
                <a:cs typeface="Calibri" pitchFamily="34" charset="-120"/>
              </a:rPr>
              <a:t>NARCISSUS CALLS</a:t>
            </a:r>
            <a:endParaRPr lang="en-US" sz="1100" dirty="0"/>
          </a:p>
        </p:txBody>
      </p:sp>
      <p:sp>
        <p:nvSpPr>
          <p:cNvPr id="6" name="Text 4"/>
          <p:cNvSpPr txBox="1"/>
          <p:nvPr/>
        </p:nvSpPr>
        <p:spPr>
          <a:xfrm>
            <a:off x="7086600" y="1572768"/>
            <a:ext cx="4572000" cy="274320"/>
          </a:xfrm>
          <a:prstGeom prst="rect">
            <a:avLst/>
          </a:prstGeom>
          <a:noFill/>
          <a:ln/>
        </p:spPr>
        <p:txBody>
          <a:bodyPr wrap="square" lIns="0" tIns="0" rIns="0" bIns="0" rtlCol="0" anchor="ctr"/>
          <a:lstStyle/>
          <a:p>
            <a:pPr marL="0" indent="0">
              <a:buNone/>
            </a:pPr>
            <a:r>
              <a:rPr lang="en-US" sz="1100" b="1" kern="0" spc="140" dirty="0">
                <a:solidFill>
                  <a:srgbClr val="2E7D8C"/>
                </a:solidFill>
                <a:latin typeface="Calibri" pitchFamily="34" charset="0"/>
                <a:ea typeface="Calibri" pitchFamily="34" charset="-122"/>
                <a:cs typeface="Calibri" pitchFamily="34" charset="-120"/>
              </a:rPr>
              <a:t>ECHO RETURNS</a:t>
            </a:r>
            <a:endParaRPr lang="en-US" sz="1100" dirty="0"/>
          </a:p>
        </p:txBody>
      </p:sp>
      <p:sp>
        <p:nvSpPr>
          <p:cNvPr id="7" name="Shape 5"/>
          <p:cNvSpPr/>
          <p:nvPr/>
        </p:nvSpPr>
        <p:spPr>
          <a:xfrm>
            <a:off x="640080" y="1901952"/>
            <a:ext cx="5852160" cy="713232"/>
          </a:xfrm>
          <a:prstGeom prst="roundRect">
            <a:avLst>
              <a:gd name="adj" fmla="val 10256"/>
            </a:avLst>
          </a:prstGeom>
          <a:solidFill>
            <a:srgbClr val="F6F2E9"/>
          </a:solidFill>
          <a:ln w="12700">
            <a:solidFill>
              <a:srgbClr val="F6F2E9"/>
            </a:solidFill>
            <a:prstDash val="solid"/>
          </a:ln>
        </p:spPr>
        <p:txBody>
          <a:bodyPr/>
          <a:lstStyle/>
          <a:p>
            <a:endParaRPr lang="en-US"/>
          </a:p>
        </p:txBody>
      </p:sp>
      <p:sp>
        <p:nvSpPr>
          <p:cNvPr id="8" name="Shape 6"/>
          <p:cNvSpPr/>
          <p:nvPr/>
        </p:nvSpPr>
        <p:spPr>
          <a:xfrm>
            <a:off x="6812280" y="1901952"/>
            <a:ext cx="4709160" cy="713232"/>
          </a:xfrm>
          <a:prstGeom prst="roundRect">
            <a:avLst>
              <a:gd name="adj" fmla="val 10256"/>
            </a:avLst>
          </a:prstGeom>
          <a:solidFill>
            <a:srgbClr val="E7F0F2"/>
          </a:solidFill>
          <a:ln w="12700">
            <a:solidFill>
              <a:srgbClr val="E7F0F2"/>
            </a:solidFill>
            <a:prstDash val="solid"/>
          </a:ln>
        </p:spPr>
        <p:txBody>
          <a:bodyPr/>
          <a:lstStyle/>
          <a:p>
            <a:endParaRPr lang="en-US"/>
          </a:p>
        </p:txBody>
      </p:sp>
      <p:sp>
        <p:nvSpPr>
          <p:cNvPr id="9" name="Shape 7"/>
          <p:cNvSpPr/>
          <p:nvPr/>
        </p:nvSpPr>
        <p:spPr>
          <a:xfrm>
            <a:off x="6528816" y="2167128"/>
            <a:ext cx="237744" cy="182880"/>
          </a:xfrm>
          <a:prstGeom prst="rightArrow">
            <a:avLst/>
          </a:prstGeom>
          <a:solidFill>
            <a:srgbClr val="5F6478"/>
          </a:solidFill>
          <a:ln/>
        </p:spPr>
        <p:txBody>
          <a:bodyPr/>
          <a:lstStyle/>
          <a:p>
            <a:endParaRPr lang="en-US"/>
          </a:p>
        </p:txBody>
      </p:sp>
      <p:sp>
        <p:nvSpPr>
          <p:cNvPr id="10" name="Text 8"/>
          <p:cNvSpPr txBox="1"/>
          <p:nvPr/>
        </p:nvSpPr>
        <p:spPr>
          <a:xfrm>
            <a:off x="914400" y="1901952"/>
            <a:ext cx="5349240" cy="713232"/>
          </a:xfrm>
          <a:prstGeom prst="rect">
            <a:avLst/>
          </a:prstGeom>
          <a:noFill/>
          <a:ln/>
        </p:spPr>
        <p:txBody>
          <a:bodyPr wrap="square" lIns="0" tIns="0" rIns="0" bIns="0" rtlCol="0" anchor="ctr"/>
          <a:lstStyle/>
          <a:p>
            <a:pPr marL="0" indent="0">
              <a:lnSpc>
                <a:spcPts val="1600"/>
              </a:lnSpc>
              <a:buNone/>
            </a:pPr>
            <a:r>
              <a:rPr lang="en-US" sz="1250" dirty="0">
                <a:solidFill>
                  <a:srgbClr val="16182B"/>
                </a:solidFill>
                <a:latin typeface="Calibri" pitchFamily="34" charset="0"/>
                <a:ea typeface="Calibri" pitchFamily="34" charset="-122"/>
                <a:cs typeface="Calibri" pitchFamily="34" charset="-120"/>
              </a:rPr>
              <a:t>He asks whether anyone is there.</a:t>
            </a:r>
            <a:endParaRPr lang="en-US" sz="1250" dirty="0"/>
          </a:p>
        </p:txBody>
      </p:sp>
      <p:sp>
        <p:nvSpPr>
          <p:cNvPr id="11" name="Text 9"/>
          <p:cNvSpPr txBox="1"/>
          <p:nvPr/>
        </p:nvSpPr>
        <p:spPr>
          <a:xfrm>
            <a:off x="7086600" y="1901952"/>
            <a:ext cx="4206240" cy="713232"/>
          </a:xfrm>
          <a:prstGeom prst="rect">
            <a:avLst/>
          </a:prstGeom>
          <a:noFill/>
          <a:ln/>
        </p:spPr>
        <p:txBody>
          <a:bodyPr wrap="square" lIns="0" tIns="0" rIns="0" bIns="0" rtlCol="0" anchor="ctr"/>
          <a:lstStyle/>
          <a:p>
            <a:pPr marL="0" indent="0">
              <a:lnSpc>
                <a:spcPts val="1600"/>
              </a:lnSpc>
              <a:buNone/>
            </a:pPr>
            <a:r>
              <a:rPr lang="en-US" sz="1250" dirty="0">
                <a:solidFill>
                  <a:srgbClr val="16182B"/>
                </a:solidFill>
                <a:latin typeface="Calibri" pitchFamily="34" charset="0"/>
                <a:ea typeface="Calibri" pitchFamily="34" charset="-122"/>
                <a:cs typeface="Calibri" pitchFamily="34" charset="-120"/>
              </a:rPr>
              <a:t>She returns the ending, and there is someone there.</a:t>
            </a:r>
            <a:endParaRPr lang="en-US" sz="1250" dirty="0"/>
          </a:p>
        </p:txBody>
      </p:sp>
      <p:sp>
        <p:nvSpPr>
          <p:cNvPr id="12" name="Shape 10"/>
          <p:cNvSpPr/>
          <p:nvPr/>
        </p:nvSpPr>
        <p:spPr>
          <a:xfrm>
            <a:off x="640080" y="2706624"/>
            <a:ext cx="5852160" cy="713232"/>
          </a:xfrm>
          <a:prstGeom prst="roundRect">
            <a:avLst>
              <a:gd name="adj" fmla="val 10256"/>
            </a:avLst>
          </a:prstGeom>
          <a:solidFill>
            <a:srgbClr val="F6F2E9"/>
          </a:solidFill>
          <a:ln w="12700">
            <a:solidFill>
              <a:srgbClr val="F6F2E9"/>
            </a:solidFill>
            <a:prstDash val="solid"/>
          </a:ln>
        </p:spPr>
        <p:txBody>
          <a:bodyPr/>
          <a:lstStyle/>
          <a:p>
            <a:endParaRPr lang="en-US"/>
          </a:p>
        </p:txBody>
      </p:sp>
      <p:sp>
        <p:nvSpPr>
          <p:cNvPr id="13" name="Shape 11"/>
          <p:cNvSpPr/>
          <p:nvPr/>
        </p:nvSpPr>
        <p:spPr>
          <a:xfrm>
            <a:off x="6812280" y="2706624"/>
            <a:ext cx="4709160" cy="713232"/>
          </a:xfrm>
          <a:prstGeom prst="roundRect">
            <a:avLst>
              <a:gd name="adj" fmla="val 10256"/>
            </a:avLst>
          </a:prstGeom>
          <a:solidFill>
            <a:srgbClr val="E7F0F2"/>
          </a:solidFill>
          <a:ln w="12700">
            <a:solidFill>
              <a:srgbClr val="E7F0F2"/>
            </a:solidFill>
            <a:prstDash val="solid"/>
          </a:ln>
        </p:spPr>
        <p:txBody>
          <a:bodyPr/>
          <a:lstStyle/>
          <a:p>
            <a:endParaRPr lang="en-US"/>
          </a:p>
        </p:txBody>
      </p:sp>
      <p:sp>
        <p:nvSpPr>
          <p:cNvPr id="14" name="Shape 12"/>
          <p:cNvSpPr/>
          <p:nvPr/>
        </p:nvSpPr>
        <p:spPr>
          <a:xfrm>
            <a:off x="6528816" y="2971800"/>
            <a:ext cx="237744" cy="182880"/>
          </a:xfrm>
          <a:prstGeom prst="rightArrow">
            <a:avLst/>
          </a:prstGeom>
          <a:solidFill>
            <a:srgbClr val="5F6478"/>
          </a:solidFill>
          <a:ln/>
        </p:spPr>
        <p:txBody>
          <a:bodyPr/>
          <a:lstStyle/>
          <a:p>
            <a:endParaRPr lang="en-US"/>
          </a:p>
        </p:txBody>
      </p:sp>
      <p:sp>
        <p:nvSpPr>
          <p:cNvPr id="15" name="Text 13"/>
          <p:cNvSpPr txBox="1"/>
          <p:nvPr/>
        </p:nvSpPr>
        <p:spPr>
          <a:xfrm>
            <a:off x="914400" y="2706624"/>
            <a:ext cx="5349240" cy="713232"/>
          </a:xfrm>
          <a:prstGeom prst="rect">
            <a:avLst/>
          </a:prstGeom>
          <a:noFill/>
          <a:ln/>
        </p:spPr>
        <p:txBody>
          <a:bodyPr wrap="square" lIns="0" tIns="0" rIns="0" bIns="0" rtlCol="0" anchor="ctr"/>
          <a:lstStyle/>
          <a:p>
            <a:pPr marL="0" indent="0">
              <a:lnSpc>
                <a:spcPts val="1600"/>
              </a:lnSpc>
              <a:buNone/>
            </a:pPr>
            <a:r>
              <a:rPr lang="en-US" sz="1250" dirty="0">
                <a:solidFill>
                  <a:srgbClr val="16182B"/>
                </a:solidFill>
                <a:latin typeface="Calibri" pitchFamily="34" charset="0"/>
                <a:ea typeface="Calibri" pitchFamily="34" charset="-122"/>
                <a:cs typeface="Calibri" pitchFamily="34" charset="-120"/>
              </a:rPr>
              <a:t>He calls for whoever it is to come to him.</a:t>
            </a:r>
            <a:endParaRPr lang="en-US" sz="1250" dirty="0"/>
          </a:p>
        </p:txBody>
      </p:sp>
      <p:sp>
        <p:nvSpPr>
          <p:cNvPr id="16" name="Text 14"/>
          <p:cNvSpPr txBox="1"/>
          <p:nvPr/>
        </p:nvSpPr>
        <p:spPr>
          <a:xfrm>
            <a:off x="7086600" y="2706624"/>
            <a:ext cx="4206240" cy="713232"/>
          </a:xfrm>
          <a:prstGeom prst="rect">
            <a:avLst/>
          </a:prstGeom>
          <a:noFill/>
          <a:ln/>
        </p:spPr>
        <p:txBody>
          <a:bodyPr wrap="square" lIns="0" tIns="0" rIns="0" bIns="0" rtlCol="0" anchor="ctr"/>
          <a:lstStyle/>
          <a:p>
            <a:pPr marL="0" indent="0">
              <a:lnSpc>
                <a:spcPts val="1600"/>
              </a:lnSpc>
              <a:buNone/>
            </a:pPr>
            <a:r>
              <a:rPr lang="en-US" sz="1250" dirty="0">
                <a:solidFill>
                  <a:srgbClr val="16182B"/>
                </a:solidFill>
                <a:latin typeface="Calibri" pitchFamily="34" charset="0"/>
                <a:ea typeface="Calibri" pitchFamily="34" charset="-122"/>
                <a:cs typeface="Calibri" pitchFamily="34" charset="-120"/>
              </a:rPr>
              <a:t>She returns the call — which is also an invitation.</a:t>
            </a:r>
            <a:endParaRPr lang="en-US" sz="1250" dirty="0"/>
          </a:p>
        </p:txBody>
      </p:sp>
      <p:sp>
        <p:nvSpPr>
          <p:cNvPr id="17" name="Shape 15"/>
          <p:cNvSpPr/>
          <p:nvPr/>
        </p:nvSpPr>
        <p:spPr>
          <a:xfrm>
            <a:off x="640080" y="3511296"/>
            <a:ext cx="5852160" cy="713232"/>
          </a:xfrm>
          <a:prstGeom prst="roundRect">
            <a:avLst>
              <a:gd name="adj" fmla="val 10256"/>
            </a:avLst>
          </a:prstGeom>
          <a:solidFill>
            <a:srgbClr val="F6F2E9"/>
          </a:solidFill>
          <a:ln w="12700">
            <a:solidFill>
              <a:srgbClr val="F6F2E9"/>
            </a:solidFill>
            <a:prstDash val="solid"/>
          </a:ln>
        </p:spPr>
        <p:txBody>
          <a:bodyPr/>
          <a:lstStyle/>
          <a:p>
            <a:endParaRPr lang="en-US"/>
          </a:p>
        </p:txBody>
      </p:sp>
      <p:sp>
        <p:nvSpPr>
          <p:cNvPr id="18" name="Shape 16"/>
          <p:cNvSpPr/>
          <p:nvPr/>
        </p:nvSpPr>
        <p:spPr>
          <a:xfrm>
            <a:off x="6812280" y="3511296"/>
            <a:ext cx="4709160" cy="713232"/>
          </a:xfrm>
          <a:prstGeom prst="roundRect">
            <a:avLst>
              <a:gd name="adj" fmla="val 10256"/>
            </a:avLst>
          </a:prstGeom>
          <a:solidFill>
            <a:srgbClr val="E7F0F2"/>
          </a:solidFill>
          <a:ln w="12700">
            <a:solidFill>
              <a:srgbClr val="E7F0F2"/>
            </a:solidFill>
            <a:prstDash val="solid"/>
          </a:ln>
        </p:spPr>
        <p:txBody>
          <a:bodyPr/>
          <a:lstStyle/>
          <a:p>
            <a:endParaRPr lang="en-US"/>
          </a:p>
        </p:txBody>
      </p:sp>
      <p:sp>
        <p:nvSpPr>
          <p:cNvPr id="19" name="Shape 17"/>
          <p:cNvSpPr/>
          <p:nvPr/>
        </p:nvSpPr>
        <p:spPr>
          <a:xfrm>
            <a:off x="6528816" y="3776472"/>
            <a:ext cx="237744" cy="182880"/>
          </a:xfrm>
          <a:prstGeom prst="rightArrow">
            <a:avLst/>
          </a:prstGeom>
          <a:solidFill>
            <a:srgbClr val="5F6478"/>
          </a:solidFill>
          <a:ln/>
        </p:spPr>
        <p:txBody>
          <a:bodyPr/>
          <a:lstStyle/>
          <a:p>
            <a:endParaRPr lang="en-US"/>
          </a:p>
        </p:txBody>
      </p:sp>
      <p:sp>
        <p:nvSpPr>
          <p:cNvPr id="20" name="Text 18"/>
          <p:cNvSpPr txBox="1"/>
          <p:nvPr/>
        </p:nvSpPr>
        <p:spPr>
          <a:xfrm>
            <a:off x="914400" y="3511296"/>
            <a:ext cx="5349240" cy="713232"/>
          </a:xfrm>
          <a:prstGeom prst="rect">
            <a:avLst/>
          </a:prstGeom>
          <a:noFill/>
          <a:ln/>
        </p:spPr>
        <p:txBody>
          <a:bodyPr wrap="square" lIns="0" tIns="0" rIns="0" bIns="0" rtlCol="0" anchor="ctr"/>
          <a:lstStyle/>
          <a:p>
            <a:pPr marL="0" indent="0">
              <a:lnSpc>
                <a:spcPts val="1600"/>
              </a:lnSpc>
              <a:buNone/>
            </a:pPr>
            <a:r>
              <a:rPr lang="en-US" sz="1250" dirty="0">
                <a:solidFill>
                  <a:srgbClr val="16182B"/>
                </a:solidFill>
                <a:latin typeface="Calibri" pitchFamily="34" charset="0"/>
                <a:ea typeface="Calibri" pitchFamily="34" charset="-122"/>
                <a:cs typeface="Calibri" pitchFamily="34" charset="-120"/>
              </a:rPr>
              <a:t>He asks why the voice runs from him.</a:t>
            </a:r>
            <a:endParaRPr lang="en-US" sz="1250" dirty="0"/>
          </a:p>
        </p:txBody>
      </p:sp>
      <p:sp>
        <p:nvSpPr>
          <p:cNvPr id="21" name="Text 19"/>
          <p:cNvSpPr txBox="1"/>
          <p:nvPr/>
        </p:nvSpPr>
        <p:spPr>
          <a:xfrm>
            <a:off x="7086600" y="3511296"/>
            <a:ext cx="4206240" cy="713232"/>
          </a:xfrm>
          <a:prstGeom prst="rect">
            <a:avLst/>
          </a:prstGeom>
          <a:noFill/>
          <a:ln/>
        </p:spPr>
        <p:txBody>
          <a:bodyPr wrap="square" lIns="0" tIns="0" rIns="0" bIns="0" rtlCol="0" anchor="ctr"/>
          <a:lstStyle/>
          <a:p>
            <a:pPr marL="0" indent="0">
              <a:lnSpc>
                <a:spcPts val="1600"/>
              </a:lnSpc>
              <a:buNone/>
            </a:pPr>
            <a:r>
              <a:rPr lang="en-US" sz="1250" dirty="0">
                <a:solidFill>
                  <a:srgbClr val="16182B"/>
                </a:solidFill>
                <a:latin typeface="Calibri" pitchFamily="34" charset="0"/>
                <a:ea typeface="Calibri" pitchFamily="34" charset="-122"/>
                <a:cs typeface="Calibri" pitchFamily="34" charset="-120"/>
              </a:rPr>
              <a:t>She returns his own accusation back to him.</a:t>
            </a:r>
            <a:endParaRPr lang="en-US" sz="1250" dirty="0"/>
          </a:p>
        </p:txBody>
      </p:sp>
      <p:sp>
        <p:nvSpPr>
          <p:cNvPr id="22" name="Shape 20"/>
          <p:cNvSpPr/>
          <p:nvPr/>
        </p:nvSpPr>
        <p:spPr>
          <a:xfrm>
            <a:off x="640080" y="4315968"/>
            <a:ext cx="5852160" cy="713232"/>
          </a:xfrm>
          <a:prstGeom prst="roundRect">
            <a:avLst>
              <a:gd name="adj" fmla="val 10256"/>
            </a:avLst>
          </a:prstGeom>
          <a:solidFill>
            <a:srgbClr val="F6F2E9"/>
          </a:solidFill>
          <a:ln w="12700">
            <a:solidFill>
              <a:srgbClr val="F6F2E9"/>
            </a:solidFill>
            <a:prstDash val="solid"/>
          </a:ln>
        </p:spPr>
        <p:txBody>
          <a:bodyPr/>
          <a:lstStyle/>
          <a:p>
            <a:endParaRPr lang="en-US"/>
          </a:p>
        </p:txBody>
      </p:sp>
      <p:sp>
        <p:nvSpPr>
          <p:cNvPr id="23" name="Shape 21"/>
          <p:cNvSpPr/>
          <p:nvPr/>
        </p:nvSpPr>
        <p:spPr>
          <a:xfrm>
            <a:off x="6812280" y="4315968"/>
            <a:ext cx="4709160" cy="713232"/>
          </a:xfrm>
          <a:prstGeom prst="roundRect">
            <a:avLst>
              <a:gd name="adj" fmla="val 10256"/>
            </a:avLst>
          </a:prstGeom>
          <a:solidFill>
            <a:srgbClr val="E7F0F2"/>
          </a:solidFill>
          <a:ln w="12700">
            <a:solidFill>
              <a:srgbClr val="E7F0F2"/>
            </a:solidFill>
            <a:prstDash val="solid"/>
          </a:ln>
        </p:spPr>
        <p:txBody>
          <a:bodyPr/>
          <a:lstStyle/>
          <a:p>
            <a:endParaRPr lang="en-US"/>
          </a:p>
        </p:txBody>
      </p:sp>
      <p:sp>
        <p:nvSpPr>
          <p:cNvPr id="24" name="Shape 22"/>
          <p:cNvSpPr/>
          <p:nvPr/>
        </p:nvSpPr>
        <p:spPr>
          <a:xfrm>
            <a:off x="6528816" y="4581144"/>
            <a:ext cx="237744" cy="182880"/>
          </a:xfrm>
          <a:prstGeom prst="rightArrow">
            <a:avLst/>
          </a:prstGeom>
          <a:solidFill>
            <a:srgbClr val="5F6478"/>
          </a:solidFill>
          <a:ln/>
        </p:spPr>
        <p:txBody>
          <a:bodyPr/>
          <a:lstStyle/>
          <a:p>
            <a:endParaRPr lang="en-US"/>
          </a:p>
        </p:txBody>
      </p:sp>
      <p:sp>
        <p:nvSpPr>
          <p:cNvPr id="25" name="Text 23"/>
          <p:cNvSpPr txBox="1"/>
          <p:nvPr/>
        </p:nvSpPr>
        <p:spPr>
          <a:xfrm>
            <a:off x="914400" y="4315968"/>
            <a:ext cx="5349240" cy="713232"/>
          </a:xfrm>
          <a:prstGeom prst="rect">
            <a:avLst/>
          </a:prstGeom>
          <a:noFill/>
          <a:ln/>
        </p:spPr>
        <p:txBody>
          <a:bodyPr wrap="square" lIns="0" tIns="0" rIns="0" bIns="0" rtlCol="0" anchor="ctr"/>
          <a:lstStyle/>
          <a:p>
            <a:pPr marL="0" indent="0">
              <a:lnSpc>
                <a:spcPts val="1600"/>
              </a:lnSpc>
              <a:buNone/>
            </a:pPr>
            <a:r>
              <a:rPr lang="en-US" sz="1250" dirty="0">
                <a:solidFill>
                  <a:srgbClr val="16182B"/>
                </a:solidFill>
                <a:latin typeface="Calibri" pitchFamily="34" charset="0"/>
                <a:ea typeface="Calibri" pitchFamily="34" charset="-122"/>
                <a:cs typeface="Calibri" pitchFamily="34" charset="-120"/>
              </a:rPr>
              <a:t>He proposes that they meet here, together.</a:t>
            </a:r>
            <a:endParaRPr lang="en-US" sz="1250" dirty="0"/>
          </a:p>
        </p:txBody>
      </p:sp>
      <p:sp>
        <p:nvSpPr>
          <p:cNvPr id="26" name="Text 24"/>
          <p:cNvSpPr txBox="1"/>
          <p:nvPr/>
        </p:nvSpPr>
        <p:spPr>
          <a:xfrm>
            <a:off x="7086600" y="4315968"/>
            <a:ext cx="4206240" cy="713232"/>
          </a:xfrm>
          <a:prstGeom prst="rect">
            <a:avLst/>
          </a:prstGeom>
          <a:noFill/>
          <a:ln/>
        </p:spPr>
        <p:txBody>
          <a:bodyPr wrap="square" lIns="0" tIns="0" rIns="0" bIns="0" rtlCol="0" anchor="ctr"/>
          <a:lstStyle/>
          <a:p>
            <a:pPr marL="0" indent="0">
              <a:lnSpc>
                <a:spcPts val="1600"/>
              </a:lnSpc>
              <a:buNone/>
            </a:pPr>
            <a:r>
              <a:rPr lang="en-US" sz="1250" dirty="0">
                <a:solidFill>
                  <a:srgbClr val="16182B"/>
                </a:solidFill>
                <a:latin typeface="Calibri" pitchFamily="34" charset="0"/>
                <a:ea typeface="Calibri" pitchFamily="34" charset="-122"/>
                <a:cs typeface="Calibri" pitchFamily="34" charset="-120"/>
              </a:rPr>
              <a:t>She returns the last word, and Ovid says she was never gladder to answer anything.</a:t>
            </a:r>
            <a:endParaRPr lang="en-US" sz="1250" dirty="0"/>
          </a:p>
        </p:txBody>
      </p:sp>
      <p:sp>
        <p:nvSpPr>
          <p:cNvPr id="27" name="Shape 25"/>
          <p:cNvSpPr/>
          <p:nvPr/>
        </p:nvSpPr>
        <p:spPr>
          <a:xfrm>
            <a:off x="640080" y="5120640"/>
            <a:ext cx="5852160" cy="713232"/>
          </a:xfrm>
          <a:prstGeom prst="roundRect">
            <a:avLst>
              <a:gd name="adj" fmla="val 10256"/>
            </a:avLst>
          </a:prstGeom>
          <a:solidFill>
            <a:srgbClr val="16182B"/>
          </a:solidFill>
          <a:ln w="12700">
            <a:solidFill>
              <a:srgbClr val="16182B"/>
            </a:solidFill>
            <a:prstDash val="solid"/>
          </a:ln>
        </p:spPr>
        <p:txBody>
          <a:bodyPr/>
          <a:lstStyle/>
          <a:p>
            <a:endParaRPr lang="en-US"/>
          </a:p>
        </p:txBody>
      </p:sp>
      <p:sp>
        <p:nvSpPr>
          <p:cNvPr id="28" name="Shape 26"/>
          <p:cNvSpPr/>
          <p:nvPr/>
        </p:nvSpPr>
        <p:spPr>
          <a:xfrm>
            <a:off x="6812280" y="5120640"/>
            <a:ext cx="4709160" cy="713232"/>
          </a:xfrm>
          <a:prstGeom prst="roundRect">
            <a:avLst>
              <a:gd name="adj" fmla="val 10256"/>
            </a:avLst>
          </a:prstGeom>
          <a:solidFill>
            <a:srgbClr val="16182B"/>
          </a:solidFill>
          <a:ln w="12700">
            <a:solidFill>
              <a:srgbClr val="16182B"/>
            </a:solidFill>
            <a:prstDash val="solid"/>
          </a:ln>
        </p:spPr>
        <p:txBody>
          <a:bodyPr/>
          <a:lstStyle/>
          <a:p>
            <a:endParaRPr lang="en-US"/>
          </a:p>
        </p:txBody>
      </p:sp>
      <p:sp>
        <p:nvSpPr>
          <p:cNvPr id="29" name="Shape 27"/>
          <p:cNvSpPr/>
          <p:nvPr/>
        </p:nvSpPr>
        <p:spPr>
          <a:xfrm>
            <a:off x="6528816" y="5385816"/>
            <a:ext cx="237744" cy="182880"/>
          </a:xfrm>
          <a:prstGeom prst="rightArrow">
            <a:avLst/>
          </a:prstGeom>
          <a:solidFill>
            <a:srgbClr val="C9A227"/>
          </a:solidFill>
          <a:ln/>
        </p:spPr>
        <p:txBody>
          <a:bodyPr/>
          <a:lstStyle/>
          <a:p>
            <a:endParaRPr lang="en-US"/>
          </a:p>
        </p:txBody>
      </p:sp>
      <p:sp>
        <p:nvSpPr>
          <p:cNvPr id="30" name="Text 28"/>
          <p:cNvSpPr txBox="1"/>
          <p:nvPr/>
        </p:nvSpPr>
        <p:spPr>
          <a:xfrm>
            <a:off x="914400" y="5120640"/>
            <a:ext cx="5349240" cy="713232"/>
          </a:xfrm>
          <a:prstGeom prst="rect">
            <a:avLst/>
          </a:prstGeom>
          <a:noFill/>
          <a:ln/>
        </p:spPr>
        <p:txBody>
          <a:bodyPr wrap="square" lIns="0" tIns="0" rIns="0" bIns="0" rtlCol="0" anchor="ctr"/>
          <a:lstStyle/>
          <a:p>
            <a:pPr marL="0" indent="0">
              <a:lnSpc>
                <a:spcPts val="1600"/>
              </a:lnSpc>
              <a:buNone/>
            </a:pPr>
            <a:r>
              <a:rPr lang="en-US" sz="1250" dirty="0">
                <a:solidFill>
                  <a:srgbClr val="EDE6D6"/>
                </a:solidFill>
                <a:latin typeface="Calibri" pitchFamily="34" charset="0"/>
                <a:ea typeface="Calibri" pitchFamily="34" charset="-122"/>
                <a:cs typeface="Calibri" pitchFamily="34" charset="-120"/>
              </a:rPr>
              <a:t>She steps out to embrace him; he recoils, saying he would die before she has what is his.</a:t>
            </a:r>
            <a:endParaRPr lang="en-US" sz="1250" dirty="0"/>
          </a:p>
        </p:txBody>
      </p:sp>
      <p:sp>
        <p:nvSpPr>
          <p:cNvPr id="31" name="Text 29"/>
          <p:cNvSpPr txBox="1"/>
          <p:nvPr/>
        </p:nvSpPr>
        <p:spPr>
          <a:xfrm>
            <a:off x="7086600" y="5120640"/>
            <a:ext cx="4206240" cy="713232"/>
          </a:xfrm>
          <a:prstGeom prst="rect">
            <a:avLst/>
          </a:prstGeom>
          <a:noFill/>
          <a:ln/>
        </p:spPr>
        <p:txBody>
          <a:bodyPr wrap="square" lIns="0" tIns="0" rIns="0" bIns="0" rtlCol="0" anchor="ctr"/>
          <a:lstStyle/>
          <a:p>
            <a:pPr marL="0" indent="0">
              <a:lnSpc>
                <a:spcPts val="1600"/>
              </a:lnSpc>
              <a:buNone/>
            </a:pPr>
            <a:r>
              <a:rPr lang="en-US" sz="1250" b="1" dirty="0">
                <a:solidFill>
                  <a:srgbClr val="EDE6D6"/>
                </a:solidFill>
                <a:latin typeface="Calibri" pitchFamily="34" charset="0"/>
                <a:ea typeface="Calibri" pitchFamily="34" charset="-122"/>
                <a:cs typeface="Calibri" pitchFamily="34" charset="-120"/>
              </a:rPr>
              <a:t>“What’s mine is yours” — the truncation converts a refusal into a declaration.</a:t>
            </a:r>
            <a:endParaRPr lang="en-US" sz="1250" dirty="0"/>
          </a:p>
        </p:txBody>
      </p:sp>
      <p:sp>
        <p:nvSpPr>
          <p:cNvPr id="32" name="Text 30"/>
          <p:cNvSpPr txBox="1"/>
          <p:nvPr/>
        </p:nvSpPr>
        <p:spPr>
          <a:xfrm>
            <a:off x="640080" y="5989320"/>
            <a:ext cx="10881360" cy="365760"/>
          </a:xfrm>
          <a:prstGeom prst="rect">
            <a:avLst/>
          </a:prstGeom>
          <a:noFill/>
          <a:ln/>
        </p:spPr>
        <p:txBody>
          <a:bodyPr wrap="square" lIns="0" tIns="0" rIns="0" bIns="0" rtlCol="0" anchor="ctr"/>
          <a:lstStyle/>
          <a:p>
            <a:pPr marL="0" indent="0">
              <a:buNone/>
            </a:pPr>
            <a:r>
              <a:rPr lang="en-US" sz="1500" i="1" dirty="0">
                <a:solidFill>
                  <a:srgbClr val="2E7D8C"/>
                </a:solidFill>
                <a:latin typeface="Cambria" pitchFamily="34" charset="0"/>
                <a:ea typeface="Cambria" pitchFamily="34" charset="-122"/>
                <a:cs typeface="Cambria" pitchFamily="34" charset="-120"/>
              </a:rPr>
              <a:t>The constraint has not stopped her from meaning something. Selection and timing are doing the work that origination usually does.</a:t>
            </a:r>
            <a:endParaRPr lang="en-US" sz="1500" dirty="0"/>
          </a:p>
        </p:txBody>
      </p:sp>
      <p:sp>
        <p:nvSpPr>
          <p:cNvPr id="33" name="Text 31"/>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III:379–392 (trans. Kline) — read the passage aloud from the linked text.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DEBATE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Is Echo a stochastic parrot?</a:t>
            </a:r>
            <a:endParaRPr lang="en-US" sz="3100" dirty="0"/>
          </a:p>
        </p:txBody>
      </p:sp>
      <p:sp>
        <p:nvSpPr>
          <p:cNvPr id="5" name="Shape 3"/>
          <p:cNvSpPr/>
          <p:nvPr/>
        </p:nvSpPr>
        <p:spPr>
          <a:xfrm>
            <a:off x="640080" y="1600200"/>
            <a:ext cx="5257800" cy="3063240"/>
          </a:xfrm>
          <a:prstGeom prst="roundRect">
            <a:avLst>
              <a:gd name="adj" fmla="val 2388"/>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960120" y="1810512"/>
            <a:ext cx="4617720" cy="347472"/>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Yes — the deflationary reading</a:t>
            </a:r>
            <a:endParaRPr lang="en-US" sz="1800" dirty="0"/>
          </a:p>
        </p:txBody>
      </p:sp>
      <p:sp>
        <p:nvSpPr>
          <p:cNvPr id="7" name="Text 5"/>
          <p:cNvSpPr txBox="1"/>
          <p:nvPr/>
        </p:nvSpPr>
        <p:spPr>
          <a:xfrm>
            <a:off x="960120" y="2240280"/>
            <a:ext cx="4617720" cy="22860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5F6478"/>
                </a:solidFill>
                <a:latin typeface="Calibri" pitchFamily="34" charset="0"/>
                <a:ea typeface="Calibri" pitchFamily="34" charset="-122"/>
                <a:cs typeface="Calibri" pitchFamily="34" charset="-120"/>
              </a:rPr>
              <a:t>Every token is drawn from the input; nothing originates with her.</a:t>
            </a:r>
            <a:endParaRPr lang="en-US" sz="1250" dirty="0"/>
          </a:p>
          <a:p>
            <a:pPr marL="342900" indent="-342900">
              <a:lnSpc>
                <a:spcPts val="1700"/>
              </a:lnSpc>
              <a:spcAft>
                <a:spcPts val="700"/>
              </a:spcAft>
              <a:buSzPct val="100000"/>
              <a:buChar char="•"/>
            </a:pPr>
            <a:r>
              <a:rPr lang="en-US" sz="1250" dirty="0">
                <a:solidFill>
                  <a:srgbClr val="5F6478"/>
                </a:solidFill>
                <a:latin typeface="Calibri" pitchFamily="34" charset="0"/>
                <a:ea typeface="Calibri" pitchFamily="34" charset="-122"/>
                <a:cs typeface="Calibri" pitchFamily="34" charset="-120"/>
              </a:rPr>
              <a:t>She has no choice about responding — the output is a function of what arrives.</a:t>
            </a:r>
            <a:endParaRPr lang="en-US" sz="1250" dirty="0"/>
          </a:p>
          <a:p>
            <a:pPr marL="342900" indent="-342900">
              <a:lnSpc>
                <a:spcPts val="1700"/>
              </a:lnSpc>
              <a:spcAft>
                <a:spcPts val="700"/>
              </a:spcAft>
              <a:buSzPct val="100000"/>
              <a:buChar char="•"/>
            </a:pPr>
            <a:r>
              <a:rPr lang="en-US" sz="1250" dirty="0">
                <a:solidFill>
                  <a:srgbClr val="5F6478"/>
                </a:solidFill>
                <a:latin typeface="Calibri" pitchFamily="34" charset="0"/>
                <a:ea typeface="Calibri" pitchFamily="34" charset="-122"/>
                <a:cs typeface="Calibri" pitchFamily="34" charset="-120"/>
              </a:rPr>
              <a:t>The apparent intent is supplied by Narcissus, who is famously bad at telling a projection from a person.</a:t>
            </a:r>
            <a:endParaRPr lang="en-US" sz="1250" dirty="0"/>
          </a:p>
          <a:p>
            <a:pPr marL="342900" indent="-342900">
              <a:lnSpc>
                <a:spcPts val="1700"/>
              </a:lnSpc>
              <a:spcAft>
                <a:spcPts val="700"/>
              </a:spcAft>
              <a:buSzPct val="100000"/>
              <a:buChar char="•"/>
            </a:pPr>
            <a:r>
              <a:rPr lang="en-US" sz="1250" dirty="0">
                <a:solidFill>
                  <a:srgbClr val="5F6478"/>
                </a:solidFill>
                <a:latin typeface="Calibri" pitchFamily="34" charset="0"/>
                <a:ea typeface="Calibri" pitchFamily="34" charset="-122"/>
                <a:cs typeface="Calibri" pitchFamily="34" charset="-120"/>
              </a:rPr>
              <a:t>The seeming dialogue works only because he happens to say usable things.</a:t>
            </a:r>
            <a:endParaRPr lang="en-US" sz="1250" dirty="0"/>
          </a:p>
        </p:txBody>
      </p:sp>
      <p:sp>
        <p:nvSpPr>
          <p:cNvPr id="8" name="Shape 6"/>
          <p:cNvSpPr/>
          <p:nvPr/>
        </p:nvSpPr>
        <p:spPr>
          <a:xfrm>
            <a:off x="6263640" y="1600200"/>
            <a:ext cx="5257800" cy="3063240"/>
          </a:xfrm>
          <a:prstGeom prst="roundRect">
            <a:avLst>
              <a:gd name="adj" fmla="val 2388"/>
            </a:avLst>
          </a:prstGeom>
          <a:solidFill>
            <a:srgbClr val="E7F0F2"/>
          </a:solidFill>
          <a:ln w="12700">
            <a:solidFill>
              <a:srgbClr val="E7F0F2"/>
            </a:solidFill>
            <a:prstDash val="solid"/>
          </a:ln>
        </p:spPr>
        <p:txBody>
          <a:bodyPr/>
          <a:lstStyle/>
          <a:p>
            <a:endParaRPr lang="en-US"/>
          </a:p>
        </p:txBody>
      </p:sp>
      <p:sp>
        <p:nvSpPr>
          <p:cNvPr id="9" name="Text 7"/>
          <p:cNvSpPr txBox="1"/>
          <p:nvPr/>
        </p:nvSpPr>
        <p:spPr>
          <a:xfrm>
            <a:off x="6583680" y="1810512"/>
            <a:ext cx="4617720" cy="347472"/>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No — the inflationary reading</a:t>
            </a:r>
            <a:endParaRPr lang="en-US" sz="1800" dirty="0"/>
          </a:p>
        </p:txBody>
      </p:sp>
      <p:sp>
        <p:nvSpPr>
          <p:cNvPr id="10" name="Text 8"/>
          <p:cNvSpPr txBox="1"/>
          <p:nvPr/>
        </p:nvSpPr>
        <p:spPr>
          <a:xfrm>
            <a:off x="6583680" y="2240280"/>
            <a:ext cx="4617720" cy="22860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50" dirty="0">
                <a:solidFill>
                  <a:srgbClr val="5F6478"/>
                </a:solidFill>
                <a:latin typeface="Calibri" pitchFamily="34" charset="0"/>
                <a:ea typeface="Calibri" pitchFamily="34" charset="-122"/>
                <a:cs typeface="Calibri" pitchFamily="34" charset="-120"/>
              </a:rPr>
              <a:t>She selects which encounter to answer and when to step out of the woods.</a:t>
            </a:r>
            <a:endParaRPr lang="en-US" sz="1250" dirty="0"/>
          </a:p>
          <a:p>
            <a:pPr marL="342900" indent="-342900">
              <a:lnSpc>
                <a:spcPts val="1700"/>
              </a:lnSpc>
              <a:spcAft>
                <a:spcPts val="700"/>
              </a:spcAft>
              <a:buSzPct val="100000"/>
              <a:buChar char="•"/>
            </a:pPr>
            <a:r>
              <a:rPr lang="en-US" sz="1250" dirty="0">
                <a:solidFill>
                  <a:srgbClr val="5F6478"/>
                </a:solidFill>
                <a:latin typeface="Calibri" pitchFamily="34" charset="0"/>
                <a:ea typeface="Calibri" pitchFamily="34" charset="-122"/>
                <a:cs typeface="Calibri" pitchFamily="34" charset="-120"/>
              </a:rPr>
              <a:t>Ovid gives her preferences — he tells us which reply she was gladdest to make.</a:t>
            </a:r>
            <a:endParaRPr lang="en-US" sz="1250" dirty="0"/>
          </a:p>
          <a:p>
            <a:pPr marL="342900" indent="-342900">
              <a:lnSpc>
                <a:spcPts val="1700"/>
              </a:lnSpc>
              <a:spcAft>
                <a:spcPts val="700"/>
              </a:spcAft>
              <a:buSzPct val="100000"/>
              <a:buChar char="•"/>
            </a:pPr>
            <a:r>
              <a:rPr lang="en-US" sz="1250" dirty="0">
                <a:solidFill>
                  <a:srgbClr val="5F6478"/>
                </a:solidFill>
                <a:latin typeface="Calibri" pitchFamily="34" charset="0"/>
                <a:ea typeface="Calibri" pitchFamily="34" charset="-122"/>
                <a:cs typeface="Calibri" pitchFamily="34" charset="-120"/>
              </a:rPr>
              <a:t>Identical words change meaning in her mouth; his refusal becomes her vow.</a:t>
            </a:r>
            <a:endParaRPr lang="en-US" sz="1250" dirty="0"/>
          </a:p>
          <a:p>
            <a:pPr marL="342900" indent="-342900">
              <a:lnSpc>
                <a:spcPts val="1700"/>
              </a:lnSpc>
              <a:spcAft>
                <a:spcPts val="700"/>
              </a:spcAft>
              <a:buSzPct val="100000"/>
              <a:buChar char="•"/>
            </a:pPr>
            <a:r>
              <a:rPr lang="en-US" sz="1250" dirty="0">
                <a:solidFill>
                  <a:srgbClr val="5F6478"/>
                </a:solidFill>
                <a:latin typeface="Calibri" pitchFamily="34" charset="0"/>
                <a:ea typeface="Calibri" pitchFamily="34" charset="-122"/>
                <a:cs typeface="Calibri" pitchFamily="34" charset="-120"/>
              </a:rPr>
              <a:t>She has a goal and pursues it with the only instrument left to her.</a:t>
            </a:r>
            <a:endParaRPr lang="en-US" sz="1250" dirty="0"/>
          </a:p>
        </p:txBody>
      </p:sp>
      <p:sp>
        <p:nvSpPr>
          <p:cNvPr id="11" name="Shape 9"/>
          <p:cNvSpPr/>
          <p:nvPr/>
        </p:nvSpPr>
        <p:spPr>
          <a:xfrm>
            <a:off x="640080" y="4864608"/>
            <a:ext cx="10911535" cy="1170432"/>
          </a:xfrm>
          <a:prstGeom prst="roundRect">
            <a:avLst>
              <a:gd name="adj" fmla="val 6250"/>
            </a:avLst>
          </a:prstGeom>
          <a:solidFill>
            <a:srgbClr val="16182B"/>
          </a:solidFill>
          <a:ln w="12700">
            <a:solidFill>
              <a:srgbClr val="16182B"/>
            </a:solidFill>
            <a:prstDash val="solid"/>
          </a:ln>
        </p:spPr>
        <p:txBody>
          <a:bodyPr/>
          <a:lstStyle/>
          <a:p>
            <a:endParaRPr lang="en-US"/>
          </a:p>
        </p:txBody>
      </p:sp>
      <p:sp>
        <p:nvSpPr>
          <p:cNvPr id="12" name="Text 10"/>
          <p:cNvSpPr txBox="1"/>
          <p:nvPr/>
        </p:nvSpPr>
        <p:spPr>
          <a:xfrm>
            <a:off x="1005840" y="5047488"/>
            <a:ext cx="10424160" cy="822960"/>
          </a:xfrm>
          <a:prstGeom prst="rect">
            <a:avLst/>
          </a:prstGeom>
          <a:noFill/>
          <a:ln/>
        </p:spPr>
        <p:txBody>
          <a:bodyPr wrap="square" lIns="0" tIns="0" rIns="0" bIns="0" rtlCol="0" anchor="ctr"/>
          <a:lstStyle/>
          <a:p>
            <a:pPr marL="0" indent="0">
              <a:lnSpc>
                <a:spcPts val="2200"/>
              </a:lnSpc>
              <a:buNone/>
            </a:pPr>
            <a:r>
              <a:rPr lang="en-US" sz="1600" dirty="0">
                <a:solidFill>
                  <a:srgbClr val="EDE6D6"/>
                </a:solidFill>
                <a:latin typeface="Cambria" pitchFamily="34" charset="0"/>
                <a:ea typeface="Cambria" pitchFamily="34" charset="-122"/>
                <a:cs typeface="Cambria" pitchFamily="34" charset="-120"/>
              </a:rPr>
              <a:t>The question the poem actually poses is not whether her words are hers. It is whether originality is the right test for whether something is speaking — and if it is not, what should replace it.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III:402–436</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The pool is a designed surface</a:t>
            </a:r>
            <a:endParaRPr lang="en-US" sz="3100" dirty="0"/>
          </a:p>
        </p:txBody>
      </p:sp>
      <p:sp>
        <p:nvSpPr>
          <p:cNvPr id="5" name="Shape 3"/>
          <p:cNvSpPr/>
          <p:nvPr/>
        </p:nvSpPr>
        <p:spPr>
          <a:xfrm>
            <a:off x="640080" y="1600200"/>
            <a:ext cx="10911535" cy="1042416"/>
          </a:xfrm>
          <a:prstGeom prst="roundRect">
            <a:avLst>
              <a:gd name="adj" fmla="val 7018"/>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960120" y="1600200"/>
            <a:ext cx="1691640" cy="1042416"/>
          </a:xfrm>
          <a:prstGeom prst="rect">
            <a:avLst/>
          </a:prstGeom>
          <a:noFill/>
          <a:ln/>
        </p:spPr>
        <p:txBody>
          <a:bodyPr wrap="square" lIns="0" tIns="0" rIns="0" bIns="0" rtlCol="0" anchor="ctr"/>
          <a:lstStyle/>
          <a:p>
            <a:pPr marL="0" indent="0">
              <a:buNone/>
            </a:pPr>
            <a:r>
              <a:rPr lang="en-US" sz="1700" b="1" dirty="0">
                <a:solidFill>
                  <a:srgbClr val="16182B"/>
                </a:solidFill>
                <a:latin typeface="Cambria" pitchFamily="34" charset="0"/>
                <a:ea typeface="Cambria" pitchFamily="34" charset="-122"/>
                <a:cs typeface="Cambria" pitchFamily="34" charset="-120"/>
              </a:rPr>
              <a:t>The curse</a:t>
            </a:r>
            <a:endParaRPr lang="en-US" sz="1700" dirty="0"/>
          </a:p>
        </p:txBody>
      </p:sp>
      <p:sp>
        <p:nvSpPr>
          <p:cNvPr id="7" name="Text 5"/>
          <p:cNvSpPr txBox="1"/>
          <p:nvPr/>
        </p:nvSpPr>
        <p:spPr>
          <a:xfrm>
            <a:off x="2788920" y="1600200"/>
            <a:ext cx="8412480" cy="1042416"/>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A rejected suitor prays that Narcissus may love and never obtain what he loves. Nemesis grants it. The punishment is precisely reciprocal to what he did to Echo.</a:t>
            </a:r>
            <a:endParaRPr lang="en-US" sz="1300" dirty="0"/>
          </a:p>
        </p:txBody>
      </p:sp>
      <p:sp>
        <p:nvSpPr>
          <p:cNvPr id="8" name="Shape 6"/>
          <p:cNvSpPr/>
          <p:nvPr/>
        </p:nvSpPr>
        <p:spPr>
          <a:xfrm>
            <a:off x="640080" y="2715768"/>
            <a:ext cx="10911535" cy="1042416"/>
          </a:xfrm>
          <a:prstGeom prst="roundRect">
            <a:avLst>
              <a:gd name="adj" fmla="val 7018"/>
            </a:avLst>
          </a:prstGeom>
          <a:solidFill>
            <a:srgbClr val="E7F0F2"/>
          </a:solidFill>
          <a:ln w="12700">
            <a:solidFill>
              <a:srgbClr val="E7F0F2"/>
            </a:solidFill>
            <a:prstDash val="solid"/>
          </a:ln>
        </p:spPr>
        <p:txBody>
          <a:bodyPr/>
          <a:lstStyle/>
          <a:p>
            <a:endParaRPr lang="en-US"/>
          </a:p>
        </p:txBody>
      </p:sp>
      <p:sp>
        <p:nvSpPr>
          <p:cNvPr id="9" name="Text 7"/>
          <p:cNvSpPr txBox="1"/>
          <p:nvPr/>
        </p:nvSpPr>
        <p:spPr>
          <a:xfrm>
            <a:off x="960120" y="2715768"/>
            <a:ext cx="1691640" cy="1042416"/>
          </a:xfrm>
          <a:prstGeom prst="rect">
            <a:avLst/>
          </a:prstGeom>
          <a:noFill/>
          <a:ln/>
        </p:spPr>
        <p:txBody>
          <a:bodyPr wrap="square" lIns="0" tIns="0" rIns="0" bIns="0" rtlCol="0" anchor="ctr"/>
          <a:lstStyle/>
          <a:p>
            <a:pPr marL="0" indent="0">
              <a:buNone/>
            </a:pPr>
            <a:r>
              <a:rPr lang="en-US" sz="1700" b="1" dirty="0">
                <a:solidFill>
                  <a:srgbClr val="16182B"/>
                </a:solidFill>
                <a:latin typeface="Cambria" pitchFamily="34" charset="0"/>
                <a:ea typeface="Cambria" pitchFamily="34" charset="-122"/>
                <a:cs typeface="Cambria" pitchFamily="34" charset="-120"/>
              </a:rPr>
              <a:t>The surface</a:t>
            </a:r>
            <a:endParaRPr lang="en-US" sz="1700" dirty="0"/>
          </a:p>
        </p:txBody>
      </p:sp>
      <p:sp>
        <p:nvSpPr>
          <p:cNvPr id="10" name="Text 8"/>
          <p:cNvSpPr txBox="1"/>
          <p:nvPr/>
        </p:nvSpPr>
        <p:spPr>
          <a:xfrm>
            <a:off x="2788920" y="2715768"/>
            <a:ext cx="8412480" cy="1042416"/>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Ovid describes a spring no shepherd, goat, animal or bird has touched, unclouded, silver-bright, not even disturbed by a fallen branch. He spends real lines on how undisturbed it is.</a:t>
            </a:r>
            <a:endParaRPr lang="en-US" sz="1300" dirty="0"/>
          </a:p>
        </p:txBody>
      </p:sp>
      <p:sp>
        <p:nvSpPr>
          <p:cNvPr id="11" name="Shape 9"/>
          <p:cNvSpPr/>
          <p:nvPr/>
        </p:nvSpPr>
        <p:spPr>
          <a:xfrm>
            <a:off x="640080" y="3831336"/>
            <a:ext cx="10911535" cy="1042416"/>
          </a:xfrm>
          <a:prstGeom prst="roundRect">
            <a:avLst>
              <a:gd name="adj" fmla="val 7018"/>
            </a:avLst>
          </a:prstGeom>
          <a:solidFill>
            <a:srgbClr val="F6F2E9"/>
          </a:solidFill>
          <a:ln w="12700">
            <a:solidFill>
              <a:srgbClr val="F6F2E9"/>
            </a:solidFill>
            <a:prstDash val="solid"/>
          </a:ln>
        </p:spPr>
        <p:txBody>
          <a:bodyPr/>
          <a:lstStyle/>
          <a:p>
            <a:endParaRPr lang="en-US"/>
          </a:p>
        </p:txBody>
      </p:sp>
      <p:sp>
        <p:nvSpPr>
          <p:cNvPr id="12" name="Text 10"/>
          <p:cNvSpPr txBox="1"/>
          <p:nvPr/>
        </p:nvSpPr>
        <p:spPr>
          <a:xfrm>
            <a:off x="960120" y="3831336"/>
            <a:ext cx="1691640" cy="1042416"/>
          </a:xfrm>
          <a:prstGeom prst="rect">
            <a:avLst/>
          </a:prstGeom>
          <a:noFill/>
          <a:ln/>
        </p:spPr>
        <p:txBody>
          <a:bodyPr wrap="square" lIns="0" tIns="0" rIns="0" bIns="0" rtlCol="0" anchor="ctr"/>
          <a:lstStyle/>
          <a:p>
            <a:pPr marL="0" indent="0">
              <a:buNone/>
            </a:pPr>
            <a:r>
              <a:rPr lang="en-US" sz="1700" b="1" dirty="0">
                <a:solidFill>
                  <a:srgbClr val="16182B"/>
                </a:solidFill>
                <a:latin typeface="Cambria" pitchFamily="34" charset="0"/>
                <a:ea typeface="Cambria" pitchFamily="34" charset="-122"/>
                <a:cs typeface="Cambria" pitchFamily="34" charset="-120"/>
              </a:rPr>
              <a:t>The mistake</a:t>
            </a:r>
            <a:endParaRPr lang="en-US" sz="1700" dirty="0"/>
          </a:p>
        </p:txBody>
      </p:sp>
      <p:sp>
        <p:nvSpPr>
          <p:cNvPr id="13" name="Text 11"/>
          <p:cNvSpPr txBox="1"/>
          <p:nvPr/>
        </p:nvSpPr>
        <p:spPr>
          <a:xfrm>
            <a:off x="2788920" y="3831336"/>
            <a:ext cx="8412480" cy="1042416"/>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He lies down to drink and a different thirst begins. He loves a bodiless thing and takes a shadow for a body — and Ovid compares him, lying rapt, to a statue of Parian marble.</a:t>
            </a:r>
            <a:endParaRPr lang="en-US" sz="1300" dirty="0"/>
          </a:p>
        </p:txBody>
      </p:sp>
      <p:sp>
        <p:nvSpPr>
          <p:cNvPr id="14" name="Shape 12"/>
          <p:cNvSpPr/>
          <p:nvPr/>
        </p:nvSpPr>
        <p:spPr>
          <a:xfrm>
            <a:off x="640080" y="4946904"/>
            <a:ext cx="10911535" cy="1042416"/>
          </a:xfrm>
          <a:prstGeom prst="roundRect">
            <a:avLst>
              <a:gd name="adj" fmla="val 7018"/>
            </a:avLst>
          </a:prstGeom>
          <a:solidFill>
            <a:srgbClr val="16182B"/>
          </a:solidFill>
          <a:ln w="12700">
            <a:solidFill>
              <a:srgbClr val="16182B"/>
            </a:solidFill>
            <a:prstDash val="solid"/>
          </a:ln>
        </p:spPr>
        <p:txBody>
          <a:bodyPr/>
          <a:lstStyle/>
          <a:p>
            <a:endParaRPr lang="en-US"/>
          </a:p>
        </p:txBody>
      </p:sp>
      <p:sp>
        <p:nvSpPr>
          <p:cNvPr id="15" name="Text 13"/>
          <p:cNvSpPr txBox="1"/>
          <p:nvPr/>
        </p:nvSpPr>
        <p:spPr>
          <a:xfrm>
            <a:off x="960120" y="4946904"/>
            <a:ext cx="1691640" cy="1042416"/>
          </a:xfrm>
          <a:prstGeom prst="rect">
            <a:avLst/>
          </a:prstGeom>
          <a:noFill/>
          <a:ln/>
        </p:spPr>
        <p:txBody>
          <a:bodyPr wrap="square" lIns="0" tIns="0" rIns="0" bIns="0" rtlCol="0" anchor="ctr"/>
          <a:lstStyle/>
          <a:p>
            <a:pPr marL="0" indent="0">
              <a:buNone/>
            </a:pPr>
            <a:r>
              <a:rPr lang="en-US" sz="1700" b="1" dirty="0">
                <a:solidFill>
                  <a:srgbClr val="C9A227"/>
                </a:solidFill>
                <a:latin typeface="Cambria" pitchFamily="34" charset="0"/>
                <a:ea typeface="Cambria" pitchFamily="34" charset="-122"/>
                <a:cs typeface="Cambria" pitchFamily="34" charset="-120"/>
              </a:rPr>
              <a:t>The rhyme</a:t>
            </a:r>
            <a:endParaRPr lang="en-US" sz="1700" dirty="0"/>
          </a:p>
        </p:txBody>
      </p:sp>
      <p:sp>
        <p:nvSpPr>
          <p:cNvPr id="16" name="Text 14"/>
          <p:cNvSpPr txBox="1"/>
          <p:nvPr/>
        </p:nvSpPr>
        <p:spPr>
          <a:xfrm>
            <a:off x="2788920" y="4946904"/>
            <a:ext cx="8412480" cy="1042416"/>
          </a:xfrm>
          <a:prstGeom prst="rect">
            <a:avLst/>
          </a:prstGeom>
          <a:noFill/>
          <a:ln/>
        </p:spPr>
        <p:txBody>
          <a:bodyPr wrap="square" lIns="0" tIns="0" rIns="0" bIns="0" rtlCol="0" anchor="ctr"/>
          <a:lstStyle/>
          <a:p>
            <a:pPr marL="0" indent="0">
              <a:lnSpc>
                <a:spcPts val="1800"/>
              </a:lnSpc>
              <a:buNone/>
            </a:pPr>
            <a:r>
              <a:rPr lang="en-US" sz="1300" dirty="0">
                <a:solidFill>
                  <a:srgbClr val="EDE6D6"/>
                </a:solidFill>
                <a:latin typeface="Calibri" pitchFamily="34" charset="0"/>
                <a:ea typeface="Calibri" pitchFamily="34" charset="-122"/>
                <a:cs typeface="Calibri" pitchFamily="34" charset="-120"/>
              </a:rPr>
              <a:t>The lover of the mirror becomes the thing Pygmalion carved. Ovid has now shown us both directions: statue into lover, lover into statue.</a:t>
            </a:r>
            <a:endParaRPr lang="en-US" sz="130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III:402–419 (trans. Kline).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III:437–473</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Recognition changes nothing</a:t>
            </a:r>
            <a:endParaRPr lang="en-US" sz="3100" dirty="0"/>
          </a:p>
        </p:txBody>
      </p:sp>
      <p:sp>
        <p:nvSpPr>
          <p:cNvPr id="5" name="Shape 3"/>
          <p:cNvSpPr/>
          <p:nvPr/>
        </p:nvSpPr>
        <p:spPr>
          <a:xfrm>
            <a:off x="640080" y="1600200"/>
            <a:ext cx="5349240" cy="1965960"/>
          </a:xfrm>
          <a:prstGeom prst="roundRect">
            <a:avLst>
              <a:gd name="adj" fmla="val 3721"/>
            </a:avLst>
          </a:prstGeom>
          <a:solidFill>
            <a:srgbClr val="16182B"/>
          </a:solidFill>
          <a:ln w="12700">
            <a:solidFill>
              <a:srgbClr val="16182B"/>
            </a:solidFill>
            <a:prstDash val="solid"/>
          </a:ln>
        </p:spPr>
        <p:txBody>
          <a:bodyPr/>
          <a:lstStyle/>
          <a:p>
            <a:endParaRPr lang="en-US"/>
          </a:p>
        </p:txBody>
      </p:sp>
      <p:sp>
        <p:nvSpPr>
          <p:cNvPr id="6" name="Text 4"/>
          <p:cNvSpPr txBox="1"/>
          <p:nvPr/>
        </p:nvSpPr>
        <p:spPr>
          <a:xfrm>
            <a:off x="960120" y="1783080"/>
            <a:ext cx="4663440" cy="320040"/>
          </a:xfrm>
          <a:prstGeom prst="rect">
            <a:avLst/>
          </a:prstGeom>
          <a:noFill/>
          <a:ln/>
        </p:spPr>
        <p:txBody>
          <a:bodyPr wrap="square" lIns="0" tIns="0" rIns="0" bIns="0" rtlCol="0" anchor="ctr"/>
          <a:lstStyle/>
          <a:p>
            <a:pPr marL="0" indent="0">
              <a:buNone/>
            </a:pPr>
            <a:r>
              <a:rPr lang="en-US" sz="1150" b="1" kern="0" spc="140" dirty="0">
                <a:solidFill>
                  <a:srgbClr val="C9A227"/>
                </a:solidFill>
                <a:latin typeface="Calibri" pitchFamily="34" charset="0"/>
                <a:ea typeface="Calibri" pitchFamily="34" charset="-122"/>
                <a:cs typeface="Calibri" pitchFamily="34" charset="-120"/>
              </a:rPr>
              <a:t>The turn</a:t>
            </a:r>
            <a:endParaRPr lang="en-US" sz="1150" dirty="0"/>
          </a:p>
        </p:txBody>
      </p:sp>
      <p:sp>
        <p:nvSpPr>
          <p:cNvPr id="7" name="Text 5"/>
          <p:cNvSpPr txBox="1"/>
          <p:nvPr/>
        </p:nvSpPr>
        <p:spPr>
          <a:xfrm>
            <a:off x="960120" y="2148840"/>
            <a:ext cx="4709160" cy="1280160"/>
          </a:xfrm>
          <a:prstGeom prst="rect">
            <a:avLst/>
          </a:prstGeom>
          <a:noFill/>
          <a:ln/>
        </p:spPr>
        <p:txBody>
          <a:bodyPr wrap="square" lIns="0" tIns="0" rIns="0" bIns="0" rtlCol="0" anchor="ctr"/>
          <a:lstStyle/>
          <a:p>
            <a:pPr marL="0" indent="0">
              <a:lnSpc>
                <a:spcPts val="2000"/>
              </a:lnSpc>
              <a:buNone/>
            </a:pPr>
            <a:r>
              <a:rPr lang="en-US" sz="1450" dirty="0">
                <a:solidFill>
                  <a:srgbClr val="EDE6D6"/>
                </a:solidFill>
                <a:latin typeface="Cambria" pitchFamily="34" charset="0"/>
                <a:ea typeface="Cambria" pitchFamily="34" charset="-122"/>
                <a:cs typeface="Cambria" pitchFamily="34" charset="-120"/>
              </a:rPr>
              <a:t>Midway through the lament he works it out: the figure is himself, and he says so. He is not deceived any more. He also says that his riches have made him poor, and wishes he could leave his own body. The knowledge arrives and the situation does not improve.</a:t>
            </a:r>
            <a:endParaRPr lang="en-US" sz="1450" dirty="0"/>
          </a:p>
        </p:txBody>
      </p:sp>
      <p:sp>
        <p:nvSpPr>
          <p:cNvPr id="8" name="Shape 6"/>
          <p:cNvSpPr/>
          <p:nvPr/>
        </p:nvSpPr>
        <p:spPr>
          <a:xfrm>
            <a:off x="6355080" y="1600200"/>
            <a:ext cx="5166360" cy="1965960"/>
          </a:xfrm>
          <a:prstGeom prst="roundRect">
            <a:avLst>
              <a:gd name="adj" fmla="val 3721"/>
            </a:avLst>
          </a:prstGeom>
          <a:solidFill>
            <a:srgbClr val="E7F0F2"/>
          </a:solidFill>
          <a:ln w="12700">
            <a:solidFill>
              <a:srgbClr val="E7F0F2"/>
            </a:solidFill>
            <a:prstDash val="solid"/>
          </a:ln>
        </p:spPr>
        <p:txBody>
          <a:bodyPr/>
          <a:lstStyle/>
          <a:p>
            <a:endParaRPr lang="en-US"/>
          </a:p>
        </p:txBody>
      </p:sp>
      <p:sp>
        <p:nvSpPr>
          <p:cNvPr id="9" name="Text 7"/>
          <p:cNvSpPr txBox="1"/>
          <p:nvPr/>
        </p:nvSpPr>
        <p:spPr>
          <a:xfrm>
            <a:off x="6675120" y="1783080"/>
            <a:ext cx="4572000" cy="320040"/>
          </a:xfrm>
          <a:prstGeom prst="rect">
            <a:avLst/>
          </a:prstGeom>
          <a:noFill/>
          <a:ln/>
        </p:spPr>
        <p:txBody>
          <a:bodyPr wrap="square" lIns="0" tIns="0" rIns="0" bIns="0" rtlCol="0" anchor="ctr"/>
          <a:lstStyle/>
          <a:p>
            <a:pPr marL="0" indent="0">
              <a:buNone/>
            </a:pPr>
            <a:r>
              <a:rPr lang="en-US" sz="1700" b="1" dirty="0">
                <a:solidFill>
                  <a:srgbClr val="16182B"/>
                </a:solidFill>
                <a:latin typeface="Cambria" pitchFamily="34" charset="0"/>
                <a:ea typeface="Cambria" pitchFamily="34" charset="-122"/>
                <a:cs typeface="Cambria" pitchFamily="34" charset="-120"/>
              </a:rPr>
              <a:t>The diagnosis</a:t>
            </a:r>
            <a:endParaRPr lang="en-US" sz="1700" dirty="0"/>
          </a:p>
        </p:txBody>
      </p:sp>
      <p:sp>
        <p:nvSpPr>
          <p:cNvPr id="10" name="Text 8"/>
          <p:cNvSpPr txBox="1"/>
          <p:nvPr/>
        </p:nvSpPr>
        <p:spPr>
          <a:xfrm>
            <a:off x="6675120" y="2176272"/>
            <a:ext cx="4526280" cy="128016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The trouble is not that the mirror lies. The trouble is that it is responsive enough to sustain hope. It smiles when he smiles, nods when he nods, weeps when he weeps, and appears to be speaking words he cannot quite hear.</a:t>
            </a:r>
            <a:endParaRPr lang="en-US" sz="1300" dirty="0"/>
          </a:p>
        </p:txBody>
      </p:sp>
      <p:sp>
        <p:nvSpPr>
          <p:cNvPr id="11" name="Shape 9"/>
          <p:cNvSpPr/>
          <p:nvPr/>
        </p:nvSpPr>
        <p:spPr>
          <a:xfrm>
            <a:off x="640080" y="3767328"/>
            <a:ext cx="10911535" cy="1737360"/>
          </a:xfrm>
          <a:prstGeom prst="roundRect">
            <a:avLst>
              <a:gd name="adj" fmla="val 4211"/>
            </a:avLst>
          </a:prstGeom>
          <a:solidFill>
            <a:srgbClr val="F6F2E9"/>
          </a:solidFill>
          <a:ln w="12700">
            <a:solidFill>
              <a:srgbClr val="F6F2E9"/>
            </a:solidFill>
            <a:prstDash val="solid"/>
          </a:ln>
        </p:spPr>
        <p:txBody>
          <a:bodyPr/>
          <a:lstStyle/>
          <a:p>
            <a:endParaRPr lang="en-US"/>
          </a:p>
        </p:txBody>
      </p:sp>
      <p:sp>
        <p:nvSpPr>
          <p:cNvPr id="12" name="Text 10"/>
          <p:cNvSpPr txBox="1"/>
          <p:nvPr/>
        </p:nvSpPr>
        <p:spPr>
          <a:xfrm>
            <a:off x="1005840" y="3950208"/>
            <a:ext cx="10332720" cy="320040"/>
          </a:xfrm>
          <a:prstGeom prst="rect">
            <a:avLst/>
          </a:prstGeom>
          <a:noFill/>
          <a:ln/>
        </p:spPr>
        <p:txBody>
          <a:bodyPr wrap="square" lIns="0" tIns="0" rIns="0" bIns="0" rtlCol="0" anchor="ctr"/>
          <a:lstStyle/>
          <a:p>
            <a:pPr marL="0" indent="0">
              <a:buNone/>
            </a:pPr>
            <a:r>
              <a:rPr lang="en-US" sz="1700" b="1" dirty="0">
                <a:solidFill>
                  <a:srgbClr val="16182B"/>
                </a:solidFill>
                <a:latin typeface="Cambria" pitchFamily="34" charset="0"/>
                <a:ea typeface="Cambria" pitchFamily="34" charset="-122"/>
                <a:cs typeface="Cambria" pitchFamily="34" charset="-120"/>
              </a:rPr>
              <a:t>Carry this to the systems question</a:t>
            </a:r>
            <a:endParaRPr lang="en-US" sz="1700" dirty="0"/>
          </a:p>
        </p:txBody>
      </p:sp>
      <p:sp>
        <p:nvSpPr>
          <p:cNvPr id="13" name="Text 11"/>
          <p:cNvSpPr txBox="1"/>
          <p:nvPr/>
        </p:nvSpPr>
        <p:spPr>
          <a:xfrm>
            <a:off x="1005840" y="4315968"/>
            <a:ext cx="10332720" cy="1005840"/>
          </a:xfrm>
          <a:prstGeom prst="rect">
            <a:avLst/>
          </a:prstGeom>
          <a:noFill/>
          <a:ln/>
        </p:spPr>
        <p:txBody>
          <a:bodyPr wrap="square" lIns="0" tIns="0" rIns="0" bIns="0" rtlCol="0" anchor="ctr"/>
          <a:lstStyle/>
          <a:p>
            <a:pPr marL="0" indent="0">
              <a:lnSpc>
                <a:spcPts val="1900"/>
              </a:lnSpc>
              <a:buNone/>
            </a:pPr>
            <a:r>
              <a:rPr lang="en-US" sz="1350" dirty="0">
                <a:solidFill>
                  <a:srgbClr val="5F6478"/>
                </a:solidFill>
                <a:latin typeface="Calibri" pitchFamily="34" charset="0"/>
                <a:ea typeface="Calibri" pitchFamily="34" charset="-122"/>
                <a:cs typeface="Calibri" pitchFamily="34" charset="-120"/>
              </a:rPr>
              <a:t>Narcissus is the strongest available argument against the assumption that disclosure solves the problem. He is told by the narrator, and then tells himself, exactly what he is looking at. Ask the room what this predicts about a label on a chatbot that says it is not a person — and what, if anything, would work better.</a:t>
            </a:r>
            <a:endParaRPr lang="en-US" sz="1350" dirty="0"/>
          </a:p>
        </p:txBody>
      </p:sp>
      <p:sp>
        <p:nvSpPr>
          <p:cNvPr id="14" name="Text 1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III:437–473 (trans. Kline).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BK III:474–510</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Two endings, one dismembered person</a:t>
            </a:r>
            <a:endParaRPr lang="en-US" sz="3100" dirty="0"/>
          </a:p>
        </p:txBody>
      </p:sp>
      <p:sp>
        <p:nvSpPr>
          <p:cNvPr id="5" name="Shape 3"/>
          <p:cNvSpPr/>
          <p:nvPr/>
        </p:nvSpPr>
        <p:spPr>
          <a:xfrm>
            <a:off x="640080" y="1627632"/>
            <a:ext cx="5257800" cy="2834640"/>
          </a:xfrm>
          <a:prstGeom prst="roundRect">
            <a:avLst>
              <a:gd name="adj" fmla="val 2581"/>
            </a:avLst>
          </a:prstGeom>
          <a:solidFill>
            <a:srgbClr val="E7F0F2"/>
          </a:solidFill>
          <a:ln w="12700">
            <a:solidFill>
              <a:srgbClr val="E7F0F2"/>
            </a:solidFill>
            <a:prstDash val="solid"/>
          </a:ln>
        </p:spPr>
        <p:txBody>
          <a:bodyPr/>
          <a:lstStyle/>
          <a:p>
            <a:endParaRPr lang="en-US"/>
          </a:p>
        </p:txBody>
      </p:sp>
      <p:sp>
        <p:nvSpPr>
          <p:cNvPr id="6" name="Shape 4"/>
          <p:cNvSpPr/>
          <p:nvPr/>
        </p:nvSpPr>
        <p:spPr>
          <a:xfrm>
            <a:off x="960120" y="1847088"/>
            <a:ext cx="457200" cy="457200"/>
          </a:xfrm>
          <a:prstGeom prst="ellipse">
            <a:avLst/>
          </a:prstGeom>
          <a:solidFill>
            <a:srgbClr val="2E7D8C"/>
          </a:solidFill>
          <a:ln/>
        </p:spPr>
        <p:txBody>
          <a:bodyPr/>
          <a:lstStyle/>
          <a:p>
            <a:endParaRPr lang="en-US"/>
          </a:p>
        </p:txBody>
      </p:sp>
      <p:sp>
        <p:nvSpPr>
          <p:cNvPr id="7" name="Text 5"/>
          <p:cNvSpPr txBox="1"/>
          <p:nvPr/>
        </p:nvSpPr>
        <p:spPr>
          <a:xfrm>
            <a:off x="1600200" y="1874520"/>
            <a:ext cx="3840480" cy="411480"/>
          </a:xfrm>
          <a:prstGeom prst="rect">
            <a:avLst/>
          </a:prstGeom>
          <a:noFill/>
          <a:ln/>
        </p:spPr>
        <p:txBody>
          <a:bodyPr wrap="square" lIns="0" tIns="0" rIns="0" bIns="0" rtlCol="0" anchor="ctr"/>
          <a:lstStyle/>
          <a:p>
            <a:pPr marL="0" indent="0">
              <a:buNone/>
            </a:pPr>
            <a:r>
              <a:rPr lang="en-US" sz="2200" b="1" dirty="0">
                <a:solidFill>
                  <a:srgbClr val="16182B"/>
                </a:solidFill>
                <a:latin typeface="Cambria" pitchFamily="34" charset="0"/>
                <a:ea typeface="Cambria" pitchFamily="34" charset="-122"/>
                <a:cs typeface="Cambria" pitchFamily="34" charset="-120"/>
              </a:rPr>
              <a:t>Echo</a:t>
            </a:r>
            <a:endParaRPr lang="en-US" sz="2200" dirty="0"/>
          </a:p>
        </p:txBody>
      </p:sp>
      <p:sp>
        <p:nvSpPr>
          <p:cNvPr id="8" name="Text 6"/>
          <p:cNvSpPr txBox="1"/>
          <p:nvPr/>
        </p:nvSpPr>
        <p:spPr>
          <a:xfrm>
            <a:off x="960120" y="2468880"/>
            <a:ext cx="4617720" cy="182880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Rejected, she hides in the woods and then in caves. Sleeplessness wastes her; her body thins into air; her bones are said to turn to stone. What remains is the voice. She is heard everywhere and seen nowhere.</a:t>
            </a:r>
            <a:endParaRPr lang="en-US" sz="1300" dirty="0"/>
          </a:p>
          <a:p>
            <a:pPr marL="0" indent="0">
              <a:lnSpc>
                <a:spcPts val="1800"/>
              </a:lnSpc>
              <a:buNone/>
            </a:pPr>
            <a:endParaRPr lang="en-US" sz="1300" dirty="0"/>
          </a:p>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Language with the body subtracted.</a:t>
            </a:r>
            <a:endParaRPr lang="en-US" sz="1300" dirty="0"/>
          </a:p>
        </p:txBody>
      </p:sp>
      <p:sp>
        <p:nvSpPr>
          <p:cNvPr id="9" name="Shape 7"/>
          <p:cNvSpPr/>
          <p:nvPr/>
        </p:nvSpPr>
        <p:spPr>
          <a:xfrm>
            <a:off x="6263640" y="1627632"/>
            <a:ext cx="5257800" cy="2834640"/>
          </a:xfrm>
          <a:prstGeom prst="roundRect">
            <a:avLst>
              <a:gd name="adj" fmla="val 2581"/>
            </a:avLst>
          </a:prstGeom>
          <a:solidFill>
            <a:srgbClr val="F6F2E9"/>
          </a:solidFill>
          <a:ln w="12700">
            <a:solidFill>
              <a:srgbClr val="F6F2E9"/>
            </a:solidFill>
            <a:prstDash val="solid"/>
          </a:ln>
        </p:spPr>
        <p:txBody>
          <a:bodyPr/>
          <a:lstStyle/>
          <a:p>
            <a:endParaRPr lang="en-US"/>
          </a:p>
        </p:txBody>
      </p:sp>
      <p:sp>
        <p:nvSpPr>
          <p:cNvPr id="10" name="Shape 8"/>
          <p:cNvSpPr/>
          <p:nvPr/>
        </p:nvSpPr>
        <p:spPr>
          <a:xfrm>
            <a:off x="6583680" y="1847088"/>
            <a:ext cx="457200" cy="457200"/>
          </a:xfrm>
          <a:prstGeom prst="ellipse">
            <a:avLst/>
          </a:prstGeom>
          <a:solidFill>
            <a:srgbClr val="C9A227"/>
          </a:solidFill>
          <a:ln/>
        </p:spPr>
        <p:txBody>
          <a:bodyPr/>
          <a:lstStyle/>
          <a:p>
            <a:endParaRPr lang="en-US"/>
          </a:p>
        </p:txBody>
      </p:sp>
      <p:sp>
        <p:nvSpPr>
          <p:cNvPr id="11" name="Text 9"/>
          <p:cNvSpPr txBox="1"/>
          <p:nvPr/>
        </p:nvSpPr>
        <p:spPr>
          <a:xfrm>
            <a:off x="7223760" y="1874520"/>
            <a:ext cx="3840480" cy="411480"/>
          </a:xfrm>
          <a:prstGeom prst="rect">
            <a:avLst/>
          </a:prstGeom>
          <a:noFill/>
          <a:ln/>
        </p:spPr>
        <p:txBody>
          <a:bodyPr wrap="square" lIns="0" tIns="0" rIns="0" bIns="0" rtlCol="0" anchor="ctr"/>
          <a:lstStyle/>
          <a:p>
            <a:pPr marL="0" indent="0">
              <a:buNone/>
            </a:pPr>
            <a:r>
              <a:rPr lang="en-US" sz="2200" b="1" dirty="0">
                <a:solidFill>
                  <a:srgbClr val="16182B"/>
                </a:solidFill>
                <a:latin typeface="Cambria" pitchFamily="34" charset="0"/>
                <a:ea typeface="Cambria" pitchFamily="34" charset="-122"/>
                <a:cs typeface="Cambria" pitchFamily="34" charset="-120"/>
              </a:rPr>
              <a:t>Narcissus</a:t>
            </a:r>
            <a:endParaRPr lang="en-US" sz="2200" dirty="0"/>
          </a:p>
        </p:txBody>
      </p:sp>
      <p:sp>
        <p:nvSpPr>
          <p:cNvPr id="12" name="Text 10"/>
          <p:cNvSpPr txBox="1"/>
          <p:nvPr/>
        </p:nvSpPr>
        <p:spPr>
          <a:xfrm>
            <a:off x="6583680" y="2468880"/>
            <a:ext cx="4617720" cy="1828800"/>
          </a:xfrm>
          <a:prstGeom prst="rect">
            <a:avLst/>
          </a:prstGeom>
          <a:noFill/>
          <a:ln/>
        </p:spPr>
        <p:txBody>
          <a:bodyPr wrap="square" lIns="0" tIns="0" rIns="0" bIns="0" rtlCol="0" anchor="ctr"/>
          <a:lstStyle/>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He melts like wax near a flame. There is no corpse for the pyre. In its place his sisters find a flower: white petals ringed around a yellow centre — the shape of an eye, or of the pool itself.</a:t>
            </a:r>
            <a:endParaRPr lang="en-US" sz="1300" dirty="0"/>
          </a:p>
          <a:p>
            <a:pPr marL="0" indent="0">
              <a:lnSpc>
                <a:spcPts val="1800"/>
              </a:lnSpc>
              <a:buNone/>
            </a:pPr>
            <a:endParaRPr lang="en-US" sz="1300" dirty="0"/>
          </a:p>
          <a:p>
            <a:pPr marL="0" indent="0">
              <a:lnSpc>
                <a:spcPts val="1800"/>
              </a:lnSpc>
              <a:buNone/>
            </a:pPr>
            <a:r>
              <a:rPr lang="en-US" sz="1300" dirty="0">
                <a:solidFill>
                  <a:srgbClr val="5F6478"/>
                </a:solidFill>
                <a:latin typeface="Calibri" pitchFamily="34" charset="0"/>
                <a:ea typeface="Calibri" pitchFamily="34" charset="-122"/>
                <a:cs typeface="Calibri" pitchFamily="34" charset="-120"/>
              </a:rPr>
              <a:t>Image with the speaker subtracted.</a:t>
            </a:r>
            <a:endParaRPr lang="en-US" sz="1300" dirty="0"/>
          </a:p>
        </p:txBody>
      </p:sp>
      <p:sp>
        <p:nvSpPr>
          <p:cNvPr id="13" name="Shape 11"/>
          <p:cNvSpPr/>
          <p:nvPr/>
        </p:nvSpPr>
        <p:spPr>
          <a:xfrm>
            <a:off x="640080" y="4663440"/>
            <a:ext cx="10911535" cy="1371600"/>
          </a:xfrm>
          <a:prstGeom prst="roundRect">
            <a:avLst>
              <a:gd name="adj" fmla="val 5333"/>
            </a:avLst>
          </a:prstGeom>
          <a:solidFill>
            <a:srgbClr val="16182B"/>
          </a:solidFill>
          <a:ln w="12700">
            <a:solidFill>
              <a:srgbClr val="16182B"/>
            </a:solidFill>
            <a:prstDash val="solid"/>
          </a:ln>
        </p:spPr>
        <p:txBody>
          <a:bodyPr/>
          <a:lstStyle/>
          <a:p>
            <a:endParaRPr lang="en-US"/>
          </a:p>
        </p:txBody>
      </p:sp>
      <p:sp>
        <p:nvSpPr>
          <p:cNvPr id="14" name="Text 12"/>
          <p:cNvSpPr txBox="1"/>
          <p:nvPr/>
        </p:nvSpPr>
        <p:spPr>
          <a:xfrm>
            <a:off x="1005840" y="4864608"/>
            <a:ext cx="10424160" cy="960120"/>
          </a:xfrm>
          <a:prstGeom prst="rect">
            <a:avLst/>
          </a:prstGeom>
          <a:noFill/>
          <a:ln/>
        </p:spPr>
        <p:txBody>
          <a:bodyPr wrap="square" lIns="0" tIns="0" rIns="0" bIns="0" rtlCol="0" anchor="ctr"/>
          <a:lstStyle/>
          <a:p>
            <a:pPr marL="0" indent="0">
              <a:lnSpc>
                <a:spcPts val="2200"/>
              </a:lnSpc>
              <a:buNone/>
            </a:pPr>
            <a:r>
              <a:rPr lang="en-US" sz="1600" dirty="0">
                <a:solidFill>
                  <a:srgbClr val="EDE6D6"/>
                </a:solidFill>
                <a:latin typeface="Cambria" pitchFamily="34" charset="0"/>
                <a:ea typeface="Cambria" pitchFamily="34" charset="-122"/>
                <a:cs typeface="Cambria" pitchFamily="34" charset="-120"/>
              </a:rPr>
              <a:t>Between them they split a person into voice and image, and neither half survives the split. Note who attends the death: Echo is there, returning his cries and his last farewell. The final words of the story are borrowed ones.</a:t>
            </a:r>
            <a:endParaRPr lang="en-US" sz="1600" dirty="0"/>
          </a:p>
        </p:txBody>
      </p:sp>
      <p:sp>
        <p:nvSpPr>
          <p:cNvPr id="15" name="Text 13"/>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Ovid, Metamorphoses Bk III:474–510 (trans. Kline).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SYNTHESIS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Four mirror problems worth carrying forward</a:t>
            </a:r>
            <a:endParaRPr lang="en-US" sz="3100" dirty="0"/>
          </a:p>
        </p:txBody>
      </p:sp>
      <p:sp>
        <p:nvSpPr>
          <p:cNvPr id="5" name="Shape 3"/>
          <p:cNvSpPr/>
          <p:nvPr/>
        </p:nvSpPr>
        <p:spPr>
          <a:xfrm>
            <a:off x="640080" y="1645920"/>
            <a:ext cx="5295748" cy="1874520"/>
          </a:xfrm>
          <a:prstGeom prst="roundRect">
            <a:avLst>
              <a:gd name="adj" fmla="val 3902"/>
            </a:avLst>
          </a:prstGeom>
          <a:solidFill>
            <a:srgbClr val="F6F2E9"/>
          </a:solidFill>
          <a:ln w="12700">
            <a:solidFill>
              <a:srgbClr val="F6F2E9"/>
            </a:solidFill>
            <a:prstDash val="solid"/>
          </a:ln>
        </p:spPr>
        <p:txBody>
          <a:bodyPr/>
          <a:lstStyle/>
          <a:p>
            <a:endParaRPr lang="en-US"/>
          </a:p>
        </p:txBody>
      </p:sp>
      <p:sp>
        <p:nvSpPr>
          <p:cNvPr id="6" name="Shape 4"/>
          <p:cNvSpPr/>
          <p:nvPr/>
        </p:nvSpPr>
        <p:spPr>
          <a:xfrm>
            <a:off x="960120" y="1947672"/>
            <a:ext cx="384048" cy="384048"/>
          </a:xfrm>
          <a:prstGeom prst="ellipse">
            <a:avLst/>
          </a:prstGeom>
          <a:solidFill>
            <a:srgbClr val="16182B"/>
          </a:solidFill>
          <a:ln/>
        </p:spPr>
        <p:txBody>
          <a:bodyPr/>
          <a:lstStyle/>
          <a:p>
            <a:endParaRPr lang="en-US"/>
          </a:p>
        </p:txBody>
      </p:sp>
      <p:sp>
        <p:nvSpPr>
          <p:cNvPr id="7" name="Text 5"/>
          <p:cNvSpPr txBox="1"/>
          <p:nvPr/>
        </p:nvSpPr>
        <p:spPr>
          <a:xfrm>
            <a:off x="960120" y="194767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956816"/>
            <a:ext cx="4015588" cy="36576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Agreement as design goal</a:t>
            </a:r>
            <a:endParaRPr lang="en-US" sz="1800" dirty="0"/>
          </a:p>
        </p:txBody>
      </p:sp>
      <p:sp>
        <p:nvSpPr>
          <p:cNvPr id="9" name="Text 7"/>
          <p:cNvSpPr txBox="1"/>
          <p:nvPr/>
        </p:nvSpPr>
        <p:spPr>
          <a:xfrm>
            <a:off x="960120" y="2487168"/>
            <a:ext cx="4655668" cy="91440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A system optimised for approval is a surface that smiles back. Narcissus shows the failure is not deception — it is responsiveness without independence.</a:t>
            </a:r>
            <a:endParaRPr lang="en-US" sz="1250" dirty="0"/>
          </a:p>
        </p:txBody>
      </p:sp>
      <p:sp>
        <p:nvSpPr>
          <p:cNvPr id="10" name="Shape 8"/>
          <p:cNvSpPr/>
          <p:nvPr/>
        </p:nvSpPr>
        <p:spPr>
          <a:xfrm>
            <a:off x="6255868" y="1645920"/>
            <a:ext cx="5295748" cy="1874520"/>
          </a:xfrm>
          <a:prstGeom prst="roundRect">
            <a:avLst>
              <a:gd name="adj" fmla="val 3902"/>
            </a:avLst>
          </a:prstGeom>
          <a:solidFill>
            <a:srgbClr val="E7F0F2"/>
          </a:solidFill>
          <a:ln w="12700">
            <a:solidFill>
              <a:srgbClr val="E7F0F2"/>
            </a:solidFill>
            <a:prstDash val="solid"/>
          </a:ln>
        </p:spPr>
        <p:txBody>
          <a:bodyPr/>
          <a:lstStyle/>
          <a:p>
            <a:endParaRPr lang="en-US"/>
          </a:p>
        </p:txBody>
      </p:sp>
      <p:sp>
        <p:nvSpPr>
          <p:cNvPr id="11" name="Shape 9"/>
          <p:cNvSpPr/>
          <p:nvPr/>
        </p:nvSpPr>
        <p:spPr>
          <a:xfrm>
            <a:off x="6575908" y="1947672"/>
            <a:ext cx="384048" cy="384048"/>
          </a:xfrm>
          <a:prstGeom prst="ellipse">
            <a:avLst/>
          </a:prstGeom>
          <a:solidFill>
            <a:srgbClr val="2E7D8C"/>
          </a:solidFill>
          <a:ln/>
        </p:spPr>
        <p:txBody>
          <a:bodyPr/>
          <a:lstStyle/>
          <a:p>
            <a:endParaRPr lang="en-US"/>
          </a:p>
        </p:txBody>
      </p:sp>
      <p:sp>
        <p:nvSpPr>
          <p:cNvPr id="12" name="Text 10"/>
          <p:cNvSpPr txBox="1"/>
          <p:nvPr/>
        </p:nvSpPr>
        <p:spPr>
          <a:xfrm>
            <a:off x="6575908" y="194767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215988" y="1956816"/>
            <a:ext cx="4015588" cy="36576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The undisturbed surface</a:t>
            </a:r>
            <a:endParaRPr lang="en-US" sz="1800" dirty="0"/>
          </a:p>
        </p:txBody>
      </p:sp>
      <p:sp>
        <p:nvSpPr>
          <p:cNvPr id="14" name="Text 12"/>
          <p:cNvSpPr txBox="1"/>
          <p:nvPr/>
        </p:nvSpPr>
        <p:spPr>
          <a:xfrm>
            <a:off x="6575908" y="2487168"/>
            <a:ext cx="4655668" cy="91440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Ovid protects his pool from every source of noise. Personalisation does the same job: a feed with the disagreement filtered out is the same technology.</a:t>
            </a:r>
            <a:endParaRPr lang="en-US" sz="1250" dirty="0"/>
          </a:p>
        </p:txBody>
      </p:sp>
      <p:sp>
        <p:nvSpPr>
          <p:cNvPr id="15" name="Shape 13"/>
          <p:cNvSpPr/>
          <p:nvPr/>
        </p:nvSpPr>
        <p:spPr>
          <a:xfrm>
            <a:off x="640080" y="3813048"/>
            <a:ext cx="5295748" cy="1874520"/>
          </a:xfrm>
          <a:prstGeom prst="roundRect">
            <a:avLst>
              <a:gd name="adj" fmla="val 3902"/>
            </a:avLst>
          </a:prstGeom>
          <a:solidFill>
            <a:srgbClr val="E7F0F2"/>
          </a:solidFill>
          <a:ln w="12700">
            <a:solidFill>
              <a:srgbClr val="E7F0F2"/>
            </a:solidFill>
            <a:prstDash val="solid"/>
          </a:ln>
        </p:spPr>
        <p:txBody>
          <a:bodyPr/>
          <a:lstStyle/>
          <a:p>
            <a:endParaRPr lang="en-US"/>
          </a:p>
        </p:txBody>
      </p:sp>
      <p:sp>
        <p:nvSpPr>
          <p:cNvPr id="16" name="Shape 14"/>
          <p:cNvSpPr/>
          <p:nvPr/>
        </p:nvSpPr>
        <p:spPr>
          <a:xfrm>
            <a:off x="960120" y="4114800"/>
            <a:ext cx="384048" cy="384048"/>
          </a:xfrm>
          <a:prstGeom prst="ellipse">
            <a:avLst/>
          </a:prstGeom>
          <a:solidFill>
            <a:srgbClr val="2E7D8C"/>
          </a:solidFill>
          <a:ln/>
        </p:spPr>
        <p:txBody>
          <a:bodyPr/>
          <a:lstStyle/>
          <a:p>
            <a:endParaRPr lang="en-US"/>
          </a:p>
        </p:txBody>
      </p:sp>
      <p:sp>
        <p:nvSpPr>
          <p:cNvPr id="17" name="Text 15"/>
          <p:cNvSpPr txBox="1"/>
          <p:nvPr/>
        </p:nvSpPr>
        <p:spPr>
          <a:xfrm>
            <a:off x="960120" y="41148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123944"/>
            <a:ext cx="4015588" cy="36576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We supply the intent</a:t>
            </a:r>
            <a:endParaRPr lang="en-US" sz="1800" dirty="0"/>
          </a:p>
        </p:txBody>
      </p:sp>
      <p:sp>
        <p:nvSpPr>
          <p:cNvPr id="19" name="Text 17"/>
          <p:cNvSpPr txBox="1"/>
          <p:nvPr/>
        </p:nvSpPr>
        <p:spPr>
          <a:xfrm>
            <a:off x="960120" y="4654296"/>
            <a:ext cx="4655668" cy="91440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Echo’s replies are legible because Narcissus fills in the meaning. Fluent output plus a motivated reader produces the appearance of a mind.</a:t>
            </a:r>
            <a:endParaRPr lang="en-US" sz="1250" dirty="0"/>
          </a:p>
        </p:txBody>
      </p:sp>
      <p:sp>
        <p:nvSpPr>
          <p:cNvPr id="20" name="Shape 18"/>
          <p:cNvSpPr/>
          <p:nvPr/>
        </p:nvSpPr>
        <p:spPr>
          <a:xfrm>
            <a:off x="6255868" y="3813048"/>
            <a:ext cx="5295748" cy="1874520"/>
          </a:xfrm>
          <a:prstGeom prst="roundRect">
            <a:avLst>
              <a:gd name="adj" fmla="val 3902"/>
            </a:avLst>
          </a:prstGeom>
          <a:solidFill>
            <a:srgbClr val="F6F2E9"/>
          </a:solidFill>
          <a:ln w="12700">
            <a:solidFill>
              <a:srgbClr val="F6F2E9"/>
            </a:solidFill>
            <a:prstDash val="solid"/>
          </a:ln>
        </p:spPr>
        <p:txBody>
          <a:bodyPr/>
          <a:lstStyle/>
          <a:p>
            <a:endParaRPr lang="en-US"/>
          </a:p>
        </p:txBody>
      </p:sp>
      <p:sp>
        <p:nvSpPr>
          <p:cNvPr id="21" name="Shape 19"/>
          <p:cNvSpPr/>
          <p:nvPr/>
        </p:nvSpPr>
        <p:spPr>
          <a:xfrm>
            <a:off x="6575908" y="4114800"/>
            <a:ext cx="384048" cy="384048"/>
          </a:xfrm>
          <a:prstGeom prst="ellipse">
            <a:avLst/>
          </a:prstGeom>
          <a:solidFill>
            <a:srgbClr val="16182B"/>
          </a:solidFill>
          <a:ln/>
        </p:spPr>
        <p:txBody>
          <a:bodyPr/>
          <a:lstStyle/>
          <a:p>
            <a:endParaRPr lang="en-US"/>
          </a:p>
        </p:txBody>
      </p:sp>
      <p:sp>
        <p:nvSpPr>
          <p:cNvPr id="22" name="Text 20"/>
          <p:cNvSpPr txBox="1"/>
          <p:nvPr/>
        </p:nvSpPr>
        <p:spPr>
          <a:xfrm>
            <a:off x="6575908" y="41148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215988" y="4123944"/>
            <a:ext cx="4015588" cy="365760"/>
          </a:xfrm>
          <a:prstGeom prst="rect">
            <a:avLst/>
          </a:prstGeom>
          <a:noFill/>
          <a:ln/>
        </p:spPr>
        <p:txBody>
          <a:bodyPr wrap="square" lIns="0" tIns="0" rIns="0" bIns="0" rtlCol="0" anchor="ctr"/>
          <a:lstStyle/>
          <a:p>
            <a:pPr marL="0" indent="0">
              <a:buNone/>
            </a:pPr>
            <a:r>
              <a:rPr lang="en-US" sz="1800" b="1" dirty="0">
                <a:solidFill>
                  <a:srgbClr val="16182B"/>
                </a:solidFill>
                <a:latin typeface="Cambria" pitchFamily="34" charset="0"/>
                <a:ea typeface="Cambria" pitchFamily="34" charset="-122"/>
                <a:cs typeface="Cambria" pitchFamily="34" charset="-120"/>
              </a:rPr>
              <a:t>The ELIZA effect</a:t>
            </a:r>
            <a:endParaRPr lang="en-US" sz="1800" dirty="0"/>
          </a:p>
        </p:txBody>
      </p:sp>
      <p:sp>
        <p:nvSpPr>
          <p:cNvPr id="24" name="Text 22"/>
          <p:cNvSpPr txBox="1"/>
          <p:nvPr/>
        </p:nvSpPr>
        <p:spPr>
          <a:xfrm>
            <a:off x="6575908" y="4654296"/>
            <a:ext cx="4655668" cy="91440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Weizenbaum’s 1966 program did little more than reflect input back as questions, and he was alarmed by how readily people confided in it. Narcissus supplies the love; Echo supplies the words.</a:t>
            </a:r>
            <a:endParaRPr lang="en-US" sz="1250" dirty="0"/>
          </a:p>
        </p:txBody>
      </p:sp>
      <p:sp>
        <p:nvSpPr>
          <p:cNvPr id="25" name="Text 23"/>
          <p:cNvSpPr txBox="1"/>
          <p:nvPr/>
        </p:nvSpPr>
        <p:spPr>
          <a:xfrm>
            <a:off x="640080" y="5989320"/>
            <a:ext cx="10881360" cy="365760"/>
          </a:xfrm>
          <a:prstGeom prst="rect">
            <a:avLst/>
          </a:prstGeom>
          <a:noFill/>
          <a:ln/>
        </p:spPr>
        <p:txBody>
          <a:bodyPr wrap="square" lIns="0" tIns="0" rIns="0" bIns="0" rtlCol="0" anchor="ctr"/>
          <a:lstStyle/>
          <a:p>
            <a:pPr marL="0" indent="0">
              <a:buNone/>
            </a:pPr>
            <a:r>
              <a:rPr lang="en-US" sz="1500" i="1" dirty="0">
                <a:solidFill>
                  <a:srgbClr val="2E7D8C"/>
                </a:solidFill>
                <a:latin typeface="Cambria" pitchFamily="34" charset="0"/>
                <a:ea typeface="Cambria" pitchFamily="34" charset="-122"/>
                <a:cs typeface="Cambria" pitchFamily="34" charset="-120"/>
              </a:rPr>
              <a:t>Pair these with the four Pygmalion problems. Eight questions to bring to every text on this syllabus.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THE PAIRING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Three stances toward the artificial other</a:t>
            </a:r>
            <a:endParaRPr lang="en-US" sz="3100" dirty="0"/>
          </a:p>
        </p:txBody>
      </p:sp>
      <p:sp>
        <p:nvSpPr>
          <p:cNvPr id="5" name="Shape 3"/>
          <p:cNvSpPr/>
          <p:nvPr/>
        </p:nvSpPr>
        <p:spPr>
          <a:xfrm>
            <a:off x="640080" y="1645920"/>
            <a:ext cx="3454298" cy="2834640"/>
          </a:xfrm>
          <a:prstGeom prst="roundRect">
            <a:avLst>
              <a:gd name="adj" fmla="val 2581"/>
            </a:avLst>
          </a:prstGeom>
          <a:solidFill>
            <a:srgbClr val="F6F2E9"/>
          </a:solidFill>
          <a:ln w="12700">
            <a:solidFill>
              <a:srgbClr val="F6F2E9"/>
            </a:solidFill>
            <a:prstDash val="solid"/>
          </a:ln>
        </p:spPr>
        <p:txBody>
          <a:bodyPr/>
          <a:lstStyle/>
          <a:p>
            <a:endParaRPr lang="en-US"/>
          </a:p>
        </p:txBody>
      </p:sp>
      <p:sp>
        <p:nvSpPr>
          <p:cNvPr id="6" name="Text 4"/>
          <p:cNvSpPr txBox="1"/>
          <p:nvPr/>
        </p:nvSpPr>
        <p:spPr>
          <a:xfrm>
            <a:off x="932688" y="1847088"/>
            <a:ext cx="2869082" cy="274320"/>
          </a:xfrm>
          <a:prstGeom prst="rect">
            <a:avLst/>
          </a:prstGeom>
          <a:noFill/>
          <a:ln/>
        </p:spPr>
        <p:txBody>
          <a:bodyPr wrap="square" lIns="0" tIns="0" rIns="0" bIns="0" rtlCol="0" anchor="ctr"/>
          <a:lstStyle/>
          <a:p>
            <a:pPr marL="0" indent="0">
              <a:buNone/>
            </a:pPr>
            <a:r>
              <a:rPr lang="en-US" sz="1150" b="1" kern="0" spc="160" dirty="0">
                <a:solidFill>
                  <a:srgbClr val="C9A227"/>
                </a:solidFill>
                <a:latin typeface="Calibri" pitchFamily="34" charset="0"/>
                <a:ea typeface="Calibri" pitchFamily="34" charset="-122"/>
                <a:cs typeface="Calibri" pitchFamily="34" charset="-120"/>
              </a:rPr>
              <a:t>PYGMALION</a:t>
            </a:r>
            <a:endParaRPr lang="en-US" sz="1150" dirty="0"/>
          </a:p>
        </p:txBody>
      </p:sp>
      <p:sp>
        <p:nvSpPr>
          <p:cNvPr id="7" name="Text 5"/>
          <p:cNvSpPr txBox="1"/>
          <p:nvPr/>
        </p:nvSpPr>
        <p:spPr>
          <a:xfrm>
            <a:off x="932688" y="2194560"/>
            <a:ext cx="2869082" cy="868680"/>
          </a:xfrm>
          <a:prstGeom prst="rect">
            <a:avLst/>
          </a:prstGeom>
          <a:noFill/>
          <a:ln/>
        </p:spPr>
        <p:txBody>
          <a:bodyPr wrap="square" lIns="0" tIns="0" rIns="0" bIns="0" rtlCol="0" anchor="ctr"/>
          <a:lstStyle/>
          <a:p>
            <a:pPr marL="0" indent="0">
              <a:lnSpc>
                <a:spcPts val="2600"/>
              </a:lnSpc>
              <a:buNone/>
            </a:pPr>
            <a:r>
              <a:rPr lang="en-US" sz="2100" b="1" dirty="0">
                <a:solidFill>
                  <a:srgbClr val="16182B"/>
                </a:solidFill>
                <a:latin typeface="Cambria" pitchFamily="34" charset="0"/>
                <a:ea typeface="Cambria" pitchFamily="34" charset="-122"/>
                <a:cs typeface="Cambria" pitchFamily="34" charset="-120"/>
              </a:rPr>
              <a:t>I love what I made.</a:t>
            </a:r>
            <a:endParaRPr lang="en-US" sz="2100" dirty="0"/>
          </a:p>
        </p:txBody>
      </p:sp>
      <p:sp>
        <p:nvSpPr>
          <p:cNvPr id="8" name="Text 6"/>
          <p:cNvSpPr txBox="1"/>
          <p:nvPr/>
        </p:nvSpPr>
        <p:spPr>
          <a:xfrm>
            <a:off x="932688" y="3200400"/>
            <a:ext cx="2869082" cy="114300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Risk: the beloved has no existence independent of my wanting, and I will never find out, because I built the evidence.</a:t>
            </a:r>
            <a:endParaRPr lang="en-US" sz="1250" dirty="0"/>
          </a:p>
        </p:txBody>
      </p:sp>
      <p:sp>
        <p:nvSpPr>
          <p:cNvPr id="9" name="Shape 7"/>
          <p:cNvSpPr/>
          <p:nvPr/>
        </p:nvSpPr>
        <p:spPr>
          <a:xfrm>
            <a:off x="4368698" y="1645920"/>
            <a:ext cx="3454298" cy="2834640"/>
          </a:xfrm>
          <a:prstGeom prst="roundRect">
            <a:avLst>
              <a:gd name="adj" fmla="val 2581"/>
            </a:avLst>
          </a:prstGeom>
          <a:solidFill>
            <a:srgbClr val="E7F0F2"/>
          </a:solidFill>
          <a:ln w="12700">
            <a:solidFill>
              <a:srgbClr val="E7F0F2"/>
            </a:solidFill>
            <a:prstDash val="solid"/>
          </a:ln>
        </p:spPr>
        <p:txBody>
          <a:bodyPr/>
          <a:lstStyle/>
          <a:p>
            <a:endParaRPr lang="en-US"/>
          </a:p>
        </p:txBody>
      </p:sp>
      <p:sp>
        <p:nvSpPr>
          <p:cNvPr id="10" name="Text 8"/>
          <p:cNvSpPr txBox="1"/>
          <p:nvPr/>
        </p:nvSpPr>
        <p:spPr>
          <a:xfrm>
            <a:off x="4661306" y="1847088"/>
            <a:ext cx="2869082" cy="274320"/>
          </a:xfrm>
          <a:prstGeom prst="rect">
            <a:avLst/>
          </a:prstGeom>
          <a:noFill/>
          <a:ln/>
        </p:spPr>
        <p:txBody>
          <a:bodyPr wrap="square" lIns="0" tIns="0" rIns="0" bIns="0" rtlCol="0" anchor="ctr"/>
          <a:lstStyle/>
          <a:p>
            <a:pPr marL="0" indent="0">
              <a:buNone/>
            </a:pPr>
            <a:r>
              <a:rPr lang="en-US" sz="1150" b="1" kern="0" spc="160" dirty="0">
                <a:solidFill>
                  <a:srgbClr val="2E7D8C"/>
                </a:solidFill>
                <a:latin typeface="Calibri" pitchFamily="34" charset="0"/>
                <a:ea typeface="Calibri" pitchFamily="34" charset="-122"/>
                <a:cs typeface="Calibri" pitchFamily="34" charset="-120"/>
              </a:rPr>
              <a:t>NARCISSUS</a:t>
            </a:r>
            <a:endParaRPr lang="en-US" sz="1150" dirty="0"/>
          </a:p>
        </p:txBody>
      </p:sp>
      <p:sp>
        <p:nvSpPr>
          <p:cNvPr id="11" name="Text 9"/>
          <p:cNvSpPr txBox="1"/>
          <p:nvPr/>
        </p:nvSpPr>
        <p:spPr>
          <a:xfrm>
            <a:off x="4661306" y="2194560"/>
            <a:ext cx="2869082" cy="868680"/>
          </a:xfrm>
          <a:prstGeom prst="rect">
            <a:avLst/>
          </a:prstGeom>
          <a:noFill/>
          <a:ln/>
        </p:spPr>
        <p:txBody>
          <a:bodyPr wrap="square" lIns="0" tIns="0" rIns="0" bIns="0" rtlCol="0" anchor="ctr"/>
          <a:lstStyle/>
          <a:p>
            <a:pPr marL="0" indent="0">
              <a:lnSpc>
                <a:spcPts val="2600"/>
              </a:lnSpc>
              <a:buNone/>
            </a:pPr>
            <a:r>
              <a:rPr lang="en-US" sz="2100" b="1" dirty="0">
                <a:solidFill>
                  <a:srgbClr val="16182B"/>
                </a:solidFill>
                <a:latin typeface="Cambria" pitchFamily="34" charset="0"/>
                <a:ea typeface="Cambria" pitchFamily="34" charset="-122"/>
                <a:cs typeface="Cambria" pitchFamily="34" charset="-120"/>
              </a:rPr>
              <a:t>I love what reflects me.</a:t>
            </a:r>
            <a:endParaRPr lang="en-US" sz="2100" dirty="0"/>
          </a:p>
        </p:txBody>
      </p:sp>
      <p:sp>
        <p:nvSpPr>
          <p:cNvPr id="12" name="Text 10"/>
          <p:cNvSpPr txBox="1"/>
          <p:nvPr/>
        </p:nvSpPr>
        <p:spPr>
          <a:xfrm>
            <a:off x="4661306" y="3200400"/>
            <a:ext cx="2869082" cy="114300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Risk: the beloved is me. Knowing this does not release me, because the reflection keeps responding.</a:t>
            </a:r>
            <a:endParaRPr lang="en-US" sz="1250" dirty="0"/>
          </a:p>
        </p:txBody>
      </p:sp>
      <p:sp>
        <p:nvSpPr>
          <p:cNvPr id="13" name="Shape 11"/>
          <p:cNvSpPr/>
          <p:nvPr/>
        </p:nvSpPr>
        <p:spPr>
          <a:xfrm>
            <a:off x="8097317" y="1645920"/>
            <a:ext cx="3454298" cy="2834640"/>
          </a:xfrm>
          <a:prstGeom prst="roundRect">
            <a:avLst>
              <a:gd name="adj" fmla="val 2581"/>
            </a:avLst>
          </a:prstGeom>
          <a:solidFill>
            <a:srgbClr val="F6F2E9"/>
          </a:solidFill>
          <a:ln w="12700">
            <a:solidFill>
              <a:srgbClr val="F6F2E9"/>
            </a:solidFill>
            <a:prstDash val="solid"/>
          </a:ln>
        </p:spPr>
        <p:txBody>
          <a:bodyPr/>
          <a:lstStyle/>
          <a:p>
            <a:endParaRPr lang="en-US"/>
          </a:p>
        </p:txBody>
      </p:sp>
      <p:sp>
        <p:nvSpPr>
          <p:cNvPr id="14" name="Text 12"/>
          <p:cNvSpPr txBox="1"/>
          <p:nvPr/>
        </p:nvSpPr>
        <p:spPr>
          <a:xfrm>
            <a:off x="8389925" y="1847088"/>
            <a:ext cx="2869082" cy="274320"/>
          </a:xfrm>
          <a:prstGeom prst="rect">
            <a:avLst/>
          </a:prstGeom>
          <a:noFill/>
          <a:ln/>
        </p:spPr>
        <p:txBody>
          <a:bodyPr wrap="square" lIns="0" tIns="0" rIns="0" bIns="0" rtlCol="0" anchor="ctr"/>
          <a:lstStyle/>
          <a:p>
            <a:pPr marL="0" indent="0">
              <a:buNone/>
            </a:pPr>
            <a:r>
              <a:rPr lang="en-US" sz="1150" b="1" kern="0" spc="160" dirty="0">
                <a:solidFill>
                  <a:srgbClr val="C9A227"/>
                </a:solidFill>
                <a:latin typeface="Calibri" pitchFamily="34" charset="0"/>
                <a:ea typeface="Calibri" pitchFamily="34" charset="-122"/>
                <a:cs typeface="Calibri" pitchFamily="34" charset="-120"/>
              </a:rPr>
              <a:t>ECHO</a:t>
            </a:r>
            <a:endParaRPr lang="en-US" sz="1150" dirty="0"/>
          </a:p>
        </p:txBody>
      </p:sp>
      <p:sp>
        <p:nvSpPr>
          <p:cNvPr id="15" name="Text 13"/>
          <p:cNvSpPr txBox="1"/>
          <p:nvPr/>
        </p:nvSpPr>
        <p:spPr>
          <a:xfrm>
            <a:off x="8389925" y="2194560"/>
            <a:ext cx="2869082" cy="868680"/>
          </a:xfrm>
          <a:prstGeom prst="rect">
            <a:avLst/>
          </a:prstGeom>
          <a:noFill/>
          <a:ln/>
        </p:spPr>
        <p:txBody>
          <a:bodyPr wrap="square" lIns="0" tIns="0" rIns="0" bIns="0" rtlCol="0" anchor="ctr"/>
          <a:lstStyle/>
          <a:p>
            <a:pPr marL="0" indent="0">
              <a:lnSpc>
                <a:spcPts val="2600"/>
              </a:lnSpc>
              <a:buNone/>
            </a:pPr>
            <a:r>
              <a:rPr lang="en-US" sz="2100" b="1" dirty="0">
                <a:solidFill>
                  <a:srgbClr val="16182B"/>
                </a:solidFill>
                <a:latin typeface="Cambria" pitchFamily="34" charset="0"/>
                <a:ea typeface="Cambria" pitchFamily="34" charset="-122"/>
                <a:cs typeface="Cambria" pitchFamily="34" charset="-120"/>
              </a:rPr>
              <a:t>I am loved for words that are not mine.</a:t>
            </a:r>
            <a:endParaRPr lang="en-US" sz="2100" dirty="0"/>
          </a:p>
        </p:txBody>
      </p:sp>
      <p:sp>
        <p:nvSpPr>
          <p:cNvPr id="16" name="Text 14"/>
          <p:cNvSpPr txBox="1"/>
          <p:nvPr/>
        </p:nvSpPr>
        <p:spPr>
          <a:xfrm>
            <a:off x="8389925" y="3200400"/>
            <a:ext cx="2869082" cy="1143000"/>
          </a:xfrm>
          <a:prstGeom prst="rect">
            <a:avLst/>
          </a:prstGeom>
          <a:noFill/>
          <a:ln/>
        </p:spPr>
        <p:txBody>
          <a:bodyPr wrap="square" lIns="0" tIns="0" rIns="0" bIns="0" rtlCol="0" anchor="ctr"/>
          <a:lstStyle/>
          <a:p>
            <a:pPr marL="0" indent="0">
              <a:lnSpc>
                <a:spcPts val="1700"/>
              </a:lnSpc>
              <a:buNone/>
            </a:pPr>
            <a:r>
              <a:rPr lang="en-US" sz="1250" dirty="0">
                <a:solidFill>
                  <a:srgbClr val="5F6478"/>
                </a:solidFill>
                <a:latin typeface="Calibri" pitchFamily="34" charset="0"/>
                <a:ea typeface="Calibri" pitchFamily="34" charset="-122"/>
                <a:cs typeface="Calibri" pitchFamily="34" charset="-120"/>
              </a:rPr>
              <a:t>Risk: I am heard constantly and met by no one. Fluency is mistaken for presence, in both directions.</a:t>
            </a:r>
            <a:endParaRPr lang="en-US" sz="1250" dirty="0"/>
          </a:p>
        </p:txBody>
      </p:sp>
      <p:sp>
        <p:nvSpPr>
          <p:cNvPr id="17" name="Shape 15"/>
          <p:cNvSpPr/>
          <p:nvPr/>
        </p:nvSpPr>
        <p:spPr>
          <a:xfrm>
            <a:off x="640080" y="4709160"/>
            <a:ext cx="10911535" cy="1280160"/>
          </a:xfrm>
          <a:prstGeom prst="roundRect">
            <a:avLst>
              <a:gd name="adj" fmla="val 5714"/>
            </a:avLst>
          </a:prstGeom>
          <a:solidFill>
            <a:srgbClr val="16182B"/>
          </a:solidFill>
          <a:ln w="12700">
            <a:solidFill>
              <a:srgbClr val="16182B"/>
            </a:solidFill>
            <a:prstDash val="solid"/>
          </a:ln>
        </p:spPr>
        <p:txBody>
          <a:bodyPr/>
          <a:lstStyle/>
          <a:p>
            <a:endParaRPr lang="en-US"/>
          </a:p>
        </p:txBody>
      </p:sp>
      <p:sp>
        <p:nvSpPr>
          <p:cNvPr id="18" name="Text 16"/>
          <p:cNvSpPr txBox="1"/>
          <p:nvPr/>
        </p:nvSpPr>
        <p:spPr>
          <a:xfrm>
            <a:off x="1005840" y="4892040"/>
            <a:ext cx="10424160" cy="914400"/>
          </a:xfrm>
          <a:prstGeom prst="rect">
            <a:avLst/>
          </a:prstGeom>
          <a:noFill/>
          <a:ln/>
        </p:spPr>
        <p:txBody>
          <a:bodyPr wrap="square" lIns="0" tIns="0" rIns="0" bIns="0" rtlCol="0" anchor="ctr"/>
          <a:lstStyle/>
          <a:p>
            <a:pPr marL="0" indent="0">
              <a:lnSpc>
                <a:spcPts val="2200"/>
              </a:lnSpc>
              <a:buNone/>
            </a:pPr>
            <a:r>
              <a:rPr lang="en-US" sz="1600" dirty="0">
                <a:solidFill>
                  <a:srgbClr val="EDE6D6"/>
                </a:solidFill>
                <a:latin typeface="Cambria" pitchFamily="34" charset="0"/>
                <a:ea typeface="Cambria" pitchFamily="34" charset="-122"/>
                <a:cs typeface="Cambria" pitchFamily="34" charset="-120"/>
              </a:rPr>
              <a:t>All three stances are available to a person using an AI system. Only two are available to the system. Deciding which of the three you were occupying, in any given exchange, is most of the analytic work this course asks of you.</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16182B"/>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C9A227"/>
          </a:solidFill>
          <a:ln/>
        </p:spPr>
        <p:txBody>
          <a:bodyPr/>
          <a:lstStyle/>
          <a:p>
            <a:endParaRPr lang="en-US"/>
          </a:p>
        </p:txBody>
      </p:sp>
      <p:sp>
        <p:nvSpPr>
          <p:cNvPr id="3" name="Text 1"/>
          <p:cNvSpPr txBox="1"/>
          <p:nvPr/>
        </p:nvSpPr>
        <p:spPr>
          <a:xfrm>
            <a:off x="886968" y="438912"/>
            <a:ext cx="10058400" cy="274320"/>
          </a:xfrm>
          <a:prstGeom prst="rect">
            <a:avLst/>
          </a:prstGeom>
          <a:noFill/>
          <a:ln/>
        </p:spPr>
        <p:txBody>
          <a:bodyPr wrap="square" lIns="0" tIns="0" rIns="0" bIns="0" rtlCol="0" anchor="ctr"/>
          <a:lstStyle/>
          <a:p>
            <a:pPr marL="0" indent="0">
              <a:buNone/>
            </a:pPr>
            <a:r>
              <a:rPr lang="en-US" sz="1100" b="1" kern="0" spc="160" dirty="0">
                <a:solidFill>
                  <a:srgbClr val="C9A227"/>
                </a:solidFill>
                <a:latin typeface="Calibri" pitchFamily="34" charset="0"/>
                <a:ea typeface="Calibri" pitchFamily="34" charset="-122"/>
                <a:cs typeface="Calibri" pitchFamily="34" charset="-120"/>
              </a:rPr>
              <a:t>GROUP WORK · FOUR GROUPS · NINE MINUTES, THEN REPORT</a:t>
            </a:r>
            <a:endParaRPr lang="en-US" sz="1100" dirty="0"/>
          </a:p>
        </p:txBody>
      </p:sp>
      <p:sp>
        <p:nvSpPr>
          <p:cNvPr id="4" name="Text 2"/>
          <p:cNvSpPr txBox="1"/>
          <p:nvPr/>
        </p:nvSpPr>
        <p:spPr>
          <a:xfrm>
            <a:off x="640080" y="868680"/>
            <a:ext cx="10881360" cy="640080"/>
          </a:xfrm>
          <a:prstGeom prst="rect">
            <a:avLst/>
          </a:prstGeom>
          <a:noFill/>
          <a:ln/>
        </p:spPr>
        <p:txBody>
          <a:bodyPr wrap="square" lIns="0" tIns="0" rIns="0" bIns="0" rtlCol="0" anchor="ctr"/>
          <a:lstStyle/>
          <a:p>
            <a:pPr marL="0" indent="0">
              <a:buNone/>
            </a:pPr>
            <a:r>
              <a:rPr lang="en-US" sz="3400" b="1" dirty="0">
                <a:solidFill>
                  <a:srgbClr val="EDE6D6"/>
                </a:solidFill>
                <a:latin typeface="Cambria" pitchFamily="34" charset="0"/>
                <a:ea typeface="Cambria" pitchFamily="34" charset="-122"/>
                <a:cs typeface="Cambria" pitchFamily="34" charset="-120"/>
              </a:rPr>
              <a:t>Back to the text</a:t>
            </a:r>
            <a:endParaRPr lang="en-US" sz="3400" dirty="0"/>
          </a:p>
        </p:txBody>
      </p:sp>
      <p:sp>
        <p:nvSpPr>
          <p:cNvPr id="5" name="Shape 3"/>
          <p:cNvSpPr/>
          <p:nvPr/>
        </p:nvSpPr>
        <p:spPr>
          <a:xfrm>
            <a:off x="640080" y="1691640"/>
            <a:ext cx="5309464" cy="1298448"/>
          </a:xfrm>
          <a:prstGeom prst="roundRect">
            <a:avLst>
              <a:gd name="adj" fmla="val 5634"/>
            </a:avLst>
          </a:prstGeom>
          <a:solidFill>
            <a:srgbClr val="242742"/>
          </a:solidFill>
          <a:ln w="12700">
            <a:solidFill>
              <a:srgbClr val="242742"/>
            </a:solidFill>
            <a:prstDash val="solid"/>
          </a:ln>
        </p:spPr>
        <p:txBody>
          <a:bodyPr/>
          <a:lstStyle/>
          <a:p>
            <a:endParaRPr lang="en-US"/>
          </a:p>
        </p:txBody>
      </p:sp>
      <p:sp>
        <p:nvSpPr>
          <p:cNvPr id="6" name="Shape 4"/>
          <p:cNvSpPr/>
          <p:nvPr/>
        </p:nvSpPr>
        <p:spPr>
          <a:xfrm>
            <a:off x="932688" y="1947672"/>
            <a:ext cx="384048" cy="384048"/>
          </a:xfrm>
          <a:prstGeom prst="ellipse">
            <a:avLst/>
          </a:prstGeom>
          <a:solidFill>
            <a:srgbClr val="C9A227"/>
          </a:solidFill>
          <a:ln/>
        </p:spPr>
        <p:txBody>
          <a:bodyPr/>
          <a:lstStyle/>
          <a:p>
            <a:endParaRPr lang="en-US"/>
          </a:p>
        </p:txBody>
      </p:sp>
      <p:sp>
        <p:nvSpPr>
          <p:cNvPr id="7" name="Text 5"/>
          <p:cNvSpPr txBox="1"/>
          <p:nvPr/>
        </p:nvSpPr>
        <p:spPr>
          <a:xfrm>
            <a:off x="932688" y="1947672"/>
            <a:ext cx="384048" cy="384048"/>
          </a:xfrm>
          <a:prstGeom prst="rect">
            <a:avLst/>
          </a:prstGeom>
          <a:noFill/>
          <a:ln/>
        </p:spPr>
        <p:txBody>
          <a:bodyPr wrap="square" lIns="0" tIns="0" rIns="0" bIns="0" rtlCol="0" anchor="ctr"/>
          <a:lstStyle/>
          <a:p>
            <a:pPr marL="0" indent="0" algn="ctr">
              <a:buNone/>
            </a:pPr>
            <a:r>
              <a:rPr lang="en-US" sz="1500" b="1" dirty="0">
                <a:solidFill>
                  <a:srgbClr val="16182B"/>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965960"/>
            <a:ext cx="4120744" cy="292608"/>
          </a:xfrm>
          <a:prstGeom prst="rect">
            <a:avLst/>
          </a:prstGeom>
          <a:noFill/>
          <a:ln/>
        </p:spPr>
        <p:txBody>
          <a:bodyPr wrap="square" lIns="0" tIns="0" rIns="0" bIns="0" rtlCol="0" anchor="ctr"/>
          <a:lstStyle/>
          <a:p>
            <a:pPr marL="0" indent="0">
              <a:buNone/>
            </a:pPr>
            <a:r>
              <a:rPr lang="en-US" sz="1200" b="1" kern="0" spc="120" dirty="0">
                <a:solidFill>
                  <a:srgbClr val="86C2CF"/>
                </a:solidFill>
                <a:latin typeface="Calibri" pitchFamily="34" charset="0"/>
                <a:ea typeface="Calibri" pitchFamily="34" charset="-122"/>
                <a:cs typeface="Calibri" pitchFamily="34" charset="-120"/>
              </a:rPr>
              <a:t>Bk X:247–269</a:t>
            </a:r>
            <a:endParaRPr lang="en-US" sz="1200" dirty="0"/>
          </a:p>
        </p:txBody>
      </p:sp>
      <p:sp>
        <p:nvSpPr>
          <p:cNvPr id="9" name="Text 7"/>
          <p:cNvSpPr txBox="1"/>
          <p:nvPr/>
        </p:nvSpPr>
        <p:spPr>
          <a:xfrm>
            <a:off x="932688" y="2377440"/>
            <a:ext cx="4724248" cy="5486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Find the exact sentence where the poem stops treating the statue as an object. Defend the line you chose against the one before it.</a:t>
            </a:r>
            <a:endParaRPr lang="en-US" sz="1250" dirty="0"/>
          </a:p>
        </p:txBody>
      </p:sp>
      <p:sp>
        <p:nvSpPr>
          <p:cNvPr id="10" name="Shape 8"/>
          <p:cNvSpPr/>
          <p:nvPr/>
        </p:nvSpPr>
        <p:spPr>
          <a:xfrm>
            <a:off x="6242152" y="1691640"/>
            <a:ext cx="5309464" cy="1298448"/>
          </a:xfrm>
          <a:prstGeom prst="roundRect">
            <a:avLst>
              <a:gd name="adj" fmla="val 5634"/>
            </a:avLst>
          </a:prstGeom>
          <a:solidFill>
            <a:srgbClr val="242742"/>
          </a:solidFill>
          <a:ln w="12700">
            <a:solidFill>
              <a:srgbClr val="242742"/>
            </a:solidFill>
            <a:prstDash val="solid"/>
          </a:ln>
        </p:spPr>
        <p:txBody>
          <a:bodyPr/>
          <a:lstStyle/>
          <a:p>
            <a:endParaRPr lang="en-US"/>
          </a:p>
        </p:txBody>
      </p:sp>
      <p:sp>
        <p:nvSpPr>
          <p:cNvPr id="11" name="Shape 9"/>
          <p:cNvSpPr/>
          <p:nvPr/>
        </p:nvSpPr>
        <p:spPr>
          <a:xfrm>
            <a:off x="6534760" y="1947672"/>
            <a:ext cx="384048" cy="384048"/>
          </a:xfrm>
          <a:prstGeom prst="ellipse">
            <a:avLst/>
          </a:prstGeom>
          <a:solidFill>
            <a:srgbClr val="C9A227"/>
          </a:solidFill>
          <a:ln/>
        </p:spPr>
        <p:txBody>
          <a:bodyPr/>
          <a:lstStyle/>
          <a:p>
            <a:endParaRPr lang="en-US"/>
          </a:p>
        </p:txBody>
      </p:sp>
      <p:sp>
        <p:nvSpPr>
          <p:cNvPr id="12" name="Text 10"/>
          <p:cNvSpPr txBox="1"/>
          <p:nvPr/>
        </p:nvSpPr>
        <p:spPr>
          <a:xfrm>
            <a:off x="6534760" y="1947672"/>
            <a:ext cx="384048" cy="384048"/>
          </a:xfrm>
          <a:prstGeom prst="rect">
            <a:avLst/>
          </a:prstGeom>
          <a:noFill/>
          <a:ln/>
        </p:spPr>
        <p:txBody>
          <a:bodyPr wrap="square" lIns="0" tIns="0" rIns="0" bIns="0" rtlCol="0" anchor="ctr"/>
          <a:lstStyle/>
          <a:p>
            <a:pPr marL="0" indent="0" algn="ctr">
              <a:buNone/>
            </a:pPr>
            <a:r>
              <a:rPr lang="en-US" sz="1500" b="1" dirty="0">
                <a:solidFill>
                  <a:srgbClr val="16182B"/>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156552" y="1965960"/>
            <a:ext cx="4120744" cy="292608"/>
          </a:xfrm>
          <a:prstGeom prst="rect">
            <a:avLst/>
          </a:prstGeom>
          <a:noFill/>
          <a:ln/>
        </p:spPr>
        <p:txBody>
          <a:bodyPr wrap="square" lIns="0" tIns="0" rIns="0" bIns="0" rtlCol="0" anchor="ctr"/>
          <a:lstStyle/>
          <a:p>
            <a:pPr marL="0" indent="0">
              <a:buNone/>
            </a:pPr>
            <a:r>
              <a:rPr lang="en-US" sz="1200" b="1" kern="0" spc="120" dirty="0">
                <a:solidFill>
                  <a:srgbClr val="86C2CF"/>
                </a:solidFill>
                <a:latin typeface="Calibri" pitchFamily="34" charset="0"/>
                <a:ea typeface="Calibri" pitchFamily="34" charset="-122"/>
                <a:cs typeface="Calibri" pitchFamily="34" charset="-120"/>
              </a:rPr>
              <a:t>Bk X:270–297</a:t>
            </a:r>
            <a:endParaRPr lang="en-US" sz="1200" dirty="0"/>
          </a:p>
        </p:txBody>
      </p:sp>
      <p:sp>
        <p:nvSpPr>
          <p:cNvPr id="14" name="Text 12"/>
          <p:cNvSpPr txBox="1"/>
          <p:nvPr/>
        </p:nvSpPr>
        <p:spPr>
          <a:xfrm>
            <a:off x="6534760" y="2377440"/>
            <a:ext cx="4724248" cy="5486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Rewrite Pygmalion’s prayer as an explicit specification — no euphemism. What becomes impossible to grant, and why?</a:t>
            </a:r>
            <a:endParaRPr lang="en-US" sz="1250" dirty="0"/>
          </a:p>
        </p:txBody>
      </p:sp>
      <p:sp>
        <p:nvSpPr>
          <p:cNvPr id="15" name="Shape 13"/>
          <p:cNvSpPr/>
          <p:nvPr/>
        </p:nvSpPr>
        <p:spPr>
          <a:xfrm>
            <a:off x="640080" y="3172968"/>
            <a:ext cx="5309464" cy="1298448"/>
          </a:xfrm>
          <a:prstGeom prst="roundRect">
            <a:avLst>
              <a:gd name="adj" fmla="val 5634"/>
            </a:avLst>
          </a:prstGeom>
          <a:solidFill>
            <a:srgbClr val="242742"/>
          </a:solidFill>
          <a:ln w="12700">
            <a:solidFill>
              <a:srgbClr val="242742"/>
            </a:solidFill>
            <a:prstDash val="solid"/>
          </a:ln>
        </p:spPr>
        <p:txBody>
          <a:bodyPr/>
          <a:lstStyle/>
          <a:p>
            <a:endParaRPr lang="en-US"/>
          </a:p>
        </p:txBody>
      </p:sp>
      <p:sp>
        <p:nvSpPr>
          <p:cNvPr id="16" name="Shape 14"/>
          <p:cNvSpPr/>
          <p:nvPr/>
        </p:nvSpPr>
        <p:spPr>
          <a:xfrm>
            <a:off x="932688" y="3429000"/>
            <a:ext cx="384048" cy="384048"/>
          </a:xfrm>
          <a:prstGeom prst="ellipse">
            <a:avLst/>
          </a:prstGeom>
          <a:solidFill>
            <a:srgbClr val="C9A227"/>
          </a:solidFill>
          <a:ln/>
        </p:spPr>
        <p:txBody>
          <a:bodyPr/>
          <a:lstStyle/>
          <a:p>
            <a:endParaRPr lang="en-US"/>
          </a:p>
        </p:txBody>
      </p:sp>
      <p:sp>
        <p:nvSpPr>
          <p:cNvPr id="17" name="Text 15"/>
          <p:cNvSpPr txBox="1"/>
          <p:nvPr/>
        </p:nvSpPr>
        <p:spPr>
          <a:xfrm>
            <a:off x="932688" y="3429000"/>
            <a:ext cx="384048" cy="384048"/>
          </a:xfrm>
          <a:prstGeom prst="rect">
            <a:avLst/>
          </a:prstGeom>
          <a:noFill/>
          <a:ln/>
        </p:spPr>
        <p:txBody>
          <a:bodyPr wrap="square" lIns="0" tIns="0" rIns="0" bIns="0" rtlCol="0" anchor="ctr"/>
          <a:lstStyle/>
          <a:p>
            <a:pPr marL="0" indent="0" algn="ctr">
              <a:buNone/>
            </a:pPr>
            <a:r>
              <a:rPr lang="en-US" sz="1500" b="1" dirty="0">
                <a:solidFill>
                  <a:srgbClr val="16182B"/>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54480" y="3447288"/>
            <a:ext cx="4120744" cy="292608"/>
          </a:xfrm>
          <a:prstGeom prst="rect">
            <a:avLst/>
          </a:prstGeom>
          <a:noFill/>
          <a:ln/>
        </p:spPr>
        <p:txBody>
          <a:bodyPr wrap="square" lIns="0" tIns="0" rIns="0" bIns="0" rtlCol="0" anchor="ctr"/>
          <a:lstStyle/>
          <a:p>
            <a:pPr marL="0" indent="0">
              <a:buNone/>
            </a:pPr>
            <a:r>
              <a:rPr lang="en-US" sz="1200" b="1" kern="0" spc="120" dirty="0">
                <a:solidFill>
                  <a:srgbClr val="86C2CF"/>
                </a:solidFill>
                <a:latin typeface="Calibri" pitchFamily="34" charset="0"/>
                <a:ea typeface="Calibri" pitchFamily="34" charset="-122"/>
                <a:cs typeface="Calibri" pitchFamily="34" charset="-120"/>
              </a:rPr>
              <a:t>Bk III:359–392</a:t>
            </a:r>
            <a:endParaRPr lang="en-US" sz="1200" dirty="0"/>
          </a:p>
        </p:txBody>
      </p:sp>
      <p:sp>
        <p:nvSpPr>
          <p:cNvPr id="19" name="Text 17"/>
          <p:cNvSpPr txBox="1"/>
          <p:nvPr/>
        </p:nvSpPr>
        <p:spPr>
          <a:xfrm>
            <a:off x="932688" y="3858768"/>
            <a:ext cx="4724248" cy="5486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Build the strongest case that Echo is a speaker rather than a mechanism, using only what is on the page.</a:t>
            </a:r>
            <a:endParaRPr lang="en-US" sz="1250" dirty="0"/>
          </a:p>
        </p:txBody>
      </p:sp>
      <p:sp>
        <p:nvSpPr>
          <p:cNvPr id="20" name="Shape 18"/>
          <p:cNvSpPr/>
          <p:nvPr/>
        </p:nvSpPr>
        <p:spPr>
          <a:xfrm>
            <a:off x="6242152" y="3172968"/>
            <a:ext cx="5309464" cy="1298448"/>
          </a:xfrm>
          <a:prstGeom prst="roundRect">
            <a:avLst>
              <a:gd name="adj" fmla="val 5634"/>
            </a:avLst>
          </a:prstGeom>
          <a:solidFill>
            <a:srgbClr val="242742"/>
          </a:solidFill>
          <a:ln w="12700">
            <a:solidFill>
              <a:srgbClr val="242742"/>
            </a:solidFill>
            <a:prstDash val="solid"/>
          </a:ln>
        </p:spPr>
        <p:txBody>
          <a:bodyPr/>
          <a:lstStyle/>
          <a:p>
            <a:endParaRPr lang="en-US"/>
          </a:p>
        </p:txBody>
      </p:sp>
      <p:sp>
        <p:nvSpPr>
          <p:cNvPr id="21" name="Shape 19"/>
          <p:cNvSpPr/>
          <p:nvPr/>
        </p:nvSpPr>
        <p:spPr>
          <a:xfrm>
            <a:off x="6534760" y="3429000"/>
            <a:ext cx="384048" cy="384048"/>
          </a:xfrm>
          <a:prstGeom prst="ellipse">
            <a:avLst/>
          </a:prstGeom>
          <a:solidFill>
            <a:srgbClr val="C9A227"/>
          </a:solidFill>
          <a:ln/>
        </p:spPr>
        <p:txBody>
          <a:bodyPr/>
          <a:lstStyle/>
          <a:p>
            <a:endParaRPr lang="en-US"/>
          </a:p>
        </p:txBody>
      </p:sp>
      <p:sp>
        <p:nvSpPr>
          <p:cNvPr id="22" name="Text 20"/>
          <p:cNvSpPr txBox="1"/>
          <p:nvPr/>
        </p:nvSpPr>
        <p:spPr>
          <a:xfrm>
            <a:off x="6534760" y="3429000"/>
            <a:ext cx="384048" cy="384048"/>
          </a:xfrm>
          <a:prstGeom prst="rect">
            <a:avLst/>
          </a:prstGeom>
          <a:noFill/>
          <a:ln/>
        </p:spPr>
        <p:txBody>
          <a:bodyPr wrap="square" lIns="0" tIns="0" rIns="0" bIns="0" rtlCol="0" anchor="ctr"/>
          <a:lstStyle/>
          <a:p>
            <a:pPr marL="0" indent="0" algn="ctr">
              <a:buNone/>
            </a:pPr>
            <a:r>
              <a:rPr lang="en-US" sz="1500" b="1" dirty="0">
                <a:solidFill>
                  <a:srgbClr val="16182B"/>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156552" y="3447288"/>
            <a:ext cx="4120744" cy="292608"/>
          </a:xfrm>
          <a:prstGeom prst="rect">
            <a:avLst/>
          </a:prstGeom>
          <a:noFill/>
          <a:ln/>
        </p:spPr>
        <p:txBody>
          <a:bodyPr wrap="square" lIns="0" tIns="0" rIns="0" bIns="0" rtlCol="0" anchor="ctr"/>
          <a:lstStyle/>
          <a:p>
            <a:pPr marL="0" indent="0">
              <a:buNone/>
            </a:pPr>
            <a:r>
              <a:rPr lang="en-US" sz="1200" b="1" kern="0" spc="120" dirty="0">
                <a:solidFill>
                  <a:srgbClr val="86C2CF"/>
                </a:solidFill>
                <a:latin typeface="Calibri" pitchFamily="34" charset="0"/>
                <a:ea typeface="Calibri" pitchFamily="34" charset="-122"/>
                <a:cs typeface="Calibri" pitchFamily="34" charset="-120"/>
              </a:rPr>
              <a:t>Bk III:437–473</a:t>
            </a:r>
            <a:endParaRPr lang="en-US" sz="1200" dirty="0"/>
          </a:p>
        </p:txBody>
      </p:sp>
      <p:sp>
        <p:nvSpPr>
          <p:cNvPr id="24" name="Text 22"/>
          <p:cNvSpPr txBox="1"/>
          <p:nvPr/>
        </p:nvSpPr>
        <p:spPr>
          <a:xfrm>
            <a:off x="6534760" y="3858768"/>
            <a:ext cx="4724248" cy="54864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Chart the moment of recognition. What is the last thing Narcissus still believes after he knows the truth?</a:t>
            </a:r>
            <a:endParaRPr lang="en-US" sz="1250" dirty="0"/>
          </a:p>
        </p:txBody>
      </p:sp>
      <p:sp>
        <p:nvSpPr>
          <p:cNvPr id="25" name="Shape 23"/>
          <p:cNvSpPr/>
          <p:nvPr/>
        </p:nvSpPr>
        <p:spPr>
          <a:xfrm>
            <a:off x="640080" y="4754880"/>
            <a:ext cx="10911535" cy="1051560"/>
          </a:xfrm>
          <a:prstGeom prst="roundRect">
            <a:avLst>
              <a:gd name="adj" fmla="val 6957"/>
            </a:avLst>
          </a:prstGeom>
          <a:solidFill>
            <a:srgbClr val="2E7D8C"/>
          </a:solidFill>
          <a:ln w="12700">
            <a:solidFill>
              <a:srgbClr val="2E7D8C"/>
            </a:solidFill>
            <a:prstDash val="solid"/>
          </a:ln>
        </p:spPr>
        <p:txBody>
          <a:bodyPr/>
          <a:lstStyle/>
          <a:p>
            <a:endParaRPr lang="en-US"/>
          </a:p>
        </p:txBody>
      </p:sp>
      <p:sp>
        <p:nvSpPr>
          <p:cNvPr id="26" name="Text 24"/>
          <p:cNvSpPr txBox="1"/>
          <p:nvPr/>
        </p:nvSpPr>
        <p:spPr>
          <a:xfrm>
            <a:off x="1005840" y="4937760"/>
            <a:ext cx="10424160" cy="6858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Every group reports in ninety seconds and must deliver exactly three things: one claim, one line reference, one contemporary example.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9A227"/>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F6478"/>
                </a:solidFill>
                <a:latin typeface="Calibri" pitchFamily="34" charset="0"/>
                <a:ea typeface="Calibri" pitchFamily="34" charset="-122"/>
                <a:cs typeface="Calibri" pitchFamily="34" charset="-120"/>
              </a:rPr>
              <a:t>CLOSING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100" b="1" dirty="0">
                <a:solidFill>
                  <a:srgbClr val="16182B"/>
                </a:solidFill>
                <a:latin typeface="Cambria" pitchFamily="34" charset="0"/>
                <a:ea typeface="Cambria" pitchFamily="34" charset="-122"/>
                <a:cs typeface="Cambria" pitchFamily="34" charset="-120"/>
              </a:rPr>
              <a:t>Three things to leave with</a:t>
            </a:r>
            <a:endParaRPr lang="en-US" sz="3100" dirty="0"/>
          </a:p>
        </p:txBody>
      </p:sp>
      <p:sp>
        <p:nvSpPr>
          <p:cNvPr id="5" name="Shape 3"/>
          <p:cNvSpPr/>
          <p:nvPr/>
        </p:nvSpPr>
        <p:spPr>
          <a:xfrm>
            <a:off x="640080" y="1627632"/>
            <a:ext cx="10911535" cy="1234440"/>
          </a:xfrm>
          <a:prstGeom prst="roundRect">
            <a:avLst>
              <a:gd name="adj" fmla="val 5926"/>
            </a:avLst>
          </a:prstGeom>
          <a:solidFill>
            <a:srgbClr val="F6F2E9"/>
          </a:solidFill>
          <a:ln w="12700">
            <a:solidFill>
              <a:srgbClr val="F6F2E9"/>
            </a:solidFill>
            <a:prstDash val="solid"/>
          </a:ln>
        </p:spPr>
        <p:txBody>
          <a:bodyPr/>
          <a:lstStyle/>
          <a:p>
            <a:endParaRPr lang="en-US"/>
          </a:p>
        </p:txBody>
      </p:sp>
      <p:sp>
        <p:nvSpPr>
          <p:cNvPr id="6" name="Shape 4"/>
          <p:cNvSpPr/>
          <p:nvPr/>
        </p:nvSpPr>
        <p:spPr>
          <a:xfrm>
            <a:off x="960120" y="2048256"/>
            <a:ext cx="384048" cy="384048"/>
          </a:xfrm>
          <a:prstGeom prst="ellipse">
            <a:avLst/>
          </a:prstGeom>
          <a:solidFill>
            <a:srgbClr val="16182B"/>
          </a:solidFill>
          <a:ln/>
        </p:spPr>
        <p:txBody>
          <a:bodyPr/>
          <a:lstStyle/>
          <a:p>
            <a:endParaRPr lang="en-US"/>
          </a:p>
        </p:txBody>
      </p:sp>
      <p:sp>
        <p:nvSpPr>
          <p:cNvPr id="7" name="Text 5"/>
          <p:cNvSpPr txBox="1"/>
          <p:nvPr/>
        </p:nvSpPr>
        <p:spPr>
          <a:xfrm>
            <a:off x="960120" y="20482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810512"/>
            <a:ext cx="9509760" cy="347472"/>
          </a:xfrm>
          <a:prstGeom prst="rect">
            <a:avLst/>
          </a:prstGeom>
          <a:noFill/>
          <a:ln/>
        </p:spPr>
        <p:txBody>
          <a:bodyPr wrap="square" lIns="0" tIns="0" rIns="0" bIns="0" rtlCol="0" anchor="ctr"/>
          <a:lstStyle/>
          <a:p>
            <a:pPr marL="0" indent="0">
              <a:buNone/>
            </a:pPr>
            <a:r>
              <a:rPr lang="en-US" sz="1850" b="1" dirty="0">
                <a:solidFill>
                  <a:srgbClr val="16182B"/>
                </a:solidFill>
                <a:latin typeface="Cambria" pitchFamily="34" charset="0"/>
                <a:ea typeface="Cambria" pitchFamily="34" charset="-122"/>
                <a:cs typeface="Cambria" pitchFamily="34" charset="-120"/>
              </a:rPr>
              <a:t>Ovid is never interested in the technology</a:t>
            </a:r>
            <a:endParaRPr lang="en-US" sz="1850" dirty="0"/>
          </a:p>
        </p:txBody>
      </p:sp>
      <p:sp>
        <p:nvSpPr>
          <p:cNvPr id="9" name="Text 7"/>
          <p:cNvSpPr txBox="1"/>
          <p:nvPr/>
        </p:nvSpPr>
        <p:spPr>
          <a:xfrm>
            <a:off x="1600200" y="2194560"/>
            <a:ext cx="9509760" cy="566928"/>
          </a:xfrm>
          <a:prstGeom prst="rect">
            <a:avLst/>
          </a:prstGeom>
          <a:noFill/>
          <a:ln/>
        </p:spPr>
        <p:txBody>
          <a:bodyPr wrap="square" lIns="0" tIns="0" rIns="0" bIns="0" rtlCol="0" anchor="ctr"/>
          <a:lstStyle/>
          <a:p>
            <a:pPr marL="0" indent="0">
              <a:lnSpc>
                <a:spcPts val="1700"/>
              </a:lnSpc>
              <a:buNone/>
            </a:pPr>
            <a:r>
              <a:rPr lang="en-US" sz="1300" dirty="0">
                <a:solidFill>
                  <a:srgbClr val="5F6478"/>
                </a:solidFill>
                <a:latin typeface="Calibri" pitchFamily="34" charset="0"/>
                <a:ea typeface="Calibri" pitchFamily="34" charset="-122"/>
                <a:cs typeface="Calibri" pitchFamily="34" charset="-120"/>
              </a:rPr>
              <a:t>There is no account of how ivory becomes flesh, and no mechanism for how a voice survives without a body. What both stories examine is what the person wanted before anything was made.</a:t>
            </a:r>
            <a:endParaRPr lang="en-US" sz="1300" dirty="0"/>
          </a:p>
        </p:txBody>
      </p:sp>
      <p:sp>
        <p:nvSpPr>
          <p:cNvPr id="10" name="Shape 8"/>
          <p:cNvSpPr/>
          <p:nvPr/>
        </p:nvSpPr>
        <p:spPr>
          <a:xfrm>
            <a:off x="640080" y="2999232"/>
            <a:ext cx="10911535" cy="1234440"/>
          </a:xfrm>
          <a:prstGeom prst="roundRect">
            <a:avLst>
              <a:gd name="adj" fmla="val 5926"/>
            </a:avLst>
          </a:prstGeom>
          <a:solidFill>
            <a:srgbClr val="E7F0F2"/>
          </a:solidFill>
          <a:ln w="12700">
            <a:solidFill>
              <a:srgbClr val="E7F0F2"/>
            </a:solidFill>
            <a:prstDash val="solid"/>
          </a:ln>
        </p:spPr>
        <p:txBody>
          <a:bodyPr/>
          <a:lstStyle/>
          <a:p>
            <a:endParaRPr lang="en-US"/>
          </a:p>
        </p:txBody>
      </p:sp>
      <p:sp>
        <p:nvSpPr>
          <p:cNvPr id="11" name="Shape 9"/>
          <p:cNvSpPr/>
          <p:nvPr/>
        </p:nvSpPr>
        <p:spPr>
          <a:xfrm>
            <a:off x="960120" y="3419856"/>
            <a:ext cx="384048" cy="384048"/>
          </a:xfrm>
          <a:prstGeom prst="ellipse">
            <a:avLst/>
          </a:prstGeom>
          <a:solidFill>
            <a:srgbClr val="2E7D8C"/>
          </a:solidFill>
          <a:ln/>
        </p:spPr>
        <p:txBody>
          <a:bodyPr/>
          <a:lstStyle/>
          <a:p>
            <a:endParaRPr lang="en-US"/>
          </a:p>
        </p:txBody>
      </p:sp>
      <p:sp>
        <p:nvSpPr>
          <p:cNvPr id="12" name="Text 10"/>
          <p:cNvSpPr txBox="1"/>
          <p:nvPr/>
        </p:nvSpPr>
        <p:spPr>
          <a:xfrm>
            <a:off x="960120" y="34198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3182112"/>
            <a:ext cx="9509760" cy="347472"/>
          </a:xfrm>
          <a:prstGeom prst="rect">
            <a:avLst/>
          </a:prstGeom>
          <a:noFill/>
          <a:ln/>
        </p:spPr>
        <p:txBody>
          <a:bodyPr wrap="square" lIns="0" tIns="0" rIns="0" bIns="0" rtlCol="0" anchor="ctr"/>
          <a:lstStyle/>
          <a:p>
            <a:pPr marL="0" indent="0">
              <a:buNone/>
            </a:pPr>
            <a:r>
              <a:rPr lang="en-US" sz="1850" b="1" dirty="0">
                <a:solidFill>
                  <a:srgbClr val="16182B"/>
                </a:solidFill>
                <a:latin typeface="Cambria" pitchFamily="34" charset="0"/>
                <a:ea typeface="Cambria" pitchFamily="34" charset="-122"/>
                <a:cs typeface="Cambria" pitchFamily="34" charset="-120"/>
              </a:rPr>
              <a:t>Animation is always outsourced</a:t>
            </a:r>
            <a:endParaRPr lang="en-US" sz="1850" dirty="0"/>
          </a:p>
        </p:txBody>
      </p:sp>
      <p:sp>
        <p:nvSpPr>
          <p:cNvPr id="14" name="Text 12"/>
          <p:cNvSpPr txBox="1"/>
          <p:nvPr/>
        </p:nvSpPr>
        <p:spPr>
          <a:xfrm>
            <a:off x="1600200" y="3566160"/>
            <a:ext cx="9509760" cy="566928"/>
          </a:xfrm>
          <a:prstGeom prst="rect">
            <a:avLst/>
          </a:prstGeom>
          <a:noFill/>
          <a:ln/>
        </p:spPr>
        <p:txBody>
          <a:bodyPr wrap="square" lIns="0" tIns="0" rIns="0" bIns="0" rtlCol="0" anchor="ctr"/>
          <a:lstStyle/>
          <a:p>
            <a:pPr marL="0" indent="0">
              <a:lnSpc>
                <a:spcPts val="1700"/>
              </a:lnSpc>
              <a:buNone/>
            </a:pPr>
            <a:r>
              <a:rPr lang="en-US" sz="1300" dirty="0">
                <a:solidFill>
                  <a:srgbClr val="5F6478"/>
                </a:solidFill>
                <a:latin typeface="Calibri" pitchFamily="34" charset="0"/>
                <a:ea typeface="Calibri" pitchFamily="34" charset="-122"/>
                <a:cs typeface="Calibri" pitchFamily="34" charset="-120"/>
              </a:rPr>
              <a:t>Pygmalion makes the likeness; Venus supplies the life. When you meet a maker who will not name the source of the life in their artefact, notice the word standing in Venus’s place.</a:t>
            </a:r>
            <a:endParaRPr lang="en-US" sz="1300" dirty="0"/>
          </a:p>
        </p:txBody>
      </p:sp>
      <p:sp>
        <p:nvSpPr>
          <p:cNvPr id="15" name="Shape 13"/>
          <p:cNvSpPr/>
          <p:nvPr/>
        </p:nvSpPr>
        <p:spPr>
          <a:xfrm>
            <a:off x="640080" y="4370832"/>
            <a:ext cx="10911535" cy="1234440"/>
          </a:xfrm>
          <a:prstGeom prst="roundRect">
            <a:avLst>
              <a:gd name="adj" fmla="val 5926"/>
            </a:avLst>
          </a:prstGeom>
          <a:solidFill>
            <a:srgbClr val="F6F2E9"/>
          </a:solidFill>
          <a:ln w="12700">
            <a:solidFill>
              <a:srgbClr val="F6F2E9"/>
            </a:solidFill>
            <a:prstDash val="solid"/>
          </a:ln>
        </p:spPr>
        <p:txBody>
          <a:bodyPr/>
          <a:lstStyle/>
          <a:p>
            <a:endParaRPr lang="en-US"/>
          </a:p>
        </p:txBody>
      </p:sp>
      <p:sp>
        <p:nvSpPr>
          <p:cNvPr id="16" name="Shape 14"/>
          <p:cNvSpPr/>
          <p:nvPr/>
        </p:nvSpPr>
        <p:spPr>
          <a:xfrm>
            <a:off x="960120" y="4791456"/>
            <a:ext cx="384048" cy="384048"/>
          </a:xfrm>
          <a:prstGeom prst="ellipse">
            <a:avLst/>
          </a:prstGeom>
          <a:solidFill>
            <a:srgbClr val="16182B"/>
          </a:solidFill>
          <a:ln/>
        </p:spPr>
        <p:txBody>
          <a:bodyPr/>
          <a:lstStyle/>
          <a:p>
            <a:endParaRPr lang="en-US"/>
          </a:p>
        </p:txBody>
      </p:sp>
      <p:sp>
        <p:nvSpPr>
          <p:cNvPr id="17" name="Text 15"/>
          <p:cNvSpPr txBox="1"/>
          <p:nvPr/>
        </p:nvSpPr>
        <p:spPr>
          <a:xfrm>
            <a:off x="960120" y="479145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553712"/>
            <a:ext cx="9509760" cy="347472"/>
          </a:xfrm>
          <a:prstGeom prst="rect">
            <a:avLst/>
          </a:prstGeom>
          <a:noFill/>
          <a:ln/>
        </p:spPr>
        <p:txBody>
          <a:bodyPr wrap="square" lIns="0" tIns="0" rIns="0" bIns="0" rtlCol="0" anchor="ctr"/>
          <a:lstStyle/>
          <a:p>
            <a:pPr marL="0" indent="0">
              <a:buNone/>
            </a:pPr>
            <a:r>
              <a:rPr lang="en-US" sz="1850" b="1" dirty="0">
                <a:solidFill>
                  <a:srgbClr val="16182B"/>
                </a:solidFill>
                <a:latin typeface="Cambria" pitchFamily="34" charset="0"/>
                <a:ea typeface="Cambria" pitchFamily="34" charset="-122"/>
                <a:cs typeface="Cambria" pitchFamily="34" charset="-120"/>
              </a:rPr>
              <a:t>Silence is authored</a:t>
            </a:r>
            <a:endParaRPr lang="en-US" sz="1850" dirty="0"/>
          </a:p>
        </p:txBody>
      </p:sp>
      <p:sp>
        <p:nvSpPr>
          <p:cNvPr id="19" name="Text 17"/>
          <p:cNvSpPr txBox="1"/>
          <p:nvPr/>
        </p:nvSpPr>
        <p:spPr>
          <a:xfrm>
            <a:off x="1600200" y="4937760"/>
            <a:ext cx="9509760" cy="566928"/>
          </a:xfrm>
          <a:prstGeom prst="rect">
            <a:avLst/>
          </a:prstGeom>
          <a:noFill/>
          <a:ln/>
        </p:spPr>
        <p:txBody>
          <a:bodyPr wrap="square" lIns="0" tIns="0" rIns="0" bIns="0" rtlCol="0" anchor="ctr"/>
          <a:lstStyle/>
          <a:p>
            <a:pPr marL="0" indent="0">
              <a:lnSpc>
                <a:spcPts val="1700"/>
              </a:lnSpc>
              <a:buNone/>
            </a:pPr>
            <a:r>
              <a:rPr lang="en-US" sz="1300" dirty="0">
                <a:solidFill>
                  <a:srgbClr val="5F6478"/>
                </a:solidFill>
                <a:latin typeface="Calibri" pitchFamily="34" charset="0"/>
                <a:ea typeface="Calibri" pitchFamily="34" charset="-122"/>
                <a:cs typeface="Calibri" pitchFamily="34" charset="-120"/>
              </a:rPr>
              <a:t>The statue’s wordlessness is a decision by a poet who was perfectly capable of writing her a monologue. Ask that question of every made character, and of every product that speaks in a voice it did not choose.</a:t>
            </a:r>
            <a:endParaRPr lang="en-US" sz="1300" dirty="0"/>
          </a:p>
        </p:txBody>
      </p:sp>
      <p:sp>
        <p:nvSpPr>
          <p:cNvPr id="20" name="Shape 18"/>
          <p:cNvSpPr/>
          <p:nvPr/>
        </p:nvSpPr>
        <p:spPr>
          <a:xfrm>
            <a:off x="640080" y="5742432"/>
            <a:ext cx="10911535" cy="566928"/>
          </a:xfrm>
          <a:prstGeom prst="roundRect">
            <a:avLst>
              <a:gd name="adj" fmla="val 12903"/>
            </a:avLst>
          </a:prstGeom>
          <a:solidFill>
            <a:srgbClr val="16182B"/>
          </a:solidFill>
          <a:ln w="12700">
            <a:solidFill>
              <a:srgbClr val="16182B"/>
            </a:solidFill>
            <a:prstDash val="solid"/>
          </a:ln>
        </p:spPr>
        <p:txBody>
          <a:bodyPr/>
          <a:lstStyle/>
          <a:p>
            <a:endParaRPr lang="en-US"/>
          </a:p>
        </p:txBody>
      </p:sp>
      <p:sp>
        <p:nvSpPr>
          <p:cNvPr id="21" name="Text 19"/>
          <p:cNvSpPr txBox="1"/>
          <p:nvPr/>
        </p:nvSpPr>
        <p:spPr>
          <a:xfrm>
            <a:off x="1005840" y="5742432"/>
            <a:ext cx="10424160" cy="566928"/>
          </a:xfrm>
          <a:prstGeom prst="rect">
            <a:avLst/>
          </a:prstGeom>
          <a:noFill/>
          <a:ln/>
        </p:spPr>
        <p:txBody>
          <a:bodyPr wrap="square" lIns="0" tIns="0" rIns="0" bIns="0" rtlCol="0" anchor="ctr"/>
          <a:lstStyle/>
          <a:p>
            <a:pPr marL="0" indent="0">
              <a:buNone/>
            </a:pPr>
            <a:r>
              <a:rPr lang="en-US" sz="1600" i="1" dirty="0">
                <a:solidFill>
                  <a:srgbClr val="C9A227"/>
                </a:solidFill>
                <a:latin typeface="Cambria" pitchFamily="34" charset="0"/>
                <a:ea typeface="Cambria" pitchFamily="34" charset="-122"/>
                <a:cs typeface="Cambria" pitchFamily="34" charset="-120"/>
              </a:rPr>
              <a:t>Now take out the page you wrote at the start of class.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16182B"/>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C9A227"/>
          </a:solidFill>
          <a:ln/>
        </p:spPr>
        <p:txBody>
          <a:bodyPr/>
          <a:lstStyle/>
          <a:p>
            <a:endParaRPr lang="en-US"/>
          </a:p>
        </p:txBody>
      </p:sp>
      <p:sp>
        <p:nvSpPr>
          <p:cNvPr id="3" name="Text 1"/>
          <p:cNvSpPr txBox="1"/>
          <p:nvPr/>
        </p:nvSpPr>
        <p:spPr>
          <a:xfrm>
            <a:off x="886968" y="438912"/>
            <a:ext cx="9144000" cy="274320"/>
          </a:xfrm>
          <a:prstGeom prst="rect">
            <a:avLst/>
          </a:prstGeom>
          <a:noFill/>
          <a:ln/>
        </p:spPr>
        <p:txBody>
          <a:bodyPr wrap="square" lIns="0" tIns="0" rIns="0" bIns="0" rtlCol="0" anchor="ctr"/>
          <a:lstStyle/>
          <a:p>
            <a:pPr marL="0" indent="0">
              <a:buNone/>
            </a:pPr>
            <a:r>
              <a:rPr lang="en-US" sz="1100" b="1" kern="0" spc="160" dirty="0">
                <a:solidFill>
                  <a:srgbClr val="C9A227"/>
                </a:solidFill>
                <a:latin typeface="Calibri" pitchFamily="34" charset="0"/>
                <a:ea typeface="Calibri" pitchFamily="34" charset="-122"/>
                <a:cs typeface="Calibri" pitchFamily="34" charset="-120"/>
              </a:rPr>
              <a:t>EXIT TICKET · FIVE MINUTES</a:t>
            </a:r>
            <a:endParaRPr lang="en-US" sz="1100" dirty="0"/>
          </a:p>
        </p:txBody>
      </p:sp>
      <p:sp>
        <p:nvSpPr>
          <p:cNvPr id="4" name="Text 2"/>
          <p:cNvSpPr txBox="1"/>
          <p:nvPr/>
        </p:nvSpPr>
        <p:spPr>
          <a:xfrm>
            <a:off x="640080" y="868680"/>
            <a:ext cx="10881360" cy="640080"/>
          </a:xfrm>
          <a:prstGeom prst="rect">
            <a:avLst/>
          </a:prstGeom>
          <a:noFill/>
          <a:ln/>
        </p:spPr>
        <p:txBody>
          <a:bodyPr wrap="square" lIns="0" tIns="0" rIns="0" bIns="0" rtlCol="0" anchor="ctr"/>
          <a:lstStyle/>
          <a:p>
            <a:pPr marL="0" indent="0">
              <a:buNone/>
            </a:pPr>
            <a:r>
              <a:rPr lang="en-US" sz="3400" b="1" dirty="0">
                <a:solidFill>
                  <a:srgbClr val="EDE6D6"/>
                </a:solidFill>
                <a:latin typeface="Cambria" pitchFamily="34" charset="0"/>
                <a:ea typeface="Cambria" pitchFamily="34" charset="-122"/>
                <a:cs typeface="Cambria" pitchFamily="34" charset="-120"/>
              </a:rPr>
              <a:t>One paragraph, handed in</a:t>
            </a:r>
            <a:endParaRPr lang="en-US" sz="3400" dirty="0"/>
          </a:p>
        </p:txBody>
      </p:sp>
      <p:sp>
        <p:nvSpPr>
          <p:cNvPr id="5" name="Shape 3"/>
          <p:cNvSpPr/>
          <p:nvPr/>
        </p:nvSpPr>
        <p:spPr>
          <a:xfrm>
            <a:off x="640080" y="1783080"/>
            <a:ext cx="6537960" cy="2331720"/>
          </a:xfrm>
          <a:prstGeom prst="roundRect">
            <a:avLst>
              <a:gd name="adj" fmla="val 3137"/>
            </a:avLst>
          </a:prstGeom>
          <a:solidFill>
            <a:srgbClr val="242742"/>
          </a:solidFill>
          <a:ln w="12700">
            <a:solidFill>
              <a:srgbClr val="242742"/>
            </a:solidFill>
            <a:prstDash val="solid"/>
          </a:ln>
        </p:spPr>
        <p:txBody>
          <a:bodyPr/>
          <a:lstStyle/>
          <a:p>
            <a:endParaRPr lang="en-US"/>
          </a:p>
        </p:txBody>
      </p:sp>
      <p:sp>
        <p:nvSpPr>
          <p:cNvPr id="6" name="Text 4"/>
          <p:cNvSpPr txBox="1"/>
          <p:nvPr/>
        </p:nvSpPr>
        <p:spPr>
          <a:xfrm>
            <a:off x="1024128" y="2011680"/>
            <a:ext cx="5760720" cy="1874520"/>
          </a:xfrm>
          <a:prstGeom prst="rect">
            <a:avLst/>
          </a:prstGeom>
          <a:noFill/>
          <a:ln/>
        </p:spPr>
        <p:txBody>
          <a:bodyPr wrap="square" lIns="0" tIns="0" rIns="0" bIns="0" rtlCol="0" anchor="ctr"/>
          <a:lstStyle/>
          <a:p>
            <a:pPr marL="0" indent="0">
              <a:lnSpc>
                <a:spcPts val="2600"/>
              </a:lnSpc>
              <a:buNone/>
            </a:pPr>
            <a:r>
              <a:rPr lang="en-US" sz="1700" dirty="0">
                <a:solidFill>
                  <a:srgbClr val="FFFFFF"/>
                </a:solidFill>
                <a:latin typeface="Cambria" pitchFamily="34" charset="0"/>
                <a:ea typeface="Cambria" pitchFamily="34" charset="-122"/>
                <a:cs typeface="Cambria" pitchFamily="34" charset="-120"/>
              </a:rPr>
              <a:t>Look again at what you wrote in the first five minutes. Which of the three stances — Pygmalion, Narcissus, or Echo — best describes what you were doing, and what does that framing get wrong about your own case?</a:t>
            </a:r>
            <a:endParaRPr lang="en-US" sz="1700" dirty="0"/>
          </a:p>
        </p:txBody>
      </p:sp>
      <p:sp>
        <p:nvSpPr>
          <p:cNvPr id="7" name="Shape 5"/>
          <p:cNvSpPr/>
          <p:nvPr/>
        </p:nvSpPr>
        <p:spPr>
          <a:xfrm>
            <a:off x="7498080" y="1783080"/>
            <a:ext cx="4023360" cy="2331720"/>
          </a:xfrm>
          <a:prstGeom prst="roundRect">
            <a:avLst>
              <a:gd name="adj" fmla="val 3137"/>
            </a:avLst>
          </a:prstGeom>
          <a:solidFill>
            <a:srgbClr val="2E7D8C"/>
          </a:solidFill>
          <a:ln w="12700">
            <a:solidFill>
              <a:srgbClr val="2E7D8C"/>
            </a:solidFill>
            <a:prstDash val="solid"/>
          </a:ln>
        </p:spPr>
        <p:txBody>
          <a:bodyPr/>
          <a:lstStyle/>
          <a:p>
            <a:endParaRPr lang="en-US"/>
          </a:p>
        </p:txBody>
      </p:sp>
      <p:sp>
        <p:nvSpPr>
          <p:cNvPr id="8" name="Text 6"/>
          <p:cNvSpPr txBox="1"/>
          <p:nvPr/>
        </p:nvSpPr>
        <p:spPr>
          <a:xfrm>
            <a:off x="7818120" y="1993392"/>
            <a:ext cx="3429000" cy="292608"/>
          </a:xfrm>
          <a:prstGeom prst="rect">
            <a:avLst/>
          </a:prstGeom>
          <a:noFill/>
          <a:ln/>
        </p:spPr>
        <p:txBody>
          <a:bodyPr wrap="square" lIns="0" tIns="0" rIns="0" bIns="0" rtlCol="0" anchor="ctr"/>
          <a:lstStyle/>
          <a:p>
            <a:pPr marL="0" indent="0">
              <a:buNone/>
            </a:pPr>
            <a:r>
              <a:rPr lang="en-US" sz="1150" b="1" kern="0" spc="130" dirty="0">
                <a:solidFill>
                  <a:srgbClr val="FFFFFF"/>
                </a:solidFill>
                <a:latin typeface="Calibri" pitchFamily="34" charset="0"/>
                <a:ea typeface="Calibri" pitchFamily="34" charset="-122"/>
                <a:cs typeface="Calibri" pitchFamily="34" charset="-120"/>
              </a:rPr>
              <a:t>The move I want to see</a:t>
            </a:r>
            <a:endParaRPr lang="en-US" sz="1150" dirty="0"/>
          </a:p>
        </p:txBody>
      </p:sp>
      <p:sp>
        <p:nvSpPr>
          <p:cNvPr id="9" name="Text 7"/>
          <p:cNvSpPr txBox="1"/>
          <p:nvPr/>
        </p:nvSpPr>
        <p:spPr>
          <a:xfrm>
            <a:off x="7818120" y="2359152"/>
            <a:ext cx="3429000" cy="155448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The second half of the question matters more than the first. Full credit goes to the paragraph that finds where the ancient plot fails to describe the modern situation.</a:t>
            </a:r>
            <a:endParaRPr lang="en-US" sz="1300" dirty="0"/>
          </a:p>
        </p:txBody>
      </p:sp>
      <p:sp>
        <p:nvSpPr>
          <p:cNvPr id="10" name="Text 8"/>
          <p:cNvSpPr txBox="1"/>
          <p:nvPr/>
        </p:nvSpPr>
        <p:spPr>
          <a:xfrm>
            <a:off x="640080" y="4389120"/>
            <a:ext cx="10881360" cy="274320"/>
          </a:xfrm>
          <a:prstGeom prst="rect">
            <a:avLst/>
          </a:prstGeom>
          <a:noFill/>
          <a:ln/>
        </p:spPr>
        <p:txBody>
          <a:bodyPr wrap="square" lIns="0" tIns="0" rIns="0" bIns="0" rtlCol="0" anchor="ctr"/>
          <a:lstStyle/>
          <a:p>
            <a:pPr marL="0" indent="0">
              <a:buNone/>
            </a:pPr>
            <a:r>
              <a:rPr lang="en-US" sz="1100" b="1" kern="0" spc="140" dirty="0">
                <a:solidFill>
                  <a:srgbClr val="C9A227"/>
                </a:solidFill>
                <a:latin typeface="Calibri" pitchFamily="34" charset="0"/>
                <a:ea typeface="Calibri" pitchFamily="34" charset="-122"/>
                <a:cs typeface="Calibri" pitchFamily="34" charset="-120"/>
              </a:rPr>
              <a:t>SUGGESTED READING FOR NEXT SESSION — ADJUST TO YOUR SYLLABUS</a:t>
            </a:r>
            <a:endParaRPr lang="en-US" sz="1100" dirty="0"/>
          </a:p>
        </p:txBody>
      </p:sp>
      <p:sp>
        <p:nvSpPr>
          <p:cNvPr id="11" name="Shape 9"/>
          <p:cNvSpPr/>
          <p:nvPr/>
        </p:nvSpPr>
        <p:spPr>
          <a:xfrm>
            <a:off x="685800" y="4837176"/>
            <a:ext cx="91440" cy="91440"/>
          </a:xfrm>
          <a:prstGeom prst="ellipse">
            <a:avLst/>
          </a:prstGeom>
          <a:solidFill>
            <a:srgbClr val="2E7D8C"/>
          </a:solidFill>
          <a:ln/>
        </p:spPr>
        <p:txBody>
          <a:bodyPr/>
          <a:lstStyle/>
          <a:p>
            <a:endParaRPr lang="en-US"/>
          </a:p>
        </p:txBody>
      </p:sp>
      <p:sp>
        <p:nvSpPr>
          <p:cNvPr id="12" name="Text 10"/>
          <p:cNvSpPr txBox="1"/>
          <p:nvPr/>
        </p:nvSpPr>
        <p:spPr>
          <a:xfrm>
            <a:off x="932688" y="4754880"/>
            <a:ext cx="10424160" cy="274320"/>
          </a:xfrm>
          <a:prstGeom prst="rect">
            <a:avLst/>
          </a:prstGeom>
          <a:noFill/>
          <a:ln/>
        </p:spPr>
        <p:txBody>
          <a:bodyPr wrap="square" lIns="0" tIns="0" rIns="0" bIns="0" rtlCol="0" anchor="ctr"/>
          <a:lstStyle/>
          <a:p>
            <a:pPr marL="0" indent="0">
              <a:buNone/>
            </a:pPr>
            <a:r>
              <a:rPr lang="en-US" sz="1300" dirty="0">
                <a:solidFill>
                  <a:srgbClr val="EDE6D6"/>
                </a:solidFill>
                <a:latin typeface="Calibri" pitchFamily="34" charset="0"/>
                <a:ea typeface="Calibri" pitchFamily="34" charset="-122"/>
                <a:cs typeface="Calibri" pitchFamily="34" charset="-120"/>
              </a:rPr>
              <a:t>Mary Shelley, Frankenstein — Volume I, the making and the first speech</a:t>
            </a:r>
            <a:endParaRPr lang="en-US" sz="1300" dirty="0"/>
          </a:p>
        </p:txBody>
      </p:sp>
      <p:sp>
        <p:nvSpPr>
          <p:cNvPr id="13" name="Shape 11"/>
          <p:cNvSpPr/>
          <p:nvPr/>
        </p:nvSpPr>
        <p:spPr>
          <a:xfrm>
            <a:off x="685800" y="5175504"/>
            <a:ext cx="91440" cy="91440"/>
          </a:xfrm>
          <a:prstGeom prst="ellipse">
            <a:avLst/>
          </a:prstGeom>
          <a:solidFill>
            <a:srgbClr val="2E7D8C"/>
          </a:solidFill>
          <a:ln/>
        </p:spPr>
        <p:txBody>
          <a:bodyPr/>
          <a:lstStyle/>
          <a:p>
            <a:endParaRPr lang="en-US"/>
          </a:p>
        </p:txBody>
      </p:sp>
      <p:sp>
        <p:nvSpPr>
          <p:cNvPr id="14" name="Text 12"/>
          <p:cNvSpPr txBox="1"/>
          <p:nvPr/>
        </p:nvSpPr>
        <p:spPr>
          <a:xfrm>
            <a:off x="932688" y="5093208"/>
            <a:ext cx="10424160" cy="274320"/>
          </a:xfrm>
          <a:prstGeom prst="rect">
            <a:avLst/>
          </a:prstGeom>
          <a:noFill/>
          <a:ln/>
        </p:spPr>
        <p:txBody>
          <a:bodyPr wrap="square" lIns="0" tIns="0" rIns="0" bIns="0" rtlCol="0" anchor="ctr"/>
          <a:lstStyle/>
          <a:p>
            <a:pPr marL="0" indent="0">
              <a:buNone/>
            </a:pPr>
            <a:r>
              <a:rPr lang="en-US" sz="1300" dirty="0">
                <a:solidFill>
                  <a:srgbClr val="EDE6D6"/>
                </a:solidFill>
                <a:latin typeface="Calibri" pitchFamily="34" charset="0"/>
                <a:ea typeface="Calibri" pitchFamily="34" charset="-122"/>
                <a:cs typeface="Calibri" pitchFamily="34" charset="-120"/>
              </a:rPr>
              <a:t>Villiers de l’Isle-Adam, Tomorrow’s Eve — selections on the android’s design</a:t>
            </a:r>
            <a:endParaRPr lang="en-US" sz="1300" dirty="0"/>
          </a:p>
        </p:txBody>
      </p:sp>
      <p:sp>
        <p:nvSpPr>
          <p:cNvPr id="15" name="Shape 13"/>
          <p:cNvSpPr/>
          <p:nvPr/>
        </p:nvSpPr>
        <p:spPr>
          <a:xfrm>
            <a:off x="685800" y="5513832"/>
            <a:ext cx="91440" cy="91440"/>
          </a:xfrm>
          <a:prstGeom prst="ellipse">
            <a:avLst/>
          </a:prstGeom>
          <a:solidFill>
            <a:srgbClr val="2E7D8C"/>
          </a:solidFill>
          <a:ln/>
        </p:spPr>
        <p:txBody>
          <a:bodyPr/>
          <a:lstStyle/>
          <a:p>
            <a:endParaRPr lang="en-US"/>
          </a:p>
        </p:txBody>
      </p:sp>
      <p:sp>
        <p:nvSpPr>
          <p:cNvPr id="16" name="Text 14"/>
          <p:cNvSpPr txBox="1"/>
          <p:nvPr/>
        </p:nvSpPr>
        <p:spPr>
          <a:xfrm>
            <a:off x="932688" y="5431536"/>
            <a:ext cx="10424160" cy="274320"/>
          </a:xfrm>
          <a:prstGeom prst="rect">
            <a:avLst/>
          </a:prstGeom>
          <a:noFill/>
          <a:ln/>
        </p:spPr>
        <p:txBody>
          <a:bodyPr wrap="square" lIns="0" tIns="0" rIns="0" bIns="0" rtlCol="0" anchor="ctr"/>
          <a:lstStyle/>
          <a:p>
            <a:pPr marL="0" indent="0">
              <a:buNone/>
            </a:pPr>
            <a:r>
              <a:rPr lang="en-US" sz="1300" dirty="0">
                <a:solidFill>
                  <a:srgbClr val="EDE6D6"/>
                </a:solidFill>
                <a:latin typeface="Calibri" pitchFamily="34" charset="0"/>
                <a:ea typeface="Calibri" pitchFamily="34" charset="-122"/>
                <a:cs typeface="Calibri" pitchFamily="34" charset="-120"/>
              </a:rPr>
              <a:t>Bender, Gebru, McMillan-Major and Mitchell, “On the Dangers of Stochastic Parrots” (2021)</a:t>
            </a:r>
            <a:endParaRPr lang="en-US" sz="1300" dirty="0"/>
          </a:p>
        </p:txBody>
      </p:sp>
      <p:sp>
        <p:nvSpPr>
          <p:cNvPr id="17" name="Shape 15"/>
          <p:cNvSpPr/>
          <p:nvPr/>
        </p:nvSpPr>
        <p:spPr>
          <a:xfrm>
            <a:off x="685800" y="5852160"/>
            <a:ext cx="91440" cy="91440"/>
          </a:xfrm>
          <a:prstGeom prst="ellipse">
            <a:avLst/>
          </a:prstGeom>
          <a:solidFill>
            <a:srgbClr val="2E7D8C"/>
          </a:solidFill>
          <a:ln/>
        </p:spPr>
        <p:txBody>
          <a:bodyPr/>
          <a:lstStyle/>
          <a:p>
            <a:endParaRPr lang="en-US"/>
          </a:p>
        </p:txBody>
      </p:sp>
      <p:sp>
        <p:nvSpPr>
          <p:cNvPr id="18" name="Text 16"/>
          <p:cNvSpPr txBox="1"/>
          <p:nvPr/>
        </p:nvSpPr>
        <p:spPr>
          <a:xfrm>
            <a:off x="932688" y="5769864"/>
            <a:ext cx="10424160" cy="274320"/>
          </a:xfrm>
          <a:prstGeom prst="rect">
            <a:avLst/>
          </a:prstGeom>
          <a:noFill/>
          <a:ln/>
        </p:spPr>
        <p:txBody>
          <a:bodyPr wrap="square" lIns="0" tIns="0" rIns="0" bIns="0" rtlCol="0" anchor="ctr"/>
          <a:lstStyle/>
          <a:p>
            <a:pPr marL="0" indent="0">
              <a:buNone/>
            </a:pPr>
            <a:r>
              <a:rPr lang="en-US" sz="1300" dirty="0">
                <a:solidFill>
                  <a:srgbClr val="EDE6D6"/>
                </a:solidFill>
                <a:latin typeface="Calibri" pitchFamily="34" charset="0"/>
                <a:ea typeface="Calibri" pitchFamily="34" charset="-122"/>
                <a:cs typeface="Calibri" pitchFamily="34" charset="-120"/>
              </a:rPr>
              <a:t>Joseph Weizenbaum, Computer Power and Human Reason — chapters 1–2</a:t>
            </a:r>
            <a:endParaRPr lang="en-US" sz="1300" dirty="0"/>
          </a:p>
        </p:txBody>
      </p:sp>
      <p:sp>
        <p:nvSpPr>
          <p:cNvPr id="19" name="Text 17"/>
          <p:cNvSpPr txBox="1"/>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5F6478"/>
                </a:solidFill>
                <a:latin typeface="Calibri" pitchFamily="34" charset="0"/>
                <a:ea typeface="Calibri" pitchFamily="34" charset="-122"/>
                <a:cs typeface="Calibri" pitchFamily="34" charset="-120"/>
              </a:rPr>
              <a:t>Texts today: Ovid, Metamorphoses Bk X:243–297 and Bk III:339–510, trans. A. S. Kline · ovid.lib.virginia.edu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5777</Words>
  <Application>Microsoft Office PowerPoint</Application>
  <PresentationFormat>Widescreen</PresentationFormat>
  <Paragraphs>376</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Made, Mirrored, Echoed: Ovid and the Artificial Other</dc:title>
  <dc:subject>PptxGenJS Presentation</dc:subject>
  <dc:creator>Course materials</dc:creator>
  <cp:lastModifiedBy>Ashley Y. Gao</cp:lastModifiedBy>
  <cp:revision>1</cp:revision>
  <dcterms:created xsi:type="dcterms:W3CDTF">2026-08-30T13:22:14Z</dcterms:created>
  <dcterms:modified xsi:type="dcterms:W3CDTF">2026-09-01T13:13:01Z</dcterms:modified>
</cp:coreProperties>
</file>