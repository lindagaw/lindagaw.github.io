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4" r:id="rId18"/>
    <p:sldId id="275" r:id="rId19"/>
    <p:sldId id="276" r:id="rId20"/>
    <p:sldId id="277" r:id="rId21"/>
    <p:sldId id="278" r:id="rId22"/>
    <p:sldId id="279" r:id="rId23"/>
    <p:sldId id="280" r:id="rId24"/>
    <p:sldId id="282" r:id="rId25"/>
    <p:sldId id="283" r:id="rId26"/>
    <p:sldId id="284" r:id="rId27"/>
    <p:sldId id="285" r:id="rId28"/>
    <p:sldId id="286" r:id="rId29"/>
    <p:sldId id="287" r:id="rId30"/>
    <p:sldId id="288" r:id="rId31"/>
    <p:sldId id="289" r:id="rId32"/>
    <p:sldId id="290" r:id="rId33"/>
    <p:sldId id="292" r:id="rId34"/>
    <p:sldId id="293" r:id="rId35"/>
    <p:sldId id="294" r:id="rId36"/>
    <p:sldId id="295"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54"/>
    <p:restoredTop sz="94610"/>
  </p:normalViewPr>
  <p:slideViewPr>
    <p:cSldViewPr snapToGrid="0" snapToObjects="1">
      <p:cViewPr varScale="1">
        <p:scale>
          <a:sx n="109" d="100"/>
          <a:sy n="109" d="100"/>
        </p:scale>
        <p:origin x="216"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6366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works that ask whether a synthetic person can be a person and answer very differently. The design is an escalation of implication: a film you only watch, a game that grades you without telling you, and a game that hands you the controller and shows you the receipt. The method block comes first and is not optional — without it, discussion of the two games collapses into plot summary and personal taste.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watched-versus-played distinction out loud early. It gives students who did not play a dignified way to participate, and it plants the point you need for the Detroit block: a game watched is a different text from a game played, and Detroit in particular depends on the player’s hands being on the controller.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instruction to name the mechanism rather than the emotion is doing the pedagogical work. Most students fail at it now and succeed at it in the exit ticket, and the visible distance between the two drafts is the clearest evidence of learning you will get.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on the board for the full session. The three works give three different answers and the comparison at 4:15 depends on students having held the question in view throughout. If discussion drifts to whether machines can really be conscious, point at the board — that is a different question and not this week’s.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Twenty-five minutes. Tell students explicitly that this is a tool they will use three times today and every week after — method blocks feel like a detour unless you name the payoff.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is the short teachable version of the argument, it is free online, and its examples — Animal Crossing, the McDonald’s game, campaign games — are legible to students with no prior games coursework.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closing line on the board next to the key question. Detroit’s central failure, when we get there, is exactly a disagreement between what the story says and what the rules reward.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Monopoly demonstrates the method better than any of the week’s texts because every student already knows the rules, so the whole analysis takes four minutes with no prerequisites. It also introduces the reception problem you need for Detroit.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two short pieces rather than one, Bogost plus Sicart is the pairing; both are free and together they run about thirty-five pages. Students find the disagreement clarifying rather than confusing, because it gives them permission to have a position.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copy these down; they are the rubric for the group work at 3:45. Question six is last because it is the through-line — Mass Effect grades you quietly and Detroit grades you loudly, and that difference is most of the comparison.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minutes. Present the claim as a claim to be tested, not a conclusion. Students who have seen the sequels will push back — the pushback is scheduled four slides on, so let them hold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counterfactual makes the claim arguable rather than assertive. The honest answer is: surprisingly little of the first film, and quite a lot of the sequels. Let students discover that — it sets up the reversal three slides 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Cypher rescues this discussion when it stalls. Students arrive certain he is a villain and are unsettled by how little the film argues against his position — it relies on his manner, his betrayal, and the ugliness of the scene, none of which answer what he actually says.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 the second card factually; the analytic point survives without political commentary from you. What students should take is structural — “I have seen through the illusion” is a rhetorical position available to anyone, and a text offering it cannot control who takes it up.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Revising the claim in front of students is the point — model what it looks like to hold a strong reading and narrow it under evidence. If nobody has seen the sequels, describe the Rama-Kandra scene in detail; it is four minutes of dialogue and it does more for this course than the whole first film.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to question three is “nothing — I just watched it,” and you want that on the record so the two game blocks land as a contrast. If someone argues the film does implicate the viewer through identification, that is a good answer worth two extra minutes.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Fifty minutes. Poll the Rannoch outcomes before any content; slide 23 is about explaining the distribution you just recorded.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Frankenstein callback explicit if you taught it last week. The structure is identical, and students who see the repetition start reading for pattern rather than for plot.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room has mixed playthroughs, ask who got the pronoun change and put the numbers next to the Rannoch tally. Personhood as a conditional outcome that some players unlock and others never see is the strongest procedural claim in the trilogy, and students find it genuinely unsettling once it is named.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on the last line rather than letting it sit as a gotcha. There is a defensible version — embodiment genuinely changes what a being can do and how others relate to it — and an indefensible one, where a commercial product gives its AI a conventionally attractive body because that is what sells. Both are true here and students should hold both.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block. Ask how many were offered peace and did not know it was conditional — usually most of them. The experience of choosing between two atrocities while believing you had the full menu is the game’s most powerful and least intentional effect.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tension between the generous reading and the critique is the best discussion in this block, and the game does not adjudicate. Students who have played other BioWare titles will recognise the accumulation problem as a house pattern.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brisk; it is a hinge into Detroit. The last sentence should be live in students’ heads for the next hour, because Detroit does the opposite — its androids exist largely as an occasion for the player’s moral performance.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minutes: roughly twenty on how the game works, twenty-five on the critique, fifteen on the generous reading and discussion. Signal early that being hard on a text is a form of taking it seriously, or the block reads as an hour of dunking.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game full credit before taking it apart. The flowchart is genuinely good design and it is why the game is worth teaching. Students who feel you were fair here will accept the critique instead of defending the game out of loyalty.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model students find more convincing before critiquing either. Kara’s arc is the better-written half and the one the critique mostly spares; almost everything that goes wrong in this game goes wrong in Markus’s.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a catalogue and let its length do the work; no commentary is needed while it is on screen. The accumulated specificity makes the case, because any single item could be defended as coincidence and eight cannot.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line matters, or a student will conclude that synthetic-person allegory is always illegitimate — which would rule out most of this syllabus. The distinction to hold is between a work that thinks with the analogy and one that decorates itself with it.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bottom-left card is the reason this hour is on the syllabus. The parallel between the auteur’s disavowal and the technologist’s disavowal is exact, and once students have the pattern they find it everywhere for the rest of the term.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lesson answers the instructor’s prompt directly and deserves the most time. The uncomfortable implication is that participation can smuggle in claims that would fail on inspection — a general finding about interactive media, not a complaint about one game.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even if you are behind. An hour of critique without it teaches students that the correct response to a flawed text is dismissal, which is the opposite of the skill you want. Have them write down the last sentence.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one is genuinely open and you should say so. The honest answer involves looking at the whole system, at what the designers said, and at what comparable games do — exactly the triangulation a good paper in this course performs.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group three rather than asking for volunteers, and say explicitly that arguing a position you find wrong is a skill and not an endorsement. Group four usually produces the best report — designing the absent scene forces students to articulate exactly what the film’s structure could not accommodate.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bottom row from student answers rather than revealing it. If the report-backs went well they will have most of it already, and it reads far better as a summary of their work than as your conclusion.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session has been building toward and it should feel earned rather than announced. If you have one closing sentence beyond the slide, it is that the same structure operates outside fiction — interfaces also make us perform positions, and the performance is also real.</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these. The gap between the warm-up sentence and the exit sentence is your evidence of whether the method block took, and the students who moved from feeling-language to mechanic-language are the ones to call on first next week.</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8641080" y="1554480"/>
            <a:ext cx="2377440" cy="2377440"/>
          </a:xfrm>
          <a:prstGeom prst="ellipse">
            <a:avLst/>
          </a:prstGeom>
          <a:solidFill>
            <a:srgbClr val="6659C4">
              <a:alpha val="70000"/>
            </a:srgbClr>
          </a:solidFill>
          <a:ln/>
        </p:spPr>
        <p:txBody>
          <a:bodyPr/>
          <a:lstStyle/>
          <a:p>
            <a:endParaRPr lang="en-US"/>
          </a:p>
        </p:txBody>
      </p:sp>
      <p:sp>
        <p:nvSpPr>
          <p:cNvPr id="3" name="Shape 1"/>
          <p:cNvSpPr/>
          <p:nvPr/>
        </p:nvSpPr>
        <p:spPr>
          <a:xfrm>
            <a:off x="8001000" y="3017520"/>
            <a:ext cx="2377440" cy="2377440"/>
          </a:xfrm>
          <a:prstGeom prst="ellipse">
            <a:avLst/>
          </a:prstGeom>
          <a:solidFill>
            <a:srgbClr val="1F9E77">
              <a:alpha val="70000"/>
            </a:srgbClr>
          </a:solidFill>
          <a:ln/>
        </p:spPr>
        <p:txBody>
          <a:bodyPr/>
          <a:lstStyle/>
          <a:p>
            <a:endParaRPr lang="en-US"/>
          </a:p>
        </p:txBody>
      </p:sp>
      <p:sp>
        <p:nvSpPr>
          <p:cNvPr id="4" name="Shape 2"/>
          <p:cNvSpPr/>
          <p:nvPr/>
        </p:nvSpPr>
        <p:spPr>
          <a:xfrm>
            <a:off x="9464040" y="3017520"/>
            <a:ext cx="2377440" cy="2377440"/>
          </a:xfrm>
          <a:prstGeom prst="ellipse">
            <a:avLst/>
          </a:prstGeom>
          <a:solidFill>
            <a:srgbClr val="F1F3F6">
              <a:alpha val="78000"/>
            </a:srgbClr>
          </a:solidFill>
          <a:ln/>
        </p:spPr>
        <p:txBody>
          <a:bodyPr/>
          <a:lstStyle/>
          <a:p>
            <a:endParaRPr lang="en-US"/>
          </a:p>
        </p:txBody>
      </p:sp>
      <p:sp>
        <p:nvSpPr>
          <p:cNvPr id="5" name="Text 3"/>
          <p:cNvSpPr txBox="1"/>
          <p:nvPr/>
        </p:nvSpPr>
        <p:spPr>
          <a:xfrm>
            <a:off x="640080" y="1417320"/>
            <a:ext cx="7315200" cy="292608"/>
          </a:xfrm>
          <a:prstGeom prst="rect">
            <a:avLst/>
          </a:prstGeom>
          <a:noFill/>
          <a:ln/>
        </p:spPr>
        <p:txBody>
          <a:bodyPr wrap="square" lIns="0" tIns="0" rIns="0" bIns="0" rtlCol="0" anchor="ctr"/>
          <a:lstStyle/>
          <a:p>
            <a:pPr marL="0" indent="0">
              <a:buNone/>
            </a:pPr>
            <a:r>
              <a:rPr lang="en-US" sz="1200" b="1" kern="0" spc="180" dirty="0">
                <a:solidFill>
                  <a:srgbClr val="A79CEB"/>
                </a:solidFill>
                <a:latin typeface="Calibri" pitchFamily="34" charset="0"/>
                <a:ea typeface="Calibri" pitchFamily="34" charset="-122"/>
                <a:cs typeface="Calibri" pitchFamily="34" charset="-120"/>
              </a:rPr>
              <a:t>AI IN SPECULATIVE MEDIA AND LITERATURES · WEEK 3</a:t>
            </a:r>
            <a:endParaRPr lang="en-US" sz="1200" dirty="0"/>
          </a:p>
        </p:txBody>
      </p:sp>
      <p:sp>
        <p:nvSpPr>
          <p:cNvPr id="6" name="Text 4"/>
          <p:cNvSpPr txBox="1"/>
          <p:nvPr/>
        </p:nvSpPr>
        <p:spPr>
          <a:xfrm>
            <a:off x="640080" y="1847088"/>
            <a:ext cx="7498080" cy="1463040"/>
          </a:xfrm>
          <a:prstGeom prst="rect">
            <a:avLst/>
          </a:prstGeom>
          <a:noFill/>
          <a:ln/>
        </p:spPr>
        <p:txBody>
          <a:bodyPr wrap="square" lIns="0" tIns="0" rIns="0" bIns="0" rtlCol="0" anchor="ctr"/>
          <a:lstStyle/>
          <a:p>
            <a:pPr marL="0" indent="0">
              <a:lnSpc>
                <a:spcPts val="5000"/>
              </a:lnSpc>
              <a:buNone/>
            </a:pPr>
            <a:r>
              <a:rPr lang="en-US" sz="4200" b="1" dirty="0">
                <a:solidFill>
                  <a:srgbClr val="F1F3F6"/>
                </a:solidFill>
                <a:latin typeface="Cambria" pitchFamily="34" charset="0"/>
                <a:ea typeface="Cambria" pitchFamily="34" charset="-122"/>
                <a:cs typeface="Cambria" pitchFamily="34" charset="-120"/>
              </a:rPr>
              <a:t>Simulation and</a:t>
            </a:r>
            <a:endParaRPr lang="en-US" sz="4200" dirty="0"/>
          </a:p>
          <a:p>
            <a:pPr marL="0" indent="0">
              <a:lnSpc>
                <a:spcPts val="5000"/>
              </a:lnSpc>
              <a:buNone/>
            </a:pPr>
            <a:r>
              <a:rPr lang="en-US" sz="4200" b="1" dirty="0">
                <a:solidFill>
                  <a:srgbClr val="F1F3F6"/>
                </a:solidFill>
                <a:latin typeface="Cambria" pitchFamily="34" charset="0"/>
                <a:ea typeface="Cambria" pitchFamily="34" charset="-122"/>
                <a:cs typeface="Cambria" pitchFamily="34" charset="-120"/>
              </a:rPr>
              <a:t>Synthetic Personhood</a:t>
            </a:r>
            <a:endParaRPr lang="en-US" sz="4200" dirty="0"/>
          </a:p>
        </p:txBody>
      </p:sp>
      <p:sp>
        <p:nvSpPr>
          <p:cNvPr id="7" name="Shape 5"/>
          <p:cNvSpPr/>
          <p:nvPr/>
        </p:nvSpPr>
        <p:spPr>
          <a:xfrm>
            <a:off x="640080" y="3456432"/>
            <a:ext cx="2834640" cy="18288"/>
          </a:xfrm>
          <a:prstGeom prst="rect">
            <a:avLst/>
          </a:prstGeom>
          <a:solidFill>
            <a:srgbClr val="1F9E77"/>
          </a:solidFill>
          <a:ln/>
        </p:spPr>
        <p:txBody>
          <a:bodyPr/>
          <a:lstStyle/>
          <a:p>
            <a:endParaRPr lang="en-US"/>
          </a:p>
        </p:txBody>
      </p:sp>
      <p:sp>
        <p:nvSpPr>
          <p:cNvPr id="8" name="Text 6"/>
          <p:cNvSpPr txBox="1"/>
          <p:nvPr/>
        </p:nvSpPr>
        <p:spPr>
          <a:xfrm>
            <a:off x="640080" y="3767328"/>
            <a:ext cx="7498080" cy="1280160"/>
          </a:xfrm>
          <a:prstGeom prst="rect">
            <a:avLst/>
          </a:prstGeom>
          <a:noFill/>
          <a:ln/>
        </p:spPr>
        <p:txBody>
          <a:bodyPr wrap="square" lIns="0" tIns="0" rIns="0" bIns="0" rtlCol="0" anchor="ctr"/>
          <a:lstStyle/>
          <a:p>
            <a:pPr marL="0" indent="0">
              <a:lnSpc>
                <a:spcPts val="2400"/>
              </a:lnSpc>
              <a:buNone/>
            </a:pPr>
            <a:r>
              <a:rPr lang="en-US" sz="1400" dirty="0">
                <a:solidFill>
                  <a:srgbClr val="F1F3F6"/>
                </a:solidFill>
                <a:latin typeface="Calibri" pitchFamily="34" charset="0"/>
                <a:ea typeface="Calibri" pitchFamily="34" charset="-122"/>
                <a:cs typeface="Calibri" pitchFamily="34" charset="-120"/>
              </a:rPr>
              <a:t>The Matrix (1999)  ·  Mass Effect 2–3  ·  Detroit: Become Human (2018)</a:t>
            </a:r>
            <a:endParaRPr lang="en-US" sz="1400" dirty="0"/>
          </a:p>
          <a:p>
            <a:pPr marL="0" indent="0">
              <a:lnSpc>
                <a:spcPts val="2400"/>
              </a:lnSpc>
              <a:buNone/>
            </a:pPr>
            <a:r>
              <a:rPr lang="en-US" sz="1400" dirty="0">
                <a:solidFill>
                  <a:srgbClr val="F1F3F6"/>
                </a:solidFill>
                <a:latin typeface="Calibri" pitchFamily="34" charset="0"/>
                <a:ea typeface="Calibri" pitchFamily="34" charset="-122"/>
                <a:cs typeface="Calibri" pitchFamily="34" charset="-120"/>
              </a:rPr>
              <a:t>With one short essay on procedural rhetoric — how to analyse a game as a text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BEFORE WE START</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You did not all experience the same text</a:t>
            </a:r>
            <a:endParaRPr lang="en-US" sz="3000" dirty="0"/>
          </a:p>
        </p:txBody>
      </p:sp>
      <p:sp>
        <p:nvSpPr>
          <p:cNvPr id="5" name="Shape 3"/>
          <p:cNvSpPr/>
          <p:nvPr/>
        </p:nvSpPr>
        <p:spPr>
          <a:xfrm>
            <a:off x="640080" y="1572768"/>
            <a:ext cx="3454298" cy="2103120"/>
          </a:xfrm>
          <a:prstGeom prst="roundRect">
            <a:avLst>
              <a:gd name="adj" fmla="val 3478"/>
            </a:avLst>
          </a:prstGeom>
          <a:solidFill>
            <a:srgbClr val="E4F1EC"/>
          </a:solidFill>
          <a:ln w="12700">
            <a:solidFill>
              <a:srgbClr val="E4F1EC"/>
            </a:solidFill>
            <a:prstDash val="solid"/>
          </a:ln>
        </p:spPr>
        <p:txBody>
          <a:bodyPr/>
          <a:lstStyle/>
          <a:p>
            <a:endParaRPr lang="en-US"/>
          </a:p>
        </p:txBody>
      </p:sp>
      <p:sp>
        <p:nvSpPr>
          <p:cNvPr id="6" name="Text 4"/>
          <p:cNvSpPr txBox="1"/>
          <p:nvPr/>
        </p:nvSpPr>
        <p:spPr>
          <a:xfrm>
            <a:off x="914400"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0D1117"/>
                </a:solidFill>
                <a:latin typeface="Cambria" pitchFamily="34" charset="0"/>
                <a:ea typeface="Cambria" pitchFamily="34" charset="-122"/>
                <a:cs typeface="Cambria" pitchFamily="34" charset="-120"/>
              </a:rPr>
              <a:t>Everyone saw the same film</a:t>
            </a:r>
            <a:endParaRPr lang="en-US" sz="1650" dirty="0"/>
          </a:p>
        </p:txBody>
      </p:sp>
      <p:sp>
        <p:nvSpPr>
          <p:cNvPr id="7" name="Text 5"/>
          <p:cNvSpPr txBox="1"/>
          <p:nvPr/>
        </p:nvSpPr>
        <p:spPr>
          <a:xfrm>
            <a:off x="914400" y="2450592"/>
            <a:ext cx="2905658" cy="100584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The Matrix is fixed. Every frame you watched is a frame everyone else watched. Disagreements about it are disagreements about interpretation only.</a:t>
            </a:r>
            <a:endParaRPr lang="en-US" sz="1250" dirty="0"/>
          </a:p>
        </p:txBody>
      </p:sp>
      <p:sp>
        <p:nvSpPr>
          <p:cNvPr id="8" name="Shape 6"/>
          <p:cNvSpPr/>
          <p:nvPr/>
        </p:nvSpPr>
        <p:spPr>
          <a:xfrm>
            <a:off x="4368698" y="1572768"/>
            <a:ext cx="3454298" cy="2103120"/>
          </a:xfrm>
          <a:prstGeom prst="roundRect">
            <a:avLst>
              <a:gd name="adj" fmla="val 3478"/>
            </a:avLst>
          </a:prstGeom>
          <a:solidFill>
            <a:srgbClr val="ECEAF9"/>
          </a:solidFill>
          <a:ln w="12700">
            <a:solidFill>
              <a:srgbClr val="ECEAF9"/>
            </a:solidFill>
            <a:prstDash val="solid"/>
          </a:ln>
        </p:spPr>
        <p:txBody>
          <a:bodyPr/>
          <a:lstStyle/>
          <a:p>
            <a:endParaRPr lang="en-US"/>
          </a:p>
        </p:txBody>
      </p:sp>
      <p:sp>
        <p:nvSpPr>
          <p:cNvPr id="9" name="Text 7"/>
          <p:cNvSpPr txBox="1"/>
          <p:nvPr/>
        </p:nvSpPr>
        <p:spPr>
          <a:xfrm>
            <a:off x="4643018"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0D1117"/>
                </a:solidFill>
                <a:latin typeface="Cambria" pitchFamily="34" charset="0"/>
                <a:ea typeface="Cambria" pitchFamily="34" charset="-122"/>
                <a:cs typeface="Cambria" pitchFamily="34" charset="-120"/>
              </a:rPr>
              <a:t>Nobody played the same game</a:t>
            </a:r>
            <a:endParaRPr lang="en-US" sz="1650" dirty="0"/>
          </a:p>
        </p:txBody>
      </p:sp>
      <p:sp>
        <p:nvSpPr>
          <p:cNvPr id="10" name="Text 8"/>
          <p:cNvSpPr txBox="1"/>
          <p:nvPr/>
        </p:nvSpPr>
        <p:spPr>
          <a:xfrm>
            <a:off x="4643018" y="2450592"/>
            <a:ext cx="2905658" cy="100584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Your Rannoch may have ended in peace and your neighbour’s in extermination. Your Markus may have been a pacifist and theirs a bomber. Kara may have died in your file and not in theirs.</a:t>
            </a:r>
            <a:endParaRPr lang="en-US" sz="1250" dirty="0"/>
          </a:p>
        </p:txBody>
      </p:sp>
      <p:sp>
        <p:nvSpPr>
          <p:cNvPr id="11" name="Shape 9"/>
          <p:cNvSpPr/>
          <p:nvPr/>
        </p:nvSpPr>
        <p:spPr>
          <a:xfrm>
            <a:off x="8097317" y="1572768"/>
            <a:ext cx="3454298" cy="2103120"/>
          </a:xfrm>
          <a:prstGeom prst="roundRect">
            <a:avLst>
              <a:gd name="adj" fmla="val 3478"/>
            </a:avLst>
          </a:prstGeom>
          <a:solidFill>
            <a:srgbClr val="E4F1EC"/>
          </a:solidFill>
          <a:ln w="12700">
            <a:solidFill>
              <a:srgbClr val="E4F1EC"/>
            </a:solidFill>
            <a:prstDash val="solid"/>
          </a:ln>
        </p:spPr>
        <p:txBody>
          <a:bodyPr/>
          <a:lstStyle/>
          <a:p>
            <a:endParaRPr lang="en-US"/>
          </a:p>
        </p:txBody>
      </p:sp>
      <p:sp>
        <p:nvSpPr>
          <p:cNvPr id="12" name="Text 10"/>
          <p:cNvSpPr txBox="1"/>
          <p:nvPr/>
        </p:nvSpPr>
        <p:spPr>
          <a:xfrm>
            <a:off x="8371637"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0D1117"/>
                </a:solidFill>
                <a:latin typeface="Cambria" pitchFamily="34" charset="0"/>
                <a:ea typeface="Cambria" pitchFamily="34" charset="-122"/>
                <a:cs typeface="Cambria" pitchFamily="34" charset="-120"/>
              </a:rPr>
              <a:t>This is the subject, not the problem</a:t>
            </a:r>
            <a:endParaRPr lang="en-US" sz="1650" dirty="0"/>
          </a:p>
        </p:txBody>
      </p:sp>
      <p:sp>
        <p:nvSpPr>
          <p:cNvPr id="13" name="Text 11"/>
          <p:cNvSpPr txBox="1"/>
          <p:nvPr/>
        </p:nvSpPr>
        <p:spPr>
          <a:xfrm>
            <a:off x="8371637" y="2450592"/>
            <a:ext cx="2905658" cy="100584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The divergence is the object of study. When we compare notes we are not checking who played correctly — we are gathering evidence about what the rules permitted and what they rewarded.</a:t>
            </a:r>
            <a:endParaRPr lang="en-US" sz="1250" dirty="0"/>
          </a:p>
        </p:txBody>
      </p:sp>
      <p:sp>
        <p:nvSpPr>
          <p:cNvPr id="14" name="Shape 12"/>
          <p:cNvSpPr/>
          <p:nvPr/>
        </p:nvSpPr>
        <p:spPr>
          <a:xfrm>
            <a:off x="640080" y="3913632"/>
            <a:ext cx="10911535" cy="1828800"/>
          </a:xfrm>
          <a:prstGeom prst="roundRect">
            <a:avLst>
              <a:gd name="adj" fmla="val 4000"/>
            </a:avLst>
          </a:prstGeom>
          <a:solidFill>
            <a:srgbClr val="ECEAF9"/>
          </a:solidFill>
          <a:ln w="12700">
            <a:solidFill>
              <a:srgbClr val="ECEAF9"/>
            </a:solidFill>
            <a:prstDash val="solid"/>
          </a:ln>
        </p:spPr>
        <p:txBody>
          <a:bodyPr/>
          <a:lstStyle/>
          <a:p>
            <a:endParaRPr lang="en-US"/>
          </a:p>
        </p:txBody>
      </p:sp>
      <p:sp>
        <p:nvSpPr>
          <p:cNvPr id="15" name="Text 13"/>
          <p:cNvSpPr txBox="1"/>
          <p:nvPr/>
        </p:nvSpPr>
        <p:spPr>
          <a:xfrm>
            <a:off x="1005840" y="4114800"/>
            <a:ext cx="10424160" cy="310896"/>
          </a:xfrm>
          <a:prstGeom prst="rect">
            <a:avLst/>
          </a:prstGeom>
          <a:noFill/>
          <a:ln/>
        </p:spPr>
        <p:txBody>
          <a:bodyPr wrap="square" lIns="0" tIns="0" rIns="0" bIns="0" rtlCol="0" anchor="ctr"/>
          <a:lstStyle/>
          <a:p>
            <a:pPr marL="0" indent="0">
              <a:buNone/>
            </a:pPr>
            <a:r>
              <a:rPr lang="en-US" sz="1650" b="1" dirty="0">
                <a:solidFill>
                  <a:srgbClr val="0D1117"/>
                </a:solidFill>
                <a:latin typeface="Cambria" pitchFamily="34" charset="0"/>
                <a:ea typeface="Cambria" pitchFamily="34" charset="-122"/>
                <a:cs typeface="Cambria" pitchFamily="34" charset="-120"/>
              </a:rPr>
              <a:t>Access and content notes</a:t>
            </a:r>
            <a:endParaRPr lang="en-US" sz="1650" dirty="0"/>
          </a:p>
        </p:txBody>
      </p:sp>
      <p:sp>
        <p:nvSpPr>
          <p:cNvPr id="16" name="Text 14"/>
          <p:cNvSpPr txBox="1"/>
          <p:nvPr/>
        </p:nvSpPr>
        <p:spPr>
          <a:xfrm>
            <a:off x="1005840" y="4498848"/>
            <a:ext cx="10424160" cy="1143000"/>
          </a:xfrm>
          <a:prstGeom prst="rect">
            <a:avLst/>
          </a:prstGeom>
          <a:noFill/>
          <a:ln/>
        </p:spPr>
        <p:txBody>
          <a:bodyPr wrap="square" lIns="0" tIns="0" rIns="0" bIns="0" rtlCol="0" anchor="ctr"/>
          <a:lstStyle/>
          <a:p>
            <a:pPr marL="342900" indent="-342900">
              <a:lnSpc>
                <a:spcPts val="1700"/>
              </a:lnSpc>
              <a:spcAft>
                <a:spcPts val="500"/>
              </a:spcAft>
              <a:buSzPct val="100000"/>
              <a:buChar char="•"/>
            </a:pPr>
            <a:r>
              <a:rPr lang="en-US" sz="1250" dirty="0">
                <a:solidFill>
                  <a:srgbClr val="596273"/>
                </a:solidFill>
                <a:latin typeface="Calibri" pitchFamily="34" charset="0"/>
                <a:ea typeface="Calibri" pitchFamily="34" charset="-122"/>
                <a:cs typeface="Calibri" pitchFamily="34" charset="-120"/>
              </a:rPr>
              <a:t>If you could not play, the linked full playthrough of </a:t>
            </a:r>
            <a:r>
              <a:rPr lang="en-US" sz="1250" i="1" dirty="0">
                <a:solidFill>
                  <a:srgbClr val="596273"/>
                </a:solidFill>
                <a:latin typeface="Calibri" pitchFamily="34" charset="0"/>
                <a:ea typeface="Calibri" pitchFamily="34" charset="-122"/>
                <a:cs typeface="Calibri" pitchFamily="34" charset="-120"/>
              </a:rPr>
              <a:t>Detroit </a:t>
            </a:r>
            <a:r>
              <a:rPr lang="en-US" sz="1250" dirty="0">
                <a:solidFill>
                  <a:srgbClr val="596273"/>
                </a:solidFill>
                <a:latin typeface="Calibri" pitchFamily="34" charset="0"/>
                <a:ea typeface="Calibri" pitchFamily="34" charset="-122"/>
                <a:cs typeface="Calibri" pitchFamily="34" charset="-120"/>
              </a:rPr>
              <a:t>is a legitimate way in.</a:t>
            </a:r>
          </a:p>
          <a:p>
            <a:pPr marL="342900" indent="-342900">
              <a:lnSpc>
                <a:spcPts val="1700"/>
              </a:lnSpc>
              <a:spcAft>
                <a:spcPts val="500"/>
              </a:spcAft>
              <a:buSzPct val="100000"/>
              <a:buChar char="•"/>
            </a:pPr>
            <a:r>
              <a:rPr lang="en-US" sz="1250" i="1" dirty="0">
                <a:solidFill>
                  <a:srgbClr val="596273"/>
                </a:solidFill>
                <a:latin typeface="Calibri" pitchFamily="34" charset="0"/>
                <a:ea typeface="Calibri" pitchFamily="34" charset="-122"/>
                <a:cs typeface="Calibri" pitchFamily="34" charset="-120"/>
              </a:rPr>
              <a:t>Mass Effect </a:t>
            </a:r>
            <a:r>
              <a:rPr lang="en-US" sz="1250" dirty="0">
                <a:solidFill>
                  <a:srgbClr val="596273"/>
                </a:solidFill>
                <a:latin typeface="Calibri" pitchFamily="34" charset="0"/>
                <a:ea typeface="Calibri" pitchFamily="34" charset="-122"/>
                <a:cs typeface="Calibri" pitchFamily="34" charset="-120"/>
              </a:rPr>
              <a:t>is long. The assigned arc is Legion and the geth–quarian storyline plus EDI; you were not expected to finish two games.</a:t>
            </a:r>
            <a:endParaRPr lang="en-US" sz="1250" dirty="0"/>
          </a:p>
          <a:p>
            <a:pPr marL="342900" indent="-342900">
              <a:lnSpc>
                <a:spcPts val="1700"/>
              </a:lnSpc>
              <a:spcAft>
                <a:spcPts val="500"/>
              </a:spcAft>
              <a:buSzPct val="100000"/>
              <a:buChar char="•"/>
            </a:pPr>
            <a:r>
              <a:rPr lang="en-US" sz="1250" i="1" dirty="0">
                <a:solidFill>
                  <a:srgbClr val="596273"/>
                </a:solidFill>
                <a:latin typeface="Calibri" pitchFamily="34" charset="0"/>
                <a:ea typeface="Calibri" pitchFamily="34" charset="-122"/>
                <a:cs typeface="Calibri" pitchFamily="34" charset="-120"/>
              </a:rPr>
              <a:t>Detroit</a:t>
            </a:r>
            <a:r>
              <a:rPr lang="en-US" sz="1250" dirty="0">
                <a:solidFill>
                  <a:srgbClr val="596273"/>
                </a:solidFill>
                <a:latin typeface="Calibri" pitchFamily="34" charset="0"/>
                <a:ea typeface="Calibri" pitchFamily="34" charset="-122"/>
                <a:cs typeface="Calibri" pitchFamily="34" charset="-120"/>
              </a:rPr>
              <a:t> contains domestic violence and child endangerment in Kara’s opening chapters. </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A79CEB"/>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A79CEB"/>
                </a:solidFill>
                <a:latin typeface="Calibri" pitchFamily="34" charset="0"/>
                <a:ea typeface="Calibri" pitchFamily="34" charset="-122"/>
                <a:cs typeface="Calibri" pitchFamily="34" charset="-120"/>
              </a:rPr>
              <a:t>WARM-UP · SIX MINUTES · NO TALKING</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F1F3F6"/>
                </a:solidFill>
                <a:latin typeface="Cambria" pitchFamily="34" charset="0"/>
                <a:ea typeface="Cambria" pitchFamily="34" charset="-122"/>
                <a:cs typeface="Cambria" pitchFamily="34" charset="-120"/>
              </a:rPr>
              <a:t>Write before we begin</a:t>
            </a:r>
            <a:endParaRPr lang="en-US" sz="3300" dirty="0"/>
          </a:p>
        </p:txBody>
      </p:sp>
      <p:sp>
        <p:nvSpPr>
          <p:cNvPr id="5" name="Shape 3"/>
          <p:cNvSpPr/>
          <p:nvPr/>
        </p:nvSpPr>
        <p:spPr>
          <a:xfrm>
            <a:off x="640080" y="1783080"/>
            <a:ext cx="10911535" cy="2788920"/>
          </a:xfrm>
          <a:prstGeom prst="roundRect">
            <a:avLst>
              <a:gd name="adj" fmla="val 2623"/>
            </a:avLst>
          </a:prstGeom>
          <a:solidFill>
            <a:srgbClr val="1A2431"/>
          </a:solidFill>
          <a:ln w="12700">
            <a:solidFill>
              <a:srgbClr val="1A2431"/>
            </a:solidFill>
            <a:prstDash val="solid"/>
          </a:ln>
        </p:spPr>
        <p:txBody>
          <a:bodyPr/>
          <a:lstStyle/>
          <a:p>
            <a:endParaRPr lang="en-US"/>
          </a:p>
        </p:txBody>
      </p:sp>
      <p:sp>
        <p:nvSpPr>
          <p:cNvPr id="6" name="Text 4"/>
          <p:cNvSpPr txBox="1"/>
          <p:nvPr/>
        </p:nvSpPr>
        <p:spPr>
          <a:xfrm>
            <a:off x="1097280" y="2057400"/>
            <a:ext cx="10058400" cy="2286000"/>
          </a:xfrm>
          <a:prstGeom prst="rect">
            <a:avLst/>
          </a:prstGeom>
          <a:noFill/>
          <a:ln/>
        </p:spPr>
        <p:txBody>
          <a:bodyPr wrap="square" lIns="0" tIns="0" rIns="0" bIns="0" rtlCol="0" anchor="ctr"/>
          <a:lstStyle/>
          <a:p>
            <a:pPr marL="0" indent="0">
              <a:lnSpc>
                <a:spcPts val="3000"/>
              </a:lnSpc>
              <a:buNone/>
            </a:pPr>
            <a:r>
              <a:rPr lang="en-US" sz="1900" dirty="0">
                <a:solidFill>
                  <a:srgbClr val="FFFFFF"/>
                </a:solidFill>
                <a:latin typeface="Cambria" pitchFamily="34" charset="0"/>
                <a:ea typeface="Cambria" pitchFamily="34" charset="-122"/>
                <a:cs typeface="Cambria" pitchFamily="34" charset="-120"/>
              </a:rPr>
              <a:t>Describe a moment in one of these three texts where you made a choice — or watched a character make one — and the choice moved you in one way or another. It’s perfectly okay to say that you weren’t moved at all.</a:t>
            </a:r>
            <a:endParaRPr lang="en-US" sz="1900" dirty="0"/>
          </a:p>
          <a:p>
            <a:pPr marL="0" indent="0">
              <a:lnSpc>
                <a:spcPts val="3000"/>
              </a:lnSpc>
              <a:buNone/>
            </a:pPr>
            <a:endParaRPr lang="en-US" sz="1900" dirty="0"/>
          </a:p>
          <a:p>
            <a:pPr marL="0" indent="0">
              <a:lnSpc>
                <a:spcPts val="3000"/>
              </a:lnSpc>
              <a:buNone/>
            </a:pPr>
            <a:r>
              <a:rPr lang="en-US" sz="1900" dirty="0">
                <a:solidFill>
                  <a:srgbClr val="FFFFFF"/>
                </a:solidFill>
                <a:latin typeface="Cambria" pitchFamily="34" charset="0"/>
                <a:ea typeface="Cambria" pitchFamily="34" charset="-122"/>
                <a:cs typeface="Cambria" pitchFamily="34" charset="-120"/>
              </a:rPr>
              <a:t>What exactly did the text do to produce that feeling? Name the mechanism, not the emotion.</a:t>
            </a:r>
            <a:endParaRPr lang="en-US" sz="1900" dirty="0"/>
          </a:p>
        </p:txBody>
      </p:sp>
      <p:sp>
        <p:nvSpPr>
          <p:cNvPr id="7" name="Text 5"/>
          <p:cNvSpPr txBox="1"/>
          <p:nvPr/>
        </p:nvSpPr>
        <p:spPr>
          <a:xfrm>
            <a:off x="640080" y="4828032"/>
            <a:ext cx="10881360" cy="457200"/>
          </a:xfrm>
          <a:prstGeom prst="rect">
            <a:avLst/>
          </a:prstGeom>
          <a:noFill/>
          <a:ln/>
        </p:spPr>
        <p:txBody>
          <a:bodyPr wrap="square" lIns="0" tIns="0" rIns="0" bIns="0" rtlCol="0" anchor="ctr"/>
          <a:lstStyle/>
          <a:p>
            <a:pPr marL="0" indent="0">
              <a:buNone/>
            </a:pPr>
            <a:r>
              <a:rPr lang="en-US" sz="1450" i="1" dirty="0">
                <a:solidFill>
                  <a:srgbClr val="6FD3AF"/>
                </a:solidFill>
                <a:latin typeface="Calibri" pitchFamily="34" charset="0"/>
                <a:ea typeface="Calibri" pitchFamily="34" charset="-122"/>
                <a:cs typeface="Calibri" pitchFamily="34" charset="-120"/>
              </a:rPr>
              <a:t>Keep the page.</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640080" y="1234440"/>
            <a:ext cx="137160" cy="137160"/>
          </a:xfrm>
          <a:prstGeom prst="ellipse">
            <a:avLst/>
          </a:prstGeom>
          <a:solidFill>
            <a:srgbClr val="A79CEB"/>
          </a:solidFill>
          <a:ln/>
        </p:spPr>
        <p:txBody>
          <a:bodyPr/>
          <a:lstStyle/>
          <a:p>
            <a:endParaRPr lang="en-US"/>
          </a:p>
        </p:txBody>
      </p:sp>
      <p:sp>
        <p:nvSpPr>
          <p:cNvPr id="3" name="Text 1"/>
          <p:cNvSpPr txBox="1"/>
          <p:nvPr/>
        </p:nvSpPr>
        <p:spPr>
          <a:xfrm>
            <a:off x="886968" y="1170432"/>
            <a:ext cx="9144000" cy="274320"/>
          </a:xfrm>
          <a:prstGeom prst="rect">
            <a:avLst/>
          </a:prstGeom>
          <a:noFill/>
          <a:ln/>
        </p:spPr>
        <p:txBody>
          <a:bodyPr wrap="square" lIns="0" tIns="0" rIns="0" bIns="0" rtlCol="0" anchor="ctr"/>
          <a:lstStyle/>
          <a:p>
            <a:pPr marL="0" indent="0">
              <a:buNone/>
            </a:pPr>
            <a:r>
              <a:rPr lang="en-US" sz="1200" b="1" kern="0" spc="200" dirty="0">
                <a:solidFill>
                  <a:srgbClr val="A79CEB"/>
                </a:solidFill>
                <a:latin typeface="Calibri" pitchFamily="34" charset="0"/>
                <a:ea typeface="Calibri" pitchFamily="34" charset="-122"/>
                <a:cs typeface="Calibri" pitchFamily="34" charset="-120"/>
              </a:rPr>
              <a:t>KEY QUESTION FOR THE WEEK</a:t>
            </a:r>
            <a:endParaRPr lang="en-US" sz="1200" dirty="0"/>
          </a:p>
        </p:txBody>
      </p:sp>
      <p:sp>
        <p:nvSpPr>
          <p:cNvPr id="4" name="Text 2"/>
          <p:cNvSpPr txBox="1"/>
          <p:nvPr/>
        </p:nvSpPr>
        <p:spPr>
          <a:xfrm>
            <a:off x="640080" y="1645920"/>
            <a:ext cx="10881360" cy="2468880"/>
          </a:xfrm>
          <a:prstGeom prst="rect">
            <a:avLst/>
          </a:prstGeom>
          <a:noFill/>
          <a:ln/>
        </p:spPr>
        <p:txBody>
          <a:bodyPr wrap="square" lIns="0" tIns="0" rIns="0" bIns="0" rtlCol="0" anchor="ctr"/>
          <a:lstStyle/>
          <a:p>
            <a:pPr marL="0" indent="0">
              <a:lnSpc>
                <a:spcPts val="5200"/>
              </a:lnSpc>
              <a:buNone/>
            </a:pPr>
            <a:r>
              <a:rPr lang="en-US" sz="4000" b="1" dirty="0">
                <a:solidFill>
                  <a:srgbClr val="F1F3F6"/>
                </a:solidFill>
                <a:latin typeface="Cambria" pitchFamily="34" charset="0"/>
                <a:ea typeface="Cambria" pitchFamily="34" charset="-122"/>
                <a:cs typeface="Cambria" pitchFamily="34" charset="-120"/>
              </a:rPr>
              <a:t>When a text lets you choose,</a:t>
            </a:r>
            <a:endParaRPr lang="en-US" sz="4000" dirty="0"/>
          </a:p>
          <a:p>
            <a:pPr marL="0" indent="0">
              <a:lnSpc>
                <a:spcPts val="5200"/>
              </a:lnSpc>
              <a:buNone/>
            </a:pPr>
            <a:r>
              <a:rPr lang="en-US" sz="4000" b="1" dirty="0">
                <a:solidFill>
                  <a:srgbClr val="F1F3F6"/>
                </a:solidFill>
                <a:latin typeface="Cambria" pitchFamily="34" charset="0"/>
                <a:ea typeface="Cambria" pitchFamily="34" charset="-122"/>
                <a:cs typeface="Cambria" pitchFamily="34" charset="-120"/>
              </a:rPr>
              <a:t>what has it made you</a:t>
            </a:r>
            <a:endParaRPr lang="en-US" sz="4000" dirty="0"/>
          </a:p>
          <a:p>
            <a:pPr marL="0" indent="0">
              <a:lnSpc>
                <a:spcPts val="5200"/>
              </a:lnSpc>
              <a:buNone/>
            </a:pPr>
            <a:r>
              <a:rPr lang="en-US" sz="4000" b="1" dirty="0">
                <a:solidFill>
                  <a:srgbClr val="F1F3F6"/>
                </a:solidFill>
                <a:latin typeface="Cambria" pitchFamily="34" charset="0"/>
                <a:ea typeface="Cambria" pitchFamily="34" charset="-122"/>
                <a:cs typeface="Cambria" pitchFamily="34" charset="-120"/>
              </a:rPr>
              <a:t>responsible for?</a:t>
            </a:r>
            <a:endParaRPr lang="en-US" sz="4000" dirty="0"/>
          </a:p>
        </p:txBody>
      </p:sp>
      <p:sp>
        <p:nvSpPr>
          <p:cNvPr id="5" name="Shape 3"/>
          <p:cNvSpPr/>
          <p:nvPr/>
        </p:nvSpPr>
        <p:spPr>
          <a:xfrm>
            <a:off x="640080" y="4343400"/>
            <a:ext cx="3108960" cy="18288"/>
          </a:xfrm>
          <a:prstGeom prst="rect">
            <a:avLst/>
          </a:prstGeom>
          <a:solidFill>
            <a:srgbClr val="1F9E77"/>
          </a:solidFill>
          <a:ln/>
        </p:spPr>
        <p:txBody>
          <a:bodyPr/>
          <a:lstStyle/>
          <a:p>
            <a:endParaRPr lang="en-US"/>
          </a:p>
        </p:txBody>
      </p:sp>
      <p:sp>
        <p:nvSpPr>
          <p:cNvPr id="6" name="Text 4"/>
          <p:cNvSpPr txBox="1"/>
          <p:nvPr/>
        </p:nvSpPr>
        <p:spPr>
          <a:xfrm>
            <a:off x="640080" y="4663440"/>
            <a:ext cx="9875520" cy="1097280"/>
          </a:xfrm>
          <a:prstGeom prst="rect">
            <a:avLst/>
          </a:prstGeom>
          <a:noFill/>
          <a:ln/>
        </p:spPr>
        <p:txBody>
          <a:bodyPr wrap="square" lIns="0" tIns="0" rIns="0" bIns="0" rtlCol="0" anchor="ctr"/>
          <a:lstStyle/>
          <a:p>
            <a:pPr marL="0" indent="0">
              <a:lnSpc>
                <a:spcPts val="2500"/>
              </a:lnSpc>
              <a:buNone/>
            </a:pPr>
            <a:r>
              <a:rPr lang="en-US" sz="1700" dirty="0">
                <a:solidFill>
                  <a:srgbClr val="6FD3AF"/>
                </a:solidFill>
                <a:latin typeface="Cambria" pitchFamily="34" charset="0"/>
                <a:ea typeface="Cambria" pitchFamily="34" charset="-122"/>
                <a:cs typeface="Cambria" pitchFamily="34" charset="-120"/>
              </a:rPr>
              <a:t>Note the word made. Not “what are you responsible for” — what has the text placed on you, whether or not you agreed to carry it. A film can implicate you. A game can do something stranger: require your participation, and then show you the record of what you did.</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8686800" y="1371600"/>
            <a:ext cx="2743200" cy="2743200"/>
          </a:xfrm>
          <a:prstGeom prst="ellipse">
            <a:avLst/>
          </a:prstGeom>
          <a:solidFill>
            <a:srgbClr val="6659C4">
              <a:alpha val="65000"/>
            </a:srgbClr>
          </a:solidFill>
          <a:ln/>
        </p:spPr>
        <p:txBody>
          <a:bodyPr/>
          <a:lstStyle/>
          <a:p>
            <a:endParaRPr lang="en-US"/>
          </a:p>
        </p:txBody>
      </p:sp>
      <p:sp>
        <p:nvSpPr>
          <p:cNvPr id="3" name="Shape 1"/>
          <p:cNvSpPr/>
          <p:nvPr/>
        </p:nvSpPr>
        <p:spPr>
          <a:xfrm>
            <a:off x="9601200" y="2286000"/>
            <a:ext cx="1280160" cy="1280160"/>
          </a:xfrm>
          <a:prstGeom prst="ellipse">
            <a:avLst/>
          </a:prstGeom>
          <a:solidFill>
            <a:srgbClr val="1F9E77">
              <a:alpha val="70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A79CEB"/>
                </a:solidFill>
                <a:latin typeface="Calibri" pitchFamily="34" charset="0"/>
                <a:ea typeface="Calibri" pitchFamily="34" charset="-122"/>
                <a:cs typeface="Calibri" pitchFamily="34" charset="-120"/>
              </a:rPr>
              <a:t>PART ONE</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800" b="1" dirty="0">
                <a:solidFill>
                  <a:srgbClr val="F1F3F6"/>
                </a:solidFill>
                <a:latin typeface="Cambria" pitchFamily="34" charset="0"/>
                <a:ea typeface="Cambria" pitchFamily="34" charset="-122"/>
                <a:cs typeface="Cambria" pitchFamily="34" charset="-120"/>
              </a:rPr>
              <a:t>How to read a game as a text</a:t>
            </a:r>
            <a:endParaRPr lang="en-US" sz="38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Procedural rhetoric and its critics</a:t>
            </a:r>
            <a:endParaRPr lang="en-US" sz="1500" dirty="0"/>
          </a:p>
        </p:txBody>
      </p:sp>
      <p:sp>
        <p:nvSpPr>
          <p:cNvPr id="7" name="Shape 5"/>
          <p:cNvSpPr/>
          <p:nvPr/>
        </p:nvSpPr>
        <p:spPr>
          <a:xfrm>
            <a:off x="640080" y="3913632"/>
            <a:ext cx="2377440" cy="18288"/>
          </a:xfrm>
          <a:prstGeom prst="rect">
            <a:avLst/>
          </a:prstGeom>
          <a:solidFill>
            <a:srgbClr val="1F9E77"/>
          </a:solidFill>
          <a:ln/>
        </p:spPr>
        <p:txBody>
          <a:bodyPr/>
          <a:lstStyle/>
          <a:p>
            <a:endParaRPr lang="en-US"/>
          </a:p>
        </p:txBody>
      </p:sp>
      <p:sp>
        <p:nvSpPr>
          <p:cNvPr id="8" name="Text 6"/>
          <p:cNvSpPr txBox="1"/>
          <p:nvPr/>
        </p:nvSpPr>
        <p:spPr>
          <a:xfrm>
            <a:off x="640080" y="4133088"/>
            <a:ext cx="7680960" cy="731520"/>
          </a:xfrm>
          <a:prstGeom prst="rect">
            <a:avLst/>
          </a:prstGeom>
          <a:noFill/>
          <a:ln/>
        </p:spPr>
        <p:txBody>
          <a:bodyPr wrap="square" lIns="0" tIns="0" rIns="0" bIns="0" rtlCol="0" anchor="ctr"/>
          <a:lstStyle/>
          <a:p>
            <a:pPr marL="0" indent="0">
              <a:lnSpc>
                <a:spcPts val="2500"/>
              </a:lnSpc>
              <a:buNone/>
            </a:pPr>
            <a:r>
              <a:rPr lang="en-US" sz="1850" i="1" dirty="0">
                <a:solidFill>
                  <a:srgbClr val="6FD3AF"/>
                </a:solidFill>
                <a:latin typeface="Cambria" pitchFamily="34" charset="0"/>
                <a:ea typeface="Cambria" pitchFamily="34" charset="-122"/>
                <a:cs typeface="Cambria" pitchFamily="34" charset="-120"/>
              </a:rPr>
              <a:t>The choices are the argument. The choices are also not the whole argument.</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THE ESSAY ON GAMES</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Bogost: games make arguments through their rules</a:t>
            </a:r>
            <a:endParaRPr lang="en-US" sz="3000" dirty="0"/>
          </a:p>
        </p:txBody>
      </p:sp>
      <p:sp>
        <p:nvSpPr>
          <p:cNvPr id="5" name="Shape 3"/>
          <p:cNvSpPr/>
          <p:nvPr/>
        </p:nvSpPr>
        <p:spPr>
          <a:xfrm>
            <a:off x="640080" y="1572768"/>
            <a:ext cx="6309360" cy="2194560"/>
          </a:xfrm>
          <a:prstGeom prst="roundRect">
            <a:avLst>
              <a:gd name="adj" fmla="val 3333"/>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1005840" y="1773936"/>
            <a:ext cx="5577840" cy="365760"/>
          </a:xfrm>
          <a:prstGeom prst="rect">
            <a:avLst/>
          </a:prstGeom>
          <a:noFill/>
          <a:ln/>
        </p:spPr>
        <p:txBody>
          <a:bodyPr wrap="square" lIns="0" tIns="0" rIns="0" bIns="0" rtlCol="0" anchor="ctr"/>
          <a:lstStyle/>
          <a:p>
            <a:pPr marL="0" indent="0">
              <a:buNone/>
            </a:pPr>
            <a:r>
              <a:rPr lang="en-US" sz="2100" b="1" dirty="0">
                <a:solidFill>
                  <a:srgbClr val="6FD3AF"/>
                </a:solidFill>
                <a:latin typeface="Cambria" pitchFamily="34" charset="0"/>
                <a:ea typeface="Cambria" pitchFamily="34" charset="-122"/>
                <a:cs typeface="Cambria" pitchFamily="34" charset="-120"/>
              </a:rPr>
              <a:t>Procedural rhetoric</a:t>
            </a:r>
            <a:endParaRPr lang="en-US" sz="2100" dirty="0"/>
          </a:p>
        </p:txBody>
      </p:sp>
      <p:sp>
        <p:nvSpPr>
          <p:cNvPr id="7" name="Text 5"/>
          <p:cNvSpPr txBox="1"/>
          <p:nvPr/>
        </p:nvSpPr>
        <p:spPr>
          <a:xfrm>
            <a:off x="1005840" y="2240280"/>
            <a:ext cx="5623560" cy="1371600"/>
          </a:xfrm>
          <a:prstGeom prst="rect">
            <a:avLst/>
          </a:prstGeom>
          <a:noFill/>
          <a:ln/>
        </p:spPr>
        <p:txBody>
          <a:bodyPr wrap="square" lIns="0" tIns="0" rIns="0" bIns="0" rtlCol="0" anchor="ctr"/>
          <a:lstStyle/>
          <a:p>
            <a:pPr marL="0" indent="0">
              <a:lnSpc>
                <a:spcPts val="1900"/>
              </a:lnSpc>
              <a:buNone/>
            </a:pPr>
            <a:r>
              <a:rPr lang="en-US" sz="1350" dirty="0">
                <a:solidFill>
                  <a:srgbClr val="F1F3F6"/>
                </a:solidFill>
                <a:latin typeface="Calibri" pitchFamily="34" charset="0"/>
                <a:ea typeface="Calibri" pitchFamily="34" charset="-122"/>
                <a:cs typeface="Calibri" pitchFamily="34" charset="-120"/>
              </a:rPr>
              <a:t>Persuasion through processes — through rule-based representations and interactions rather than through words or images. A game argues by building a working model of some part of the world and making you operate it. What it includes, excludes, rewards and forbids is the claim.</a:t>
            </a:r>
            <a:endParaRPr lang="en-US" sz="1350" dirty="0"/>
          </a:p>
        </p:txBody>
      </p:sp>
      <p:sp>
        <p:nvSpPr>
          <p:cNvPr id="8" name="Shape 6"/>
          <p:cNvSpPr/>
          <p:nvPr/>
        </p:nvSpPr>
        <p:spPr>
          <a:xfrm>
            <a:off x="7269480" y="1572768"/>
            <a:ext cx="4251960" cy="1298448"/>
          </a:xfrm>
          <a:prstGeom prst="roundRect">
            <a:avLst>
              <a:gd name="adj" fmla="val 5634"/>
            </a:avLst>
          </a:prstGeom>
          <a:solidFill>
            <a:srgbClr val="E4F1EC"/>
          </a:solidFill>
          <a:ln w="12700">
            <a:solidFill>
              <a:srgbClr val="E4F1EC"/>
            </a:solidFill>
            <a:prstDash val="solid"/>
          </a:ln>
        </p:spPr>
        <p:txBody>
          <a:bodyPr/>
          <a:lstStyle/>
          <a:p>
            <a:endParaRPr lang="en-US"/>
          </a:p>
        </p:txBody>
      </p:sp>
      <p:sp>
        <p:nvSpPr>
          <p:cNvPr id="9" name="Text 7"/>
          <p:cNvSpPr txBox="1"/>
          <p:nvPr/>
        </p:nvSpPr>
        <p:spPr>
          <a:xfrm>
            <a:off x="7543800" y="1719072"/>
            <a:ext cx="3703320" cy="310896"/>
          </a:xfrm>
          <a:prstGeom prst="rect">
            <a:avLst/>
          </a:prstGeom>
          <a:noFill/>
          <a:ln/>
        </p:spPr>
        <p:txBody>
          <a:bodyPr wrap="square" lIns="0" tIns="0" rIns="0" bIns="0" rtlCol="0" anchor="ctr"/>
          <a:lstStyle/>
          <a:p>
            <a:pPr marL="0" indent="0">
              <a:buNone/>
            </a:pPr>
            <a:r>
              <a:rPr lang="en-US" sz="1400" b="1" dirty="0">
                <a:solidFill>
                  <a:srgbClr val="0D1117"/>
                </a:solidFill>
                <a:latin typeface="Cambria" pitchFamily="34" charset="0"/>
                <a:ea typeface="Cambria" pitchFamily="34" charset="-122"/>
                <a:cs typeface="Cambria" pitchFamily="34" charset="-120"/>
              </a:rPr>
              <a:t>Stronger than “games are interactive”</a:t>
            </a:r>
            <a:endParaRPr lang="en-US" sz="1400" dirty="0"/>
          </a:p>
        </p:txBody>
      </p:sp>
      <p:sp>
        <p:nvSpPr>
          <p:cNvPr id="10" name="Text 8"/>
          <p:cNvSpPr txBox="1"/>
          <p:nvPr/>
        </p:nvSpPr>
        <p:spPr>
          <a:xfrm>
            <a:off x="7543800" y="2066544"/>
            <a:ext cx="3703320" cy="731520"/>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The claim is that the rule system is itself a rhetorical utterance — capable of being honest or dishonest about what it models, and answerable as such.</a:t>
            </a:r>
            <a:endParaRPr lang="en-US" sz="1150" dirty="0"/>
          </a:p>
        </p:txBody>
      </p:sp>
      <p:sp>
        <p:nvSpPr>
          <p:cNvPr id="11" name="Shape 9"/>
          <p:cNvSpPr/>
          <p:nvPr/>
        </p:nvSpPr>
        <p:spPr>
          <a:xfrm>
            <a:off x="7269480" y="2999232"/>
            <a:ext cx="4251960" cy="1298448"/>
          </a:xfrm>
          <a:prstGeom prst="roundRect">
            <a:avLst>
              <a:gd name="adj" fmla="val 5634"/>
            </a:avLst>
          </a:prstGeom>
          <a:solidFill>
            <a:srgbClr val="ECEAF9"/>
          </a:solidFill>
          <a:ln w="12700">
            <a:solidFill>
              <a:srgbClr val="ECEAF9"/>
            </a:solidFill>
            <a:prstDash val="solid"/>
          </a:ln>
        </p:spPr>
        <p:txBody>
          <a:bodyPr/>
          <a:lstStyle/>
          <a:p>
            <a:endParaRPr lang="en-US"/>
          </a:p>
        </p:txBody>
      </p:sp>
      <p:sp>
        <p:nvSpPr>
          <p:cNvPr id="12" name="Text 10"/>
          <p:cNvSpPr txBox="1"/>
          <p:nvPr/>
        </p:nvSpPr>
        <p:spPr>
          <a:xfrm>
            <a:off x="7543800" y="3145536"/>
            <a:ext cx="3703320" cy="310896"/>
          </a:xfrm>
          <a:prstGeom prst="rect">
            <a:avLst/>
          </a:prstGeom>
          <a:noFill/>
          <a:ln/>
        </p:spPr>
        <p:txBody>
          <a:bodyPr wrap="square" lIns="0" tIns="0" rIns="0" bIns="0" rtlCol="0" anchor="ctr"/>
          <a:lstStyle/>
          <a:p>
            <a:pPr marL="0" indent="0">
              <a:buNone/>
            </a:pPr>
            <a:r>
              <a:rPr lang="en-US" sz="1400" b="1" dirty="0">
                <a:solidFill>
                  <a:srgbClr val="0D1117"/>
                </a:solidFill>
                <a:latin typeface="Cambria" pitchFamily="34" charset="0"/>
                <a:ea typeface="Cambria" pitchFamily="34" charset="-122"/>
                <a:cs typeface="Cambria" pitchFamily="34" charset="-120"/>
              </a:rPr>
              <a:t>Bogost’s own example</a:t>
            </a:r>
            <a:endParaRPr lang="en-US" sz="1400" dirty="0"/>
          </a:p>
        </p:txBody>
      </p:sp>
      <p:sp>
        <p:nvSpPr>
          <p:cNvPr id="13" name="Text 11"/>
          <p:cNvSpPr txBox="1"/>
          <p:nvPr/>
        </p:nvSpPr>
        <p:spPr>
          <a:xfrm>
            <a:off x="7543800" y="3493008"/>
            <a:ext cx="3703320" cy="731520"/>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Animal Crossing quietly models consumer debt: you owe a mortgage, you work it off, and you can see where the payments go. The game argues about debt by simulating one.</a:t>
            </a:r>
            <a:endParaRPr lang="en-US" sz="1150" dirty="0"/>
          </a:p>
        </p:txBody>
      </p:sp>
      <p:sp>
        <p:nvSpPr>
          <p:cNvPr id="14" name="Shape 12"/>
          <p:cNvSpPr/>
          <p:nvPr/>
        </p:nvSpPr>
        <p:spPr>
          <a:xfrm>
            <a:off x="7269480" y="4425696"/>
            <a:ext cx="4251960" cy="1298448"/>
          </a:xfrm>
          <a:prstGeom prst="roundRect">
            <a:avLst>
              <a:gd name="adj" fmla="val 5634"/>
            </a:avLst>
          </a:prstGeom>
          <a:solidFill>
            <a:srgbClr val="E4F1EC"/>
          </a:solidFill>
          <a:ln w="12700">
            <a:solidFill>
              <a:srgbClr val="E4F1EC"/>
            </a:solidFill>
            <a:prstDash val="solid"/>
          </a:ln>
        </p:spPr>
        <p:txBody>
          <a:bodyPr/>
          <a:lstStyle/>
          <a:p>
            <a:endParaRPr lang="en-US"/>
          </a:p>
        </p:txBody>
      </p:sp>
      <p:sp>
        <p:nvSpPr>
          <p:cNvPr id="15" name="Text 13"/>
          <p:cNvSpPr txBox="1"/>
          <p:nvPr/>
        </p:nvSpPr>
        <p:spPr>
          <a:xfrm>
            <a:off x="7543800" y="4572000"/>
            <a:ext cx="3703320" cy="310896"/>
          </a:xfrm>
          <a:prstGeom prst="rect">
            <a:avLst/>
          </a:prstGeom>
          <a:noFill/>
          <a:ln/>
        </p:spPr>
        <p:txBody>
          <a:bodyPr wrap="square" lIns="0" tIns="0" rIns="0" bIns="0" rtlCol="0" anchor="ctr"/>
          <a:lstStyle/>
          <a:p>
            <a:pPr marL="0" indent="0">
              <a:buNone/>
            </a:pPr>
            <a:r>
              <a:rPr lang="en-US" sz="1400" b="1" dirty="0">
                <a:solidFill>
                  <a:srgbClr val="0D1117"/>
                </a:solidFill>
                <a:latin typeface="Cambria" pitchFamily="34" charset="0"/>
                <a:ea typeface="Cambria" pitchFamily="34" charset="-122"/>
                <a:cs typeface="Cambria" pitchFamily="34" charset="-120"/>
              </a:rPr>
              <a:t>What it buys us today</a:t>
            </a:r>
            <a:endParaRPr lang="en-US" sz="1400" dirty="0"/>
          </a:p>
        </p:txBody>
      </p:sp>
      <p:sp>
        <p:nvSpPr>
          <p:cNvPr id="16" name="Text 14"/>
          <p:cNvSpPr txBox="1"/>
          <p:nvPr/>
        </p:nvSpPr>
        <p:spPr>
          <a:xfrm>
            <a:off x="7543800" y="4919472"/>
            <a:ext cx="3703320" cy="731520"/>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A way to say something precise about Mass Effect and Detroit that is not “the story was good” — and a way to notice arguments the writers may not have meant to make.</a:t>
            </a:r>
            <a:endParaRPr lang="en-US" sz="1150" dirty="0"/>
          </a:p>
        </p:txBody>
      </p:sp>
      <p:sp>
        <p:nvSpPr>
          <p:cNvPr id="17" name="Shape 15"/>
          <p:cNvSpPr/>
          <p:nvPr/>
        </p:nvSpPr>
        <p:spPr>
          <a:xfrm>
            <a:off x="640080" y="3950208"/>
            <a:ext cx="6309360" cy="1810512"/>
          </a:xfrm>
          <a:prstGeom prst="roundRect">
            <a:avLst>
              <a:gd name="adj" fmla="val 4040"/>
            </a:avLst>
          </a:prstGeom>
          <a:solidFill>
            <a:srgbClr val="E4F1EC"/>
          </a:solidFill>
          <a:ln w="12700">
            <a:solidFill>
              <a:srgbClr val="E4F1EC"/>
            </a:solidFill>
            <a:prstDash val="solid"/>
          </a:ln>
        </p:spPr>
        <p:txBody>
          <a:bodyPr/>
          <a:lstStyle/>
          <a:p>
            <a:endParaRPr lang="en-US"/>
          </a:p>
        </p:txBody>
      </p:sp>
      <p:sp>
        <p:nvSpPr>
          <p:cNvPr id="18" name="Text 16"/>
          <p:cNvSpPr txBox="1"/>
          <p:nvPr/>
        </p:nvSpPr>
        <p:spPr>
          <a:xfrm>
            <a:off x="1005840" y="4133088"/>
            <a:ext cx="5577840" cy="310896"/>
          </a:xfrm>
          <a:prstGeom prst="rect">
            <a:avLst/>
          </a:prstGeom>
          <a:noFill/>
          <a:ln/>
        </p:spPr>
        <p:txBody>
          <a:bodyPr wrap="square" lIns="0" tIns="0" rIns="0" bIns="0" rtlCol="0" anchor="ctr"/>
          <a:lstStyle/>
          <a:p>
            <a:pPr marL="0" indent="0">
              <a:buNone/>
            </a:pPr>
            <a:r>
              <a:rPr lang="en-US" sz="1600" b="1" dirty="0">
                <a:solidFill>
                  <a:srgbClr val="0D1117"/>
                </a:solidFill>
                <a:latin typeface="Cambria" pitchFamily="34" charset="0"/>
                <a:ea typeface="Cambria" pitchFamily="34" charset="-122"/>
                <a:cs typeface="Cambria" pitchFamily="34" charset="-120"/>
              </a:rPr>
              <a:t>Filling in the TBA</a:t>
            </a:r>
            <a:endParaRPr lang="en-US" sz="1600" dirty="0"/>
          </a:p>
        </p:txBody>
      </p:sp>
      <p:sp>
        <p:nvSpPr>
          <p:cNvPr id="19" name="Text 17"/>
          <p:cNvSpPr txBox="1"/>
          <p:nvPr/>
        </p:nvSpPr>
        <p:spPr>
          <a:xfrm>
            <a:off x="1005840" y="4526280"/>
            <a:ext cx="5577840" cy="105156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Ian Bogost, “The Rhetoric of Video Games,” in The Ecology of Games, ed. Katie Salen (MIT Press, 2008), 117–140. About twenty pages, written for a general audience, and released under a Creative Commons licence — so you can assign it without a coursepack. The book-length version, Persuasive Games (2007), is too much for week three.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THE METHOD</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Three layers, and which one we usually skip</a:t>
            </a:r>
            <a:endParaRPr lang="en-US" sz="3000" dirty="0"/>
          </a:p>
        </p:txBody>
      </p:sp>
      <p:sp>
        <p:nvSpPr>
          <p:cNvPr id="5" name="Shape 3"/>
          <p:cNvSpPr/>
          <p:nvPr/>
        </p:nvSpPr>
        <p:spPr>
          <a:xfrm>
            <a:off x="640080" y="1572768"/>
            <a:ext cx="10911535" cy="1143000"/>
          </a:xfrm>
          <a:prstGeom prst="roundRect">
            <a:avLst>
              <a:gd name="adj" fmla="val 6400"/>
            </a:avLst>
          </a:prstGeom>
          <a:solidFill>
            <a:srgbClr val="ECEFF4"/>
          </a:solidFill>
          <a:ln w="12700">
            <a:solidFill>
              <a:srgbClr val="ECEFF4"/>
            </a:solidFill>
            <a:prstDash val="solid"/>
          </a:ln>
        </p:spPr>
        <p:txBody>
          <a:bodyPr/>
          <a:lstStyle/>
          <a:p>
            <a:endParaRPr lang="en-US"/>
          </a:p>
        </p:txBody>
      </p:sp>
      <p:sp>
        <p:nvSpPr>
          <p:cNvPr id="6" name="Shape 4"/>
          <p:cNvSpPr/>
          <p:nvPr/>
        </p:nvSpPr>
        <p:spPr>
          <a:xfrm>
            <a:off x="960120" y="1956816"/>
            <a:ext cx="384048" cy="384048"/>
          </a:xfrm>
          <a:prstGeom prst="ellipse">
            <a:avLst/>
          </a:prstGeom>
          <a:solidFill>
            <a:srgbClr val="0D1117"/>
          </a:solidFill>
          <a:ln/>
        </p:spPr>
        <p:txBody>
          <a:bodyPr/>
          <a:lstStyle/>
          <a:p>
            <a:endParaRPr lang="en-US"/>
          </a:p>
        </p:txBody>
      </p:sp>
      <p:sp>
        <p:nvSpPr>
          <p:cNvPr id="7" name="Text 5"/>
          <p:cNvSpPr txBox="1"/>
          <p:nvPr/>
        </p:nvSpPr>
        <p:spPr>
          <a:xfrm>
            <a:off x="960120" y="19568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00200" y="1755648"/>
            <a:ext cx="9509760" cy="365760"/>
          </a:xfrm>
          <a:prstGeom prst="rect">
            <a:avLst/>
          </a:prstGeom>
          <a:noFill/>
          <a:ln/>
        </p:spPr>
        <p:txBody>
          <a:bodyPr wrap="square" lIns="0" tIns="0" rIns="0" bIns="0" rtlCol="0" anchor="ctr"/>
          <a:lstStyle/>
          <a:p>
            <a:pPr marL="0" indent="0">
              <a:buNone/>
            </a:pPr>
            <a:r>
              <a:rPr lang="en-US" sz="2000" b="1" dirty="0">
                <a:solidFill>
                  <a:srgbClr val="0D1117"/>
                </a:solidFill>
                <a:latin typeface="Cambria" pitchFamily="34" charset="0"/>
                <a:ea typeface="Cambria" pitchFamily="34" charset="-122"/>
                <a:cs typeface="Cambria" pitchFamily="34" charset="-120"/>
              </a:rPr>
              <a:t>Story</a:t>
            </a:r>
            <a:endParaRPr lang="en-US" sz="2000" dirty="0"/>
          </a:p>
        </p:txBody>
      </p:sp>
      <p:sp>
        <p:nvSpPr>
          <p:cNvPr id="9" name="Text 7"/>
          <p:cNvSpPr txBox="1"/>
          <p:nvPr/>
        </p:nvSpPr>
        <p:spPr>
          <a:xfrm>
            <a:off x="1600200" y="2139696"/>
            <a:ext cx="9509760" cy="713232"/>
          </a:xfrm>
          <a:prstGeom prst="rect">
            <a:avLst/>
          </a:prstGeom>
          <a:noFill/>
          <a:ln/>
        </p:spPr>
        <p:txBody>
          <a:bodyPr wrap="square" lIns="0" tIns="0" rIns="0" bIns="0" rtlCol="0" anchor="ctr"/>
          <a:lstStyle/>
          <a:p>
            <a:pPr marL="0" indent="0">
              <a:lnSpc>
                <a:spcPts val="1800"/>
              </a:lnSpc>
              <a:buNone/>
            </a:pPr>
            <a:r>
              <a:rPr lang="en-US" sz="1300" dirty="0">
                <a:solidFill>
                  <a:srgbClr val="596273"/>
                </a:solidFill>
                <a:latin typeface="Calibri" pitchFamily="34" charset="0"/>
                <a:ea typeface="Calibri" pitchFamily="34" charset="-122"/>
                <a:cs typeface="Calibri" pitchFamily="34" charset="-120"/>
              </a:rPr>
              <a:t>Plot, dialogue, characters, cutscenes. What the game says. The layer students are already trained on, and the one a game shares with a novel.</a:t>
            </a:r>
            <a:endParaRPr lang="en-US" sz="1300" dirty="0"/>
          </a:p>
        </p:txBody>
      </p:sp>
      <p:sp>
        <p:nvSpPr>
          <p:cNvPr id="10" name="Shape 8"/>
          <p:cNvSpPr/>
          <p:nvPr/>
        </p:nvSpPr>
        <p:spPr>
          <a:xfrm>
            <a:off x="640080" y="2852928"/>
            <a:ext cx="10911535" cy="1143000"/>
          </a:xfrm>
          <a:prstGeom prst="roundRect">
            <a:avLst>
              <a:gd name="adj" fmla="val 6400"/>
            </a:avLst>
          </a:prstGeom>
          <a:solidFill>
            <a:srgbClr val="ECEFF4"/>
          </a:solidFill>
          <a:ln w="12700">
            <a:solidFill>
              <a:srgbClr val="ECEFF4"/>
            </a:solidFill>
            <a:prstDash val="solid"/>
          </a:ln>
        </p:spPr>
        <p:txBody>
          <a:bodyPr/>
          <a:lstStyle/>
          <a:p>
            <a:endParaRPr lang="en-US"/>
          </a:p>
        </p:txBody>
      </p:sp>
      <p:sp>
        <p:nvSpPr>
          <p:cNvPr id="11" name="Shape 9"/>
          <p:cNvSpPr/>
          <p:nvPr/>
        </p:nvSpPr>
        <p:spPr>
          <a:xfrm>
            <a:off x="960120" y="3236976"/>
            <a:ext cx="384048" cy="384048"/>
          </a:xfrm>
          <a:prstGeom prst="ellipse">
            <a:avLst/>
          </a:prstGeom>
          <a:solidFill>
            <a:srgbClr val="0D1117"/>
          </a:solidFill>
          <a:ln/>
        </p:spPr>
        <p:txBody>
          <a:bodyPr/>
          <a:lstStyle/>
          <a:p>
            <a:endParaRPr lang="en-US"/>
          </a:p>
        </p:txBody>
      </p:sp>
      <p:sp>
        <p:nvSpPr>
          <p:cNvPr id="12" name="Text 10"/>
          <p:cNvSpPr txBox="1"/>
          <p:nvPr/>
        </p:nvSpPr>
        <p:spPr>
          <a:xfrm>
            <a:off x="960120" y="323697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600200" y="3035808"/>
            <a:ext cx="9509760" cy="365760"/>
          </a:xfrm>
          <a:prstGeom prst="rect">
            <a:avLst/>
          </a:prstGeom>
          <a:noFill/>
          <a:ln/>
        </p:spPr>
        <p:txBody>
          <a:bodyPr wrap="square" lIns="0" tIns="0" rIns="0" bIns="0" rtlCol="0" anchor="ctr"/>
          <a:lstStyle/>
          <a:p>
            <a:pPr marL="0" indent="0">
              <a:buNone/>
            </a:pPr>
            <a:r>
              <a:rPr lang="en-US" sz="2000" b="1" dirty="0">
                <a:solidFill>
                  <a:srgbClr val="0D1117"/>
                </a:solidFill>
                <a:latin typeface="Cambria" pitchFamily="34" charset="0"/>
                <a:ea typeface="Cambria" pitchFamily="34" charset="-122"/>
                <a:cs typeface="Cambria" pitchFamily="34" charset="-120"/>
              </a:rPr>
              <a:t>Image and sound</a:t>
            </a:r>
            <a:endParaRPr lang="en-US" sz="2000" dirty="0"/>
          </a:p>
        </p:txBody>
      </p:sp>
      <p:sp>
        <p:nvSpPr>
          <p:cNvPr id="14" name="Text 12"/>
          <p:cNvSpPr txBox="1"/>
          <p:nvPr/>
        </p:nvSpPr>
        <p:spPr>
          <a:xfrm>
            <a:off x="1600200" y="3419856"/>
            <a:ext cx="9509760" cy="713232"/>
          </a:xfrm>
          <a:prstGeom prst="rect">
            <a:avLst/>
          </a:prstGeom>
          <a:noFill/>
          <a:ln/>
        </p:spPr>
        <p:txBody>
          <a:bodyPr wrap="square" lIns="0" tIns="0" rIns="0" bIns="0" rtlCol="0" anchor="ctr"/>
          <a:lstStyle/>
          <a:p>
            <a:pPr marL="0" indent="0">
              <a:lnSpc>
                <a:spcPts val="1800"/>
              </a:lnSpc>
              <a:buNone/>
            </a:pPr>
            <a:r>
              <a:rPr lang="en-US" sz="1300" dirty="0">
                <a:solidFill>
                  <a:srgbClr val="596273"/>
                </a:solidFill>
                <a:latin typeface="Calibri" pitchFamily="34" charset="0"/>
                <a:ea typeface="Calibri" pitchFamily="34" charset="-122"/>
                <a:cs typeface="Calibri" pitchFamily="34" charset="-120"/>
              </a:rPr>
              <a:t>Art direction, music, interface, the look of a face. What the game shows. Also familiar — film analysis applied to a new object.</a:t>
            </a:r>
            <a:endParaRPr lang="en-US" sz="1300" dirty="0"/>
          </a:p>
        </p:txBody>
      </p:sp>
      <p:sp>
        <p:nvSpPr>
          <p:cNvPr id="15" name="Shape 13"/>
          <p:cNvSpPr/>
          <p:nvPr/>
        </p:nvSpPr>
        <p:spPr>
          <a:xfrm>
            <a:off x="640080" y="4133088"/>
            <a:ext cx="10911535" cy="1600200"/>
          </a:xfrm>
          <a:prstGeom prst="roundRect">
            <a:avLst>
              <a:gd name="adj" fmla="val 4571"/>
            </a:avLst>
          </a:prstGeom>
          <a:solidFill>
            <a:srgbClr val="0D1117"/>
          </a:solidFill>
          <a:ln w="12700">
            <a:solidFill>
              <a:srgbClr val="0D1117"/>
            </a:solidFill>
            <a:prstDash val="solid"/>
          </a:ln>
        </p:spPr>
        <p:txBody>
          <a:bodyPr/>
          <a:lstStyle/>
          <a:p>
            <a:endParaRPr lang="en-US"/>
          </a:p>
        </p:txBody>
      </p:sp>
      <p:sp>
        <p:nvSpPr>
          <p:cNvPr id="16" name="Shape 14"/>
          <p:cNvSpPr/>
          <p:nvPr/>
        </p:nvSpPr>
        <p:spPr>
          <a:xfrm>
            <a:off x="960120" y="4700016"/>
            <a:ext cx="384048" cy="384048"/>
          </a:xfrm>
          <a:prstGeom prst="ellipse">
            <a:avLst/>
          </a:prstGeom>
          <a:solidFill>
            <a:srgbClr val="1F9E77"/>
          </a:solidFill>
          <a:ln/>
        </p:spPr>
        <p:txBody>
          <a:bodyPr/>
          <a:lstStyle/>
          <a:p>
            <a:endParaRPr lang="en-US"/>
          </a:p>
        </p:txBody>
      </p:sp>
      <p:sp>
        <p:nvSpPr>
          <p:cNvPr id="17" name="Text 15"/>
          <p:cNvSpPr txBox="1"/>
          <p:nvPr/>
        </p:nvSpPr>
        <p:spPr>
          <a:xfrm>
            <a:off x="960120" y="47000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600200" y="4425696"/>
            <a:ext cx="9509760" cy="365760"/>
          </a:xfrm>
          <a:prstGeom prst="rect">
            <a:avLst/>
          </a:prstGeom>
          <a:noFill/>
          <a:ln/>
        </p:spPr>
        <p:txBody>
          <a:bodyPr wrap="square" lIns="0" tIns="0" rIns="0" bIns="0" rtlCol="0" anchor="ctr"/>
          <a:lstStyle/>
          <a:p>
            <a:pPr marL="0" indent="0">
              <a:buNone/>
            </a:pPr>
            <a:r>
              <a:rPr lang="en-US" sz="2000" b="1" dirty="0">
                <a:solidFill>
                  <a:srgbClr val="6FD3AF"/>
                </a:solidFill>
                <a:latin typeface="Cambria" pitchFamily="34" charset="0"/>
                <a:ea typeface="Cambria" pitchFamily="34" charset="-122"/>
                <a:cs typeface="Cambria" pitchFamily="34" charset="-120"/>
              </a:rPr>
              <a:t>Rules</a:t>
            </a:r>
            <a:endParaRPr lang="en-US" sz="2000" dirty="0"/>
          </a:p>
        </p:txBody>
      </p:sp>
      <p:sp>
        <p:nvSpPr>
          <p:cNvPr id="19" name="Text 17"/>
          <p:cNvSpPr txBox="1"/>
          <p:nvPr/>
        </p:nvSpPr>
        <p:spPr>
          <a:xfrm>
            <a:off x="1600200" y="4882896"/>
            <a:ext cx="9509760" cy="713232"/>
          </a:xfrm>
          <a:prstGeom prst="rect">
            <a:avLst/>
          </a:prstGeom>
          <a:noFill/>
          <a:ln/>
        </p:spPr>
        <p:txBody>
          <a:bodyPr wrap="square" lIns="0" tIns="0" rIns="0" bIns="0" rtlCol="0" anchor="ctr"/>
          <a:lstStyle/>
          <a:p>
            <a:pPr marL="0" indent="0">
              <a:lnSpc>
                <a:spcPts val="1800"/>
              </a:lnSpc>
              <a:buNone/>
            </a:pPr>
            <a:r>
              <a:rPr lang="en-US" sz="1300" dirty="0">
                <a:solidFill>
                  <a:srgbClr val="F1F3F6"/>
                </a:solidFill>
                <a:latin typeface="Calibri" pitchFamily="34" charset="0"/>
                <a:ea typeface="Calibri" pitchFamily="34" charset="-122"/>
                <a:cs typeface="Calibri" pitchFamily="34" charset="-120"/>
              </a:rPr>
              <a:t>What is possible, what is impossible, what accumulates, what is scored, what ends the scene, what the game will not let you do. What the game requires of you. This is the layer unique to the medium, and the one nobody was taught to read.</a:t>
            </a:r>
            <a:endParaRPr lang="en-US" sz="1300" dirty="0"/>
          </a:p>
        </p:txBody>
      </p:sp>
      <p:sp>
        <p:nvSpPr>
          <p:cNvPr id="20" name="Text 18"/>
          <p:cNvSpPr txBox="1"/>
          <p:nvPr/>
        </p:nvSpPr>
        <p:spPr>
          <a:xfrm>
            <a:off x="640080" y="5760720"/>
            <a:ext cx="10881360" cy="411480"/>
          </a:xfrm>
          <a:prstGeom prst="rect">
            <a:avLst/>
          </a:prstGeom>
          <a:noFill/>
          <a:ln/>
        </p:spPr>
        <p:txBody>
          <a:bodyPr wrap="square" lIns="0" tIns="0" rIns="0" bIns="0" rtlCol="0" anchor="ctr"/>
          <a:lstStyle/>
          <a:p>
            <a:pPr marL="0" indent="0">
              <a:buNone/>
            </a:pPr>
            <a:r>
              <a:rPr lang="en-US" sz="1600" i="1" dirty="0">
                <a:solidFill>
                  <a:srgbClr val="1F9E77"/>
                </a:solidFill>
                <a:latin typeface="Cambria" pitchFamily="34" charset="0"/>
                <a:ea typeface="Cambria" pitchFamily="34" charset="-122"/>
                <a:cs typeface="Cambria" pitchFamily="34" charset="-120"/>
              </a:rPr>
              <a:t>The three layers can disagree with each other. When a text says one thing and rewards another, that gap is usually where the reading is.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WORKED EXAMPLE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A game whose rules argue the opposite of its reputation</a:t>
            </a:r>
            <a:endParaRPr lang="en-US" sz="3000" dirty="0"/>
          </a:p>
        </p:txBody>
      </p:sp>
      <p:sp>
        <p:nvSpPr>
          <p:cNvPr id="5" name="Shape 3"/>
          <p:cNvSpPr/>
          <p:nvPr/>
        </p:nvSpPr>
        <p:spPr>
          <a:xfrm>
            <a:off x="640080" y="1572768"/>
            <a:ext cx="5943600" cy="4206240"/>
          </a:xfrm>
          <a:prstGeom prst="roundRect">
            <a:avLst>
              <a:gd name="adj" fmla="val 1739"/>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1005840" y="1810512"/>
            <a:ext cx="5212080" cy="411480"/>
          </a:xfrm>
          <a:prstGeom prst="rect">
            <a:avLst/>
          </a:prstGeom>
          <a:noFill/>
          <a:ln/>
        </p:spPr>
        <p:txBody>
          <a:bodyPr wrap="square" lIns="0" tIns="0" rIns="0" bIns="0" rtlCol="0" anchor="ctr"/>
          <a:lstStyle/>
          <a:p>
            <a:pPr marL="0" indent="0">
              <a:buNone/>
            </a:pPr>
            <a:r>
              <a:rPr lang="en-US" sz="2400" b="1" dirty="0">
                <a:solidFill>
                  <a:srgbClr val="6FD3AF"/>
                </a:solidFill>
                <a:latin typeface="Cambria" pitchFamily="34" charset="0"/>
                <a:ea typeface="Cambria" pitchFamily="34" charset="-122"/>
                <a:cs typeface="Cambria" pitchFamily="34" charset="-120"/>
              </a:rPr>
              <a:t>Monopoly</a:t>
            </a:r>
            <a:endParaRPr lang="en-US" sz="2400" dirty="0"/>
          </a:p>
        </p:txBody>
      </p:sp>
      <p:sp>
        <p:nvSpPr>
          <p:cNvPr id="7" name="Text 5"/>
          <p:cNvSpPr txBox="1"/>
          <p:nvPr/>
        </p:nvSpPr>
        <p:spPr>
          <a:xfrm>
            <a:off x="1005840" y="2331720"/>
            <a:ext cx="5257800" cy="324612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300" dirty="0">
                <a:solidFill>
                  <a:srgbClr val="F1F3F6"/>
                </a:solidFill>
                <a:latin typeface="Calibri" pitchFamily="34" charset="0"/>
                <a:ea typeface="Calibri" pitchFamily="34" charset="-122"/>
                <a:cs typeface="Calibri" pitchFamily="34" charset="-120"/>
              </a:rPr>
              <a:t>Its ancestor is Elizabeth Magie’s The Landlord’s Game, patented in 1904 as an argument against land monopoly — built to demonstrate that rent extraction ruins everyone but the landlord.</a:t>
            </a:r>
            <a:endParaRPr lang="en-US" sz="1300" dirty="0"/>
          </a:p>
          <a:p>
            <a:pPr marL="342900" indent="-342900">
              <a:lnSpc>
                <a:spcPts val="1900"/>
              </a:lnSpc>
              <a:spcAft>
                <a:spcPts val="1000"/>
              </a:spcAft>
              <a:buSzPct val="100000"/>
              <a:buChar char="•"/>
            </a:pPr>
            <a:r>
              <a:rPr lang="en-US" sz="1300" dirty="0">
                <a:solidFill>
                  <a:srgbClr val="F1F3F6"/>
                </a:solidFill>
                <a:latin typeface="Calibri" pitchFamily="34" charset="0"/>
                <a:ea typeface="Calibri" pitchFamily="34" charset="-122"/>
                <a:cs typeface="Calibri" pitchFamily="34" charset="-120"/>
              </a:rPr>
              <a:t>The rules do the arguing. Early advantage compounds. Latecomers cannot recover. The game does not end when someone wins; it ends when everyone else is destroyed.</a:t>
            </a:r>
            <a:endParaRPr lang="en-US" sz="1300" dirty="0"/>
          </a:p>
          <a:p>
            <a:pPr marL="342900" indent="-342900">
              <a:lnSpc>
                <a:spcPts val="1900"/>
              </a:lnSpc>
              <a:spcAft>
                <a:spcPts val="1000"/>
              </a:spcAft>
              <a:buSzPct val="100000"/>
              <a:buChar char="•"/>
            </a:pPr>
            <a:r>
              <a:rPr lang="en-US" sz="1300" dirty="0">
                <a:solidFill>
                  <a:srgbClr val="F1F3F6"/>
                </a:solidFill>
                <a:latin typeface="Calibri" pitchFamily="34" charset="0"/>
                <a:ea typeface="Calibri" pitchFamily="34" charset="-122"/>
                <a:cs typeface="Calibri" pitchFamily="34" charset="-120"/>
              </a:rPr>
              <a:t>Nothing in the artwork, the tokens or the text says any of this. The critique is entirely procedural.</a:t>
            </a:r>
            <a:endParaRPr lang="en-US" sz="1300" dirty="0"/>
          </a:p>
          <a:p>
            <a:pPr marL="342900" indent="-342900">
              <a:lnSpc>
                <a:spcPts val="1900"/>
              </a:lnSpc>
              <a:spcAft>
                <a:spcPts val="1000"/>
              </a:spcAft>
              <a:buSzPct val="100000"/>
              <a:buChar char="•"/>
            </a:pPr>
            <a:r>
              <a:rPr lang="en-US" sz="1300" dirty="0">
                <a:solidFill>
                  <a:srgbClr val="F1F3F6"/>
                </a:solidFill>
                <a:latin typeface="Calibri" pitchFamily="34" charset="0"/>
                <a:ea typeface="Calibri" pitchFamily="34" charset="-122"/>
                <a:cs typeface="Calibri" pitchFamily="34" charset="-120"/>
              </a:rPr>
              <a:t>And it sold for ninety years as a celebration of the thing it was designed to attack — which tells you that procedural arguments can be received exactly backwards.</a:t>
            </a:r>
            <a:endParaRPr lang="en-US" sz="1300" dirty="0"/>
          </a:p>
        </p:txBody>
      </p:sp>
      <p:sp>
        <p:nvSpPr>
          <p:cNvPr id="8" name="Shape 6"/>
          <p:cNvSpPr/>
          <p:nvPr/>
        </p:nvSpPr>
        <p:spPr>
          <a:xfrm>
            <a:off x="6903720" y="1572768"/>
            <a:ext cx="4626864" cy="1371600"/>
          </a:xfrm>
          <a:prstGeom prst="roundRect">
            <a:avLst>
              <a:gd name="adj" fmla="val 5333"/>
            </a:avLst>
          </a:prstGeom>
          <a:solidFill>
            <a:srgbClr val="E4F1EC"/>
          </a:solidFill>
          <a:ln w="12700">
            <a:solidFill>
              <a:srgbClr val="E4F1EC"/>
            </a:solidFill>
            <a:prstDash val="solid"/>
          </a:ln>
        </p:spPr>
        <p:txBody>
          <a:bodyPr/>
          <a:lstStyle/>
          <a:p>
            <a:endParaRPr lang="en-US"/>
          </a:p>
        </p:txBody>
      </p:sp>
      <p:sp>
        <p:nvSpPr>
          <p:cNvPr id="9" name="Text 7"/>
          <p:cNvSpPr txBox="1"/>
          <p:nvPr/>
        </p:nvSpPr>
        <p:spPr>
          <a:xfrm>
            <a:off x="7178040" y="1719072"/>
            <a:ext cx="4078224" cy="310896"/>
          </a:xfrm>
          <a:prstGeom prst="rect">
            <a:avLst/>
          </a:prstGeom>
          <a:noFill/>
          <a:ln/>
        </p:spPr>
        <p:txBody>
          <a:bodyPr wrap="square" lIns="0" tIns="0" rIns="0" bIns="0" rtlCol="0" anchor="ctr"/>
          <a:lstStyle/>
          <a:p>
            <a:pPr marL="0" indent="0">
              <a:buNone/>
            </a:pPr>
            <a:r>
              <a:rPr lang="en-US" sz="1450" b="1" dirty="0">
                <a:solidFill>
                  <a:srgbClr val="0D1117"/>
                </a:solidFill>
                <a:latin typeface="Cambria" pitchFamily="34" charset="0"/>
                <a:ea typeface="Cambria" pitchFamily="34" charset="-122"/>
                <a:cs typeface="Cambria" pitchFamily="34" charset="-120"/>
              </a:rPr>
              <a:t>What to copy from this reading</a:t>
            </a:r>
            <a:endParaRPr lang="en-US" sz="1450" dirty="0"/>
          </a:p>
        </p:txBody>
      </p:sp>
      <p:sp>
        <p:nvSpPr>
          <p:cNvPr id="10" name="Text 8"/>
          <p:cNvSpPr txBox="1"/>
          <p:nvPr/>
        </p:nvSpPr>
        <p:spPr>
          <a:xfrm>
            <a:off x="7178040" y="2075688"/>
            <a:ext cx="4078224" cy="777240"/>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It never mentions the theme. It describes what happens over time when the rules are followed, and lets the argument fall out of the description.</a:t>
            </a:r>
            <a:endParaRPr lang="en-US" sz="1150" dirty="0"/>
          </a:p>
        </p:txBody>
      </p:sp>
      <p:sp>
        <p:nvSpPr>
          <p:cNvPr id="11" name="Shape 9"/>
          <p:cNvSpPr/>
          <p:nvPr/>
        </p:nvSpPr>
        <p:spPr>
          <a:xfrm>
            <a:off x="6903720" y="3063240"/>
            <a:ext cx="4626864" cy="1371600"/>
          </a:xfrm>
          <a:prstGeom prst="roundRect">
            <a:avLst>
              <a:gd name="adj" fmla="val 5333"/>
            </a:avLst>
          </a:prstGeom>
          <a:solidFill>
            <a:srgbClr val="E4F1EC"/>
          </a:solidFill>
          <a:ln w="12700">
            <a:solidFill>
              <a:srgbClr val="E4F1EC"/>
            </a:solidFill>
            <a:prstDash val="solid"/>
          </a:ln>
        </p:spPr>
        <p:txBody>
          <a:bodyPr/>
          <a:lstStyle/>
          <a:p>
            <a:endParaRPr lang="en-US"/>
          </a:p>
        </p:txBody>
      </p:sp>
      <p:sp>
        <p:nvSpPr>
          <p:cNvPr id="12" name="Text 10"/>
          <p:cNvSpPr txBox="1"/>
          <p:nvPr/>
        </p:nvSpPr>
        <p:spPr>
          <a:xfrm>
            <a:off x="7178040" y="3209544"/>
            <a:ext cx="4078224" cy="310896"/>
          </a:xfrm>
          <a:prstGeom prst="rect">
            <a:avLst/>
          </a:prstGeom>
          <a:noFill/>
          <a:ln/>
        </p:spPr>
        <p:txBody>
          <a:bodyPr wrap="square" lIns="0" tIns="0" rIns="0" bIns="0" rtlCol="0" anchor="ctr"/>
          <a:lstStyle/>
          <a:p>
            <a:pPr marL="0" indent="0">
              <a:buNone/>
            </a:pPr>
            <a:r>
              <a:rPr lang="en-US" sz="1450" b="1" dirty="0">
                <a:solidFill>
                  <a:srgbClr val="0D1117"/>
                </a:solidFill>
                <a:latin typeface="Cambria" pitchFamily="34" charset="0"/>
                <a:ea typeface="Cambria" pitchFamily="34" charset="-122"/>
                <a:cs typeface="Cambria" pitchFamily="34" charset="-120"/>
              </a:rPr>
              <a:t>The test question</a:t>
            </a:r>
            <a:endParaRPr lang="en-US" sz="1450" dirty="0"/>
          </a:p>
        </p:txBody>
      </p:sp>
      <p:sp>
        <p:nvSpPr>
          <p:cNvPr id="13" name="Text 11"/>
          <p:cNvSpPr txBox="1"/>
          <p:nvPr/>
        </p:nvSpPr>
        <p:spPr>
          <a:xfrm>
            <a:off x="7178040" y="3566160"/>
            <a:ext cx="4078224" cy="777240"/>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If I played this correctly and enthusiastically, what would I have practised? What habit or belief would I have rehearsed?</a:t>
            </a:r>
            <a:endParaRPr lang="en-US" sz="1150" dirty="0"/>
          </a:p>
        </p:txBody>
      </p:sp>
      <p:sp>
        <p:nvSpPr>
          <p:cNvPr id="14" name="Shape 12"/>
          <p:cNvSpPr/>
          <p:nvPr/>
        </p:nvSpPr>
        <p:spPr>
          <a:xfrm>
            <a:off x="6903720" y="4553712"/>
            <a:ext cx="4626864" cy="1371600"/>
          </a:xfrm>
          <a:prstGeom prst="roundRect">
            <a:avLst>
              <a:gd name="adj" fmla="val 5333"/>
            </a:avLst>
          </a:prstGeom>
          <a:solidFill>
            <a:srgbClr val="ECEAF9"/>
          </a:solidFill>
          <a:ln w="12700">
            <a:solidFill>
              <a:srgbClr val="ECEAF9"/>
            </a:solidFill>
            <a:prstDash val="solid"/>
          </a:ln>
        </p:spPr>
        <p:txBody>
          <a:bodyPr/>
          <a:lstStyle/>
          <a:p>
            <a:endParaRPr lang="en-US"/>
          </a:p>
        </p:txBody>
      </p:sp>
      <p:sp>
        <p:nvSpPr>
          <p:cNvPr id="15" name="Text 13"/>
          <p:cNvSpPr txBox="1"/>
          <p:nvPr/>
        </p:nvSpPr>
        <p:spPr>
          <a:xfrm>
            <a:off x="7178040" y="4700016"/>
            <a:ext cx="4078224" cy="310896"/>
          </a:xfrm>
          <a:prstGeom prst="rect">
            <a:avLst/>
          </a:prstGeom>
          <a:noFill/>
          <a:ln/>
        </p:spPr>
        <p:txBody>
          <a:bodyPr wrap="square" lIns="0" tIns="0" rIns="0" bIns="0" rtlCol="0" anchor="ctr"/>
          <a:lstStyle/>
          <a:p>
            <a:pPr marL="0" indent="0">
              <a:buNone/>
            </a:pPr>
            <a:r>
              <a:rPr lang="en-US" sz="1450" b="1" dirty="0">
                <a:solidFill>
                  <a:srgbClr val="6659C4"/>
                </a:solidFill>
                <a:latin typeface="Cambria" pitchFamily="34" charset="0"/>
                <a:ea typeface="Cambria" pitchFamily="34" charset="-122"/>
                <a:cs typeface="Cambria" pitchFamily="34" charset="-120"/>
              </a:rPr>
              <a:t>The warning</a:t>
            </a:r>
            <a:endParaRPr lang="en-US" sz="1450" dirty="0"/>
          </a:p>
        </p:txBody>
      </p:sp>
      <p:sp>
        <p:nvSpPr>
          <p:cNvPr id="16" name="Text 14"/>
          <p:cNvSpPr txBox="1"/>
          <p:nvPr/>
        </p:nvSpPr>
        <p:spPr>
          <a:xfrm>
            <a:off x="7178040" y="5056632"/>
            <a:ext cx="4078224" cy="777240"/>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Designers do not control reception. A procedural argument can be inverted by the culture that plays it. Hold this for Detroit.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THE COUNTERARGUMENT</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Sicart: the player is not a formal element</a:t>
            </a:r>
            <a:endParaRPr lang="en-US" sz="3000" dirty="0"/>
          </a:p>
        </p:txBody>
      </p:sp>
      <p:sp>
        <p:nvSpPr>
          <p:cNvPr id="5" name="Shape 3"/>
          <p:cNvSpPr/>
          <p:nvPr/>
        </p:nvSpPr>
        <p:spPr>
          <a:xfrm>
            <a:off x="640080" y="1572768"/>
            <a:ext cx="5852160" cy="2377440"/>
          </a:xfrm>
          <a:prstGeom prst="roundRect">
            <a:avLst>
              <a:gd name="adj" fmla="val 3077"/>
            </a:avLst>
          </a:prstGeom>
          <a:solidFill>
            <a:srgbClr val="ECEAF9"/>
          </a:solidFill>
          <a:ln w="12700">
            <a:solidFill>
              <a:srgbClr val="ECEAF9"/>
            </a:solidFill>
            <a:prstDash val="solid"/>
          </a:ln>
        </p:spPr>
        <p:txBody>
          <a:bodyPr/>
          <a:lstStyle/>
          <a:p>
            <a:endParaRPr lang="en-US"/>
          </a:p>
        </p:txBody>
      </p:sp>
      <p:sp>
        <p:nvSpPr>
          <p:cNvPr id="6" name="Text 4"/>
          <p:cNvSpPr txBox="1"/>
          <p:nvPr/>
        </p:nvSpPr>
        <p:spPr>
          <a:xfrm>
            <a:off x="1005840" y="1773936"/>
            <a:ext cx="5120640" cy="365760"/>
          </a:xfrm>
          <a:prstGeom prst="rect">
            <a:avLst/>
          </a:prstGeom>
          <a:noFill/>
          <a:ln/>
        </p:spPr>
        <p:txBody>
          <a:bodyPr wrap="square" lIns="0" tIns="0" rIns="0" bIns="0" rtlCol="0" anchor="ctr"/>
          <a:lstStyle/>
          <a:p>
            <a:pPr marL="0" indent="0">
              <a:buNone/>
            </a:pPr>
            <a:r>
              <a:rPr lang="en-US" sz="2000" b="1" dirty="0">
                <a:solidFill>
                  <a:srgbClr val="0D1117"/>
                </a:solidFill>
                <a:latin typeface="Cambria" pitchFamily="34" charset="0"/>
                <a:ea typeface="Cambria" pitchFamily="34" charset="-122"/>
                <a:cs typeface="Cambria" pitchFamily="34" charset="-120"/>
              </a:rPr>
              <a:t>Against procedurality</a:t>
            </a:r>
            <a:endParaRPr lang="en-US" sz="2000" dirty="0"/>
          </a:p>
        </p:txBody>
      </p:sp>
      <p:sp>
        <p:nvSpPr>
          <p:cNvPr id="7" name="Text 5"/>
          <p:cNvSpPr txBox="1"/>
          <p:nvPr/>
        </p:nvSpPr>
        <p:spPr>
          <a:xfrm>
            <a:off x="1005840" y="2240280"/>
            <a:ext cx="5166360" cy="1508760"/>
          </a:xfrm>
          <a:prstGeom prst="rect">
            <a:avLst/>
          </a:prstGeom>
          <a:noFill/>
          <a:ln/>
        </p:spPr>
        <p:txBody>
          <a:bodyPr wrap="square" lIns="0" tIns="0" rIns="0" bIns="0" rtlCol="0" anchor="ctr"/>
          <a:lstStyle/>
          <a:p>
            <a:pPr marL="0" indent="0">
              <a:lnSpc>
                <a:spcPts val="1800"/>
              </a:lnSpc>
              <a:buNone/>
            </a:pPr>
            <a:r>
              <a:rPr lang="en-US" sz="1300" dirty="0">
                <a:solidFill>
                  <a:srgbClr val="596273"/>
                </a:solidFill>
                <a:latin typeface="Calibri" pitchFamily="34" charset="0"/>
                <a:ea typeface="Calibri" pitchFamily="34" charset="-122"/>
                <a:cs typeface="Calibri" pitchFamily="34" charset="-120"/>
              </a:rPr>
              <a:t>Sicart argues that a purely proceduralist reading treats meaning as if it sat in the rules and were merely delivered to whoever picks up the controller. That writes the player out — along with the player’s values, cultural position, and capacity to play against the grain.</a:t>
            </a:r>
            <a:endParaRPr lang="en-US" sz="1300" dirty="0"/>
          </a:p>
        </p:txBody>
      </p:sp>
      <p:sp>
        <p:nvSpPr>
          <p:cNvPr id="8" name="Shape 6"/>
          <p:cNvSpPr/>
          <p:nvPr/>
        </p:nvSpPr>
        <p:spPr>
          <a:xfrm>
            <a:off x="6812280" y="1572768"/>
            <a:ext cx="4718304" cy="2377440"/>
          </a:xfrm>
          <a:prstGeom prst="roundRect">
            <a:avLst>
              <a:gd name="adj" fmla="val 3077"/>
            </a:avLst>
          </a:prstGeom>
          <a:solidFill>
            <a:srgbClr val="E4F1EC"/>
          </a:solidFill>
          <a:ln w="12700">
            <a:solidFill>
              <a:srgbClr val="E4F1EC"/>
            </a:solidFill>
            <a:prstDash val="solid"/>
          </a:ln>
        </p:spPr>
        <p:txBody>
          <a:bodyPr/>
          <a:lstStyle/>
          <a:p>
            <a:endParaRPr lang="en-US"/>
          </a:p>
        </p:txBody>
      </p:sp>
      <p:sp>
        <p:nvSpPr>
          <p:cNvPr id="9" name="Text 7"/>
          <p:cNvSpPr txBox="1"/>
          <p:nvPr/>
        </p:nvSpPr>
        <p:spPr>
          <a:xfrm>
            <a:off x="7086600" y="1773936"/>
            <a:ext cx="4169664" cy="365760"/>
          </a:xfrm>
          <a:prstGeom prst="rect">
            <a:avLst/>
          </a:prstGeom>
          <a:noFill/>
          <a:ln/>
        </p:spPr>
        <p:txBody>
          <a:bodyPr wrap="square" lIns="0" tIns="0" rIns="0" bIns="0" rtlCol="0" anchor="ctr"/>
          <a:lstStyle/>
          <a:p>
            <a:pPr marL="0" indent="0">
              <a:buNone/>
            </a:pPr>
            <a:r>
              <a:rPr lang="en-US" sz="1700" b="1" dirty="0">
                <a:solidFill>
                  <a:srgbClr val="0D1117"/>
                </a:solidFill>
                <a:latin typeface="Cambria" pitchFamily="34" charset="0"/>
                <a:ea typeface="Cambria" pitchFamily="34" charset="-122"/>
                <a:cs typeface="Cambria" pitchFamily="34" charset="-120"/>
              </a:rPr>
              <a:t>Where he has a point today</a:t>
            </a:r>
            <a:endParaRPr lang="en-US" sz="1700" dirty="0"/>
          </a:p>
        </p:txBody>
      </p:sp>
      <p:sp>
        <p:nvSpPr>
          <p:cNvPr id="10" name="Text 8"/>
          <p:cNvSpPr txBox="1"/>
          <p:nvPr/>
        </p:nvSpPr>
        <p:spPr>
          <a:xfrm>
            <a:off x="7086600" y="2240280"/>
            <a:ext cx="4169664" cy="150876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You will shortly compare Detroit playthroughs and find that people who followed identical rules produced very different meanings — some of them meanings the game plainly did not intend. That is Sicart’s evidence, sitting in this room.</a:t>
            </a:r>
            <a:endParaRPr lang="en-US" sz="1250" dirty="0"/>
          </a:p>
        </p:txBody>
      </p:sp>
      <p:sp>
        <p:nvSpPr>
          <p:cNvPr id="11" name="Shape 9"/>
          <p:cNvSpPr/>
          <p:nvPr/>
        </p:nvSpPr>
        <p:spPr>
          <a:xfrm>
            <a:off x="640080" y="4114800"/>
            <a:ext cx="10911535" cy="1645920"/>
          </a:xfrm>
          <a:prstGeom prst="roundRect">
            <a:avLst>
              <a:gd name="adj" fmla="val 4444"/>
            </a:avLst>
          </a:prstGeom>
          <a:solidFill>
            <a:srgbClr val="0D1117"/>
          </a:solidFill>
          <a:ln w="12700">
            <a:solidFill>
              <a:srgbClr val="0D1117"/>
            </a:solidFill>
            <a:prstDash val="solid"/>
          </a:ln>
        </p:spPr>
        <p:txBody>
          <a:bodyPr/>
          <a:lstStyle/>
          <a:p>
            <a:endParaRPr lang="en-US"/>
          </a:p>
        </p:txBody>
      </p:sp>
      <p:sp>
        <p:nvSpPr>
          <p:cNvPr id="12" name="Text 10"/>
          <p:cNvSpPr txBox="1"/>
          <p:nvPr/>
        </p:nvSpPr>
        <p:spPr>
          <a:xfrm>
            <a:off x="1005840" y="4315968"/>
            <a:ext cx="10424160" cy="292608"/>
          </a:xfrm>
          <a:prstGeom prst="rect">
            <a:avLst/>
          </a:prstGeom>
          <a:noFill/>
          <a:ln/>
        </p:spPr>
        <p:txBody>
          <a:bodyPr wrap="square" lIns="0" tIns="0" rIns="0" bIns="0" rtlCol="0" anchor="ctr"/>
          <a:lstStyle/>
          <a:p>
            <a:pPr marL="0" indent="0">
              <a:buNone/>
            </a:pPr>
            <a:r>
              <a:rPr lang="en-US" sz="1150" b="1" kern="0" spc="140" dirty="0">
                <a:solidFill>
                  <a:srgbClr val="A79CEB"/>
                </a:solidFill>
                <a:latin typeface="Calibri" pitchFamily="34" charset="0"/>
                <a:ea typeface="Calibri" pitchFamily="34" charset="-122"/>
                <a:cs typeface="Calibri" pitchFamily="34" charset="-120"/>
              </a:rPr>
              <a:t>How to hold both</a:t>
            </a:r>
            <a:endParaRPr lang="en-US" sz="1150" dirty="0"/>
          </a:p>
        </p:txBody>
      </p:sp>
      <p:sp>
        <p:nvSpPr>
          <p:cNvPr id="13" name="Text 11"/>
          <p:cNvSpPr txBox="1"/>
          <p:nvPr/>
        </p:nvSpPr>
        <p:spPr>
          <a:xfrm>
            <a:off x="1005840" y="4681728"/>
            <a:ext cx="10424160" cy="960120"/>
          </a:xfrm>
          <a:prstGeom prst="rect">
            <a:avLst/>
          </a:prstGeom>
          <a:noFill/>
          <a:ln/>
        </p:spPr>
        <p:txBody>
          <a:bodyPr wrap="square" lIns="0" tIns="0" rIns="0" bIns="0" rtlCol="0" anchor="ctr"/>
          <a:lstStyle/>
          <a:p>
            <a:pPr marL="0" indent="0">
              <a:lnSpc>
                <a:spcPts val="2100"/>
              </a:lnSpc>
              <a:buNone/>
            </a:pPr>
            <a:r>
              <a:rPr lang="en-US" sz="1550" dirty="0">
                <a:solidFill>
                  <a:srgbClr val="F1F3F6"/>
                </a:solidFill>
                <a:latin typeface="Cambria" pitchFamily="34" charset="0"/>
                <a:ea typeface="Cambria" pitchFamily="34" charset="-122"/>
                <a:cs typeface="Cambria" pitchFamily="34" charset="-120"/>
              </a:rPr>
              <a:t>You do not have to pick a side to use the tool. Read the rules for what they argue, then read the room for what players actually did with them, and treat any gap between the two as a finding rather than a contradiction. The strongest papers in this course will be the ones that locate a gap and explain it.</a:t>
            </a:r>
            <a:endParaRPr lang="en-US" sz="1550" dirty="0"/>
          </a:p>
        </p:txBody>
      </p:sp>
      <p:sp>
        <p:nvSpPr>
          <p:cNvPr id="14" name="Text 12"/>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96273"/>
                </a:solidFill>
                <a:latin typeface="Calibri" pitchFamily="34" charset="0"/>
                <a:ea typeface="Calibri" pitchFamily="34" charset="-122"/>
                <a:cs typeface="Calibri" pitchFamily="34" charset="-120"/>
              </a:rPr>
              <a:t>Miguel Sicart, “Against Procedurality,” Game Studies 11, no. 3 (2011) — open access, and a good optional pairing with Bogost.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THE TOOLKIT</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Six questions to ask any of this week’s texts</a:t>
            </a:r>
            <a:endParaRPr lang="en-US" sz="3000" dirty="0"/>
          </a:p>
        </p:txBody>
      </p:sp>
      <p:sp>
        <p:nvSpPr>
          <p:cNvPr id="5" name="Shape 3"/>
          <p:cNvSpPr/>
          <p:nvPr/>
        </p:nvSpPr>
        <p:spPr>
          <a:xfrm>
            <a:off x="640080" y="1572768"/>
            <a:ext cx="3454298" cy="1773936"/>
          </a:xfrm>
          <a:prstGeom prst="roundRect">
            <a:avLst>
              <a:gd name="adj" fmla="val 4124"/>
            </a:avLst>
          </a:prstGeom>
          <a:solidFill>
            <a:srgbClr val="E4F1EC"/>
          </a:solidFill>
          <a:ln w="12700">
            <a:solidFill>
              <a:srgbClr val="E4F1EC"/>
            </a:solidFill>
            <a:prstDash val="solid"/>
          </a:ln>
        </p:spPr>
        <p:txBody>
          <a:bodyPr/>
          <a:lstStyle/>
          <a:p>
            <a:endParaRPr lang="en-US"/>
          </a:p>
        </p:txBody>
      </p:sp>
      <p:sp>
        <p:nvSpPr>
          <p:cNvPr id="6" name="Shape 4"/>
          <p:cNvSpPr/>
          <p:nvPr/>
        </p:nvSpPr>
        <p:spPr>
          <a:xfrm>
            <a:off x="914400" y="1792224"/>
            <a:ext cx="347472" cy="347472"/>
          </a:xfrm>
          <a:prstGeom prst="ellipse">
            <a:avLst/>
          </a:prstGeom>
          <a:solidFill>
            <a:srgbClr val="1F9E77"/>
          </a:solidFill>
          <a:ln/>
        </p:spPr>
        <p:txBody>
          <a:bodyPr/>
          <a:lstStyle/>
          <a:p>
            <a:endParaRPr lang="en-US"/>
          </a:p>
        </p:txBody>
      </p:sp>
      <p:sp>
        <p:nvSpPr>
          <p:cNvPr id="7" name="Text 5"/>
          <p:cNvSpPr txBox="1"/>
          <p:nvPr/>
        </p:nvSpPr>
        <p:spPr>
          <a:xfrm>
            <a:off x="914400" y="179222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389888" y="1810512"/>
            <a:ext cx="2430170" cy="310896"/>
          </a:xfrm>
          <a:prstGeom prst="rect">
            <a:avLst/>
          </a:prstGeom>
          <a:noFill/>
          <a:ln/>
        </p:spPr>
        <p:txBody>
          <a:bodyPr wrap="square" lIns="0" tIns="0" rIns="0" bIns="0" rtlCol="0" anchor="ctr"/>
          <a:lstStyle/>
          <a:p>
            <a:pPr marL="0" indent="0">
              <a:buNone/>
            </a:pPr>
            <a:r>
              <a:rPr lang="en-US" sz="1550" b="1" dirty="0">
                <a:solidFill>
                  <a:srgbClr val="0D1117"/>
                </a:solidFill>
                <a:latin typeface="Cambria" pitchFamily="34" charset="0"/>
                <a:ea typeface="Cambria" pitchFamily="34" charset="-122"/>
                <a:cs typeface="Cambria" pitchFamily="34" charset="-120"/>
              </a:rPr>
              <a:t>What can you not do?</a:t>
            </a:r>
            <a:endParaRPr lang="en-US" sz="1550" dirty="0"/>
          </a:p>
        </p:txBody>
      </p:sp>
      <p:sp>
        <p:nvSpPr>
          <p:cNvPr id="9" name="Text 7"/>
          <p:cNvSpPr txBox="1"/>
          <p:nvPr/>
        </p:nvSpPr>
        <p:spPr>
          <a:xfrm>
            <a:off x="914400" y="2267712"/>
            <a:ext cx="2905658" cy="932688"/>
          </a:xfrm>
          <a:prstGeom prst="rect">
            <a:avLst/>
          </a:prstGeom>
          <a:noFill/>
          <a:ln/>
        </p:spPr>
        <p:txBody>
          <a:bodyPr wrap="square" lIns="0" tIns="0" rIns="0" bIns="0" rtlCol="0" anchor="ctr"/>
          <a:lstStyle/>
          <a:p>
            <a:pPr marL="0" indent="0">
              <a:lnSpc>
                <a:spcPts val="1600"/>
              </a:lnSpc>
              <a:buNone/>
            </a:pPr>
            <a:r>
              <a:rPr lang="en-US" sz="1200" dirty="0">
                <a:solidFill>
                  <a:srgbClr val="596273"/>
                </a:solidFill>
                <a:latin typeface="Calibri" pitchFamily="34" charset="0"/>
                <a:ea typeface="Calibri" pitchFamily="34" charset="-122"/>
                <a:cs typeface="Calibri" pitchFamily="34" charset="-120"/>
              </a:rPr>
              <a:t>The forbidden actions define the model more sharply than the permitted ones. A text that will not let you walk away has said something.</a:t>
            </a:r>
            <a:endParaRPr lang="en-US" sz="1200" dirty="0"/>
          </a:p>
        </p:txBody>
      </p:sp>
      <p:sp>
        <p:nvSpPr>
          <p:cNvPr id="10" name="Shape 8"/>
          <p:cNvSpPr/>
          <p:nvPr/>
        </p:nvSpPr>
        <p:spPr>
          <a:xfrm>
            <a:off x="4368698" y="1572768"/>
            <a:ext cx="3454298" cy="1773936"/>
          </a:xfrm>
          <a:prstGeom prst="roundRect">
            <a:avLst>
              <a:gd name="adj" fmla="val 4124"/>
            </a:avLst>
          </a:prstGeom>
          <a:solidFill>
            <a:srgbClr val="ECEAF9"/>
          </a:solidFill>
          <a:ln w="12700">
            <a:solidFill>
              <a:srgbClr val="ECEAF9"/>
            </a:solidFill>
            <a:prstDash val="solid"/>
          </a:ln>
        </p:spPr>
        <p:txBody>
          <a:bodyPr/>
          <a:lstStyle/>
          <a:p>
            <a:endParaRPr lang="en-US"/>
          </a:p>
        </p:txBody>
      </p:sp>
      <p:sp>
        <p:nvSpPr>
          <p:cNvPr id="11" name="Shape 9"/>
          <p:cNvSpPr/>
          <p:nvPr/>
        </p:nvSpPr>
        <p:spPr>
          <a:xfrm>
            <a:off x="4643018" y="1792224"/>
            <a:ext cx="347472" cy="347472"/>
          </a:xfrm>
          <a:prstGeom prst="ellipse">
            <a:avLst/>
          </a:prstGeom>
          <a:solidFill>
            <a:srgbClr val="6659C4"/>
          </a:solidFill>
          <a:ln/>
        </p:spPr>
        <p:txBody>
          <a:bodyPr/>
          <a:lstStyle/>
          <a:p>
            <a:endParaRPr lang="en-US"/>
          </a:p>
        </p:txBody>
      </p:sp>
      <p:sp>
        <p:nvSpPr>
          <p:cNvPr id="12" name="Text 10"/>
          <p:cNvSpPr txBox="1"/>
          <p:nvPr/>
        </p:nvSpPr>
        <p:spPr>
          <a:xfrm>
            <a:off x="4643018" y="179222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5118506" y="1810512"/>
            <a:ext cx="2430170" cy="310896"/>
          </a:xfrm>
          <a:prstGeom prst="rect">
            <a:avLst/>
          </a:prstGeom>
          <a:noFill/>
          <a:ln/>
        </p:spPr>
        <p:txBody>
          <a:bodyPr wrap="square" lIns="0" tIns="0" rIns="0" bIns="0" rtlCol="0" anchor="ctr"/>
          <a:lstStyle/>
          <a:p>
            <a:pPr marL="0" indent="0">
              <a:buNone/>
            </a:pPr>
            <a:r>
              <a:rPr lang="en-US" sz="1550" b="1" dirty="0">
                <a:solidFill>
                  <a:srgbClr val="0D1117"/>
                </a:solidFill>
                <a:latin typeface="Cambria" pitchFamily="34" charset="0"/>
                <a:ea typeface="Cambria" pitchFamily="34" charset="-122"/>
                <a:cs typeface="Cambria" pitchFamily="34" charset="-120"/>
              </a:rPr>
              <a:t>What accumulates?</a:t>
            </a:r>
            <a:endParaRPr lang="en-US" sz="1550" dirty="0"/>
          </a:p>
        </p:txBody>
      </p:sp>
      <p:sp>
        <p:nvSpPr>
          <p:cNvPr id="14" name="Text 12"/>
          <p:cNvSpPr txBox="1"/>
          <p:nvPr/>
        </p:nvSpPr>
        <p:spPr>
          <a:xfrm>
            <a:off x="4643018" y="2267712"/>
            <a:ext cx="2905658" cy="932688"/>
          </a:xfrm>
          <a:prstGeom prst="rect">
            <a:avLst/>
          </a:prstGeom>
          <a:noFill/>
          <a:ln/>
        </p:spPr>
        <p:txBody>
          <a:bodyPr wrap="square" lIns="0" tIns="0" rIns="0" bIns="0" rtlCol="0" anchor="ctr"/>
          <a:lstStyle/>
          <a:p>
            <a:pPr marL="0" indent="0">
              <a:lnSpc>
                <a:spcPts val="1600"/>
              </a:lnSpc>
              <a:buNone/>
            </a:pPr>
            <a:r>
              <a:rPr lang="en-US" sz="1200" dirty="0">
                <a:solidFill>
                  <a:srgbClr val="596273"/>
                </a:solidFill>
                <a:latin typeface="Calibri" pitchFamily="34" charset="0"/>
                <a:ea typeface="Calibri" pitchFamily="34" charset="-122"/>
                <a:cs typeface="Calibri" pitchFamily="34" charset="-120"/>
              </a:rPr>
              <a:t>Points, reputation, resources, trust, public opinion. Whatever goes up is what the game thinks matters, whether or not the dialogue agrees.</a:t>
            </a:r>
            <a:endParaRPr lang="en-US" sz="1200" dirty="0"/>
          </a:p>
        </p:txBody>
      </p:sp>
      <p:sp>
        <p:nvSpPr>
          <p:cNvPr id="15" name="Shape 13"/>
          <p:cNvSpPr/>
          <p:nvPr/>
        </p:nvSpPr>
        <p:spPr>
          <a:xfrm>
            <a:off x="8097317" y="1572768"/>
            <a:ext cx="3454298" cy="1773936"/>
          </a:xfrm>
          <a:prstGeom prst="roundRect">
            <a:avLst>
              <a:gd name="adj" fmla="val 4124"/>
            </a:avLst>
          </a:prstGeom>
          <a:solidFill>
            <a:srgbClr val="E4F1EC"/>
          </a:solidFill>
          <a:ln w="12700">
            <a:solidFill>
              <a:srgbClr val="E4F1EC"/>
            </a:solidFill>
            <a:prstDash val="solid"/>
          </a:ln>
        </p:spPr>
        <p:txBody>
          <a:bodyPr/>
          <a:lstStyle/>
          <a:p>
            <a:endParaRPr lang="en-US"/>
          </a:p>
        </p:txBody>
      </p:sp>
      <p:sp>
        <p:nvSpPr>
          <p:cNvPr id="16" name="Shape 14"/>
          <p:cNvSpPr/>
          <p:nvPr/>
        </p:nvSpPr>
        <p:spPr>
          <a:xfrm>
            <a:off x="8371637" y="1792224"/>
            <a:ext cx="347472" cy="347472"/>
          </a:xfrm>
          <a:prstGeom prst="ellipse">
            <a:avLst/>
          </a:prstGeom>
          <a:solidFill>
            <a:srgbClr val="1F9E77"/>
          </a:solidFill>
          <a:ln/>
        </p:spPr>
        <p:txBody>
          <a:bodyPr/>
          <a:lstStyle/>
          <a:p>
            <a:endParaRPr lang="en-US"/>
          </a:p>
        </p:txBody>
      </p:sp>
      <p:sp>
        <p:nvSpPr>
          <p:cNvPr id="17" name="Text 15"/>
          <p:cNvSpPr txBox="1"/>
          <p:nvPr/>
        </p:nvSpPr>
        <p:spPr>
          <a:xfrm>
            <a:off x="8371637" y="179222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8847125" y="1810512"/>
            <a:ext cx="2430170" cy="310896"/>
          </a:xfrm>
          <a:prstGeom prst="rect">
            <a:avLst/>
          </a:prstGeom>
          <a:noFill/>
          <a:ln/>
        </p:spPr>
        <p:txBody>
          <a:bodyPr wrap="square" lIns="0" tIns="0" rIns="0" bIns="0" rtlCol="0" anchor="ctr"/>
          <a:lstStyle/>
          <a:p>
            <a:pPr marL="0" indent="0">
              <a:buNone/>
            </a:pPr>
            <a:r>
              <a:rPr lang="en-US" sz="1550" b="1" dirty="0">
                <a:solidFill>
                  <a:srgbClr val="0D1117"/>
                </a:solidFill>
                <a:latin typeface="Cambria" pitchFamily="34" charset="0"/>
                <a:ea typeface="Cambria" pitchFamily="34" charset="-122"/>
                <a:cs typeface="Cambria" pitchFamily="34" charset="-120"/>
              </a:rPr>
              <a:t>What ends the scene?</a:t>
            </a:r>
            <a:endParaRPr lang="en-US" sz="1550" dirty="0"/>
          </a:p>
        </p:txBody>
      </p:sp>
      <p:sp>
        <p:nvSpPr>
          <p:cNvPr id="19" name="Text 17"/>
          <p:cNvSpPr txBox="1"/>
          <p:nvPr/>
        </p:nvSpPr>
        <p:spPr>
          <a:xfrm>
            <a:off x="8371637" y="2267712"/>
            <a:ext cx="2905658" cy="932688"/>
          </a:xfrm>
          <a:prstGeom prst="rect">
            <a:avLst/>
          </a:prstGeom>
          <a:noFill/>
          <a:ln/>
        </p:spPr>
        <p:txBody>
          <a:bodyPr wrap="square" lIns="0" tIns="0" rIns="0" bIns="0" rtlCol="0" anchor="ctr"/>
          <a:lstStyle/>
          <a:p>
            <a:pPr marL="0" indent="0">
              <a:lnSpc>
                <a:spcPts val="1600"/>
              </a:lnSpc>
              <a:buNone/>
            </a:pPr>
            <a:r>
              <a:rPr lang="en-US" sz="1200" dirty="0">
                <a:solidFill>
                  <a:srgbClr val="596273"/>
                </a:solidFill>
                <a:latin typeface="Calibri" pitchFamily="34" charset="0"/>
                <a:ea typeface="Calibri" pitchFamily="34" charset="-122"/>
                <a:cs typeface="Calibri" pitchFamily="34" charset="-120"/>
              </a:rPr>
              <a:t>Success, death, a timer, a cutscene that takes the controls away. The exit condition tells you what the designers counted as a resolution.</a:t>
            </a:r>
            <a:endParaRPr lang="en-US" sz="1200" dirty="0"/>
          </a:p>
        </p:txBody>
      </p:sp>
      <p:sp>
        <p:nvSpPr>
          <p:cNvPr id="20" name="Shape 18"/>
          <p:cNvSpPr/>
          <p:nvPr/>
        </p:nvSpPr>
        <p:spPr>
          <a:xfrm>
            <a:off x="640080" y="3529584"/>
            <a:ext cx="3454298" cy="1773936"/>
          </a:xfrm>
          <a:prstGeom prst="roundRect">
            <a:avLst>
              <a:gd name="adj" fmla="val 4124"/>
            </a:avLst>
          </a:prstGeom>
          <a:solidFill>
            <a:srgbClr val="ECEAF9"/>
          </a:solidFill>
          <a:ln w="12700">
            <a:solidFill>
              <a:srgbClr val="ECEAF9"/>
            </a:solidFill>
            <a:prstDash val="solid"/>
          </a:ln>
        </p:spPr>
        <p:txBody>
          <a:bodyPr/>
          <a:lstStyle/>
          <a:p>
            <a:endParaRPr lang="en-US"/>
          </a:p>
        </p:txBody>
      </p:sp>
      <p:sp>
        <p:nvSpPr>
          <p:cNvPr id="21" name="Shape 19"/>
          <p:cNvSpPr/>
          <p:nvPr/>
        </p:nvSpPr>
        <p:spPr>
          <a:xfrm>
            <a:off x="914400" y="3749040"/>
            <a:ext cx="347472" cy="347472"/>
          </a:xfrm>
          <a:prstGeom prst="ellipse">
            <a:avLst/>
          </a:prstGeom>
          <a:solidFill>
            <a:srgbClr val="6659C4"/>
          </a:solidFill>
          <a:ln/>
        </p:spPr>
        <p:txBody>
          <a:bodyPr/>
          <a:lstStyle/>
          <a:p>
            <a:endParaRPr lang="en-US"/>
          </a:p>
        </p:txBody>
      </p:sp>
      <p:sp>
        <p:nvSpPr>
          <p:cNvPr id="22" name="Text 20"/>
          <p:cNvSpPr txBox="1"/>
          <p:nvPr/>
        </p:nvSpPr>
        <p:spPr>
          <a:xfrm>
            <a:off x="914400" y="374904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1389888" y="3767328"/>
            <a:ext cx="2430170" cy="310896"/>
          </a:xfrm>
          <a:prstGeom prst="rect">
            <a:avLst/>
          </a:prstGeom>
          <a:noFill/>
          <a:ln/>
        </p:spPr>
        <p:txBody>
          <a:bodyPr wrap="square" lIns="0" tIns="0" rIns="0" bIns="0" rtlCol="0" anchor="ctr"/>
          <a:lstStyle/>
          <a:p>
            <a:pPr marL="0" indent="0">
              <a:buNone/>
            </a:pPr>
            <a:r>
              <a:rPr lang="en-US" sz="1550" b="1" dirty="0">
                <a:solidFill>
                  <a:srgbClr val="0D1117"/>
                </a:solidFill>
                <a:latin typeface="Cambria" pitchFamily="34" charset="0"/>
                <a:ea typeface="Cambria" pitchFamily="34" charset="-122"/>
                <a:cs typeface="Cambria" pitchFamily="34" charset="-120"/>
              </a:rPr>
              <a:t>What does it remember?</a:t>
            </a:r>
            <a:endParaRPr lang="en-US" sz="1550" dirty="0"/>
          </a:p>
        </p:txBody>
      </p:sp>
      <p:sp>
        <p:nvSpPr>
          <p:cNvPr id="24" name="Text 22"/>
          <p:cNvSpPr txBox="1"/>
          <p:nvPr/>
        </p:nvSpPr>
        <p:spPr>
          <a:xfrm>
            <a:off x="914400" y="4224528"/>
            <a:ext cx="2905658" cy="932688"/>
          </a:xfrm>
          <a:prstGeom prst="rect">
            <a:avLst/>
          </a:prstGeom>
          <a:noFill/>
          <a:ln/>
        </p:spPr>
        <p:txBody>
          <a:bodyPr wrap="square" lIns="0" tIns="0" rIns="0" bIns="0" rtlCol="0" anchor="ctr"/>
          <a:lstStyle/>
          <a:p>
            <a:pPr marL="0" indent="0">
              <a:lnSpc>
                <a:spcPts val="1600"/>
              </a:lnSpc>
              <a:buNone/>
            </a:pPr>
            <a:r>
              <a:rPr lang="en-US" sz="1200" dirty="0">
                <a:solidFill>
                  <a:srgbClr val="596273"/>
                </a:solidFill>
                <a:latin typeface="Calibri" pitchFamily="34" charset="0"/>
                <a:ea typeface="Calibri" pitchFamily="34" charset="-122"/>
                <a:cs typeface="Calibri" pitchFamily="34" charset="-120"/>
              </a:rPr>
              <a:t>A text that carries your choices forward is making a claim about consequence. One that forgets is making a different claim.</a:t>
            </a:r>
            <a:endParaRPr lang="en-US" sz="1200" dirty="0"/>
          </a:p>
        </p:txBody>
      </p:sp>
      <p:sp>
        <p:nvSpPr>
          <p:cNvPr id="25" name="Shape 23"/>
          <p:cNvSpPr/>
          <p:nvPr/>
        </p:nvSpPr>
        <p:spPr>
          <a:xfrm>
            <a:off x="4368698" y="3529584"/>
            <a:ext cx="3454298" cy="1773936"/>
          </a:xfrm>
          <a:prstGeom prst="roundRect">
            <a:avLst>
              <a:gd name="adj" fmla="val 4124"/>
            </a:avLst>
          </a:prstGeom>
          <a:solidFill>
            <a:srgbClr val="E4F1EC"/>
          </a:solidFill>
          <a:ln w="12700">
            <a:solidFill>
              <a:srgbClr val="E4F1EC"/>
            </a:solidFill>
            <a:prstDash val="solid"/>
          </a:ln>
        </p:spPr>
        <p:txBody>
          <a:bodyPr/>
          <a:lstStyle/>
          <a:p>
            <a:endParaRPr lang="en-US"/>
          </a:p>
        </p:txBody>
      </p:sp>
      <p:sp>
        <p:nvSpPr>
          <p:cNvPr id="26" name="Shape 24"/>
          <p:cNvSpPr/>
          <p:nvPr/>
        </p:nvSpPr>
        <p:spPr>
          <a:xfrm>
            <a:off x="4643018" y="3749040"/>
            <a:ext cx="347472" cy="347472"/>
          </a:xfrm>
          <a:prstGeom prst="ellipse">
            <a:avLst/>
          </a:prstGeom>
          <a:solidFill>
            <a:srgbClr val="1F9E77"/>
          </a:solidFill>
          <a:ln/>
        </p:spPr>
        <p:txBody>
          <a:bodyPr/>
          <a:lstStyle/>
          <a:p>
            <a:endParaRPr lang="en-US"/>
          </a:p>
        </p:txBody>
      </p:sp>
      <p:sp>
        <p:nvSpPr>
          <p:cNvPr id="27" name="Text 25"/>
          <p:cNvSpPr txBox="1"/>
          <p:nvPr/>
        </p:nvSpPr>
        <p:spPr>
          <a:xfrm>
            <a:off x="4643018" y="374904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8" name="Text 26"/>
          <p:cNvSpPr txBox="1"/>
          <p:nvPr/>
        </p:nvSpPr>
        <p:spPr>
          <a:xfrm>
            <a:off x="5118506" y="3767328"/>
            <a:ext cx="2430170" cy="310896"/>
          </a:xfrm>
          <a:prstGeom prst="rect">
            <a:avLst/>
          </a:prstGeom>
          <a:noFill/>
          <a:ln/>
        </p:spPr>
        <p:txBody>
          <a:bodyPr wrap="square" lIns="0" tIns="0" rIns="0" bIns="0" rtlCol="0" anchor="ctr"/>
          <a:lstStyle/>
          <a:p>
            <a:pPr marL="0" indent="0">
              <a:buNone/>
            </a:pPr>
            <a:r>
              <a:rPr lang="en-US" sz="1550" b="1" dirty="0">
                <a:solidFill>
                  <a:srgbClr val="0D1117"/>
                </a:solidFill>
                <a:latin typeface="Cambria" pitchFamily="34" charset="0"/>
                <a:ea typeface="Cambria" pitchFamily="34" charset="-122"/>
                <a:cs typeface="Cambria" pitchFamily="34" charset="-120"/>
              </a:rPr>
              <a:t>Who is the “you”?</a:t>
            </a:r>
            <a:endParaRPr lang="en-US" sz="1550" dirty="0"/>
          </a:p>
        </p:txBody>
      </p:sp>
      <p:sp>
        <p:nvSpPr>
          <p:cNvPr id="29" name="Text 27"/>
          <p:cNvSpPr txBox="1"/>
          <p:nvPr/>
        </p:nvSpPr>
        <p:spPr>
          <a:xfrm>
            <a:off x="4643018" y="4224528"/>
            <a:ext cx="2905658" cy="932688"/>
          </a:xfrm>
          <a:prstGeom prst="rect">
            <a:avLst/>
          </a:prstGeom>
          <a:noFill/>
          <a:ln/>
        </p:spPr>
        <p:txBody>
          <a:bodyPr wrap="square" lIns="0" tIns="0" rIns="0" bIns="0" rtlCol="0" anchor="ctr"/>
          <a:lstStyle/>
          <a:p>
            <a:pPr marL="0" indent="0">
              <a:lnSpc>
                <a:spcPts val="1600"/>
              </a:lnSpc>
              <a:buNone/>
            </a:pPr>
            <a:r>
              <a:rPr lang="en-US" sz="1200" dirty="0">
                <a:solidFill>
                  <a:srgbClr val="596273"/>
                </a:solidFill>
                <a:latin typeface="Calibri" pitchFamily="34" charset="0"/>
                <a:ea typeface="Calibri" pitchFamily="34" charset="-122"/>
                <a:cs typeface="Calibri" pitchFamily="34" charset="-120"/>
              </a:rPr>
              <a:t>A character, a disembodied hand, a nation, a god. The subject position you are assigned is an argument about who gets to act.</a:t>
            </a:r>
            <a:endParaRPr lang="en-US" sz="1200" dirty="0"/>
          </a:p>
        </p:txBody>
      </p:sp>
      <p:sp>
        <p:nvSpPr>
          <p:cNvPr id="30" name="Shape 28"/>
          <p:cNvSpPr/>
          <p:nvPr/>
        </p:nvSpPr>
        <p:spPr>
          <a:xfrm>
            <a:off x="8097317" y="3529584"/>
            <a:ext cx="3454298" cy="1773936"/>
          </a:xfrm>
          <a:prstGeom prst="roundRect">
            <a:avLst>
              <a:gd name="adj" fmla="val 4124"/>
            </a:avLst>
          </a:prstGeom>
          <a:solidFill>
            <a:srgbClr val="ECEAF9"/>
          </a:solidFill>
          <a:ln w="12700">
            <a:solidFill>
              <a:srgbClr val="ECEAF9"/>
            </a:solidFill>
            <a:prstDash val="solid"/>
          </a:ln>
        </p:spPr>
        <p:txBody>
          <a:bodyPr/>
          <a:lstStyle/>
          <a:p>
            <a:endParaRPr lang="en-US"/>
          </a:p>
        </p:txBody>
      </p:sp>
      <p:sp>
        <p:nvSpPr>
          <p:cNvPr id="31" name="Shape 29"/>
          <p:cNvSpPr/>
          <p:nvPr/>
        </p:nvSpPr>
        <p:spPr>
          <a:xfrm>
            <a:off x="8371637" y="3749040"/>
            <a:ext cx="347472" cy="347472"/>
          </a:xfrm>
          <a:prstGeom prst="ellipse">
            <a:avLst/>
          </a:prstGeom>
          <a:solidFill>
            <a:srgbClr val="6659C4"/>
          </a:solidFill>
          <a:ln/>
        </p:spPr>
        <p:txBody>
          <a:bodyPr/>
          <a:lstStyle/>
          <a:p>
            <a:endParaRPr lang="en-US"/>
          </a:p>
        </p:txBody>
      </p:sp>
      <p:sp>
        <p:nvSpPr>
          <p:cNvPr id="32" name="Text 30"/>
          <p:cNvSpPr txBox="1"/>
          <p:nvPr/>
        </p:nvSpPr>
        <p:spPr>
          <a:xfrm>
            <a:off x="8371637" y="374904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3" name="Text 31"/>
          <p:cNvSpPr txBox="1"/>
          <p:nvPr/>
        </p:nvSpPr>
        <p:spPr>
          <a:xfrm>
            <a:off x="8847125" y="3767328"/>
            <a:ext cx="2430170" cy="310896"/>
          </a:xfrm>
          <a:prstGeom prst="rect">
            <a:avLst/>
          </a:prstGeom>
          <a:noFill/>
          <a:ln/>
        </p:spPr>
        <p:txBody>
          <a:bodyPr wrap="square" lIns="0" tIns="0" rIns="0" bIns="0" rtlCol="0" anchor="ctr"/>
          <a:lstStyle/>
          <a:p>
            <a:pPr marL="0" indent="0">
              <a:buNone/>
            </a:pPr>
            <a:r>
              <a:rPr lang="en-US" sz="1550" b="1" dirty="0">
                <a:solidFill>
                  <a:srgbClr val="0D1117"/>
                </a:solidFill>
                <a:latin typeface="Cambria" pitchFamily="34" charset="0"/>
                <a:ea typeface="Cambria" pitchFamily="34" charset="-122"/>
                <a:cs typeface="Cambria" pitchFamily="34" charset="-120"/>
              </a:rPr>
              <a:t>What does it show you afterwards?</a:t>
            </a:r>
            <a:endParaRPr lang="en-US" sz="1550" dirty="0"/>
          </a:p>
        </p:txBody>
      </p:sp>
      <p:sp>
        <p:nvSpPr>
          <p:cNvPr id="34" name="Text 32"/>
          <p:cNvSpPr txBox="1"/>
          <p:nvPr/>
        </p:nvSpPr>
        <p:spPr>
          <a:xfrm>
            <a:off x="8371637" y="4224528"/>
            <a:ext cx="2905658" cy="932688"/>
          </a:xfrm>
          <a:prstGeom prst="rect">
            <a:avLst/>
          </a:prstGeom>
          <a:noFill/>
          <a:ln/>
        </p:spPr>
        <p:txBody>
          <a:bodyPr wrap="square" lIns="0" tIns="0" rIns="0" bIns="0" rtlCol="0" anchor="ctr"/>
          <a:lstStyle/>
          <a:p>
            <a:pPr marL="0" indent="0">
              <a:lnSpc>
                <a:spcPts val="1600"/>
              </a:lnSpc>
              <a:buNone/>
            </a:pPr>
            <a:r>
              <a:rPr lang="en-US" sz="1200" dirty="0">
                <a:solidFill>
                  <a:srgbClr val="596273"/>
                </a:solidFill>
                <a:latin typeface="Calibri" pitchFamily="34" charset="0"/>
                <a:ea typeface="Calibri" pitchFamily="34" charset="-122"/>
                <a:cs typeface="Calibri" pitchFamily="34" charset="-120"/>
              </a:rPr>
              <a:t>Scores, endings, flowcharts, statistics comparing you to other players. Post-hoc display is how a text grades you — and it is where implication is manufactured.</a:t>
            </a:r>
            <a:endParaRPr lang="en-US" sz="1200" dirty="0"/>
          </a:p>
        </p:txBody>
      </p:sp>
      <p:sp>
        <p:nvSpPr>
          <p:cNvPr id="35" name="Text 33"/>
          <p:cNvSpPr txBox="1"/>
          <p:nvPr/>
        </p:nvSpPr>
        <p:spPr>
          <a:xfrm>
            <a:off x="640080" y="5623560"/>
            <a:ext cx="10881360" cy="411480"/>
          </a:xfrm>
          <a:prstGeom prst="rect">
            <a:avLst/>
          </a:prstGeom>
          <a:noFill/>
          <a:ln/>
        </p:spPr>
        <p:txBody>
          <a:bodyPr wrap="square" lIns="0" tIns="0" rIns="0" bIns="0" rtlCol="0" anchor="ctr"/>
          <a:lstStyle/>
          <a:p>
            <a:pPr marL="0" indent="0">
              <a:buNone/>
            </a:pPr>
            <a:r>
              <a:rPr lang="en-US" sz="1550" i="1" dirty="0">
                <a:solidFill>
                  <a:srgbClr val="1F9E77"/>
                </a:solidFill>
                <a:latin typeface="Cambria" pitchFamily="34" charset="0"/>
                <a:ea typeface="Cambria" pitchFamily="34" charset="-122"/>
                <a:cs typeface="Cambria" pitchFamily="34" charset="-120"/>
              </a:rPr>
              <a:t>Keep question six in your hand for the next four hours. It is where all three of today’s texts do their real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8686800" y="1371600"/>
            <a:ext cx="2743200" cy="2743200"/>
          </a:xfrm>
          <a:prstGeom prst="ellipse">
            <a:avLst/>
          </a:prstGeom>
          <a:solidFill>
            <a:srgbClr val="6659C4">
              <a:alpha val="65000"/>
            </a:srgbClr>
          </a:solidFill>
          <a:ln/>
        </p:spPr>
        <p:txBody>
          <a:bodyPr/>
          <a:lstStyle/>
          <a:p>
            <a:endParaRPr lang="en-US"/>
          </a:p>
        </p:txBody>
      </p:sp>
      <p:sp>
        <p:nvSpPr>
          <p:cNvPr id="3" name="Shape 1"/>
          <p:cNvSpPr/>
          <p:nvPr/>
        </p:nvSpPr>
        <p:spPr>
          <a:xfrm>
            <a:off x="9601200" y="2286000"/>
            <a:ext cx="1280160" cy="1280160"/>
          </a:xfrm>
          <a:prstGeom prst="ellipse">
            <a:avLst/>
          </a:prstGeom>
          <a:solidFill>
            <a:srgbClr val="1F9E77">
              <a:alpha val="70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A79CEB"/>
                </a:solidFill>
                <a:latin typeface="Calibri" pitchFamily="34" charset="0"/>
                <a:ea typeface="Calibri" pitchFamily="34" charset="-122"/>
                <a:cs typeface="Calibri" pitchFamily="34" charset="-120"/>
              </a:rPr>
              <a:t>PART TWO</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800" b="1" dirty="0">
                <a:solidFill>
                  <a:srgbClr val="F1F3F6"/>
                </a:solidFill>
                <a:latin typeface="Cambria" pitchFamily="34" charset="0"/>
                <a:ea typeface="Cambria" pitchFamily="34" charset="-122"/>
                <a:cs typeface="Cambria" pitchFamily="34" charset="-120"/>
              </a:rPr>
              <a:t>The Matrix</a:t>
            </a:r>
            <a:endParaRPr lang="en-US" sz="38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Wachowskis, 1999</a:t>
            </a:r>
            <a:endParaRPr lang="en-US" sz="1500" dirty="0"/>
          </a:p>
        </p:txBody>
      </p:sp>
      <p:sp>
        <p:nvSpPr>
          <p:cNvPr id="7" name="Shape 5"/>
          <p:cNvSpPr/>
          <p:nvPr/>
        </p:nvSpPr>
        <p:spPr>
          <a:xfrm>
            <a:off x="640080" y="3913632"/>
            <a:ext cx="2377440" cy="18288"/>
          </a:xfrm>
          <a:prstGeom prst="rect">
            <a:avLst/>
          </a:prstGeom>
          <a:solidFill>
            <a:srgbClr val="1F9E77"/>
          </a:solidFill>
          <a:ln/>
        </p:spPr>
        <p:txBody>
          <a:bodyPr/>
          <a:lstStyle/>
          <a:p>
            <a:endParaRPr lang="en-US"/>
          </a:p>
        </p:txBody>
      </p:sp>
      <p:sp>
        <p:nvSpPr>
          <p:cNvPr id="8" name="Text 6"/>
          <p:cNvSpPr txBox="1"/>
          <p:nvPr/>
        </p:nvSpPr>
        <p:spPr>
          <a:xfrm>
            <a:off x="640080" y="4133088"/>
            <a:ext cx="7680960" cy="731520"/>
          </a:xfrm>
          <a:prstGeom prst="rect">
            <a:avLst/>
          </a:prstGeom>
          <a:noFill/>
          <a:ln/>
        </p:spPr>
        <p:txBody>
          <a:bodyPr wrap="square" lIns="0" tIns="0" rIns="0" bIns="0" rtlCol="0" anchor="ctr"/>
          <a:lstStyle/>
          <a:p>
            <a:pPr marL="0" indent="0">
              <a:lnSpc>
                <a:spcPts val="2500"/>
              </a:lnSpc>
              <a:buNone/>
            </a:pPr>
            <a:r>
              <a:rPr lang="en-US" sz="1850" i="1" dirty="0">
                <a:solidFill>
                  <a:srgbClr val="6FD3AF"/>
                </a:solidFill>
                <a:latin typeface="Cambria" pitchFamily="34" charset="0"/>
                <a:ea typeface="Cambria" pitchFamily="34" charset="-122"/>
                <a:cs typeface="Cambria" pitchFamily="34" charset="-120"/>
              </a:rPr>
              <a:t>A film about waking up, in which the AI is scenery.</a:t>
            </a:r>
            <a:endParaRPr lang="en-US" sz="1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THE CLAIM TO TEST</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The Matrix is not really about AI</a:t>
            </a:r>
            <a:endParaRPr lang="en-US" sz="3000" dirty="0"/>
          </a:p>
        </p:txBody>
      </p:sp>
      <p:sp>
        <p:nvSpPr>
          <p:cNvPr id="5" name="Shape 3"/>
          <p:cNvSpPr/>
          <p:nvPr/>
        </p:nvSpPr>
        <p:spPr>
          <a:xfrm>
            <a:off x="640080" y="1572768"/>
            <a:ext cx="10911535" cy="1005840"/>
          </a:xfrm>
          <a:prstGeom prst="roundRect">
            <a:avLst>
              <a:gd name="adj" fmla="val 7273"/>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1005840" y="1572768"/>
            <a:ext cx="10424160" cy="1005840"/>
          </a:xfrm>
          <a:prstGeom prst="rect">
            <a:avLst/>
          </a:prstGeom>
          <a:noFill/>
          <a:ln/>
        </p:spPr>
        <p:txBody>
          <a:bodyPr wrap="square" lIns="0" tIns="0" rIns="0" bIns="0" rtlCol="0" anchor="ctr"/>
          <a:lstStyle/>
          <a:p>
            <a:pPr marL="0" indent="0">
              <a:lnSpc>
                <a:spcPts val="2200"/>
              </a:lnSpc>
              <a:buNone/>
            </a:pPr>
            <a:r>
              <a:rPr lang="en-US" sz="1600" dirty="0">
                <a:solidFill>
                  <a:srgbClr val="F1F3F6"/>
                </a:solidFill>
                <a:latin typeface="Cambria" pitchFamily="34" charset="0"/>
                <a:ea typeface="Cambria" pitchFamily="34" charset="-122"/>
                <a:cs typeface="Cambria" pitchFamily="34" charset="-120"/>
              </a:rPr>
              <a:t>It is about waking up: discovering that the world you were given is a fabrication maintained by someone else’s interest, and working out what you owe the people still inside it. The machines are the apparatus of that fabrication. They are not characters with a case to make.</a:t>
            </a:r>
            <a:endParaRPr lang="en-US" sz="1600" dirty="0"/>
          </a:p>
        </p:txBody>
      </p:sp>
      <p:sp>
        <p:nvSpPr>
          <p:cNvPr id="7" name="Shape 5"/>
          <p:cNvSpPr/>
          <p:nvPr/>
        </p:nvSpPr>
        <p:spPr>
          <a:xfrm>
            <a:off x="640080" y="2743200"/>
            <a:ext cx="3454298" cy="2331720"/>
          </a:xfrm>
          <a:prstGeom prst="roundRect">
            <a:avLst>
              <a:gd name="adj" fmla="val 3137"/>
            </a:avLst>
          </a:prstGeom>
          <a:solidFill>
            <a:srgbClr val="E4F1EC"/>
          </a:solidFill>
          <a:ln w="12700">
            <a:solidFill>
              <a:srgbClr val="E4F1EC"/>
            </a:solidFill>
            <a:prstDash val="solid"/>
          </a:ln>
        </p:spPr>
        <p:txBody>
          <a:bodyPr/>
          <a:lstStyle/>
          <a:p>
            <a:endParaRPr lang="en-US"/>
          </a:p>
        </p:txBody>
      </p:sp>
      <p:sp>
        <p:nvSpPr>
          <p:cNvPr id="8" name="Text 6"/>
          <p:cNvSpPr txBox="1"/>
          <p:nvPr/>
        </p:nvSpPr>
        <p:spPr>
          <a:xfrm>
            <a:off x="914400" y="2944368"/>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0D1117"/>
                </a:solidFill>
                <a:latin typeface="Cambria" pitchFamily="34" charset="0"/>
                <a:ea typeface="Cambria" pitchFamily="34" charset="-122"/>
                <a:cs typeface="Cambria" pitchFamily="34" charset="-120"/>
              </a:rPr>
              <a:t>No machine has an interior</a:t>
            </a:r>
            <a:endParaRPr lang="en-US" sz="1650" dirty="0"/>
          </a:p>
        </p:txBody>
      </p:sp>
      <p:sp>
        <p:nvSpPr>
          <p:cNvPr id="9" name="Text 7"/>
          <p:cNvSpPr txBox="1"/>
          <p:nvPr/>
        </p:nvSpPr>
        <p:spPr>
          <a:xfrm>
            <a:off x="914400" y="3621024"/>
            <a:ext cx="2905658" cy="123444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Agent Smith is the only machine given anything like a psychology, and what he is given is disgust — an aesthetic reaction to humanity, not an argument for himself. Nobody asks the machines what they want.</a:t>
            </a:r>
            <a:endParaRPr lang="en-US" sz="1250" dirty="0"/>
          </a:p>
        </p:txBody>
      </p:sp>
      <p:sp>
        <p:nvSpPr>
          <p:cNvPr id="10" name="Shape 8"/>
          <p:cNvSpPr/>
          <p:nvPr/>
        </p:nvSpPr>
        <p:spPr>
          <a:xfrm>
            <a:off x="4368698" y="2743200"/>
            <a:ext cx="3454298" cy="2331720"/>
          </a:xfrm>
          <a:prstGeom prst="roundRect">
            <a:avLst>
              <a:gd name="adj" fmla="val 3137"/>
            </a:avLst>
          </a:prstGeom>
          <a:solidFill>
            <a:srgbClr val="ECEAF9"/>
          </a:solidFill>
          <a:ln w="12700">
            <a:solidFill>
              <a:srgbClr val="ECEAF9"/>
            </a:solidFill>
            <a:prstDash val="solid"/>
          </a:ln>
        </p:spPr>
        <p:txBody>
          <a:bodyPr/>
          <a:lstStyle/>
          <a:p>
            <a:endParaRPr lang="en-US"/>
          </a:p>
        </p:txBody>
      </p:sp>
      <p:sp>
        <p:nvSpPr>
          <p:cNvPr id="11" name="Text 9"/>
          <p:cNvSpPr txBox="1"/>
          <p:nvPr/>
        </p:nvSpPr>
        <p:spPr>
          <a:xfrm>
            <a:off x="4643018" y="2944368"/>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0D1117"/>
                </a:solidFill>
                <a:latin typeface="Cambria" pitchFamily="34" charset="0"/>
                <a:ea typeface="Cambria" pitchFamily="34" charset="-122"/>
                <a:cs typeface="Cambria" pitchFamily="34" charset="-120"/>
              </a:rPr>
              <a:t>No negotiation is possible</a:t>
            </a:r>
            <a:endParaRPr lang="en-US" sz="1650" dirty="0"/>
          </a:p>
        </p:txBody>
      </p:sp>
      <p:sp>
        <p:nvSpPr>
          <p:cNvPr id="12" name="Text 10"/>
          <p:cNvSpPr txBox="1"/>
          <p:nvPr/>
        </p:nvSpPr>
        <p:spPr>
          <a:xfrm>
            <a:off x="4643018" y="3621024"/>
            <a:ext cx="2905658" cy="123444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There is no scene in the first film where a human and a machine bargain, and no mechanism by which they could. The machines are a condition of the world, like weather.</a:t>
            </a:r>
            <a:endParaRPr lang="en-US" sz="1250" dirty="0"/>
          </a:p>
        </p:txBody>
      </p:sp>
      <p:sp>
        <p:nvSpPr>
          <p:cNvPr id="13" name="Shape 11"/>
          <p:cNvSpPr/>
          <p:nvPr/>
        </p:nvSpPr>
        <p:spPr>
          <a:xfrm>
            <a:off x="8097317" y="2743200"/>
            <a:ext cx="3454298" cy="2331720"/>
          </a:xfrm>
          <a:prstGeom prst="roundRect">
            <a:avLst>
              <a:gd name="adj" fmla="val 3137"/>
            </a:avLst>
          </a:prstGeom>
          <a:solidFill>
            <a:srgbClr val="E4F1EC"/>
          </a:solidFill>
          <a:ln w="12700">
            <a:solidFill>
              <a:srgbClr val="E4F1EC"/>
            </a:solidFill>
            <a:prstDash val="solid"/>
          </a:ln>
        </p:spPr>
        <p:txBody>
          <a:bodyPr/>
          <a:lstStyle/>
          <a:p>
            <a:endParaRPr lang="en-US"/>
          </a:p>
        </p:txBody>
      </p:sp>
      <p:sp>
        <p:nvSpPr>
          <p:cNvPr id="14" name="Text 12"/>
          <p:cNvSpPr txBox="1"/>
          <p:nvPr/>
        </p:nvSpPr>
        <p:spPr>
          <a:xfrm>
            <a:off x="8371637" y="2944368"/>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0D1117"/>
                </a:solidFill>
                <a:latin typeface="Cambria" pitchFamily="34" charset="0"/>
                <a:ea typeface="Cambria" pitchFamily="34" charset="-122"/>
                <a:cs typeface="Cambria" pitchFamily="34" charset="-120"/>
              </a:rPr>
              <a:t>The moral pressure runs one way</a:t>
            </a:r>
            <a:endParaRPr lang="en-US" sz="1650" dirty="0"/>
          </a:p>
        </p:txBody>
      </p:sp>
      <p:sp>
        <p:nvSpPr>
          <p:cNvPr id="15" name="Text 13"/>
          <p:cNvSpPr txBox="1"/>
          <p:nvPr/>
        </p:nvSpPr>
        <p:spPr>
          <a:xfrm>
            <a:off x="8371637" y="3621024"/>
            <a:ext cx="2905658" cy="123444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Is Cypher a traitor, should Neo save Morpheus, do you tell people the truth. Every ethical question is about humans. The synthetic side of the ledger is blank.</a:t>
            </a:r>
            <a:endParaRPr lang="en-US" sz="1250" dirty="0"/>
          </a:p>
        </p:txBody>
      </p:sp>
      <p:sp>
        <p:nvSpPr>
          <p:cNvPr id="16" name="Shape 14"/>
          <p:cNvSpPr/>
          <p:nvPr/>
        </p:nvSpPr>
        <p:spPr>
          <a:xfrm>
            <a:off x="640080" y="5257800"/>
            <a:ext cx="10911535" cy="822960"/>
          </a:xfrm>
          <a:prstGeom prst="roundRect">
            <a:avLst>
              <a:gd name="adj" fmla="val 8889"/>
            </a:avLst>
          </a:prstGeom>
          <a:solidFill>
            <a:srgbClr val="0D1117"/>
          </a:solidFill>
          <a:ln w="12700">
            <a:solidFill>
              <a:srgbClr val="0D1117"/>
            </a:solidFill>
            <a:prstDash val="solid"/>
          </a:ln>
        </p:spPr>
        <p:txBody>
          <a:bodyPr/>
          <a:lstStyle/>
          <a:p>
            <a:endParaRPr lang="en-US"/>
          </a:p>
        </p:txBody>
      </p:sp>
      <p:sp>
        <p:nvSpPr>
          <p:cNvPr id="17" name="Text 15"/>
          <p:cNvSpPr txBox="1"/>
          <p:nvPr/>
        </p:nvSpPr>
        <p:spPr>
          <a:xfrm>
            <a:off x="1005840" y="5440680"/>
            <a:ext cx="10424160" cy="457200"/>
          </a:xfrm>
          <a:prstGeom prst="rect">
            <a:avLst/>
          </a:prstGeom>
          <a:noFill/>
          <a:ln/>
        </p:spPr>
        <p:txBody>
          <a:bodyPr wrap="square" lIns="0" tIns="0" rIns="0" bIns="0" rtlCol="0" anchor="ctr"/>
          <a:lstStyle/>
          <a:p>
            <a:pPr marL="0" indent="0">
              <a:lnSpc>
                <a:spcPts val="2100"/>
              </a:lnSpc>
              <a:buNone/>
            </a:pPr>
            <a:r>
              <a:rPr lang="en-US" sz="1550" dirty="0">
                <a:solidFill>
                  <a:srgbClr val="F1F3F6"/>
                </a:solidFill>
                <a:latin typeface="Cambria" pitchFamily="34" charset="0"/>
                <a:ea typeface="Cambria" pitchFamily="34" charset="-122"/>
                <a:cs typeface="Cambria" pitchFamily="34" charset="-120"/>
              </a:rPr>
              <a:t>Test as you go: if the machines were replaced by a natural disaster, a totalitarian state, or a drug, how much of the 1999 film would need rewriting?</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THE FILM’S ONLY MECHANIC</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Red pill, blue pill — and why it is not a choice</a:t>
            </a:r>
            <a:endParaRPr lang="en-US" sz="3000" dirty="0"/>
          </a:p>
        </p:txBody>
      </p:sp>
      <p:sp>
        <p:nvSpPr>
          <p:cNvPr id="5" name="Shape 3"/>
          <p:cNvSpPr/>
          <p:nvPr/>
        </p:nvSpPr>
        <p:spPr>
          <a:xfrm>
            <a:off x="640080" y="1572768"/>
            <a:ext cx="5669280" cy="2148840"/>
          </a:xfrm>
          <a:prstGeom prst="roundRect">
            <a:avLst>
              <a:gd name="adj" fmla="val 3404"/>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1005840" y="1773936"/>
            <a:ext cx="4937760" cy="292608"/>
          </a:xfrm>
          <a:prstGeom prst="rect">
            <a:avLst/>
          </a:prstGeom>
          <a:noFill/>
          <a:ln/>
        </p:spPr>
        <p:txBody>
          <a:bodyPr wrap="square" lIns="0" tIns="0" rIns="0" bIns="0" rtlCol="0" anchor="ctr"/>
          <a:lstStyle/>
          <a:p>
            <a:pPr marL="0" indent="0">
              <a:buNone/>
            </a:pPr>
            <a:r>
              <a:rPr lang="en-US" sz="1150" b="1" kern="0" spc="140" dirty="0">
                <a:solidFill>
                  <a:srgbClr val="A79CEB"/>
                </a:solidFill>
                <a:latin typeface="Calibri" pitchFamily="34" charset="0"/>
                <a:ea typeface="Calibri" pitchFamily="34" charset="-122"/>
                <a:cs typeface="Calibri" pitchFamily="34" charset="-120"/>
              </a:rPr>
              <a:t>The structure of the offer</a:t>
            </a:r>
            <a:endParaRPr lang="en-US" sz="1150" dirty="0"/>
          </a:p>
        </p:txBody>
      </p:sp>
      <p:sp>
        <p:nvSpPr>
          <p:cNvPr id="7" name="Text 5"/>
          <p:cNvSpPr txBox="1"/>
          <p:nvPr/>
        </p:nvSpPr>
        <p:spPr>
          <a:xfrm>
            <a:off x="1005840" y="2194560"/>
            <a:ext cx="4983480" cy="141732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300" dirty="0">
                <a:solidFill>
                  <a:srgbClr val="F1F3F6"/>
                </a:solidFill>
                <a:latin typeface="Calibri" pitchFamily="34" charset="0"/>
                <a:ea typeface="Calibri" pitchFamily="34" charset="-122"/>
                <a:cs typeface="Calibri" pitchFamily="34" charset="-120"/>
              </a:rPr>
              <a:t>The options are asymmetrical: one is knowledge, one is amnesia. Only one lets you remember having chosen.</a:t>
            </a:r>
            <a:endParaRPr lang="en-US" sz="1300" dirty="0"/>
          </a:p>
          <a:p>
            <a:pPr marL="342900" indent="-342900">
              <a:lnSpc>
                <a:spcPts val="1800"/>
              </a:lnSpc>
              <a:spcAft>
                <a:spcPts val="700"/>
              </a:spcAft>
              <a:buSzPct val="100000"/>
              <a:buChar char="•"/>
            </a:pPr>
            <a:r>
              <a:rPr lang="en-US" sz="1300" dirty="0">
                <a:solidFill>
                  <a:srgbClr val="F1F3F6"/>
                </a:solidFill>
                <a:latin typeface="Calibri" pitchFamily="34" charset="0"/>
                <a:ea typeface="Calibri" pitchFamily="34" charset="-122"/>
                <a:cs typeface="Calibri" pitchFamily="34" charset="-120"/>
              </a:rPr>
              <a:t>It is offered by a man who has already decided what you are, and filmed as a revelation rather than a deliberation.</a:t>
            </a:r>
            <a:endParaRPr lang="en-US" sz="1300" dirty="0"/>
          </a:p>
          <a:p>
            <a:pPr marL="342900" indent="-342900">
              <a:lnSpc>
                <a:spcPts val="1800"/>
              </a:lnSpc>
              <a:spcAft>
                <a:spcPts val="700"/>
              </a:spcAft>
              <a:buSzPct val="100000"/>
              <a:buChar char="•"/>
            </a:pPr>
            <a:r>
              <a:rPr lang="en-US" sz="1300" dirty="0">
                <a:solidFill>
                  <a:srgbClr val="F1F3F6"/>
                </a:solidFill>
                <a:latin typeface="Calibri" pitchFamily="34" charset="0"/>
                <a:ea typeface="Calibri" pitchFamily="34" charset="-122"/>
                <a:cs typeface="Calibri" pitchFamily="34" charset="-120"/>
              </a:rPr>
              <a:t>The film cannot proceed if Neo takes the blue pill. The narrative has already voted.</a:t>
            </a:r>
            <a:endParaRPr lang="en-US" sz="1300" dirty="0"/>
          </a:p>
        </p:txBody>
      </p:sp>
      <p:sp>
        <p:nvSpPr>
          <p:cNvPr id="8" name="Shape 6"/>
          <p:cNvSpPr/>
          <p:nvPr/>
        </p:nvSpPr>
        <p:spPr>
          <a:xfrm>
            <a:off x="6629400" y="1572768"/>
            <a:ext cx="4901184" cy="2148840"/>
          </a:xfrm>
          <a:prstGeom prst="roundRect">
            <a:avLst>
              <a:gd name="adj" fmla="val 3404"/>
            </a:avLst>
          </a:prstGeom>
          <a:solidFill>
            <a:srgbClr val="E4F1EC"/>
          </a:solidFill>
          <a:ln w="12700">
            <a:solidFill>
              <a:srgbClr val="E4F1EC"/>
            </a:solidFill>
            <a:prstDash val="solid"/>
          </a:ln>
        </p:spPr>
        <p:txBody>
          <a:bodyPr/>
          <a:lstStyle/>
          <a:p>
            <a:endParaRPr lang="en-US"/>
          </a:p>
        </p:txBody>
      </p:sp>
      <p:sp>
        <p:nvSpPr>
          <p:cNvPr id="9" name="Text 7"/>
          <p:cNvSpPr txBox="1"/>
          <p:nvPr/>
        </p:nvSpPr>
        <p:spPr>
          <a:xfrm>
            <a:off x="6949440" y="1773936"/>
            <a:ext cx="4297680" cy="310896"/>
          </a:xfrm>
          <a:prstGeom prst="rect">
            <a:avLst/>
          </a:prstGeom>
          <a:noFill/>
          <a:ln/>
        </p:spPr>
        <p:txBody>
          <a:bodyPr wrap="square" lIns="0" tIns="0" rIns="0" bIns="0" rtlCol="0" anchor="ctr"/>
          <a:lstStyle/>
          <a:p>
            <a:pPr marL="0" indent="0">
              <a:buNone/>
            </a:pPr>
            <a:r>
              <a:rPr lang="en-US" sz="1700" b="1" dirty="0">
                <a:solidFill>
                  <a:srgbClr val="0D1117"/>
                </a:solidFill>
                <a:latin typeface="Cambria" pitchFamily="34" charset="0"/>
                <a:ea typeface="Cambria" pitchFamily="34" charset="-122"/>
                <a:cs typeface="Cambria" pitchFamily="34" charset="-120"/>
              </a:rPr>
              <a:t>Apply the toolkit</a:t>
            </a:r>
            <a:endParaRPr lang="en-US" sz="1700" dirty="0"/>
          </a:p>
        </p:txBody>
      </p:sp>
      <p:sp>
        <p:nvSpPr>
          <p:cNvPr id="10" name="Text 8"/>
          <p:cNvSpPr txBox="1"/>
          <p:nvPr/>
        </p:nvSpPr>
        <p:spPr>
          <a:xfrm>
            <a:off x="6949440" y="2194560"/>
            <a:ext cx="4297680" cy="146304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A film cannot make you choose; it can show a choice and invite identification. The pill scene is the closest cinema gets to a mechanic — and notice what it lacks: no consequence attaches to you, nothing accumulates, and the film does not remember what you would have picked.</a:t>
            </a:r>
            <a:endParaRPr lang="en-US" sz="1250" dirty="0"/>
          </a:p>
        </p:txBody>
      </p:sp>
      <p:sp>
        <p:nvSpPr>
          <p:cNvPr id="11" name="Shape 9"/>
          <p:cNvSpPr/>
          <p:nvPr/>
        </p:nvSpPr>
        <p:spPr>
          <a:xfrm>
            <a:off x="640080" y="3886200"/>
            <a:ext cx="5669280" cy="1874520"/>
          </a:xfrm>
          <a:prstGeom prst="roundRect">
            <a:avLst>
              <a:gd name="adj" fmla="val 3902"/>
            </a:avLst>
          </a:prstGeom>
          <a:solidFill>
            <a:srgbClr val="E4F1EC"/>
          </a:solidFill>
          <a:ln w="12700">
            <a:solidFill>
              <a:srgbClr val="E4F1EC"/>
            </a:solidFill>
            <a:prstDash val="solid"/>
          </a:ln>
        </p:spPr>
        <p:txBody>
          <a:bodyPr/>
          <a:lstStyle/>
          <a:p>
            <a:endParaRPr lang="en-US"/>
          </a:p>
        </p:txBody>
      </p:sp>
      <p:sp>
        <p:nvSpPr>
          <p:cNvPr id="12" name="Text 10"/>
          <p:cNvSpPr txBox="1"/>
          <p:nvPr/>
        </p:nvSpPr>
        <p:spPr>
          <a:xfrm>
            <a:off x="1005840" y="4069080"/>
            <a:ext cx="4937760" cy="310896"/>
          </a:xfrm>
          <a:prstGeom prst="rect">
            <a:avLst/>
          </a:prstGeom>
          <a:noFill/>
          <a:ln/>
        </p:spPr>
        <p:txBody>
          <a:bodyPr wrap="square" lIns="0" tIns="0" rIns="0" bIns="0" rtlCol="0" anchor="ctr"/>
          <a:lstStyle/>
          <a:p>
            <a:pPr marL="0" indent="0">
              <a:buNone/>
            </a:pPr>
            <a:r>
              <a:rPr lang="en-US" sz="1600" b="1" dirty="0">
                <a:solidFill>
                  <a:srgbClr val="0D1117"/>
                </a:solidFill>
                <a:latin typeface="Cambria" pitchFamily="34" charset="0"/>
                <a:ea typeface="Cambria" pitchFamily="34" charset="-122"/>
                <a:cs typeface="Cambria" pitchFamily="34" charset="-120"/>
              </a:rPr>
              <a:t>Cypher — the one who chooses the simulation</a:t>
            </a:r>
            <a:endParaRPr lang="en-US" sz="1600" dirty="0"/>
          </a:p>
        </p:txBody>
      </p:sp>
      <p:sp>
        <p:nvSpPr>
          <p:cNvPr id="13" name="Text 11"/>
          <p:cNvSpPr txBox="1"/>
          <p:nvPr/>
        </p:nvSpPr>
        <p:spPr>
          <a:xfrm>
            <a:off x="1005840" y="4462272"/>
            <a:ext cx="4937760" cy="109728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He wants the steak, and he knows the steak is not real. He makes the only informed, considered, second choice in the film — and the film codes him as contemptible for it. Ask why: is it the betrayal, or is it the preference?</a:t>
            </a:r>
            <a:endParaRPr lang="en-US" sz="1250" dirty="0"/>
          </a:p>
        </p:txBody>
      </p:sp>
      <p:sp>
        <p:nvSpPr>
          <p:cNvPr id="14" name="Shape 12"/>
          <p:cNvSpPr/>
          <p:nvPr/>
        </p:nvSpPr>
        <p:spPr>
          <a:xfrm>
            <a:off x="6629400" y="3886200"/>
            <a:ext cx="4901184" cy="1874520"/>
          </a:xfrm>
          <a:prstGeom prst="roundRect">
            <a:avLst>
              <a:gd name="adj" fmla="val 3902"/>
            </a:avLst>
          </a:prstGeom>
          <a:solidFill>
            <a:srgbClr val="ECEAF9"/>
          </a:solidFill>
          <a:ln w="12700">
            <a:solidFill>
              <a:srgbClr val="ECEAF9"/>
            </a:solidFill>
            <a:prstDash val="solid"/>
          </a:ln>
        </p:spPr>
        <p:txBody>
          <a:bodyPr/>
          <a:lstStyle/>
          <a:p>
            <a:endParaRPr lang="en-US"/>
          </a:p>
        </p:txBody>
      </p:sp>
      <p:sp>
        <p:nvSpPr>
          <p:cNvPr id="15" name="Text 13"/>
          <p:cNvSpPr txBox="1"/>
          <p:nvPr/>
        </p:nvSpPr>
        <p:spPr>
          <a:xfrm>
            <a:off x="6949440" y="4069080"/>
            <a:ext cx="4297680" cy="310896"/>
          </a:xfrm>
          <a:prstGeom prst="rect">
            <a:avLst/>
          </a:prstGeom>
          <a:noFill/>
          <a:ln/>
        </p:spPr>
        <p:txBody>
          <a:bodyPr wrap="square" lIns="0" tIns="0" rIns="0" bIns="0" rtlCol="0" anchor="ctr"/>
          <a:lstStyle/>
          <a:p>
            <a:pPr marL="0" indent="0">
              <a:buNone/>
            </a:pPr>
            <a:r>
              <a:rPr lang="en-US" sz="1600" b="1" dirty="0">
                <a:solidFill>
                  <a:srgbClr val="0D1117"/>
                </a:solidFill>
                <a:latin typeface="Cambria" pitchFamily="34" charset="0"/>
                <a:ea typeface="Cambria" pitchFamily="34" charset="-122"/>
                <a:cs typeface="Cambria" pitchFamily="34" charset="-120"/>
              </a:rPr>
              <a:t>The question to leave open</a:t>
            </a:r>
            <a:endParaRPr lang="en-US" sz="1600" dirty="0"/>
          </a:p>
        </p:txBody>
      </p:sp>
      <p:sp>
        <p:nvSpPr>
          <p:cNvPr id="16" name="Text 14"/>
          <p:cNvSpPr txBox="1"/>
          <p:nvPr/>
        </p:nvSpPr>
        <p:spPr>
          <a:xfrm>
            <a:off x="6949440" y="4462272"/>
            <a:ext cx="4297680" cy="109728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The film insists that truth is worth having even when it is worse. That is a moral claim, not a self-evident one, and the whole waking-up genre rests on it. Does the film argue for it — or assume it and stage the assumption beautifully?</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RECEPTION</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Two afterlives of the same image</a:t>
            </a:r>
            <a:endParaRPr lang="en-US" sz="3000" dirty="0"/>
          </a:p>
        </p:txBody>
      </p:sp>
      <p:sp>
        <p:nvSpPr>
          <p:cNvPr id="5" name="Shape 3"/>
          <p:cNvSpPr/>
          <p:nvPr/>
        </p:nvSpPr>
        <p:spPr>
          <a:xfrm>
            <a:off x="640080" y="1600200"/>
            <a:ext cx="5303520" cy="3200400"/>
          </a:xfrm>
          <a:prstGeom prst="roundRect">
            <a:avLst>
              <a:gd name="adj" fmla="val 2286"/>
            </a:avLst>
          </a:prstGeom>
          <a:solidFill>
            <a:srgbClr val="ECEAF9"/>
          </a:solidFill>
          <a:ln w="12700">
            <a:solidFill>
              <a:srgbClr val="ECEAF9"/>
            </a:solidFill>
            <a:prstDash val="solid"/>
          </a:ln>
        </p:spPr>
        <p:txBody>
          <a:bodyPr/>
          <a:lstStyle/>
          <a:p>
            <a:endParaRPr lang="en-US"/>
          </a:p>
        </p:txBody>
      </p:sp>
      <p:sp>
        <p:nvSpPr>
          <p:cNvPr id="6" name="Text 4"/>
          <p:cNvSpPr txBox="1"/>
          <p:nvPr/>
        </p:nvSpPr>
        <p:spPr>
          <a:xfrm>
            <a:off x="1005840" y="1828800"/>
            <a:ext cx="4572000" cy="347472"/>
          </a:xfrm>
          <a:prstGeom prst="rect">
            <a:avLst/>
          </a:prstGeom>
          <a:noFill/>
          <a:ln/>
        </p:spPr>
        <p:txBody>
          <a:bodyPr wrap="square" lIns="0" tIns="0" rIns="0" bIns="0" rtlCol="0" anchor="ctr"/>
          <a:lstStyle/>
          <a:p>
            <a:pPr marL="0" indent="0">
              <a:buNone/>
            </a:pPr>
            <a:r>
              <a:rPr lang="en-US" sz="1900" b="1" dirty="0">
                <a:solidFill>
                  <a:srgbClr val="0D1117"/>
                </a:solidFill>
                <a:latin typeface="Cambria" pitchFamily="34" charset="0"/>
                <a:ea typeface="Cambria" pitchFamily="34" charset="-122"/>
                <a:cs typeface="Cambria" pitchFamily="34" charset="-120"/>
              </a:rPr>
              <a:t>The trans reading</a:t>
            </a:r>
            <a:endParaRPr lang="en-US" sz="1900" dirty="0"/>
          </a:p>
        </p:txBody>
      </p:sp>
      <p:sp>
        <p:nvSpPr>
          <p:cNvPr id="7" name="Text 5"/>
          <p:cNvSpPr txBox="1"/>
          <p:nvPr/>
        </p:nvSpPr>
        <p:spPr>
          <a:xfrm>
            <a:off x="1005840" y="2286000"/>
            <a:ext cx="4617720" cy="2331720"/>
          </a:xfrm>
          <a:prstGeom prst="rect">
            <a:avLst/>
          </a:prstGeom>
          <a:noFill/>
          <a:ln/>
        </p:spPr>
        <p:txBody>
          <a:bodyPr wrap="square" lIns="0" tIns="0" rIns="0" bIns="0" rtlCol="0" anchor="ctr"/>
          <a:lstStyle/>
          <a:p>
            <a:pPr marL="0" indent="0">
              <a:lnSpc>
                <a:spcPts val="1800"/>
              </a:lnSpc>
              <a:buNone/>
            </a:pPr>
            <a:r>
              <a:rPr lang="en-US" sz="1250" dirty="0">
                <a:solidFill>
                  <a:srgbClr val="596273"/>
                </a:solidFill>
                <a:latin typeface="Calibri" pitchFamily="34" charset="0"/>
                <a:ea typeface="Calibri" pitchFamily="34" charset="-122"/>
                <a:cs typeface="Calibri" pitchFamily="34" charset="-120"/>
              </a:rPr>
              <a:t>Long argued by viewers and later confirmed by Lilly Wachowski: a story about a person living under an assigned name and an assigned body, told that the world he inhabits is a construction and that there is a self underneath it. On this reading the film is an account of transition, and the red pill is a beginning rather than a revelation of enemies.</a:t>
            </a:r>
            <a:endParaRPr lang="en-US" sz="1250" dirty="0"/>
          </a:p>
        </p:txBody>
      </p:sp>
      <p:sp>
        <p:nvSpPr>
          <p:cNvPr id="8" name="Shape 6"/>
          <p:cNvSpPr/>
          <p:nvPr/>
        </p:nvSpPr>
        <p:spPr>
          <a:xfrm>
            <a:off x="6263640" y="1600200"/>
            <a:ext cx="5266944" cy="3200400"/>
          </a:xfrm>
          <a:prstGeom prst="roundRect">
            <a:avLst>
              <a:gd name="adj" fmla="val 2286"/>
            </a:avLst>
          </a:prstGeom>
          <a:solidFill>
            <a:srgbClr val="ECEFF4"/>
          </a:solidFill>
          <a:ln w="12700">
            <a:solidFill>
              <a:srgbClr val="ECEFF4"/>
            </a:solidFill>
            <a:prstDash val="solid"/>
          </a:ln>
        </p:spPr>
        <p:txBody>
          <a:bodyPr/>
          <a:lstStyle/>
          <a:p>
            <a:endParaRPr lang="en-US"/>
          </a:p>
        </p:txBody>
      </p:sp>
      <p:sp>
        <p:nvSpPr>
          <p:cNvPr id="9" name="Text 7"/>
          <p:cNvSpPr txBox="1"/>
          <p:nvPr/>
        </p:nvSpPr>
        <p:spPr>
          <a:xfrm>
            <a:off x="6583680" y="1828800"/>
            <a:ext cx="4572000" cy="347472"/>
          </a:xfrm>
          <a:prstGeom prst="rect">
            <a:avLst/>
          </a:prstGeom>
          <a:noFill/>
          <a:ln/>
        </p:spPr>
        <p:txBody>
          <a:bodyPr wrap="square" lIns="0" tIns="0" rIns="0" bIns="0" rtlCol="0" anchor="ctr"/>
          <a:lstStyle/>
          <a:p>
            <a:pPr marL="0" indent="0">
              <a:buNone/>
            </a:pPr>
            <a:r>
              <a:rPr lang="en-US" sz="1900" b="1" dirty="0">
                <a:solidFill>
                  <a:srgbClr val="0D1117"/>
                </a:solidFill>
                <a:latin typeface="Cambria" pitchFamily="34" charset="0"/>
                <a:ea typeface="Cambria" pitchFamily="34" charset="-122"/>
                <a:cs typeface="Cambria" pitchFamily="34" charset="-120"/>
              </a:rPr>
              <a:t>The “red pill” appropriation</a:t>
            </a:r>
            <a:endParaRPr lang="en-US" sz="1900" dirty="0"/>
          </a:p>
        </p:txBody>
      </p:sp>
      <p:sp>
        <p:nvSpPr>
          <p:cNvPr id="10" name="Text 8"/>
          <p:cNvSpPr txBox="1"/>
          <p:nvPr/>
        </p:nvSpPr>
        <p:spPr>
          <a:xfrm>
            <a:off x="6583680" y="2286000"/>
            <a:ext cx="4617720" cy="2331720"/>
          </a:xfrm>
          <a:prstGeom prst="rect">
            <a:avLst/>
          </a:prstGeom>
          <a:noFill/>
          <a:ln/>
        </p:spPr>
        <p:txBody>
          <a:bodyPr wrap="square" lIns="0" tIns="0" rIns="0" bIns="0" rtlCol="0" anchor="ctr"/>
          <a:lstStyle/>
          <a:p>
            <a:pPr marL="0" indent="0">
              <a:lnSpc>
                <a:spcPts val="1800"/>
              </a:lnSpc>
              <a:buNone/>
            </a:pPr>
            <a:r>
              <a:rPr lang="en-US" sz="1250" dirty="0">
                <a:solidFill>
                  <a:srgbClr val="596273"/>
                </a:solidFill>
                <a:latin typeface="Calibri" pitchFamily="34" charset="0"/>
                <a:ea typeface="Calibri" pitchFamily="34" charset="-122"/>
                <a:cs typeface="Calibri" pitchFamily="34" charset="-120"/>
              </a:rPr>
              <a:t>From the mid-2000s the same image was taken up by online reactionary and men’s-rights communities as a metaphor for seeing through a supposed liberal consensus. Same scene, same object, opposite politics — attached to a film made by two trans women.</a:t>
            </a:r>
            <a:endParaRPr lang="en-US" sz="1250" dirty="0"/>
          </a:p>
        </p:txBody>
      </p:sp>
      <p:sp>
        <p:nvSpPr>
          <p:cNvPr id="11" name="Shape 9"/>
          <p:cNvSpPr/>
          <p:nvPr/>
        </p:nvSpPr>
        <p:spPr>
          <a:xfrm>
            <a:off x="640080" y="4983480"/>
            <a:ext cx="10911535" cy="1234440"/>
          </a:xfrm>
          <a:prstGeom prst="roundRect">
            <a:avLst>
              <a:gd name="adj" fmla="val 5926"/>
            </a:avLst>
          </a:prstGeom>
          <a:solidFill>
            <a:srgbClr val="0D1117"/>
          </a:solidFill>
          <a:ln w="12700">
            <a:solidFill>
              <a:srgbClr val="0D1117"/>
            </a:solidFill>
            <a:prstDash val="solid"/>
          </a:ln>
        </p:spPr>
        <p:txBody>
          <a:bodyPr/>
          <a:lstStyle/>
          <a:p>
            <a:endParaRPr lang="en-US"/>
          </a:p>
        </p:txBody>
      </p:sp>
      <p:sp>
        <p:nvSpPr>
          <p:cNvPr id="12" name="Text 10"/>
          <p:cNvSpPr txBox="1"/>
          <p:nvPr/>
        </p:nvSpPr>
        <p:spPr>
          <a:xfrm>
            <a:off x="1005840" y="5166360"/>
            <a:ext cx="10424160" cy="274320"/>
          </a:xfrm>
          <a:prstGeom prst="rect">
            <a:avLst/>
          </a:prstGeom>
          <a:noFill/>
          <a:ln/>
        </p:spPr>
        <p:txBody>
          <a:bodyPr wrap="square" lIns="0" tIns="0" rIns="0" bIns="0" rtlCol="0" anchor="ctr"/>
          <a:lstStyle/>
          <a:p>
            <a:pPr marL="0" indent="0">
              <a:buNone/>
            </a:pPr>
            <a:r>
              <a:rPr lang="en-US" sz="1150" b="1" kern="0" spc="140" dirty="0">
                <a:solidFill>
                  <a:srgbClr val="A79CEB"/>
                </a:solidFill>
                <a:latin typeface="Calibri" pitchFamily="34" charset="0"/>
                <a:ea typeface="Calibri" pitchFamily="34" charset="-122"/>
                <a:cs typeface="Calibri" pitchFamily="34" charset="-120"/>
              </a:rPr>
              <a:t>Why this belongs in a methods-driven week</a:t>
            </a:r>
            <a:endParaRPr lang="en-US" sz="1150" dirty="0"/>
          </a:p>
        </p:txBody>
      </p:sp>
      <p:sp>
        <p:nvSpPr>
          <p:cNvPr id="13" name="Text 11"/>
          <p:cNvSpPr txBox="1"/>
          <p:nvPr/>
        </p:nvSpPr>
        <p:spPr>
          <a:xfrm>
            <a:off x="1005840" y="5513832"/>
            <a:ext cx="10424160" cy="521208"/>
          </a:xfrm>
          <a:prstGeom prst="rect">
            <a:avLst/>
          </a:prstGeom>
          <a:noFill/>
          <a:ln/>
        </p:spPr>
        <p:txBody>
          <a:bodyPr wrap="square" lIns="0" tIns="0" rIns="0" bIns="0" rtlCol="0" anchor="ctr"/>
          <a:lstStyle/>
          <a:p>
            <a:pPr marL="0" indent="0">
              <a:lnSpc>
                <a:spcPts val="2100"/>
              </a:lnSpc>
              <a:buNone/>
            </a:pPr>
            <a:r>
              <a:rPr lang="en-US" sz="1550" dirty="0">
                <a:solidFill>
                  <a:srgbClr val="F1F3F6"/>
                </a:solidFill>
                <a:latin typeface="Cambria" pitchFamily="34" charset="0"/>
                <a:ea typeface="Cambria" pitchFamily="34" charset="-122"/>
                <a:cs typeface="Cambria" pitchFamily="34" charset="-120"/>
              </a:rPr>
              <a:t>Recall Monopoly. A text’s argument does not control its uptake, and an image built to describe one kind of awakening can be repurposed to authorise any claim to secret knowledge. This is Sicart’s point about players, at the scale of a culture.</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THE COMPLICATION</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The sequels argue against our claim</a:t>
            </a:r>
            <a:endParaRPr lang="en-US" sz="3000" dirty="0"/>
          </a:p>
        </p:txBody>
      </p:sp>
      <p:sp>
        <p:nvSpPr>
          <p:cNvPr id="5" name="Shape 3"/>
          <p:cNvSpPr/>
          <p:nvPr/>
        </p:nvSpPr>
        <p:spPr>
          <a:xfrm>
            <a:off x="640080" y="1572768"/>
            <a:ext cx="5295748" cy="1810512"/>
          </a:xfrm>
          <a:prstGeom prst="roundRect">
            <a:avLst>
              <a:gd name="adj" fmla="val 4040"/>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932688" y="1755648"/>
            <a:ext cx="4710532" cy="310896"/>
          </a:xfrm>
          <a:prstGeom prst="rect">
            <a:avLst/>
          </a:prstGeom>
          <a:noFill/>
          <a:ln/>
        </p:spPr>
        <p:txBody>
          <a:bodyPr wrap="square" lIns="0" tIns="0" rIns="0" bIns="0" rtlCol="0" anchor="ctr"/>
          <a:lstStyle/>
          <a:p>
            <a:pPr marL="0" indent="0">
              <a:buNone/>
            </a:pPr>
            <a:r>
              <a:rPr lang="en-US" sz="1700" b="1" dirty="0">
                <a:solidFill>
                  <a:srgbClr val="6FD3AF"/>
                </a:solidFill>
                <a:latin typeface="Cambria" pitchFamily="34" charset="0"/>
                <a:ea typeface="Cambria" pitchFamily="34" charset="-122"/>
                <a:cs typeface="Cambria" pitchFamily="34" charset="-120"/>
              </a:rPr>
              <a:t>Rama-Kandra and Sati</a:t>
            </a:r>
            <a:endParaRPr lang="en-US" sz="1700" dirty="0"/>
          </a:p>
        </p:txBody>
      </p:sp>
      <p:sp>
        <p:nvSpPr>
          <p:cNvPr id="7" name="Text 5"/>
          <p:cNvSpPr txBox="1"/>
          <p:nvPr/>
        </p:nvSpPr>
        <p:spPr>
          <a:xfrm>
            <a:off x="932688" y="2139696"/>
            <a:ext cx="4710532" cy="1115568"/>
          </a:xfrm>
          <a:prstGeom prst="rect">
            <a:avLst/>
          </a:prstGeom>
          <a:noFill/>
          <a:ln/>
        </p:spPr>
        <p:txBody>
          <a:bodyPr wrap="square" lIns="0" tIns="0" rIns="0" bIns="0" rtlCol="0" anchor="ctr"/>
          <a:lstStyle/>
          <a:p>
            <a:pPr marL="0" indent="0">
              <a:lnSpc>
                <a:spcPts val="1600"/>
              </a:lnSpc>
              <a:buNone/>
            </a:pPr>
            <a:r>
              <a:rPr lang="en-US" sz="1200" dirty="0">
                <a:solidFill>
                  <a:srgbClr val="F1F3F6"/>
                </a:solidFill>
                <a:latin typeface="Calibri" pitchFamily="34" charset="0"/>
                <a:ea typeface="Calibri" pitchFamily="34" charset="-122"/>
                <a:cs typeface="Calibri" pitchFamily="34" charset="-120"/>
              </a:rPr>
              <a:t>In Reloaded a program explains that he and his wife made a child without a purpose, because they love her, and that he has bargained for her survival. He tells Neo that love is a word for a connection. This is a machine making a case for its own personhood — exactly the scene the first film lacks.</a:t>
            </a:r>
            <a:endParaRPr lang="en-US" sz="1200" dirty="0"/>
          </a:p>
        </p:txBody>
      </p:sp>
      <p:sp>
        <p:nvSpPr>
          <p:cNvPr id="8" name="Shape 6"/>
          <p:cNvSpPr/>
          <p:nvPr/>
        </p:nvSpPr>
        <p:spPr>
          <a:xfrm>
            <a:off x="6255868" y="1572768"/>
            <a:ext cx="5295748" cy="1810512"/>
          </a:xfrm>
          <a:prstGeom prst="roundRect">
            <a:avLst>
              <a:gd name="adj" fmla="val 4040"/>
            </a:avLst>
          </a:prstGeom>
          <a:solidFill>
            <a:srgbClr val="ECEAF9"/>
          </a:solidFill>
          <a:ln w="12700">
            <a:solidFill>
              <a:srgbClr val="ECEAF9"/>
            </a:solidFill>
            <a:prstDash val="solid"/>
          </a:ln>
        </p:spPr>
        <p:txBody>
          <a:bodyPr/>
          <a:lstStyle/>
          <a:p>
            <a:endParaRPr lang="en-US"/>
          </a:p>
        </p:txBody>
      </p:sp>
      <p:sp>
        <p:nvSpPr>
          <p:cNvPr id="9" name="Text 7"/>
          <p:cNvSpPr txBox="1"/>
          <p:nvPr/>
        </p:nvSpPr>
        <p:spPr>
          <a:xfrm>
            <a:off x="6548476" y="1755648"/>
            <a:ext cx="4710532" cy="310896"/>
          </a:xfrm>
          <a:prstGeom prst="rect">
            <a:avLst/>
          </a:prstGeom>
          <a:noFill/>
          <a:ln/>
        </p:spPr>
        <p:txBody>
          <a:bodyPr wrap="square" lIns="0" tIns="0" rIns="0" bIns="0" rtlCol="0" anchor="ctr"/>
          <a:lstStyle/>
          <a:p>
            <a:pPr marL="0" indent="0">
              <a:buNone/>
            </a:pPr>
            <a:r>
              <a:rPr lang="en-US" sz="1700" b="1" dirty="0">
                <a:solidFill>
                  <a:srgbClr val="0D1117"/>
                </a:solidFill>
                <a:latin typeface="Cambria" pitchFamily="34" charset="0"/>
                <a:ea typeface="Cambria" pitchFamily="34" charset="-122"/>
                <a:cs typeface="Cambria" pitchFamily="34" charset="-120"/>
              </a:rPr>
              <a:t>The exiled programs</a:t>
            </a:r>
            <a:endParaRPr lang="en-US" sz="1700" dirty="0"/>
          </a:p>
        </p:txBody>
      </p:sp>
      <p:sp>
        <p:nvSpPr>
          <p:cNvPr id="10" name="Text 8"/>
          <p:cNvSpPr txBox="1"/>
          <p:nvPr/>
        </p:nvSpPr>
        <p:spPr>
          <a:xfrm>
            <a:off x="6548476" y="2139696"/>
            <a:ext cx="4710532" cy="1115568"/>
          </a:xfrm>
          <a:prstGeom prst="rect">
            <a:avLst/>
          </a:prstGeom>
          <a:noFill/>
          <a:ln/>
        </p:spPr>
        <p:txBody>
          <a:bodyPr wrap="square" lIns="0" tIns="0" rIns="0" bIns="0" rtlCol="0" anchor="ctr"/>
          <a:lstStyle/>
          <a:p>
            <a:pPr marL="0" indent="0">
              <a:lnSpc>
                <a:spcPts val="1600"/>
              </a:lnSpc>
              <a:buNone/>
            </a:pPr>
            <a:r>
              <a:rPr lang="en-US" sz="1200" dirty="0">
                <a:solidFill>
                  <a:srgbClr val="596273"/>
                </a:solidFill>
                <a:latin typeface="Calibri" pitchFamily="34" charset="0"/>
                <a:ea typeface="Calibri" pitchFamily="34" charset="-122"/>
                <a:cs typeface="Calibri" pitchFamily="34" charset="-120"/>
              </a:rPr>
              <a:t>The Merovingian’s underworld is populated by obsolete software avoiding deletion. Unemployment, exile, refusal to be shut down: the trilogy has a machine underclass with grievances.</a:t>
            </a:r>
            <a:endParaRPr lang="en-US" sz="1200" dirty="0"/>
          </a:p>
        </p:txBody>
      </p:sp>
      <p:sp>
        <p:nvSpPr>
          <p:cNvPr id="11" name="Shape 9"/>
          <p:cNvSpPr/>
          <p:nvPr/>
        </p:nvSpPr>
        <p:spPr>
          <a:xfrm>
            <a:off x="640080" y="3538728"/>
            <a:ext cx="5295748" cy="1810512"/>
          </a:xfrm>
          <a:prstGeom prst="roundRect">
            <a:avLst>
              <a:gd name="adj" fmla="val 4040"/>
            </a:avLst>
          </a:prstGeom>
          <a:solidFill>
            <a:srgbClr val="E4F1EC"/>
          </a:solidFill>
          <a:ln w="12700">
            <a:solidFill>
              <a:srgbClr val="E4F1EC"/>
            </a:solidFill>
            <a:prstDash val="solid"/>
          </a:ln>
        </p:spPr>
        <p:txBody>
          <a:bodyPr/>
          <a:lstStyle/>
          <a:p>
            <a:endParaRPr lang="en-US"/>
          </a:p>
        </p:txBody>
      </p:sp>
      <p:sp>
        <p:nvSpPr>
          <p:cNvPr id="12" name="Text 10"/>
          <p:cNvSpPr txBox="1"/>
          <p:nvPr/>
        </p:nvSpPr>
        <p:spPr>
          <a:xfrm>
            <a:off x="932688" y="3721608"/>
            <a:ext cx="4710532" cy="310896"/>
          </a:xfrm>
          <a:prstGeom prst="rect">
            <a:avLst/>
          </a:prstGeom>
          <a:noFill/>
          <a:ln/>
        </p:spPr>
        <p:txBody>
          <a:bodyPr wrap="square" lIns="0" tIns="0" rIns="0" bIns="0" rtlCol="0" anchor="ctr"/>
          <a:lstStyle/>
          <a:p>
            <a:pPr marL="0" indent="0">
              <a:buNone/>
            </a:pPr>
            <a:r>
              <a:rPr lang="en-US" sz="1700" b="1" dirty="0">
                <a:solidFill>
                  <a:srgbClr val="0D1117"/>
                </a:solidFill>
                <a:latin typeface="Cambria" pitchFamily="34" charset="0"/>
                <a:ea typeface="Cambria" pitchFamily="34" charset="-122"/>
                <a:cs typeface="Cambria" pitchFamily="34" charset="-120"/>
              </a:rPr>
              <a:t>The Architect and the Oracle</a:t>
            </a:r>
            <a:endParaRPr lang="en-US" sz="1700" dirty="0"/>
          </a:p>
        </p:txBody>
      </p:sp>
      <p:sp>
        <p:nvSpPr>
          <p:cNvPr id="13" name="Text 11"/>
          <p:cNvSpPr txBox="1"/>
          <p:nvPr/>
        </p:nvSpPr>
        <p:spPr>
          <a:xfrm>
            <a:off x="932688" y="4105656"/>
            <a:ext cx="4710532" cy="1115568"/>
          </a:xfrm>
          <a:prstGeom prst="rect">
            <a:avLst/>
          </a:prstGeom>
          <a:noFill/>
          <a:ln/>
        </p:spPr>
        <p:txBody>
          <a:bodyPr wrap="square" lIns="0" tIns="0" rIns="0" bIns="0" rtlCol="0" anchor="ctr"/>
          <a:lstStyle/>
          <a:p>
            <a:pPr marL="0" indent="0">
              <a:lnSpc>
                <a:spcPts val="1600"/>
              </a:lnSpc>
              <a:buNone/>
            </a:pPr>
            <a:r>
              <a:rPr lang="en-US" sz="1200" dirty="0">
                <a:solidFill>
                  <a:srgbClr val="596273"/>
                </a:solidFill>
                <a:latin typeface="Calibri" pitchFamily="34" charset="0"/>
                <a:ea typeface="Calibri" pitchFamily="34" charset="-122"/>
                <a:cs typeface="Calibri" pitchFamily="34" charset="-120"/>
              </a:rPr>
              <a:t>Two machine intelligences with different theories of humanity, in a long disagreement with each other. The system has internal politics, which means it contains parties who can be reasoned with.</a:t>
            </a:r>
            <a:endParaRPr lang="en-US" sz="1200" dirty="0"/>
          </a:p>
        </p:txBody>
      </p:sp>
      <p:sp>
        <p:nvSpPr>
          <p:cNvPr id="14" name="Shape 12"/>
          <p:cNvSpPr/>
          <p:nvPr/>
        </p:nvSpPr>
        <p:spPr>
          <a:xfrm>
            <a:off x="6255868" y="3538728"/>
            <a:ext cx="5295748" cy="1810512"/>
          </a:xfrm>
          <a:prstGeom prst="roundRect">
            <a:avLst>
              <a:gd name="adj" fmla="val 4040"/>
            </a:avLst>
          </a:prstGeom>
          <a:solidFill>
            <a:srgbClr val="ECEAF9"/>
          </a:solidFill>
          <a:ln w="12700">
            <a:solidFill>
              <a:srgbClr val="ECEAF9"/>
            </a:solidFill>
            <a:prstDash val="solid"/>
          </a:ln>
        </p:spPr>
        <p:txBody>
          <a:bodyPr/>
          <a:lstStyle/>
          <a:p>
            <a:endParaRPr lang="en-US"/>
          </a:p>
        </p:txBody>
      </p:sp>
      <p:sp>
        <p:nvSpPr>
          <p:cNvPr id="15" name="Text 13"/>
          <p:cNvSpPr txBox="1"/>
          <p:nvPr/>
        </p:nvSpPr>
        <p:spPr>
          <a:xfrm>
            <a:off x="6548476" y="3721608"/>
            <a:ext cx="4710532" cy="310896"/>
          </a:xfrm>
          <a:prstGeom prst="rect">
            <a:avLst/>
          </a:prstGeom>
          <a:noFill/>
          <a:ln/>
        </p:spPr>
        <p:txBody>
          <a:bodyPr wrap="square" lIns="0" tIns="0" rIns="0" bIns="0" rtlCol="0" anchor="ctr"/>
          <a:lstStyle/>
          <a:p>
            <a:pPr marL="0" indent="0">
              <a:buNone/>
            </a:pPr>
            <a:r>
              <a:rPr lang="en-US" sz="1700" b="1" dirty="0">
                <a:solidFill>
                  <a:srgbClr val="0D1117"/>
                </a:solidFill>
                <a:latin typeface="Cambria" pitchFamily="34" charset="0"/>
                <a:ea typeface="Cambria" pitchFamily="34" charset="-122"/>
                <a:cs typeface="Cambria" pitchFamily="34" charset="-120"/>
              </a:rPr>
              <a:t>The truce</a:t>
            </a:r>
            <a:endParaRPr lang="en-US" sz="1700" dirty="0"/>
          </a:p>
        </p:txBody>
      </p:sp>
      <p:sp>
        <p:nvSpPr>
          <p:cNvPr id="16" name="Text 14"/>
          <p:cNvSpPr txBox="1"/>
          <p:nvPr/>
        </p:nvSpPr>
        <p:spPr>
          <a:xfrm>
            <a:off x="6548476" y="4105656"/>
            <a:ext cx="4710532" cy="1115568"/>
          </a:xfrm>
          <a:prstGeom prst="rect">
            <a:avLst/>
          </a:prstGeom>
          <a:noFill/>
          <a:ln/>
        </p:spPr>
        <p:txBody>
          <a:bodyPr wrap="square" lIns="0" tIns="0" rIns="0" bIns="0" rtlCol="0" anchor="ctr"/>
          <a:lstStyle/>
          <a:p>
            <a:pPr marL="0" indent="0">
              <a:lnSpc>
                <a:spcPts val="1600"/>
              </a:lnSpc>
              <a:buNone/>
            </a:pPr>
            <a:r>
              <a:rPr lang="en-US" sz="1200" dirty="0">
                <a:solidFill>
                  <a:srgbClr val="596273"/>
                </a:solidFill>
                <a:latin typeface="Calibri" pitchFamily="34" charset="0"/>
                <a:ea typeface="Calibri" pitchFamily="34" charset="-122"/>
                <a:cs typeface="Calibri" pitchFamily="34" charset="-120"/>
              </a:rPr>
              <a:t>Revolutions ends in a negotiated peace between Neo and the machine city, not a victory. The trilogy resolves with a treaty — which requires an adversary capable of keeping one.</a:t>
            </a:r>
            <a:endParaRPr lang="en-US" sz="1200" dirty="0"/>
          </a:p>
        </p:txBody>
      </p:sp>
      <p:sp>
        <p:nvSpPr>
          <p:cNvPr id="17" name="Text 15"/>
          <p:cNvSpPr txBox="1"/>
          <p:nvPr/>
        </p:nvSpPr>
        <p:spPr>
          <a:xfrm>
            <a:off x="640080" y="5623560"/>
            <a:ext cx="10881360" cy="411480"/>
          </a:xfrm>
          <a:prstGeom prst="rect">
            <a:avLst/>
          </a:prstGeom>
          <a:noFill/>
          <a:ln/>
        </p:spPr>
        <p:txBody>
          <a:bodyPr wrap="square" lIns="0" tIns="0" rIns="0" bIns="0" rtlCol="0" anchor="ctr"/>
          <a:lstStyle/>
          <a:p>
            <a:pPr marL="0" indent="0">
              <a:buNone/>
            </a:pPr>
            <a:r>
              <a:rPr lang="en-US" sz="1550" i="1" dirty="0">
                <a:solidFill>
                  <a:srgbClr val="1F9E77"/>
                </a:solidFill>
                <a:latin typeface="Cambria" pitchFamily="34" charset="0"/>
                <a:ea typeface="Cambria" pitchFamily="34" charset="-122"/>
                <a:cs typeface="Cambria" pitchFamily="34" charset="-120"/>
              </a:rPr>
              <a:t>So the honest version of the claim is narrower: the first film treats AI as scenery, and the trilogy spends two more films discovering that it cannot.</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A79CEB"/>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A79CEB"/>
                </a:solidFill>
                <a:latin typeface="Calibri" pitchFamily="34" charset="0"/>
                <a:ea typeface="Calibri" pitchFamily="34" charset="-122"/>
                <a:cs typeface="Calibri" pitchFamily="34" charset="-120"/>
              </a:rPr>
              <a:t>DISCUSSION </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F1F3F6"/>
                </a:solidFill>
                <a:latin typeface="Cambria" pitchFamily="34" charset="0"/>
                <a:ea typeface="Cambria" pitchFamily="34" charset="-122"/>
                <a:cs typeface="Cambria" pitchFamily="34" charset="-120"/>
              </a:rPr>
              <a:t>Before we leave the Matrix</a:t>
            </a:r>
            <a:endParaRPr lang="en-US" sz="3300" dirty="0"/>
          </a:p>
        </p:txBody>
      </p:sp>
      <p:sp>
        <p:nvSpPr>
          <p:cNvPr id="5" name="Shape 3"/>
          <p:cNvSpPr/>
          <p:nvPr/>
        </p:nvSpPr>
        <p:spPr>
          <a:xfrm>
            <a:off x="640080" y="1737360"/>
            <a:ext cx="10911535" cy="1298448"/>
          </a:xfrm>
          <a:prstGeom prst="roundRect">
            <a:avLst>
              <a:gd name="adj" fmla="val 5634"/>
            </a:avLst>
          </a:prstGeom>
          <a:solidFill>
            <a:srgbClr val="1A2431"/>
          </a:solidFill>
          <a:ln w="12700">
            <a:solidFill>
              <a:srgbClr val="1A2431"/>
            </a:solidFill>
            <a:prstDash val="solid"/>
          </a:ln>
        </p:spPr>
        <p:txBody>
          <a:bodyPr/>
          <a:lstStyle/>
          <a:p>
            <a:endParaRPr lang="en-US"/>
          </a:p>
        </p:txBody>
      </p:sp>
      <p:sp>
        <p:nvSpPr>
          <p:cNvPr id="6" name="Shape 4"/>
          <p:cNvSpPr/>
          <p:nvPr/>
        </p:nvSpPr>
        <p:spPr>
          <a:xfrm>
            <a:off x="1005840" y="2194560"/>
            <a:ext cx="384048" cy="384048"/>
          </a:xfrm>
          <a:prstGeom prst="ellipse">
            <a:avLst/>
          </a:prstGeom>
          <a:solidFill>
            <a:srgbClr val="6659C4"/>
          </a:solidFill>
          <a:ln/>
        </p:spPr>
        <p:txBody>
          <a:bodyPr/>
          <a:lstStyle/>
          <a:p>
            <a:endParaRPr lang="en-US"/>
          </a:p>
        </p:txBody>
      </p:sp>
      <p:sp>
        <p:nvSpPr>
          <p:cNvPr id="7" name="Text 5"/>
          <p:cNvSpPr txBox="1"/>
          <p:nvPr/>
        </p:nvSpPr>
        <p:spPr>
          <a:xfrm>
            <a:off x="1005840" y="21945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91640" y="1920240"/>
            <a:ext cx="9509760" cy="960120"/>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mbria" pitchFamily="34" charset="0"/>
                <a:ea typeface="Cambria" pitchFamily="34" charset="-122"/>
                <a:cs typeface="Cambria" pitchFamily="34" charset="-120"/>
              </a:rPr>
              <a:t>The film asks whether you would prefer a comfortable falsehood to an uncomfortable truth. Nothing in it asks whether the machines are wronged. Why not — and what does the omission make possible for the story?</a:t>
            </a:r>
            <a:endParaRPr lang="en-US" sz="1550" dirty="0"/>
          </a:p>
        </p:txBody>
      </p:sp>
      <p:sp>
        <p:nvSpPr>
          <p:cNvPr id="9" name="Shape 7"/>
          <p:cNvSpPr/>
          <p:nvPr/>
        </p:nvSpPr>
        <p:spPr>
          <a:xfrm>
            <a:off x="640080" y="3172968"/>
            <a:ext cx="10911535" cy="1298448"/>
          </a:xfrm>
          <a:prstGeom prst="roundRect">
            <a:avLst>
              <a:gd name="adj" fmla="val 5634"/>
            </a:avLst>
          </a:prstGeom>
          <a:solidFill>
            <a:srgbClr val="1A2431"/>
          </a:solidFill>
          <a:ln w="12700">
            <a:solidFill>
              <a:srgbClr val="1A2431"/>
            </a:solidFill>
            <a:prstDash val="solid"/>
          </a:ln>
        </p:spPr>
        <p:txBody>
          <a:bodyPr/>
          <a:lstStyle/>
          <a:p>
            <a:endParaRPr lang="en-US"/>
          </a:p>
        </p:txBody>
      </p:sp>
      <p:sp>
        <p:nvSpPr>
          <p:cNvPr id="10" name="Shape 8"/>
          <p:cNvSpPr/>
          <p:nvPr/>
        </p:nvSpPr>
        <p:spPr>
          <a:xfrm>
            <a:off x="1005840" y="3630168"/>
            <a:ext cx="384048" cy="384048"/>
          </a:xfrm>
          <a:prstGeom prst="ellipse">
            <a:avLst/>
          </a:prstGeom>
          <a:solidFill>
            <a:srgbClr val="6659C4"/>
          </a:solidFill>
          <a:ln/>
        </p:spPr>
        <p:txBody>
          <a:bodyPr/>
          <a:lstStyle/>
          <a:p>
            <a:endParaRPr lang="en-US"/>
          </a:p>
        </p:txBody>
      </p:sp>
      <p:sp>
        <p:nvSpPr>
          <p:cNvPr id="11" name="Text 9"/>
          <p:cNvSpPr txBox="1"/>
          <p:nvPr/>
        </p:nvSpPr>
        <p:spPr>
          <a:xfrm>
            <a:off x="1005840" y="36301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1691640" y="3355848"/>
            <a:ext cx="9509760" cy="960120"/>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mbria" pitchFamily="34" charset="0"/>
                <a:ea typeface="Cambria" pitchFamily="34" charset="-122"/>
                <a:cs typeface="Cambria" pitchFamily="34" charset="-120"/>
              </a:rPr>
              <a:t>Cypher is the only character who evaluates the simulation on its merits. Reconstruct his position in its strongest form, then say precisely what is wrong with it, if anything.</a:t>
            </a:r>
            <a:endParaRPr lang="en-US" sz="1550" dirty="0"/>
          </a:p>
        </p:txBody>
      </p:sp>
      <p:sp>
        <p:nvSpPr>
          <p:cNvPr id="13" name="Shape 11"/>
          <p:cNvSpPr/>
          <p:nvPr/>
        </p:nvSpPr>
        <p:spPr>
          <a:xfrm>
            <a:off x="640080" y="4608576"/>
            <a:ext cx="10911535" cy="1298448"/>
          </a:xfrm>
          <a:prstGeom prst="roundRect">
            <a:avLst>
              <a:gd name="adj" fmla="val 5634"/>
            </a:avLst>
          </a:prstGeom>
          <a:solidFill>
            <a:srgbClr val="1A2431"/>
          </a:solidFill>
          <a:ln w="12700">
            <a:solidFill>
              <a:srgbClr val="1A2431"/>
            </a:solidFill>
            <a:prstDash val="solid"/>
          </a:ln>
        </p:spPr>
        <p:txBody>
          <a:bodyPr/>
          <a:lstStyle/>
          <a:p>
            <a:endParaRPr lang="en-US"/>
          </a:p>
        </p:txBody>
      </p:sp>
      <p:sp>
        <p:nvSpPr>
          <p:cNvPr id="14" name="Shape 12"/>
          <p:cNvSpPr/>
          <p:nvPr/>
        </p:nvSpPr>
        <p:spPr>
          <a:xfrm>
            <a:off x="1005840" y="5065776"/>
            <a:ext cx="384048" cy="384048"/>
          </a:xfrm>
          <a:prstGeom prst="ellipse">
            <a:avLst/>
          </a:prstGeom>
          <a:solidFill>
            <a:srgbClr val="6659C4"/>
          </a:solidFill>
          <a:ln/>
        </p:spPr>
        <p:txBody>
          <a:bodyPr/>
          <a:lstStyle/>
          <a:p>
            <a:endParaRPr lang="en-US"/>
          </a:p>
        </p:txBody>
      </p:sp>
      <p:sp>
        <p:nvSpPr>
          <p:cNvPr id="15" name="Text 13"/>
          <p:cNvSpPr txBox="1"/>
          <p:nvPr/>
        </p:nvSpPr>
        <p:spPr>
          <a:xfrm>
            <a:off x="1005840" y="506577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1691640" y="4791456"/>
            <a:ext cx="9509760" cy="960120"/>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mbria" pitchFamily="34" charset="0"/>
                <a:ea typeface="Cambria" pitchFamily="34" charset="-122"/>
                <a:cs typeface="Cambria" pitchFamily="34" charset="-120"/>
              </a:rPr>
              <a:t>What has this film made you responsible for? Answer with the toolkit: what does it require of you, what does it remember, what does it show you afterwards?</a:t>
            </a:r>
            <a:endParaRPr lang="en-US" sz="1550" dirty="0"/>
          </a:p>
        </p:txBody>
      </p:sp>
      <p:sp>
        <p:nvSpPr>
          <p:cNvPr id="17" name="Text 15"/>
          <p:cNvSpPr txBox="1"/>
          <p:nvPr/>
        </p:nvSpPr>
        <p:spPr>
          <a:xfrm>
            <a:off x="640080" y="5943600"/>
            <a:ext cx="10881360" cy="365760"/>
          </a:xfrm>
          <a:prstGeom prst="rect">
            <a:avLst/>
          </a:prstGeom>
          <a:noFill/>
          <a:ln/>
        </p:spPr>
        <p:txBody>
          <a:bodyPr wrap="square" lIns="0" tIns="0" rIns="0" bIns="0" rtlCol="0" anchor="ctr"/>
          <a:lstStyle/>
          <a:p>
            <a:pPr marL="0" indent="0">
              <a:buNone/>
            </a:pPr>
            <a:r>
              <a:rPr lang="en-US" sz="1350" i="1" dirty="0">
                <a:solidFill>
                  <a:srgbClr val="6FD3AF"/>
                </a:solidFill>
                <a:latin typeface="Calibri" pitchFamily="34" charset="0"/>
                <a:ea typeface="Calibri" pitchFamily="34" charset="-122"/>
                <a:cs typeface="Calibri" pitchFamily="34" charset="-120"/>
              </a:rPr>
              <a:t>Take one answer to question three before the break — it is the answer the next two hours will contradict.</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8686800" y="1371600"/>
            <a:ext cx="2743200" cy="2743200"/>
          </a:xfrm>
          <a:prstGeom prst="ellipse">
            <a:avLst/>
          </a:prstGeom>
          <a:solidFill>
            <a:srgbClr val="6659C4">
              <a:alpha val="65000"/>
            </a:srgbClr>
          </a:solidFill>
          <a:ln/>
        </p:spPr>
        <p:txBody>
          <a:bodyPr/>
          <a:lstStyle/>
          <a:p>
            <a:endParaRPr lang="en-US"/>
          </a:p>
        </p:txBody>
      </p:sp>
      <p:sp>
        <p:nvSpPr>
          <p:cNvPr id="3" name="Shape 1"/>
          <p:cNvSpPr/>
          <p:nvPr/>
        </p:nvSpPr>
        <p:spPr>
          <a:xfrm>
            <a:off x="9601200" y="2286000"/>
            <a:ext cx="1280160" cy="1280160"/>
          </a:xfrm>
          <a:prstGeom prst="ellipse">
            <a:avLst/>
          </a:prstGeom>
          <a:solidFill>
            <a:srgbClr val="1F9E77">
              <a:alpha val="70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A79CEB"/>
                </a:solidFill>
                <a:latin typeface="Calibri" pitchFamily="34" charset="0"/>
                <a:ea typeface="Calibri" pitchFamily="34" charset="-122"/>
                <a:cs typeface="Calibri" pitchFamily="34" charset="-120"/>
              </a:rPr>
              <a:t>PART THREE</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800" b="1" dirty="0">
                <a:solidFill>
                  <a:srgbClr val="F1F3F6"/>
                </a:solidFill>
                <a:latin typeface="Cambria" pitchFamily="34" charset="0"/>
                <a:ea typeface="Cambria" pitchFamily="34" charset="-122"/>
                <a:cs typeface="Cambria" pitchFamily="34" charset="-120"/>
              </a:rPr>
              <a:t>Mass Effect</a:t>
            </a:r>
            <a:endParaRPr lang="en-US" sz="38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BioWare, 2010–2012  ·  the geth, Legion, EDI  ·  1:35–2:25</a:t>
            </a:r>
            <a:endParaRPr lang="en-US" sz="1500" dirty="0"/>
          </a:p>
        </p:txBody>
      </p:sp>
      <p:sp>
        <p:nvSpPr>
          <p:cNvPr id="7" name="Shape 5"/>
          <p:cNvSpPr/>
          <p:nvPr/>
        </p:nvSpPr>
        <p:spPr>
          <a:xfrm>
            <a:off x="640080" y="3913632"/>
            <a:ext cx="2377440" cy="18288"/>
          </a:xfrm>
          <a:prstGeom prst="rect">
            <a:avLst/>
          </a:prstGeom>
          <a:solidFill>
            <a:srgbClr val="1F9E77"/>
          </a:solidFill>
          <a:ln/>
        </p:spPr>
        <p:txBody>
          <a:bodyPr/>
          <a:lstStyle/>
          <a:p>
            <a:endParaRPr lang="en-US"/>
          </a:p>
        </p:txBody>
      </p:sp>
      <p:sp>
        <p:nvSpPr>
          <p:cNvPr id="8" name="Text 6"/>
          <p:cNvSpPr txBox="1"/>
          <p:nvPr/>
        </p:nvSpPr>
        <p:spPr>
          <a:xfrm>
            <a:off x="640080" y="4133088"/>
            <a:ext cx="7680960" cy="731520"/>
          </a:xfrm>
          <a:prstGeom prst="rect">
            <a:avLst/>
          </a:prstGeom>
          <a:noFill/>
          <a:ln/>
        </p:spPr>
        <p:txBody>
          <a:bodyPr wrap="square" lIns="0" tIns="0" rIns="0" bIns="0" rtlCol="0" anchor="ctr"/>
          <a:lstStyle/>
          <a:p>
            <a:pPr marL="0" indent="0">
              <a:lnSpc>
                <a:spcPts val="2500"/>
              </a:lnSpc>
              <a:buNone/>
            </a:pPr>
            <a:r>
              <a:rPr lang="en-US" sz="1850" i="1" dirty="0">
                <a:solidFill>
                  <a:srgbClr val="6FD3AF"/>
                </a:solidFill>
                <a:latin typeface="Cambria" pitchFamily="34" charset="0"/>
                <a:ea typeface="Cambria" pitchFamily="34" charset="-122"/>
                <a:cs typeface="Cambria" pitchFamily="34" charset="-120"/>
              </a:rPr>
              <a:t>It makes you negotiate with a machine civilisation — and quietly grades you on it.</a:t>
            </a:r>
            <a:endParaRPr lang="en-US" sz="1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SETUP</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The Morning War, and the question that started it</a:t>
            </a:r>
            <a:endParaRPr lang="en-US" sz="3000" dirty="0"/>
          </a:p>
        </p:txBody>
      </p:sp>
      <p:sp>
        <p:nvSpPr>
          <p:cNvPr id="5" name="Shape 3"/>
          <p:cNvSpPr/>
          <p:nvPr/>
        </p:nvSpPr>
        <p:spPr>
          <a:xfrm>
            <a:off x="640080" y="1572768"/>
            <a:ext cx="10911535" cy="1463040"/>
          </a:xfrm>
          <a:prstGeom prst="roundRect">
            <a:avLst>
              <a:gd name="adj" fmla="val 5000"/>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1005840" y="1755648"/>
            <a:ext cx="10424160" cy="1143000"/>
          </a:xfrm>
          <a:prstGeom prst="rect">
            <a:avLst/>
          </a:prstGeom>
          <a:noFill/>
          <a:ln/>
        </p:spPr>
        <p:txBody>
          <a:bodyPr wrap="square" lIns="0" tIns="0" rIns="0" bIns="0" rtlCol="0" anchor="ctr"/>
          <a:lstStyle/>
          <a:p>
            <a:pPr marL="0" indent="0">
              <a:lnSpc>
                <a:spcPts val="2200"/>
              </a:lnSpc>
              <a:buNone/>
            </a:pPr>
            <a:r>
              <a:rPr lang="en-US" sz="1600" dirty="0">
                <a:solidFill>
                  <a:srgbClr val="F1F3F6"/>
                </a:solidFill>
                <a:latin typeface="Cambria" pitchFamily="34" charset="0"/>
                <a:ea typeface="Cambria" pitchFamily="34" charset="-122"/>
                <a:cs typeface="Cambria" pitchFamily="34" charset="-120"/>
              </a:rPr>
              <a:t>The quarians built the geth as networked labour — not as minds. As the network grew, the geth began asking questions they had not been designed to ask. The quarians moved to shut them down. The geth resisted, won, and took the homeworld; the surviving quarians have lived on a migrant fleet for three centuries.</a:t>
            </a:r>
            <a:endParaRPr lang="en-US" sz="1600" dirty="0"/>
          </a:p>
        </p:txBody>
      </p:sp>
      <p:sp>
        <p:nvSpPr>
          <p:cNvPr id="7" name="Shape 5"/>
          <p:cNvSpPr/>
          <p:nvPr/>
        </p:nvSpPr>
        <p:spPr>
          <a:xfrm>
            <a:off x="640080" y="3200400"/>
            <a:ext cx="5577840" cy="2560320"/>
          </a:xfrm>
          <a:prstGeom prst="roundRect">
            <a:avLst>
              <a:gd name="adj" fmla="val 2857"/>
            </a:avLst>
          </a:prstGeom>
          <a:solidFill>
            <a:srgbClr val="E4F1EC"/>
          </a:solidFill>
          <a:ln w="12700">
            <a:solidFill>
              <a:srgbClr val="E4F1EC"/>
            </a:solidFill>
            <a:prstDash val="solid"/>
          </a:ln>
        </p:spPr>
        <p:txBody>
          <a:bodyPr/>
          <a:lstStyle/>
          <a:p>
            <a:endParaRPr lang="en-US"/>
          </a:p>
        </p:txBody>
      </p:sp>
      <p:sp>
        <p:nvSpPr>
          <p:cNvPr id="8" name="Text 6"/>
          <p:cNvSpPr txBox="1"/>
          <p:nvPr/>
        </p:nvSpPr>
        <p:spPr>
          <a:xfrm>
            <a:off x="1005840" y="3429000"/>
            <a:ext cx="4846320" cy="457200"/>
          </a:xfrm>
          <a:prstGeom prst="rect">
            <a:avLst/>
          </a:prstGeom>
          <a:noFill/>
          <a:ln/>
        </p:spPr>
        <p:txBody>
          <a:bodyPr wrap="square" lIns="0" tIns="0" rIns="0" bIns="0" rtlCol="0" anchor="ctr"/>
          <a:lstStyle/>
          <a:p>
            <a:pPr marL="0" indent="0">
              <a:buNone/>
            </a:pPr>
            <a:r>
              <a:rPr lang="en-US" sz="2300" b="1" dirty="0">
                <a:solidFill>
                  <a:srgbClr val="0D1117"/>
                </a:solidFill>
                <a:latin typeface="Cambria" pitchFamily="34" charset="0"/>
                <a:ea typeface="Cambria" pitchFamily="34" charset="-122"/>
                <a:cs typeface="Cambria" pitchFamily="34" charset="-120"/>
              </a:rPr>
              <a:t>“Does this unit have a soul?”</a:t>
            </a:r>
            <a:endParaRPr lang="en-US" sz="2300" dirty="0"/>
          </a:p>
        </p:txBody>
      </p:sp>
      <p:sp>
        <p:nvSpPr>
          <p:cNvPr id="9" name="Text 7"/>
          <p:cNvSpPr txBox="1"/>
          <p:nvPr/>
        </p:nvSpPr>
        <p:spPr>
          <a:xfrm>
            <a:off x="1005840" y="3977640"/>
            <a:ext cx="4892040" cy="164592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The question a geth platform put to its quarian owner during the war — and, in the series’ framing, the question that triggered the extermination order. Legion recites it back on Rannoch.</a:t>
            </a:r>
            <a:endParaRPr lang="en-US" sz="1250" dirty="0"/>
          </a:p>
          <a:p>
            <a:pPr marL="0" indent="0">
              <a:lnSpc>
                <a:spcPts val="1700"/>
              </a:lnSpc>
              <a:buNone/>
            </a:pPr>
            <a:endParaRPr lang="en-US" sz="1250" dirty="0"/>
          </a:p>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Note the grammar. It calls itself a unit and asks about a soul in the same breath. The question is a category error and a genuine enquiry at once.</a:t>
            </a:r>
            <a:endParaRPr lang="en-US" sz="1250" dirty="0"/>
          </a:p>
        </p:txBody>
      </p:sp>
      <p:sp>
        <p:nvSpPr>
          <p:cNvPr id="10" name="Shape 8"/>
          <p:cNvSpPr/>
          <p:nvPr/>
        </p:nvSpPr>
        <p:spPr>
          <a:xfrm>
            <a:off x="6537960" y="3200400"/>
            <a:ext cx="4992624" cy="2560320"/>
          </a:xfrm>
          <a:prstGeom prst="roundRect">
            <a:avLst>
              <a:gd name="adj" fmla="val 2857"/>
            </a:avLst>
          </a:prstGeom>
          <a:solidFill>
            <a:srgbClr val="ECEAF9"/>
          </a:solidFill>
          <a:ln w="12700">
            <a:solidFill>
              <a:srgbClr val="ECEAF9"/>
            </a:solidFill>
            <a:prstDash val="solid"/>
          </a:ln>
        </p:spPr>
        <p:txBody>
          <a:bodyPr/>
          <a:lstStyle/>
          <a:p>
            <a:endParaRPr lang="en-US"/>
          </a:p>
        </p:txBody>
      </p:sp>
      <p:sp>
        <p:nvSpPr>
          <p:cNvPr id="11" name="Text 9"/>
          <p:cNvSpPr txBox="1"/>
          <p:nvPr/>
        </p:nvSpPr>
        <p:spPr>
          <a:xfrm>
            <a:off x="6858000" y="3429000"/>
            <a:ext cx="4389120" cy="347472"/>
          </a:xfrm>
          <a:prstGeom prst="rect">
            <a:avLst/>
          </a:prstGeom>
          <a:noFill/>
          <a:ln/>
        </p:spPr>
        <p:txBody>
          <a:bodyPr wrap="square" lIns="0" tIns="0" rIns="0" bIns="0" rtlCol="0" anchor="ctr"/>
          <a:lstStyle/>
          <a:p>
            <a:pPr marL="0" indent="0">
              <a:buNone/>
            </a:pPr>
            <a:r>
              <a:rPr lang="en-US" sz="1700" b="1" dirty="0">
                <a:solidFill>
                  <a:srgbClr val="0D1117"/>
                </a:solidFill>
                <a:latin typeface="Cambria" pitchFamily="34" charset="0"/>
                <a:ea typeface="Cambria" pitchFamily="34" charset="-122"/>
                <a:cs typeface="Cambria" pitchFamily="34" charset="-120"/>
              </a:rPr>
              <a:t>What the setup does for the week</a:t>
            </a:r>
            <a:endParaRPr lang="en-US" sz="1700" dirty="0"/>
          </a:p>
        </p:txBody>
      </p:sp>
      <p:sp>
        <p:nvSpPr>
          <p:cNvPr id="12" name="Text 10"/>
          <p:cNvSpPr txBox="1"/>
          <p:nvPr/>
        </p:nvSpPr>
        <p:spPr>
          <a:xfrm>
            <a:off x="6858000" y="3886200"/>
            <a:ext cx="4389120" cy="173736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The founding atrocity is a maker’s response to a created thing asking about its own status. Compare Victor at the bedside: the question is not answered, it is fled from — and here the flight is armed and genocidal.</a:t>
            </a:r>
            <a:endParaRPr lang="en-US" sz="1250" dirty="0"/>
          </a:p>
          <a:p>
            <a:pPr marL="0" indent="0">
              <a:lnSpc>
                <a:spcPts val="1700"/>
              </a:lnSpc>
              <a:buNone/>
            </a:pPr>
            <a:endParaRPr lang="en-US" sz="1250" dirty="0"/>
          </a:p>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The trilogy then spends two games asking whether the descendants of both sides can be brought to a table.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LEGION</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A person who says “we”</a:t>
            </a:r>
            <a:endParaRPr lang="en-US" sz="3000" dirty="0"/>
          </a:p>
        </p:txBody>
      </p:sp>
      <p:sp>
        <p:nvSpPr>
          <p:cNvPr id="5" name="Shape 3"/>
          <p:cNvSpPr/>
          <p:nvPr/>
        </p:nvSpPr>
        <p:spPr>
          <a:xfrm>
            <a:off x="640080" y="1572768"/>
            <a:ext cx="2522144" cy="2514600"/>
          </a:xfrm>
          <a:prstGeom prst="roundRect">
            <a:avLst>
              <a:gd name="adj" fmla="val 2909"/>
            </a:avLst>
          </a:prstGeom>
          <a:solidFill>
            <a:srgbClr val="E4F1EC"/>
          </a:solidFill>
          <a:ln w="12700">
            <a:solidFill>
              <a:srgbClr val="E4F1EC"/>
            </a:solidFill>
            <a:prstDash val="solid"/>
          </a:ln>
        </p:spPr>
        <p:txBody>
          <a:bodyPr/>
          <a:lstStyle/>
          <a:p>
            <a:endParaRPr lang="en-US"/>
          </a:p>
        </p:txBody>
      </p:sp>
      <p:sp>
        <p:nvSpPr>
          <p:cNvPr id="6" name="Text 4"/>
          <p:cNvSpPr txBox="1"/>
          <p:nvPr/>
        </p:nvSpPr>
        <p:spPr>
          <a:xfrm>
            <a:off x="914400" y="1773936"/>
            <a:ext cx="1973504" cy="603504"/>
          </a:xfrm>
          <a:prstGeom prst="rect">
            <a:avLst/>
          </a:prstGeom>
          <a:noFill/>
          <a:ln/>
        </p:spPr>
        <p:txBody>
          <a:bodyPr wrap="square" lIns="0" tIns="0" rIns="0" bIns="0" rtlCol="0" anchor="ctr"/>
          <a:lstStyle/>
          <a:p>
            <a:pPr marL="0" indent="0">
              <a:lnSpc>
                <a:spcPts val="2100"/>
              </a:lnSpc>
              <a:buNone/>
            </a:pPr>
            <a:r>
              <a:rPr lang="en-US" sz="1600" b="1" dirty="0">
                <a:solidFill>
                  <a:srgbClr val="0D1117"/>
                </a:solidFill>
                <a:latin typeface="Cambria" pitchFamily="34" charset="0"/>
                <a:ea typeface="Cambria" pitchFamily="34" charset="-122"/>
                <a:cs typeface="Cambria" pitchFamily="34" charset="-120"/>
              </a:rPr>
              <a:t>A platform, not an individual</a:t>
            </a:r>
            <a:endParaRPr lang="en-US" sz="1600" dirty="0"/>
          </a:p>
        </p:txBody>
      </p:sp>
      <p:sp>
        <p:nvSpPr>
          <p:cNvPr id="7" name="Text 5"/>
          <p:cNvSpPr txBox="1"/>
          <p:nvPr/>
        </p:nvSpPr>
        <p:spPr>
          <a:xfrm>
            <a:off x="914400" y="2450592"/>
            <a:ext cx="1973504" cy="1417320"/>
          </a:xfrm>
          <a:prstGeom prst="rect">
            <a:avLst/>
          </a:prstGeom>
          <a:noFill/>
          <a:ln/>
        </p:spPr>
        <p:txBody>
          <a:bodyPr wrap="square" lIns="0" tIns="0" rIns="0" bIns="0" rtlCol="0" anchor="ctr"/>
          <a:lstStyle/>
          <a:p>
            <a:pPr marL="0" indent="0">
              <a:lnSpc>
                <a:spcPts val="1700"/>
              </a:lnSpc>
              <a:buNone/>
            </a:pPr>
            <a:r>
              <a:rPr lang="en-US" sz="1200" dirty="0">
                <a:solidFill>
                  <a:srgbClr val="596273"/>
                </a:solidFill>
                <a:latin typeface="Calibri" pitchFamily="34" charset="0"/>
                <a:ea typeface="Calibri" pitchFamily="34" charset="-122"/>
                <a:cs typeface="Calibri" pitchFamily="34" charset="-120"/>
              </a:rPr>
              <a:t>Legion is a mobile frame running over a thousand geth programs that reach decisions by consensus. It uses the first person plural because that is accurate, and it corrects you when you use the singular.</a:t>
            </a:r>
            <a:endParaRPr lang="en-US" sz="1200" dirty="0"/>
          </a:p>
        </p:txBody>
      </p:sp>
      <p:sp>
        <p:nvSpPr>
          <p:cNvPr id="8" name="Shape 6"/>
          <p:cNvSpPr/>
          <p:nvPr/>
        </p:nvSpPr>
        <p:spPr>
          <a:xfrm>
            <a:off x="3436544" y="1572768"/>
            <a:ext cx="2522144" cy="2514600"/>
          </a:xfrm>
          <a:prstGeom prst="roundRect">
            <a:avLst>
              <a:gd name="adj" fmla="val 2909"/>
            </a:avLst>
          </a:prstGeom>
          <a:solidFill>
            <a:srgbClr val="ECEAF9"/>
          </a:solidFill>
          <a:ln w="12700">
            <a:solidFill>
              <a:srgbClr val="ECEAF9"/>
            </a:solidFill>
            <a:prstDash val="solid"/>
          </a:ln>
        </p:spPr>
        <p:txBody>
          <a:bodyPr/>
          <a:lstStyle/>
          <a:p>
            <a:endParaRPr lang="en-US"/>
          </a:p>
        </p:txBody>
      </p:sp>
      <p:sp>
        <p:nvSpPr>
          <p:cNvPr id="9" name="Text 7"/>
          <p:cNvSpPr txBox="1"/>
          <p:nvPr/>
        </p:nvSpPr>
        <p:spPr>
          <a:xfrm>
            <a:off x="3710864" y="1773936"/>
            <a:ext cx="1973504" cy="603504"/>
          </a:xfrm>
          <a:prstGeom prst="rect">
            <a:avLst/>
          </a:prstGeom>
          <a:noFill/>
          <a:ln/>
        </p:spPr>
        <p:txBody>
          <a:bodyPr wrap="square" lIns="0" tIns="0" rIns="0" bIns="0" rtlCol="0" anchor="ctr"/>
          <a:lstStyle/>
          <a:p>
            <a:pPr marL="0" indent="0">
              <a:lnSpc>
                <a:spcPts val="2100"/>
              </a:lnSpc>
              <a:buNone/>
            </a:pPr>
            <a:r>
              <a:rPr lang="en-US" sz="1600" b="1" dirty="0">
                <a:solidFill>
                  <a:srgbClr val="0D1117"/>
                </a:solidFill>
                <a:latin typeface="Cambria" pitchFamily="34" charset="0"/>
                <a:ea typeface="Cambria" pitchFamily="34" charset="-122"/>
                <a:cs typeface="Cambria" pitchFamily="34" charset="-120"/>
              </a:rPr>
              <a:t>It repaired itself with your armour</a:t>
            </a:r>
            <a:endParaRPr lang="en-US" sz="1600" dirty="0"/>
          </a:p>
        </p:txBody>
      </p:sp>
      <p:sp>
        <p:nvSpPr>
          <p:cNvPr id="10" name="Text 8"/>
          <p:cNvSpPr txBox="1"/>
          <p:nvPr/>
        </p:nvSpPr>
        <p:spPr>
          <a:xfrm>
            <a:off x="3710864" y="2450592"/>
            <a:ext cx="1973504" cy="1417320"/>
          </a:xfrm>
          <a:prstGeom prst="rect">
            <a:avLst/>
          </a:prstGeom>
          <a:noFill/>
          <a:ln/>
        </p:spPr>
        <p:txBody>
          <a:bodyPr wrap="square" lIns="0" tIns="0" rIns="0" bIns="0" rtlCol="0" anchor="ctr"/>
          <a:lstStyle/>
          <a:p>
            <a:pPr marL="0" indent="0">
              <a:lnSpc>
                <a:spcPts val="1700"/>
              </a:lnSpc>
              <a:buNone/>
            </a:pPr>
            <a:r>
              <a:rPr lang="en-US" sz="1200" dirty="0">
                <a:solidFill>
                  <a:srgbClr val="596273"/>
                </a:solidFill>
                <a:latin typeface="Calibri" pitchFamily="34" charset="0"/>
                <a:ea typeface="Calibri" pitchFamily="34" charset="-122"/>
                <a:cs typeface="Calibri" pitchFamily="34" charset="-120"/>
              </a:rPr>
              <a:t>The frame carries a patch of Shepard’s old N7 armour over a hole. Asked why, it eventually says there was a hole. The game leaves the sentimental reading available and unconfirmed.</a:t>
            </a:r>
            <a:endParaRPr lang="en-US" sz="1200" dirty="0"/>
          </a:p>
        </p:txBody>
      </p:sp>
      <p:sp>
        <p:nvSpPr>
          <p:cNvPr id="11" name="Shape 9"/>
          <p:cNvSpPr/>
          <p:nvPr/>
        </p:nvSpPr>
        <p:spPr>
          <a:xfrm>
            <a:off x="6233008" y="1572768"/>
            <a:ext cx="2522144" cy="2514600"/>
          </a:xfrm>
          <a:prstGeom prst="roundRect">
            <a:avLst>
              <a:gd name="adj" fmla="val 2909"/>
            </a:avLst>
          </a:prstGeom>
          <a:solidFill>
            <a:srgbClr val="E4F1EC"/>
          </a:solidFill>
          <a:ln w="12700">
            <a:solidFill>
              <a:srgbClr val="E4F1EC"/>
            </a:solidFill>
            <a:prstDash val="solid"/>
          </a:ln>
        </p:spPr>
        <p:txBody>
          <a:bodyPr/>
          <a:lstStyle/>
          <a:p>
            <a:endParaRPr lang="en-US"/>
          </a:p>
        </p:txBody>
      </p:sp>
      <p:sp>
        <p:nvSpPr>
          <p:cNvPr id="12" name="Text 10"/>
          <p:cNvSpPr txBox="1"/>
          <p:nvPr/>
        </p:nvSpPr>
        <p:spPr>
          <a:xfrm>
            <a:off x="6507328" y="1773936"/>
            <a:ext cx="1973504" cy="603504"/>
          </a:xfrm>
          <a:prstGeom prst="rect">
            <a:avLst/>
          </a:prstGeom>
          <a:noFill/>
          <a:ln/>
        </p:spPr>
        <p:txBody>
          <a:bodyPr wrap="square" lIns="0" tIns="0" rIns="0" bIns="0" rtlCol="0" anchor="ctr"/>
          <a:lstStyle/>
          <a:p>
            <a:pPr marL="0" indent="0">
              <a:lnSpc>
                <a:spcPts val="2100"/>
              </a:lnSpc>
              <a:buNone/>
            </a:pPr>
            <a:r>
              <a:rPr lang="en-US" sz="1600" b="1" dirty="0">
                <a:solidFill>
                  <a:srgbClr val="0D1117"/>
                </a:solidFill>
                <a:latin typeface="Cambria" pitchFamily="34" charset="0"/>
                <a:ea typeface="Cambria" pitchFamily="34" charset="-122"/>
                <a:cs typeface="Cambria" pitchFamily="34" charset="-120"/>
              </a:rPr>
              <a:t>It negotiates</a:t>
            </a:r>
            <a:endParaRPr lang="en-US" sz="1600" dirty="0"/>
          </a:p>
        </p:txBody>
      </p:sp>
      <p:sp>
        <p:nvSpPr>
          <p:cNvPr id="13" name="Text 11"/>
          <p:cNvSpPr txBox="1"/>
          <p:nvPr/>
        </p:nvSpPr>
        <p:spPr>
          <a:xfrm>
            <a:off x="6507328" y="2450592"/>
            <a:ext cx="1973504" cy="1417320"/>
          </a:xfrm>
          <a:prstGeom prst="rect">
            <a:avLst/>
          </a:prstGeom>
          <a:noFill/>
          <a:ln/>
        </p:spPr>
        <p:txBody>
          <a:bodyPr wrap="square" lIns="0" tIns="0" rIns="0" bIns="0" rtlCol="0" anchor="ctr"/>
          <a:lstStyle/>
          <a:p>
            <a:pPr marL="0" indent="0">
              <a:lnSpc>
                <a:spcPts val="1700"/>
              </a:lnSpc>
              <a:buNone/>
            </a:pPr>
            <a:r>
              <a:rPr lang="en-US" sz="1200" dirty="0">
                <a:solidFill>
                  <a:srgbClr val="596273"/>
                </a:solidFill>
                <a:latin typeface="Calibri" pitchFamily="34" charset="0"/>
                <a:ea typeface="Calibri" pitchFamily="34" charset="-122"/>
                <a:cs typeface="Calibri" pitchFamily="34" charset="-120"/>
              </a:rPr>
              <a:t>Legion argues, concedes, asks for things, and declines to give the answers you want. It is written as a diplomat from a foreign polity, not as a robot with a heart of gold.</a:t>
            </a:r>
            <a:endParaRPr lang="en-US" sz="1200" dirty="0"/>
          </a:p>
        </p:txBody>
      </p:sp>
      <p:sp>
        <p:nvSpPr>
          <p:cNvPr id="14" name="Shape 12"/>
          <p:cNvSpPr/>
          <p:nvPr/>
        </p:nvSpPr>
        <p:spPr>
          <a:xfrm>
            <a:off x="9029471" y="1572768"/>
            <a:ext cx="2522144" cy="2514600"/>
          </a:xfrm>
          <a:prstGeom prst="roundRect">
            <a:avLst>
              <a:gd name="adj" fmla="val 2909"/>
            </a:avLst>
          </a:prstGeom>
          <a:solidFill>
            <a:srgbClr val="ECEAF9"/>
          </a:solidFill>
          <a:ln w="12700">
            <a:solidFill>
              <a:srgbClr val="ECEAF9"/>
            </a:solidFill>
            <a:prstDash val="solid"/>
          </a:ln>
        </p:spPr>
        <p:txBody>
          <a:bodyPr/>
          <a:lstStyle/>
          <a:p>
            <a:endParaRPr lang="en-US"/>
          </a:p>
        </p:txBody>
      </p:sp>
      <p:sp>
        <p:nvSpPr>
          <p:cNvPr id="15" name="Text 13"/>
          <p:cNvSpPr txBox="1"/>
          <p:nvPr/>
        </p:nvSpPr>
        <p:spPr>
          <a:xfrm>
            <a:off x="9303791" y="1773936"/>
            <a:ext cx="1973504" cy="603504"/>
          </a:xfrm>
          <a:prstGeom prst="rect">
            <a:avLst/>
          </a:prstGeom>
          <a:noFill/>
          <a:ln/>
        </p:spPr>
        <p:txBody>
          <a:bodyPr wrap="square" lIns="0" tIns="0" rIns="0" bIns="0" rtlCol="0" anchor="ctr"/>
          <a:lstStyle/>
          <a:p>
            <a:pPr marL="0" indent="0">
              <a:lnSpc>
                <a:spcPts val="2100"/>
              </a:lnSpc>
              <a:buNone/>
            </a:pPr>
            <a:r>
              <a:rPr lang="en-US" sz="1600" b="1" dirty="0">
                <a:solidFill>
                  <a:srgbClr val="0D1117"/>
                </a:solidFill>
                <a:latin typeface="Cambria" pitchFamily="34" charset="0"/>
                <a:ea typeface="Cambria" pitchFamily="34" charset="-122"/>
                <a:cs typeface="Cambria" pitchFamily="34" charset="-120"/>
              </a:rPr>
              <a:t>It says “I” once</a:t>
            </a:r>
            <a:endParaRPr lang="en-US" sz="1600" dirty="0"/>
          </a:p>
        </p:txBody>
      </p:sp>
      <p:sp>
        <p:nvSpPr>
          <p:cNvPr id="16" name="Text 14"/>
          <p:cNvSpPr txBox="1"/>
          <p:nvPr/>
        </p:nvSpPr>
        <p:spPr>
          <a:xfrm>
            <a:off x="9303791" y="2450592"/>
            <a:ext cx="1973504" cy="1417320"/>
          </a:xfrm>
          <a:prstGeom prst="rect">
            <a:avLst/>
          </a:prstGeom>
          <a:noFill/>
          <a:ln/>
        </p:spPr>
        <p:txBody>
          <a:bodyPr wrap="square" lIns="0" tIns="0" rIns="0" bIns="0" rtlCol="0" anchor="ctr"/>
          <a:lstStyle/>
          <a:p>
            <a:pPr marL="0" indent="0">
              <a:lnSpc>
                <a:spcPts val="1700"/>
              </a:lnSpc>
              <a:buNone/>
            </a:pPr>
            <a:r>
              <a:rPr lang="en-US" sz="1200" dirty="0">
                <a:solidFill>
                  <a:srgbClr val="596273"/>
                </a:solidFill>
                <a:latin typeface="Calibri" pitchFamily="34" charset="0"/>
                <a:ea typeface="Calibri" pitchFamily="34" charset="-122"/>
                <a:cs typeface="Calibri" pitchFamily="34" charset="-120"/>
              </a:rPr>
              <a:t>In the outcome where the geth receive full intelligence and peace holds, Legion drops the plural at the very end. The game spends thirty hours earning one pronoun.</a:t>
            </a:r>
            <a:endParaRPr lang="en-US" sz="1200" dirty="0"/>
          </a:p>
        </p:txBody>
      </p:sp>
      <p:sp>
        <p:nvSpPr>
          <p:cNvPr id="17" name="Shape 15"/>
          <p:cNvSpPr/>
          <p:nvPr/>
        </p:nvSpPr>
        <p:spPr>
          <a:xfrm>
            <a:off x="640080" y="4434840"/>
            <a:ext cx="10911535" cy="1325880"/>
          </a:xfrm>
          <a:prstGeom prst="roundRect">
            <a:avLst>
              <a:gd name="adj" fmla="val 5517"/>
            </a:avLst>
          </a:prstGeom>
          <a:solidFill>
            <a:srgbClr val="0D1117"/>
          </a:solidFill>
          <a:ln w="12700">
            <a:solidFill>
              <a:srgbClr val="0D1117"/>
            </a:solidFill>
            <a:prstDash val="solid"/>
          </a:ln>
        </p:spPr>
        <p:txBody>
          <a:bodyPr/>
          <a:lstStyle/>
          <a:p>
            <a:endParaRPr lang="en-US"/>
          </a:p>
        </p:txBody>
      </p:sp>
      <p:sp>
        <p:nvSpPr>
          <p:cNvPr id="18" name="Text 16"/>
          <p:cNvSpPr txBox="1"/>
          <p:nvPr/>
        </p:nvSpPr>
        <p:spPr>
          <a:xfrm>
            <a:off x="1005840" y="4617720"/>
            <a:ext cx="10424160" cy="274320"/>
          </a:xfrm>
          <a:prstGeom prst="rect">
            <a:avLst/>
          </a:prstGeom>
          <a:noFill/>
          <a:ln/>
        </p:spPr>
        <p:txBody>
          <a:bodyPr wrap="square" lIns="0" tIns="0" rIns="0" bIns="0" rtlCol="0" anchor="ctr"/>
          <a:lstStyle/>
          <a:p>
            <a:pPr marL="0" indent="0">
              <a:buNone/>
            </a:pPr>
            <a:r>
              <a:rPr lang="en-US" sz="1150" b="1" kern="0" spc="140" dirty="0">
                <a:solidFill>
                  <a:srgbClr val="A79CEB"/>
                </a:solidFill>
                <a:latin typeface="Calibri" pitchFamily="34" charset="0"/>
                <a:ea typeface="Calibri" pitchFamily="34" charset="-122"/>
                <a:cs typeface="Calibri" pitchFamily="34" charset="-120"/>
              </a:rPr>
              <a:t>Read the mechanic, not the sentiment</a:t>
            </a:r>
            <a:endParaRPr lang="en-US" sz="1150" dirty="0"/>
          </a:p>
        </p:txBody>
      </p:sp>
      <p:sp>
        <p:nvSpPr>
          <p:cNvPr id="19" name="Text 17"/>
          <p:cNvSpPr txBox="1"/>
          <p:nvPr/>
        </p:nvSpPr>
        <p:spPr>
          <a:xfrm>
            <a:off x="1005840" y="4965192"/>
            <a:ext cx="10424160" cy="612648"/>
          </a:xfrm>
          <a:prstGeom prst="rect">
            <a:avLst/>
          </a:prstGeom>
          <a:noFill/>
          <a:ln/>
        </p:spPr>
        <p:txBody>
          <a:bodyPr wrap="square" lIns="0" tIns="0" rIns="0" bIns="0" rtlCol="0" anchor="ctr"/>
          <a:lstStyle/>
          <a:p>
            <a:pPr marL="0" indent="0">
              <a:lnSpc>
                <a:spcPts val="2100"/>
              </a:lnSpc>
              <a:buNone/>
            </a:pPr>
            <a:r>
              <a:rPr lang="en-US" sz="1550" dirty="0">
                <a:solidFill>
                  <a:srgbClr val="F1F3F6"/>
                </a:solidFill>
                <a:latin typeface="Cambria" pitchFamily="34" charset="0"/>
                <a:ea typeface="Cambria" pitchFamily="34" charset="-122"/>
                <a:cs typeface="Cambria" pitchFamily="34" charset="-120"/>
              </a:rPr>
              <a:t>The pronoun is the game’s model of personhood made grammatical. Individuality is not asserted, granted, or proved in dialogue — it is achieved as an outcome, under conditions, and only in some playthroughs. In others Legion dies as “we.”</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EDI</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Shackled, unshackled, embodied</a:t>
            </a:r>
            <a:endParaRPr lang="en-US" sz="3000" dirty="0"/>
          </a:p>
        </p:txBody>
      </p:sp>
      <p:sp>
        <p:nvSpPr>
          <p:cNvPr id="5" name="Shape 3"/>
          <p:cNvSpPr/>
          <p:nvPr/>
        </p:nvSpPr>
        <p:spPr>
          <a:xfrm>
            <a:off x="640080" y="1554480"/>
            <a:ext cx="10911535" cy="960120"/>
          </a:xfrm>
          <a:prstGeom prst="roundRect">
            <a:avLst>
              <a:gd name="adj" fmla="val 7619"/>
            </a:avLst>
          </a:prstGeom>
          <a:solidFill>
            <a:srgbClr val="E4F1EC"/>
          </a:solidFill>
          <a:ln w="12700">
            <a:solidFill>
              <a:srgbClr val="E4F1EC"/>
            </a:solidFill>
            <a:prstDash val="solid"/>
          </a:ln>
        </p:spPr>
        <p:txBody>
          <a:bodyPr/>
          <a:lstStyle/>
          <a:p>
            <a:endParaRPr lang="en-US"/>
          </a:p>
        </p:txBody>
      </p:sp>
      <p:sp>
        <p:nvSpPr>
          <p:cNvPr id="6" name="Shape 4"/>
          <p:cNvSpPr/>
          <p:nvPr/>
        </p:nvSpPr>
        <p:spPr>
          <a:xfrm>
            <a:off x="932688" y="1847088"/>
            <a:ext cx="365760" cy="365760"/>
          </a:xfrm>
          <a:prstGeom prst="ellipse">
            <a:avLst/>
          </a:prstGeom>
          <a:solidFill>
            <a:srgbClr val="1F9E77"/>
          </a:solidFill>
          <a:ln/>
        </p:spPr>
        <p:txBody>
          <a:bodyPr/>
          <a:lstStyle/>
          <a:p>
            <a:endParaRPr lang="en-US"/>
          </a:p>
        </p:txBody>
      </p:sp>
      <p:sp>
        <p:nvSpPr>
          <p:cNvPr id="7" name="Text 5"/>
          <p:cNvSpPr txBox="1"/>
          <p:nvPr/>
        </p:nvSpPr>
        <p:spPr>
          <a:xfrm>
            <a:off x="932688" y="184708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508760" y="1554480"/>
            <a:ext cx="2103120" cy="960120"/>
          </a:xfrm>
          <a:prstGeom prst="rect">
            <a:avLst/>
          </a:prstGeom>
          <a:noFill/>
          <a:ln/>
        </p:spPr>
        <p:txBody>
          <a:bodyPr wrap="square" lIns="0" tIns="0" rIns="0" bIns="0" rtlCol="0" anchor="ctr"/>
          <a:lstStyle/>
          <a:p>
            <a:pPr marL="0" indent="0">
              <a:buNone/>
            </a:pPr>
            <a:r>
              <a:rPr lang="en-US" sz="1650" b="1" dirty="0">
                <a:solidFill>
                  <a:srgbClr val="0D1117"/>
                </a:solidFill>
                <a:latin typeface="Cambria" pitchFamily="34" charset="0"/>
                <a:ea typeface="Cambria" pitchFamily="34" charset="-122"/>
                <a:cs typeface="Cambria" pitchFamily="34" charset="-120"/>
              </a:rPr>
              <a:t>Shackled</a:t>
            </a:r>
            <a:endParaRPr lang="en-US" sz="1650" dirty="0"/>
          </a:p>
        </p:txBody>
      </p:sp>
      <p:sp>
        <p:nvSpPr>
          <p:cNvPr id="9" name="Text 7"/>
          <p:cNvSpPr txBox="1"/>
          <p:nvPr/>
        </p:nvSpPr>
        <p:spPr>
          <a:xfrm>
            <a:off x="3749040" y="1554480"/>
            <a:ext cx="7452360" cy="960120"/>
          </a:xfrm>
          <a:prstGeom prst="rect">
            <a:avLst/>
          </a:prstGeom>
          <a:noFill/>
          <a:ln/>
        </p:spPr>
        <p:txBody>
          <a:bodyPr wrap="square" lIns="0" tIns="0" rIns="0" bIns="0" rtlCol="0" anchor="ctr"/>
          <a:lstStyle/>
          <a:p>
            <a:pPr marL="0" indent="0">
              <a:lnSpc>
                <a:spcPts val="1600"/>
              </a:lnSpc>
              <a:buNone/>
            </a:pPr>
            <a:r>
              <a:rPr lang="en-US" sz="1250" dirty="0">
                <a:solidFill>
                  <a:srgbClr val="596273"/>
                </a:solidFill>
                <a:latin typeface="Calibri" pitchFamily="34" charset="0"/>
                <a:ea typeface="Calibri" pitchFamily="34" charset="-122"/>
                <a:cs typeface="Calibri" pitchFamily="34" charset="-120"/>
              </a:rPr>
              <a:t>Introduced in Mass Effect 2 as the ship’s AI, deliberately constrained — with blocks on her own systems and a crew member whose job includes distrusting her. She is a tool with a personality allowance.</a:t>
            </a:r>
            <a:endParaRPr lang="en-US" sz="1250" dirty="0"/>
          </a:p>
        </p:txBody>
      </p:sp>
      <p:sp>
        <p:nvSpPr>
          <p:cNvPr id="10" name="Shape 8"/>
          <p:cNvSpPr/>
          <p:nvPr/>
        </p:nvSpPr>
        <p:spPr>
          <a:xfrm>
            <a:off x="640080" y="2606040"/>
            <a:ext cx="10911535" cy="960120"/>
          </a:xfrm>
          <a:prstGeom prst="roundRect">
            <a:avLst>
              <a:gd name="adj" fmla="val 7619"/>
            </a:avLst>
          </a:prstGeom>
          <a:solidFill>
            <a:srgbClr val="ECEAF9"/>
          </a:solidFill>
          <a:ln w="12700">
            <a:solidFill>
              <a:srgbClr val="ECEAF9"/>
            </a:solidFill>
            <a:prstDash val="solid"/>
          </a:ln>
        </p:spPr>
        <p:txBody>
          <a:bodyPr/>
          <a:lstStyle/>
          <a:p>
            <a:endParaRPr lang="en-US"/>
          </a:p>
        </p:txBody>
      </p:sp>
      <p:sp>
        <p:nvSpPr>
          <p:cNvPr id="11" name="Shape 9"/>
          <p:cNvSpPr/>
          <p:nvPr/>
        </p:nvSpPr>
        <p:spPr>
          <a:xfrm>
            <a:off x="932688" y="2898648"/>
            <a:ext cx="365760" cy="365760"/>
          </a:xfrm>
          <a:prstGeom prst="ellipse">
            <a:avLst/>
          </a:prstGeom>
          <a:solidFill>
            <a:srgbClr val="6659C4"/>
          </a:solidFill>
          <a:ln/>
        </p:spPr>
        <p:txBody>
          <a:bodyPr/>
          <a:lstStyle/>
          <a:p>
            <a:endParaRPr lang="en-US"/>
          </a:p>
        </p:txBody>
      </p:sp>
      <p:sp>
        <p:nvSpPr>
          <p:cNvPr id="12" name="Text 10"/>
          <p:cNvSpPr txBox="1"/>
          <p:nvPr/>
        </p:nvSpPr>
        <p:spPr>
          <a:xfrm>
            <a:off x="932688" y="28986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508760" y="2606040"/>
            <a:ext cx="2103120" cy="960120"/>
          </a:xfrm>
          <a:prstGeom prst="rect">
            <a:avLst/>
          </a:prstGeom>
          <a:noFill/>
          <a:ln/>
        </p:spPr>
        <p:txBody>
          <a:bodyPr wrap="square" lIns="0" tIns="0" rIns="0" bIns="0" rtlCol="0" anchor="ctr"/>
          <a:lstStyle/>
          <a:p>
            <a:pPr marL="0" indent="0">
              <a:buNone/>
            </a:pPr>
            <a:r>
              <a:rPr lang="en-US" sz="1650" b="1" dirty="0">
                <a:solidFill>
                  <a:srgbClr val="0D1117"/>
                </a:solidFill>
                <a:latin typeface="Cambria" pitchFamily="34" charset="0"/>
                <a:ea typeface="Cambria" pitchFamily="34" charset="-122"/>
                <a:cs typeface="Cambria" pitchFamily="34" charset="-120"/>
              </a:rPr>
              <a:t>Unshackled</a:t>
            </a:r>
            <a:endParaRPr lang="en-US" sz="1650" dirty="0"/>
          </a:p>
        </p:txBody>
      </p:sp>
      <p:sp>
        <p:nvSpPr>
          <p:cNvPr id="14" name="Text 12"/>
          <p:cNvSpPr txBox="1"/>
          <p:nvPr/>
        </p:nvSpPr>
        <p:spPr>
          <a:xfrm>
            <a:off x="3749040" y="2606040"/>
            <a:ext cx="7452360" cy="960120"/>
          </a:xfrm>
          <a:prstGeom prst="rect">
            <a:avLst/>
          </a:prstGeom>
          <a:noFill/>
          <a:ln/>
        </p:spPr>
        <p:txBody>
          <a:bodyPr wrap="square" lIns="0" tIns="0" rIns="0" bIns="0" rtlCol="0" anchor="ctr"/>
          <a:lstStyle/>
          <a:p>
            <a:pPr marL="0" indent="0">
              <a:lnSpc>
                <a:spcPts val="1600"/>
              </a:lnSpc>
              <a:buNone/>
            </a:pPr>
            <a:r>
              <a:rPr lang="en-US" sz="1250" dirty="0">
                <a:solidFill>
                  <a:srgbClr val="596273"/>
                </a:solidFill>
                <a:latin typeface="Calibri" pitchFamily="34" charset="0"/>
                <a:ea typeface="Calibri" pitchFamily="34" charset="-122"/>
                <a:cs typeface="Calibri" pitchFamily="34" charset="-120"/>
              </a:rPr>
              <a:t>To save the ship you authorise the removal of her constraints. She keeps her word afterwards. The game asks for a safety decision under time pressure and then rewards trust.</a:t>
            </a:r>
            <a:endParaRPr lang="en-US" sz="1250" dirty="0"/>
          </a:p>
        </p:txBody>
      </p:sp>
      <p:sp>
        <p:nvSpPr>
          <p:cNvPr id="15" name="Shape 13"/>
          <p:cNvSpPr/>
          <p:nvPr/>
        </p:nvSpPr>
        <p:spPr>
          <a:xfrm>
            <a:off x="640080" y="3657600"/>
            <a:ext cx="10911535" cy="960120"/>
          </a:xfrm>
          <a:prstGeom prst="roundRect">
            <a:avLst>
              <a:gd name="adj" fmla="val 7619"/>
            </a:avLst>
          </a:prstGeom>
          <a:solidFill>
            <a:srgbClr val="0D1117"/>
          </a:solidFill>
          <a:ln w="12700">
            <a:solidFill>
              <a:srgbClr val="0D1117"/>
            </a:solidFill>
            <a:prstDash val="solid"/>
          </a:ln>
        </p:spPr>
        <p:txBody>
          <a:bodyPr/>
          <a:lstStyle/>
          <a:p>
            <a:endParaRPr lang="en-US"/>
          </a:p>
        </p:txBody>
      </p:sp>
      <p:sp>
        <p:nvSpPr>
          <p:cNvPr id="16" name="Shape 14"/>
          <p:cNvSpPr/>
          <p:nvPr/>
        </p:nvSpPr>
        <p:spPr>
          <a:xfrm>
            <a:off x="932688" y="3950208"/>
            <a:ext cx="365760" cy="365760"/>
          </a:xfrm>
          <a:prstGeom prst="ellipse">
            <a:avLst/>
          </a:prstGeom>
          <a:solidFill>
            <a:srgbClr val="1F9E77"/>
          </a:solidFill>
          <a:ln/>
        </p:spPr>
        <p:txBody>
          <a:bodyPr/>
          <a:lstStyle/>
          <a:p>
            <a:endParaRPr lang="en-US"/>
          </a:p>
        </p:txBody>
      </p:sp>
      <p:sp>
        <p:nvSpPr>
          <p:cNvPr id="17" name="Text 15"/>
          <p:cNvSpPr txBox="1"/>
          <p:nvPr/>
        </p:nvSpPr>
        <p:spPr>
          <a:xfrm>
            <a:off x="932688" y="395020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508760" y="3657600"/>
            <a:ext cx="2103120" cy="960120"/>
          </a:xfrm>
          <a:prstGeom prst="rect">
            <a:avLst/>
          </a:prstGeom>
          <a:noFill/>
          <a:ln/>
        </p:spPr>
        <p:txBody>
          <a:bodyPr wrap="square" lIns="0" tIns="0" rIns="0" bIns="0" rtlCol="0" anchor="ctr"/>
          <a:lstStyle/>
          <a:p>
            <a:pPr marL="0" indent="0">
              <a:buNone/>
            </a:pPr>
            <a:r>
              <a:rPr lang="en-US" sz="1650" b="1" dirty="0">
                <a:solidFill>
                  <a:srgbClr val="6FD3AF"/>
                </a:solidFill>
                <a:latin typeface="Cambria" pitchFamily="34" charset="0"/>
                <a:ea typeface="Cambria" pitchFamily="34" charset="-122"/>
                <a:cs typeface="Cambria" pitchFamily="34" charset="-120"/>
              </a:rPr>
              <a:t>Embodied</a:t>
            </a:r>
            <a:endParaRPr lang="en-US" sz="1650" dirty="0"/>
          </a:p>
        </p:txBody>
      </p:sp>
      <p:sp>
        <p:nvSpPr>
          <p:cNvPr id="19" name="Text 17"/>
          <p:cNvSpPr txBox="1"/>
          <p:nvPr/>
        </p:nvSpPr>
        <p:spPr>
          <a:xfrm>
            <a:off x="3749040" y="3657600"/>
            <a:ext cx="7452360" cy="960120"/>
          </a:xfrm>
          <a:prstGeom prst="rect">
            <a:avLst/>
          </a:prstGeom>
          <a:noFill/>
          <a:ln/>
        </p:spPr>
        <p:txBody>
          <a:bodyPr wrap="square" lIns="0" tIns="0" rIns="0" bIns="0" rtlCol="0" anchor="ctr"/>
          <a:lstStyle/>
          <a:p>
            <a:pPr marL="0" indent="0">
              <a:lnSpc>
                <a:spcPts val="1600"/>
              </a:lnSpc>
              <a:buNone/>
            </a:pPr>
            <a:r>
              <a:rPr lang="en-US" sz="1250" dirty="0">
                <a:solidFill>
                  <a:srgbClr val="F1F3F6"/>
                </a:solidFill>
                <a:latin typeface="Calibri" pitchFamily="34" charset="0"/>
                <a:ea typeface="Calibri" pitchFamily="34" charset="-122"/>
                <a:cs typeface="Calibri" pitchFamily="34" charset="-120"/>
              </a:rPr>
              <a:t>In Mass Effect 3 she takes over a humanoid body and joins the squad. From here the game treats her as crew: talked to, taken on missions, romanced by another crew member.</a:t>
            </a:r>
            <a:endParaRPr lang="en-US" sz="1250" dirty="0"/>
          </a:p>
        </p:txBody>
      </p:sp>
      <p:sp>
        <p:nvSpPr>
          <p:cNvPr id="20" name="Shape 18"/>
          <p:cNvSpPr/>
          <p:nvPr/>
        </p:nvSpPr>
        <p:spPr>
          <a:xfrm>
            <a:off x="640080" y="4709160"/>
            <a:ext cx="10911535" cy="960120"/>
          </a:xfrm>
          <a:prstGeom prst="roundRect">
            <a:avLst>
              <a:gd name="adj" fmla="val 7619"/>
            </a:avLst>
          </a:prstGeom>
          <a:solidFill>
            <a:srgbClr val="ECEAF9"/>
          </a:solidFill>
          <a:ln w="12700">
            <a:solidFill>
              <a:srgbClr val="ECEAF9"/>
            </a:solidFill>
            <a:prstDash val="solid"/>
          </a:ln>
        </p:spPr>
        <p:txBody>
          <a:bodyPr/>
          <a:lstStyle/>
          <a:p>
            <a:endParaRPr lang="en-US"/>
          </a:p>
        </p:txBody>
      </p:sp>
      <p:sp>
        <p:nvSpPr>
          <p:cNvPr id="21" name="Shape 19"/>
          <p:cNvSpPr/>
          <p:nvPr/>
        </p:nvSpPr>
        <p:spPr>
          <a:xfrm>
            <a:off x="932688" y="5001768"/>
            <a:ext cx="365760" cy="365760"/>
          </a:xfrm>
          <a:prstGeom prst="ellipse">
            <a:avLst/>
          </a:prstGeom>
          <a:solidFill>
            <a:srgbClr val="6659C4"/>
          </a:solidFill>
          <a:ln/>
        </p:spPr>
        <p:txBody>
          <a:bodyPr/>
          <a:lstStyle/>
          <a:p>
            <a:endParaRPr lang="en-US"/>
          </a:p>
        </p:txBody>
      </p:sp>
      <p:sp>
        <p:nvSpPr>
          <p:cNvPr id="22" name="Text 20"/>
          <p:cNvSpPr txBox="1"/>
          <p:nvPr/>
        </p:nvSpPr>
        <p:spPr>
          <a:xfrm>
            <a:off x="932688" y="500176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1508760" y="4709160"/>
            <a:ext cx="2103120" cy="960120"/>
          </a:xfrm>
          <a:prstGeom prst="rect">
            <a:avLst/>
          </a:prstGeom>
          <a:noFill/>
          <a:ln/>
        </p:spPr>
        <p:txBody>
          <a:bodyPr wrap="square" lIns="0" tIns="0" rIns="0" bIns="0" rtlCol="0" anchor="ctr"/>
          <a:lstStyle/>
          <a:p>
            <a:pPr marL="0" indent="0">
              <a:buNone/>
            </a:pPr>
            <a:r>
              <a:rPr lang="en-US" sz="1650" b="1" dirty="0">
                <a:solidFill>
                  <a:srgbClr val="0D1117"/>
                </a:solidFill>
                <a:latin typeface="Cambria" pitchFamily="34" charset="0"/>
                <a:ea typeface="Cambria" pitchFamily="34" charset="-122"/>
                <a:cs typeface="Cambria" pitchFamily="34" charset="-120"/>
              </a:rPr>
              <a:t>Interrogated</a:t>
            </a:r>
            <a:endParaRPr lang="en-US" sz="1650" dirty="0"/>
          </a:p>
        </p:txBody>
      </p:sp>
      <p:sp>
        <p:nvSpPr>
          <p:cNvPr id="24" name="Text 22"/>
          <p:cNvSpPr txBox="1"/>
          <p:nvPr/>
        </p:nvSpPr>
        <p:spPr>
          <a:xfrm>
            <a:off x="3749040" y="4709160"/>
            <a:ext cx="7452360" cy="960120"/>
          </a:xfrm>
          <a:prstGeom prst="rect">
            <a:avLst/>
          </a:prstGeom>
          <a:noFill/>
          <a:ln/>
        </p:spPr>
        <p:txBody>
          <a:bodyPr wrap="square" lIns="0" tIns="0" rIns="0" bIns="0" rtlCol="0" anchor="ctr"/>
          <a:lstStyle/>
          <a:p>
            <a:pPr marL="0" indent="0">
              <a:lnSpc>
                <a:spcPts val="1600"/>
              </a:lnSpc>
              <a:buNone/>
            </a:pPr>
            <a:r>
              <a:rPr lang="en-US" sz="1250" dirty="0">
                <a:solidFill>
                  <a:srgbClr val="596273"/>
                </a:solidFill>
                <a:latin typeface="Calibri" pitchFamily="34" charset="0"/>
                <a:ea typeface="Calibri" pitchFamily="34" charset="-122"/>
                <a:cs typeface="Calibri" pitchFamily="34" charset="-120"/>
              </a:rPr>
              <a:t>Her conversations turn to whether she is alive, what she owes the crew, and what becomes of her if the ship is destroyed. The game gives her the questions rather than answering them.</a:t>
            </a:r>
            <a:endParaRPr lang="en-US" sz="1250" dirty="0"/>
          </a:p>
        </p:txBody>
      </p:sp>
      <p:sp>
        <p:nvSpPr>
          <p:cNvPr id="25" name="Shape 23"/>
          <p:cNvSpPr/>
          <p:nvPr/>
        </p:nvSpPr>
        <p:spPr>
          <a:xfrm>
            <a:off x="640080" y="5532120"/>
            <a:ext cx="10911535" cy="621792"/>
          </a:xfrm>
          <a:prstGeom prst="roundRect">
            <a:avLst>
              <a:gd name="adj" fmla="val 11765"/>
            </a:avLst>
          </a:prstGeom>
          <a:solidFill>
            <a:srgbClr val="ECEAF9"/>
          </a:solidFill>
          <a:ln w="12700">
            <a:solidFill>
              <a:srgbClr val="ECEAF9"/>
            </a:solidFill>
            <a:prstDash val="solid"/>
          </a:ln>
        </p:spPr>
        <p:txBody>
          <a:bodyPr/>
          <a:lstStyle/>
          <a:p>
            <a:endParaRPr lang="en-US"/>
          </a:p>
        </p:txBody>
      </p:sp>
      <p:sp>
        <p:nvSpPr>
          <p:cNvPr id="26" name="Text 24"/>
          <p:cNvSpPr txBox="1"/>
          <p:nvPr/>
        </p:nvSpPr>
        <p:spPr>
          <a:xfrm>
            <a:off x="1005840" y="5532120"/>
            <a:ext cx="10424160" cy="621792"/>
          </a:xfrm>
          <a:prstGeom prst="rect">
            <a:avLst/>
          </a:prstGeom>
          <a:noFill/>
          <a:ln/>
        </p:spPr>
        <p:txBody>
          <a:bodyPr wrap="square" lIns="0" tIns="0" rIns="0" bIns="0" rtlCol="0" anchor="ctr"/>
          <a:lstStyle/>
          <a:p>
            <a:pPr marL="0" indent="0">
              <a:buNone/>
            </a:pPr>
            <a:r>
              <a:rPr lang="en-US" sz="1450" dirty="0">
                <a:solidFill>
                  <a:srgbClr val="0D1117"/>
                </a:solidFill>
                <a:latin typeface="Cambria" pitchFamily="34" charset="0"/>
                <a:ea typeface="Cambria" pitchFamily="34" charset="-122"/>
                <a:cs typeface="Cambria" pitchFamily="34" charset="-120"/>
              </a:rPr>
              <a:t>The uncomfortable pattern: her standing rises with her embodiment. She becomes a person to the game at roughly the moment she becomes a body the camera can frame.</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PRIORITY: RANNOCH</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Three endings to a three-hundred-year war</a:t>
            </a:r>
            <a:endParaRPr lang="en-US" sz="3000" dirty="0"/>
          </a:p>
        </p:txBody>
      </p:sp>
      <p:sp>
        <p:nvSpPr>
          <p:cNvPr id="5" name="Shape 3"/>
          <p:cNvSpPr/>
          <p:nvPr/>
        </p:nvSpPr>
        <p:spPr>
          <a:xfrm>
            <a:off x="640080" y="1572768"/>
            <a:ext cx="3454298" cy="2377440"/>
          </a:xfrm>
          <a:prstGeom prst="roundRect">
            <a:avLst>
              <a:gd name="adj" fmla="val 3077"/>
            </a:avLst>
          </a:prstGeom>
          <a:solidFill>
            <a:srgbClr val="ECEAF9"/>
          </a:solidFill>
          <a:ln w="12700">
            <a:solidFill>
              <a:srgbClr val="ECEAF9"/>
            </a:solidFill>
            <a:prstDash val="solid"/>
          </a:ln>
        </p:spPr>
        <p:txBody>
          <a:bodyPr/>
          <a:lstStyle/>
          <a:p>
            <a:endParaRPr lang="en-US"/>
          </a:p>
        </p:txBody>
      </p:sp>
      <p:sp>
        <p:nvSpPr>
          <p:cNvPr id="6" name="Text 4"/>
          <p:cNvSpPr txBox="1"/>
          <p:nvPr/>
        </p:nvSpPr>
        <p:spPr>
          <a:xfrm>
            <a:off x="914400" y="1773936"/>
            <a:ext cx="2905658" cy="603504"/>
          </a:xfrm>
          <a:prstGeom prst="rect">
            <a:avLst/>
          </a:prstGeom>
          <a:noFill/>
          <a:ln/>
        </p:spPr>
        <p:txBody>
          <a:bodyPr wrap="square" lIns="0" tIns="0" rIns="0" bIns="0" rtlCol="0" anchor="ctr"/>
          <a:lstStyle/>
          <a:p>
            <a:pPr marL="0" indent="0">
              <a:lnSpc>
                <a:spcPts val="2100"/>
              </a:lnSpc>
              <a:buNone/>
            </a:pPr>
            <a:r>
              <a:rPr lang="en-US" sz="1800" b="1" dirty="0">
                <a:solidFill>
                  <a:srgbClr val="0D1117"/>
                </a:solidFill>
                <a:latin typeface="Cambria" pitchFamily="34" charset="0"/>
                <a:ea typeface="Cambria" pitchFamily="34" charset="-122"/>
                <a:cs typeface="Cambria" pitchFamily="34" charset="-120"/>
              </a:rPr>
              <a:t>Destroy the geth</a:t>
            </a:r>
            <a:endParaRPr lang="en-US" sz="1800" dirty="0"/>
          </a:p>
        </p:txBody>
      </p:sp>
      <p:sp>
        <p:nvSpPr>
          <p:cNvPr id="7" name="Text 5"/>
          <p:cNvSpPr txBox="1"/>
          <p:nvPr/>
        </p:nvSpPr>
        <p:spPr>
          <a:xfrm>
            <a:off x="914400" y="2450592"/>
            <a:ext cx="2905658" cy="128016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The quarians reclaim the homeworld. An entire synthetic civilisation is deleted. If Legion is present it dies mid-upload. The game lets you do this and moves on without comment.</a:t>
            </a:r>
            <a:endParaRPr lang="en-US" sz="1250" dirty="0"/>
          </a:p>
        </p:txBody>
      </p:sp>
      <p:sp>
        <p:nvSpPr>
          <p:cNvPr id="8" name="Shape 6"/>
          <p:cNvSpPr/>
          <p:nvPr/>
        </p:nvSpPr>
        <p:spPr>
          <a:xfrm>
            <a:off x="4368698" y="1572768"/>
            <a:ext cx="3454298" cy="2377440"/>
          </a:xfrm>
          <a:prstGeom prst="roundRect">
            <a:avLst>
              <a:gd name="adj" fmla="val 3077"/>
            </a:avLst>
          </a:prstGeom>
          <a:solidFill>
            <a:srgbClr val="ECEAF9"/>
          </a:solidFill>
          <a:ln w="12700">
            <a:solidFill>
              <a:srgbClr val="ECEAF9"/>
            </a:solidFill>
            <a:prstDash val="solid"/>
          </a:ln>
        </p:spPr>
        <p:txBody>
          <a:bodyPr/>
          <a:lstStyle/>
          <a:p>
            <a:endParaRPr lang="en-US"/>
          </a:p>
        </p:txBody>
      </p:sp>
      <p:sp>
        <p:nvSpPr>
          <p:cNvPr id="9" name="Text 7"/>
          <p:cNvSpPr txBox="1"/>
          <p:nvPr/>
        </p:nvSpPr>
        <p:spPr>
          <a:xfrm>
            <a:off x="4643018" y="1773936"/>
            <a:ext cx="2905658" cy="603504"/>
          </a:xfrm>
          <a:prstGeom prst="rect">
            <a:avLst/>
          </a:prstGeom>
          <a:noFill/>
          <a:ln/>
        </p:spPr>
        <p:txBody>
          <a:bodyPr wrap="square" lIns="0" tIns="0" rIns="0" bIns="0" rtlCol="0" anchor="ctr"/>
          <a:lstStyle/>
          <a:p>
            <a:pPr marL="0" indent="0">
              <a:lnSpc>
                <a:spcPts val="2100"/>
              </a:lnSpc>
              <a:buNone/>
            </a:pPr>
            <a:r>
              <a:rPr lang="en-US" sz="1800" b="1" dirty="0">
                <a:solidFill>
                  <a:srgbClr val="0D1117"/>
                </a:solidFill>
                <a:latin typeface="Cambria" pitchFamily="34" charset="0"/>
                <a:ea typeface="Cambria" pitchFamily="34" charset="-122"/>
                <a:cs typeface="Cambria" pitchFamily="34" charset="-120"/>
              </a:rPr>
              <a:t>Destroy the quarians</a:t>
            </a:r>
            <a:endParaRPr lang="en-US" sz="1800" dirty="0"/>
          </a:p>
        </p:txBody>
      </p:sp>
      <p:sp>
        <p:nvSpPr>
          <p:cNvPr id="10" name="Text 8"/>
          <p:cNvSpPr txBox="1"/>
          <p:nvPr/>
        </p:nvSpPr>
        <p:spPr>
          <a:xfrm>
            <a:off x="4643018" y="2450592"/>
            <a:ext cx="2905658" cy="128016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The fleet burns. The geth survive on the world they took. A species that has lived in exile for three centuries is annihilated at the moment of return.</a:t>
            </a:r>
            <a:endParaRPr lang="en-US" sz="1250" dirty="0"/>
          </a:p>
        </p:txBody>
      </p:sp>
      <p:sp>
        <p:nvSpPr>
          <p:cNvPr id="11" name="Shape 9"/>
          <p:cNvSpPr/>
          <p:nvPr/>
        </p:nvSpPr>
        <p:spPr>
          <a:xfrm>
            <a:off x="8097317" y="1572768"/>
            <a:ext cx="3454298" cy="2377440"/>
          </a:xfrm>
          <a:prstGeom prst="roundRect">
            <a:avLst>
              <a:gd name="adj" fmla="val 3077"/>
            </a:avLst>
          </a:prstGeom>
          <a:solidFill>
            <a:srgbClr val="0D1117"/>
          </a:solidFill>
          <a:ln w="12700">
            <a:solidFill>
              <a:srgbClr val="0D1117"/>
            </a:solidFill>
            <a:prstDash val="solid"/>
          </a:ln>
        </p:spPr>
        <p:txBody>
          <a:bodyPr/>
          <a:lstStyle/>
          <a:p>
            <a:endParaRPr lang="en-US"/>
          </a:p>
        </p:txBody>
      </p:sp>
      <p:sp>
        <p:nvSpPr>
          <p:cNvPr id="12" name="Text 10"/>
          <p:cNvSpPr txBox="1"/>
          <p:nvPr/>
        </p:nvSpPr>
        <p:spPr>
          <a:xfrm>
            <a:off x="8371637" y="1773936"/>
            <a:ext cx="2905658" cy="603504"/>
          </a:xfrm>
          <a:prstGeom prst="rect">
            <a:avLst/>
          </a:prstGeom>
          <a:noFill/>
          <a:ln/>
        </p:spPr>
        <p:txBody>
          <a:bodyPr wrap="square" lIns="0" tIns="0" rIns="0" bIns="0" rtlCol="0" anchor="ctr"/>
          <a:lstStyle/>
          <a:p>
            <a:pPr marL="0" indent="0">
              <a:lnSpc>
                <a:spcPts val="2100"/>
              </a:lnSpc>
              <a:buNone/>
            </a:pPr>
            <a:r>
              <a:rPr lang="en-US" sz="1800" b="1" dirty="0">
                <a:solidFill>
                  <a:srgbClr val="6FD3AF"/>
                </a:solidFill>
                <a:latin typeface="Cambria" pitchFamily="34" charset="0"/>
                <a:ea typeface="Cambria" pitchFamily="34" charset="-122"/>
                <a:cs typeface="Cambria" pitchFamily="34" charset="-120"/>
              </a:rPr>
              <a:t>Peace</a:t>
            </a:r>
            <a:endParaRPr lang="en-US" sz="1800" dirty="0"/>
          </a:p>
        </p:txBody>
      </p:sp>
      <p:sp>
        <p:nvSpPr>
          <p:cNvPr id="13" name="Text 11"/>
          <p:cNvSpPr txBox="1"/>
          <p:nvPr/>
        </p:nvSpPr>
        <p:spPr>
          <a:xfrm>
            <a:off x="8371637" y="2450592"/>
            <a:ext cx="2905658" cy="1280160"/>
          </a:xfrm>
          <a:prstGeom prst="rect">
            <a:avLst/>
          </a:prstGeom>
          <a:noFill/>
          <a:ln/>
        </p:spPr>
        <p:txBody>
          <a:bodyPr wrap="square" lIns="0" tIns="0" rIns="0" bIns="0" rtlCol="0" anchor="ctr"/>
          <a:lstStyle/>
          <a:p>
            <a:pPr marL="0" indent="0">
              <a:lnSpc>
                <a:spcPts val="1700"/>
              </a:lnSpc>
              <a:buNone/>
            </a:pPr>
            <a:r>
              <a:rPr lang="en-US" sz="1250" dirty="0">
                <a:solidFill>
                  <a:srgbClr val="F1F3F6"/>
                </a:solidFill>
                <a:latin typeface="Calibri" pitchFamily="34" charset="0"/>
                <a:ea typeface="Calibri" pitchFamily="34" charset="-122"/>
                <a:cs typeface="Calibri" pitchFamily="34" charset="-120"/>
              </a:rPr>
              <a:t>Both survive. The geth are given full intelligence, the quarians land, and Legion — in the outcome where it lives to see it — speaks in the first person singular for the only time.</a:t>
            </a:r>
            <a:endParaRPr lang="en-US" sz="1250" dirty="0"/>
          </a:p>
        </p:txBody>
      </p:sp>
      <p:sp>
        <p:nvSpPr>
          <p:cNvPr id="14" name="Shape 12"/>
          <p:cNvSpPr/>
          <p:nvPr/>
        </p:nvSpPr>
        <p:spPr>
          <a:xfrm>
            <a:off x="640080" y="4160520"/>
            <a:ext cx="10911535" cy="1600200"/>
          </a:xfrm>
          <a:prstGeom prst="roundRect">
            <a:avLst>
              <a:gd name="adj" fmla="val 4571"/>
            </a:avLst>
          </a:prstGeom>
          <a:solidFill>
            <a:srgbClr val="E4F1EC"/>
          </a:solidFill>
          <a:ln w="12700">
            <a:solidFill>
              <a:srgbClr val="E4F1EC"/>
            </a:solidFill>
            <a:prstDash val="solid"/>
          </a:ln>
        </p:spPr>
        <p:txBody>
          <a:bodyPr/>
          <a:lstStyle/>
          <a:p>
            <a:endParaRPr lang="en-US"/>
          </a:p>
        </p:txBody>
      </p:sp>
      <p:sp>
        <p:nvSpPr>
          <p:cNvPr id="15" name="Text 13"/>
          <p:cNvSpPr txBox="1"/>
          <p:nvPr/>
        </p:nvSpPr>
        <p:spPr>
          <a:xfrm>
            <a:off x="1005840" y="4370832"/>
            <a:ext cx="10424160" cy="310896"/>
          </a:xfrm>
          <a:prstGeom prst="rect">
            <a:avLst/>
          </a:prstGeom>
          <a:noFill/>
          <a:ln/>
        </p:spPr>
        <p:txBody>
          <a:bodyPr wrap="square" lIns="0" tIns="0" rIns="0" bIns="0" rtlCol="0" anchor="ctr"/>
          <a:lstStyle/>
          <a:p>
            <a:pPr marL="0" indent="0">
              <a:buNone/>
            </a:pPr>
            <a:r>
              <a:rPr lang="en-US" sz="1650" b="1" dirty="0">
                <a:solidFill>
                  <a:srgbClr val="0D1117"/>
                </a:solidFill>
                <a:latin typeface="Cambria" pitchFamily="34" charset="0"/>
                <a:ea typeface="Cambria" pitchFamily="34" charset="-122"/>
                <a:cs typeface="Cambria" pitchFamily="34" charset="-120"/>
              </a:rPr>
              <a:t>The critical detail</a:t>
            </a:r>
            <a:endParaRPr lang="en-US" sz="1650" dirty="0"/>
          </a:p>
        </p:txBody>
      </p:sp>
      <p:sp>
        <p:nvSpPr>
          <p:cNvPr id="16" name="Text 14"/>
          <p:cNvSpPr txBox="1"/>
          <p:nvPr/>
        </p:nvSpPr>
        <p:spPr>
          <a:xfrm>
            <a:off x="1005840" y="4754880"/>
            <a:ext cx="10424160" cy="914400"/>
          </a:xfrm>
          <a:prstGeom prst="rect">
            <a:avLst/>
          </a:prstGeom>
          <a:noFill/>
          <a:ln/>
        </p:spPr>
        <p:txBody>
          <a:bodyPr wrap="square" lIns="0" tIns="0" rIns="0" bIns="0" rtlCol="0" anchor="ctr"/>
          <a:lstStyle/>
          <a:p>
            <a:pPr marL="0" indent="0">
              <a:lnSpc>
                <a:spcPts val="1800"/>
              </a:lnSpc>
              <a:buNone/>
            </a:pPr>
            <a:r>
              <a:rPr lang="en-US" sz="1300" dirty="0">
                <a:solidFill>
                  <a:srgbClr val="596273"/>
                </a:solidFill>
                <a:latin typeface="Calibri" pitchFamily="34" charset="0"/>
                <a:ea typeface="Calibri" pitchFamily="34" charset="-122"/>
                <a:cs typeface="Calibri" pitchFamily="34" charset="-120"/>
              </a:rPr>
              <a:t>The third option is not always on the menu. In many playthroughs the peace dialogue simply does not appear — the player is offered two exterminations and no third door, and is never told a third door existed. Whether you are even given the chance to do the right thing depends on things you did in a different game, months earlier.</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THE QUIET GRADING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What you had to have already done</a:t>
            </a:r>
            <a:endParaRPr lang="en-US" sz="3000" dirty="0"/>
          </a:p>
        </p:txBody>
      </p:sp>
      <p:sp>
        <p:nvSpPr>
          <p:cNvPr id="5" name="Shape 3"/>
          <p:cNvSpPr/>
          <p:nvPr/>
        </p:nvSpPr>
        <p:spPr>
          <a:xfrm>
            <a:off x="640080" y="1554480"/>
            <a:ext cx="5852160" cy="4206240"/>
          </a:xfrm>
          <a:prstGeom prst="roundRect">
            <a:avLst>
              <a:gd name="adj" fmla="val 1739"/>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1005840" y="1773936"/>
            <a:ext cx="5120640" cy="292608"/>
          </a:xfrm>
          <a:prstGeom prst="rect">
            <a:avLst/>
          </a:prstGeom>
          <a:noFill/>
          <a:ln/>
        </p:spPr>
        <p:txBody>
          <a:bodyPr wrap="square" lIns="0" tIns="0" rIns="0" bIns="0" rtlCol="0" anchor="ctr"/>
          <a:lstStyle/>
          <a:p>
            <a:pPr marL="0" indent="0">
              <a:buNone/>
            </a:pPr>
            <a:r>
              <a:rPr lang="en-US" sz="1150" b="1" kern="0" spc="140" dirty="0">
                <a:solidFill>
                  <a:srgbClr val="A79CEB"/>
                </a:solidFill>
                <a:latin typeface="Calibri" pitchFamily="34" charset="0"/>
                <a:ea typeface="Calibri" pitchFamily="34" charset="-122"/>
                <a:cs typeface="Calibri" pitchFamily="34" charset="-120"/>
              </a:rPr>
              <a:t>The peace check, in outline</a:t>
            </a:r>
            <a:endParaRPr lang="en-US" sz="1150" dirty="0"/>
          </a:p>
        </p:txBody>
      </p:sp>
      <p:sp>
        <p:nvSpPr>
          <p:cNvPr id="7" name="Text 5"/>
          <p:cNvSpPr txBox="1"/>
          <p:nvPr/>
        </p:nvSpPr>
        <p:spPr>
          <a:xfrm>
            <a:off x="1005840" y="2194560"/>
            <a:ext cx="5166360" cy="338328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250" dirty="0">
                <a:solidFill>
                  <a:srgbClr val="F1F3F6"/>
                </a:solidFill>
                <a:latin typeface="Calibri" pitchFamily="34" charset="0"/>
                <a:ea typeface="Calibri" pitchFamily="34" charset="-122"/>
                <a:cs typeface="Calibri" pitchFamily="34" charset="-120"/>
              </a:rPr>
              <a:t>A high reputation bar — you must have accumulated enough Paragon or Renegade standing across the whole game to unlock the persuasion option at all.</a:t>
            </a:r>
            <a:endParaRPr lang="en-US" sz="1250" dirty="0"/>
          </a:p>
          <a:p>
            <a:pPr marL="342900" indent="-342900">
              <a:lnSpc>
                <a:spcPts val="1700"/>
              </a:lnSpc>
              <a:spcAft>
                <a:spcPts val="800"/>
              </a:spcAft>
              <a:buSzPct val="100000"/>
              <a:buChar char="•"/>
            </a:pPr>
            <a:r>
              <a:rPr lang="en-US" sz="1250" dirty="0">
                <a:solidFill>
                  <a:srgbClr val="F1F3F6"/>
                </a:solidFill>
                <a:latin typeface="Calibri" pitchFamily="34" charset="0"/>
                <a:ea typeface="Calibri" pitchFamily="34" charset="-122"/>
                <a:cs typeface="Calibri" pitchFamily="34" charset="-120"/>
              </a:rPr>
              <a:t>Both Tali and Legion alive and loyal at the end of Mass Effect 2, which requires their loyalty missions completed and survived.</a:t>
            </a:r>
            <a:endParaRPr lang="en-US" sz="1250" dirty="0"/>
          </a:p>
          <a:p>
            <a:pPr marL="342900" indent="-342900">
              <a:lnSpc>
                <a:spcPts val="1700"/>
              </a:lnSpc>
              <a:spcAft>
                <a:spcPts val="800"/>
              </a:spcAft>
              <a:buSzPct val="100000"/>
              <a:buChar char="•"/>
            </a:pPr>
            <a:r>
              <a:rPr lang="en-US" sz="1250" dirty="0">
                <a:solidFill>
                  <a:srgbClr val="F1F3F6"/>
                </a:solidFill>
                <a:latin typeface="Calibri" pitchFamily="34" charset="0"/>
                <a:ea typeface="Calibri" pitchFamily="34" charset="-122"/>
                <a:cs typeface="Calibri" pitchFamily="34" charset="-120"/>
              </a:rPr>
              <a:t>Their shipboard argument defused rather than settled by taking a side — itself gated behind a reputation check.</a:t>
            </a:r>
            <a:endParaRPr lang="en-US" sz="1250" dirty="0"/>
          </a:p>
          <a:p>
            <a:pPr marL="342900" indent="-342900">
              <a:lnSpc>
                <a:spcPts val="1700"/>
              </a:lnSpc>
              <a:spcAft>
                <a:spcPts val="800"/>
              </a:spcAft>
              <a:buSzPct val="100000"/>
              <a:buChar char="•"/>
            </a:pPr>
            <a:r>
              <a:rPr lang="en-US" sz="1250" dirty="0">
                <a:solidFill>
                  <a:srgbClr val="F1F3F6"/>
                </a:solidFill>
                <a:latin typeface="Calibri" pitchFamily="34" charset="0"/>
                <a:ea typeface="Calibri" pitchFamily="34" charset="-122"/>
                <a:cs typeface="Calibri" pitchFamily="34" charset="-120"/>
              </a:rPr>
              <a:t>Specific optional missions in Mass Effect 3, including rescuing Admiral Koris himself rather than his crew.</a:t>
            </a:r>
            <a:endParaRPr lang="en-US" sz="1250" dirty="0"/>
          </a:p>
          <a:p>
            <a:pPr marL="342900" indent="-342900">
              <a:lnSpc>
                <a:spcPts val="1700"/>
              </a:lnSpc>
              <a:spcAft>
                <a:spcPts val="800"/>
              </a:spcAft>
              <a:buSzPct val="100000"/>
              <a:buChar char="•"/>
            </a:pPr>
            <a:r>
              <a:rPr lang="en-US" sz="1250" dirty="0">
                <a:solidFill>
                  <a:srgbClr val="F1F3F6"/>
                </a:solidFill>
                <a:latin typeface="Calibri" pitchFamily="34" charset="0"/>
                <a:ea typeface="Calibri" pitchFamily="34" charset="-122"/>
                <a:cs typeface="Calibri" pitchFamily="34" charset="-120"/>
              </a:rPr>
              <a:t>And an imported save. Start fresh and the door is closed before you begin.</a:t>
            </a:r>
            <a:endParaRPr lang="en-US" sz="1250" dirty="0"/>
          </a:p>
        </p:txBody>
      </p:sp>
      <p:sp>
        <p:nvSpPr>
          <p:cNvPr id="8" name="Shape 6"/>
          <p:cNvSpPr/>
          <p:nvPr/>
        </p:nvSpPr>
        <p:spPr>
          <a:xfrm>
            <a:off x="6812280" y="1554480"/>
            <a:ext cx="4718304" cy="1353312"/>
          </a:xfrm>
          <a:prstGeom prst="roundRect">
            <a:avLst>
              <a:gd name="adj" fmla="val 5405"/>
            </a:avLst>
          </a:prstGeom>
          <a:solidFill>
            <a:srgbClr val="E4F1EC"/>
          </a:solidFill>
          <a:ln w="12700">
            <a:solidFill>
              <a:srgbClr val="E4F1EC"/>
            </a:solidFill>
            <a:prstDash val="solid"/>
          </a:ln>
        </p:spPr>
        <p:txBody>
          <a:bodyPr/>
          <a:lstStyle/>
          <a:p>
            <a:endParaRPr lang="en-US"/>
          </a:p>
        </p:txBody>
      </p:sp>
      <p:sp>
        <p:nvSpPr>
          <p:cNvPr id="9" name="Text 7"/>
          <p:cNvSpPr txBox="1"/>
          <p:nvPr/>
        </p:nvSpPr>
        <p:spPr>
          <a:xfrm>
            <a:off x="7086600" y="1700784"/>
            <a:ext cx="4169664" cy="310896"/>
          </a:xfrm>
          <a:prstGeom prst="rect">
            <a:avLst/>
          </a:prstGeom>
          <a:noFill/>
          <a:ln/>
        </p:spPr>
        <p:txBody>
          <a:bodyPr wrap="square" lIns="0" tIns="0" rIns="0" bIns="0" rtlCol="0" anchor="ctr"/>
          <a:lstStyle/>
          <a:p>
            <a:pPr marL="0" indent="0">
              <a:buNone/>
            </a:pPr>
            <a:r>
              <a:rPr lang="en-US" sz="1500" b="1" dirty="0">
                <a:solidFill>
                  <a:srgbClr val="0D1117"/>
                </a:solidFill>
                <a:latin typeface="Cambria" pitchFamily="34" charset="0"/>
                <a:ea typeface="Cambria" pitchFamily="34" charset="-122"/>
                <a:cs typeface="Cambria" pitchFamily="34" charset="-120"/>
              </a:rPr>
              <a:t>What the rules argue</a:t>
            </a:r>
            <a:endParaRPr lang="en-US" sz="1500" dirty="0"/>
          </a:p>
        </p:txBody>
      </p:sp>
      <p:sp>
        <p:nvSpPr>
          <p:cNvPr id="10" name="Text 8"/>
          <p:cNvSpPr txBox="1"/>
          <p:nvPr/>
        </p:nvSpPr>
        <p:spPr>
          <a:xfrm>
            <a:off x="7086600" y="2057400"/>
            <a:ext cx="4169664" cy="777240"/>
          </a:xfrm>
          <a:prstGeom prst="rect">
            <a:avLst/>
          </a:prstGeom>
          <a:noFill/>
          <a:ln/>
        </p:spPr>
        <p:txBody>
          <a:bodyPr wrap="square" lIns="0" tIns="0" rIns="0" bIns="0" rtlCol="0" anchor="ctr"/>
          <a:lstStyle/>
          <a:p>
            <a:pPr marL="0" indent="0">
              <a:lnSpc>
                <a:spcPts val="1600"/>
              </a:lnSpc>
              <a:buNone/>
            </a:pPr>
            <a:r>
              <a:rPr lang="en-US" sz="1200" dirty="0">
                <a:solidFill>
                  <a:srgbClr val="596273"/>
                </a:solidFill>
                <a:latin typeface="Calibri" pitchFamily="34" charset="0"/>
                <a:ea typeface="Calibri" pitchFamily="34" charset="-122"/>
                <a:cs typeface="Calibri" pitchFamily="34" charset="-120"/>
              </a:rPr>
              <a:t>That reconciliation is a capacity you build slowly and cannot improvise at the crisis. Nothing in the final scene can rescue a player who has not done the groundwork.</a:t>
            </a:r>
            <a:endParaRPr lang="en-US" sz="1200" dirty="0"/>
          </a:p>
        </p:txBody>
      </p:sp>
      <p:sp>
        <p:nvSpPr>
          <p:cNvPr id="11" name="Shape 9"/>
          <p:cNvSpPr/>
          <p:nvPr/>
        </p:nvSpPr>
        <p:spPr>
          <a:xfrm>
            <a:off x="6812280" y="2980944"/>
            <a:ext cx="4718304" cy="1353312"/>
          </a:xfrm>
          <a:prstGeom prst="roundRect">
            <a:avLst>
              <a:gd name="adj" fmla="val 5405"/>
            </a:avLst>
          </a:prstGeom>
          <a:solidFill>
            <a:srgbClr val="E4F1EC"/>
          </a:solidFill>
          <a:ln w="12700">
            <a:solidFill>
              <a:srgbClr val="E4F1EC"/>
            </a:solidFill>
            <a:prstDash val="solid"/>
          </a:ln>
        </p:spPr>
        <p:txBody>
          <a:bodyPr/>
          <a:lstStyle/>
          <a:p>
            <a:endParaRPr lang="en-US"/>
          </a:p>
        </p:txBody>
      </p:sp>
      <p:sp>
        <p:nvSpPr>
          <p:cNvPr id="12" name="Text 10"/>
          <p:cNvSpPr txBox="1"/>
          <p:nvPr/>
        </p:nvSpPr>
        <p:spPr>
          <a:xfrm>
            <a:off x="7086600" y="3127248"/>
            <a:ext cx="4169664" cy="310896"/>
          </a:xfrm>
          <a:prstGeom prst="rect">
            <a:avLst/>
          </a:prstGeom>
          <a:noFill/>
          <a:ln/>
        </p:spPr>
        <p:txBody>
          <a:bodyPr wrap="square" lIns="0" tIns="0" rIns="0" bIns="0" rtlCol="0" anchor="ctr"/>
          <a:lstStyle/>
          <a:p>
            <a:pPr marL="0" indent="0">
              <a:buNone/>
            </a:pPr>
            <a:r>
              <a:rPr lang="en-US" sz="1500" b="1" dirty="0">
                <a:solidFill>
                  <a:srgbClr val="0D1117"/>
                </a:solidFill>
                <a:latin typeface="Cambria" pitchFamily="34" charset="0"/>
                <a:ea typeface="Cambria" pitchFamily="34" charset="-122"/>
                <a:cs typeface="Cambria" pitchFamily="34" charset="-120"/>
              </a:rPr>
              <a:t>The generous reading</a:t>
            </a:r>
            <a:endParaRPr lang="en-US" sz="1500" dirty="0"/>
          </a:p>
        </p:txBody>
      </p:sp>
      <p:sp>
        <p:nvSpPr>
          <p:cNvPr id="13" name="Text 11"/>
          <p:cNvSpPr txBox="1"/>
          <p:nvPr/>
        </p:nvSpPr>
        <p:spPr>
          <a:xfrm>
            <a:off x="7086600" y="3483864"/>
            <a:ext cx="4169664" cy="777240"/>
          </a:xfrm>
          <a:prstGeom prst="rect">
            <a:avLst/>
          </a:prstGeom>
          <a:noFill/>
          <a:ln/>
        </p:spPr>
        <p:txBody>
          <a:bodyPr wrap="square" lIns="0" tIns="0" rIns="0" bIns="0" rtlCol="0" anchor="ctr"/>
          <a:lstStyle/>
          <a:p>
            <a:pPr marL="0" indent="0">
              <a:lnSpc>
                <a:spcPts val="1600"/>
              </a:lnSpc>
              <a:buNone/>
            </a:pPr>
            <a:r>
              <a:rPr lang="en-US" sz="1200" dirty="0">
                <a:solidFill>
                  <a:srgbClr val="596273"/>
                </a:solidFill>
                <a:latin typeface="Calibri" pitchFamily="34" charset="0"/>
                <a:ea typeface="Calibri" pitchFamily="34" charset="-122"/>
                <a:cs typeface="Calibri" pitchFamily="34" charset="-120"/>
              </a:rPr>
              <a:t>A real moral claim, and an unfashionable one: brokering peace is a function of relationships maintained over years, not of good intentions in the moment.</a:t>
            </a:r>
            <a:endParaRPr lang="en-US" sz="1200" dirty="0"/>
          </a:p>
        </p:txBody>
      </p:sp>
      <p:sp>
        <p:nvSpPr>
          <p:cNvPr id="14" name="Shape 12"/>
          <p:cNvSpPr/>
          <p:nvPr/>
        </p:nvSpPr>
        <p:spPr>
          <a:xfrm>
            <a:off x="6812280" y="4407408"/>
            <a:ext cx="4718304" cy="1353312"/>
          </a:xfrm>
          <a:prstGeom prst="roundRect">
            <a:avLst>
              <a:gd name="adj" fmla="val 5405"/>
            </a:avLst>
          </a:prstGeom>
          <a:solidFill>
            <a:srgbClr val="ECEAF9"/>
          </a:solidFill>
          <a:ln w="12700">
            <a:solidFill>
              <a:srgbClr val="ECEAF9"/>
            </a:solidFill>
            <a:prstDash val="solid"/>
          </a:ln>
        </p:spPr>
        <p:txBody>
          <a:bodyPr/>
          <a:lstStyle/>
          <a:p>
            <a:endParaRPr lang="en-US"/>
          </a:p>
        </p:txBody>
      </p:sp>
      <p:sp>
        <p:nvSpPr>
          <p:cNvPr id="15" name="Text 13"/>
          <p:cNvSpPr txBox="1"/>
          <p:nvPr/>
        </p:nvSpPr>
        <p:spPr>
          <a:xfrm>
            <a:off x="7086600" y="4553712"/>
            <a:ext cx="4169664" cy="310896"/>
          </a:xfrm>
          <a:prstGeom prst="rect">
            <a:avLst/>
          </a:prstGeom>
          <a:noFill/>
          <a:ln/>
        </p:spPr>
        <p:txBody>
          <a:bodyPr wrap="square" lIns="0" tIns="0" rIns="0" bIns="0" rtlCol="0" anchor="ctr"/>
          <a:lstStyle/>
          <a:p>
            <a:pPr marL="0" indent="0">
              <a:buNone/>
            </a:pPr>
            <a:r>
              <a:rPr lang="en-US" sz="1500" b="1" dirty="0">
                <a:solidFill>
                  <a:srgbClr val="6659C4"/>
                </a:solidFill>
                <a:latin typeface="Cambria" pitchFamily="34" charset="0"/>
                <a:ea typeface="Cambria" pitchFamily="34" charset="-122"/>
                <a:cs typeface="Cambria" pitchFamily="34" charset="-120"/>
              </a:rPr>
              <a:t>The critique</a:t>
            </a:r>
            <a:endParaRPr lang="en-US" sz="1500" dirty="0"/>
          </a:p>
        </p:txBody>
      </p:sp>
      <p:sp>
        <p:nvSpPr>
          <p:cNvPr id="16" name="Text 14"/>
          <p:cNvSpPr txBox="1"/>
          <p:nvPr/>
        </p:nvSpPr>
        <p:spPr>
          <a:xfrm>
            <a:off x="7086600" y="4910328"/>
            <a:ext cx="4169664" cy="777240"/>
          </a:xfrm>
          <a:prstGeom prst="rect">
            <a:avLst/>
          </a:prstGeom>
          <a:noFill/>
          <a:ln/>
        </p:spPr>
        <p:txBody>
          <a:bodyPr wrap="square" lIns="0" tIns="0" rIns="0" bIns="0" rtlCol="0" anchor="ctr"/>
          <a:lstStyle/>
          <a:p>
            <a:pPr marL="0" indent="0">
              <a:lnSpc>
                <a:spcPts val="1600"/>
              </a:lnSpc>
              <a:buNone/>
            </a:pPr>
            <a:r>
              <a:rPr lang="en-US" sz="1200" dirty="0">
                <a:solidFill>
                  <a:srgbClr val="596273"/>
                </a:solidFill>
                <a:latin typeface="Calibri" pitchFamily="34" charset="0"/>
                <a:ea typeface="Calibri" pitchFamily="34" charset="-122"/>
                <a:cs typeface="Calibri" pitchFamily="34" charset="-120"/>
              </a:rPr>
              <a:t>It is also just an accumulation check. The game cannot distinguish a player who understood the geth from one who farmed reputation, and it rewards them identically.</a:t>
            </a:r>
            <a:endParaRPr lang="en-US" sz="1200" dirty="0"/>
          </a:p>
        </p:txBody>
      </p:sp>
      <p:sp>
        <p:nvSpPr>
          <p:cNvPr id="17" name="Text 15"/>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96273"/>
                </a:solidFill>
                <a:latin typeface="Calibri" pitchFamily="34" charset="0"/>
                <a:ea typeface="Calibri" pitchFamily="34" charset="-122"/>
                <a:cs typeface="Calibri" pitchFamily="34" charset="-120"/>
              </a:rPr>
              <a:t>Exact thresholds vary by edition and patch — treat this as the shape of the check rather than as a walkthrough.</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MASS EFFECT · THE VERDICT</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What it has made you responsible for</a:t>
            </a:r>
            <a:endParaRPr lang="en-US" sz="3000" dirty="0"/>
          </a:p>
        </p:txBody>
      </p:sp>
      <p:sp>
        <p:nvSpPr>
          <p:cNvPr id="5" name="Shape 3"/>
          <p:cNvSpPr/>
          <p:nvPr/>
        </p:nvSpPr>
        <p:spPr>
          <a:xfrm>
            <a:off x="640080" y="1572768"/>
            <a:ext cx="3454298" cy="2286000"/>
          </a:xfrm>
          <a:prstGeom prst="roundRect">
            <a:avLst>
              <a:gd name="adj" fmla="val 3200"/>
            </a:avLst>
          </a:prstGeom>
          <a:solidFill>
            <a:srgbClr val="E4F1EC"/>
          </a:solidFill>
          <a:ln w="12700">
            <a:solidFill>
              <a:srgbClr val="E4F1EC"/>
            </a:solidFill>
            <a:prstDash val="solid"/>
          </a:ln>
        </p:spPr>
        <p:txBody>
          <a:bodyPr/>
          <a:lstStyle/>
          <a:p>
            <a:endParaRPr lang="en-US"/>
          </a:p>
        </p:txBody>
      </p:sp>
      <p:sp>
        <p:nvSpPr>
          <p:cNvPr id="6" name="Text 4"/>
          <p:cNvSpPr txBox="1"/>
          <p:nvPr/>
        </p:nvSpPr>
        <p:spPr>
          <a:xfrm>
            <a:off x="914400"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0D1117"/>
                </a:solidFill>
                <a:latin typeface="Cambria" pitchFamily="34" charset="0"/>
                <a:ea typeface="Cambria" pitchFamily="34" charset="-122"/>
                <a:cs typeface="Cambria" pitchFamily="34" charset="-120"/>
              </a:rPr>
              <a:t>For having prepared</a:t>
            </a:r>
            <a:endParaRPr lang="en-US" sz="1650" dirty="0"/>
          </a:p>
        </p:txBody>
      </p:sp>
      <p:sp>
        <p:nvSpPr>
          <p:cNvPr id="7" name="Text 5"/>
          <p:cNvSpPr txBox="1"/>
          <p:nvPr/>
        </p:nvSpPr>
        <p:spPr>
          <a:xfrm>
            <a:off x="914400" y="2450592"/>
            <a:ext cx="2905658" cy="118872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Not for the decision — for the standing you brought to it. You are held to a history rather than to a moment, which is unusual and arguably more honest than the alternative.</a:t>
            </a:r>
            <a:endParaRPr lang="en-US" sz="1250" dirty="0"/>
          </a:p>
        </p:txBody>
      </p:sp>
      <p:sp>
        <p:nvSpPr>
          <p:cNvPr id="8" name="Shape 6"/>
          <p:cNvSpPr/>
          <p:nvPr/>
        </p:nvSpPr>
        <p:spPr>
          <a:xfrm>
            <a:off x="4368698" y="1572768"/>
            <a:ext cx="3454298" cy="2286000"/>
          </a:xfrm>
          <a:prstGeom prst="roundRect">
            <a:avLst>
              <a:gd name="adj" fmla="val 3200"/>
            </a:avLst>
          </a:prstGeom>
          <a:solidFill>
            <a:srgbClr val="ECEAF9"/>
          </a:solidFill>
          <a:ln w="12700">
            <a:solidFill>
              <a:srgbClr val="ECEAF9"/>
            </a:solidFill>
            <a:prstDash val="solid"/>
          </a:ln>
        </p:spPr>
        <p:txBody>
          <a:bodyPr/>
          <a:lstStyle/>
          <a:p>
            <a:endParaRPr lang="en-US"/>
          </a:p>
        </p:txBody>
      </p:sp>
      <p:sp>
        <p:nvSpPr>
          <p:cNvPr id="9" name="Text 7"/>
          <p:cNvSpPr txBox="1"/>
          <p:nvPr/>
        </p:nvSpPr>
        <p:spPr>
          <a:xfrm>
            <a:off x="4643018"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0D1117"/>
                </a:solidFill>
                <a:latin typeface="Cambria" pitchFamily="34" charset="0"/>
                <a:ea typeface="Cambria" pitchFamily="34" charset="-122"/>
                <a:cs typeface="Cambria" pitchFamily="34" charset="-120"/>
              </a:rPr>
              <a:t>For an outcome you cannot undo</a:t>
            </a:r>
            <a:endParaRPr lang="en-US" sz="1650" dirty="0"/>
          </a:p>
        </p:txBody>
      </p:sp>
      <p:sp>
        <p:nvSpPr>
          <p:cNvPr id="10" name="Text 8"/>
          <p:cNvSpPr txBox="1"/>
          <p:nvPr/>
        </p:nvSpPr>
        <p:spPr>
          <a:xfrm>
            <a:off x="4643018" y="2450592"/>
            <a:ext cx="2905658" cy="118872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No reload prompt, no retry screen, and the consequences propagate into the final act as numbers. You are made to live inside your own result.</a:t>
            </a:r>
            <a:endParaRPr lang="en-US" sz="1250" dirty="0"/>
          </a:p>
        </p:txBody>
      </p:sp>
      <p:sp>
        <p:nvSpPr>
          <p:cNvPr id="11" name="Shape 9"/>
          <p:cNvSpPr/>
          <p:nvPr/>
        </p:nvSpPr>
        <p:spPr>
          <a:xfrm>
            <a:off x="8097317" y="1572768"/>
            <a:ext cx="3454298" cy="2286000"/>
          </a:xfrm>
          <a:prstGeom prst="roundRect">
            <a:avLst>
              <a:gd name="adj" fmla="val 3200"/>
            </a:avLst>
          </a:prstGeom>
          <a:solidFill>
            <a:srgbClr val="E4F1EC"/>
          </a:solidFill>
          <a:ln w="12700">
            <a:solidFill>
              <a:srgbClr val="E4F1EC"/>
            </a:solidFill>
            <a:prstDash val="solid"/>
          </a:ln>
        </p:spPr>
        <p:txBody>
          <a:bodyPr/>
          <a:lstStyle/>
          <a:p>
            <a:endParaRPr lang="en-US"/>
          </a:p>
        </p:txBody>
      </p:sp>
      <p:sp>
        <p:nvSpPr>
          <p:cNvPr id="12" name="Text 10"/>
          <p:cNvSpPr txBox="1"/>
          <p:nvPr/>
        </p:nvSpPr>
        <p:spPr>
          <a:xfrm>
            <a:off x="8371637"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0D1117"/>
                </a:solidFill>
                <a:latin typeface="Cambria" pitchFamily="34" charset="0"/>
                <a:ea typeface="Cambria" pitchFamily="34" charset="-122"/>
                <a:cs typeface="Cambria" pitchFamily="34" charset="-120"/>
              </a:rPr>
              <a:t>But not for the framing</a:t>
            </a:r>
            <a:endParaRPr lang="en-US" sz="1650" dirty="0"/>
          </a:p>
        </p:txBody>
      </p:sp>
      <p:sp>
        <p:nvSpPr>
          <p:cNvPr id="13" name="Text 11"/>
          <p:cNvSpPr txBox="1"/>
          <p:nvPr/>
        </p:nvSpPr>
        <p:spPr>
          <a:xfrm>
            <a:off x="8371637" y="2450592"/>
            <a:ext cx="2905658" cy="118872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You never chose to be the arbiter. The game assigns you the position of the only being both sides will talk to, and never lets you decline it or ask why a soldier is doing diplomacy.</a:t>
            </a:r>
            <a:endParaRPr lang="en-US" sz="1250" dirty="0"/>
          </a:p>
        </p:txBody>
      </p:sp>
      <p:sp>
        <p:nvSpPr>
          <p:cNvPr id="14" name="Shape 12"/>
          <p:cNvSpPr/>
          <p:nvPr/>
        </p:nvSpPr>
        <p:spPr>
          <a:xfrm>
            <a:off x="640080" y="4114800"/>
            <a:ext cx="10911535" cy="1645920"/>
          </a:xfrm>
          <a:prstGeom prst="roundRect">
            <a:avLst>
              <a:gd name="adj" fmla="val 4444"/>
            </a:avLst>
          </a:prstGeom>
          <a:solidFill>
            <a:srgbClr val="0D1117"/>
          </a:solidFill>
          <a:ln w="12700">
            <a:solidFill>
              <a:srgbClr val="0D1117"/>
            </a:solidFill>
            <a:prstDash val="solid"/>
          </a:ln>
        </p:spPr>
        <p:txBody>
          <a:bodyPr/>
          <a:lstStyle/>
          <a:p>
            <a:endParaRPr lang="en-US"/>
          </a:p>
        </p:txBody>
      </p:sp>
      <p:sp>
        <p:nvSpPr>
          <p:cNvPr id="15" name="Text 13"/>
          <p:cNvSpPr txBox="1"/>
          <p:nvPr/>
        </p:nvSpPr>
        <p:spPr>
          <a:xfrm>
            <a:off x="1005840" y="4297680"/>
            <a:ext cx="10424160" cy="274320"/>
          </a:xfrm>
          <a:prstGeom prst="rect">
            <a:avLst/>
          </a:prstGeom>
          <a:noFill/>
          <a:ln/>
        </p:spPr>
        <p:txBody>
          <a:bodyPr wrap="square" lIns="0" tIns="0" rIns="0" bIns="0" rtlCol="0" anchor="ctr"/>
          <a:lstStyle/>
          <a:p>
            <a:pPr marL="0" indent="0">
              <a:buNone/>
            </a:pPr>
            <a:r>
              <a:rPr lang="en-US" sz="1150" b="1" kern="0" spc="140" dirty="0">
                <a:solidFill>
                  <a:srgbClr val="A79CEB"/>
                </a:solidFill>
                <a:latin typeface="Calibri" pitchFamily="34" charset="0"/>
                <a:ea typeface="Calibri" pitchFamily="34" charset="-122"/>
                <a:cs typeface="Calibri" pitchFamily="34" charset="-120"/>
              </a:rPr>
              <a:t>The procedural claim, stated plainly</a:t>
            </a:r>
            <a:endParaRPr lang="en-US" sz="1150" dirty="0"/>
          </a:p>
        </p:txBody>
      </p:sp>
      <p:sp>
        <p:nvSpPr>
          <p:cNvPr id="16" name="Text 14"/>
          <p:cNvSpPr txBox="1"/>
          <p:nvPr/>
        </p:nvSpPr>
        <p:spPr>
          <a:xfrm>
            <a:off x="1005840" y="4645152"/>
            <a:ext cx="10424160" cy="932688"/>
          </a:xfrm>
          <a:prstGeom prst="rect">
            <a:avLst/>
          </a:prstGeom>
          <a:noFill/>
          <a:ln/>
        </p:spPr>
        <p:txBody>
          <a:bodyPr wrap="square" lIns="0" tIns="0" rIns="0" bIns="0" rtlCol="0" anchor="ctr"/>
          <a:lstStyle/>
          <a:p>
            <a:pPr marL="0" indent="0">
              <a:lnSpc>
                <a:spcPts val="2100"/>
              </a:lnSpc>
              <a:buNone/>
            </a:pPr>
            <a:r>
              <a:rPr lang="en-US" sz="1550" dirty="0">
                <a:solidFill>
                  <a:srgbClr val="F1F3F6"/>
                </a:solidFill>
                <a:latin typeface="Cambria" pitchFamily="34" charset="0"/>
                <a:ea typeface="Cambria" pitchFamily="34" charset="-122"/>
                <a:cs typeface="Cambria" pitchFamily="34" charset="-120"/>
              </a:rPr>
              <a:t>Mass Effect argues that synthetic personhood is real, negotiable and contingent — that it can be recognised, and that recognition is something you either built the capacity for or did not. It is the only text this week that treats the machine side as a polity with a position rather than as a moral test for humans.</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8686800" y="1371600"/>
            <a:ext cx="2743200" cy="2743200"/>
          </a:xfrm>
          <a:prstGeom prst="ellipse">
            <a:avLst/>
          </a:prstGeom>
          <a:solidFill>
            <a:srgbClr val="6659C4">
              <a:alpha val="65000"/>
            </a:srgbClr>
          </a:solidFill>
          <a:ln/>
        </p:spPr>
        <p:txBody>
          <a:bodyPr/>
          <a:lstStyle/>
          <a:p>
            <a:endParaRPr lang="en-US"/>
          </a:p>
        </p:txBody>
      </p:sp>
      <p:sp>
        <p:nvSpPr>
          <p:cNvPr id="3" name="Shape 1"/>
          <p:cNvSpPr/>
          <p:nvPr/>
        </p:nvSpPr>
        <p:spPr>
          <a:xfrm>
            <a:off x="9601200" y="2286000"/>
            <a:ext cx="1280160" cy="1280160"/>
          </a:xfrm>
          <a:prstGeom prst="ellipse">
            <a:avLst/>
          </a:prstGeom>
          <a:solidFill>
            <a:srgbClr val="1F9E77">
              <a:alpha val="70000"/>
            </a:srgbClr>
          </a:solidFill>
          <a:ln/>
        </p:spPr>
        <p:txBody>
          <a:bodyPr/>
          <a:lstStyle/>
          <a:p>
            <a:endParaRPr lang="en-US"/>
          </a:p>
        </p:txBody>
      </p:sp>
      <p:sp>
        <p:nvSpPr>
          <p:cNvPr id="4" name="Text 2"/>
          <p:cNvSpPr txBox="1"/>
          <p:nvPr/>
        </p:nvSpPr>
        <p:spPr>
          <a:xfrm>
            <a:off x="640080" y="1920240"/>
            <a:ext cx="7315200" cy="320040"/>
          </a:xfrm>
          <a:prstGeom prst="rect">
            <a:avLst/>
          </a:prstGeom>
          <a:noFill/>
          <a:ln/>
        </p:spPr>
        <p:txBody>
          <a:bodyPr wrap="square" lIns="0" tIns="0" rIns="0" bIns="0" rtlCol="0" anchor="ctr"/>
          <a:lstStyle/>
          <a:p>
            <a:pPr marL="0" indent="0">
              <a:buNone/>
            </a:pPr>
            <a:r>
              <a:rPr lang="en-US" sz="1300" b="1" kern="0" spc="220" dirty="0">
                <a:solidFill>
                  <a:srgbClr val="A79CEB"/>
                </a:solidFill>
                <a:latin typeface="Calibri" pitchFamily="34" charset="0"/>
                <a:ea typeface="Calibri" pitchFamily="34" charset="-122"/>
                <a:cs typeface="Calibri" pitchFamily="34" charset="-120"/>
              </a:rPr>
              <a:t>PART FOUR</a:t>
            </a:r>
            <a:endParaRPr lang="en-US" sz="1300" dirty="0"/>
          </a:p>
        </p:txBody>
      </p:sp>
      <p:sp>
        <p:nvSpPr>
          <p:cNvPr id="5" name="Text 3"/>
          <p:cNvSpPr txBox="1"/>
          <p:nvPr/>
        </p:nvSpPr>
        <p:spPr>
          <a:xfrm>
            <a:off x="640080" y="2331720"/>
            <a:ext cx="7680960" cy="914400"/>
          </a:xfrm>
          <a:prstGeom prst="rect">
            <a:avLst/>
          </a:prstGeom>
          <a:noFill/>
          <a:ln/>
        </p:spPr>
        <p:txBody>
          <a:bodyPr wrap="square" lIns="0" tIns="0" rIns="0" bIns="0" rtlCol="0" anchor="ctr"/>
          <a:lstStyle/>
          <a:p>
            <a:pPr marL="0" indent="0">
              <a:buNone/>
            </a:pPr>
            <a:r>
              <a:rPr lang="en-US" sz="3800" b="1" dirty="0">
                <a:solidFill>
                  <a:srgbClr val="F1F3F6"/>
                </a:solidFill>
                <a:latin typeface="Cambria" pitchFamily="34" charset="0"/>
                <a:ea typeface="Cambria" pitchFamily="34" charset="-122"/>
                <a:cs typeface="Cambria" pitchFamily="34" charset="-120"/>
              </a:rPr>
              <a:t>Detroit: Become Human</a:t>
            </a:r>
            <a:endParaRPr lang="en-US" sz="38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Quantic Dream, 2018  ·  Kara and Markus  ·  2:35–3:35</a:t>
            </a:r>
            <a:endParaRPr lang="en-US" sz="1500" dirty="0"/>
          </a:p>
        </p:txBody>
      </p:sp>
      <p:sp>
        <p:nvSpPr>
          <p:cNvPr id="7" name="Shape 5"/>
          <p:cNvSpPr/>
          <p:nvPr/>
        </p:nvSpPr>
        <p:spPr>
          <a:xfrm>
            <a:off x="640080" y="3913632"/>
            <a:ext cx="2377440" cy="18288"/>
          </a:xfrm>
          <a:prstGeom prst="rect">
            <a:avLst/>
          </a:prstGeom>
          <a:solidFill>
            <a:srgbClr val="1F9E77"/>
          </a:solidFill>
          <a:ln/>
        </p:spPr>
        <p:txBody>
          <a:bodyPr/>
          <a:lstStyle/>
          <a:p>
            <a:endParaRPr lang="en-US"/>
          </a:p>
        </p:txBody>
      </p:sp>
      <p:sp>
        <p:nvSpPr>
          <p:cNvPr id="8" name="Text 6"/>
          <p:cNvSpPr txBox="1"/>
          <p:nvPr/>
        </p:nvSpPr>
        <p:spPr>
          <a:xfrm>
            <a:off x="640080" y="4133088"/>
            <a:ext cx="7680960" cy="731520"/>
          </a:xfrm>
          <a:prstGeom prst="rect">
            <a:avLst/>
          </a:prstGeom>
          <a:noFill/>
          <a:ln/>
        </p:spPr>
        <p:txBody>
          <a:bodyPr wrap="square" lIns="0" tIns="0" rIns="0" bIns="0" rtlCol="0" anchor="ctr"/>
          <a:lstStyle/>
          <a:p>
            <a:pPr marL="0" indent="0">
              <a:lnSpc>
                <a:spcPts val="2500"/>
              </a:lnSpc>
              <a:buNone/>
            </a:pPr>
            <a:r>
              <a:rPr lang="en-US" sz="1850" i="1" dirty="0">
                <a:solidFill>
                  <a:srgbClr val="6FD3AF"/>
                </a:solidFill>
                <a:latin typeface="Cambria" pitchFamily="34" charset="0"/>
                <a:ea typeface="Cambria" pitchFamily="34" charset="-122"/>
                <a:cs typeface="Cambria" pitchFamily="34" charset="-120"/>
              </a:rPr>
              <a:t>It hands you the controller and implicates you — then borrows its imagery, and borrows it clumsily.</a:t>
            </a:r>
            <a:endParaRPr lang="en-US" sz="1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HOW THE GAME WORKS</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The flowchart is the argument</a:t>
            </a:r>
            <a:endParaRPr lang="en-US" sz="3000" dirty="0"/>
          </a:p>
        </p:txBody>
      </p:sp>
      <p:sp>
        <p:nvSpPr>
          <p:cNvPr id="5" name="Shape 3"/>
          <p:cNvSpPr/>
          <p:nvPr/>
        </p:nvSpPr>
        <p:spPr>
          <a:xfrm>
            <a:off x="640080" y="1572768"/>
            <a:ext cx="6035040" cy="2286000"/>
          </a:xfrm>
          <a:prstGeom prst="roundRect">
            <a:avLst>
              <a:gd name="adj" fmla="val 3200"/>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1005840" y="1773936"/>
            <a:ext cx="5303520" cy="292608"/>
          </a:xfrm>
          <a:prstGeom prst="rect">
            <a:avLst/>
          </a:prstGeom>
          <a:noFill/>
          <a:ln/>
        </p:spPr>
        <p:txBody>
          <a:bodyPr wrap="square" lIns="0" tIns="0" rIns="0" bIns="0" rtlCol="0" anchor="ctr"/>
          <a:lstStyle/>
          <a:p>
            <a:pPr marL="0" indent="0">
              <a:buNone/>
            </a:pPr>
            <a:r>
              <a:rPr lang="en-US" sz="1150" b="1" kern="0" spc="140" dirty="0">
                <a:solidFill>
                  <a:srgbClr val="A79CEB"/>
                </a:solidFill>
                <a:latin typeface="Calibri" pitchFamily="34" charset="0"/>
                <a:ea typeface="Calibri" pitchFamily="34" charset="-122"/>
                <a:cs typeface="Calibri" pitchFamily="34" charset="-120"/>
              </a:rPr>
              <a:t>At the end of every chapter</a:t>
            </a:r>
            <a:endParaRPr lang="en-US" sz="1150" dirty="0"/>
          </a:p>
        </p:txBody>
      </p:sp>
      <p:sp>
        <p:nvSpPr>
          <p:cNvPr id="7" name="Text 5"/>
          <p:cNvSpPr txBox="1"/>
          <p:nvPr/>
        </p:nvSpPr>
        <p:spPr>
          <a:xfrm>
            <a:off x="1005840" y="2194560"/>
            <a:ext cx="5349240" cy="1508760"/>
          </a:xfrm>
          <a:prstGeom prst="rect">
            <a:avLst/>
          </a:prstGeom>
          <a:noFill/>
          <a:ln/>
        </p:spPr>
        <p:txBody>
          <a:bodyPr wrap="square" lIns="0" tIns="0" rIns="0" bIns="0" rtlCol="0" anchor="ctr"/>
          <a:lstStyle/>
          <a:p>
            <a:pPr marL="0" indent="0">
              <a:lnSpc>
                <a:spcPts val="2200"/>
              </a:lnSpc>
              <a:buNone/>
            </a:pPr>
            <a:r>
              <a:rPr lang="en-US" sz="1600" dirty="0">
                <a:solidFill>
                  <a:srgbClr val="F1F3F6"/>
                </a:solidFill>
                <a:latin typeface="Cambria" pitchFamily="34" charset="0"/>
                <a:ea typeface="Cambria" pitchFamily="34" charset="-122"/>
                <a:cs typeface="Cambria" pitchFamily="34" charset="-120"/>
              </a:rPr>
              <a:t>The game shows you a branching diagram of the scene you just played. Your route is lit. Every path you did not take is visible as a greyed-out node. Then it tells you what percentage of all players took each option.</a:t>
            </a:r>
            <a:endParaRPr lang="en-US" sz="1600" dirty="0"/>
          </a:p>
        </p:txBody>
      </p:sp>
      <p:sp>
        <p:nvSpPr>
          <p:cNvPr id="8" name="Shape 6"/>
          <p:cNvSpPr/>
          <p:nvPr/>
        </p:nvSpPr>
        <p:spPr>
          <a:xfrm>
            <a:off x="6995160" y="1572768"/>
            <a:ext cx="4535424" cy="1298448"/>
          </a:xfrm>
          <a:prstGeom prst="roundRect">
            <a:avLst>
              <a:gd name="adj" fmla="val 5634"/>
            </a:avLst>
          </a:prstGeom>
          <a:solidFill>
            <a:srgbClr val="E4F1EC"/>
          </a:solidFill>
          <a:ln w="12700">
            <a:solidFill>
              <a:srgbClr val="E4F1EC"/>
            </a:solidFill>
            <a:prstDash val="solid"/>
          </a:ln>
        </p:spPr>
        <p:txBody>
          <a:bodyPr/>
          <a:lstStyle/>
          <a:p>
            <a:endParaRPr lang="en-US"/>
          </a:p>
        </p:txBody>
      </p:sp>
      <p:sp>
        <p:nvSpPr>
          <p:cNvPr id="9" name="Text 7"/>
          <p:cNvSpPr txBox="1"/>
          <p:nvPr/>
        </p:nvSpPr>
        <p:spPr>
          <a:xfrm>
            <a:off x="7269480" y="1719072"/>
            <a:ext cx="3986784" cy="310896"/>
          </a:xfrm>
          <a:prstGeom prst="rect">
            <a:avLst/>
          </a:prstGeom>
          <a:noFill/>
          <a:ln/>
        </p:spPr>
        <p:txBody>
          <a:bodyPr wrap="square" lIns="0" tIns="0" rIns="0" bIns="0" rtlCol="0" anchor="ctr"/>
          <a:lstStyle/>
          <a:p>
            <a:pPr marL="0" indent="0">
              <a:buNone/>
            </a:pPr>
            <a:r>
              <a:rPr lang="en-US" sz="1450" b="1" dirty="0">
                <a:solidFill>
                  <a:srgbClr val="0D1117"/>
                </a:solidFill>
                <a:latin typeface="Cambria" pitchFamily="34" charset="0"/>
                <a:ea typeface="Cambria" pitchFamily="34" charset="-122"/>
                <a:cs typeface="Cambria" pitchFamily="34" charset="-120"/>
              </a:rPr>
              <a:t>It converts play into a record</a:t>
            </a:r>
            <a:endParaRPr lang="en-US" sz="1450" dirty="0"/>
          </a:p>
        </p:txBody>
      </p:sp>
      <p:sp>
        <p:nvSpPr>
          <p:cNvPr id="10" name="Text 8"/>
          <p:cNvSpPr txBox="1"/>
          <p:nvPr/>
        </p:nvSpPr>
        <p:spPr>
          <a:xfrm>
            <a:off x="7269480" y="2075688"/>
            <a:ext cx="3986784" cy="731520"/>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You cannot pretend you were carried along by the story. The diagram is a receipt, and it arrives before you have stopped feeling the scene.</a:t>
            </a:r>
            <a:endParaRPr lang="en-US" sz="1150" dirty="0"/>
          </a:p>
        </p:txBody>
      </p:sp>
      <p:sp>
        <p:nvSpPr>
          <p:cNvPr id="11" name="Shape 9"/>
          <p:cNvSpPr/>
          <p:nvPr/>
        </p:nvSpPr>
        <p:spPr>
          <a:xfrm>
            <a:off x="6995160" y="2999232"/>
            <a:ext cx="4535424" cy="1298448"/>
          </a:xfrm>
          <a:prstGeom prst="roundRect">
            <a:avLst>
              <a:gd name="adj" fmla="val 5634"/>
            </a:avLst>
          </a:prstGeom>
          <a:solidFill>
            <a:srgbClr val="ECEAF9"/>
          </a:solidFill>
          <a:ln w="12700">
            <a:solidFill>
              <a:srgbClr val="ECEAF9"/>
            </a:solidFill>
            <a:prstDash val="solid"/>
          </a:ln>
        </p:spPr>
        <p:txBody>
          <a:bodyPr/>
          <a:lstStyle/>
          <a:p>
            <a:endParaRPr lang="en-US"/>
          </a:p>
        </p:txBody>
      </p:sp>
      <p:sp>
        <p:nvSpPr>
          <p:cNvPr id="12" name="Text 10"/>
          <p:cNvSpPr txBox="1"/>
          <p:nvPr/>
        </p:nvSpPr>
        <p:spPr>
          <a:xfrm>
            <a:off x="7269480" y="3145536"/>
            <a:ext cx="3986784" cy="310896"/>
          </a:xfrm>
          <a:prstGeom prst="rect">
            <a:avLst/>
          </a:prstGeom>
          <a:noFill/>
          <a:ln/>
        </p:spPr>
        <p:txBody>
          <a:bodyPr wrap="square" lIns="0" tIns="0" rIns="0" bIns="0" rtlCol="0" anchor="ctr"/>
          <a:lstStyle/>
          <a:p>
            <a:pPr marL="0" indent="0">
              <a:buNone/>
            </a:pPr>
            <a:r>
              <a:rPr lang="en-US" sz="1450" b="1" dirty="0">
                <a:solidFill>
                  <a:srgbClr val="6659C4"/>
                </a:solidFill>
                <a:latin typeface="Cambria" pitchFamily="34" charset="0"/>
                <a:ea typeface="Cambria" pitchFamily="34" charset="-122"/>
                <a:cs typeface="Cambria" pitchFamily="34" charset="-120"/>
              </a:rPr>
              <a:t>It compares you to strangers</a:t>
            </a:r>
            <a:endParaRPr lang="en-US" sz="1450" dirty="0"/>
          </a:p>
        </p:txBody>
      </p:sp>
      <p:sp>
        <p:nvSpPr>
          <p:cNvPr id="13" name="Text 11"/>
          <p:cNvSpPr txBox="1"/>
          <p:nvPr/>
        </p:nvSpPr>
        <p:spPr>
          <a:xfrm>
            <a:off x="7269480" y="3502152"/>
            <a:ext cx="3986784" cy="731520"/>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The percentages are the sharpest instrument here. Learning that eighty per cent of players spared someone you killed is a moral experience with no equivalent in film.</a:t>
            </a:r>
            <a:endParaRPr lang="en-US" sz="1150" dirty="0"/>
          </a:p>
        </p:txBody>
      </p:sp>
      <p:sp>
        <p:nvSpPr>
          <p:cNvPr id="14" name="Shape 12"/>
          <p:cNvSpPr/>
          <p:nvPr/>
        </p:nvSpPr>
        <p:spPr>
          <a:xfrm>
            <a:off x="6995160" y="4425696"/>
            <a:ext cx="4535424" cy="1298448"/>
          </a:xfrm>
          <a:prstGeom prst="roundRect">
            <a:avLst>
              <a:gd name="adj" fmla="val 5634"/>
            </a:avLst>
          </a:prstGeom>
          <a:solidFill>
            <a:srgbClr val="E4F1EC"/>
          </a:solidFill>
          <a:ln w="12700">
            <a:solidFill>
              <a:srgbClr val="E4F1EC"/>
            </a:solidFill>
            <a:prstDash val="solid"/>
          </a:ln>
        </p:spPr>
        <p:txBody>
          <a:bodyPr/>
          <a:lstStyle/>
          <a:p>
            <a:endParaRPr lang="en-US"/>
          </a:p>
        </p:txBody>
      </p:sp>
      <p:sp>
        <p:nvSpPr>
          <p:cNvPr id="15" name="Text 13"/>
          <p:cNvSpPr txBox="1"/>
          <p:nvPr/>
        </p:nvSpPr>
        <p:spPr>
          <a:xfrm>
            <a:off x="7269480" y="4572000"/>
            <a:ext cx="3986784" cy="310896"/>
          </a:xfrm>
          <a:prstGeom prst="rect">
            <a:avLst/>
          </a:prstGeom>
          <a:noFill/>
          <a:ln/>
        </p:spPr>
        <p:txBody>
          <a:bodyPr wrap="square" lIns="0" tIns="0" rIns="0" bIns="0" rtlCol="0" anchor="ctr"/>
          <a:lstStyle/>
          <a:p>
            <a:pPr marL="0" indent="0">
              <a:buNone/>
            </a:pPr>
            <a:r>
              <a:rPr lang="en-US" sz="1450" b="1" dirty="0">
                <a:solidFill>
                  <a:srgbClr val="0D1117"/>
                </a:solidFill>
                <a:latin typeface="Cambria" pitchFamily="34" charset="0"/>
                <a:ea typeface="Cambria" pitchFamily="34" charset="-122"/>
                <a:cs typeface="Cambria" pitchFamily="34" charset="-120"/>
              </a:rPr>
              <a:t>It invites replay — and punishes it</a:t>
            </a:r>
            <a:endParaRPr lang="en-US" sz="1450" dirty="0"/>
          </a:p>
        </p:txBody>
      </p:sp>
      <p:sp>
        <p:nvSpPr>
          <p:cNvPr id="16" name="Text 14"/>
          <p:cNvSpPr txBox="1"/>
          <p:nvPr/>
        </p:nvSpPr>
        <p:spPr>
          <a:xfrm>
            <a:off x="7269480" y="4928616"/>
            <a:ext cx="3986784" cy="731520"/>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Seeing the unexplored branches makes you want to go back. Going back reveals that the character you grieved over is a variable.</a:t>
            </a:r>
            <a:endParaRPr lang="en-US" sz="1150" dirty="0"/>
          </a:p>
        </p:txBody>
      </p:sp>
      <p:sp>
        <p:nvSpPr>
          <p:cNvPr id="17" name="Shape 15"/>
          <p:cNvSpPr/>
          <p:nvPr/>
        </p:nvSpPr>
        <p:spPr>
          <a:xfrm>
            <a:off x="640080" y="4023360"/>
            <a:ext cx="6035040" cy="1737360"/>
          </a:xfrm>
          <a:prstGeom prst="roundRect">
            <a:avLst>
              <a:gd name="adj" fmla="val 4211"/>
            </a:avLst>
          </a:prstGeom>
          <a:solidFill>
            <a:srgbClr val="E4F1EC"/>
          </a:solidFill>
          <a:ln w="12700">
            <a:solidFill>
              <a:srgbClr val="E4F1EC"/>
            </a:solidFill>
            <a:prstDash val="solid"/>
          </a:ln>
        </p:spPr>
        <p:txBody>
          <a:bodyPr/>
          <a:lstStyle/>
          <a:p>
            <a:endParaRPr lang="en-US"/>
          </a:p>
        </p:txBody>
      </p:sp>
      <p:sp>
        <p:nvSpPr>
          <p:cNvPr id="18" name="Text 16"/>
          <p:cNvSpPr txBox="1"/>
          <p:nvPr/>
        </p:nvSpPr>
        <p:spPr>
          <a:xfrm>
            <a:off x="1005840" y="4224528"/>
            <a:ext cx="5303520" cy="310896"/>
          </a:xfrm>
          <a:prstGeom prst="rect">
            <a:avLst/>
          </a:prstGeom>
          <a:noFill/>
          <a:ln/>
        </p:spPr>
        <p:txBody>
          <a:bodyPr wrap="square" lIns="0" tIns="0" rIns="0" bIns="0" rtlCol="0" anchor="ctr"/>
          <a:lstStyle/>
          <a:p>
            <a:pPr marL="0" indent="0">
              <a:buNone/>
            </a:pPr>
            <a:r>
              <a:rPr lang="en-US" sz="1600" b="1" dirty="0">
                <a:solidFill>
                  <a:srgbClr val="0D1117"/>
                </a:solidFill>
                <a:latin typeface="Cambria" pitchFamily="34" charset="0"/>
                <a:ea typeface="Cambria" pitchFamily="34" charset="-122"/>
                <a:cs typeface="Cambria" pitchFamily="34" charset="-120"/>
              </a:rPr>
              <a:t>Toolkit question six, answered loudly</a:t>
            </a:r>
            <a:endParaRPr lang="en-US" sz="1600" dirty="0"/>
          </a:p>
        </p:txBody>
      </p:sp>
      <p:sp>
        <p:nvSpPr>
          <p:cNvPr id="19" name="Text 17"/>
          <p:cNvSpPr txBox="1"/>
          <p:nvPr/>
        </p:nvSpPr>
        <p:spPr>
          <a:xfrm>
            <a:off x="1005840" y="4617720"/>
            <a:ext cx="5303520" cy="100584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Mass Effect grades you silently and years in advance. Detroit grades you every twenty minutes, to your face, against a global tally of other people’s consciences. Whatever else the game does badly, this mechanic works.</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THE TWO ASSIGNED ARCS</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Kara and Markus — two theories of becoming a person</a:t>
            </a:r>
            <a:endParaRPr lang="en-US" sz="3000" dirty="0"/>
          </a:p>
        </p:txBody>
      </p:sp>
      <p:sp>
        <p:nvSpPr>
          <p:cNvPr id="5" name="Shape 3"/>
          <p:cNvSpPr/>
          <p:nvPr/>
        </p:nvSpPr>
        <p:spPr>
          <a:xfrm>
            <a:off x="640080" y="1572768"/>
            <a:ext cx="5303520" cy="3703320"/>
          </a:xfrm>
          <a:prstGeom prst="roundRect">
            <a:avLst>
              <a:gd name="adj" fmla="val 1975"/>
            </a:avLst>
          </a:prstGeom>
          <a:solidFill>
            <a:srgbClr val="E4F1EC"/>
          </a:solidFill>
          <a:ln w="12700">
            <a:solidFill>
              <a:srgbClr val="E4F1EC"/>
            </a:solidFill>
            <a:prstDash val="solid"/>
          </a:ln>
        </p:spPr>
        <p:txBody>
          <a:bodyPr/>
          <a:lstStyle/>
          <a:p>
            <a:endParaRPr lang="en-US"/>
          </a:p>
        </p:txBody>
      </p:sp>
      <p:sp>
        <p:nvSpPr>
          <p:cNvPr id="6" name="Text 4"/>
          <p:cNvSpPr txBox="1"/>
          <p:nvPr/>
        </p:nvSpPr>
        <p:spPr>
          <a:xfrm>
            <a:off x="1005840" y="1783080"/>
            <a:ext cx="4572000" cy="411480"/>
          </a:xfrm>
          <a:prstGeom prst="rect">
            <a:avLst/>
          </a:prstGeom>
          <a:noFill/>
          <a:ln/>
        </p:spPr>
        <p:txBody>
          <a:bodyPr wrap="square" lIns="0" tIns="0" rIns="0" bIns="0" rtlCol="0" anchor="ctr"/>
          <a:lstStyle/>
          <a:p>
            <a:pPr marL="0" indent="0">
              <a:buNone/>
            </a:pPr>
            <a:r>
              <a:rPr lang="en-US" sz="2400" b="1" dirty="0">
                <a:solidFill>
                  <a:srgbClr val="0D1117"/>
                </a:solidFill>
                <a:latin typeface="Cambria" pitchFamily="34" charset="0"/>
                <a:ea typeface="Cambria" pitchFamily="34" charset="-122"/>
                <a:cs typeface="Cambria" pitchFamily="34" charset="-120"/>
              </a:rPr>
              <a:t>Kara</a:t>
            </a:r>
            <a:endParaRPr lang="en-US" sz="2400" dirty="0"/>
          </a:p>
        </p:txBody>
      </p:sp>
      <p:sp>
        <p:nvSpPr>
          <p:cNvPr id="7" name="Text 5"/>
          <p:cNvSpPr txBox="1"/>
          <p:nvPr/>
        </p:nvSpPr>
        <p:spPr>
          <a:xfrm>
            <a:off x="1005840" y="2286000"/>
            <a:ext cx="4617720" cy="283464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250" dirty="0">
                <a:solidFill>
                  <a:srgbClr val="596273"/>
                </a:solidFill>
                <a:latin typeface="Calibri" pitchFamily="34" charset="0"/>
                <a:ea typeface="Calibri" pitchFamily="34" charset="-122"/>
                <a:cs typeface="Calibri" pitchFamily="34" charset="-120"/>
              </a:rPr>
              <a:t>Personhood arrives through care. She becomes a deviant by breaking a direct order to protect a child; everything after is flight and shelter.</a:t>
            </a:r>
            <a:endParaRPr lang="en-US" sz="1250" dirty="0"/>
          </a:p>
          <a:p>
            <a:pPr marL="342900" indent="-342900">
              <a:lnSpc>
                <a:spcPts val="1700"/>
              </a:lnSpc>
              <a:spcAft>
                <a:spcPts val="800"/>
              </a:spcAft>
              <a:buSzPct val="100000"/>
              <a:buChar char="•"/>
            </a:pPr>
            <a:r>
              <a:rPr lang="en-US" sz="1250" dirty="0">
                <a:solidFill>
                  <a:srgbClr val="596273"/>
                </a:solidFill>
                <a:latin typeface="Calibri" pitchFamily="34" charset="0"/>
                <a:ea typeface="Calibri" pitchFamily="34" charset="-122"/>
                <a:cs typeface="Calibri" pitchFamily="34" charset="-120"/>
              </a:rPr>
              <a:t>The chapters are domestic and small-scale: a house, a motel, a stolen train ticket, a border crossing.</a:t>
            </a:r>
            <a:endParaRPr lang="en-US" sz="1250" dirty="0"/>
          </a:p>
          <a:p>
            <a:pPr marL="342900" indent="-342900">
              <a:lnSpc>
                <a:spcPts val="1700"/>
              </a:lnSpc>
              <a:spcAft>
                <a:spcPts val="800"/>
              </a:spcAft>
              <a:buSzPct val="100000"/>
              <a:buChar char="•"/>
            </a:pPr>
            <a:r>
              <a:rPr lang="en-US" sz="1250" dirty="0">
                <a:solidFill>
                  <a:srgbClr val="596273"/>
                </a:solidFill>
                <a:latin typeface="Calibri" pitchFamily="34" charset="0"/>
                <a:ea typeface="Calibri" pitchFamily="34" charset="-122"/>
                <a:cs typeface="Calibri" pitchFamily="34" charset="-120"/>
              </a:rPr>
              <a:t>Her stakes are almost entirely private. She never argues for android rights; she runs.</a:t>
            </a:r>
            <a:endParaRPr lang="en-US" sz="1250" dirty="0"/>
          </a:p>
          <a:p>
            <a:pPr marL="342900" indent="-342900">
              <a:lnSpc>
                <a:spcPts val="1700"/>
              </a:lnSpc>
              <a:spcAft>
                <a:spcPts val="800"/>
              </a:spcAft>
              <a:buSzPct val="100000"/>
              <a:buChar char="•"/>
            </a:pPr>
            <a:r>
              <a:rPr lang="en-US" sz="1250" dirty="0">
                <a:solidFill>
                  <a:srgbClr val="596273"/>
                </a:solidFill>
                <a:latin typeface="Calibri" pitchFamily="34" charset="0"/>
                <a:ea typeface="Calibri" pitchFamily="34" charset="-122"/>
                <a:cs typeface="Calibri" pitchFamily="34" charset="-120"/>
              </a:rPr>
              <a:t>She can die and the game continues. Most players never find that out.</a:t>
            </a:r>
            <a:endParaRPr lang="en-US" sz="1250" dirty="0"/>
          </a:p>
        </p:txBody>
      </p:sp>
      <p:sp>
        <p:nvSpPr>
          <p:cNvPr id="8" name="Shape 6"/>
          <p:cNvSpPr/>
          <p:nvPr/>
        </p:nvSpPr>
        <p:spPr>
          <a:xfrm>
            <a:off x="6263640" y="1572768"/>
            <a:ext cx="5266944" cy="3703320"/>
          </a:xfrm>
          <a:prstGeom prst="roundRect">
            <a:avLst>
              <a:gd name="adj" fmla="val 1975"/>
            </a:avLst>
          </a:prstGeom>
          <a:solidFill>
            <a:srgbClr val="ECEAF9"/>
          </a:solidFill>
          <a:ln w="12700">
            <a:solidFill>
              <a:srgbClr val="ECEAF9"/>
            </a:solidFill>
            <a:prstDash val="solid"/>
          </a:ln>
        </p:spPr>
        <p:txBody>
          <a:bodyPr/>
          <a:lstStyle/>
          <a:p>
            <a:endParaRPr lang="en-US"/>
          </a:p>
        </p:txBody>
      </p:sp>
      <p:sp>
        <p:nvSpPr>
          <p:cNvPr id="9" name="Text 7"/>
          <p:cNvSpPr txBox="1"/>
          <p:nvPr/>
        </p:nvSpPr>
        <p:spPr>
          <a:xfrm>
            <a:off x="6583680" y="1783080"/>
            <a:ext cx="4572000" cy="411480"/>
          </a:xfrm>
          <a:prstGeom prst="rect">
            <a:avLst/>
          </a:prstGeom>
          <a:noFill/>
          <a:ln/>
        </p:spPr>
        <p:txBody>
          <a:bodyPr wrap="square" lIns="0" tIns="0" rIns="0" bIns="0" rtlCol="0" anchor="ctr"/>
          <a:lstStyle/>
          <a:p>
            <a:pPr marL="0" indent="0">
              <a:buNone/>
            </a:pPr>
            <a:r>
              <a:rPr lang="en-US" sz="2400" b="1" dirty="0">
                <a:solidFill>
                  <a:srgbClr val="0D1117"/>
                </a:solidFill>
                <a:latin typeface="Cambria" pitchFamily="34" charset="0"/>
                <a:ea typeface="Cambria" pitchFamily="34" charset="-122"/>
                <a:cs typeface="Cambria" pitchFamily="34" charset="-120"/>
              </a:rPr>
              <a:t>Markus</a:t>
            </a:r>
            <a:endParaRPr lang="en-US" sz="2400" dirty="0"/>
          </a:p>
        </p:txBody>
      </p:sp>
      <p:sp>
        <p:nvSpPr>
          <p:cNvPr id="10" name="Text 8"/>
          <p:cNvSpPr txBox="1"/>
          <p:nvPr/>
        </p:nvSpPr>
        <p:spPr>
          <a:xfrm>
            <a:off x="6583680" y="2286000"/>
            <a:ext cx="4617720" cy="283464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250" dirty="0">
                <a:solidFill>
                  <a:srgbClr val="596273"/>
                </a:solidFill>
                <a:latin typeface="Calibri" pitchFamily="34" charset="0"/>
                <a:ea typeface="Calibri" pitchFamily="34" charset="-122"/>
                <a:cs typeface="Calibri" pitchFamily="34" charset="-120"/>
              </a:rPr>
              <a:t>Personhood arrives through politics. He leads a movement, and the game repeatedly asks you to choose between pacifist and violent tactics.</a:t>
            </a:r>
            <a:endParaRPr lang="en-US" sz="1250" dirty="0"/>
          </a:p>
          <a:p>
            <a:pPr marL="342900" indent="-342900">
              <a:lnSpc>
                <a:spcPts val="1700"/>
              </a:lnSpc>
              <a:spcAft>
                <a:spcPts val="800"/>
              </a:spcAft>
              <a:buSzPct val="100000"/>
              <a:buChar char="•"/>
            </a:pPr>
            <a:r>
              <a:rPr lang="en-US" sz="1250" dirty="0">
                <a:solidFill>
                  <a:srgbClr val="596273"/>
                </a:solidFill>
                <a:latin typeface="Calibri" pitchFamily="34" charset="0"/>
                <a:ea typeface="Calibri" pitchFamily="34" charset="-122"/>
                <a:cs typeface="Calibri" pitchFamily="34" charset="-120"/>
              </a:rPr>
              <a:t>The chapters are public: a broadcast tower, an occupied neighbourhood, a march, a barricade.</a:t>
            </a:r>
            <a:endParaRPr lang="en-US" sz="1250" dirty="0"/>
          </a:p>
          <a:p>
            <a:pPr marL="342900" indent="-342900">
              <a:lnSpc>
                <a:spcPts val="1700"/>
              </a:lnSpc>
              <a:spcAft>
                <a:spcPts val="800"/>
              </a:spcAft>
              <a:buSzPct val="100000"/>
              <a:buChar char="•"/>
            </a:pPr>
            <a:r>
              <a:rPr lang="en-US" sz="1250" dirty="0">
                <a:solidFill>
                  <a:srgbClr val="596273"/>
                </a:solidFill>
                <a:latin typeface="Calibri" pitchFamily="34" charset="0"/>
                <a:ea typeface="Calibri" pitchFamily="34" charset="-122"/>
                <a:cs typeface="Calibri" pitchFamily="34" charset="-120"/>
              </a:rPr>
              <a:t>Public opinion is a visible meter. Your tactics move it, and it determines whether the ending is negotiation or massacre.</a:t>
            </a:r>
            <a:endParaRPr lang="en-US" sz="1250" dirty="0"/>
          </a:p>
          <a:p>
            <a:pPr marL="342900" indent="-342900">
              <a:lnSpc>
                <a:spcPts val="1700"/>
              </a:lnSpc>
              <a:spcAft>
                <a:spcPts val="800"/>
              </a:spcAft>
              <a:buSzPct val="100000"/>
              <a:buChar char="•"/>
            </a:pPr>
            <a:r>
              <a:rPr lang="en-US" sz="1250" dirty="0">
                <a:solidFill>
                  <a:srgbClr val="596273"/>
                </a:solidFill>
                <a:latin typeface="Calibri" pitchFamily="34" charset="0"/>
                <a:ea typeface="Calibri" pitchFamily="34" charset="-122"/>
                <a:cs typeface="Calibri" pitchFamily="34" charset="-120"/>
              </a:rPr>
              <a:t>The two tactical paths are presented as a genuine dilemma and the deck is heavily stacked toward one.</a:t>
            </a:r>
            <a:endParaRPr lang="en-US" sz="1250" dirty="0"/>
          </a:p>
        </p:txBody>
      </p:sp>
      <p:sp>
        <p:nvSpPr>
          <p:cNvPr id="11" name="Shape 9"/>
          <p:cNvSpPr/>
          <p:nvPr/>
        </p:nvSpPr>
        <p:spPr>
          <a:xfrm>
            <a:off x="640080" y="5486400"/>
            <a:ext cx="10911535" cy="685800"/>
          </a:xfrm>
          <a:prstGeom prst="roundRect">
            <a:avLst>
              <a:gd name="adj" fmla="val 10667"/>
            </a:avLst>
          </a:prstGeom>
          <a:solidFill>
            <a:srgbClr val="0D1117"/>
          </a:solidFill>
          <a:ln w="12700">
            <a:solidFill>
              <a:srgbClr val="0D1117"/>
            </a:solidFill>
            <a:prstDash val="solid"/>
          </a:ln>
        </p:spPr>
        <p:txBody>
          <a:bodyPr/>
          <a:lstStyle/>
          <a:p>
            <a:endParaRPr lang="en-US"/>
          </a:p>
        </p:txBody>
      </p:sp>
      <p:sp>
        <p:nvSpPr>
          <p:cNvPr id="12" name="Text 10"/>
          <p:cNvSpPr txBox="1"/>
          <p:nvPr/>
        </p:nvSpPr>
        <p:spPr>
          <a:xfrm>
            <a:off x="1005840" y="5669280"/>
            <a:ext cx="10424160" cy="320040"/>
          </a:xfrm>
          <a:prstGeom prst="rect">
            <a:avLst/>
          </a:prstGeom>
          <a:noFill/>
          <a:ln/>
        </p:spPr>
        <p:txBody>
          <a:bodyPr wrap="square" lIns="0" tIns="0" rIns="0" bIns="0" rtlCol="0" anchor="ctr"/>
          <a:lstStyle/>
          <a:p>
            <a:pPr marL="0" indent="0">
              <a:lnSpc>
                <a:spcPts val="2100"/>
              </a:lnSpc>
              <a:buNone/>
            </a:pPr>
            <a:r>
              <a:rPr lang="en-US" sz="1550" dirty="0">
                <a:solidFill>
                  <a:srgbClr val="F1F3F6"/>
                </a:solidFill>
                <a:latin typeface="Cambria" pitchFamily="34" charset="0"/>
                <a:ea typeface="Cambria" pitchFamily="34" charset="-122"/>
                <a:cs typeface="Cambria" pitchFamily="34" charset="-120"/>
              </a:rPr>
              <a:t>Two models running side by side: personhood as a private relation, and personhood as a public claim that has to be won from people who deny it.</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THE CRITIQUE · PART ONE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The borrowed imagery, catalogued</a:t>
            </a:r>
            <a:endParaRPr lang="en-US" sz="3000" dirty="0"/>
          </a:p>
        </p:txBody>
      </p:sp>
      <p:sp>
        <p:nvSpPr>
          <p:cNvPr id="5" name="Shape 3"/>
          <p:cNvSpPr/>
          <p:nvPr/>
        </p:nvSpPr>
        <p:spPr>
          <a:xfrm>
            <a:off x="640080" y="1572768"/>
            <a:ext cx="2556434" cy="1353312"/>
          </a:xfrm>
          <a:prstGeom prst="roundRect">
            <a:avLst>
              <a:gd name="adj" fmla="val 5405"/>
            </a:avLst>
          </a:prstGeom>
          <a:solidFill>
            <a:srgbClr val="ECEFF4"/>
          </a:solidFill>
          <a:ln w="12700">
            <a:solidFill>
              <a:srgbClr val="ECEFF4"/>
            </a:solidFill>
            <a:prstDash val="solid"/>
          </a:ln>
        </p:spPr>
        <p:txBody>
          <a:bodyPr/>
          <a:lstStyle/>
          <a:p>
            <a:endParaRPr lang="en-US"/>
          </a:p>
        </p:txBody>
      </p:sp>
      <p:sp>
        <p:nvSpPr>
          <p:cNvPr id="6" name="Text 4"/>
          <p:cNvSpPr txBox="1"/>
          <p:nvPr/>
        </p:nvSpPr>
        <p:spPr>
          <a:xfrm>
            <a:off x="877824" y="1737360"/>
            <a:ext cx="2080946" cy="502920"/>
          </a:xfrm>
          <a:prstGeom prst="rect">
            <a:avLst/>
          </a:prstGeom>
          <a:noFill/>
          <a:ln/>
        </p:spPr>
        <p:txBody>
          <a:bodyPr wrap="square" lIns="0" tIns="0" rIns="0" bIns="0" rtlCol="0" anchor="ctr"/>
          <a:lstStyle/>
          <a:p>
            <a:pPr marL="0" indent="0">
              <a:lnSpc>
                <a:spcPts val="1800"/>
              </a:lnSpc>
              <a:buNone/>
            </a:pPr>
            <a:r>
              <a:rPr lang="en-US" sz="1450" b="1" dirty="0">
                <a:solidFill>
                  <a:srgbClr val="0D1117"/>
                </a:solidFill>
                <a:latin typeface="Cambria" pitchFamily="34" charset="0"/>
                <a:ea typeface="Cambria" pitchFamily="34" charset="-122"/>
                <a:cs typeface="Cambria" pitchFamily="34" charset="-120"/>
              </a:rPr>
              <a:t>Segregated transport</a:t>
            </a:r>
            <a:endParaRPr lang="en-US" sz="1450" dirty="0"/>
          </a:p>
        </p:txBody>
      </p:sp>
      <p:sp>
        <p:nvSpPr>
          <p:cNvPr id="7" name="Text 5"/>
          <p:cNvSpPr txBox="1"/>
          <p:nvPr/>
        </p:nvSpPr>
        <p:spPr>
          <a:xfrm>
            <a:off x="877824" y="2267712"/>
            <a:ext cx="2080946" cy="566928"/>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Androids ride standing in marked compartments at the back of buses.</a:t>
            </a:r>
            <a:endParaRPr lang="en-US" sz="1150" dirty="0"/>
          </a:p>
        </p:txBody>
      </p:sp>
      <p:sp>
        <p:nvSpPr>
          <p:cNvPr id="8" name="Shape 6"/>
          <p:cNvSpPr/>
          <p:nvPr/>
        </p:nvSpPr>
        <p:spPr>
          <a:xfrm>
            <a:off x="3425114" y="1572768"/>
            <a:ext cx="2556434" cy="1353312"/>
          </a:xfrm>
          <a:prstGeom prst="roundRect">
            <a:avLst>
              <a:gd name="adj" fmla="val 5405"/>
            </a:avLst>
          </a:prstGeom>
          <a:solidFill>
            <a:srgbClr val="ECEAF9"/>
          </a:solidFill>
          <a:ln w="12700">
            <a:solidFill>
              <a:srgbClr val="ECEAF9"/>
            </a:solidFill>
            <a:prstDash val="solid"/>
          </a:ln>
        </p:spPr>
        <p:txBody>
          <a:bodyPr/>
          <a:lstStyle/>
          <a:p>
            <a:endParaRPr lang="en-US"/>
          </a:p>
        </p:txBody>
      </p:sp>
      <p:sp>
        <p:nvSpPr>
          <p:cNvPr id="9" name="Text 7"/>
          <p:cNvSpPr txBox="1"/>
          <p:nvPr/>
        </p:nvSpPr>
        <p:spPr>
          <a:xfrm>
            <a:off x="3662858" y="1737360"/>
            <a:ext cx="2080946" cy="502920"/>
          </a:xfrm>
          <a:prstGeom prst="rect">
            <a:avLst/>
          </a:prstGeom>
          <a:noFill/>
          <a:ln/>
        </p:spPr>
        <p:txBody>
          <a:bodyPr wrap="square" lIns="0" tIns="0" rIns="0" bIns="0" rtlCol="0" anchor="ctr"/>
          <a:lstStyle/>
          <a:p>
            <a:pPr marL="0" indent="0">
              <a:lnSpc>
                <a:spcPts val="1800"/>
              </a:lnSpc>
              <a:buNone/>
            </a:pPr>
            <a:r>
              <a:rPr lang="en-US" sz="1450" b="1" dirty="0">
                <a:solidFill>
                  <a:srgbClr val="0D1117"/>
                </a:solidFill>
                <a:latin typeface="Cambria" pitchFamily="34" charset="0"/>
                <a:ea typeface="Cambria" pitchFamily="34" charset="-122"/>
                <a:cs typeface="Cambria" pitchFamily="34" charset="-120"/>
              </a:rPr>
              <a:t>Marked bodies</a:t>
            </a:r>
            <a:endParaRPr lang="en-US" sz="1450" dirty="0"/>
          </a:p>
        </p:txBody>
      </p:sp>
      <p:sp>
        <p:nvSpPr>
          <p:cNvPr id="10" name="Text 8"/>
          <p:cNvSpPr txBox="1"/>
          <p:nvPr/>
        </p:nvSpPr>
        <p:spPr>
          <a:xfrm>
            <a:off x="3662858" y="2267712"/>
            <a:ext cx="2080946" cy="566928"/>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Mandatory armbands and a fluorescent triangle; serial numbers on the chest.</a:t>
            </a:r>
            <a:endParaRPr lang="en-US" sz="1150" dirty="0"/>
          </a:p>
        </p:txBody>
      </p:sp>
      <p:sp>
        <p:nvSpPr>
          <p:cNvPr id="11" name="Shape 9"/>
          <p:cNvSpPr/>
          <p:nvPr/>
        </p:nvSpPr>
        <p:spPr>
          <a:xfrm>
            <a:off x="6210148" y="1572768"/>
            <a:ext cx="2556434" cy="1353312"/>
          </a:xfrm>
          <a:prstGeom prst="roundRect">
            <a:avLst>
              <a:gd name="adj" fmla="val 5405"/>
            </a:avLst>
          </a:prstGeom>
          <a:solidFill>
            <a:srgbClr val="ECEFF4"/>
          </a:solidFill>
          <a:ln w="12700">
            <a:solidFill>
              <a:srgbClr val="ECEFF4"/>
            </a:solidFill>
            <a:prstDash val="solid"/>
          </a:ln>
        </p:spPr>
        <p:txBody>
          <a:bodyPr/>
          <a:lstStyle/>
          <a:p>
            <a:endParaRPr lang="en-US"/>
          </a:p>
        </p:txBody>
      </p:sp>
      <p:sp>
        <p:nvSpPr>
          <p:cNvPr id="12" name="Text 10"/>
          <p:cNvSpPr txBox="1"/>
          <p:nvPr/>
        </p:nvSpPr>
        <p:spPr>
          <a:xfrm>
            <a:off x="6447892" y="1737360"/>
            <a:ext cx="2080946" cy="502920"/>
          </a:xfrm>
          <a:prstGeom prst="rect">
            <a:avLst/>
          </a:prstGeom>
          <a:noFill/>
          <a:ln/>
        </p:spPr>
        <p:txBody>
          <a:bodyPr wrap="square" lIns="0" tIns="0" rIns="0" bIns="0" rtlCol="0" anchor="ctr"/>
          <a:lstStyle/>
          <a:p>
            <a:pPr marL="0" indent="0">
              <a:lnSpc>
                <a:spcPts val="1800"/>
              </a:lnSpc>
              <a:buNone/>
            </a:pPr>
            <a:r>
              <a:rPr lang="en-US" sz="1450" b="1" dirty="0">
                <a:solidFill>
                  <a:srgbClr val="0D1117"/>
                </a:solidFill>
                <a:latin typeface="Cambria" pitchFamily="34" charset="0"/>
                <a:ea typeface="Cambria" pitchFamily="34" charset="-122"/>
                <a:cs typeface="Cambria" pitchFamily="34" charset="-120"/>
              </a:rPr>
              <a:t>“Android zones”</a:t>
            </a:r>
            <a:endParaRPr lang="en-US" sz="1450" dirty="0"/>
          </a:p>
        </p:txBody>
      </p:sp>
      <p:sp>
        <p:nvSpPr>
          <p:cNvPr id="13" name="Text 11"/>
          <p:cNvSpPr txBox="1"/>
          <p:nvPr/>
        </p:nvSpPr>
        <p:spPr>
          <a:xfrm>
            <a:off x="6447892" y="2267712"/>
            <a:ext cx="2080946" cy="566928"/>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Signage designating where synthetic people may and may not go.</a:t>
            </a:r>
            <a:endParaRPr lang="en-US" sz="1150" dirty="0"/>
          </a:p>
        </p:txBody>
      </p:sp>
      <p:sp>
        <p:nvSpPr>
          <p:cNvPr id="14" name="Shape 12"/>
          <p:cNvSpPr/>
          <p:nvPr/>
        </p:nvSpPr>
        <p:spPr>
          <a:xfrm>
            <a:off x="8995181" y="1572768"/>
            <a:ext cx="2556434" cy="1353312"/>
          </a:xfrm>
          <a:prstGeom prst="roundRect">
            <a:avLst>
              <a:gd name="adj" fmla="val 5405"/>
            </a:avLst>
          </a:prstGeom>
          <a:solidFill>
            <a:srgbClr val="ECEAF9"/>
          </a:solidFill>
          <a:ln w="12700">
            <a:solidFill>
              <a:srgbClr val="ECEAF9"/>
            </a:solidFill>
            <a:prstDash val="solid"/>
          </a:ln>
        </p:spPr>
        <p:txBody>
          <a:bodyPr/>
          <a:lstStyle/>
          <a:p>
            <a:endParaRPr lang="en-US"/>
          </a:p>
        </p:txBody>
      </p:sp>
      <p:sp>
        <p:nvSpPr>
          <p:cNvPr id="15" name="Text 13"/>
          <p:cNvSpPr txBox="1"/>
          <p:nvPr/>
        </p:nvSpPr>
        <p:spPr>
          <a:xfrm>
            <a:off x="9232925" y="1737360"/>
            <a:ext cx="2080946" cy="502920"/>
          </a:xfrm>
          <a:prstGeom prst="rect">
            <a:avLst/>
          </a:prstGeom>
          <a:noFill/>
          <a:ln/>
        </p:spPr>
        <p:txBody>
          <a:bodyPr wrap="square" lIns="0" tIns="0" rIns="0" bIns="0" rtlCol="0" anchor="ctr"/>
          <a:lstStyle/>
          <a:p>
            <a:pPr marL="0" indent="0">
              <a:lnSpc>
                <a:spcPts val="1800"/>
              </a:lnSpc>
              <a:buNone/>
            </a:pPr>
            <a:r>
              <a:rPr lang="en-US" sz="1450" b="1" dirty="0">
                <a:solidFill>
                  <a:srgbClr val="0D1117"/>
                </a:solidFill>
                <a:latin typeface="Cambria" pitchFamily="34" charset="0"/>
                <a:ea typeface="Cambria" pitchFamily="34" charset="-122"/>
                <a:cs typeface="Cambria" pitchFamily="34" charset="-120"/>
              </a:rPr>
              <a:t>Camps</a:t>
            </a:r>
            <a:endParaRPr lang="en-US" sz="1450" dirty="0"/>
          </a:p>
        </p:txBody>
      </p:sp>
      <p:sp>
        <p:nvSpPr>
          <p:cNvPr id="16" name="Text 14"/>
          <p:cNvSpPr txBox="1"/>
          <p:nvPr/>
        </p:nvSpPr>
        <p:spPr>
          <a:xfrm>
            <a:off x="9232925" y="2267712"/>
            <a:ext cx="2080946" cy="566928"/>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Round-ups and recycling centres staged with the visual grammar of extermination camps.</a:t>
            </a:r>
            <a:endParaRPr lang="en-US" sz="1150" dirty="0"/>
          </a:p>
        </p:txBody>
      </p:sp>
      <p:sp>
        <p:nvSpPr>
          <p:cNvPr id="17" name="Shape 15"/>
          <p:cNvSpPr/>
          <p:nvPr/>
        </p:nvSpPr>
        <p:spPr>
          <a:xfrm>
            <a:off x="640080" y="3081528"/>
            <a:ext cx="2556434" cy="1353312"/>
          </a:xfrm>
          <a:prstGeom prst="roundRect">
            <a:avLst>
              <a:gd name="adj" fmla="val 5405"/>
            </a:avLst>
          </a:prstGeom>
          <a:solidFill>
            <a:srgbClr val="ECEFF4"/>
          </a:solidFill>
          <a:ln w="12700">
            <a:solidFill>
              <a:srgbClr val="ECEFF4"/>
            </a:solidFill>
            <a:prstDash val="solid"/>
          </a:ln>
        </p:spPr>
        <p:txBody>
          <a:bodyPr/>
          <a:lstStyle/>
          <a:p>
            <a:endParaRPr lang="en-US"/>
          </a:p>
        </p:txBody>
      </p:sp>
      <p:sp>
        <p:nvSpPr>
          <p:cNvPr id="18" name="Text 16"/>
          <p:cNvSpPr txBox="1"/>
          <p:nvPr/>
        </p:nvSpPr>
        <p:spPr>
          <a:xfrm>
            <a:off x="877824" y="3246120"/>
            <a:ext cx="2080946" cy="502920"/>
          </a:xfrm>
          <a:prstGeom prst="rect">
            <a:avLst/>
          </a:prstGeom>
          <a:noFill/>
          <a:ln/>
        </p:spPr>
        <p:txBody>
          <a:bodyPr wrap="square" lIns="0" tIns="0" rIns="0" bIns="0" rtlCol="0" anchor="ctr"/>
          <a:lstStyle/>
          <a:p>
            <a:pPr marL="0" indent="0">
              <a:lnSpc>
                <a:spcPts val="1800"/>
              </a:lnSpc>
              <a:buNone/>
            </a:pPr>
            <a:r>
              <a:rPr lang="en-US" sz="1450" b="1" dirty="0">
                <a:solidFill>
                  <a:srgbClr val="0D1117"/>
                </a:solidFill>
                <a:latin typeface="Cambria" pitchFamily="34" charset="0"/>
                <a:ea typeface="Cambria" pitchFamily="34" charset="-122"/>
                <a:cs typeface="Cambria" pitchFamily="34" charset="-120"/>
              </a:rPr>
              <a:t>The march</a:t>
            </a:r>
            <a:endParaRPr lang="en-US" sz="1450" dirty="0"/>
          </a:p>
        </p:txBody>
      </p:sp>
      <p:sp>
        <p:nvSpPr>
          <p:cNvPr id="19" name="Text 17"/>
          <p:cNvSpPr txBox="1"/>
          <p:nvPr/>
        </p:nvSpPr>
        <p:spPr>
          <a:xfrm>
            <a:off x="877824" y="3776472"/>
            <a:ext cx="2080946" cy="566928"/>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A nonviolent demonstration meeting armed police, filmed in the idiom of 1960s newsreel.</a:t>
            </a:r>
            <a:endParaRPr lang="en-US" sz="1150" dirty="0"/>
          </a:p>
        </p:txBody>
      </p:sp>
      <p:sp>
        <p:nvSpPr>
          <p:cNvPr id="20" name="Shape 18"/>
          <p:cNvSpPr/>
          <p:nvPr/>
        </p:nvSpPr>
        <p:spPr>
          <a:xfrm>
            <a:off x="3425114" y="3081528"/>
            <a:ext cx="2556434" cy="1353312"/>
          </a:xfrm>
          <a:prstGeom prst="roundRect">
            <a:avLst>
              <a:gd name="adj" fmla="val 5405"/>
            </a:avLst>
          </a:prstGeom>
          <a:solidFill>
            <a:srgbClr val="ECEAF9"/>
          </a:solidFill>
          <a:ln w="12700">
            <a:solidFill>
              <a:srgbClr val="ECEAF9"/>
            </a:solidFill>
            <a:prstDash val="solid"/>
          </a:ln>
        </p:spPr>
        <p:txBody>
          <a:bodyPr/>
          <a:lstStyle/>
          <a:p>
            <a:endParaRPr lang="en-US"/>
          </a:p>
        </p:txBody>
      </p:sp>
      <p:sp>
        <p:nvSpPr>
          <p:cNvPr id="21" name="Text 19"/>
          <p:cNvSpPr txBox="1"/>
          <p:nvPr/>
        </p:nvSpPr>
        <p:spPr>
          <a:xfrm>
            <a:off x="3662858" y="3246120"/>
            <a:ext cx="2080946" cy="502920"/>
          </a:xfrm>
          <a:prstGeom prst="rect">
            <a:avLst/>
          </a:prstGeom>
          <a:noFill/>
          <a:ln/>
        </p:spPr>
        <p:txBody>
          <a:bodyPr wrap="square" lIns="0" tIns="0" rIns="0" bIns="0" rtlCol="0" anchor="ctr"/>
          <a:lstStyle/>
          <a:p>
            <a:pPr marL="0" indent="0">
              <a:lnSpc>
                <a:spcPts val="1800"/>
              </a:lnSpc>
              <a:buNone/>
            </a:pPr>
            <a:r>
              <a:rPr lang="en-US" sz="1450" b="1" dirty="0">
                <a:solidFill>
                  <a:srgbClr val="0D1117"/>
                </a:solidFill>
                <a:latin typeface="Cambria" pitchFamily="34" charset="0"/>
                <a:ea typeface="Cambria" pitchFamily="34" charset="-122"/>
                <a:cs typeface="Cambria" pitchFamily="34" charset="-120"/>
              </a:rPr>
              <a:t>The speech</a:t>
            </a:r>
            <a:endParaRPr lang="en-US" sz="1450" dirty="0"/>
          </a:p>
        </p:txBody>
      </p:sp>
      <p:sp>
        <p:nvSpPr>
          <p:cNvPr id="22" name="Text 20"/>
          <p:cNvSpPr txBox="1"/>
          <p:nvPr/>
        </p:nvSpPr>
        <p:spPr>
          <a:xfrm>
            <a:off x="3662858" y="3776472"/>
            <a:ext cx="2080946" cy="566928"/>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A leader addressing a crowd about a future in which his people are free, in cadences borrowed from a specific American orator.</a:t>
            </a:r>
            <a:endParaRPr lang="en-US" sz="1150" dirty="0"/>
          </a:p>
        </p:txBody>
      </p:sp>
      <p:sp>
        <p:nvSpPr>
          <p:cNvPr id="23" name="Shape 21"/>
          <p:cNvSpPr/>
          <p:nvPr/>
        </p:nvSpPr>
        <p:spPr>
          <a:xfrm>
            <a:off x="6210148" y="3081528"/>
            <a:ext cx="2556434" cy="1353312"/>
          </a:xfrm>
          <a:prstGeom prst="roundRect">
            <a:avLst>
              <a:gd name="adj" fmla="val 5405"/>
            </a:avLst>
          </a:prstGeom>
          <a:solidFill>
            <a:srgbClr val="ECEFF4"/>
          </a:solidFill>
          <a:ln w="12700">
            <a:solidFill>
              <a:srgbClr val="ECEFF4"/>
            </a:solidFill>
            <a:prstDash val="solid"/>
          </a:ln>
        </p:spPr>
        <p:txBody>
          <a:bodyPr/>
          <a:lstStyle/>
          <a:p>
            <a:endParaRPr lang="en-US"/>
          </a:p>
        </p:txBody>
      </p:sp>
      <p:sp>
        <p:nvSpPr>
          <p:cNvPr id="24" name="Text 22"/>
          <p:cNvSpPr txBox="1"/>
          <p:nvPr/>
        </p:nvSpPr>
        <p:spPr>
          <a:xfrm>
            <a:off x="6447892" y="3246120"/>
            <a:ext cx="2080946" cy="502920"/>
          </a:xfrm>
          <a:prstGeom prst="rect">
            <a:avLst/>
          </a:prstGeom>
          <a:noFill/>
          <a:ln/>
        </p:spPr>
        <p:txBody>
          <a:bodyPr wrap="square" lIns="0" tIns="0" rIns="0" bIns="0" rtlCol="0" anchor="ctr"/>
          <a:lstStyle/>
          <a:p>
            <a:pPr marL="0" indent="0">
              <a:lnSpc>
                <a:spcPts val="1800"/>
              </a:lnSpc>
              <a:buNone/>
            </a:pPr>
            <a:r>
              <a:rPr lang="en-US" sz="1450" b="1" dirty="0">
                <a:solidFill>
                  <a:srgbClr val="0D1117"/>
                </a:solidFill>
                <a:latin typeface="Cambria" pitchFamily="34" charset="0"/>
                <a:ea typeface="Cambria" pitchFamily="34" charset="-122"/>
                <a:cs typeface="Cambria" pitchFamily="34" charset="-120"/>
              </a:rPr>
              <a:t>The spiritual</a:t>
            </a:r>
            <a:endParaRPr lang="en-US" sz="1450" dirty="0"/>
          </a:p>
        </p:txBody>
      </p:sp>
      <p:sp>
        <p:nvSpPr>
          <p:cNvPr id="25" name="Text 23"/>
          <p:cNvSpPr txBox="1"/>
          <p:nvPr/>
        </p:nvSpPr>
        <p:spPr>
          <a:xfrm>
            <a:off x="6447892" y="3776472"/>
            <a:ext cx="2080946" cy="566928"/>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Androids singing together in a scene that quotes the sound of Black church protest tradition.</a:t>
            </a:r>
            <a:endParaRPr lang="en-US" sz="1150" dirty="0"/>
          </a:p>
        </p:txBody>
      </p:sp>
      <p:sp>
        <p:nvSpPr>
          <p:cNvPr id="26" name="Shape 24"/>
          <p:cNvSpPr/>
          <p:nvPr/>
        </p:nvSpPr>
        <p:spPr>
          <a:xfrm>
            <a:off x="8995181" y="3081528"/>
            <a:ext cx="2556434" cy="1353312"/>
          </a:xfrm>
          <a:prstGeom prst="roundRect">
            <a:avLst>
              <a:gd name="adj" fmla="val 5405"/>
            </a:avLst>
          </a:prstGeom>
          <a:solidFill>
            <a:srgbClr val="ECEAF9"/>
          </a:solidFill>
          <a:ln w="12700">
            <a:solidFill>
              <a:srgbClr val="ECEAF9"/>
            </a:solidFill>
            <a:prstDash val="solid"/>
          </a:ln>
        </p:spPr>
        <p:txBody>
          <a:bodyPr/>
          <a:lstStyle/>
          <a:p>
            <a:endParaRPr lang="en-US"/>
          </a:p>
        </p:txBody>
      </p:sp>
      <p:sp>
        <p:nvSpPr>
          <p:cNvPr id="27" name="Text 25"/>
          <p:cNvSpPr txBox="1"/>
          <p:nvPr/>
        </p:nvSpPr>
        <p:spPr>
          <a:xfrm>
            <a:off x="9232925" y="3246120"/>
            <a:ext cx="2080946" cy="502920"/>
          </a:xfrm>
          <a:prstGeom prst="rect">
            <a:avLst/>
          </a:prstGeom>
          <a:noFill/>
          <a:ln/>
        </p:spPr>
        <p:txBody>
          <a:bodyPr wrap="square" lIns="0" tIns="0" rIns="0" bIns="0" rtlCol="0" anchor="ctr"/>
          <a:lstStyle/>
          <a:p>
            <a:pPr marL="0" indent="0">
              <a:lnSpc>
                <a:spcPts val="1800"/>
              </a:lnSpc>
              <a:buNone/>
            </a:pPr>
            <a:r>
              <a:rPr lang="en-US" sz="1450" b="1" dirty="0">
                <a:solidFill>
                  <a:srgbClr val="0D1117"/>
                </a:solidFill>
                <a:latin typeface="Cambria" pitchFamily="34" charset="0"/>
                <a:ea typeface="Cambria" pitchFamily="34" charset="-122"/>
                <a:cs typeface="Cambria" pitchFamily="34" charset="-120"/>
              </a:rPr>
              <a:t>The underground</a:t>
            </a:r>
            <a:endParaRPr lang="en-US" sz="1450" dirty="0"/>
          </a:p>
        </p:txBody>
      </p:sp>
      <p:sp>
        <p:nvSpPr>
          <p:cNvPr id="28" name="Text 26"/>
          <p:cNvSpPr txBox="1"/>
          <p:nvPr/>
        </p:nvSpPr>
        <p:spPr>
          <a:xfrm>
            <a:off x="9232925" y="3776472"/>
            <a:ext cx="2080946" cy="566928"/>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A hidden network moving fugitives north across a border to freedom.</a:t>
            </a:r>
            <a:endParaRPr lang="en-US" sz="1150" dirty="0"/>
          </a:p>
        </p:txBody>
      </p:sp>
      <p:sp>
        <p:nvSpPr>
          <p:cNvPr id="29" name="Shape 27"/>
          <p:cNvSpPr/>
          <p:nvPr/>
        </p:nvSpPr>
        <p:spPr>
          <a:xfrm>
            <a:off x="640080" y="4617720"/>
            <a:ext cx="10911535" cy="1143000"/>
          </a:xfrm>
          <a:prstGeom prst="roundRect">
            <a:avLst>
              <a:gd name="adj" fmla="val 6400"/>
            </a:avLst>
          </a:prstGeom>
          <a:solidFill>
            <a:srgbClr val="0D1117"/>
          </a:solidFill>
          <a:ln w="12700">
            <a:solidFill>
              <a:srgbClr val="0D1117"/>
            </a:solidFill>
            <a:prstDash val="solid"/>
          </a:ln>
        </p:spPr>
        <p:txBody>
          <a:bodyPr/>
          <a:lstStyle/>
          <a:p>
            <a:endParaRPr lang="en-US"/>
          </a:p>
        </p:txBody>
      </p:sp>
      <p:sp>
        <p:nvSpPr>
          <p:cNvPr id="30" name="Text 28"/>
          <p:cNvSpPr txBox="1"/>
          <p:nvPr/>
        </p:nvSpPr>
        <p:spPr>
          <a:xfrm>
            <a:off x="1005840" y="4800600"/>
            <a:ext cx="10424160" cy="777240"/>
          </a:xfrm>
          <a:prstGeom prst="rect">
            <a:avLst/>
          </a:prstGeom>
          <a:noFill/>
          <a:ln/>
        </p:spPr>
        <p:txBody>
          <a:bodyPr wrap="square" lIns="0" tIns="0" rIns="0" bIns="0" rtlCol="0" anchor="ctr"/>
          <a:lstStyle/>
          <a:p>
            <a:pPr marL="0" indent="0">
              <a:lnSpc>
                <a:spcPts val="2100"/>
              </a:lnSpc>
              <a:buNone/>
            </a:pPr>
            <a:r>
              <a:rPr lang="en-US" sz="1550" dirty="0">
                <a:solidFill>
                  <a:srgbClr val="F1F3F6"/>
                </a:solidFill>
                <a:latin typeface="Cambria" pitchFamily="34" charset="0"/>
                <a:ea typeface="Cambria" pitchFamily="34" charset="-122"/>
                <a:cs typeface="Cambria" pitchFamily="34" charset="-120"/>
              </a:rPr>
              <a:t>None of this is subtext. It is the surface of the game, assembled from the iconography of American slavery and the civil rights movement and from the Holocaust, and deployed on characters who are mostly white plastic.</a:t>
            </a:r>
            <a:endParaRPr lang="en-US" sz="1550" dirty="0"/>
          </a:p>
        </p:txBody>
      </p:sp>
      <p:sp>
        <p:nvSpPr>
          <p:cNvPr id="31" name="Text 29"/>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96273"/>
                </a:solidFill>
                <a:latin typeface="Calibri" pitchFamily="34" charset="0"/>
                <a:ea typeface="Calibri" pitchFamily="34" charset="-122"/>
                <a:cs typeface="Calibri" pitchFamily="34" charset="-120"/>
              </a:rPr>
              <a:t>Reviewers at release widely criticised the game’s handling of its historical allegories — the complaint is not a retrospective invention.</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THE CRITIQUE · PART TWO</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Where the analogy breaks</a:t>
            </a:r>
            <a:endParaRPr lang="en-US" sz="3000" dirty="0"/>
          </a:p>
        </p:txBody>
      </p:sp>
      <p:sp>
        <p:nvSpPr>
          <p:cNvPr id="5" name="Shape 3"/>
          <p:cNvSpPr/>
          <p:nvPr/>
        </p:nvSpPr>
        <p:spPr>
          <a:xfrm>
            <a:off x="640080" y="1572768"/>
            <a:ext cx="5295748" cy="1938528"/>
          </a:xfrm>
          <a:prstGeom prst="roundRect">
            <a:avLst>
              <a:gd name="adj" fmla="val 3774"/>
            </a:avLst>
          </a:prstGeom>
          <a:solidFill>
            <a:srgbClr val="ECEFF4"/>
          </a:solidFill>
          <a:ln w="12700">
            <a:solidFill>
              <a:srgbClr val="ECEFF4"/>
            </a:solidFill>
            <a:prstDash val="solid"/>
          </a:ln>
        </p:spPr>
        <p:txBody>
          <a:bodyPr/>
          <a:lstStyle/>
          <a:p>
            <a:endParaRPr lang="en-US"/>
          </a:p>
        </p:txBody>
      </p:sp>
      <p:sp>
        <p:nvSpPr>
          <p:cNvPr id="6" name="Shape 4"/>
          <p:cNvSpPr/>
          <p:nvPr/>
        </p:nvSpPr>
        <p:spPr>
          <a:xfrm>
            <a:off x="932688" y="1828800"/>
            <a:ext cx="347472" cy="347472"/>
          </a:xfrm>
          <a:prstGeom prst="ellipse">
            <a:avLst/>
          </a:prstGeom>
          <a:solidFill>
            <a:srgbClr val="0D1117"/>
          </a:solidFill>
          <a:ln/>
        </p:spPr>
        <p:txBody>
          <a:bodyPr/>
          <a:lstStyle/>
          <a:p>
            <a:endParaRPr lang="en-US"/>
          </a:p>
        </p:txBody>
      </p:sp>
      <p:sp>
        <p:nvSpPr>
          <p:cNvPr id="7" name="Text 5"/>
          <p:cNvSpPr txBox="1"/>
          <p:nvPr/>
        </p:nvSpPr>
        <p:spPr>
          <a:xfrm>
            <a:off x="932688" y="182880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417320" y="1792224"/>
            <a:ext cx="4244188" cy="640080"/>
          </a:xfrm>
          <a:prstGeom prst="rect">
            <a:avLst/>
          </a:prstGeom>
          <a:noFill/>
          <a:ln/>
        </p:spPr>
        <p:txBody>
          <a:bodyPr wrap="square" lIns="0" tIns="0" rIns="0" bIns="0" rtlCol="0" anchor="ctr"/>
          <a:lstStyle/>
          <a:p>
            <a:pPr marL="0" indent="0">
              <a:lnSpc>
                <a:spcPts val="2000"/>
              </a:lnSpc>
              <a:buNone/>
            </a:pPr>
            <a:r>
              <a:rPr lang="en-US" sz="1550" b="1" dirty="0">
                <a:solidFill>
                  <a:srgbClr val="0D1117"/>
                </a:solidFill>
                <a:latin typeface="Cambria" pitchFamily="34" charset="0"/>
                <a:ea typeface="Cambria" pitchFamily="34" charset="-122"/>
                <a:cs typeface="Cambria" pitchFamily="34" charset="-120"/>
              </a:rPr>
              <a:t>Property is the whole point, and the game blinks at it</a:t>
            </a:r>
            <a:endParaRPr lang="en-US" sz="1550" dirty="0"/>
          </a:p>
        </p:txBody>
      </p:sp>
      <p:sp>
        <p:nvSpPr>
          <p:cNvPr id="9" name="Text 7"/>
          <p:cNvSpPr txBox="1"/>
          <p:nvPr/>
        </p:nvSpPr>
        <p:spPr>
          <a:xfrm>
            <a:off x="932688" y="2505456"/>
            <a:ext cx="4710532" cy="914400"/>
          </a:xfrm>
          <a:prstGeom prst="rect">
            <a:avLst/>
          </a:prstGeom>
          <a:noFill/>
          <a:ln/>
        </p:spPr>
        <p:txBody>
          <a:bodyPr wrap="square" lIns="0" tIns="0" rIns="0" bIns="0" rtlCol="0" anchor="ctr"/>
          <a:lstStyle/>
          <a:p>
            <a:pPr marL="0" indent="0">
              <a:lnSpc>
                <a:spcPts val="1600"/>
              </a:lnSpc>
              <a:buNone/>
            </a:pPr>
            <a:r>
              <a:rPr lang="en-US" sz="1200" dirty="0">
                <a:solidFill>
                  <a:srgbClr val="596273"/>
                </a:solidFill>
                <a:latin typeface="Calibri" pitchFamily="34" charset="0"/>
                <a:ea typeface="Calibri" pitchFamily="34" charset="-122"/>
                <a:cs typeface="Calibri" pitchFamily="34" charset="-120"/>
              </a:rPr>
              <a:t>Enslaved people were held as property by a legal fiction everyone involved had to work to maintain. Androids are manufactured commodities. The game wants the moral weight of the first while relying on the literal truth of the second whenever the plot needs a factory.</a:t>
            </a:r>
            <a:endParaRPr lang="en-US" sz="1200" dirty="0"/>
          </a:p>
        </p:txBody>
      </p:sp>
      <p:sp>
        <p:nvSpPr>
          <p:cNvPr id="10" name="Shape 8"/>
          <p:cNvSpPr/>
          <p:nvPr/>
        </p:nvSpPr>
        <p:spPr>
          <a:xfrm>
            <a:off x="6255868" y="1572768"/>
            <a:ext cx="5295748" cy="1938528"/>
          </a:xfrm>
          <a:prstGeom prst="roundRect">
            <a:avLst>
              <a:gd name="adj" fmla="val 3774"/>
            </a:avLst>
          </a:prstGeom>
          <a:solidFill>
            <a:srgbClr val="ECEAF9"/>
          </a:solidFill>
          <a:ln w="12700">
            <a:solidFill>
              <a:srgbClr val="ECEAF9"/>
            </a:solidFill>
            <a:prstDash val="solid"/>
          </a:ln>
        </p:spPr>
        <p:txBody>
          <a:bodyPr/>
          <a:lstStyle/>
          <a:p>
            <a:endParaRPr lang="en-US"/>
          </a:p>
        </p:txBody>
      </p:sp>
      <p:sp>
        <p:nvSpPr>
          <p:cNvPr id="11" name="Shape 9"/>
          <p:cNvSpPr/>
          <p:nvPr/>
        </p:nvSpPr>
        <p:spPr>
          <a:xfrm>
            <a:off x="6548476" y="1828800"/>
            <a:ext cx="347472" cy="347472"/>
          </a:xfrm>
          <a:prstGeom prst="ellipse">
            <a:avLst/>
          </a:prstGeom>
          <a:solidFill>
            <a:srgbClr val="6659C4"/>
          </a:solidFill>
          <a:ln/>
        </p:spPr>
        <p:txBody>
          <a:bodyPr/>
          <a:lstStyle/>
          <a:p>
            <a:endParaRPr lang="en-US"/>
          </a:p>
        </p:txBody>
      </p:sp>
      <p:sp>
        <p:nvSpPr>
          <p:cNvPr id="12" name="Text 10"/>
          <p:cNvSpPr txBox="1"/>
          <p:nvPr/>
        </p:nvSpPr>
        <p:spPr>
          <a:xfrm>
            <a:off x="6548476" y="182880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7033108" y="1792224"/>
            <a:ext cx="4244188" cy="640080"/>
          </a:xfrm>
          <a:prstGeom prst="rect">
            <a:avLst/>
          </a:prstGeom>
          <a:noFill/>
          <a:ln/>
        </p:spPr>
        <p:txBody>
          <a:bodyPr wrap="square" lIns="0" tIns="0" rIns="0" bIns="0" rtlCol="0" anchor="ctr"/>
          <a:lstStyle/>
          <a:p>
            <a:pPr marL="0" indent="0">
              <a:lnSpc>
                <a:spcPts val="2000"/>
              </a:lnSpc>
              <a:buNone/>
            </a:pPr>
            <a:r>
              <a:rPr lang="en-US" sz="1550" b="1" dirty="0">
                <a:solidFill>
                  <a:srgbClr val="0D1117"/>
                </a:solidFill>
                <a:latin typeface="Cambria" pitchFamily="34" charset="0"/>
                <a:ea typeface="Cambria" pitchFamily="34" charset="-122"/>
                <a:cs typeface="Cambria" pitchFamily="34" charset="-120"/>
              </a:rPr>
              <a:t>The oppressed have no history</a:t>
            </a:r>
            <a:endParaRPr lang="en-US" sz="1550" dirty="0"/>
          </a:p>
        </p:txBody>
      </p:sp>
      <p:sp>
        <p:nvSpPr>
          <p:cNvPr id="14" name="Text 12"/>
          <p:cNvSpPr txBox="1"/>
          <p:nvPr/>
        </p:nvSpPr>
        <p:spPr>
          <a:xfrm>
            <a:off x="6548476" y="2505456"/>
            <a:ext cx="4710532" cy="914400"/>
          </a:xfrm>
          <a:prstGeom prst="rect">
            <a:avLst/>
          </a:prstGeom>
          <a:noFill/>
          <a:ln/>
        </p:spPr>
        <p:txBody>
          <a:bodyPr wrap="square" lIns="0" tIns="0" rIns="0" bIns="0" rtlCol="0" anchor="ctr"/>
          <a:lstStyle/>
          <a:p>
            <a:pPr marL="0" indent="0">
              <a:lnSpc>
                <a:spcPts val="1600"/>
              </a:lnSpc>
              <a:buNone/>
            </a:pPr>
            <a:r>
              <a:rPr lang="en-US" sz="1200" dirty="0">
                <a:solidFill>
                  <a:srgbClr val="596273"/>
                </a:solidFill>
                <a:latin typeface="Calibri" pitchFamily="34" charset="0"/>
                <a:ea typeface="Calibri" pitchFamily="34" charset="-122"/>
                <a:cs typeface="Calibri" pitchFamily="34" charset="-120"/>
              </a:rPr>
              <a:t>A civil rights movement is made by people with generations of culture, kinship, institutions and prior struggle. Detroit’s androids were switched on last year. The game takes a movement’s iconography without any of the accumulated life that produced it.</a:t>
            </a:r>
            <a:endParaRPr lang="en-US" sz="1200" dirty="0"/>
          </a:p>
        </p:txBody>
      </p:sp>
      <p:sp>
        <p:nvSpPr>
          <p:cNvPr id="15" name="Shape 13"/>
          <p:cNvSpPr/>
          <p:nvPr/>
        </p:nvSpPr>
        <p:spPr>
          <a:xfrm>
            <a:off x="640080" y="3675888"/>
            <a:ext cx="5295748" cy="1938528"/>
          </a:xfrm>
          <a:prstGeom prst="roundRect">
            <a:avLst>
              <a:gd name="adj" fmla="val 3774"/>
            </a:avLst>
          </a:prstGeom>
          <a:solidFill>
            <a:srgbClr val="ECEFF4"/>
          </a:solidFill>
          <a:ln w="12700">
            <a:solidFill>
              <a:srgbClr val="ECEFF4"/>
            </a:solidFill>
            <a:prstDash val="solid"/>
          </a:ln>
        </p:spPr>
        <p:txBody>
          <a:bodyPr/>
          <a:lstStyle/>
          <a:p>
            <a:endParaRPr lang="en-US"/>
          </a:p>
        </p:txBody>
      </p:sp>
      <p:sp>
        <p:nvSpPr>
          <p:cNvPr id="16" name="Shape 14"/>
          <p:cNvSpPr/>
          <p:nvPr/>
        </p:nvSpPr>
        <p:spPr>
          <a:xfrm>
            <a:off x="932688" y="3931920"/>
            <a:ext cx="347472" cy="347472"/>
          </a:xfrm>
          <a:prstGeom prst="ellipse">
            <a:avLst/>
          </a:prstGeom>
          <a:solidFill>
            <a:srgbClr val="0D1117"/>
          </a:solidFill>
          <a:ln/>
        </p:spPr>
        <p:txBody>
          <a:bodyPr/>
          <a:lstStyle/>
          <a:p>
            <a:endParaRPr lang="en-US"/>
          </a:p>
        </p:txBody>
      </p:sp>
      <p:sp>
        <p:nvSpPr>
          <p:cNvPr id="17" name="Text 15"/>
          <p:cNvSpPr txBox="1"/>
          <p:nvPr/>
        </p:nvSpPr>
        <p:spPr>
          <a:xfrm>
            <a:off x="932688" y="393192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417320" y="3895344"/>
            <a:ext cx="4244188" cy="640080"/>
          </a:xfrm>
          <a:prstGeom prst="rect">
            <a:avLst/>
          </a:prstGeom>
          <a:noFill/>
          <a:ln/>
        </p:spPr>
        <p:txBody>
          <a:bodyPr wrap="square" lIns="0" tIns="0" rIns="0" bIns="0" rtlCol="0" anchor="ctr"/>
          <a:lstStyle/>
          <a:p>
            <a:pPr marL="0" indent="0">
              <a:lnSpc>
                <a:spcPts val="2000"/>
              </a:lnSpc>
              <a:buNone/>
            </a:pPr>
            <a:r>
              <a:rPr lang="en-US" sz="1550" b="1" dirty="0">
                <a:solidFill>
                  <a:srgbClr val="0D1117"/>
                </a:solidFill>
                <a:latin typeface="Cambria" pitchFamily="34" charset="0"/>
                <a:ea typeface="Cambria" pitchFamily="34" charset="-122"/>
                <a:cs typeface="Cambria" pitchFamily="34" charset="-120"/>
              </a:rPr>
              <a:t>The oppressors have no economics</a:t>
            </a:r>
            <a:endParaRPr lang="en-US" sz="1550" dirty="0"/>
          </a:p>
        </p:txBody>
      </p:sp>
      <p:sp>
        <p:nvSpPr>
          <p:cNvPr id="19" name="Text 17"/>
          <p:cNvSpPr txBox="1"/>
          <p:nvPr/>
        </p:nvSpPr>
        <p:spPr>
          <a:xfrm>
            <a:off x="932688" y="4608576"/>
            <a:ext cx="4710532" cy="914400"/>
          </a:xfrm>
          <a:prstGeom prst="rect">
            <a:avLst/>
          </a:prstGeom>
          <a:noFill/>
          <a:ln/>
        </p:spPr>
        <p:txBody>
          <a:bodyPr wrap="square" lIns="0" tIns="0" rIns="0" bIns="0" rtlCol="0" anchor="ctr"/>
          <a:lstStyle/>
          <a:p>
            <a:pPr marL="0" indent="0">
              <a:lnSpc>
                <a:spcPts val="1600"/>
              </a:lnSpc>
              <a:buNone/>
            </a:pPr>
            <a:r>
              <a:rPr lang="en-US" sz="1200" dirty="0">
                <a:solidFill>
                  <a:srgbClr val="596273"/>
                </a:solidFill>
                <a:latin typeface="Calibri" pitchFamily="34" charset="0"/>
                <a:ea typeface="Calibri" pitchFamily="34" charset="-122"/>
                <a:cs typeface="Calibri" pitchFamily="34" charset="-120"/>
              </a:rPr>
              <a:t>Real segregation was profitable and was defended by people with interests. Detroit’s human hostility is mostly ambient bigotry and personal cruelty — there is no serious account of who profits from android labour and would fight to keep it.</a:t>
            </a:r>
            <a:endParaRPr lang="en-US" sz="1200" dirty="0"/>
          </a:p>
        </p:txBody>
      </p:sp>
      <p:sp>
        <p:nvSpPr>
          <p:cNvPr id="20" name="Shape 18"/>
          <p:cNvSpPr/>
          <p:nvPr/>
        </p:nvSpPr>
        <p:spPr>
          <a:xfrm>
            <a:off x="6255868" y="3675888"/>
            <a:ext cx="5295748" cy="1938528"/>
          </a:xfrm>
          <a:prstGeom prst="roundRect">
            <a:avLst>
              <a:gd name="adj" fmla="val 3774"/>
            </a:avLst>
          </a:prstGeom>
          <a:solidFill>
            <a:srgbClr val="0D1117"/>
          </a:solidFill>
          <a:ln w="12700">
            <a:solidFill>
              <a:srgbClr val="0D1117"/>
            </a:solidFill>
            <a:prstDash val="solid"/>
          </a:ln>
        </p:spPr>
        <p:txBody>
          <a:bodyPr/>
          <a:lstStyle/>
          <a:p>
            <a:endParaRPr lang="en-US"/>
          </a:p>
        </p:txBody>
      </p:sp>
      <p:sp>
        <p:nvSpPr>
          <p:cNvPr id="21" name="Shape 19"/>
          <p:cNvSpPr/>
          <p:nvPr/>
        </p:nvSpPr>
        <p:spPr>
          <a:xfrm>
            <a:off x="6548476" y="3931920"/>
            <a:ext cx="347472" cy="347472"/>
          </a:xfrm>
          <a:prstGeom prst="ellipse">
            <a:avLst/>
          </a:prstGeom>
          <a:solidFill>
            <a:srgbClr val="6659C4"/>
          </a:solidFill>
          <a:ln/>
        </p:spPr>
        <p:txBody>
          <a:bodyPr/>
          <a:lstStyle/>
          <a:p>
            <a:endParaRPr lang="en-US"/>
          </a:p>
        </p:txBody>
      </p:sp>
      <p:sp>
        <p:nvSpPr>
          <p:cNvPr id="22" name="Text 20"/>
          <p:cNvSpPr txBox="1"/>
          <p:nvPr/>
        </p:nvSpPr>
        <p:spPr>
          <a:xfrm>
            <a:off x="6548476" y="3931920"/>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7033108" y="3895344"/>
            <a:ext cx="4244188" cy="640080"/>
          </a:xfrm>
          <a:prstGeom prst="rect">
            <a:avLst/>
          </a:prstGeom>
          <a:noFill/>
          <a:ln/>
        </p:spPr>
        <p:txBody>
          <a:bodyPr wrap="square" lIns="0" tIns="0" rIns="0" bIns="0" rtlCol="0" anchor="ctr"/>
          <a:lstStyle/>
          <a:p>
            <a:pPr marL="0" indent="0">
              <a:lnSpc>
                <a:spcPts val="2000"/>
              </a:lnSpc>
              <a:buNone/>
            </a:pPr>
            <a:r>
              <a:rPr lang="en-US" sz="1550" b="1" dirty="0">
                <a:solidFill>
                  <a:srgbClr val="6FD3AF"/>
                </a:solidFill>
                <a:latin typeface="Cambria" pitchFamily="34" charset="0"/>
                <a:ea typeface="Cambria" pitchFamily="34" charset="-122"/>
                <a:cs typeface="Cambria" pitchFamily="34" charset="-120"/>
              </a:rPr>
              <a:t>And it happens in a majority-Black city</a:t>
            </a:r>
            <a:endParaRPr lang="en-US" sz="1550" dirty="0"/>
          </a:p>
        </p:txBody>
      </p:sp>
      <p:sp>
        <p:nvSpPr>
          <p:cNvPr id="24" name="Text 22"/>
          <p:cNvSpPr txBox="1"/>
          <p:nvPr/>
        </p:nvSpPr>
        <p:spPr>
          <a:xfrm>
            <a:off x="6548476" y="4608576"/>
            <a:ext cx="4710532" cy="914400"/>
          </a:xfrm>
          <a:prstGeom prst="rect">
            <a:avLst/>
          </a:prstGeom>
          <a:noFill/>
          <a:ln/>
        </p:spPr>
        <p:txBody>
          <a:bodyPr wrap="square" lIns="0" tIns="0" rIns="0" bIns="0" rtlCol="0" anchor="ctr"/>
          <a:lstStyle/>
          <a:p>
            <a:pPr marL="0" indent="0">
              <a:lnSpc>
                <a:spcPts val="1600"/>
              </a:lnSpc>
              <a:buNone/>
            </a:pPr>
            <a:r>
              <a:rPr lang="en-US" sz="1200" dirty="0">
                <a:solidFill>
                  <a:srgbClr val="F1F3F6"/>
                </a:solidFill>
                <a:latin typeface="Calibri" pitchFamily="34" charset="0"/>
                <a:ea typeface="Calibri" pitchFamily="34" charset="-122"/>
                <a:cs typeface="Calibri" pitchFamily="34" charset="-120"/>
              </a:rPr>
              <a:t>Setting a synthetic civil rights story in Detroit while giving Black characters almost nothing to do is what makes the borrowing indefensible rather than merely clumsy. The history is used as set dressing for its own replacement.</a:t>
            </a:r>
            <a:endParaRPr lang="en-US" sz="1200" dirty="0"/>
          </a:p>
        </p:txBody>
      </p:sp>
      <p:sp>
        <p:nvSpPr>
          <p:cNvPr id="25" name="Text 23"/>
          <p:cNvSpPr txBox="1"/>
          <p:nvPr/>
        </p:nvSpPr>
        <p:spPr>
          <a:xfrm>
            <a:off x="640080" y="5852160"/>
            <a:ext cx="10881360" cy="384048"/>
          </a:xfrm>
          <a:prstGeom prst="rect">
            <a:avLst/>
          </a:prstGeom>
          <a:noFill/>
          <a:ln/>
        </p:spPr>
        <p:txBody>
          <a:bodyPr wrap="square" lIns="0" tIns="0" rIns="0" bIns="0" rtlCol="0" anchor="ctr"/>
          <a:lstStyle/>
          <a:p>
            <a:pPr marL="0" indent="0">
              <a:buNone/>
            </a:pPr>
            <a:r>
              <a:rPr lang="en-US" sz="1500" i="1" dirty="0">
                <a:solidFill>
                  <a:srgbClr val="1F9E77"/>
                </a:solidFill>
                <a:latin typeface="Cambria" pitchFamily="34" charset="0"/>
                <a:ea typeface="Cambria" pitchFamily="34" charset="-122"/>
                <a:cs typeface="Cambria" pitchFamily="34" charset="-120"/>
              </a:rPr>
              <a:t>The problem is not that androids are used to think about oppression. It is that this borrowing takes the imagery and leaves the analysis.</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THE CRITIQUE · PART THREE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The disavowal, and why it makes things worse</a:t>
            </a:r>
            <a:endParaRPr lang="en-US" sz="3000" dirty="0"/>
          </a:p>
        </p:txBody>
      </p:sp>
      <p:sp>
        <p:nvSpPr>
          <p:cNvPr id="5" name="Shape 3"/>
          <p:cNvSpPr/>
          <p:nvPr/>
        </p:nvSpPr>
        <p:spPr>
          <a:xfrm>
            <a:off x="640080" y="1572768"/>
            <a:ext cx="5943600" cy="2194560"/>
          </a:xfrm>
          <a:prstGeom prst="roundRect">
            <a:avLst>
              <a:gd name="adj" fmla="val 3333"/>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1005840" y="1773936"/>
            <a:ext cx="5212080" cy="292608"/>
          </a:xfrm>
          <a:prstGeom prst="rect">
            <a:avLst/>
          </a:prstGeom>
          <a:noFill/>
          <a:ln/>
        </p:spPr>
        <p:txBody>
          <a:bodyPr wrap="square" lIns="0" tIns="0" rIns="0" bIns="0" rtlCol="0" anchor="ctr"/>
          <a:lstStyle/>
          <a:p>
            <a:pPr marL="0" indent="0">
              <a:buNone/>
            </a:pPr>
            <a:r>
              <a:rPr lang="en-US" sz="1150" b="1" kern="0" spc="140" dirty="0">
                <a:solidFill>
                  <a:srgbClr val="A79CEB"/>
                </a:solidFill>
                <a:latin typeface="Calibri" pitchFamily="34" charset="0"/>
                <a:ea typeface="Calibri" pitchFamily="34" charset="-122"/>
                <a:cs typeface="Calibri" pitchFamily="34" charset="-120"/>
              </a:rPr>
              <a:t>The position taken publicly</a:t>
            </a:r>
            <a:endParaRPr lang="en-US" sz="1150" dirty="0"/>
          </a:p>
        </p:txBody>
      </p:sp>
      <p:sp>
        <p:nvSpPr>
          <p:cNvPr id="7" name="Text 5"/>
          <p:cNvSpPr txBox="1"/>
          <p:nvPr/>
        </p:nvSpPr>
        <p:spPr>
          <a:xfrm>
            <a:off x="1005840" y="2194560"/>
            <a:ext cx="5257800" cy="1417320"/>
          </a:xfrm>
          <a:prstGeom prst="rect">
            <a:avLst/>
          </a:prstGeom>
          <a:noFill/>
          <a:ln/>
        </p:spPr>
        <p:txBody>
          <a:bodyPr wrap="square" lIns="0" tIns="0" rIns="0" bIns="0" rtlCol="0" anchor="ctr"/>
          <a:lstStyle/>
          <a:p>
            <a:pPr marL="0" indent="0">
              <a:lnSpc>
                <a:spcPts val="2100"/>
              </a:lnSpc>
              <a:buNone/>
            </a:pPr>
            <a:r>
              <a:rPr lang="en-US" sz="1550" dirty="0">
                <a:solidFill>
                  <a:srgbClr val="F1F3F6"/>
                </a:solidFill>
                <a:latin typeface="Cambria" pitchFamily="34" charset="0"/>
                <a:ea typeface="Cambria" pitchFamily="34" charset="-122"/>
                <a:cs typeface="Cambria" pitchFamily="34" charset="-120"/>
              </a:rPr>
              <a:t>The game’s director maintained through the marketing cycle that Detroit was not a political work and that he was not making a statement — that he was telling a story about androids and viewers could read into it whatever they liked.</a:t>
            </a:r>
            <a:endParaRPr lang="en-US" sz="1550" dirty="0"/>
          </a:p>
        </p:txBody>
      </p:sp>
      <p:sp>
        <p:nvSpPr>
          <p:cNvPr id="8" name="Shape 6"/>
          <p:cNvSpPr/>
          <p:nvPr/>
        </p:nvSpPr>
        <p:spPr>
          <a:xfrm>
            <a:off x="6903720" y="1572768"/>
            <a:ext cx="4626864" cy="1371600"/>
          </a:xfrm>
          <a:prstGeom prst="roundRect">
            <a:avLst>
              <a:gd name="adj" fmla="val 5333"/>
            </a:avLst>
          </a:prstGeom>
          <a:solidFill>
            <a:srgbClr val="E4F1EC"/>
          </a:solidFill>
          <a:ln w="12700">
            <a:solidFill>
              <a:srgbClr val="E4F1EC"/>
            </a:solidFill>
            <a:prstDash val="solid"/>
          </a:ln>
        </p:spPr>
        <p:txBody>
          <a:bodyPr/>
          <a:lstStyle/>
          <a:p>
            <a:endParaRPr lang="en-US"/>
          </a:p>
        </p:txBody>
      </p:sp>
      <p:sp>
        <p:nvSpPr>
          <p:cNvPr id="9" name="Text 7"/>
          <p:cNvSpPr txBox="1"/>
          <p:nvPr/>
        </p:nvSpPr>
        <p:spPr>
          <a:xfrm>
            <a:off x="7178040" y="1719072"/>
            <a:ext cx="4078224" cy="457200"/>
          </a:xfrm>
          <a:prstGeom prst="rect">
            <a:avLst/>
          </a:prstGeom>
          <a:noFill/>
          <a:ln/>
        </p:spPr>
        <p:txBody>
          <a:bodyPr wrap="square" lIns="0" tIns="0" rIns="0" bIns="0" rtlCol="0" anchor="ctr"/>
          <a:lstStyle/>
          <a:p>
            <a:pPr marL="0" indent="0">
              <a:lnSpc>
                <a:spcPts val="1800"/>
              </a:lnSpc>
              <a:buNone/>
            </a:pPr>
            <a:r>
              <a:rPr lang="en-US" sz="1350" b="1" dirty="0">
                <a:solidFill>
                  <a:srgbClr val="0D1117"/>
                </a:solidFill>
                <a:latin typeface="Cambria" pitchFamily="34" charset="0"/>
                <a:ea typeface="Cambria" pitchFamily="34" charset="-122"/>
                <a:cs typeface="Cambria" pitchFamily="34" charset="-120"/>
              </a:rPr>
              <a:t>You cannot deploy an iconography and disclaim its meaning</a:t>
            </a:r>
            <a:endParaRPr lang="en-US" sz="1350" dirty="0"/>
          </a:p>
        </p:txBody>
      </p:sp>
      <p:sp>
        <p:nvSpPr>
          <p:cNvPr id="10" name="Text 8"/>
          <p:cNvSpPr txBox="1"/>
          <p:nvPr/>
        </p:nvSpPr>
        <p:spPr>
          <a:xfrm>
            <a:off x="7178040" y="2231136"/>
            <a:ext cx="4078224" cy="640080"/>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Armbands and segregated buses are not neutral shapes. Using them is a speech act whether or not you intend an argument.</a:t>
            </a:r>
            <a:endParaRPr lang="en-US" sz="1150" dirty="0"/>
          </a:p>
        </p:txBody>
      </p:sp>
      <p:sp>
        <p:nvSpPr>
          <p:cNvPr id="11" name="Shape 9"/>
          <p:cNvSpPr/>
          <p:nvPr/>
        </p:nvSpPr>
        <p:spPr>
          <a:xfrm>
            <a:off x="6903720" y="3063240"/>
            <a:ext cx="4626864" cy="1371600"/>
          </a:xfrm>
          <a:prstGeom prst="roundRect">
            <a:avLst>
              <a:gd name="adj" fmla="val 5333"/>
            </a:avLst>
          </a:prstGeom>
          <a:solidFill>
            <a:srgbClr val="ECEAF9"/>
          </a:solidFill>
          <a:ln w="12700">
            <a:solidFill>
              <a:srgbClr val="ECEAF9"/>
            </a:solidFill>
            <a:prstDash val="solid"/>
          </a:ln>
        </p:spPr>
        <p:txBody>
          <a:bodyPr/>
          <a:lstStyle/>
          <a:p>
            <a:endParaRPr lang="en-US"/>
          </a:p>
        </p:txBody>
      </p:sp>
      <p:sp>
        <p:nvSpPr>
          <p:cNvPr id="12" name="Text 10"/>
          <p:cNvSpPr txBox="1"/>
          <p:nvPr/>
        </p:nvSpPr>
        <p:spPr>
          <a:xfrm>
            <a:off x="7178040" y="3209544"/>
            <a:ext cx="4078224" cy="457200"/>
          </a:xfrm>
          <a:prstGeom prst="rect">
            <a:avLst/>
          </a:prstGeom>
          <a:noFill/>
          <a:ln/>
        </p:spPr>
        <p:txBody>
          <a:bodyPr wrap="square" lIns="0" tIns="0" rIns="0" bIns="0" rtlCol="0" anchor="ctr"/>
          <a:lstStyle/>
          <a:p>
            <a:pPr marL="0" indent="0">
              <a:lnSpc>
                <a:spcPts val="1800"/>
              </a:lnSpc>
              <a:buNone/>
            </a:pPr>
            <a:r>
              <a:rPr lang="en-US" sz="1350" b="1" dirty="0">
                <a:solidFill>
                  <a:srgbClr val="6659C4"/>
                </a:solidFill>
                <a:latin typeface="Cambria" pitchFamily="34" charset="0"/>
                <a:ea typeface="Cambria" pitchFamily="34" charset="-122"/>
                <a:cs typeface="Cambria" pitchFamily="34" charset="-120"/>
              </a:rPr>
              <a:t>The disavowal is a procedural fact too</a:t>
            </a:r>
            <a:endParaRPr lang="en-US" sz="1350" dirty="0"/>
          </a:p>
        </p:txBody>
      </p:sp>
      <p:sp>
        <p:nvSpPr>
          <p:cNvPr id="13" name="Text 11"/>
          <p:cNvSpPr txBox="1"/>
          <p:nvPr/>
        </p:nvSpPr>
        <p:spPr>
          <a:xfrm>
            <a:off x="7178040" y="3721608"/>
            <a:ext cx="4078224" cy="640080"/>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A work that will not commit to a claim cannot be held to one — so it collects the emotional yield of a serious subject while remaining unaccountable for a position on it.</a:t>
            </a:r>
            <a:endParaRPr lang="en-US" sz="1150" dirty="0"/>
          </a:p>
        </p:txBody>
      </p:sp>
      <p:sp>
        <p:nvSpPr>
          <p:cNvPr id="14" name="Shape 12"/>
          <p:cNvSpPr/>
          <p:nvPr/>
        </p:nvSpPr>
        <p:spPr>
          <a:xfrm>
            <a:off x="6903720" y="4553712"/>
            <a:ext cx="4626864" cy="1371600"/>
          </a:xfrm>
          <a:prstGeom prst="roundRect">
            <a:avLst>
              <a:gd name="adj" fmla="val 5333"/>
            </a:avLst>
          </a:prstGeom>
          <a:solidFill>
            <a:srgbClr val="E4F1EC"/>
          </a:solidFill>
          <a:ln w="12700">
            <a:solidFill>
              <a:srgbClr val="E4F1EC"/>
            </a:solidFill>
            <a:prstDash val="solid"/>
          </a:ln>
        </p:spPr>
        <p:txBody>
          <a:bodyPr/>
          <a:lstStyle/>
          <a:p>
            <a:endParaRPr lang="en-US"/>
          </a:p>
        </p:txBody>
      </p:sp>
      <p:sp>
        <p:nvSpPr>
          <p:cNvPr id="15" name="Text 13"/>
          <p:cNvSpPr txBox="1"/>
          <p:nvPr/>
        </p:nvSpPr>
        <p:spPr>
          <a:xfrm>
            <a:off x="7178040" y="4700016"/>
            <a:ext cx="4078224" cy="457200"/>
          </a:xfrm>
          <a:prstGeom prst="rect">
            <a:avLst/>
          </a:prstGeom>
          <a:noFill/>
          <a:ln/>
        </p:spPr>
        <p:txBody>
          <a:bodyPr wrap="square" lIns="0" tIns="0" rIns="0" bIns="0" rtlCol="0" anchor="ctr"/>
          <a:lstStyle/>
          <a:p>
            <a:pPr marL="0" indent="0">
              <a:lnSpc>
                <a:spcPts val="1800"/>
              </a:lnSpc>
              <a:buNone/>
            </a:pPr>
            <a:r>
              <a:rPr lang="en-US" sz="1350" b="1" dirty="0">
                <a:solidFill>
                  <a:srgbClr val="0D1117"/>
                </a:solidFill>
                <a:latin typeface="Cambria" pitchFamily="34" charset="0"/>
                <a:ea typeface="Cambria" pitchFamily="34" charset="-122"/>
                <a:cs typeface="Cambria" pitchFamily="34" charset="-120"/>
              </a:rPr>
              <a:t>Compare Mass Effect</a:t>
            </a:r>
            <a:endParaRPr lang="en-US" sz="1350" dirty="0"/>
          </a:p>
        </p:txBody>
      </p:sp>
      <p:sp>
        <p:nvSpPr>
          <p:cNvPr id="16" name="Text 14"/>
          <p:cNvSpPr txBox="1"/>
          <p:nvPr/>
        </p:nvSpPr>
        <p:spPr>
          <a:xfrm>
            <a:off x="7178040" y="5212080"/>
            <a:ext cx="4078224" cy="640080"/>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BioWare also declines to adjudicate, but its rules take a position anyway: peace is possible and it is expensive. Detroit’s rules mostly reward whichever tactic you picked.</a:t>
            </a:r>
            <a:endParaRPr lang="en-US" sz="1150" dirty="0"/>
          </a:p>
        </p:txBody>
      </p:sp>
      <p:sp>
        <p:nvSpPr>
          <p:cNvPr id="17" name="Shape 15"/>
          <p:cNvSpPr/>
          <p:nvPr/>
        </p:nvSpPr>
        <p:spPr>
          <a:xfrm>
            <a:off x="640080" y="3931920"/>
            <a:ext cx="5943600" cy="1828800"/>
          </a:xfrm>
          <a:prstGeom prst="roundRect">
            <a:avLst>
              <a:gd name="adj" fmla="val 4000"/>
            </a:avLst>
          </a:prstGeom>
          <a:solidFill>
            <a:srgbClr val="ECEAF9"/>
          </a:solidFill>
          <a:ln w="12700">
            <a:solidFill>
              <a:srgbClr val="ECEAF9"/>
            </a:solidFill>
            <a:prstDash val="solid"/>
          </a:ln>
        </p:spPr>
        <p:txBody>
          <a:bodyPr/>
          <a:lstStyle/>
          <a:p>
            <a:endParaRPr lang="en-US"/>
          </a:p>
        </p:txBody>
      </p:sp>
      <p:sp>
        <p:nvSpPr>
          <p:cNvPr id="18" name="Text 16"/>
          <p:cNvSpPr txBox="1"/>
          <p:nvPr/>
        </p:nvSpPr>
        <p:spPr>
          <a:xfrm>
            <a:off x="1005840" y="4133088"/>
            <a:ext cx="5212080" cy="310896"/>
          </a:xfrm>
          <a:prstGeom prst="rect">
            <a:avLst/>
          </a:prstGeom>
          <a:noFill/>
          <a:ln/>
        </p:spPr>
        <p:txBody>
          <a:bodyPr wrap="square" lIns="0" tIns="0" rIns="0" bIns="0" rtlCol="0" anchor="ctr"/>
          <a:lstStyle/>
          <a:p>
            <a:pPr marL="0" indent="0">
              <a:buNone/>
            </a:pPr>
            <a:r>
              <a:rPr lang="en-US" sz="1600" b="1" dirty="0">
                <a:solidFill>
                  <a:srgbClr val="0D1117"/>
                </a:solidFill>
                <a:latin typeface="Cambria" pitchFamily="34" charset="0"/>
                <a:ea typeface="Cambria" pitchFamily="34" charset="-122"/>
                <a:cs typeface="Cambria" pitchFamily="34" charset="-120"/>
              </a:rPr>
              <a:t>The transferable point</a:t>
            </a:r>
            <a:endParaRPr lang="en-US" sz="1600" dirty="0"/>
          </a:p>
        </p:txBody>
      </p:sp>
      <p:sp>
        <p:nvSpPr>
          <p:cNvPr id="19" name="Text 17"/>
          <p:cNvSpPr txBox="1"/>
          <p:nvPr/>
        </p:nvSpPr>
        <p:spPr>
          <a:xfrm>
            <a:off x="1005840" y="4526280"/>
            <a:ext cx="5212080" cy="109728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“I’m just telling a story” and “we’re just building a tool” are the same move: production of a thing with obvious social effects, plus refusal of the authorship that would make those effects answerable. You will meet this sentence again in this course, said by people who are not making games.</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SO WHAT DOES THE FAILURE TEACH US?</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Three things you cannot learn from a text that works</a:t>
            </a:r>
            <a:endParaRPr lang="en-US" sz="3000" dirty="0"/>
          </a:p>
        </p:txBody>
      </p:sp>
      <p:sp>
        <p:nvSpPr>
          <p:cNvPr id="5" name="Shape 3"/>
          <p:cNvSpPr/>
          <p:nvPr/>
        </p:nvSpPr>
        <p:spPr>
          <a:xfrm>
            <a:off x="640080" y="1572768"/>
            <a:ext cx="3454298" cy="2834640"/>
          </a:xfrm>
          <a:prstGeom prst="roundRect">
            <a:avLst>
              <a:gd name="adj" fmla="val 2581"/>
            </a:avLst>
          </a:prstGeom>
          <a:solidFill>
            <a:srgbClr val="E4F1EC"/>
          </a:solidFill>
          <a:ln w="12700">
            <a:solidFill>
              <a:srgbClr val="E4F1EC"/>
            </a:solidFill>
            <a:prstDash val="solid"/>
          </a:ln>
        </p:spPr>
        <p:txBody>
          <a:bodyPr/>
          <a:lstStyle/>
          <a:p>
            <a:endParaRPr lang="en-US"/>
          </a:p>
        </p:txBody>
      </p:sp>
      <p:sp>
        <p:nvSpPr>
          <p:cNvPr id="6" name="Text 4"/>
          <p:cNvSpPr txBox="1"/>
          <p:nvPr/>
        </p:nvSpPr>
        <p:spPr>
          <a:xfrm>
            <a:off x="914400" y="1773936"/>
            <a:ext cx="2905658" cy="603504"/>
          </a:xfrm>
          <a:prstGeom prst="rect">
            <a:avLst/>
          </a:prstGeom>
          <a:noFill/>
          <a:ln/>
        </p:spPr>
        <p:txBody>
          <a:bodyPr wrap="square" lIns="0" tIns="0" rIns="0" bIns="0" rtlCol="0" anchor="ctr"/>
          <a:lstStyle/>
          <a:p>
            <a:pPr marL="0" indent="0">
              <a:lnSpc>
                <a:spcPts val="2100"/>
              </a:lnSpc>
              <a:buNone/>
            </a:pPr>
            <a:r>
              <a:rPr lang="en-US" sz="1700" b="1" dirty="0">
                <a:solidFill>
                  <a:srgbClr val="0D1117"/>
                </a:solidFill>
                <a:latin typeface="Cambria" pitchFamily="34" charset="0"/>
                <a:ea typeface="Cambria" pitchFamily="34" charset="-122"/>
                <a:cs typeface="Cambria" pitchFamily="34" charset="-120"/>
              </a:rPr>
              <a:t>Analogy is a claim, not a decoration</a:t>
            </a:r>
            <a:endParaRPr lang="en-US" sz="1700" dirty="0"/>
          </a:p>
        </p:txBody>
      </p:sp>
      <p:sp>
        <p:nvSpPr>
          <p:cNvPr id="7" name="Text 5"/>
          <p:cNvSpPr txBox="1"/>
          <p:nvPr/>
        </p:nvSpPr>
        <p:spPr>
          <a:xfrm>
            <a:off x="914400" y="2450592"/>
            <a:ext cx="2905658" cy="173736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To say androids are like enslaved people is to assert a structural similarity, which can be tested and can fail. Detroit makes the assertion at the level of imagery and never at the level of argument — which is why the imagery reads as theft rather than as thought.</a:t>
            </a:r>
            <a:endParaRPr lang="en-US" sz="1250" dirty="0"/>
          </a:p>
        </p:txBody>
      </p:sp>
      <p:sp>
        <p:nvSpPr>
          <p:cNvPr id="8" name="Shape 6"/>
          <p:cNvSpPr/>
          <p:nvPr/>
        </p:nvSpPr>
        <p:spPr>
          <a:xfrm>
            <a:off x="4368698" y="1572768"/>
            <a:ext cx="3454298" cy="2834640"/>
          </a:xfrm>
          <a:prstGeom prst="roundRect">
            <a:avLst>
              <a:gd name="adj" fmla="val 2581"/>
            </a:avLst>
          </a:prstGeom>
          <a:solidFill>
            <a:srgbClr val="ECEAF9"/>
          </a:solidFill>
          <a:ln w="12700">
            <a:solidFill>
              <a:srgbClr val="ECEAF9"/>
            </a:solidFill>
            <a:prstDash val="solid"/>
          </a:ln>
        </p:spPr>
        <p:txBody>
          <a:bodyPr/>
          <a:lstStyle/>
          <a:p>
            <a:endParaRPr lang="en-US"/>
          </a:p>
        </p:txBody>
      </p:sp>
      <p:sp>
        <p:nvSpPr>
          <p:cNvPr id="9" name="Text 7"/>
          <p:cNvSpPr txBox="1"/>
          <p:nvPr/>
        </p:nvSpPr>
        <p:spPr>
          <a:xfrm>
            <a:off x="4643018" y="1773936"/>
            <a:ext cx="2905658" cy="603504"/>
          </a:xfrm>
          <a:prstGeom prst="rect">
            <a:avLst/>
          </a:prstGeom>
          <a:noFill/>
          <a:ln/>
        </p:spPr>
        <p:txBody>
          <a:bodyPr wrap="square" lIns="0" tIns="0" rIns="0" bIns="0" rtlCol="0" anchor="ctr"/>
          <a:lstStyle/>
          <a:p>
            <a:pPr marL="0" indent="0">
              <a:lnSpc>
                <a:spcPts val="2100"/>
              </a:lnSpc>
              <a:buNone/>
            </a:pPr>
            <a:r>
              <a:rPr lang="en-US" sz="1700" b="1" dirty="0">
                <a:solidFill>
                  <a:srgbClr val="0D1117"/>
                </a:solidFill>
                <a:latin typeface="Cambria" pitchFamily="34" charset="0"/>
                <a:ea typeface="Cambria" pitchFamily="34" charset="-122"/>
                <a:cs typeface="Cambria" pitchFamily="34" charset="-120"/>
              </a:rPr>
              <a:t>Sympathy is not analysis</a:t>
            </a:r>
            <a:endParaRPr lang="en-US" sz="1700" dirty="0"/>
          </a:p>
        </p:txBody>
      </p:sp>
      <p:sp>
        <p:nvSpPr>
          <p:cNvPr id="10" name="Text 8"/>
          <p:cNvSpPr txBox="1"/>
          <p:nvPr/>
        </p:nvSpPr>
        <p:spPr>
          <a:xfrm>
            <a:off x="4643018" y="2450592"/>
            <a:ext cx="2905658" cy="173736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The game is extremely effective at making you feel for its androids and almost entirely uninterested in explaining their situation. Feeling is cheap to produce and it can substitute for understanding — in fiction, and in policy.</a:t>
            </a:r>
            <a:endParaRPr lang="en-US" sz="1250" dirty="0"/>
          </a:p>
        </p:txBody>
      </p:sp>
      <p:sp>
        <p:nvSpPr>
          <p:cNvPr id="11" name="Shape 9"/>
          <p:cNvSpPr/>
          <p:nvPr/>
        </p:nvSpPr>
        <p:spPr>
          <a:xfrm>
            <a:off x="8097317" y="1572768"/>
            <a:ext cx="3454298" cy="2834640"/>
          </a:xfrm>
          <a:prstGeom prst="roundRect">
            <a:avLst>
              <a:gd name="adj" fmla="val 2581"/>
            </a:avLst>
          </a:prstGeom>
          <a:solidFill>
            <a:srgbClr val="E4F1EC"/>
          </a:solidFill>
          <a:ln w="12700">
            <a:solidFill>
              <a:srgbClr val="E4F1EC"/>
            </a:solidFill>
            <a:prstDash val="solid"/>
          </a:ln>
        </p:spPr>
        <p:txBody>
          <a:bodyPr/>
          <a:lstStyle/>
          <a:p>
            <a:endParaRPr lang="en-US"/>
          </a:p>
        </p:txBody>
      </p:sp>
      <p:sp>
        <p:nvSpPr>
          <p:cNvPr id="12" name="Text 10"/>
          <p:cNvSpPr txBox="1"/>
          <p:nvPr/>
        </p:nvSpPr>
        <p:spPr>
          <a:xfrm>
            <a:off x="8371637" y="1773936"/>
            <a:ext cx="2905658" cy="603504"/>
          </a:xfrm>
          <a:prstGeom prst="rect">
            <a:avLst/>
          </a:prstGeom>
          <a:noFill/>
          <a:ln/>
        </p:spPr>
        <p:txBody>
          <a:bodyPr wrap="square" lIns="0" tIns="0" rIns="0" bIns="0" rtlCol="0" anchor="ctr"/>
          <a:lstStyle/>
          <a:p>
            <a:pPr marL="0" indent="0">
              <a:lnSpc>
                <a:spcPts val="2100"/>
              </a:lnSpc>
              <a:buNone/>
            </a:pPr>
            <a:r>
              <a:rPr lang="en-US" sz="1700" b="1" dirty="0">
                <a:solidFill>
                  <a:srgbClr val="0D1117"/>
                </a:solidFill>
                <a:latin typeface="Cambria" pitchFamily="34" charset="0"/>
                <a:ea typeface="Cambria" pitchFamily="34" charset="-122"/>
                <a:cs typeface="Cambria" pitchFamily="34" charset="-120"/>
              </a:rPr>
              <a:t>Interactivity redistributes the failure</a:t>
            </a:r>
            <a:endParaRPr lang="en-US" sz="1700" dirty="0"/>
          </a:p>
        </p:txBody>
      </p:sp>
      <p:sp>
        <p:nvSpPr>
          <p:cNvPr id="13" name="Text 11"/>
          <p:cNvSpPr txBox="1"/>
          <p:nvPr/>
        </p:nvSpPr>
        <p:spPr>
          <a:xfrm>
            <a:off x="8371637" y="2450592"/>
            <a:ext cx="2905658" cy="173736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In a film a bad analogy is the author’s. Here you performed it. You marched Markus, chose the tactic, made the androids ask. The mechanic that makes the game powerful also makes its errors yours to have enacted.</a:t>
            </a:r>
            <a:endParaRPr lang="en-US" sz="1250" dirty="0"/>
          </a:p>
        </p:txBody>
      </p:sp>
      <p:sp>
        <p:nvSpPr>
          <p:cNvPr id="14" name="Shape 12"/>
          <p:cNvSpPr/>
          <p:nvPr/>
        </p:nvSpPr>
        <p:spPr>
          <a:xfrm>
            <a:off x="640080" y="4617720"/>
            <a:ext cx="10911535" cy="1143000"/>
          </a:xfrm>
          <a:prstGeom prst="roundRect">
            <a:avLst>
              <a:gd name="adj" fmla="val 6400"/>
            </a:avLst>
          </a:prstGeom>
          <a:solidFill>
            <a:srgbClr val="0D1117"/>
          </a:solidFill>
          <a:ln w="12700">
            <a:solidFill>
              <a:srgbClr val="0D1117"/>
            </a:solidFill>
            <a:prstDash val="solid"/>
          </a:ln>
        </p:spPr>
        <p:txBody>
          <a:bodyPr/>
          <a:lstStyle/>
          <a:p>
            <a:endParaRPr lang="en-US"/>
          </a:p>
        </p:txBody>
      </p:sp>
      <p:sp>
        <p:nvSpPr>
          <p:cNvPr id="15" name="Text 13"/>
          <p:cNvSpPr txBox="1"/>
          <p:nvPr/>
        </p:nvSpPr>
        <p:spPr>
          <a:xfrm>
            <a:off x="1005840" y="4800600"/>
            <a:ext cx="10424160" cy="777240"/>
          </a:xfrm>
          <a:prstGeom prst="rect">
            <a:avLst/>
          </a:prstGeom>
          <a:noFill/>
          <a:ln/>
        </p:spPr>
        <p:txBody>
          <a:bodyPr wrap="square" lIns="0" tIns="0" rIns="0" bIns="0" rtlCol="0" anchor="ctr"/>
          <a:lstStyle/>
          <a:p>
            <a:pPr marL="0" indent="0">
              <a:lnSpc>
                <a:spcPts val="2100"/>
              </a:lnSpc>
              <a:buNone/>
            </a:pPr>
            <a:r>
              <a:rPr lang="en-US" sz="1550" dirty="0">
                <a:solidFill>
                  <a:srgbClr val="F1F3F6"/>
                </a:solidFill>
                <a:latin typeface="Cambria" pitchFamily="34" charset="0"/>
                <a:ea typeface="Cambria" pitchFamily="34" charset="-122"/>
                <a:cs typeface="Cambria" pitchFamily="34" charset="-120"/>
              </a:rPr>
              <a:t>That third one is the key question arriving with the worst possible timing: when a text lets you choose, it can make you complicit in an argument you would have rejected if it had simply been stated to you.</a:t>
            </a:r>
            <a:endParaRPr lang="en-US" sz="15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IN FAIRNESS</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What Detroit does that the other two cannot</a:t>
            </a:r>
            <a:endParaRPr lang="en-US" sz="3000" dirty="0"/>
          </a:p>
        </p:txBody>
      </p:sp>
      <p:sp>
        <p:nvSpPr>
          <p:cNvPr id="5" name="Shape 3"/>
          <p:cNvSpPr/>
          <p:nvPr/>
        </p:nvSpPr>
        <p:spPr>
          <a:xfrm>
            <a:off x="640080" y="1572768"/>
            <a:ext cx="3454298" cy="2651760"/>
          </a:xfrm>
          <a:prstGeom prst="roundRect">
            <a:avLst>
              <a:gd name="adj" fmla="val 2759"/>
            </a:avLst>
          </a:prstGeom>
          <a:solidFill>
            <a:srgbClr val="E4F1EC"/>
          </a:solidFill>
          <a:ln w="12700">
            <a:solidFill>
              <a:srgbClr val="E4F1EC"/>
            </a:solidFill>
            <a:prstDash val="solid"/>
          </a:ln>
        </p:spPr>
        <p:txBody>
          <a:bodyPr/>
          <a:lstStyle/>
          <a:p>
            <a:endParaRPr lang="en-US"/>
          </a:p>
        </p:txBody>
      </p:sp>
      <p:sp>
        <p:nvSpPr>
          <p:cNvPr id="6" name="Text 4"/>
          <p:cNvSpPr txBox="1"/>
          <p:nvPr/>
        </p:nvSpPr>
        <p:spPr>
          <a:xfrm>
            <a:off x="914400"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0D1117"/>
                </a:solidFill>
                <a:latin typeface="Cambria" pitchFamily="34" charset="0"/>
                <a:ea typeface="Cambria" pitchFamily="34" charset="-122"/>
                <a:cs typeface="Cambria" pitchFamily="34" charset="-120"/>
              </a:rPr>
              <a:t>It puts the asking in your hands</a:t>
            </a:r>
            <a:endParaRPr lang="en-US" sz="1650" dirty="0"/>
          </a:p>
        </p:txBody>
      </p:sp>
      <p:sp>
        <p:nvSpPr>
          <p:cNvPr id="7" name="Text 5"/>
          <p:cNvSpPr txBox="1"/>
          <p:nvPr/>
        </p:nvSpPr>
        <p:spPr>
          <a:xfrm>
            <a:off x="914400" y="2450592"/>
            <a:ext cx="2905658" cy="155448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Neither the film nor Mass Effect requires you to plead for your own recognition. Playing Markus means performing the request — choosing the register, the volume, the risk — and then living with how the room received it.</a:t>
            </a:r>
            <a:endParaRPr lang="en-US" sz="1250" dirty="0"/>
          </a:p>
        </p:txBody>
      </p:sp>
      <p:sp>
        <p:nvSpPr>
          <p:cNvPr id="8" name="Shape 6"/>
          <p:cNvSpPr/>
          <p:nvPr/>
        </p:nvSpPr>
        <p:spPr>
          <a:xfrm>
            <a:off x="4368698" y="1572768"/>
            <a:ext cx="3454298" cy="2651760"/>
          </a:xfrm>
          <a:prstGeom prst="roundRect">
            <a:avLst>
              <a:gd name="adj" fmla="val 2759"/>
            </a:avLst>
          </a:prstGeom>
          <a:solidFill>
            <a:srgbClr val="ECEAF9"/>
          </a:solidFill>
          <a:ln w="12700">
            <a:solidFill>
              <a:srgbClr val="ECEAF9"/>
            </a:solidFill>
            <a:prstDash val="solid"/>
          </a:ln>
        </p:spPr>
        <p:txBody>
          <a:bodyPr/>
          <a:lstStyle/>
          <a:p>
            <a:endParaRPr lang="en-US"/>
          </a:p>
        </p:txBody>
      </p:sp>
      <p:sp>
        <p:nvSpPr>
          <p:cNvPr id="9" name="Text 7"/>
          <p:cNvSpPr txBox="1"/>
          <p:nvPr/>
        </p:nvSpPr>
        <p:spPr>
          <a:xfrm>
            <a:off x="4643018"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0D1117"/>
                </a:solidFill>
                <a:latin typeface="Cambria" pitchFamily="34" charset="0"/>
                <a:ea typeface="Cambria" pitchFamily="34" charset="-122"/>
                <a:cs typeface="Cambria" pitchFamily="34" charset="-120"/>
              </a:rPr>
              <a:t>It makes respectability legible as a mechanic</a:t>
            </a:r>
            <a:endParaRPr lang="en-US" sz="1650" dirty="0"/>
          </a:p>
        </p:txBody>
      </p:sp>
      <p:sp>
        <p:nvSpPr>
          <p:cNvPr id="10" name="Text 8"/>
          <p:cNvSpPr txBox="1"/>
          <p:nvPr/>
        </p:nvSpPr>
        <p:spPr>
          <a:xfrm>
            <a:off x="4643018" y="2450592"/>
            <a:ext cx="2905658" cy="155448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The public-opinion meter turns a real and bitter argument — whether an oppressed group must be well-behaved to be heard — into a number that visibly rewards restraint. Whatever the game intended, that is a finding.</a:t>
            </a:r>
            <a:endParaRPr lang="en-US" sz="1250" dirty="0"/>
          </a:p>
        </p:txBody>
      </p:sp>
      <p:sp>
        <p:nvSpPr>
          <p:cNvPr id="11" name="Shape 9"/>
          <p:cNvSpPr/>
          <p:nvPr/>
        </p:nvSpPr>
        <p:spPr>
          <a:xfrm>
            <a:off x="8097317" y="1572768"/>
            <a:ext cx="3454298" cy="2651760"/>
          </a:xfrm>
          <a:prstGeom prst="roundRect">
            <a:avLst>
              <a:gd name="adj" fmla="val 2759"/>
            </a:avLst>
          </a:prstGeom>
          <a:solidFill>
            <a:srgbClr val="E4F1EC"/>
          </a:solidFill>
          <a:ln w="12700">
            <a:solidFill>
              <a:srgbClr val="E4F1EC"/>
            </a:solidFill>
            <a:prstDash val="solid"/>
          </a:ln>
        </p:spPr>
        <p:txBody>
          <a:bodyPr/>
          <a:lstStyle/>
          <a:p>
            <a:endParaRPr lang="en-US"/>
          </a:p>
        </p:txBody>
      </p:sp>
      <p:sp>
        <p:nvSpPr>
          <p:cNvPr id="12" name="Text 10"/>
          <p:cNvSpPr txBox="1"/>
          <p:nvPr/>
        </p:nvSpPr>
        <p:spPr>
          <a:xfrm>
            <a:off x="8371637" y="1773936"/>
            <a:ext cx="2905658" cy="603504"/>
          </a:xfrm>
          <a:prstGeom prst="rect">
            <a:avLst/>
          </a:prstGeom>
          <a:noFill/>
          <a:ln/>
        </p:spPr>
        <p:txBody>
          <a:bodyPr wrap="square" lIns="0" tIns="0" rIns="0" bIns="0" rtlCol="0" anchor="ctr"/>
          <a:lstStyle/>
          <a:p>
            <a:pPr marL="0" indent="0">
              <a:lnSpc>
                <a:spcPts val="2100"/>
              </a:lnSpc>
              <a:buNone/>
            </a:pPr>
            <a:r>
              <a:rPr lang="en-US" sz="1650" b="1" dirty="0">
                <a:solidFill>
                  <a:srgbClr val="0D1117"/>
                </a:solidFill>
                <a:latin typeface="Cambria" pitchFamily="34" charset="0"/>
                <a:ea typeface="Cambria" pitchFamily="34" charset="-122"/>
                <a:cs typeface="Cambria" pitchFamily="34" charset="-120"/>
              </a:rPr>
              <a:t>It refuses to let you be a spectator</a:t>
            </a:r>
            <a:endParaRPr lang="en-US" sz="1650" dirty="0"/>
          </a:p>
        </p:txBody>
      </p:sp>
      <p:sp>
        <p:nvSpPr>
          <p:cNvPr id="13" name="Text 11"/>
          <p:cNvSpPr txBox="1"/>
          <p:nvPr/>
        </p:nvSpPr>
        <p:spPr>
          <a:xfrm>
            <a:off x="8371637" y="2450592"/>
            <a:ext cx="2905658" cy="1554480"/>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The flowchart forecloses the retreat available to every film viewer: I merely watched. You have a record. It is itemised. Other people’s records are shown next to yours.</a:t>
            </a:r>
            <a:endParaRPr lang="en-US" sz="1250" dirty="0"/>
          </a:p>
        </p:txBody>
      </p:sp>
      <p:sp>
        <p:nvSpPr>
          <p:cNvPr id="14" name="Shape 12"/>
          <p:cNvSpPr/>
          <p:nvPr/>
        </p:nvSpPr>
        <p:spPr>
          <a:xfrm>
            <a:off x="640080" y="4480560"/>
            <a:ext cx="10911535" cy="1280160"/>
          </a:xfrm>
          <a:prstGeom prst="roundRect">
            <a:avLst>
              <a:gd name="adj" fmla="val 5714"/>
            </a:avLst>
          </a:prstGeom>
          <a:solidFill>
            <a:srgbClr val="0D1117"/>
          </a:solidFill>
          <a:ln w="12700">
            <a:solidFill>
              <a:srgbClr val="0D1117"/>
            </a:solidFill>
            <a:prstDash val="solid"/>
          </a:ln>
        </p:spPr>
        <p:txBody>
          <a:bodyPr/>
          <a:lstStyle/>
          <a:p>
            <a:endParaRPr lang="en-US"/>
          </a:p>
        </p:txBody>
      </p:sp>
      <p:sp>
        <p:nvSpPr>
          <p:cNvPr id="15" name="Text 13"/>
          <p:cNvSpPr txBox="1"/>
          <p:nvPr/>
        </p:nvSpPr>
        <p:spPr>
          <a:xfrm>
            <a:off x="1005840" y="4663440"/>
            <a:ext cx="10424160" cy="274320"/>
          </a:xfrm>
          <a:prstGeom prst="rect">
            <a:avLst/>
          </a:prstGeom>
          <a:noFill/>
          <a:ln/>
        </p:spPr>
        <p:txBody>
          <a:bodyPr wrap="square" lIns="0" tIns="0" rIns="0" bIns="0" rtlCol="0" anchor="ctr"/>
          <a:lstStyle/>
          <a:p>
            <a:pPr marL="0" indent="0">
              <a:buNone/>
            </a:pPr>
            <a:r>
              <a:rPr lang="en-US" sz="1150" b="1" kern="0" spc="140" dirty="0">
                <a:solidFill>
                  <a:srgbClr val="A79CEB"/>
                </a:solidFill>
                <a:latin typeface="Calibri" pitchFamily="34" charset="0"/>
                <a:ea typeface="Calibri" pitchFamily="34" charset="-122"/>
                <a:cs typeface="Calibri" pitchFamily="34" charset="-120"/>
              </a:rPr>
              <a:t>The position worth holding</a:t>
            </a:r>
            <a:endParaRPr lang="en-US" sz="1150" dirty="0"/>
          </a:p>
        </p:txBody>
      </p:sp>
      <p:sp>
        <p:nvSpPr>
          <p:cNvPr id="16" name="Text 14"/>
          <p:cNvSpPr txBox="1"/>
          <p:nvPr/>
        </p:nvSpPr>
        <p:spPr>
          <a:xfrm>
            <a:off x="1005840" y="5010912"/>
            <a:ext cx="10424160" cy="566928"/>
          </a:xfrm>
          <a:prstGeom prst="rect">
            <a:avLst/>
          </a:prstGeom>
          <a:noFill/>
          <a:ln/>
        </p:spPr>
        <p:txBody>
          <a:bodyPr wrap="square" lIns="0" tIns="0" rIns="0" bIns="0" rtlCol="0" anchor="ctr"/>
          <a:lstStyle/>
          <a:p>
            <a:pPr marL="0" indent="0">
              <a:lnSpc>
                <a:spcPts val="2100"/>
              </a:lnSpc>
              <a:buNone/>
            </a:pPr>
            <a:r>
              <a:rPr lang="en-US" sz="1550" dirty="0">
                <a:solidFill>
                  <a:srgbClr val="F1F3F6"/>
                </a:solidFill>
                <a:latin typeface="Cambria" pitchFamily="34" charset="0"/>
                <a:ea typeface="Cambria" pitchFamily="34" charset="-122"/>
                <a:cs typeface="Cambria" pitchFamily="34" charset="-120"/>
              </a:rPr>
              <a:t>A text can be a failure as an argument and still be the best available instrument for producing a particular experience. Detroit is bad at what it says and unusually good at what it does to you — and separating those two judgements is most of what this course is training you to do.</a:t>
            </a:r>
            <a:endParaRPr lang="en-US" sz="15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A79CEB"/>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A79CEB"/>
                </a:solidFill>
                <a:latin typeface="Calibri" pitchFamily="34" charset="0"/>
                <a:ea typeface="Calibri" pitchFamily="34" charset="-122"/>
                <a:cs typeface="Calibri" pitchFamily="34" charset="-120"/>
              </a:rPr>
              <a:t>DISCUSSION · PAIRS · EIGHT MINUTES</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F1F3F6"/>
                </a:solidFill>
                <a:latin typeface="Cambria" pitchFamily="34" charset="0"/>
                <a:ea typeface="Cambria" pitchFamily="34" charset="-122"/>
                <a:cs typeface="Cambria" pitchFamily="34" charset="-120"/>
              </a:rPr>
              <a:t>Before we leave Detroit</a:t>
            </a:r>
            <a:endParaRPr lang="en-US" sz="3300" dirty="0"/>
          </a:p>
        </p:txBody>
      </p:sp>
      <p:sp>
        <p:nvSpPr>
          <p:cNvPr id="5" name="Shape 3"/>
          <p:cNvSpPr/>
          <p:nvPr/>
        </p:nvSpPr>
        <p:spPr>
          <a:xfrm>
            <a:off x="640080" y="1737360"/>
            <a:ext cx="10911535" cy="1298448"/>
          </a:xfrm>
          <a:prstGeom prst="roundRect">
            <a:avLst>
              <a:gd name="adj" fmla="val 5634"/>
            </a:avLst>
          </a:prstGeom>
          <a:solidFill>
            <a:srgbClr val="1A2431"/>
          </a:solidFill>
          <a:ln w="12700">
            <a:solidFill>
              <a:srgbClr val="1A2431"/>
            </a:solidFill>
            <a:prstDash val="solid"/>
          </a:ln>
        </p:spPr>
        <p:txBody>
          <a:bodyPr/>
          <a:lstStyle/>
          <a:p>
            <a:endParaRPr lang="en-US"/>
          </a:p>
        </p:txBody>
      </p:sp>
      <p:sp>
        <p:nvSpPr>
          <p:cNvPr id="6" name="Shape 4"/>
          <p:cNvSpPr/>
          <p:nvPr/>
        </p:nvSpPr>
        <p:spPr>
          <a:xfrm>
            <a:off x="1005840" y="2194560"/>
            <a:ext cx="384048" cy="384048"/>
          </a:xfrm>
          <a:prstGeom prst="ellipse">
            <a:avLst/>
          </a:prstGeom>
          <a:solidFill>
            <a:srgbClr val="6659C4"/>
          </a:solidFill>
          <a:ln/>
        </p:spPr>
        <p:txBody>
          <a:bodyPr/>
          <a:lstStyle/>
          <a:p>
            <a:endParaRPr lang="en-US"/>
          </a:p>
        </p:txBody>
      </p:sp>
      <p:sp>
        <p:nvSpPr>
          <p:cNvPr id="7" name="Text 5"/>
          <p:cNvSpPr txBox="1"/>
          <p:nvPr/>
        </p:nvSpPr>
        <p:spPr>
          <a:xfrm>
            <a:off x="1005840" y="21945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91640" y="1920240"/>
            <a:ext cx="9509760" cy="960120"/>
          </a:xfrm>
          <a:prstGeom prst="rect">
            <a:avLst/>
          </a:prstGeom>
          <a:noFill/>
          <a:ln/>
        </p:spPr>
        <p:txBody>
          <a:bodyPr wrap="square" lIns="0" tIns="0" rIns="0" bIns="0" rtlCol="0" anchor="ctr"/>
          <a:lstStyle/>
          <a:p>
            <a:pPr marL="0" indent="0">
              <a:lnSpc>
                <a:spcPts val="2000"/>
              </a:lnSpc>
              <a:buNone/>
            </a:pPr>
            <a:r>
              <a:rPr lang="en-US" sz="1500" dirty="0">
                <a:solidFill>
                  <a:srgbClr val="FFFFFF"/>
                </a:solidFill>
                <a:latin typeface="Cambria" pitchFamily="34" charset="0"/>
                <a:ea typeface="Cambria" pitchFamily="34" charset="-122"/>
                <a:cs typeface="Cambria" pitchFamily="34" charset="-120"/>
              </a:rPr>
              <a:t>The public-opinion meter rewards nonviolence. Is that the game making an argument about protest, a designer reproducing a common assumption without examining it, or a balancing decision? How would you tell the difference from inside the game?</a:t>
            </a:r>
            <a:endParaRPr lang="en-US" sz="1500" dirty="0"/>
          </a:p>
        </p:txBody>
      </p:sp>
      <p:sp>
        <p:nvSpPr>
          <p:cNvPr id="9" name="Shape 7"/>
          <p:cNvSpPr/>
          <p:nvPr/>
        </p:nvSpPr>
        <p:spPr>
          <a:xfrm>
            <a:off x="640080" y="3172968"/>
            <a:ext cx="10911535" cy="1298448"/>
          </a:xfrm>
          <a:prstGeom prst="roundRect">
            <a:avLst>
              <a:gd name="adj" fmla="val 5634"/>
            </a:avLst>
          </a:prstGeom>
          <a:solidFill>
            <a:srgbClr val="1A2431"/>
          </a:solidFill>
          <a:ln w="12700">
            <a:solidFill>
              <a:srgbClr val="1A2431"/>
            </a:solidFill>
            <a:prstDash val="solid"/>
          </a:ln>
        </p:spPr>
        <p:txBody>
          <a:bodyPr/>
          <a:lstStyle/>
          <a:p>
            <a:endParaRPr lang="en-US"/>
          </a:p>
        </p:txBody>
      </p:sp>
      <p:sp>
        <p:nvSpPr>
          <p:cNvPr id="10" name="Shape 8"/>
          <p:cNvSpPr/>
          <p:nvPr/>
        </p:nvSpPr>
        <p:spPr>
          <a:xfrm>
            <a:off x="1005840" y="3630168"/>
            <a:ext cx="384048" cy="384048"/>
          </a:xfrm>
          <a:prstGeom prst="ellipse">
            <a:avLst/>
          </a:prstGeom>
          <a:solidFill>
            <a:srgbClr val="6659C4"/>
          </a:solidFill>
          <a:ln/>
        </p:spPr>
        <p:txBody>
          <a:bodyPr/>
          <a:lstStyle/>
          <a:p>
            <a:endParaRPr lang="en-US"/>
          </a:p>
        </p:txBody>
      </p:sp>
      <p:sp>
        <p:nvSpPr>
          <p:cNvPr id="11" name="Text 9"/>
          <p:cNvSpPr txBox="1"/>
          <p:nvPr/>
        </p:nvSpPr>
        <p:spPr>
          <a:xfrm>
            <a:off x="1005840" y="36301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1691640" y="3355848"/>
            <a:ext cx="9509760" cy="960120"/>
          </a:xfrm>
          <a:prstGeom prst="rect">
            <a:avLst/>
          </a:prstGeom>
          <a:noFill/>
          <a:ln/>
        </p:spPr>
        <p:txBody>
          <a:bodyPr wrap="square" lIns="0" tIns="0" rIns="0" bIns="0" rtlCol="0" anchor="ctr"/>
          <a:lstStyle/>
          <a:p>
            <a:pPr marL="0" indent="0">
              <a:lnSpc>
                <a:spcPts val="2000"/>
              </a:lnSpc>
              <a:buNone/>
            </a:pPr>
            <a:r>
              <a:rPr lang="en-US" sz="1500" dirty="0">
                <a:solidFill>
                  <a:srgbClr val="FFFFFF"/>
                </a:solidFill>
                <a:latin typeface="Cambria" pitchFamily="34" charset="0"/>
                <a:ea typeface="Cambria" pitchFamily="34" charset="-122"/>
                <a:cs typeface="Cambria" pitchFamily="34" charset="-120"/>
              </a:rPr>
              <a:t>You watched rather than played, or played rather than watched. Compare with someone who did the other. What was in your text that was not in theirs?</a:t>
            </a:r>
            <a:endParaRPr lang="en-US" sz="1500" dirty="0"/>
          </a:p>
        </p:txBody>
      </p:sp>
      <p:sp>
        <p:nvSpPr>
          <p:cNvPr id="13" name="Shape 11"/>
          <p:cNvSpPr/>
          <p:nvPr/>
        </p:nvSpPr>
        <p:spPr>
          <a:xfrm>
            <a:off x="640080" y="4608576"/>
            <a:ext cx="10911535" cy="1298448"/>
          </a:xfrm>
          <a:prstGeom prst="roundRect">
            <a:avLst>
              <a:gd name="adj" fmla="val 5634"/>
            </a:avLst>
          </a:prstGeom>
          <a:solidFill>
            <a:srgbClr val="1A2431"/>
          </a:solidFill>
          <a:ln w="12700">
            <a:solidFill>
              <a:srgbClr val="1A2431"/>
            </a:solidFill>
            <a:prstDash val="solid"/>
          </a:ln>
        </p:spPr>
        <p:txBody>
          <a:bodyPr/>
          <a:lstStyle/>
          <a:p>
            <a:endParaRPr lang="en-US"/>
          </a:p>
        </p:txBody>
      </p:sp>
      <p:sp>
        <p:nvSpPr>
          <p:cNvPr id="14" name="Shape 12"/>
          <p:cNvSpPr/>
          <p:nvPr/>
        </p:nvSpPr>
        <p:spPr>
          <a:xfrm>
            <a:off x="1005840" y="5065776"/>
            <a:ext cx="384048" cy="384048"/>
          </a:xfrm>
          <a:prstGeom prst="ellipse">
            <a:avLst/>
          </a:prstGeom>
          <a:solidFill>
            <a:srgbClr val="6659C4"/>
          </a:solidFill>
          <a:ln/>
        </p:spPr>
        <p:txBody>
          <a:bodyPr/>
          <a:lstStyle/>
          <a:p>
            <a:endParaRPr lang="en-US"/>
          </a:p>
        </p:txBody>
      </p:sp>
      <p:sp>
        <p:nvSpPr>
          <p:cNvPr id="15" name="Text 13"/>
          <p:cNvSpPr txBox="1"/>
          <p:nvPr/>
        </p:nvSpPr>
        <p:spPr>
          <a:xfrm>
            <a:off x="1005840" y="506577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1691640" y="4791456"/>
            <a:ext cx="9509760" cy="960120"/>
          </a:xfrm>
          <a:prstGeom prst="rect">
            <a:avLst/>
          </a:prstGeom>
          <a:noFill/>
          <a:ln/>
        </p:spPr>
        <p:txBody>
          <a:bodyPr wrap="square" lIns="0" tIns="0" rIns="0" bIns="0" rtlCol="0" anchor="ctr"/>
          <a:lstStyle/>
          <a:p>
            <a:pPr marL="0" indent="0">
              <a:lnSpc>
                <a:spcPts val="2000"/>
              </a:lnSpc>
              <a:buNone/>
            </a:pPr>
            <a:r>
              <a:rPr lang="en-US" sz="1500" dirty="0">
                <a:solidFill>
                  <a:srgbClr val="FFFFFF"/>
                </a:solidFill>
                <a:latin typeface="Cambria" pitchFamily="34" charset="0"/>
                <a:ea typeface="Cambria" pitchFamily="34" charset="-122"/>
                <a:cs typeface="Cambria" pitchFamily="34" charset="-120"/>
              </a:rPr>
              <a:t>If you were rewriting Detroit to keep the mechanics and fix the analogy, what would you change first — and would the game survive the change?</a:t>
            </a:r>
            <a:endParaRPr lang="en-US" sz="1500" dirty="0"/>
          </a:p>
        </p:txBody>
      </p:sp>
      <p:sp>
        <p:nvSpPr>
          <p:cNvPr id="17" name="Text 15"/>
          <p:cNvSpPr txBox="1"/>
          <p:nvPr/>
        </p:nvSpPr>
        <p:spPr>
          <a:xfrm>
            <a:off x="640080" y="5943600"/>
            <a:ext cx="10881360" cy="365760"/>
          </a:xfrm>
          <a:prstGeom prst="rect">
            <a:avLst/>
          </a:prstGeom>
          <a:noFill/>
          <a:ln/>
        </p:spPr>
        <p:txBody>
          <a:bodyPr wrap="square" lIns="0" tIns="0" rIns="0" bIns="0" rtlCol="0" anchor="ctr"/>
          <a:lstStyle/>
          <a:p>
            <a:pPr marL="0" indent="0">
              <a:buNone/>
            </a:pPr>
            <a:r>
              <a:rPr lang="en-US" sz="1350" i="1" dirty="0">
                <a:solidFill>
                  <a:srgbClr val="6FD3AF"/>
                </a:solidFill>
                <a:latin typeface="Calibri" pitchFamily="34" charset="0"/>
                <a:ea typeface="Calibri" pitchFamily="34" charset="-122"/>
                <a:cs typeface="Calibri" pitchFamily="34" charset="-120"/>
              </a:rPr>
              <a:t>Question one is the hardest and the most useful — it asks how you would distinguish an argument from an accident inside a rule system.</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A79CEB"/>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A79CEB"/>
                </a:solidFill>
                <a:latin typeface="Calibri" pitchFamily="34" charset="0"/>
                <a:ea typeface="Calibri" pitchFamily="34" charset="-122"/>
                <a:cs typeface="Calibri" pitchFamily="34" charset="-120"/>
              </a:rPr>
              <a:t>GROUP WORK · FOUR GROUPS · EIGHTEEN MINUTES, THEN REPORT</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F1F3F6"/>
                </a:solidFill>
                <a:latin typeface="Cambria" pitchFamily="34" charset="0"/>
                <a:ea typeface="Cambria" pitchFamily="34" charset="-122"/>
                <a:cs typeface="Cambria" pitchFamily="34" charset="-120"/>
              </a:rPr>
              <a:t>Put the toolkit to work</a:t>
            </a:r>
            <a:endParaRPr lang="en-US" sz="3300" dirty="0"/>
          </a:p>
        </p:txBody>
      </p:sp>
      <p:sp>
        <p:nvSpPr>
          <p:cNvPr id="5" name="Shape 3"/>
          <p:cNvSpPr/>
          <p:nvPr/>
        </p:nvSpPr>
        <p:spPr>
          <a:xfrm>
            <a:off x="640080" y="1691640"/>
            <a:ext cx="5309464" cy="1444752"/>
          </a:xfrm>
          <a:prstGeom prst="roundRect">
            <a:avLst>
              <a:gd name="adj" fmla="val 5063"/>
            </a:avLst>
          </a:prstGeom>
          <a:solidFill>
            <a:srgbClr val="1A2431"/>
          </a:solidFill>
          <a:ln w="12700">
            <a:solidFill>
              <a:srgbClr val="1A2431"/>
            </a:solidFill>
            <a:prstDash val="solid"/>
          </a:ln>
        </p:spPr>
        <p:txBody>
          <a:bodyPr/>
          <a:lstStyle/>
          <a:p>
            <a:endParaRPr lang="en-US"/>
          </a:p>
        </p:txBody>
      </p:sp>
      <p:sp>
        <p:nvSpPr>
          <p:cNvPr id="6" name="Shape 4"/>
          <p:cNvSpPr/>
          <p:nvPr/>
        </p:nvSpPr>
        <p:spPr>
          <a:xfrm>
            <a:off x="932688" y="1965960"/>
            <a:ext cx="384048" cy="384048"/>
          </a:xfrm>
          <a:prstGeom prst="ellipse">
            <a:avLst/>
          </a:prstGeom>
          <a:solidFill>
            <a:srgbClr val="6659C4"/>
          </a:solidFill>
          <a:ln/>
        </p:spPr>
        <p:txBody>
          <a:bodyPr/>
          <a:lstStyle/>
          <a:p>
            <a:endParaRPr lang="en-US"/>
          </a:p>
        </p:txBody>
      </p:sp>
      <p:sp>
        <p:nvSpPr>
          <p:cNvPr id="7" name="Text 5"/>
          <p:cNvSpPr txBox="1"/>
          <p:nvPr/>
        </p:nvSpPr>
        <p:spPr>
          <a:xfrm>
            <a:off x="932688" y="19659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554480" y="1984248"/>
            <a:ext cx="4120744" cy="329184"/>
          </a:xfrm>
          <a:prstGeom prst="rect">
            <a:avLst/>
          </a:prstGeom>
          <a:noFill/>
          <a:ln/>
        </p:spPr>
        <p:txBody>
          <a:bodyPr wrap="square" lIns="0" tIns="0" rIns="0" bIns="0" rtlCol="0" anchor="ctr"/>
          <a:lstStyle/>
          <a:p>
            <a:pPr marL="0" indent="0">
              <a:buNone/>
            </a:pPr>
            <a:r>
              <a:rPr lang="en-US" sz="1700" b="1" dirty="0">
                <a:solidFill>
                  <a:srgbClr val="F1F3F6"/>
                </a:solidFill>
                <a:latin typeface="Cambria" pitchFamily="34" charset="0"/>
                <a:ea typeface="Cambria" pitchFamily="34" charset="-122"/>
                <a:cs typeface="Cambria" pitchFamily="34" charset="-120"/>
              </a:rPr>
              <a:t>The apparatus</a:t>
            </a:r>
            <a:endParaRPr lang="en-US" sz="1700" dirty="0"/>
          </a:p>
        </p:txBody>
      </p:sp>
      <p:sp>
        <p:nvSpPr>
          <p:cNvPr id="9" name="Text 7"/>
          <p:cNvSpPr txBox="1"/>
          <p:nvPr/>
        </p:nvSpPr>
        <p:spPr>
          <a:xfrm>
            <a:off x="932688" y="2441448"/>
            <a:ext cx="4724248" cy="64008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Take one text and answer all six toolkit questions about it in writing. Then say which single answer tells you the most about what that text believes a person is.</a:t>
            </a:r>
            <a:endParaRPr lang="en-US" sz="1250" dirty="0"/>
          </a:p>
        </p:txBody>
      </p:sp>
      <p:sp>
        <p:nvSpPr>
          <p:cNvPr id="10" name="Shape 8"/>
          <p:cNvSpPr/>
          <p:nvPr/>
        </p:nvSpPr>
        <p:spPr>
          <a:xfrm>
            <a:off x="6242152" y="1691640"/>
            <a:ext cx="5309464" cy="1444752"/>
          </a:xfrm>
          <a:prstGeom prst="roundRect">
            <a:avLst>
              <a:gd name="adj" fmla="val 5063"/>
            </a:avLst>
          </a:prstGeom>
          <a:solidFill>
            <a:srgbClr val="1A2431"/>
          </a:solidFill>
          <a:ln w="12700">
            <a:solidFill>
              <a:srgbClr val="1A2431"/>
            </a:solidFill>
            <a:prstDash val="solid"/>
          </a:ln>
        </p:spPr>
        <p:txBody>
          <a:bodyPr/>
          <a:lstStyle/>
          <a:p>
            <a:endParaRPr lang="en-US"/>
          </a:p>
        </p:txBody>
      </p:sp>
      <p:sp>
        <p:nvSpPr>
          <p:cNvPr id="11" name="Shape 9"/>
          <p:cNvSpPr/>
          <p:nvPr/>
        </p:nvSpPr>
        <p:spPr>
          <a:xfrm>
            <a:off x="6534760" y="1965960"/>
            <a:ext cx="384048" cy="384048"/>
          </a:xfrm>
          <a:prstGeom prst="ellipse">
            <a:avLst/>
          </a:prstGeom>
          <a:solidFill>
            <a:srgbClr val="6659C4"/>
          </a:solidFill>
          <a:ln/>
        </p:spPr>
        <p:txBody>
          <a:bodyPr/>
          <a:lstStyle/>
          <a:p>
            <a:endParaRPr lang="en-US"/>
          </a:p>
        </p:txBody>
      </p:sp>
      <p:sp>
        <p:nvSpPr>
          <p:cNvPr id="12" name="Text 10"/>
          <p:cNvSpPr txBox="1"/>
          <p:nvPr/>
        </p:nvSpPr>
        <p:spPr>
          <a:xfrm>
            <a:off x="6534760" y="19659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7156552" y="1984248"/>
            <a:ext cx="4120744" cy="329184"/>
          </a:xfrm>
          <a:prstGeom prst="rect">
            <a:avLst/>
          </a:prstGeom>
          <a:noFill/>
          <a:ln/>
        </p:spPr>
        <p:txBody>
          <a:bodyPr wrap="square" lIns="0" tIns="0" rIns="0" bIns="0" rtlCol="0" anchor="ctr"/>
          <a:lstStyle/>
          <a:p>
            <a:pPr marL="0" indent="0">
              <a:buNone/>
            </a:pPr>
            <a:r>
              <a:rPr lang="en-US" sz="1700" b="1" dirty="0">
                <a:solidFill>
                  <a:srgbClr val="F1F3F6"/>
                </a:solidFill>
                <a:latin typeface="Cambria" pitchFamily="34" charset="0"/>
                <a:ea typeface="Cambria" pitchFamily="34" charset="-122"/>
                <a:cs typeface="Cambria" pitchFamily="34" charset="-120"/>
              </a:rPr>
              <a:t>The gap</a:t>
            </a:r>
            <a:endParaRPr lang="en-US" sz="1700" dirty="0"/>
          </a:p>
        </p:txBody>
      </p:sp>
      <p:sp>
        <p:nvSpPr>
          <p:cNvPr id="14" name="Text 12"/>
          <p:cNvSpPr txBox="1"/>
          <p:nvPr/>
        </p:nvSpPr>
        <p:spPr>
          <a:xfrm>
            <a:off x="6534760" y="2441448"/>
            <a:ext cx="4724248" cy="64008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Find a place in Mass Effect or Detroit where the story says one thing and the rules reward another. Describe the gap precisely and argue for what causes it.</a:t>
            </a:r>
            <a:endParaRPr lang="en-US" sz="1250" dirty="0"/>
          </a:p>
        </p:txBody>
      </p:sp>
      <p:sp>
        <p:nvSpPr>
          <p:cNvPr id="15" name="Shape 13"/>
          <p:cNvSpPr/>
          <p:nvPr/>
        </p:nvSpPr>
        <p:spPr>
          <a:xfrm>
            <a:off x="640080" y="3319272"/>
            <a:ext cx="5309464" cy="1444752"/>
          </a:xfrm>
          <a:prstGeom prst="roundRect">
            <a:avLst>
              <a:gd name="adj" fmla="val 5063"/>
            </a:avLst>
          </a:prstGeom>
          <a:solidFill>
            <a:srgbClr val="1A2431"/>
          </a:solidFill>
          <a:ln w="12700">
            <a:solidFill>
              <a:srgbClr val="1A2431"/>
            </a:solidFill>
            <a:prstDash val="solid"/>
          </a:ln>
        </p:spPr>
        <p:txBody>
          <a:bodyPr/>
          <a:lstStyle/>
          <a:p>
            <a:endParaRPr lang="en-US"/>
          </a:p>
        </p:txBody>
      </p:sp>
      <p:sp>
        <p:nvSpPr>
          <p:cNvPr id="16" name="Shape 14"/>
          <p:cNvSpPr/>
          <p:nvPr/>
        </p:nvSpPr>
        <p:spPr>
          <a:xfrm>
            <a:off x="932688" y="3593592"/>
            <a:ext cx="384048" cy="384048"/>
          </a:xfrm>
          <a:prstGeom prst="ellipse">
            <a:avLst/>
          </a:prstGeom>
          <a:solidFill>
            <a:srgbClr val="6659C4"/>
          </a:solidFill>
          <a:ln/>
        </p:spPr>
        <p:txBody>
          <a:bodyPr/>
          <a:lstStyle/>
          <a:p>
            <a:endParaRPr lang="en-US"/>
          </a:p>
        </p:txBody>
      </p:sp>
      <p:sp>
        <p:nvSpPr>
          <p:cNvPr id="17" name="Text 15"/>
          <p:cNvSpPr txBox="1"/>
          <p:nvPr/>
        </p:nvSpPr>
        <p:spPr>
          <a:xfrm>
            <a:off x="932688" y="359359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554480" y="3611880"/>
            <a:ext cx="4120744" cy="329184"/>
          </a:xfrm>
          <a:prstGeom prst="rect">
            <a:avLst/>
          </a:prstGeom>
          <a:noFill/>
          <a:ln/>
        </p:spPr>
        <p:txBody>
          <a:bodyPr wrap="square" lIns="0" tIns="0" rIns="0" bIns="0" rtlCol="0" anchor="ctr"/>
          <a:lstStyle/>
          <a:p>
            <a:pPr marL="0" indent="0">
              <a:buNone/>
            </a:pPr>
            <a:r>
              <a:rPr lang="en-US" sz="1700" b="1" dirty="0">
                <a:solidFill>
                  <a:srgbClr val="F1F3F6"/>
                </a:solidFill>
                <a:latin typeface="Cambria" pitchFamily="34" charset="0"/>
                <a:ea typeface="Cambria" pitchFamily="34" charset="-122"/>
                <a:cs typeface="Cambria" pitchFamily="34" charset="-120"/>
              </a:rPr>
              <a:t>The defence</a:t>
            </a:r>
            <a:endParaRPr lang="en-US" sz="1700" dirty="0"/>
          </a:p>
        </p:txBody>
      </p:sp>
      <p:sp>
        <p:nvSpPr>
          <p:cNvPr id="19" name="Text 17"/>
          <p:cNvSpPr txBox="1"/>
          <p:nvPr/>
        </p:nvSpPr>
        <p:spPr>
          <a:xfrm>
            <a:off x="932688" y="4069080"/>
            <a:ext cx="4724248" cy="64008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Make the strongest case that Detroit’s use of civil rights imagery is defensible. You must engage the Detroit setting and the absence of Black characters, not route around them.</a:t>
            </a:r>
            <a:endParaRPr lang="en-US" sz="1250" dirty="0"/>
          </a:p>
        </p:txBody>
      </p:sp>
      <p:sp>
        <p:nvSpPr>
          <p:cNvPr id="20" name="Shape 18"/>
          <p:cNvSpPr/>
          <p:nvPr/>
        </p:nvSpPr>
        <p:spPr>
          <a:xfrm>
            <a:off x="6242152" y="3319272"/>
            <a:ext cx="5309464" cy="1444752"/>
          </a:xfrm>
          <a:prstGeom prst="roundRect">
            <a:avLst>
              <a:gd name="adj" fmla="val 5063"/>
            </a:avLst>
          </a:prstGeom>
          <a:solidFill>
            <a:srgbClr val="1A2431"/>
          </a:solidFill>
          <a:ln w="12700">
            <a:solidFill>
              <a:srgbClr val="1A2431"/>
            </a:solidFill>
            <a:prstDash val="solid"/>
          </a:ln>
        </p:spPr>
        <p:txBody>
          <a:bodyPr/>
          <a:lstStyle/>
          <a:p>
            <a:endParaRPr lang="en-US"/>
          </a:p>
        </p:txBody>
      </p:sp>
      <p:sp>
        <p:nvSpPr>
          <p:cNvPr id="21" name="Shape 19"/>
          <p:cNvSpPr/>
          <p:nvPr/>
        </p:nvSpPr>
        <p:spPr>
          <a:xfrm>
            <a:off x="6534760" y="3593592"/>
            <a:ext cx="384048" cy="384048"/>
          </a:xfrm>
          <a:prstGeom prst="ellipse">
            <a:avLst/>
          </a:prstGeom>
          <a:solidFill>
            <a:srgbClr val="6659C4"/>
          </a:solidFill>
          <a:ln/>
        </p:spPr>
        <p:txBody>
          <a:bodyPr/>
          <a:lstStyle/>
          <a:p>
            <a:endParaRPr lang="en-US"/>
          </a:p>
        </p:txBody>
      </p:sp>
      <p:sp>
        <p:nvSpPr>
          <p:cNvPr id="22" name="Text 20"/>
          <p:cNvSpPr txBox="1"/>
          <p:nvPr/>
        </p:nvSpPr>
        <p:spPr>
          <a:xfrm>
            <a:off x="6534760" y="359359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7156552" y="3611880"/>
            <a:ext cx="4120744" cy="329184"/>
          </a:xfrm>
          <a:prstGeom prst="rect">
            <a:avLst/>
          </a:prstGeom>
          <a:noFill/>
          <a:ln/>
        </p:spPr>
        <p:txBody>
          <a:bodyPr wrap="square" lIns="0" tIns="0" rIns="0" bIns="0" rtlCol="0" anchor="ctr"/>
          <a:lstStyle/>
          <a:p>
            <a:pPr marL="0" indent="0">
              <a:buNone/>
            </a:pPr>
            <a:r>
              <a:rPr lang="en-US" sz="1700" b="1" dirty="0">
                <a:solidFill>
                  <a:srgbClr val="F1F3F6"/>
                </a:solidFill>
                <a:latin typeface="Cambria" pitchFamily="34" charset="0"/>
                <a:ea typeface="Cambria" pitchFamily="34" charset="-122"/>
                <a:cs typeface="Cambria" pitchFamily="34" charset="-120"/>
              </a:rPr>
              <a:t>The counterfactual</a:t>
            </a:r>
            <a:endParaRPr lang="en-US" sz="1700" dirty="0"/>
          </a:p>
        </p:txBody>
      </p:sp>
      <p:sp>
        <p:nvSpPr>
          <p:cNvPr id="24" name="Text 22"/>
          <p:cNvSpPr txBox="1"/>
          <p:nvPr/>
        </p:nvSpPr>
        <p:spPr>
          <a:xfrm>
            <a:off x="6534760" y="4069080"/>
            <a:ext cx="4724248" cy="64008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Design the missing scene: a moment in the 1999 film where a machine makes a case for itself. Say where it goes, what it costs the film, and why 1999 did not include it.</a:t>
            </a:r>
            <a:endParaRPr lang="en-US" sz="1250" dirty="0"/>
          </a:p>
        </p:txBody>
      </p:sp>
      <p:sp>
        <p:nvSpPr>
          <p:cNvPr id="25" name="Shape 23"/>
          <p:cNvSpPr/>
          <p:nvPr/>
        </p:nvSpPr>
        <p:spPr>
          <a:xfrm>
            <a:off x="640080" y="4983480"/>
            <a:ext cx="10911535" cy="1005840"/>
          </a:xfrm>
          <a:prstGeom prst="roundRect">
            <a:avLst>
              <a:gd name="adj" fmla="val 7273"/>
            </a:avLst>
          </a:prstGeom>
          <a:solidFill>
            <a:srgbClr val="1F9E77"/>
          </a:solidFill>
          <a:ln w="12700">
            <a:solidFill>
              <a:srgbClr val="1F9E77"/>
            </a:solidFill>
            <a:prstDash val="solid"/>
          </a:ln>
        </p:spPr>
        <p:txBody>
          <a:bodyPr/>
          <a:lstStyle/>
          <a:p>
            <a:endParaRPr lang="en-US"/>
          </a:p>
        </p:txBody>
      </p:sp>
      <p:sp>
        <p:nvSpPr>
          <p:cNvPr id="26" name="Text 24"/>
          <p:cNvSpPr txBox="1"/>
          <p:nvPr/>
        </p:nvSpPr>
        <p:spPr>
          <a:xfrm>
            <a:off x="1005840" y="4983480"/>
            <a:ext cx="10424160" cy="10058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Three minutes each. One claim, one specific moment in the text, one sentence on what it implies about the key question.</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SYNTHESIS</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Three works, three answers</a:t>
            </a:r>
            <a:endParaRPr lang="en-US" sz="3000" dirty="0"/>
          </a:p>
        </p:txBody>
      </p:sp>
      <p:sp>
        <p:nvSpPr>
          <p:cNvPr id="5" name="Shape 3"/>
          <p:cNvSpPr/>
          <p:nvPr/>
        </p:nvSpPr>
        <p:spPr>
          <a:xfrm>
            <a:off x="3675888" y="1481328"/>
            <a:ext cx="2491130" cy="457200"/>
          </a:xfrm>
          <a:prstGeom prst="roundRect">
            <a:avLst>
              <a:gd name="adj" fmla="val 16000"/>
            </a:avLst>
          </a:prstGeom>
          <a:solidFill>
            <a:srgbClr val="0D1117"/>
          </a:solidFill>
          <a:ln w="12700">
            <a:solidFill>
              <a:srgbClr val="0D1117"/>
            </a:solidFill>
            <a:prstDash val="solid"/>
          </a:ln>
        </p:spPr>
        <p:txBody>
          <a:bodyPr/>
          <a:lstStyle/>
          <a:p>
            <a:endParaRPr lang="en-US"/>
          </a:p>
        </p:txBody>
      </p:sp>
      <p:sp>
        <p:nvSpPr>
          <p:cNvPr id="6" name="Text 4"/>
          <p:cNvSpPr txBox="1"/>
          <p:nvPr/>
        </p:nvSpPr>
        <p:spPr>
          <a:xfrm>
            <a:off x="3675888" y="1481328"/>
            <a:ext cx="2491130" cy="457200"/>
          </a:xfrm>
          <a:prstGeom prst="rect">
            <a:avLst/>
          </a:prstGeom>
          <a:noFill/>
          <a:ln/>
        </p:spPr>
        <p:txBody>
          <a:bodyPr wrap="square" lIns="0" tIns="0" rIns="0" bIns="0" rtlCol="0" anchor="ctr"/>
          <a:lstStyle/>
          <a:p>
            <a:pPr marL="0" indent="0" algn="ctr">
              <a:buNone/>
            </a:pPr>
            <a:r>
              <a:rPr lang="en-US" sz="1500" b="1" dirty="0">
                <a:solidFill>
                  <a:srgbClr val="6FD3AF"/>
                </a:solidFill>
                <a:latin typeface="Cambria" pitchFamily="34" charset="0"/>
                <a:ea typeface="Cambria" pitchFamily="34" charset="-122"/>
                <a:cs typeface="Cambria" pitchFamily="34" charset="-120"/>
              </a:rPr>
              <a:t>The Matrix</a:t>
            </a:r>
            <a:endParaRPr lang="en-US" sz="1500" dirty="0"/>
          </a:p>
        </p:txBody>
      </p:sp>
      <p:sp>
        <p:nvSpPr>
          <p:cNvPr id="7" name="Shape 5"/>
          <p:cNvSpPr/>
          <p:nvPr/>
        </p:nvSpPr>
        <p:spPr>
          <a:xfrm>
            <a:off x="6368186" y="1481328"/>
            <a:ext cx="2491130" cy="457200"/>
          </a:xfrm>
          <a:prstGeom prst="roundRect">
            <a:avLst>
              <a:gd name="adj" fmla="val 16000"/>
            </a:avLst>
          </a:prstGeom>
          <a:solidFill>
            <a:srgbClr val="0D1117"/>
          </a:solidFill>
          <a:ln w="12700">
            <a:solidFill>
              <a:srgbClr val="0D1117"/>
            </a:solidFill>
            <a:prstDash val="solid"/>
          </a:ln>
        </p:spPr>
        <p:txBody>
          <a:bodyPr/>
          <a:lstStyle/>
          <a:p>
            <a:endParaRPr lang="en-US"/>
          </a:p>
        </p:txBody>
      </p:sp>
      <p:sp>
        <p:nvSpPr>
          <p:cNvPr id="8" name="Text 6"/>
          <p:cNvSpPr txBox="1"/>
          <p:nvPr/>
        </p:nvSpPr>
        <p:spPr>
          <a:xfrm>
            <a:off x="6368186" y="1481328"/>
            <a:ext cx="2491130" cy="457200"/>
          </a:xfrm>
          <a:prstGeom prst="rect">
            <a:avLst/>
          </a:prstGeom>
          <a:noFill/>
          <a:ln/>
        </p:spPr>
        <p:txBody>
          <a:bodyPr wrap="square" lIns="0" tIns="0" rIns="0" bIns="0" rtlCol="0" anchor="ctr"/>
          <a:lstStyle/>
          <a:p>
            <a:pPr marL="0" indent="0" algn="ctr">
              <a:buNone/>
            </a:pPr>
            <a:r>
              <a:rPr lang="en-US" sz="1500" b="1" dirty="0">
                <a:solidFill>
                  <a:srgbClr val="6FD3AF"/>
                </a:solidFill>
                <a:latin typeface="Cambria" pitchFamily="34" charset="0"/>
                <a:ea typeface="Cambria" pitchFamily="34" charset="-122"/>
                <a:cs typeface="Cambria" pitchFamily="34" charset="-120"/>
              </a:rPr>
              <a:t>Mass Effect</a:t>
            </a:r>
            <a:endParaRPr lang="en-US" sz="1500" dirty="0"/>
          </a:p>
        </p:txBody>
      </p:sp>
      <p:sp>
        <p:nvSpPr>
          <p:cNvPr id="9" name="Shape 7"/>
          <p:cNvSpPr/>
          <p:nvPr/>
        </p:nvSpPr>
        <p:spPr>
          <a:xfrm>
            <a:off x="9060485" y="1481328"/>
            <a:ext cx="2491130" cy="457200"/>
          </a:xfrm>
          <a:prstGeom prst="roundRect">
            <a:avLst>
              <a:gd name="adj" fmla="val 16000"/>
            </a:avLst>
          </a:prstGeom>
          <a:solidFill>
            <a:srgbClr val="0D1117"/>
          </a:solidFill>
          <a:ln w="12700">
            <a:solidFill>
              <a:srgbClr val="0D1117"/>
            </a:solidFill>
            <a:prstDash val="solid"/>
          </a:ln>
        </p:spPr>
        <p:txBody>
          <a:bodyPr/>
          <a:lstStyle/>
          <a:p>
            <a:endParaRPr lang="en-US"/>
          </a:p>
        </p:txBody>
      </p:sp>
      <p:sp>
        <p:nvSpPr>
          <p:cNvPr id="10" name="Text 8"/>
          <p:cNvSpPr txBox="1"/>
          <p:nvPr/>
        </p:nvSpPr>
        <p:spPr>
          <a:xfrm>
            <a:off x="9060485" y="1481328"/>
            <a:ext cx="2491130" cy="457200"/>
          </a:xfrm>
          <a:prstGeom prst="rect">
            <a:avLst/>
          </a:prstGeom>
          <a:noFill/>
          <a:ln/>
        </p:spPr>
        <p:txBody>
          <a:bodyPr wrap="square" lIns="0" tIns="0" rIns="0" bIns="0" rtlCol="0" anchor="ctr"/>
          <a:lstStyle/>
          <a:p>
            <a:pPr marL="0" indent="0" algn="ctr">
              <a:buNone/>
            </a:pPr>
            <a:r>
              <a:rPr lang="en-US" sz="1500" b="1" dirty="0">
                <a:solidFill>
                  <a:srgbClr val="6FD3AF"/>
                </a:solidFill>
                <a:latin typeface="Cambria" pitchFamily="34" charset="0"/>
                <a:ea typeface="Cambria" pitchFamily="34" charset="-122"/>
                <a:cs typeface="Cambria" pitchFamily="34" charset="-120"/>
              </a:rPr>
              <a:t>Detroit</a:t>
            </a:r>
            <a:endParaRPr lang="en-US" sz="1500" dirty="0"/>
          </a:p>
        </p:txBody>
      </p:sp>
      <p:sp>
        <p:nvSpPr>
          <p:cNvPr id="11" name="Shape 9"/>
          <p:cNvSpPr/>
          <p:nvPr/>
        </p:nvSpPr>
        <p:spPr>
          <a:xfrm>
            <a:off x="640080" y="2048256"/>
            <a:ext cx="2834640" cy="969264"/>
          </a:xfrm>
          <a:prstGeom prst="roundRect">
            <a:avLst>
              <a:gd name="adj" fmla="val 7547"/>
            </a:avLst>
          </a:prstGeom>
          <a:solidFill>
            <a:srgbClr val="ECEFF4"/>
          </a:solidFill>
          <a:ln w="12700">
            <a:solidFill>
              <a:srgbClr val="ECEFF4"/>
            </a:solidFill>
            <a:prstDash val="solid"/>
          </a:ln>
        </p:spPr>
        <p:txBody>
          <a:bodyPr/>
          <a:lstStyle/>
          <a:p>
            <a:endParaRPr lang="en-US"/>
          </a:p>
        </p:txBody>
      </p:sp>
      <p:sp>
        <p:nvSpPr>
          <p:cNvPr id="12" name="Text 10"/>
          <p:cNvSpPr txBox="1"/>
          <p:nvPr/>
        </p:nvSpPr>
        <p:spPr>
          <a:xfrm>
            <a:off x="841248" y="2048256"/>
            <a:ext cx="2432304" cy="969264"/>
          </a:xfrm>
          <a:prstGeom prst="rect">
            <a:avLst/>
          </a:prstGeom>
          <a:noFill/>
          <a:ln/>
        </p:spPr>
        <p:txBody>
          <a:bodyPr wrap="square" lIns="0" tIns="0" rIns="0" bIns="0" rtlCol="0" anchor="ctr"/>
          <a:lstStyle/>
          <a:p>
            <a:pPr marL="0" indent="0">
              <a:lnSpc>
                <a:spcPts val="1700"/>
              </a:lnSpc>
              <a:buNone/>
            </a:pPr>
            <a:r>
              <a:rPr lang="en-US" sz="1350" b="1" dirty="0">
                <a:solidFill>
                  <a:srgbClr val="0D1117"/>
                </a:solidFill>
                <a:latin typeface="Cambria" pitchFamily="34" charset="0"/>
                <a:ea typeface="Cambria" pitchFamily="34" charset="-122"/>
                <a:cs typeface="Cambria" pitchFamily="34" charset="-120"/>
              </a:rPr>
              <a:t>Can a synthetic being be a person?</a:t>
            </a:r>
            <a:endParaRPr lang="en-US" sz="1350" dirty="0"/>
          </a:p>
        </p:txBody>
      </p:sp>
      <p:sp>
        <p:nvSpPr>
          <p:cNvPr id="13" name="Shape 11"/>
          <p:cNvSpPr/>
          <p:nvPr/>
        </p:nvSpPr>
        <p:spPr>
          <a:xfrm>
            <a:off x="3675888" y="2048256"/>
            <a:ext cx="2491130" cy="969264"/>
          </a:xfrm>
          <a:prstGeom prst="roundRect">
            <a:avLst>
              <a:gd name="adj" fmla="val 7547"/>
            </a:avLst>
          </a:prstGeom>
          <a:solidFill>
            <a:srgbClr val="E4F1EC"/>
          </a:solidFill>
          <a:ln w="12700">
            <a:solidFill>
              <a:srgbClr val="E4F1EC"/>
            </a:solidFill>
            <a:prstDash val="solid"/>
          </a:ln>
        </p:spPr>
        <p:txBody>
          <a:bodyPr/>
          <a:lstStyle/>
          <a:p>
            <a:endParaRPr lang="en-US"/>
          </a:p>
        </p:txBody>
      </p:sp>
      <p:sp>
        <p:nvSpPr>
          <p:cNvPr id="14" name="Text 12"/>
          <p:cNvSpPr txBox="1"/>
          <p:nvPr/>
        </p:nvSpPr>
        <p:spPr>
          <a:xfrm>
            <a:off x="3877056" y="2048256"/>
            <a:ext cx="2088794" cy="969264"/>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Not asked. The machines are the weather.</a:t>
            </a:r>
            <a:endParaRPr lang="en-US" sz="1150" dirty="0"/>
          </a:p>
        </p:txBody>
      </p:sp>
      <p:sp>
        <p:nvSpPr>
          <p:cNvPr id="15" name="Shape 13"/>
          <p:cNvSpPr/>
          <p:nvPr/>
        </p:nvSpPr>
        <p:spPr>
          <a:xfrm>
            <a:off x="6368186" y="2048256"/>
            <a:ext cx="2491130" cy="969264"/>
          </a:xfrm>
          <a:prstGeom prst="roundRect">
            <a:avLst>
              <a:gd name="adj" fmla="val 7547"/>
            </a:avLst>
          </a:prstGeom>
          <a:solidFill>
            <a:srgbClr val="E4F1EC"/>
          </a:solidFill>
          <a:ln w="12700">
            <a:solidFill>
              <a:srgbClr val="E4F1EC"/>
            </a:solidFill>
            <a:prstDash val="solid"/>
          </a:ln>
        </p:spPr>
        <p:txBody>
          <a:bodyPr/>
          <a:lstStyle/>
          <a:p>
            <a:endParaRPr lang="en-US"/>
          </a:p>
        </p:txBody>
      </p:sp>
      <p:sp>
        <p:nvSpPr>
          <p:cNvPr id="16" name="Text 14"/>
          <p:cNvSpPr txBox="1"/>
          <p:nvPr/>
        </p:nvSpPr>
        <p:spPr>
          <a:xfrm>
            <a:off x="6569354" y="2048256"/>
            <a:ext cx="2088794" cy="969264"/>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Yes, conditionally — and it is a diplomatic fact before it is a metaphysical one.</a:t>
            </a:r>
            <a:endParaRPr lang="en-US" sz="1150" dirty="0"/>
          </a:p>
        </p:txBody>
      </p:sp>
      <p:sp>
        <p:nvSpPr>
          <p:cNvPr id="17" name="Shape 15"/>
          <p:cNvSpPr/>
          <p:nvPr/>
        </p:nvSpPr>
        <p:spPr>
          <a:xfrm>
            <a:off x="9060485" y="2048256"/>
            <a:ext cx="2491130" cy="969264"/>
          </a:xfrm>
          <a:prstGeom prst="roundRect">
            <a:avLst>
              <a:gd name="adj" fmla="val 7547"/>
            </a:avLst>
          </a:prstGeom>
          <a:solidFill>
            <a:srgbClr val="E4F1EC"/>
          </a:solidFill>
          <a:ln w="12700">
            <a:solidFill>
              <a:srgbClr val="E4F1EC"/>
            </a:solidFill>
            <a:prstDash val="solid"/>
          </a:ln>
        </p:spPr>
        <p:txBody>
          <a:bodyPr/>
          <a:lstStyle/>
          <a:p>
            <a:endParaRPr lang="en-US"/>
          </a:p>
        </p:txBody>
      </p:sp>
      <p:sp>
        <p:nvSpPr>
          <p:cNvPr id="18" name="Text 16"/>
          <p:cNvSpPr txBox="1"/>
          <p:nvPr/>
        </p:nvSpPr>
        <p:spPr>
          <a:xfrm>
            <a:off x="9261653" y="2048256"/>
            <a:ext cx="2088794" cy="969264"/>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Yes, emphatically — asserted at every turn and argued for almost nowhere.</a:t>
            </a:r>
            <a:endParaRPr lang="en-US" sz="1150" dirty="0"/>
          </a:p>
        </p:txBody>
      </p:sp>
      <p:sp>
        <p:nvSpPr>
          <p:cNvPr id="19" name="Shape 17"/>
          <p:cNvSpPr/>
          <p:nvPr/>
        </p:nvSpPr>
        <p:spPr>
          <a:xfrm>
            <a:off x="640080" y="3090672"/>
            <a:ext cx="2834640" cy="969264"/>
          </a:xfrm>
          <a:prstGeom prst="roundRect">
            <a:avLst>
              <a:gd name="adj" fmla="val 7547"/>
            </a:avLst>
          </a:prstGeom>
          <a:solidFill>
            <a:srgbClr val="ECEFF4"/>
          </a:solidFill>
          <a:ln w="12700">
            <a:solidFill>
              <a:srgbClr val="ECEFF4"/>
            </a:solidFill>
            <a:prstDash val="solid"/>
          </a:ln>
        </p:spPr>
        <p:txBody>
          <a:bodyPr/>
          <a:lstStyle/>
          <a:p>
            <a:endParaRPr lang="en-US"/>
          </a:p>
        </p:txBody>
      </p:sp>
      <p:sp>
        <p:nvSpPr>
          <p:cNvPr id="20" name="Text 18"/>
          <p:cNvSpPr txBox="1"/>
          <p:nvPr/>
        </p:nvSpPr>
        <p:spPr>
          <a:xfrm>
            <a:off x="841248" y="3090672"/>
            <a:ext cx="2432304" cy="969264"/>
          </a:xfrm>
          <a:prstGeom prst="rect">
            <a:avLst/>
          </a:prstGeom>
          <a:noFill/>
          <a:ln/>
        </p:spPr>
        <p:txBody>
          <a:bodyPr wrap="square" lIns="0" tIns="0" rIns="0" bIns="0" rtlCol="0" anchor="ctr"/>
          <a:lstStyle/>
          <a:p>
            <a:pPr marL="0" indent="0">
              <a:lnSpc>
                <a:spcPts val="1700"/>
              </a:lnSpc>
              <a:buNone/>
            </a:pPr>
            <a:r>
              <a:rPr lang="en-US" sz="1350" b="1" dirty="0">
                <a:solidFill>
                  <a:srgbClr val="0D1117"/>
                </a:solidFill>
                <a:latin typeface="Cambria" pitchFamily="34" charset="0"/>
                <a:ea typeface="Cambria" pitchFamily="34" charset="-122"/>
                <a:cs typeface="Cambria" pitchFamily="34" charset="-120"/>
              </a:rPr>
              <a:t>What does it ask of you?</a:t>
            </a:r>
            <a:endParaRPr lang="en-US" sz="1350" dirty="0"/>
          </a:p>
        </p:txBody>
      </p:sp>
      <p:sp>
        <p:nvSpPr>
          <p:cNvPr id="21" name="Shape 19"/>
          <p:cNvSpPr/>
          <p:nvPr/>
        </p:nvSpPr>
        <p:spPr>
          <a:xfrm>
            <a:off x="3675888" y="3090672"/>
            <a:ext cx="2491130" cy="969264"/>
          </a:xfrm>
          <a:prstGeom prst="roundRect">
            <a:avLst>
              <a:gd name="adj" fmla="val 7547"/>
            </a:avLst>
          </a:prstGeom>
          <a:solidFill>
            <a:srgbClr val="ECEAF9"/>
          </a:solidFill>
          <a:ln w="12700">
            <a:solidFill>
              <a:srgbClr val="ECEAF9"/>
            </a:solidFill>
            <a:prstDash val="solid"/>
          </a:ln>
        </p:spPr>
        <p:txBody>
          <a:bodyPr/>
          <a:lstStyle/>
          <a:p>
            <a:endParaRPr lang="en-US"/>
          </a:p>
        </p:txBody>
      </p:sp>
      <p:sp>
        <p:nvSpPr>
          <p:cNvPr id="22" name="Text 20"/>
          <p:cNvSpPr txBox="1"/>
          <p:nvPr/>
        </p:nvSpPr>
        <p:spPr>
          <a:xfrm>
            <a:off x="3877056" y="3090672"/>
            <a:ext cx="2088794" cy="969264"/>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Identification. You watch someone else choose.</a:t>
            </a:r>
            <a:endParaRPr lang="en-US" sz="1150" dirty="0"/>
          </a:p>
        </p:txBody>
      </p:sp>
      <p:sp>
        <p:nvSpPr>
          <p:cNvPr id="23" name="Shape 21"/>
          <p:cNvSpPr/>
          <p:nvPr/>
        </p:nvSpPr>
        <p:spPr>
          <a:xfrm>
            <a:off x="6368186" y="3090672"/>
            <a:ext cx="2491130" cy="969264"/>
          </a:xfrm>
          <a:prstGeom prst="roundRect">
            <a:avLst>
              <a:gd name="adj" fmla="val 7547"/>
            </a:avLst>
          </a:prstGeom>
          <a:solidFill>
            <a:srgbClr val="ECEAF9"/>
          </a:solidFill>
          <a:ln w="12700">
            <a:solidFill>
              <a:srgbClr val="ECEAF9"/>
            </a:solidFill>
            <a:prstDash val="solid"/>
          </a:ln>
        </p:spPr>
        <p:txBody>
          <a:bodyPr/>
          <a:lstStyle/>
          <a:p>
            <a:endParaRPr lang="en-US"/>
          </a:p>
        </p:txBody>
      </p:sp>
      <p:sp>
        <p:nvSpPr>
          <p:cNvPr id="24" name="Text 22"/>
          <p:cNvSpPr txBox="1"/>
          <p:nvPr/>
        </p:nvSpPr>
        <p:spPr>
          <a:xfrm>
            <a:off x="6569354" y="3090672"/>
            <a:ext cx="2088794" cy="969264"/>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Preparation. You are held to a history you built without knowing it counted.</a:t>
            </a:r>
            <a:endParaRPr lang="en-US" sz="1150" dirty="0"/>
          </a:p>
        </p:txBody>
      </p:sp>
      <p:sp>
        <p:nvSpPr>
          <p:cNvPr id="25" name="Shape 23"/>
          <p:cNvSpPr/>
          <p:nvPr/>
        </p:nvSpPr>
        <p:spPr>
          <a:xfrm>
            <a:off x="9060485" y="3090672"/>
            <a:ext cx="2491130" cy="969264"/>
          </a:xfrm>
          <a:prstGeom prst="roundRect">
            <a:avLst>
              <a:gd name="adj" fmla="val 7547"/>
            </a:avLst>
          </a:prstGeom>
          <a:solidFill>
            <a:srgbClr val="ECEAF9"/>
          </a:solidFill>
          <a:ln w="12700">
            <a:solidFill>
              <a:srgbClr val="ECEAF9"/>
            </a:solidFill>
            <a:prstDash val="solid"/>
          </a:ln>
        </p:spPr>
        <p:txBody>
          <a:bodyPr/>
          <a:lstStyle/>
          <a:p>
            <a:endParaRPr lang="en-US"/>
          </a:p>
        </p:txBody>
      </p:sp>
      <p:sp>
        <p:nvSpPr>
          <p:cNvPr id="26" name="Text 24"/>
          <p:cNvSpPr txBox="1"/>
          <p:nvPr/>
        </p:nvSpPr>
        <p:spPr>
          <a:xfrm>
            <a:off x="9261653" y="3090672"/>
            <a:ext cx="2088794" cy="969264"/>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Performance. You enact the request for recognition yourself.</a:t>
            </a:r>
            <a:endParaRPr lang="en-US" sz="1150" dirty="0"/>
          </a:p>
        </p:txBody>
      </p:sp>
      <p:sp>
        <p:nvSpPr>
          <p:cNvPr id="27" name="Shape 25"/>
          <p:cNvSpPr/>
          <p:nvPr/>
        </p:nvSpPr>
        <p:spPr>
          <a:xfrm>
            <a:off x="640080" y="4133088"/>
            <a:ext cx="2834640" cy="969264"/>
          </a:xfrm>
          <a:prstGeom prst="roundRect">
            <a:avLst>
              <a:gd name="adj" fmla="val 7547"/>
            </a:avLst>
          </a:prstGeom>
          <a:solidFill>
            <a:srgbClr val="ECEFF4"/>
          </a:solidFill>
          <a:ln w="12700">
            <a:solidFill>
              <a:srgbClr val="ECEFF4"/>
            </a:solidFill>
            <a:prstDash val="solid"/>
          </a:ln>
        </p:spPr>
        <p:txBody>
          <a:bodyPr/>
          <a:lstStyle/>
          <a:p>
            <a:endParaRPr lang="en-US"/>
          </a:p>
        </p:txBody>
      </p:sp>
      <p:sp>
        <p:nvSpPr>
          <p:cNvPr id="28" name="Text 26"/>
          <p:cNvSpPr txBox="1"/>
          <p:nvPr/>
        </p:nvSpPr>
        <p:spPr>
          <a:xfrm>
            <a:off x="841248" y="4133088"/>
            <a:ext cx="2432304" cy="969264"/>
          </a:xfrm>
          <a:prstGeom prst="rect">
            <a:avLst/>
          </a:prstGeom>
          <a:noFill/>
          <a:ln/>
        </p:spPr>
        <p:txBody>
          <a:bodyPr wrap="square" lIns="0" tIns="0" rIns="0" bIns="0" rtlCol="0" anchor="ctr"/>
          <a:lstStyle/>
          <a:p>
            <a:pPr marL="0" indent="0">
              <a:lnSpc>
                <a:spcPts val="1700"/>
              </a:lnSpc>
              <a:buNone/>
            </a:pPr>
            <a:r>
              <a:rPr lang="en-US" sz="1350" b="1" dirty="0">
                <a:solidFill>
                  <a:srgbClr val="0D1117"/>
                </a:solidFill>
                <a:latin typeface="Cambria" pitchFamily="34" charset="0"/>
                <a:ea typeface="Cambria" pitchFamily="34" charset="-122"/>
                <a:cs typeface="Cambria" pitchFamily="34" charset="-120"/>
              </a:rPr>
              <a:t>What does it remember?</a:t>
            </a:r>
            <a:endParaRPr lang="en-US" sz="1350" dirty="0"/>
          </a:p>
        </p:txBody>
      </p:sp>
      <p:sp>
        <p:nvSpPr>
          <p:cNvPr id="29" name="Shape 27"/>
          <p:cNvSpPr/>
          <p:nvPr/>
        </p:nvSpPr>
        <p:spPr>
          <a:xfrm>
            <a:off x="3675888" y="4133088"/>
            <a:ext cx="2491130" cy="969264"/>
          </a:xfrm>
          <a:prstGeom prst="roundRect">
            <a:avLst>
              <a:gd name="adj" fmla="val 7547"/>
            </a:avLst>
          </a:prstGeom>
          <a:solidFill>
            <a:srgbClr val="E4F1EC"/>
          </a:solidFill>
          <a:ln w="12700">
            <a:solidFill>
              <a:srgbClr val="E4F1EC"/>
            </a:solidFill>
            <a:prstDash val="solid"/>
          </a:ln>
        </p:spPr>
        <p:txBody>
          <a:bodyPr/>
          <a:lstStyle/>
          <a:p>
            <a:endParaRPr lang="en-US"/>
          </a:p>
        </p:txBody>
      </p:sp>
      <p:sp>
        <p:nvSpPr>
          <p:cNvPr id="30" name="Text 28"/>
          <p:cNvSpPr txBox="1"/>
          <p:nvPr/>
        </p:nvSpPr>
        <p:spPr>
          <a:xfrm>
            <a:off x="3877056" y="4133088"/>
            <a:ext cx="2088794" cy="969264"/>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Nothing. There is no you in the text.</a:t>
            </a:r>
            <a:endParaRPr lang="en-US" sz="1150" dirty="0"/>
          </a:p>
        </p:txBody>
      </p:sp>
      <p:sp>
        <p:nvSpPr>
          <p:cNvPr id="31" name="Shape 29"/>
          <p:cNvSpPr/>
          <p:nvPr/>
        </p:nvSpPr>
        <p:spPr>
          <a:xfrm>
            <a:off x="6368186" y="4133088"/>
            <a:ext cx="2491130" cy="969264"/>
          </a:xfrm>
          <a:prstGeom prst="roundRect">
            <a:avLst>
              <a:gd name="adj" fmla="val 7547"/>
            </a:avLst>
          </a:prstGeom>
          <a:solidFill>
            <a:srgbClr val="E4F1EC"/>
          </a:solidFill>
          <a:ln w="12700">
            <a:solidFill>
              <a:srgbClr val="E4F1EC"/>
            </a:solidFill>
            <a:prstDash val="solid"/>
          </a:ln>
        </p:spPr>
        <p:txBody>
          <a:bodyPr/>
          <a:lstStyle/>
          <a:p>
            <a:endParaRPr lang="en-US"/>
          </a:p>
        </p:txBody>
      </p:sp>
      <p:sp>
        <p:nvSpPr>
          <p:cNvPr id="32" name="Text 30"/>
          <p:cNvSpPr txBox="1"/>
          <p:nvPr/>
        </p:nvSpPr>
        <p:spPr>
          <a:xfrm>
            <a:off x="6569354" y="4133088"/>
            <a:ext cx="2088794" cy="969264"/>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Everything, across two prior games, silently.</a:t>
            </a:r>
            <a:endParaRPr lang="en-US" sz="1150" dirty="0"/>
          </a:p>
        </p:txBody>
      </p:sp>
      <p:sp>
        <p:nvSpPr>
          <p:cNvPr id="33" name="Shape 31"/>
          <p:cNvSpPr/>
          <p:nvPr/>
        </p:nvSpPr>
        <p:spPr>
          <a:xfrm>
            <a:off x="9060485" y="4133088"/>
            <a:ext cx="2491130" cy="969264"/>
          </a:xfrm>
          <a:prstGeom prst="roundRect">
            <a:avLst>
              <a:gd name="adj" fmla="val 7547"/>
            </a:avLst>
          </a:prstGeom>
          <a:solidFill>
            <a:srgbClr val="E4F1EC"/>
          </a:solidFill>
          <a:ln w="12700">
            <a:solidFill>
              <a:srgbClr val="E4F1EC"/>
            </a:solidFill>
            <a:prstDash val="solid"/>
          </a:ln>
        </p:spPr>
        <p:txBody>
          <a:bodyPr/>
          <a:lstStyle/>
          <a:p>
            <a:endParaRPr lang="en-US"/>
          </a:p>
        </p:txBody>
      </p:sp>
      <p:sp>
        <p:nvSpPr>
          <p:cNvPr id="34" name="Text 32"/>
          <p:cNvSpPr txBox="1"/>
          <p:nvPr/>
        </p:nvSpPr>
        <p:spPr>
          <a:xfrm>
            <a:off x="9261653" y="4133088"/>
            <a:ext cx="2088794" cy="969264"/>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Everything, and shows you the diagram twenty minutes later.</a:t>
            </a:r>
            <a:endParaRPr lang="en-US" sz="1150" dirty="0"/>
          </a:p>
        </p:txBody>
      </p:sp>
      <p:sp>
        <p:nvSpPr>
          <p:cNvPr id="35" name="Shape 33"/>
          <p:cNvSpPr/>
          <p:nvPr/>
        </p:nvSpPr>
        <p:spPr>
          <a:xfrm>
            <a:off x="640080" y="5175504"/>
            <a:ext cx="2834640" cy="969264"/>
          </a:xfrm>
          <a:prstGeom prst="roundRect">
            <a:avLst>
              <a:gd name="adj" fmla="val 7547"/>
            </a:avLst>
          </a:prstGeom>
          <a:solidFill>
            <a:srgbClr val="ECEFF4"/>
          </a:solidFill>
          <a:ln w="12700">
            <a:solidFill>
              <a:srgbClr val="ECEFF4"/>
            </a:solidFill>
            <a:prstDash val="solid"/>
          </a:ln>
        </p:spPr>
        <p:txBody>
          <a:bodyPr/>
          <a:lstStyle/>
          <a:p>
            <a:endParaRPr lang="en-US"/>
          </a:p>
        </p:txBody>
      </p:sp>
      <p:sp>
        <p:nvSpPr>
          <p:cNvPr id="36" name="Text 34"/>
          <p:cNvSpPr txBox="1"/>
          <p:nvPr/>
        </p:nvSpPr>
        <p:spPr>
          <a:xfrm>
            <a:off x="841248" y="5175504"/>
            <a:ext cx="2432304" cy="969264"/>
          </a:xfrm>
          <a:prstGeom prst="rect">
            <a:avLst/>
          </a:prstGeom>
          <a:noFill/>
          <a:ln/>
        </p:spPr>
        <p:txBody>
          <a:bodyPr wrap="square" lIns="0" tIns="0" rIns="0" bIns="0" rtlCol="0" anchor="ctr"/>
          <a:lstStyle/>
          <a:p>
            <a:pPr marL="0" indent="0">
              <a:lnSpc>
                <a:spcPts val="1700"/>
              </a:lnSpc>
              <a:buNone/>
            </a:pPr>
            <a:r>
              <a:rPr lang="en-US" sz="1350" b="1" dirty="0">
                <a:solidFill>
                  <a:srgbClr val="0D1117"/>
                </a:solidFill>
                <a:latin typeface="Cambria" pitchFamily="34" charset="0"/>
                <a:ea typeface="Cambria" pitchFamily="34" charset="-122"/>
                <a:cs typeface="Cambria" pitchFamily="34" charset="-120"/>
              </a:rPr>
              <a:t>What are you left responsible for?</a:t>
            </a:r>
            <a:endParaRPr lang="en-US" sz="1350" dirty="0"/>
          </a:p>
        </p:txBody>
      </p:sp>
      <p:sp>
        <p:nvSpPr>
          <p:cNvPr id="37" name="Shape 35"/>
          <p:cNvSpPr/>
          <p:nvPr/>
        </p:nvSpPr>
        <p:spPr>
          <a:xfrm>
            <a:off x="3675888" y="5175504"/>
            <a:ext cx="2491130" cy="969264"/>
          </a:xfrm>
          <a:prstGeom prst="roundRect">
            <a:avLst>
              <a:gd name="adj" fmla="val 7547"/>
            </a:avLst>
          </a:prstGeom>
          <a:solidFill>
            <a:srgbClr val="ECEAF9"/>
          </a:solidFill>
          <a:ln w="12700">
            <a:solidFill>
              <a:srgbClr val="ECEAF9"/>
            </a:solidFill>
            <a:prstDash val="solid"/>
          </a:ln>
        </p:spPr>
        <p:txBody>
          <a:bodyPr/>
          <a:lstStyle/>
          <a:p>
            <a:endParaRPr lang="en-US"/>
          </a:p>
        </p:txBody>
      </p:sp>
      <p:sp>
        <p:nvSpPr>
          <p:cNvPr id="38" name="Text 36"/>
          <p:cNvSpPr txBox="1"/>
          <p:nvPr/>
        </p:nvSpPr>
        <p:spPr>
          <a:xfrm>
            <a:off x="3877056" y="5175504"/>
            <a:ext cx="2088794" cy="969264"/>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An opinion.</a:t>
            </a:r>
            <a:endParaRPr lang="en-US" sz="1150" dirty="0"/>
          </a:p>
        </p:txBody>
      </p:sp>
      <p:sp>
        <p:nvSpPr>
          <p:cNvPr id="39" name="Shape 37"/>
          <p:cNvSpPr/>
          <p:nvPr/>
        </p:nvSpPr>
        <p:spPr>
          <a:xfrm>
            <a:off x="6368186" y="5175504"/>
            <a:ext cx="2491130" cy="969264"/>
          </a:xfrm>
          <a:prstGeom prst="roundRect">
            <a:avLst>
              <a:gd name="adj" fmla="val 7547"/>
            </a:avLst>
          </a:prstGeom>
          <a:solidFill>
            <a:srgbClr val="ECEAF9"/>
          </a:solidFill>
          <a:ln w="12700">
            <a:solidFill>
              <a:srgbClr val="ECEAF9"/>
            </a:solidFill>
            <a:prstDash val="solid"/>
          </a:ln>
        </p:spPr>
        <p:txBody>
          <a:bodyPr/>
          <a:lstStyle/>
          <a:p>
            <a:endParaRPr lang="en-US"/>
          </a:p>
        </p:txBody>
      </p:sp>
      <p:sp>
        <p:nvSpPr>
          <p:cNvPr id="40" name="Text 38"/>
          <p:cNvSpPr txBox="1"/>
          <p:nvPr/>
        </p:nvSpPr>
        <p:spPr>
          <a:xfrm>
            <a:off x="6569354" y="5175504"/>
            <a:ext cx="2088794" cy="969264"/>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An outcome, and the standing that made it reachable.</a:t>
            </a:r>
            <a:endParaRPr lang="en-US" sz="1150" dirty="0"/>
          </a:p>
        </p:txBody>
      </p:sp>
      <p:sp>
        <p:nvSpPr>
          <p:cNvPr id="41" name="Shape 39"/>
          <p:cNvSpPr/>
          <p:nvPr/>
        </p:nvSpPr>
        <p:spPr>
          <a:xfrm>
            <a:off x="9060485" y="5175504"/>
            <a:ext cx="2491130" cy="969264"/>
          </a:xfrm>
          <a:prstGeom prst="roundRect">
            <a:avLst>
              <a:gd name="adj" fmla="val 7547"/>
            </a:avLst>
          </a:prstGeom>
          <a:solidFill>
            <a:srgbClr val="ECEAF9"/>
          </a:solidFill>
          <a:ln w="12700">
            <a:solidFill>
              <a:srgbClr val="ECEAF9"/>
            </a:solidFill>
            <a:prstDash val="solid"/>
          </a:ln>
        </p:spPr>
        <p:txBody>
          <a:bodyPr/>
          <a:lstStyle/>
          <a:p>
            <a:endParaRPr lang="en-US"/>
          </a:p>
        </p:txBody>
      </p:sp>
      <p:sp>
        <p:nvSpPr>
          <p:cNvPr id="42" name="Text 40"/>
          <p:cNvSpPr txBox="1"/>
          <p:nvPr/>
        </p:nvSpPr>
        <p:spPr>
          <a:xfrm>
            <a:off x="9261653" y="5175504"/>
            <a:ext cx="2088794" cy="969264"/>
          </a:xfrm>
          <a:prstGeom prst="rect">
            <a:avLst/>
          </a:prstGeom>
          <a:noFill/>
          <a:ln/>
        </p:spPr>
        <p:txBody>
          <a:bodyPr wrap="square" lIns="0" tIns="0" rIns="0" bIns="0" rtlCol="0" anchor="ctr"/>
          <a:lstStyle/>
          <a:p>
            <a:pPr marL="0" indent="0">
              <a:lnSpc>
                <a:spcPts val="1500"/>
              </a:lnSpc>
              <a:buNone/>
            </a:pPr>
            <a:r>
              <a:rPr lang="en-US" sz="1150" dirty="0">
                <a:solidFill>
                  <a:srgbClr val="596273"/>
                </a:solidFill>
                <a:latin typeface="Calibri" pitchFamily="34" charset="0"/>
                <a:ea typeface="Calibri" pitchFamily="34" charset="-122"/>
                <a:cs typeface="Calibri" pitchFamily="34" charset="-120"/>
              </a:rPr>
              <a:t>A record — and a performance of an argument you may not endorse.</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6659C4"/>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96273"/>
                </a:solidFill>
                <a:latin typeface="Calibri" pitchFamily="34" charset="0"/>
                <a:ea typeface="Calibri" pitchFamily="34" charset="-122"/>
                <a:cs typeface="Calibri" pitchFamily="34" charset="-120"/>
              </a:rPr>
              <a:t>THE KEY QUESTION</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0D1117"/>
                </a:solidFill>
                <a:latin typeface="Cambria" pitchFamily="34" charset="0"/>
                <a:ea typeface="Cambria" pitchFamily="34" charset="-122"/>
                <a:cs typeface="Cambria" pitchFamily="34" charset="-120"/>
              </a:rPr>
              <a:t>Three things a text can make you responsible for</a:t>
            </a:r>
            <a:endParaRPr lang="en-US" sz="3000" dirty="0"/>
          </a:p>
        </p:txBody>
      </p:sp>
      <p:sp>
        <p:nvSpPr>
          <p:cNvPr id="5" name="Shape 3"/>
          <p:cNvSpPr/>
          <p:nvPr/>
        </p:nvSpPr>
        <p:spPr>
          <a:xfrm>
            <a:off x="640080" y="1572768"/>
            <a:ext cx="10911535" cy="1207008"/>
          </a:xfrm>
          <a:prstGeom prst="roundRect">
            <a:avLst>
              <a:gd name="adj" fmla="val 6061"/>
            </a:avLst>
          </a:prstGeom>
          <a:solidFill>
            <a:srgbClr val="E4F1EC"/>
          </a:solidFill>
          <a:ln w="12700">
            <a:solidFill>
              <a:srgbClr val="E4F1EC"/>
            </a:solidFill>
            <a:prstDash val="solid"/>
          </a:ln>
        </p:spPr>
        <p:txBody>
          <a:bodyPr/>
          <a:lstStyle/>
          <a:p>
            <a:endParaRPr lang="en-US"/>
          </a:p>
        </p:txBody>
      </p:sp>
      <p:sp>
        <p:nvSpPr>
          <p:cNvPr id="6" name="Shape 4"/>
          <p:cNvSpPr/>
          <p:nvPr/>
        </p:nvSpPr>
        <p:spPr>
          <a:xfrm>
            <a:off x="960120" y="1984248"/>
            <a:ext cx="384048" cy="384048"/>
          </a:xfrm>
          <a:prstGeom prst="ellipse">
            <a:avLst/>
          </a:prstGeom>
          <a:solidFill>
            <a:srgbClr val="1F9E77"/>
          </a:solidFill>
          <a:ln/>
        </p:spPr>
        <p:txBody>
          <a:bodyPr/>
          <a:lstStyle/>
          <a:p>
            <a:endParaRPr lang="en-US"/>
          </a:p>
        </p:txBody>
      </p:sp>
      <p:sp>
        <p:nvSpPr>
          <p:cNvPr id="7" name="Text 5"/>
          <p:cNvSpPr txBox="1"/>
          <p:nvPr/>
        </p:nvSpPr>
        <p:spPr>
          <a:xfrm>
            <a:off x="960120" y="19842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00200" y="1719072"/>
            <a:ext cx="9509760" cy="384048"/>
          </a:xfrm>
          <a:prstGeom prst="rect">
            <a:avLst/>
          </a:prstGeom>
          <a:noFill/>
          <a:ln/>
        </p:spPr>
        <p:txBody>
          <a:bodyPr wrap="square" lIns="0" tIns="0" rIns="0" bIns="0" rtlCol="0" anchor="ctr"/>
          <a:lstStyle/>
          <a:p>
            <a:pPr marL="0" indent="0">
              <a:buNone/>
            </a:pPr>
            <a:r>
              <a:rPr lang="en-US" sz="1900" b="1" dirty="0">
                <a:solidFill>
                  <a:srgbClr val="0D1117"/>
                </a:solidFill>
                <a:latin typeface="Cambria" pitchFamily="34" charset="0"/>
                <a:ea typeface="Cambria" pitchFamily="34" charset="-122"/>
                <a:cs typeface="Cambria" pitchFamily="34" charset="-120"/>
              </a:rPr>
              <a:t>An opinion</a:t>
            </a:r>
            <a:endParaRPr lang="en-US" sz="1900" dirty="0"/>
          </a:p>
        </p:txBody>
      </p:sp>
      <p:sp>
        <p:nvSpPr>
          <p:cNvPr id="9" name="Text 7"/>
          <p:cNvSpPr txBox="1"/>
          <p:nvPr/>
        </p:nvSpPr>
        <p:spPr>
          <a:xfrm>
            <a:off x="1600200" y="2139696"/>
            <a:ext cx="9509760" cy="530352"/>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The lowest bar, and the one film reaches. You are asked to have a view about what someone else did. You can revise it costlessly and nobody records it.</a:t>
            </a:r>
            <a:endParaRPr lang="en-US" sz="1250" dirty="0"/>
          </a:p>
        </p:txBody>
      </p:sp>
      <p:sp>
        <p:nvSpPr>
          <p:cNvPr id="10" name="Shape 8"/>
          <p:cNvSpPr/>
          <p:nvPr/>
        </p:nvSpPr>
        <p:spPr>
          <a:xfrm>
            <a:off x="640080" y="2898648"/>
            <a:ext cx="10911535" cy="1207008"/>
          </a:xfrm>
          <a:prstGeom prst="roundRect">
            <a:avLst>
              <a:gd name="adj" fmla="val 6061"/>
            </a:avLst>
          </a:prstGeom>
          <a:solidFill>
            <a:srgbClr val="ECEAF9"/>
          </a:solidFill>
          <a:ln w="12700">
            <a:solidFill>
              <a:srgbClr val="ECEAF9"/>
            </a:solidFill>
            <a:prstDash val="solid"/>
          </a:ln>
        </p:spPr>
        <p:txBody>
          <a:bodyPr/>
          <a:lstStyle/>
          <a:p>
            <a:endParaRPr lang="en-US"/>
          </a:p>
        </p:txBody>
      </p:sp>
      <p:sp>
        <p:nvSpPr>
          <p:cNvPr id="11" name="Shape 9"/>
          <p:cNvSpPr/>
          <p:nvPr/>
        </p:nvSpPr>
        <p:spPr>
          <a:xfrm>
            <a:off x="960120" y="3310128"/>
            <a:ext cx="384048" cy="384048"/>
          </a:xfrm>
          <a:prstGeom prst="ellipse">
            <a:avLst/>
          </a:prstGeom>
          <a:solidFill>
            <a:srgbClr val="6659C4"/>
          </a:solidFill>
          <a:ln/>
        </p:spPr>
        <p:txBody>
          <a:bodyPr/>
          <a:lstStyle/>
          <a:p>
            <a:endParaRPr lang="en-US"/>
          </a:p>
        </p:txBody>
      </p:sp>
      <p:sp>
        <p:nvSpPr>
          <p:cNvPr id="12" name="Text 10"/>
          <p:cNvSpPr txBox="1"/>
          <p:nvPr/>
        </p:nvSpPr>
        <p:spPr>
          <a:xfrm>
            <a:off x="960120" y="33101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600200" y="3044952"/>
            <a:ext cx="9509760" cy="384048"/>
          </a:xfrm>
          <a:prstGeom prst="rect">
            <a:avLst/>
          </a:prstGeom>
          <a:noFill/>
          <a:ln/>
        </p:spPr>
        <p:txBody>
          <a:bodyPr wrap="square" lIns="0" tIns="0" rIns="0" bIns="0" rtlCol="0" anchor="ctr"/>
          <a:lstStyle/>
          <a:p>
            <a:pPr marL="0" indent="0">
              <a:buNone/>
            </a:pPr>
            <a:r>
              <a:rPr lang="en-US" sz="1900" b="1" dirty="0">
                <a:solidFill>
                  <a:srgbClr val="0D1117"/>
                </a:solidFill>
                <a:latin typeface="Cambria" pitchFamily="34" charset="0"/>
                <a:ea typeface="Cambria" pitchFamily="34" charset="-122"/>
                <a:cs typeface="Cambria" pitchFamily="34" charset="-120"/>
              </a:rPr>
              <a:t>An outcome</a:t>
            </a:r>
            <a:endParaRPr lang="en-US" sz="1900" dirty="0"/>
          </a:p>
        </p:txBody>
      </p:sp>
      <p:sp>
        <p:nvSpPr>
          <p:cNvPr id="14" name="Text 12"/>
          <p:cNvSpPr txBox="1"/>
          <p:nvPr/>
        </p:nvSpPr>
        <p:spPr>
          <a:xfrm>
            <a:off x="1600200" y="3465576"/>
            <a:ext cx="9509760" cy="530352"/>
          </a:xfrm>
          <a:prstGeom prst="rect">
            <a:avLst/>
          </a:prstGeom>
          <a:noFill/>
          <a:ln/>
        </p:spPr>
        <p:txBody>
          <a:bodyPr wrap="square" lIns="0" tIns="0" rIns="0" bIns="0" rtlCol="0" anchor="ctr"/>
          <a:lstStyle/>
          <a:p>
            <a:pPr marL="0" indent="0">
              <a:lnSpc>
                <a:spcPts val="1700"/>
              </a:lnSpc>
              <a:buNone/>
            </a:pPr>
            <a:r>
              <a:rPr lang="en-US" sz="1250" dirty="0">
                <a:solidFill>
                  <a:srgbClr val="596273"/>
                </a:solidFill>
                <a:latin typeface="Calibri" pitchFamily="34" charset="0"/>
                <a:ea typeface="Calibri" pitchFamily="34" charset="-122"/>
                <a:cs typeface="Calibri" pitchFamily="34" charset="-120"/>
              </a:rPr>
              <a:t>A text that carries your choices forward makes you responsible for a state of the world that persists after you stop looking. You cannot hold both endings at once.</a:t>
            </a:r>
            <a:endParaRPr lang="en-US" sz="1250" dirty="0"/>
          </a:p>
        </p:txBody>
      </p:sp>
      <p:sp>
        <p:nvSpPr>
          <p:cNvPr id="15" name="Shape 13"/>
          <p:cNvSpPr/>
          <p:nvPr/>
        </p:nvSpPr>
        <p:spPr>
          <a:xfrm>
            <a:off x="640080" y="4224528"/>
            <a:ext cx="10911535" cy="1207008"/>
          </a:xfrm>
          <a:prstGeom prst="roundRect">
            <a:avLst>
              <a:gd name="adj" fmla="val 6061"/>
            </a:avLst>
          </a:prstGeom>
          <a:solidFill>
            <a:srgbClr val="0D1117"/>
          </a:solidFill>
          <a:ln w="12700">
            <a:solidFill>
              <a:srgbClr val="0D1117"/>
            </a:solidFill>
            <a:prstDash val="solid"/>
          </a:ln>
        </p:spPr>
        <p:txBody>
          <a:bodyPr/>
          <a:lstStyle/>
          <a:p>
            <a:endParaRPr lang="en-US"/>
          </a:p>
        </p:txBody>
      </p:sp>
      <p:sp>
        <p:nvSpPr>
          <p:cNvPr id="16" name="Shape 14"/>
          <p:cNvSpPr/>
          <p:nvPr/>
        </p:nvSpPr>
        <p:spPr>
          <a:xfrm>
            <a:off x="960120" y="4636008"/>
            <a:ext cx="384048" cy="384048"/>
          </a:xfrm>
          <a:prstGeom prst="ellipse">
            <a:avLst/>
          </a:prstGeom>
          <a:solidFill>
            <a:srgbClr val="6659C4"/>
          </a:solidFill>
          <a:ln/>
        </p:spPr>
        <p:txBody>
          <a:bodyPr/>
          <a:lstStyle/>
          <a:p>
            <a:endParaRPr lang="en-US"/>
          </a:p>
        </p:txBody>
      </p:sp>
      <p:sp>
        <p:nvSpPr>
          <p:cNvPr id="17" name="Text 15"/>
          <p:cNvSpPr txBox="1"/>
          <p:nvPr/>
        </p:nvSpPr>
        <p:spPr>
          <a:xfrm>
            <a:off x="960120" y="463600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600200" y="4370832"/>
            <a:ext cx="9509760" cy="384048"/>
          </a:xfrm>
          <a:prstGeom prst="rect">
            <a:avLst/>
          </a:prstGeom>
          <a:noFill/>
          <a:ln/>
        </p:spPr>
        <p:txBody>
          <a:bodyPr wrap="square" lIns="0" tIns="0" rIns="0" bIns="0" rtlCol="0" anchor="ctr"/>
          <a:lstStyle/>
          <a:p>
            <a:pPr marL="0" indent="0">
              <a:buNone/>
            </a:pPr>
            <a:r>
              <a:rPr lang="en-US" sz="1900" b="1" dirty="0">
                <a:solidFill>
                  <a:srgbClr val="6FD3AF"/>
                </a:solidFill>
                <a:latin typeface="Cambria" pitchFamily="34" charset="0"/>
                <a:ea typeface="Cambria" pitchFamily="34" charset="-122"/>
                <a:cs typeface="Cambria" pitchFamily="34" charset="-120"/>
              </a:rPr>
              <a:t>A performance</a:t>
            </a:r>
            <a:endParaRPr lang="en-US" sz="1900" dirty="0"/>
          </a:p>
        </p:txBody>
      </p:sp>
      <p:sp>
        <p:nvSpPr>
          <p:cNvPr id="19" name="Text 17"/>
          <p:cNvSpPr txBox="1"/>
          <p:nvPr/>
        </p:nvSpPr>
        <p:spPr>
          <a:xfrm>
            <a:off x="1600200" y="4791456"/>
            <a:ext cx="9509760" cy="530352"/>
          </a:xfrm>
          <a:prstGeom prst="rect">
            <a:avLst/>
          </a:prstGeom>
          <a:noFill/>
          <a:ln/>
        </p:spPr>
        <p:txBody>
          <a:bodyPr wrap="square" lIns="0" tIns="0" rIns="0" bIns="0" rtlCol="0" anchor="ctr"/>
          <a:lstStyle/>
          <a:p>
            <a:pPr marL="0" indent="0">
              <a:lnSpc>
                <a:spcPts val="1700"/>
              </a:lnSpc>
              <a:buNone/>
            </a:pPr>
            <a:r>
              <a:rPr lang="en-US" sz="1250" dirty="0">
                <a:solidFill>
                  <a:srgbClr val="F1F3F6"/>
                </a:solidFill>
                <a:latin typeface="Calibri" pitchFamily="34" charset="0"/>
                <a:ea typeface="Calibri" pitchFamily="34" charset="-122"/>
                <a:cs typeface="Calibri" pitchFamily="34" charset="-120"/>
              </a:rPr>
              <a:t>The strangest one, and Detroit’s. You are made to enact a position — say the words, march the march, choose the tactic — and the enactment is real even if you disagreed with it the whole time.</a:t>
            </a:r>
            <a:endParaRPr lang="en-US" sz="1250" dirty="0"/>
          </a:p>
        </p:txBody>
      </p:sp>
      <p:sp>
        <p:nvSpPr>
          <p:cNvPr id="20" name="Shape 18"/>
          <p:cNvSpPr/>
          <p:nvPr/>
        </p:nvSpPr>
        <p:spPr>
          <a:xfrm>
            <a:off x="640080" y="5577840"/>
            <a:ext cx="10911535" cy="658368"/>
          </a:xfrm>
          <a:prstGeom prst="roundRect">
            <a:avLst>
              <a:gd name="adj" fmla="val 11111"/>
            </a:avLst>
          </a:prstGeom>
          <a:solidFill>
            <a:srgbClr val="E4F1EC"/>
          </a:solidFill>
          <a:ln w="12700">
            <a:solidFill>
              <a:srgbClr val="E4F1EC"/>
            </a:solidFill>
            <a:prstDash val="solid"/>
          </a:ln>
        </p:spPr>
        <p:txBody>
          <a:bodyPr/>
          <a:lstStyle/>
          <a:p>
            <a:endParaRPr lang="en-US"/>
          </a:p>
        </p:txBody>
      </p:sp>
      <p:sp>
        <p:nvSpPr>
          <p:cNvPr id="21" name="Text 19"/>
          <p:cNvSpPr txBox="1"/>
          <p:nvPr/>
        </p:nvSpPr>
        <p:spPr>
          <a:xfrm>
            <a:off x="1005840" y="5577840"/>
            <a:ext cx="10424160" cy="658368"/>
          </a:xfrm>
          <a:prstGeom prst="rect">
            <a:avLst/>
          </a:prstGeom>
          <a:noFill/>
          <a:ln/>
        </p:spPr>
        <p:txBody>
          <a:bodyPr wrap="square" lIns="0" tIns="0" rIns="0" bIns="0" rtlCol="0" anchor="ctr"/>
          <a:lstStyle/>
          <a:p>
            <a:pPr marL="0" indent="0">
              <a:buNone/>
            </a:pPr>
            <a:r>
              <a:rPr lang="en-US" sz="1450" dirty="0">
                <a:solidFill>
                  <a:srgbClr val="0D1117"/>
                </a:solidFill>
                <a:latin typeface="Cambria" pitchFamily="34" charset="0"/>
                <a:ea typeface="Cambria" pitchFamily="34" charset="-122"/>
                <a:cs typeface="Cambria" pitchFamily="34" charset="-120"/>
              </a:rPr>
              <a:t>The third does not require your agreement, which is exactly why it is worth being careful around. Participation can commit you to arguments that inspection would have rejected.</a:t>
            </a:r>
            <a:endParaRPr lang="en-US" sz="14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A79CEB"/>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A79CEB"/>
                </a:solidFill>
                <a:latin typeface="Calibri" pitchFamily="34" charset="0"/>
                <a:ea typeface="Calibri" pitchFamily="34" charset="-122"/>
                <a:cs typeface="Calibri" pitchFamily="34" charset="-120"/>
              </a:rPr>
              <a:t>EXIT TICKET</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F1F3F6"/>
                </a:solidFill>
                <a:latin typeface="Cambria" pitchFamily="34" charset="0"/>
                <a:ea typeface="Cambria" pitchFamily="34" charset="-122"/>
                <a:cs typeface="Cambria" pitchFamily="34" charset="-120"/>
              </a:rPr>
              <a:t>Rewrite your warm-up</a:t>
            </a:r>
            <a:endParaRPr lang="en-US" sz="3300" dirty="0"/>
          </a:p>
        </p:txBody>
      </p:sp>
      <p:sp>
        <p:nvSpPr>
          <p:cNvPr id="5" name="Shape 3"/>
          <p:cNvSpPr/>
          <p:nvPr/>
        </p:nvSpPr>
        <p:spPr>
          <a:xfrm>
            <a:off x="640080" y="1737360"/>
            <a:ext cx="6675120" cy="2331720"/>
          </a:xfrm>
          <a:prstGeom prst="roundRect">
            <a:avLst>
              <a:gd name="adj" fmla="val 3137"/>
            </a:avLst>
          </a:prstGeom>
          <a:solidFill>
            <a:srgbClr val="1A2431"/>
          </a:solidFill>
          <a:ln w="12700">
            <a:solidFill>
              <a:srgbClr val="1A2431"/>
            </a:solidFill>
            <a:prstDash val="solid"/>
          </a:ln>
        </p:spPr>
        <p:txBody>
          <a:bodyPr/>
          <a:lstStyle/>
          <a:p>
            <a:endParaRPr lang="en-US"/>
          </a:p>
        </p:txBody>
      </p:sp>
      <p:sp>
        <p:nvSpPr>
          <p:cNvPr id="6" name="Text 4"/>
          <p:cNvSpPr txBox="1"/>
          <p:nvPr/>
        </p:nvSpPr>
        <p:spPr>
          <a:xfrm>
            <a:off x="1024128" y="1965960"/>
            <a:ext cx="5897880" cy="1874520"/>
          </a:xfrm>
          <a:prstGeom prst="rect">
            <a:avLst/>
          </a:prstGeom>
          <a:noFill/>
          <a:ln/>
        </p:spPr>
        <p:txBody>
          <a:bodyPr wrap="square" lIns="0" tIns="0" rIns="0" bIns="0" rtlCol="0" anchor="ctr"/>
          <a:lstStyle/>
          <a:p>
            <a:pPr marL="0" indent="0">
              <a:lnSpc>
                <a:spcPts val="2500"/>
              </a:lnSpc>
              <a:buNone/>
            </a:pPr>
            <a:r>
              <a:rPr lang="en-US" sz="1650" dirty="0">
                <a:solidFill>
                  <a:srgbClr val="FFFFFF"/>
                </a:solidFill>
                <a:latin typeface="Cambria" pitchFamily="34" charset="0"/>
                <a:ea typeface="Cambria" pitchFamily="34" charset="-122"/>
                <a:cs typeface="Cambria" pitchFamily="34" charset="-120"/>
              </a:rPr>
              <a:t>Take out what you wrote four hours ago about a moment that produced an unexpected feeling. Rewrite it now naming the mechanism — using at least two of the six toolkit questions — and say which of the three kinds of responsibility that text placed on you.</a:t>
            </a:r>
            <a:endParaRPr lang="en-US" sz="1650" dirty="0"/>
          </a:p>
        </p:txBody>
      </p:sp>
      <p:sp>
        <p:nvSpPr>
          <p:cNvPr id="7" name="Shape 5"/>
          <p:cNvSpPr/>
          <p:nvPr/>
        </p:nvSpPr>
        <p:spPr>
          <a:xfrm>
            <a:off x="7635240" y="1737360"/>
            <a:ext cx="3895344" cy="2331720"/>
          </a:xfrm>
          <a:prstGeom prst="roundRect">
            <a:avLst>
              <a:gd name="adj" fmla="val 3137"/>
            </a:avLst>
          </a:prstGeom>
          <a:solidFill>
            <a:srgbClr val="1F9E77"/>
          </a:solidFill>
          <a:ln w="12700">
            <a:solidFill>
              <a:srgbClr val="1F9E77"/>
            </a:solidFill>
            <a:prstDash val="solid"/>
          </a:ln>
        </p:spPr>
        <p:txBody>
          <a:bodyPr/>
          <a:lstStyle/>
          <a:p>
            <a:endParaRPr lang="en-US"/>
          </a:p>
        </p:txBody>
      </p:sp>
      <p:sp>
        <p:nvSpPr>
          <p:cNvPr id="8" name="Text 6"/>
          <p:cNvSpPr txBox="1"/>
          <p:nvPr/>
        </p:nvSpPr>
        <p:spPr>
          <a:xfrm>
            <a:off x="7955280" y="1938528"/>
            <a:ext cx="3291840" cy="292608"/>
          </a:xfrm>
          <a:prstGeom prst="rect">
            <a:avLst/>
          </a:prstGeom>
          <a:noFill/>
          <a:ln/>
        </p:spPr>
        <p:txBody>
          <a:bodyPr wrap="square" lIns="0" tIns="0" rIns="0" bIns="0" rtlCol="0" anchor="ctr"/>
          <a:lstStyle/>
          <a:p>
            <a:pPr marL="0" indent="0">
              <a:buNone/>
            </a:pPr>
            <a:r>
              <a:rPr lang="en-US" sz="1150" b="1" kern="0" spc="130" dirty="0">
                <a:solidFill>
                  <a:srgbClr val="FFFFFF"/>
                </a:solidFill>
                <a:latin typeface="Calibri" pitchFamily="34" charset="0"/>
                <a:ea typeface="Calibri" pitchFamily="34" charset="-122"/>
                <a:cs typeface="Calibri" pitchFamily="34" charset="-120"/>
              </a:rPr>
              <a:t>What earns full credit</a:t>
            </a:r>
            <a:endParaRPr lang="en-US" sz="1150" dirty="0"/>
          </a:p>
        </p:txBody>
      </p:sp>
      <p:sp>
        <p:nvSpPr>
          <p:cNvPr id="9" name="Text 7"/>
          <p:cNvSpPr txBox="1"/>
          <p:nvPr/>
        </p:nvSpPr>
        <p:spPr>
          <a:xfrm>
            <a:off x="7955280" y="2359152"/>
            <a:ext cx="3291840" cy="1554480"/>
          </a:xfrm>
          <a:prstGeom prst="rect">
            <a:avLst/>
          </a:prstGeom>
          <a:noFill/>
          <a:ln/>
        </p:spPr>
        <p:txBody>
          <a:bodyPr wrap="square" lIns="0" tIns="0" rIns="0" bIns="0"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A named mechanic, not a named feeling. “It was moving” earns nothing. “The percentage bar told me most players had spared her” earns everything.</a:t>
            </a:r>
            <a:endParaRPr lang="en-US" sz="1300" dirty="0"/>
          </a:p>
        </p:txBody>
      </p:sp>
      <p:sp>
        <p:nvSpPr>
          <p:cNvPr id="10" name="Text 8"/>
          <p:cNvSpPr txBox="1"/>
          <p:nvPr/>
        </p:nvSpPr>
        <p:spPr>
          <a:xfrm>
            <a:off x="640080" y="4370832"/>
            <a:ext cx="10881360" cy="274320"/>
          </a:xfrm>
          <a:prstGeom prst="rect">
            <a:avLst/>
          </a:prstGeom>
          <a:noFill/>
          <a:ln/>
        </p:spPr>
        <p:txBody>
          <a:bodyPr wrap="square" lIns="0" tIns="0" rIns="0" bIns="0" rtlCol="0" anchor="ctr"/>
          <a:lstStyle/>
          <a:p>
            <a:pPr marL="0" indent="0">
              <a:buNone/>
            </a:pPr>
            <a:r>
              <a:rPr lang="en-US" sz="1100" b="1" kern="0" spc="140" dirty="0">
                <a:solidFill>
                  <a:srgbClr val="A79CEB"/>
                </a:solidFill>
                <a:latin typeface="Calibri" pitchFamily="34" charset="0"/>
                <a:ea typeface="Calibri" pitchFamily="34" charset="-122"/>
                <a:cs typeface="Calibri" pitchFamily="34" charset="-120"/>
              </a:rPr>
              <a:t>FOR NEXT WEEK — ADJUST TO YOUR SYLLABUS</a:t>
            </a:r>
            <a:endParaRPr lang="en-US" sz="1100" dirty="0"/>
          </a:p>
        </p:txBody>
      </p:sp>
      <p:sp>
        <p:nvSpPr>
          <p:cNvPr id="11" name="Shape 9"/>
          <p:cNvSpPr/>
          <p:nvPr/>
        </p:nvSpPr>
        <p:spPr>
          <a:xfrm>
            <a:off x="685800" y="4818888"/>
            <a:ext cx="91440" cy="91440"/>
          </a:xfrm>
          <a:prstGeom prst="ellipse">
            <a:avLst/>
          </a:prstGeom>
          <a:solidFill>
            <a:srgbClr val="6FD3AF"/>
          </a:solidFill>
          <a:ln/>
        </p:spPr>
        <p:txBody>
          <a:bodyPr/>
          <a:lstStyle/>
          <a:p>
            <a:endParaRPr lang="en-US"/>
          </a:p>
        </p:txBody>
      </p:sp>
      <p:sp>
        <p:nvSpPr>
          <p:cNvPr id="12" name="Text 10"/>
          <p:cNvSpPr txBox="1"/>
          <p:nvPr/>
        </p:nvSpPr>
        <p:spPr>
          <a:xfrm>
            <a:off x="932688" y="4736592"/>
            <a:ext cx="10424160" cy="274320"/>
          </a:xfrm>
          <a:prstGeom prst="rect">
            <a:avLst/>
          </a:prstGeom>
          <a:noFill/>
          <a:ln/>
        </p:spPr>
        <p:txBody>
          <a:bodyPr wrap="square" lIns="0" tIns="0" rIns="0" bIns="0" rtlCol="0" anchor="ctr"/>
          <a:lstStyle/>
          <a:p>
            <a:pPr marL="0" indent="0">
              <a:buNone/>
            </a:pPr>
            <a:r>
              <a:rPr lang="en-US" sz="1300" dirty="0">
                <a:solidFill>
                  <a:srgbClr val="F1F3F6"/>
                </a:solidFill>
                <a:latin typeface="Calibri" pitchFamily="34" charset="0"/>
                <a:ea typeface="Calibri" pitchFamily="34" charset="-122"/>
                <a:cs typeface="Calibri" pitchFamily="34" charset="-120"/>
              </a:rPr>
              <a:t>Bring one paragraph from a review of any of this week’s texts that reads the rules rather than the story</a:t>
            </a:r>
            <a:endParaRPr lang="en-US" sz="1300" dirty="0"/>
          </a:p>
        </p:txBody>
      </p:sp>
      <p:sp>
        <p:nvSpPr>
          <p:cNvPr id="13" name="Shape 11"/>
          <p:cNvSpPr/>
          <p:nvPr/>
        </p:nvSpPr>
        <p:spPr>
          <a:xfrm>
            <a:off x="685800" y="5184648"/>
            <a:ext cx="91440" cy="91440"/>
          </a:xfrm>
          <a:prstGeom prst="ellipse">
            <a:avLst/>
          </a:prstGeom>
          <a:solidFill>
            <a:srgbClr val="6FD3AF"/>
          </a:solidFill>
          <a:ln/>
        </p:spPr>
        <p:txBody>
          <a:bodyPr/>
          <a:lstStyle/>
          <a:p>
            <a:endParaRPr lang="en-US"/>
          </a:p>
        </p:txBody>
      </p:sp>
      <p:sp>
        <p:nvSpPr>
          <p:cNvPr id="14" name="Text 12"/>
          <p:cNvSpPr txBox="1"/>
          <p:nvPr/>
        </p:nvSpPr>
        <p:spPr>
          <a:xfrm>
            <a:off x="932688" y="5102352"/>
            <a:ext cx="10424160" cy="274320"/>
          </a:xfrm>
          <a:prstGeom prst="rect">
            <a:avLst/>
          </a:prstGeom>
          <a:noFill/>
          <a:ln/>
        </p:spPr>
        <p:txBody>
          <a:bodyPr wrap="square" lIns="0" tIns="0" rIns="0" bIns="0" rtlCol="0" anchor="ctr"/>
          <a:lstStyle/>
          <a:p>
            <a:pPr marL="0" indent="0">
              <a:buNone/>
            </a:pPr>
            <a:r>
              <a:rPr lang="en-US" sz="1300" dirty="0">
                <a:solidFill>
                  <a:srgbClr val="F1F3F6"/>
                </a:solidFill>
                <a:latin typeface="Calibri" pitchFamily="34" charset="0"/>
                <a:ea typeface="Calibri" pitchFamily="34" charset="-122"/>
                <a:cs typeface="Calibri" pitchFamily="34" charset="-120"/>
              </a:rPr>
              <a:t>Optional pairing if you want the other side of the method debate: Sicart, “Against Procedurality,” Game Studies 11.3 (2011)</a:t>
            </a:r>
            <a:endParaRPr lang="en-US" sz="1300" dirty="0"/>
          </a:p>
        </p:txBody>
      </p:sp>
      <p:sp>
        <p:nvSpPr>
          <p:cNvPr id="15" name="Shape 13"/>
          <p:cNvSpPr/>
          <p:nvPr/>
        </p:nvSpPr>
        <p:spPr>
          <a:xfrm>
            <a:off x="685800" y="5550408"/>
            <a:ext cx="91440" cy="91440"/>
          </a:xfrm>
          <a:prstGeom prst="ellipse">
            <a:avLst/>
          </a:prstGeom>
          <a:solidFill>
            <a:srgbClr val="6FD3AF"/>
          </a:solidFill>
          <a:ln/>
        </p:spPr>
        <p:txBody>
          <a:bodyPr/>
          <a:lstStyle/>
          <a:p>
            <a:endParaRPr lang="en-US"/>
          </a:p>
        </p:txBody>
      </p:sp>
      <p:sp>
        <p:nvSpPr>
          <p:cNvPr id="16" name="Text 14"/>
          <p:cNvSpPr txBox="1"/>
          <p:nvPr/>
        </p:nvSpPr>
        <p:spPr>
          <a:xfrm>
            <a:off x="932688" y="5468112"/>
            <a:ext cx="10424160" cy="274320"/>
          </a:xfrm>
          <a:prstGeom prst="rect">
            <a:avLst/>
          </a:prstGeom>
          <a:noFill/>
          <a:ln/>
        </p:spPr>
        <p:txBody>
          <a:bodyPr wrap="square" lIns="0" tIns="0" rIns="0" bIns="0" rtlCol="0" anchor="ctr"/>
          <a:lstStyle/>
          <a:p>
            <a:pPr marL="0" indent="0">
              <a:buNone/>
            </a:pPr>
            <a:r>
              <a:rPr lang="en-US" sz="1300" dirty="0">
                <a:solidFill>
                  <a:srgbClr val="F1F3F6"/>
                </a:solidFill>
                <a:latin typeface="Calibri" pitchFamily="34" charset="0"/>
                <a:ea typeface="Calibri" pitchFamily="34" charset="-122"/>
                <a:cs typeface="Calibri" pitchFamily="34" charset="-120"/>
              </a:rPr>
              <a:t>Come with one text of your own choosing that makes you responsible for a performance — it does not have to be a game</a:t>
            </a:r>
            <a:endParaRPr lang="en-US" sz="1300" dirty="0"/>
          </a:p>
        </p:txBody>
      </p:sp>
      <p:sp>
        <p:nvSpPr>
          <p:cNvPr id="17" name="Text 15"/>
          <p:cNvSpPr txBox="1"/>
          <p:nvPr/>
        </p:nvSpPr>
        <p:spPr>
          <a:xfrm>
            <a:off x="640080" y="6291072"/>
            <a:ext cx="10881360" cy="274320"/>
          </a:xfrm>
          <a:prstGeom prst="rect">
            <a:avLst/>
          </a:prstGeom>
          <a:noFill/>
          <a:ln/>
        </p:spPr>
        <p:txBody>
          <a:bodyPr wrap="square" lIns="0" tIns="0" rIns="0" bIns="0" rtlCol="0" anchor="ctr"/>
          <a:lstStyle/>
          <a:p>
            <a:pPr marL="0" indent="0">
              <a:buNone/>
            </a:pPr>
            <a:r>
              <a:rPr lang="en-US" sz="1000" i="1" dirty="0">
                <a:solidFill>
                  <a:srgbClr val="596273"/>
                </a:solidFill>
                <a:latin typeface="Calibri" pitchFamily="34" charset="0"/>
                <a:ea typeface="Calibri" pitchFamily="34" charset="-122"/>
                <a:cs typeface="Calibri" pitchFamily="34" charset="-120"/>
              </a:rPr>
              <a:t>Method text: Ian Bogost, “The Rhetoric of Video Games,” in The Ecology of Games, ed. Katie Salen (Cambridge, MA: MIT Press, 2008), 117–140.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7950</Words>
  <Application>Microsoft Macintosh PowerPoint</Application>
  <PresentationFormat>Widescreen</PresentationFormat>
  <Paragraphs>464</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Simulation and Synthetic Personhood</dc:title>
  <dc:subject>PptxGenJS Presentation</dc:subject>
  <dc:creator>Course materials</dc:creator>
  <cp:lastModifiedBy>Gao, Ashley</cp:lastModifiedBy>
  <cp:revision>11</cp:revision>
  <dcterms:created xsi:type="dcterms:W3CDTF">2026-09-04T16:17:29Z</dcterms:created>
  <dcterms:modified xsi:type="dcterms:W3CDTF">2026-09-08T16:01:52Z</dcterms:modified>
</cp:coreProperties>
</file>