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9" d="100"/>
          <a:sy n="119"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9793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honors thesis by a real undergraduate, and it is a good one — which is exactly why it is worth an hour. Weak work teaches nothing, because the faults are obvious and uninteresting. Competent work with structural problems teaches a great deal, because the problems are the ones the students in this room are about to make in their own final papers. Decide before you begin whether you are naming the author; the deck is written so that you do not have 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card sets the tone and it is worth reading aloud. Critique sessions fail in one of two directions: students are too polite to say anything, or they perform severity. Naming both failure modes in advance prevents most of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coincidence with the syllabus as genuinely useful rather than cute: the room already knows both primary texts well, so nobody has to take the summary on trust and everybody can check the readings against their own.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dotted-versus-solid-line observation is the best sentence in the thesis and students should be told so. It is also the lever for the whole critique: the essay demonstrates that it can produce checkable claims about objects, which makes the unfalsifiable claims elsewhere a choice rather than an incapacity.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Twenty-six minutes, so roughly four each. Keep the order — leading with the chronology error would make the session feel like a gotcha, and leading with the circularity makes it feel like an analysis.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the diagnostic question directly: what finding, in either text, would have falsified this? A minute of silence usually produces the answer that none would. Then make the general point — an interpretation that no evidence could disturb is not an interpretation, it is a template.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without relish. The point is not that the student got a date wrong; it is that a single unchecked premise, inherited from one secondary source and never tested against a second, silently determined the shape of half the essay. That is the ordinary way arguments fail, and it is preventable by one afternoon in the library.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two minutes to find their own counterexample before showing the Actaeon card. They have read the Ovid unit and several will produce Actaeon or Io unprompted, which makes the point self-administered.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transferable lesson in the session: the essay reaches for a grand philosophical warrant when it already had a better empirical one two paragraphs away. Undergraduate writing does this constantly, usually out of anxiety that description is not enough.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Undergraduates over-claim because they believe a thesis has to be grand to be worth writing. The most useful thing you can tell this room is that the opposite is true: the narrower the claim, the more the evidence can actually carry it, and the more it will be believed.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ninety seconds on the small column, no more. Its function is to model that housekeeping goes last and gets less time — students who lead with typos in peer review are usually avoiding the harder work, and watching the order here teaches that better than telling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be generous and specific at once. The student found something genuinely their own and did not recognise it, because it appeared at the point where they were writing a conclusion rather than an argument. Ask the room how they would know, in their own drafts, that the last two pages contained the thesis.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critique here rather than on the problems. A revision plan converts an hour of objection into something the room can imitate, and the observation that most of it is cutting is the single most useful thing an undergraduate can hear about revision.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last line and stop. Students leave a critique session either energised or deflated depending almost entirely on the final thirty seconds, and the thing to leave them with is that being taken apart at this length is a compliment nobody pays to bad 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B1A"/>
        </a:solidFill>
        <a:effectLst/>
      </p:bgPr>
    </p:bg>
    <p:spTree>
      <p:nvGrpSpPr>
        <p:cNvPr id="1" name=""/>
        <p:cNvGrpSpPr/>
        <p:nvPr/>
      </p:nvGrpSpPr>
      <p:grpSpPr>
        <a:xfrm>
          <a:off x="0" y="0"/>
          <a:ext cx="0" cy="0"/>
          <a:chOff x="0" y="0"/>
          <a:chExt cx="0" cy="0"/>
        </a:xfrm>
      </p:grpSpPr>
      <p:sp>
        <p:nvSpPr>
          <p:cNvPr id="2" name="Shape 0"/>
          <p:cNvSpPr/>
          <p:nvPr/>
        </p:nvSpPr>
        <p:spPr>
          <a:xfrm>
            <a:off x="8503920" y="1645920"/>
            <a:ext cx="2926080" cy="3108960"/>
          </a:xfrm>
          <a:prstGeom prst="rect">
            <a:avLst/>
          </a:prstGeom>
          <a:solidFill>
            <a:srgbClr val="F2F0EB"/>
          </a:solidFill>
          <a:ln/>
        </p:spPr>
        <p:txBody>
          <a:bodyPr/>
          <a:lstStyle/>
          <a:p>
            <a:endParaRPr lang="en-US"/>
          </a:p>
        </p:txBody>
      </p:sp>
      <p:sp>
        <p:nvSpPr>
          <p:cNvPr id="3" name="Shape 1"/>
          <p:cNvSpPr/>
          <p:nvPr/>
        </p:nvSpPr>
        <p:spPr>
          <a:xfrm>
            <a:off x="8778240" y="1965960"/>
            <a:ext cx="2377440" cy="54864"/>
          </a:xfrm>
          <a:prstGeom prst="rect">
            <a:avLst/>
          </a:prstGeom>
          <a:solidFill>
            <a:srgbClr val="C9C6BE"/>
          </a:solidFill>
          <a:ln/>
        </p:spPr>
        <p:txBody>
          <a:bodyPr/>
          <a:lstStyle/>
          <a:p>
            <a:endParaRPr lang="en-US"/>
          </a:p>
        </p:txBody>
      </p:sp>
      <p:sp>
        <p:nvSpPr>
          <p:cNvPr id="4" name="Shape 2"/>
          <p:cNvSpPr/>
          <p:nvPr/>
        </p:nvSpPr>
        <p:spPr>
          <a:xfrm>
            <a:off x="8778240" y="2331720"/>
            <a:ext cx="2377440" cy="54864"/>
          </a:xfrm>
          <a:prstGeom prst="rect">
            <a:avLst/>
          </a:prstGeom>
          <a:solidFill>
            <a:srgbClr val="C9C6BE"/>
          </a:solidFill>
          <a:ln/>
        </p:spPr>
        <p:txBody>
          <a:bodyPr/>
          <a:lstStyle/>
          <a:p>
            <a:endParaRPr lang="en-US"/>
          </a:p>
        </p:txBody>
      </p:sp>
      <p:sp>
        <p:nvSpPr>
          <p:cNvPr id="5" name="Shape 3"/>
          <p:cNvSpPr/>
          <p:nvPr/>
        </p:nvSpPr>
        <p:spPr>
          <a:xfrm>
            <a:off x="8778240" y="2697480"/>
            <a:ext cx="1737360" cy="54864"/>
          </a:xfrm>
          <a:prstGeom prst="rect">
            <a:avLst/>
          </a:prstGeom>
          <a:solidFill>
            <a:srgbClr val="C9C6BE"/>
          </a:solidFill>
          <a:ln/>
        </p:spPr>
        <p:txBody>
          <a:bodyPr/>
          <a:lstStyle/>
          <a:p>
            <a:endParaRPr lang="en-US"/>
          </a:p>
        </p:txBody>
      </p:sp>
      <p:sp>
        <p:nvSpPr>
          <p:cNvPr id="6" name="Shape 4"/>
          <p:cNvSpPr/>
          <p:nvPr/>
        </p:nvSpPr>
        <p:spPr>
          <a:xfrm>
            <a:off x="8778240" y="3063240"/>
            <a:ext cx="2377440" cy="54864"/>
          </a:xfrm>
          <a:prstGeom prst="rect">
            <a:avLst/>
          </a:prstGeom>
          <a:solidFill>
            <a:srgbClr val="C9C6BE"/>
          </a:solidFill>
          <a:ln/>
        </p:spPr>
        <p:txBody>
          <a:bodyPr/>
          <a:lstStyle/>
          <a:p>
            <a:endParaRPr lang="en-US"/>
          </a:p>
        </p:txBody>
      </p:sp>
      <p:sp>
        <p:nvSpPr>
          <p:cNvPr id="7" name="Shape 5"/>
          <p:cNvSpPr/>
          <p:nvPr/>
        </p:nvSpPr>
        <p:spPr>
          <a:xfrm>
            <a:off x="8778240" y="3429000"/>
            <a:ext cx="2377440" cy="54864"/>
          </a:xfrm>
          <a:prstGeom prst="rect">
            <a:avLst/>
          </a:prstGeom>
          <a:solidFill>
            <a:srgbClr val="C9C6BE"/>
          </a:solidFill>
          <a:ln/>
        </p:spPr>
        <p:txBody>
          <a:bodyPr/>
          <a:lstStyle/>
          <a:p>
            <a:endParaRPr lang="en-US"/>
          </a:p>
        </p:txBody>
      </p:sp>
      <p:sp>
        <p:nvSpPr>
          <p:cNvPr id="8" name="Shape 6"/>
          <p:cNvSpPr/>
          <p:nvPr/>
        </p:nvSpPr>
        <p:spPr>
          <a:xfrm>
            <a:off x="8778240" y="3794760"/>
            <a:ext cx="1737360" cy="54864"/>
          </a:xfrm>
          <a:prstGeom prst="rect">
            <a:avLst/>
          </a:prstGeom>
          <a:solidFill>
            <a:srgbClr val="C9C6BE"/>
          </a:solidFill>
          <a:ln/>
        </p:spPr>
        <p:txBody>
          <a:bodyPr/>
          <a:lstStyle/>
          <a:p>
            <a:endParaRPr lang="en-US"/>
          </a:p>
        </p:txBody>
      </p:sp>
      <p:sp>
        <p:nvSpPr>
          <p:cNvPr id="9" name="Shape 7"/>
          <p:cNvSpPr/>
          <p:nvPr/>
        </p:nvSpPr>
        <p:spPr>
          <a:xfrm>
            <a:off x="8778240" y="4160520"/>
            <a:ext cx="2377440" cy="54864"/>
          </a:xfrm>
          <a:prstGeom prst="rect">
            <a:avLst/>
          </a:prstGeom>
          <a:solidFill>
            <a:srgbClr val="C9C6BE"/>
          </a:solidFill>
          <a:ln/>
        </p:spPr>
        <p:txBody>
          <a:bodyPr/>
          <a:lstStyle/>
          <a:p>
            <a:endParaRPr lang="en-US"/>
          </a:p>
        </p:txBody>
      </p:sp>
      <p:sp>
        <p:nvSpPr>
          <p:cNvPr id="10" name="Shape 8"/>
          <p:cNvSpPr/>
          <p:nvPr/>
        </p:nvSpPr>
        <p:spPr>
          <a:xfrm>
            <a:off x="8705088" y="2231136"/>
            <a:ext cx="2560320" cy="82296"/>
          </a:xfrm>
          <a:prstGeom prst="rect">
            <a:avLst/>
          </a:prstGeom>
          <a:solidFill>
            <a:srgbClr val="A93B2C">
              <a:alpha val="80000"/>
            </a:srgbClr>
          </a:solidFill>
          <a:ln/>
        </p:spPr>
        <p:txBody>
          <a:bodyPr/>
          <a:lstStyle/>
          <a:p>
            <a:endParaRPr lang="en-US"/>
          </a:p>
        </p:txBody>
      </p:sp>
      <p:sp>
        <p:nvSpPr>
          <p:cNvPr id="11" name="Shape 9"/>
          <p:cNvSpPr/>
          <p:nvPr/>
        </p:nvSpPr>
        <p:spPr>
          <a:xfrm>
            <a:off x="8705088" y="3328416"/>
            <a:ext cx="1920240" cy="82296"/>
          </a:xfrm>
          <a:prstGeom prst="rect">
            <a:avLst/>
          </a:prstGeom>
          <a:solidFill>
            <a:srgbClr val="A93B2C">
              <a:alpha val="80000"/>
            </a:srgbClr>
          </a:solidFill>
          <a:ln/>
        </p:spPr>
        <p:txBody>
          <a:bodyPr/>
          <a:lstStyle/>
          <a:p>
            <a:endParaRPr lang="en-US"/>
          </a:p>
        </p:txBody>
      </p:sp>
      <p:sp>
        <p:nvSpPr>
          <p:cNvPr id="12" name="Shape 10"/>
          <p:cNvSpPr/>
          <p:nvPr/>
        </p:nvSpPr>
        <p:spPr>
          <a:xfrm>
            <a:off x="10972800" y="3063240"/>
            <a:ext cx="329184" cy="329184"/>
          </a:xfrm>
          <a:prstGeom prst="ellipse">
            <a:avLst/>
          </a:prstGeom>
          <a:solidFill>
            <a:srgbClr val="A93B2C"/>
          </a:solidFill>
          <a:ln/>
        </p:spPr>
        <p:txBody>
          <a:bodyPr/>
          <a:lstStyle/>
          <a:p>
            <a:endParaRPr lang="en-US"/>
          </a:p>
        </p:txBody>
      </p:sp>
      <p:sp>
        <p:nvSpPr>
          <p:cNvPr id="13" name="Text 11"/>
          <p:cNvSpPr txBox="1"/>
          <p:nvPr/>
        </p:nvSpPr>
        <p:spPr>
          <a:xfrm>
            <a:off x="10972800" y="3063240"/>
            <a:ext cx="329184" cy="32918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4" name="Text 12"/>
          <p:cNvSpPr txBox="1"/>
          <p:nvPr/>
        </p:nvSpPr>
        <p:spPr>
          <a:xfrm>
            <a:off x="640080" y="1600200"/>
            <a:ext cx="7315200" cy="292608"/>
          </a:xfrm>
          <a:prstGeom prst="rect">
            <a:avLst/>
          </a:prstGeom>
          <a:noFill/>
          <a:ln/>
        </p:spPr>
        <p:txBody>
          <a:bodyPr wrap="square" lIns="0" tIns="0" rIns="0" bIns="0" rtlCol="0" anchor="ctr"/>
          <a:lstStyle/>
          <a:p>
            <a:pPr marL="0" indent="0">
              <a:buNone/>
            </a:pPr>
            <a:r>
              <a:rPr lang="en-US" sz="1200" b="1" kern="0" spc="180" dirty="0">
                <a:solidFill>
                  <a:srgbClr val="D99A90"/>
                </a:solidFill>
                <a:latin typeface="Calibri" pitchFamily="34" charset="0"/>
                <a:ea typeface="Calibri" pitchFamily="34" charset="-122"/>
                <a:cs typeface="Calibri" pitchFamily="34" charset="-120"/>
              </a:rPr>
              <a:t>AI IN SPECULATIVE MEDIA AND LITERATURES · CRITIQUE WORKSHOP</a:t>
            </a:r>
            <a:endParaRPr lang="en-US" sz="1200" dirty="0"/>
          </a:p>
        </p:txBody>
      </p:sp>
      <p:sp>
        <p:nvSpPr>
          <p:cNvPr id="15" name="Text 13"/>
          <p:cNvSpPr txBox="1"/>
          <p:nvPr/>
        </p:nvSpPr>
        <p:spPr>
          <a:xfrm>
            <a:off x="640080" y="2011680"/>
            <a:ext cx="7315200" cy="777240"/>
          </a:xfrm>
          <a:prstGeom prst="rect">
            <a:avLst/>
          </a:prstGeom>
          <a:noFill/>
          <a:ln/>
        </p:spPr>
        <p:txBody>
          <a:bodyPr wrap="square" lIns="0" tIns="0" rIns="0" bIns="0" rtlCol="0" anchor="ctr"/>
          <a:lstStyle/>
          <a:p>
            <a:pPr marL="0" indent="0">
              <a:buNone/>
            </a:pPr>
            <a:r>
              <a:rPr lang="en-US" sz="4400" b="1" dirty="0">
                <a:solidFill>
                  <a:srgbClr val="F2F0EB"/>
                </a:solidFill>
                <a:latin typeface="Cambria" pitchFamily="34" charset="0"/>
              </a:rPr>
              <a:t>Essay Workshop</a:t>
            </a:r>
            <a:endParaRPr lang="en-US" sz="4400" dirty="0"/>
          </a:p>
        </p:txBody>
      </p:sp>
      <p:sp>
        <p:nvSpPr>
          <p:cNvPr id="16" name="Text 14"/>
          <p:cNvSpPr txBox="1"/>
          <p:nvPr/>
        </p:nvSpPr>
        <p:spPr>
          <a:xfrm>
            <a:off x="640080" y="2880360"/>
            <a:ext cx="7315200" cy="411480"/>
          </a:xfrm>
          <a:prstGeom prst="rect">
            <a:avLst/>
          </a:prstGeom>
          <a:noFill/>
          <a:ln/>
        </p:spPr>
        <p:txBody>
          <a:bodyPr wrap="square" lIns="0" tIns="0" rIns="0" bIns="0" rtlCol="0" anchor="ctr"/>
          <a:lstStyle/>
          <a:p>
            <a:pPr marL="0" indent="0">
              <a:buNone/>
            </a:pPr>
            <a:r>
              <a:rPr lang="en-US" sz="1900" i="1" dirty="0">
                <a:solidFill>
                  <a:srgbClr val="FFFFFF"/>
                </a:solidFill>
                <a:latin typeface="Cambria" pitchFamily="34" charset="0"/>
                <a:ea typeface="Cambria" pitchFamily="34" charset="-122"/>
                <a:cs typeface="Cambria" pitchFamily="34" charset="-120"/>
              </a:rPr>
              <a:t>Ovid, Sekien, and the Motif of Transformation</a:t>
            </a:r>
            <a:endParaRPr lang="en-US" sz="1900" dirty="0"/>
          </a:p>
        </p:txBody>
      </p:sp>
      <p:sp>
        <p:nvSpPr>
          <p:cNvPr id="17" name="Shape 15"/>
          <p:cNvSpPr/>
          <p:nvPr/>
        </p:nvSpPr>
        <p:spPr>
          <a:xfrm>
            <a:off x="640080" y="3520440"/>
            <a:ext cx="2834640" cy="18288"/>
          </a:xfrm>
          <a:prstGeom prst="rect">
            <a:avLst/>
          </a:prstGeom>
          <a:solidFill>
            <a:srgbClr val="A93B2C"/>
          </a:solidFill>
          <a:ln/>
        </p:spPr>
        <p:txBody>
          <a:bodyPr/>
          <a:lstStyle/>
          <a:p>
            <a:endParaRPr lang="en-US"/>
          </a:p>
        </p:txBody>
      </p:sp>
      <p:sp>
        <p:nvSpPr>
          <p:cNvPr id="18" name="Text 16"/>
          <p:cNvSpPr txBox="1"/>
          <p:nvPr/>
        </p:nvSpPr>
        <p:spPr>
          <a:xfrm>
            <a:off x="640080" y="3840480"/>
            <a:ext cx="7315200" cy="1188720"/>
          </a:xfrm>
          <a:prstGeom prst="rect">
            <a:avLst/>
          </a:prstGeom>
          <a:noFill/>
          <a:ln/>
        </p:spPr>
        <p:txBody>
          <a:bodyPr wrap="square" lIns="0" tIns="0" rIns="0" bIns="0" rtlCol="0" anchor="ctr"/>
          <a:lstStyle/>
          <a:p>
            <a:pPr marL="0" indent="0">
              <a:lnSpc>
                <a:spcPts val="2200"/>
              </a:lnSpc>
              <a:buNone/>
            </a:pPr>
            <a:r>
              <a:rPr lang="en-US" sz="1300" dirty="0">
                <a:solidFill>
                  <a:srgbClr val="F2F0EB"/>
                </a:solidFill>
                <a:latin typeface="Calibri" pitchFamily="34" charset="0"/>
                <a:ea typeface="Calibri" pitchFamily="34" charset="-122"/>
                <a:cs typeface="Calibri" pitchFamily="34" charset="-120"/>
              </a:rPr>
              <a:t>An undergraduate honors thesis — 28 pages, comparative, on two texts this course has already taught</a:t>
            </a:r>
            <a:endParaRPr lang="en-US" sz="1300" dirty="0"/>
          </a:p>
          <a:p>
            <a:pPr marL="0" indent="0">
              <a:lnSpc>
                <a:spcPts val="2200"/>
              </a:lnSpc>
              <a:buNone/>
            </a:pPr>
            <a:r>
              <a:rPr lang="en-US" sz="1300" dirty="0">
                <a:solidFill>
                  <a:srgbClr val="F2F0EB"/>
                </a:solidFill>
                <a:latin typeface="Calibri" pitchFamily="34" charset="0"/>
                <a:ea typeface="Calibri" pitchFamily="34" charset="-122"/>
                <a:cs typeface="Calibri" pitchFamily="34" charset="-120"/>
              </a:rPr>
              <a:t>Session: Reconstruct, credit, critique, revise.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GROUND RULES</a:t>
            </a:r>
            <a:endParaRPr lang="en-US" sz="1100" dirty="0"/>
          </a:p>
        </p:txBody>
      </p:sp>
      <p:sp>
        <p:nvSpPr>
          <p:cNvPr id="4" name="Text 2"/>
          <p:cNvSpPr txBox="1"/>
          <p:nvPr/>
        </p:nvSpPr>
        <p:spPr>
          <a:xfrm>
            <a:off x="619984"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How to take an argument apart</a:t>
            </a:r>
            <a:endParaRPr lang="en-US" sz="2900" dirty="0"/>
          </a:p>
        </p:txBody>
      </p:sp>
      <p:sp>
        <p:nvSpPr>
          <p:cNvPr id="5" name="Shape 3"/>
          <p:cNvSpPr/>
          <p:nvPr/>
        </p:nvSpPr>
        <p:spPr>
          <a:xfrm>
            <a:off x="640080" y="1325880"/>
            <a:ext cx="3454298" cy="2377440"/>
          </a:xfrm>
          <a:prstGeom prst="roundRect">
            <a:avLst>
              <a:gd name="adj" fmla="val 3077"/>
            </a:avLst>
          </a:prstGeom>
          <a:solidFill>
            <a:srgbClr val="E9EFF6"/>
          </a:solidFill>
          <a:ln w="12700">
            <a:solidFill>
              <a:srgbClr val="E9EFF6"/>
            </a:solidFill>
            <a:prstDash val="solid"/>
          </a:ln>
        </p:spPr>
        <p:txBody>
          <a:bodyPr/>
          <a:lstStyle/>
          <a:p>
            <a:endParaRPr lang="en-US"/>
          </a:p>
        </p:txBody>
      </p:sp>
      <p:sp>
        <p:nvSpPr>
          <p:cNvPr id="6" name="Text 4"/>
          <p:cNvSpPr txBox="1"/>
          <p:nvPr/>
        </p:nvSpPr>
        <p:spPr>
          <a:xfrm>
            <a:off x="914400" y="150876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C1B1A"/>
                </a:solidFill>
                <a:latin typeface="Cambria" pitchFamily="34" charset="0"/>
                <a:ea typeface="Cambria" pitchFamily="34" charset="-122"/>
                <a:cs typeface="Cambria" pitchFamily="34" charset="-120"/>
              </a:rPr>
              <a:t>Steelman before you strike</a:t>
            </a:r>
            <a:endParaRPr lang="en-US" sz="1600" dirty="0"/>
          </a:p>
        </p:txBody>
      </p:sp>
      <p:sp>
        <p:nvSpPr>
          <p:cNvPr id="7" name="Text 5"/>
          <p:cNvSpPr txBox="1"/>
          <p:nvPr/>
        </p:nvSpPr>
        <p:spPr>
          <a:xfrm>
            <a:off x="914400" y="2148840"/>
            <a:ext cx="2905658" cy="1335024"/>
          </a:xfrm>
          <a:prstGeom prst="rect">
            <a:avLst/>
          </a:prstGeom>
          <a:noFill/>
          <a:ln/>
        </p:spPr>
        <p:txBody>
          <a:bodyPr wrap="square" lIns="0" tIns="0" rIns="0" bIns="0" rtlCol="0" anchor="ctr"/>
          <a:lstStyle/>
          <a:p>
            <a:pPr marL="0" indent="0">
              <a:lnSpc>
                <a:spcPts val="1600"/>
              </a:lnSpc>
              <a:buNone/>
            </a:pPr>
            <a:r>
              <a:rPr lang="en-US" sz="1600" dirty="0">
                <a:solidFill>
                  <a:srgbClr val="6B6862"/>
                </a:solidFill>
                <a:latin typeface="Calibri" pitchFamily="34" charset="0"/>
                <a:ea typeface="Calibri" pitchFamily="34" charset="-122"/>
                <a:cs typeface="Calibri" pitchFamily="34" charset="-120"/>
              </a:rPr>
              <a:t>State the argument in a form its author would accept, and ideally in a form slightly stronger than they managed. </a:t>
            </a:r>
            <a:endParaRPr lang="en-US" sz="1600" dirty="0"/>
          </a:p>
        </p:txBody>
      </p:sp>
      <p:sp>
        <p:nvSpPr>
          <p:cNvPr id="8" name="Shape 6"/>
          <p:cNvSpPr/>
          <p:nvPr/>
        </p:nvSpPr>
        <p:spPr>
          <a:xfrm>
            <a:off x="4368698" y="1325880"/>
            <a:ext cx="3454298" cy="2377440"/>
          </a:xfrm>
          <a:prstGeom prst="roundRect">
            <a:avLst>
              <a:gd name="adj" fmla="val 3077"/>
            </a:avLst>
          </a:prstGeom>
          <a:solidFill>
            <a:srgbClr val="F8EBE8"/>
          </a:solidFill>
          <a:ln w="12700">
            <a:solidFill>
              <a:srgbClr val="F8EBE8"/>
            </a:solidFill>
            <a:prstDash val="solid"/>
          </a:ln>
        </p:spPr>
        <p:txBody>
          <a:bodyPr/>
          <a:lstStyle/>
          <a:p>
            <a:endParaRPr lang="en-US"/>
          </a:p>
        </p:txBody>
      </p:sp>
      <p:sp>
        <p:nvSpPr>
          <p:cNvPr id="9" name="Text 7"/>
          <p:cNvSpPr txBox="1"/>
          <p:nvPr/>
        </p:nvSpPr>
        <p:spPr>
          <a:xfrm>
            <a:off x="4643018" y="150876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C1B1A"/>
                </a:solidFill>
                <a:latin typeface="Cambria" pitchFamily="34" charset="0"/>
                <a:ea typeface="Cambria" pitchFamily="34" charset="-122"/>
                <a:cs typeface="Cambria" pitchFamily="34" charset="-120"/>
              </a:rPr>
              <a:t>Attack the load-bearing wall</a:t>
            </a:r>
            <a:endParaRPr lang="en-US" sz="1600" dirty="0"/>
          </a:p>
        </p:txBody>
      </p:sp>
      <p:sp>
        <p:nvSpPr>
          <p:cNvPr id="10" name="Text 8"/>
          <p:cNvSpPr txBox="1"/>
          <p:nvPr/>
        </p:nvSpPr>
        <p:spPr>
          <a:xfrm>
            <a:off x="4643018" y="2148840"/>
            <a:ext cx="2905658" cy="1335024"/>
          </a:xfrm>
          <a:prstGeom prst="rect">
            <a:avLst/>
          </a:prstGeom>
          <a:noFill/>
          <a:ln/>
        </p:spPr>
        <p:txBody>
          <a:bodyPr wrap="square" lIns="0" tIns="0" rIns="0" bIns="0" rtlCol="0" anchor="ctr"/>
          <a:lstStyle/>
          <a:p>
            <a:pPr marL="0" indent="0">
              <a:lnSpc>
                <a:spcPts val="1600"/>
              </a:lnSpc>
              <a:buNone/>
            </a:pPr>
            <a:r>
              <a:rPr lang="en-US" sz="1600" dirty="0">
                <a:solidFill>
                  <a:srgbClr val="6B6862"/>
                </a:solidFill>
                <a:latin typeface="Calibri" pitchFamily="34" charset="0"/>
                <a:ea typeface="Calibri" pitchFamily="34" charset="-122"/>
                <a:cs typeface="Calibri" pitchFamily="34" charset="-120"/>
              </a:rPr>
              <a:t>Typos and a misspelled name are worth thirty seconds at the end. The question that matters is: which single claim, if it failed, would bring the rest down? Find that, and test it first.</a:t>
            </a:r>
            <a:endParaRPr lang="en-US" sz="1600" dirty="0"/>
          </a:p>
        </p:txBody>
      </p:sp>
      <p:sp>
        <p:nvSpPr>
          <p:cNvPr id="11" name="Shape 9"/>
          <p:cNvSpPr/>
          <p:nvPr/>
        </p:nvSpPr>
        <p:spPr>
          <a:xfrm>
            <a:off x="8097317" y="1325880"/>
            <a:ext cx="3454298" cy="2377440"/>
          </a:xfrm>
          <a:prstGeom prst="roundRect">
            <a:avLst>
              <a:gd name="adj" fmla="val 3077"/>
            </a:avLst>
          </a:prstGeom>
          <a:solidFill>
            <a:srgbClr val="E9EFF6"/>
          </a:solidFill>
          <a:ln w="12700">
            <a:solidFill>
              <a:srgbClr val="E9EFF6"/>
            </a:solidFill>
            <a:prstDash val="solid"/>
          </a:ln>
        </p:spPr>
        <p:txBody>
          <a:bodyPr/>
          <a:lstStyle/>
          <a:p>
            <a:endParaRPr lang="en-US"/>
          </a:p>
        </p:txBody>
      </p:sp>
      <p:sp>
        <p:nvSpPr>
          <p:cNvPr id="12" name="Text 10"/>
          <p:cNvSpPr txBox="1"/>
          <p:nvPr/>
        </p:nvSpPr>
        <p:spPr>
          <a:xfrm>
            <a:off x="8371637" y="150876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C1B1A"/>
                </a:solidFill>
                <a:latin typeface="Cambria" pitchFamily="34" charset="0"/>
                <a:ea typeface="Cambria" pitchFamily="34" charset="-122"/>
                <a:cs typeface="Cambria" pitchFamily="34" charset="-120"/>
              </a:rPr>
              <a:t>Every objection owes a repair</a:t>
            </a:r>
            <a:endParaRPr lang="en-US" sz="1600" dirty="0"/>
          </a:p>
        </p:txBody>
      </p:sp>
      <p:sp>
        <p:nvSpPr>
          <p:cNvPr id="13" name="Text 11"/>
          <p:cNvSpPr txBox="1"/>
          <p:nvPr/>
        </p:nvSpPr>
        <p:spPr>
          <a:xfrm>
            <a:off x="8371637" y="2148840"/>
            <a:ext cx="2905658" cy="1335024"/>
          </a:xfrm>
          <a:prstGeom prst="rect">
            <a:avLst/>
          </a:prstGeom>
          <a:noFill/>
          <a:ln/>
        </p:spPr>
        <p:txBody>
          <a:bodyPr wrap="square" lIns="0" tIns="0" rIns="0" bIns="0" rtlCol="0" anchor="ctr"/>
          <a:lstStyle/>
          <a:p>
            <a:pPr marL="0" indent="0">
              <a:lnSpc>
                <a:spcPts val="1600"/>
              </a:lnSpc>
              <a:buNone/>
            </a:pPr>
            <a:r>
              <a:rPr lang="en-US" sz="1600" dirty="0">
                <a:solidFill>
                  <a:srgbClr val="6B6862"/>
                </a:solidFill>
                <a:latin typeface="Calibri" pitchFamily="34" charset="0"/>
                <a:ea typeface="Calibri" pitchFamily="34" charset="-122"/>
                <a:cs typeface="Calibri" pitchFamily="34" charset="-120"/>
              </a:rPr>
              <a:t>Naming a problem is easy and half a contribution. The other half is saying what the essay should have done instead.</a:t>
            </a:r>
            <a:endParaRPr lang="en-US" sz="1600" dirty="0"/>
          </a:p>
        </p:txBody>
      </p:sp>
      <p:sp>
        <p:nvSpPr>
          <p:cNvPr id="14" name="Shape 12"/>
          <p:cNvSpPr/>
          <p:nvPr/>
        </p:nvSpPr>
        <p:spPr>
          <a:xfrm>
            <a:off x="640080" y="3977640"/>
            <a:ext cx="10911535" cy="1783080"/>
          </a:xfrm>
          <a:prstGeom prst="roundRect">
            <a:avLst>
              <a:gd name="adj" fmla="val 4103"/>
            </a:avLst>
          </a:prstGeom>
          <a:solidFill>
            <a:srgbClr val="1C1B1A"/>
          </a:solidFill>
          <a:ln w="12700">
            <a:solidFill>
              <a:srgbClr val="1C1B1A"/>
            </a:solidFill>
            <a:prstDash val="solid"/>
          </a:ln>
        </p:spPr>
        <p:txBody>
          <a:bodyPr/>
          <a:lstStyle/>
          <a:p>
            <a:endParaRPr lang="en-US"/>
          </a:p>
        </p:txBody>
      </p:sp>
      <p:sp>
        <p:nvSpPr>
          <p:cNvPr id="15" name="Text 13"/>
          <p:cNvSpPr txBox="1"/>
          <p:nvPr/>
        </p:nvSpPr>
        <p:spPr>
          <a:xfrm>
            <a:off x="1005840" y="4142232"/>
            <a:ext cx="10424160" cy="274320"/>
          </a:xfrm>
          <a:prstGeom prst="rect">
            <a:avLst/>
          </a:prstGeom>
          <a:noFill/>
          <a:ln/>
        </p:spPr>
        <p:txBody>
          <a:bodyPr wrap="square" lIns="0" tIns="0" rIns="0" bIns="0" rtlCol="0" anchor="ctr"/>
          <a:lstStyle/>
          <a:p>
            <a:pPr marL="0" indent="0">
              <a:buNone/>
            </a:pPr>
            <a:r>
              <a:rPr lang="en-US" sz="2000" b="1" kern="0" spc="140" dirty="0">
                <a:solidFill>
                  <a:srgbClr val="D99A90"/>
                </a:solidFill>
                <a:latin typeface="Calibri" pitchFamily="34" charset="0"/>
                <a:ea typeface="Calibri" pitchFamily="34" charset="-122"/>
                <a:cs typeface="Calibri" pitchFamily="34" charset="-120"/>
              </a:rPr>
              <a:t>And one more, particular to today</a:t>
            </a:r>
            <a:endParaRPr lang="en-US" sz="2000" dirty="0"/>
          </a:p>
        </p:txBody>
      </p:sp>
      <p:sp>
        <p:nvSpPr>
          <p:cNvPr id="16" name="Text 14"/>
          <p:cNvSpPr txBox="1"/>
          <p:nvPr/>
        </p:nvSpPr>
        <p:spPr>
          <a:xfrm>
            <a:off x="1005840" y="4471416"/>
            <a:ext cx="10424160" cy="1124712"/>
          </a:xfrm>
          <a:prstGeom prst="rect">
            <a:avLst/>
          </a:prstGeom>
          <a:noFill/>
          <a:ln/>
        </p:spPr>
        <p:txBody>
          <a:bodyPr wrap="square" lIns="0" tIns="0" rIns="0" bIns="0" rtlCol="0" anchor="ctr"/>
          <a:lstStyle/>
          <a:p>
            <a:pPr marL="0" indent="0">
              <a:lnSpc>
                <a:spcPts val="2000"/>
              </a:lnSpc>
              <a:buNone/>
            </a:pPr>
            <a:r>
              <a:rPr lang="en-US" sz="2000" dirty="0">
                <a:solidFill>
                  <a:srgbClr val="F2F0EB"/>
                </a:solidFill>
                <a:latin typeface="Cambria" pitchFamily="34" charset="0"/>
                <a:ea typeface="Cambria" pitchFamily="34" charset="-122"/>
                <a:cs typeface="Cambria" pitchFamily="34" charset="-120"/>
              </a:rPr>
              <a:t>This is an honors thesis by an undergraduate who read in two traditions, one of them in translation with help. </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THE OBJECT</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What the essay sets out to do</a:t>
            </a:r>
            <a:endParaRPr lang="en-US" sz="2900" dirty="0"/>
          </a:p>
        </p:txBody>
      </p:sp>
      <p:sp>
        <p:nvSpPr>
          <p:cNvPr id="5" name="Shape 3"/>
          <p:cNvSpPr/>
          <p:nvPr/>
        </p:nvSpPr>
        <p:spPr>
          <a:xfrm>
            <a:off x="640080" y="1325880"/>
            <a:ext cx="10911535" cy="1097280"/>
          </a:xfrm>
          <a:prstGeom prst="roundRect">
            <a:avLst>
              <a:gd name="adj" fmla="val 6667"/>
            </a:avLst>
          </a:prstGeom>
          <a:solidFill>
            <a:srgbClr val="1C1B1A"/>
          </a:solidFill>
          <a:ln w="12700">
            <a:solidFill>
              <a:srgbClr val="1C1B1A"/>
            </a:solidFill>
            <a:prstDash val="solid"/>
          </a:ln>
        </p:spPr>
        <p:txBody>
          <a:bodyPr/>
          <a:lstStyle/>
          <a:p>
            <a:endParaRPr lang="en-US"/>
          </a:p>
        </p:txBody>
      </p:sp>
      <p:sp>
        <p:nvSpPr>
          <p:cNvPr id="6" name="Text 4"/>
          <p:cNvSpPr txBox="1"/>
          <p:nvPr/>
        </p:nvSpPr>
        <p:spPr>
          <a:xfrm>
            <a:off x="1005840" y="1325880"/>
            <a:ext cx="10424160" cy="1097280"/>
          </a:xfrm>
          <a:prstGeom prst="rect">
            <a:avLst/>
          </a:prstGeom>
          <a:noFill/>
          <a:ln/>
        </p:spPr>
        <p:txBody>
          <a:bodyPr wrap="square" lIns="0" tIns="0" rIns="0" bIns="0" rtlCol="0" anchor="ctr"/>
          <a:lstStyle/>
          <a:p>
            <a:pPr marL="0" indent="0">
              <a:lnSpc>
                <a:spcPts val="2200"/>
              </a:lnSpc>
              <a:buNone/>
            </a:pPr>
            <a:r>
              <a:rPr lang="en-US" sz="1600" dirty="0">
                <a:solidFill>
                  <a:srgbClr val="F2F0EB"/>
                </a:solidFill>
                <a:latin typeface="Cambria" pitchFamily="34" charset="0"/>
                <a:ea typeface="Cambria" pitchFamily="34" charset="-122"/>
                <a:cs typeface="Cambria" pitchFamily="34" charset="-120"/>
              </a:rPr>
              <a:t>A comparison of Ovid’s Metamorphoses with Toriyama Sekien’s Gazu Hyakki Tsurezure Bukuro (1784), arguing that the two use the motif of transformation in mirror-image ways: Ovid turns people into objects and takes their power away; Sekien turns objects into people and gives them power.</a:t>
            </a:r>
            <a:endParaRPr lang="en-US" sz="1600" dirty="0"/>
          </a:p>
        </p:txBody>
      </p:sp>
      <p:sp>
        <p:nvSpPr>
          <p:cNvPr id="7" name="Shape 5"/>
          <p:cNvSpPr/>
          <p:nvPr/>
        </p:nvSpPr>
        <p:spPr>
          <a:xfrm>
            <a:off x="640080" y="2606040"/>
            <a:ext cx="3454298" cy="2468880"/>
          </a:xfrm>
          <a:prstGeom prst="roundRect">
            <a:avLst>
              <a:gd name="adj" fmla="val 2963"/>
            </a:avLst>
          </a:prstGeom>
          <a:solidFill>
            <a:srgbClr val="E9EFF6"/>
          </a:solidFill>
          <a:ln w="12700">
            <a:solidFill>
              <a:srgbClr val="E9EFF6"/>
            </a:solidFill>
            <a:prstDash val="solid"/>
          </a:ln>
        </p:spPr>
        <p:txBody>
          <a:bodyPr/>
          <a:lstStyle/>
          <a:p>
            <a:endParaRPr lang="en-US"/>
          </a:p>
        </p:txBody>
      </p:sp>
      <p:sp>
        <p:nvSpPr>
          <p:cNvPr id="8" name="Text 6"/>
          <p:cNvSpPr txBox="1"/>
          <p:nvPr/>
        </p:nvSpPr>
        <p:spPr>
          <a:xfrm>
            <a:off x="914400" y="278892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C1B1A"/>
                </a:solidFill>
                <a:latin typeface="Cambria" pitchFamily="34" charset="0"/>
                <a:ea typeface="Cambria" pitchFamily="34" charset="-122"/>
                <a:cs typeface="Cambria" pitchFamily="34" charset="-120"/>
              </a:rPr>
              <a:t>The Ovid half</a:t>
            </a:r>
            <a:endParaRPr lang="en-US" sz="1600" dirty="0"/>
          </a:p>
        </p:txBody>
      </p:sp>
      <p:sp>
        <p:nvSpPr>
          <p:cNvPr id="9" name="Text 7"/>
          <p:cNvSpPr txBox="1"/>
          <p:nvPr/>
        </p:nvSpPr>
        <p:spPr>
          <a:xfrm>
            <a:off x="914400" y="3429000"/>
            <a:ext cx="2905658" cy="1426464"/>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Two tales, Daphne and Narcissus. Physical transformation happens to the persecuted; mental transformation happens to the persecutors, who fall in love. Love is read as a figure for poetic inspiration. The whole is read as a coded account of Ovid’s own banishment.</a:t>
            </a:r>
            <a:endParaRPr lang="en-US" sz="1200" dirty="0"/>
          </a:p>
        </p:txBody>
      </p:sp>
      <p:sp>
        <p:nvSpPr>
          <p:cNvPr id="10" name="Shape 8"/>
          <p:cNvSpPr/>
          <p:nvPr/>
        </p:nvSpPr>
        <p:spPr>
          <a:xfrm>
            <a:off x="4368698" y="2606040"/>
            <a:ext cx="3454298" cy="2468880"/>
          </a:xfrm>
          <a:prstGeom prst="roundRect">
            <a:avLst>
              <a:gd name="adj" fmla="val 2963"/>
            </a:avLst>
          </a:prstGeom>
          <a:solidFill>
            <a:srgbClr val="F8EBE8"/>
          </a:solidFill>
          <a:ln w="12700">
            <a:solidFill>
              <a:srgbClr val="F8EBE8"/>
            </a:solidFill>
            <a:prstDash val="solid"/>
          </a:ln>
        </p:spPr>
        <p:txBody>
          <a:bodyPr/>
          <a:lstStyle/>
          <a:p>
            <a:endParaRPr lang="en-US"/>
          </a:p>
        </p:txBody>
      </p:sp>
      <p:sp>
        <p:nvSpPr>
          <p:cNvPr id="11" name="Text 9"/>
          <p:cNvSpPr txBox="1"/>
          <p:nvPr/>
        </p:nvSpPr>
        <p:spPr>
          <a:xfrm>
            <a:off x="4643018" y="278892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C1B1A"/>
                </a:solidFill>
                <a:latin typeface="Cambria" pitchFamily="34" charset="0"/>
                <a:ea typeface="Cambria" pitchFamily="34" charset="-122"/>
                <a:cs typeface="Cambria" pitchFamily="34" charset="-120"/>
              </a:rPr>
              <a:t>The Sekien half</a:t>
            </a:r>
            <a:endParaRPr lang="en-US" sz="1600" dirty="0"/>
          </a:p>
        </p:txBody>
      </p:sp>
      <p:sp>
        <p:nvSpPr>
          <p:cNvPr id="12" name="Text 10"/>
          <p:cNvSpPr txBox="1"/>
          <p:nvPr/>
        </p:nvSpPr>
        <p:spPr>
          <a:xfrm>
            <a:off x="4643018" y="3429000"/>
            <a:ext cx="2905658" cy="1426464"/>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Two plates, Ungaikyo and Princess Suzuhiko. Yokai in the book fall into two kinds — objects transformed by reaching a hundred years, and objects made famous by a legendary owner. Read as self-projection and self-exploration respectively.</a:t>
            </a:r>
            <a:endParaRPr lang="en-US" sz="1200" dirty="0"/>
          </a:p>
        </p:txBody>
      </p:sp>
      <p:sp>
        <p:nvSpPr>
          <p:cNvPr id="13" name="Shape 11"/>
          <p:cNvSpPr/>
          <p:nvPr/>
        </p:nvSpPr>
        <p:spPr>
          <a:xfrm>
            <a:off x="8097317" y="2606040"/>
            <a:ext cx="3454298" cy="2468880"/>
          </a:xfrm>
          <a:prstGeom prst="roundRect">
            <a:avLst>
              <a:gd name="adj" fmla="val 2963"/>
            </a:avLst>
          </a:prstGeom>
          <a:solidFill>
            <a:srgbClr val="E9EFF6"/>
          </a:solidFill>
          <a:ln w="12700">
            <a:solidFill>
              <a:srgbClr val="E9EFF6"/>
            </a:solidFill>
            <a:prstDash val="solid"/>
          </a:ln>
        </p:spPr>
        <p:txBody>
          <a:bodyPr/>
          <a:lstStyle/>
          <a:p>
            <a:endParaRPr lang="en-US"/>
          </a:p>
        </p:txBody>
      </p:sp>
      <p:sp>
        <p:nvSpPr>
          <p:cNvPr id="14" name="Text 12"/>
          <p:cNvSpPr txBox="1"/>
          <p:nvPr/>
        </p:nvSpPr>
        <p:spPr>
          <a:xfrm>
            <a:off x="8371637" y="278892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C1B1A"/>
                </a:solidFill>
                <a:latin typeface="Cambria" pitchFamily="34" charset="0"/>
                <a:ea typeface="Cambria" pitchFamily="34" charset="-122"/>
                <a:cs typeface="Cambria" pitchFamily="34" charset="-120"/>
              </a:rPr>
              <a:t>The comparison</a:t>
            </a:r>
            <a:endParaRPr lang="en-US" sz="1600" dirty="0"/>
          </a:p>
        </p:txBody>
      </p:sp>
      <p:sp>
        <p:nvSpPr>
          <p:cNvPr id="15" name="Text 13"/>
          <p:cNvSpPr txBox="1"/>
          <p:nvPr/>
        </p:nvSpPr>
        <p:spPr>
          <a:xfrm>
            <a:off x="8371637" y="3429000"/>
            <a:ext cx="2905658" cy="1426464"/>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Ovid was disempowered by exile, so his agents are disempowered. Sekien was empowered by self-discovery, so his agents are empowered. The direction of transformation tracks the state of the author.</a:t>
            </a:r>
            <a:endParaRPr lang="en-US" sz="1200" dirty="0"/>
          </a:p>
        </p:txBody>
      </p:sp>
      <p:sp>
        <p:nvSpPr>
          <p:cNvPr id="16" name="Shape 14"/>
          <p:cNvSpPr/>
          <p:nvPr/>
        </p:nvSpPr>
        <p:spPr>
          <a:xfrm>
            <a:off x="640080" y="5257800"/>
            <a:ext cx="10911535" cy="960120"/>
          </a:xfrm>
          <a:prstGeom prst="roundRect">
            <a:avLst>
              <a:gd name="adj" fmla="val 7619"/>
            </a:avLst>
          </a:prstGeom>
          <a:solidFill>
            <a:srgbClr val="1C1B1A"/>
          </a:solidFill>
          <a:ln w="12700">
            <a:solidFill>
              <a:srgbClr val="1C1B1A"/>
            </a:solidFill>
            <a:prstDash val="solid"/>
          </a:ln>
        </p:spPr>
        <p:txBody>
          <a:bodyPr/>
          <a:lstStyle/>
          <a:p>
            <a:endParaRPr lang="en-US"/>
          </a:p>
        </p:txBody>
      </p:sp>
      <p:sp>
        <p:nvSpPr>
          <p:cNvPr id="17" name="Text 15"/>
          <p:cNvSpPr txBox="1"/>
          <p:nvPr/>
        </p:nvSpPr>
        <p:spPr>
          <a:xfrm>
            <a:off x="1005840" y="5422392"/>
            <a:ext cx="10424160" cy="274320"/>
          </a:xfrm>
          <a:prstGeom prst="rect">
            <a:avLst/>
          </a:prstGeom>
          <a:noFill/>
          <a:ln/>
        </p:spPr>
        <p:txBody>
          <a:bodyPr wrap="square" lIns="0" tIns="0" rIns="0" bIns="0" rtlCol="0" anchor="ctr"/>
          <a:lstStyle/>
          <a:p>
            <a:pPr marL="0" indent="0">
              <a:buNone/>
            </a:pPr>
            <a:r>
              <a:rPr lang="en-US" sz="1150" b="1" kern="0" spc="140" dirty="0">
                <a:solidFill>
                  <a:srgbClr val="D99A90"/>
                </a:solidFill>
                <a:latin typeface="Calibri" pitchFamily="34" charset="0"/>
                <a:ea typeface="Calibri" pitchFamily="34" charset="-122"/>
                <a:cs typeface="Calibri" pitchFamily="34" charset="-120"/>
              </a:rPr>
              <a:t>Observation</a:t>
            </a:r>
            <a:endParaRPr lang="en-US" sz="1150" dirty="0"/>
          </a:p>
        </p:txBody>
      </p:sp>
      <p:sp>
        <p:nvSpPr>
          <p:cNvPr id="18" name="Text 16"/>
          <p:cNvSpPr txBox="1"/>
          <p:nvPr/>
        </p:nvSpPr>
        <p:spPr>
          <a:xfrm>
            <a:off x="1005840" y="5751576"/>
            <a:ext cx="10424160" cy="301752"/>
          </a:xfrm>
          <a:prstGeom prst="rect">
            <a:avLst/>
          </a:prstGeom>
          <a:noFill/>
          <a:ln/>
        </p:spPr>
        <p:txBody>
          <a:bodyPr wrap="square" lIns="0" tIns="0" rIns="0" bIns="0" rtlCol="0" anchor="ctr"/>
          <a:lstStyle/>
          <a:p>
            <a:pPr marL="0" indent="0">
              <a:lnSpc>
                <a:spcPts val="2000"/>
              </a:lnSpc>
              <a:buNone/>
            </a:pPr>
            <a:r>
              <a:rPr lang="en-US" sz="1500" dirty="0">
                <a:solidFill>
                  <a:srgbClr val="F2F0EB"/>
                </a:solidFill>
                <a:latin typeface="Cambria" pitchFamily="34" charset="0"/>
                <a:ea typeface="Cambria" pitchFamily="34" charset="-122"/>
                <a:cs typeface="Cambria" pitchFamily="34" charset="-120"/>
              </a:rPr>
              <a:t>It compares exactly the two texts we taught in Units 1 and 4, it was written by a third year undergraduate without a graduate seminar behind it, and its central problems are somewhat common in college essays.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CREDIT WHERE IT IS DUE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Three things this essay does correctly</a:t>
            </a:r>
            <a:endParaRPr lang="en-US" sz="2900" dirty="0"/>
          </a:p>
        </p:txBody>
      </p:sp>
      <p:sp>
        <p:nvSpPr>
          <p:cNvPr id="5" name="Shape 3"/>
          <p:cNvSpPr/>
          <p:nvPr/>
        </p:nvSpPr>
        <p:spPr>
          <a:xfrm>
            <a:off x="640080" y="1325880"/>
            <a:ext cx="10911535" cy="1417320"/>
          </a:xfrm>
          <a:prstGeom prst="roundRect">
            <a:avLst>
              <a:gd name="adj" fmla="val 5161"/>
            </a:avLst>
          </a:prstGeom>
          <a:solidFill>
            <a:srgbClr val="E9EFF6"/>
          </a:solidFill>
          <a:ln w="12700">
            <a:solidFill>
              <a:srgbClr val="E9EFF6"/>
            </a:solidFill>
            <a:prstDash val="solid"/>
          </a:ln>
        </p:spPr>
        <p:txBody>
          <a:bodyPr/>
          <a:lstStyle/>
          <a:p>
            <a:endParaRPr lang="en-US"/>
          </a:p>
        </p:txBody>
      </p:sp>
      <p:sp>
        <p:nvSpPr>
          <p:cNvPr id="6" name="Shape 4"/>
          <p:cNvSpPr/>
          <p:nvPr/>
        </p:nvSpPr>
        <p:spPr>
          <a:xfrm>
            <a:off x="960120" y="1837944"/>
            <a:ext cx="384048" cy="384048"/>
          </a:xfrm>
          <a:prstGeom prst="ellipse">
            <a:avLst/>
          </a:prstGeom>
          <a:solidFill>
            <a:srgbClr val="2F5D8C"/>
          </a:solidFill>
          <a:ln/>
        </p:spPr>
        <p:txBody>
          <a:bodyPr/>
          <a:lstStyle/>
          <a:p>
            <a:endParaRPr lang="en-US"/>
          </a:p>
        </p:txBody>
      </p:sp>
      <p:sp>
        <p:nvSpPr>
          <p:cNvPr id="7" name="Text 5"/>
          <p:cNvSpPr txBox="1"/>
          <p:nvPr/>
        </p:nvSpPr>
        <p:spPr>
          <a:xfrm>
            <a:off x="960120" y="18379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472184"/>
            <a:ext cx="9509760" cy="365760"/>
          </a:xfrm>
          <a:prstGeom prst="rect">
            <a:avLst/>
          </a:prstGeom>
          <a:noFill/>
          <a:ln/>
        </p:spPr>
        <p:txBody>
          <a:bodyPr wrap="square" lIns="0" tIns="0" rIns="0" bIns="0" rtlCol="0" anchor="ctr"/>
          <a:lstStyle/>
          <a:p>
            <a:pPr marL="0" indent="0">
              <a:buNone/>
            </a:pPr>
            <a:r>
              <a:rPr lang="en-US" sz="1650" b="1" dirty="0">
                <a:solidFill>
                  <a:srgbClr val="1C1B1A"/>
                </a:solidFill>
                <a:latin typeface="Cambria" pitchFamily="34" charset="0"/>
                <a:ea typeface="Cambria" pitchFamily="34" charset="-122"/>
                <a:cs typeface="Cambria" pitchFamily="34" charset="-120"/>
              </a:rPr>
              <a:t>The comparison is real, and nobody else has made it</a:t>
            </a:r>
            <a:endParaRPr lang="en-US" sz="1650" dirty="0"/>
          </a:p>
        </p:txBody>
      </p:sp>
      <p:sp>
        <p:nvSpPr>
          <p:cNvPr id="9" name="Text 7"/>
          <p:cNvSpPr txBox="1"/>
          <p:nvPr/>
        </p:nvSpPr>
        <p:spPr>
          <a:xfrm>
            <a:off x="1600200" y="1892808"/>
            <a:ext cx="9509760" cy="749808"/>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Putting a first-century Latin poem next to an eighteenth-century Japanese print book is interesting. Both are compendia of transformations, both are organised by motif rather than plot, and the observation that they run in opposite directions — person to object, object to person — is a structural insight that does not appear in the scholarship on either.</a:t>
            </a:r>
            <a:endParaRPr lang="en-US" sz="1200" dirty="0"/>
          </a:p>
        </p:txBody>
      </p:sp>
      <p:sp>
        <p:nvSpPr>
          <p:cNvPr id="10" name="Shape 8"/>
          <p:cNvSpPr/>
          <p:nvPr/>
        </p:nvSpPr>
        <p:spPr>
          <a:xfrm>
            <a:off x="640080" y="2834640"/>
            <a:ext cx="10911535" cy="1417320"/>
          </a:xfrm>
          <a:prstGeom prst="roundRect">
            <a:avLst>
              <a:gd name="adj" fmla="val 5161"/>
            </a:avLst>
          </a:prstGeom>
          <a:solidFill>
            <a:srgbClr val="F8EBE8"/>
          </a:solidFill>
          <a:ln w="12700">
            <a:solidFill>
              <a:srgbClr val="F8EBE8"/>
            </a:solidFill>
            <a:prstDash val="solid"/>
          </a:ln>
        </p:spPr>
        <p:txBody>
          <a:bodyPr/>
          <a:lstStyle/>
          <a:p>
            <a:endParaRPr lang="en-US"/>
          </a:p>
        </p:txBody>
      </p:sp>
      <p:sp>
        <p:nvSpPr>
          <p:cNvPr id="11" name="Shape 9"/>
          <p:cNvSpPr/>
          <p:nvPr/>
        </p:nvSpPr>
        <p:spPr>
          <a:xfrm>
            <a:off x="960120" y="3346704"/>
            <a:ext cx="384048" cy="384048"/>
          </a:xfrm>
          <a:prstGeom prst="ellipse">
            <a:avLst/>
          </a:prstGeom>
          <a:solidFill>
            <a:srgbClr val="A93B2C"/>
          </a:solidFill>
          <a:ln/>
        </p:spPr>
        <p:txBody>
          <a:bodyPr/>
          <a:lstStyle/>
          <a:p>
            <a:endParaRPr lang="en-US"/>
          </a:p>
        </p:txBody>
      </p:sp>
      <p:sp>
        <p:nvSpPr>
          <p:cNvPr id="12" name="Text 10"/>
          <p:cNvSpPr txBox="1"/>
          <p:nvPr/>
        </p:nvSpPr>
        <p:spPr>
          <a:xfrm>
            <a:off x="960120" y="334670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2980944"/>
            <a:ext cx="9509760" cy="365760"/>
          </a:xfrm>
          <a:prstGeom prst="rect">
            <a:avLst/>
          </a:prstGeom>
          <a:noFill/>
          <a:ln/>
        </p:spPr>
        <p:txBody>
          <a:bodyPr wrap="square" lIns="0" tIns="0" rIns="0" bIns="0" rtlCol="0" anchor="ctr"/>
          <a:lstStyle/>
          <a:p>
            <a:pPr marL="0" indent="0">
              <a:buNone/>
            </a:pPr>
            <a:r>
              <a:rPr lang="en-US" sz="1650" b="1" dirty="0">
                <a:solidFill>
                  <a:srgbClr val="1C1B1A"/>
                </a:solidFill>
                <a:latin typeface="Cambria" pitchFamily="34" charset="0"/>
                <a:ea typeface="Cambria" pitchFamily="34" charset="-122"/>
                <a:cs typeface="Cambria" pitchFamily="34" charset="-120"/>
              </a:rPr>
              <a:t>The Narcissus reading is coherent</a:t>
            </a:r>
            <a:endParaRPr lang="en-US" sz="1650" dirty="0"/>
          </a:p>
        </p:txBody>
      </p:sp>
      <p:sp>
        <p:nvSpPr>
          <p:cNvPr id="14" name="Text 12"/>
          <p:cNvSpPr txBox="1"/>
          <p:nvPr/>
        </p:nvSpPr>
        <p:spPr>
          <a:xfrm>
            <a:off x="1600200" y="3401568"/>
            <a:ext cx="9509760" cy="749808"/>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The essay argues that Narcissus’s transformation is not the flower but the whole scene — flower plus pool, so that the bloom can go on seeing its reflection. That is a real close reading, it is correct, and it is the kind of observation that only comes from looking at the text rather than at the criticism.</a:t>
            </a:r>
            <a:endParaRPr lang="en-US" sz="1200" dirty="0"/>
          </a:p>
        </p:txBody>
      </p:sp>
      <p:sp>
        <p:nvSpPr>
          <p:cNvPr id="15" name="Shape 13"/>
          <p:cNvSpPr/>
          <p:nvPr/>
        </p:nvSpPr>
        <p:spPr>
          <a:xfrm>
            <a:off x="640080" y="4343400"/>
            <a:ext cx="10911535" cy="1417320"/>
          </a:xfrm>
          <a:prstGeom prst="roundRect">
            <a:avLst>
              <a:gd name="adj" fmla="val 5161"/>
            </a:avLst>
          </a:prstGeom>
          <a:solidFill>
            <a:srgbClr val="E9EFF6"/>
          </a:solidFill>
          <a:ln w="12700">
            <a:solidFill>
              <a:srgbClr val="E9EFF6"/>
            </a:solidFill>
            <a:prstDash val="solid"/>
          </a:ln>
        </p:spPr>
        <p:txBody>
          <a:bodyPr/>
          <a:lstStyle/>
          <a:p>
            <a:endParaRPr lang="en-US"/>
          </a:p>
        </p:txBody>
      </p:sp>
      <p:sp>
        <p:nvSpPr>
          <p:cNvPr id="16" name="Shape 14"/>
          <p:cNvSpPr/>
          <p:nvPr/>
        </p:nvSpPr>
        <p:spPr>
          <a:xfrm>
            <a:off x="960120" y="4855464"/>
            <a:ext cx="384048" cy="384048"/>
          </a:xfrm>
          <a:prstGeom prst="ellipse">
            <a:avLst/>
          </a:prstGeom>
          <a:solidFill>
            <a:srgbClr val="2F5D8C"/>
          </a:solidFill>
          <a:ln/>
        </p:spPr>
        <p:txBody>
          <a:bodyPr/>
          <a:lstStyle/>
          <a:p>
            <a:endParaRPr lang="en-US"/>
          </a:p>
        </p:txBody>
      </p:sp>
      <p:sp>
        <p:nvSpPr>
          <p:cNvPr id="17" name="Text 15"/>
          <p:cNvSpPr txBox="1"/>
          <p:nvPr/>
        </p:nvSpPr>
        <p:spPr>
          <a:xfrm>
            <a:off x="960120" y="485546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489704"/>
            <a:ext cx="9509760" cy="365760"/>
          </a:xfrm>
          <a:prstGeom prst="rect">
            <a:avLst/>
          </a:prstGeom>
          <a:noFill/>
          <a:ln/>
        </p:spPr>
        <p:txBody>
          <a:bodyPr wrap="square" lIns="0" tIns="0" rIns="0" bIns="0" rtlCol="0" anchor="ctr"/>
          <a:lstStyle/>
          <a:p>
            <a:pPr marL="0" indent="0">
              <a:buNone/>
            </a:pPr>
            <a:r>
              <a:rPr lang="en-US" sz="1650" b="1" dirty="0">
                <a:solidFill>
                  <a:srgbClr val="1C1B1A"/>
                </a:solidFill>
                <a:latin typeface="Cambria" pitchFamily="34" charset="0"/>
                <a:ea typeface="Cambria" pitchFamily="34" charset="-122"/>
                <a:cs typeface="Cambria" pitchFamily="34" charset="-120"/>
              </a:rPr>
              <a:t>The Sekien evidence is properly evidentiary</a:t>
            </a:r>
            <a:endParaRPr lang="en-US" sz="1650" dirty="0"/>
          </a:p>
        </p:txBody>
      </p:sp>
      <p:sp>
        <p:nvSpPr>
          <p:cNvPr id="19" name="Text 17"/>
          <p:cNvSpPr txBox="1"/>
          <p:nvPr/>
        </p:nvSpPr>
        <p:spPr>
          <a:xfrm>
            <a:off x="1600200" y="4910328"/>
            <a:ext cx="9509760" cy="749808"/>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Two moves stand out. First: annotation increases across the four books, which is offered as evidence that the later yokai were less familiar and therefore likelier to be invented. Second: in the Ungaikyo plate the spirit is drawn in dots while the rail and curtains are drawn in solid line — the technique marks ontological status. Both are checkable claims about the object itself.</a:t>
            </a:r>
            <a:endParaRPr lang="en-US" sz="1200" dirty="0"/>
          </a:p>
        </p:txBody>
      </p:sp>
      <p:sp>
        <p:nvSpPr>
          <p:cNvPr id="20" name="Shape 18"/>
          <p:cNvSpPr/>
          <p:nvPr/>
        </p:nvSpPr>
        <p:spPr>
          <a:xfrm>
            <a:off x="640080" y="5852160"/>
            <a:ext cx="10911535" cy="548640"/>
          </a:xfrm>
          <a:prstGeom prst="roundRect">
            <a:avLst>
              <a:gd name="adj" fmla="val 13333"/>
            </a:avLst>
          </a:prstGeom>
          <a:solidFill>
            <a:srgbClr val="1C1B1A"/>
          </a:solidFill>
          <a:ln w="12700">
            <a:solidFill>
              <a:srgbClr val="1C1B1A"/>
            </a:solidFill>
            <a:prstDash val="solid"/>
          </a:ln>
        </p:spPr>
        <p:txBody>
          <a:bodyPr/>
          <a:lstStyle/>
          <a:p>
            <a:endParaRPr lang="en-US"/>
          </a:p>
        </p:txBody>
      </p:sp>
      <p:sp>
        <p:nvSpPr>
          <p:cNvPr id="21" name="Text 19"/>
          <p:cNvSpPr txBox="1"/>
          <p:nvPr/>
        </p:nvSpPr>
        <p:spPr>
          <a:xfrm>
            <a:off x="1005840" y="6016752"/>
            <a:ext cx="10424160" cy="219456"/>
          </a:xfrm>
          <a:prstGeom prst="rect">
            <a:avLst/>
          </a:prstGeom>
          <a:noFill/>
          <a:ln/>
        </p:spPr>
        <p:txBody>
          <a:bodyPr wrap="square" lIns="0" tIns="0" rIns="0" bIns="0" rtlCol="0" anchor="ctr"/>
          <a:lstStyle/>
          <a:p>
            <a:pPr marL="0" indent="0">
              <a:lnSpc>
                <a:spcPts val="2000"/>
              </a:lnSpc>
              <a:buNone/>
            </a:pPr>
            <a:r>
              <a:rPr lang="en-US" sz="1500" dirty="0">
                <a:solidFill>
                  <a:srgbClr val="F2F0EB"/>
                </a:solidFill>
                <a:latin typeface="Cambria" pitchFamily="34" charset="0"/>
                <a:ea typeface="Cambria" pitchFamily="34" charset="-122"/>
                <a:cs typeface="Cambria" pitchFamily="34" charset="-120"/>
              </a:rPr>
              <a:t>However, the third one is the methodological standard the rest of the essay does not meet.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C1B1A"/>
        </a:solidFill>
        <a:effectLst/>
      </p:bgPr>
    </p:bg>
    <p:spTree>
      <p:nvGrpSpPr>
        <p:cNvPr id="1" name=""/>
        <p:cNvGrpSpPr/>
        <p:nvPr/>
      </p:nvGrpSpPr>
      <p:grpSpPr>
        <a:xfrm>
          <a:off x="0" y="0"/>
          <a:ext cx="0" cy="0"/>
          <a:chOff x="0" y="0"/>
          <a:chExt cx="0" cy="0"/>
        </a:xfrm>
      </p:grpSpPr>
      <p:sp>
        <p:nvSpPr>
          <p:cNvPr id="2" name="Shape 0"/>
          <p:cNvSpPr/>
          <p:nvPr/>
        </p:nvSpPr>
        <p:spPr>
          <a:xfrm>
            <a:off x="8869680" y="1554480"/>
            <a:ext cx="2468880" cy="2468880"/>
          </a:xfrm>
          <a:prstGeom prst="ellipse">
            <a:avLst/>
          </a:prstGeom>
          <a:solidFill>
            <a:srgbClr val="A93B2C">
              <a:alpha val="65000"/>
            </a:srgbClr>
          </a:solidFill>
          <a:ln/>
        </p:spPr>
        <p:txBody>
          <a:bodyPr/>
          <a:lstStyle/>
          <a:p>
            <a:endParaRPr lang="en-US"/>
          </a:p>
        </p:txBody>
      </p:sp>
      <p:sp>
        <p:nvSpPr>
          <p:cNvPr id="3" name="Shape 1"/>
          <p:cNvSpPr/>
          <p:nvPr/>
        </p:nvSpPr>
        <p:spPr>
          <a:xfrm>
            <a:off x="9601200" y="2286000"/>
            <a:ext cx="1005840" cy="1005840"/>
          </a:xfrm>
          <a:prstGeom prst="ellipse">
            <a:avLst/>
          </a:prstGeom>
          <a:solidFill>
            <a:srgbClr val="2F5D8C">
              <a:alpha val="75000"/>
            </a:srgbClr>
          </a:solidFill>
          <a:ln/>
        </p:spPr>
        <p:txBody>
          <a:bodyPr/>
          <a:lstStyle/>
          <a:p>
            <a:endParaRPr lang="en-US"/>
          </a:p>
        </p:txBody>
      </p:sp>
      <p:sp>
        <p:nvSpPr>
          <p:cNvPr id="4" name="Text 2"/>
          <p:cNvSpPr txBox="1"/>
          <p:nvPr/>
        </p:nvSpPr>
        <p:spPr>
          <a:xfrm>
            <a:off x="640080" y="2011680"/>
            <a:ext cx="7315200" cy="320040"/>
          </a:xfrm>
          <a:prstGeom prst="rect">
            <a:avLst/>
          </a:prstGeom>
          <a:noFill/>
          <a:ln/>
        </p:spPr>
        <p:txBody>
          <a:bodyPr wrap="square" lIns="0" tIns="0" rIns="0" bIns="0" rtlCol="0" anchor="ctr"/>
          <a:lstStyle/>
          <a:p>
            <a:pPr marL="0" indent="0">
              <a:buNone/>
            </a:pPr>
            <a:r>
              <a:rPr lang="en-US" sz="1300" b="1" kern="0" spc="220" dirty="0">
                <a:solidFill>
                  <a:srgbClr val="D99A90"/>
                </a:solidFill>
                <a:latin typeface="Calibri" pitchFamily="34" charset="0"/>
                <a:ea typeface="Calibri" pitchFamily="34" charset="-122"/>
                <a:cs typeface="Calibri" pitchFamily="34" charset="-120"/>
              </a:rPr>
              <a:t>THE CRITIQUE</a:t>
            </a:r>
            <a:endParaRPr lang="en-US" sz="1300" dirty="0"/>
          </a:p>
        </p:txBody>
      </p:sp>
      <p:sp>
        <p:nvSpPr>
          <p:cNvPr id="5" name="Text 3"/>
          <p:cNvSpPr txBox="1"/>
          <p:nvPr/>
        </p:nvSpPr>
        <p:spPr>
          <a:xfrm>
            <a:off x="640080" y="2423160"/>
            <a:ext cx="7680960" cy="914400"/>
          </a:xfrm>
          <a:prstGeom prst="rect">
            <a:avLst/>
          </a:prstGeom>
          <a:noFill/>
          <a:ln/>
        </p:spPr>
        <p:txBody>
          <a:bodyPr wrap="square" lIns="0" tIns="0" rIns="0" bIns="0" rtlCol="0" anchor="ctr"/>
          <a:lstStyle/>
          <a:p>
            <a:pPr marL="0" indent="0">
              <a:buNone/>
            </a:pPr>
            <a:r>
              <a:rPr lang="en-US" sz="3600" b="1" dirty="0">
                <a:solidFill>
                  <a:srgbClr val="F2F0EB"/>
                </a:solidFill>
                <a:latin typeface="Cambria" pitchFamily="34" charset="0"/>
                <a:ea typeface="Cambria" pitchFamily="34" charset="-122"/>
                <a:cs typeface="Cambria" pitchFamily="34" charset="-120"/>
              </a:rPr>
              <a:t>Six problems, in order of severity</a:t>
            </a:r>
            <a:endParaRPr lang="en-US" sz="3600" dirty="0"/>
          </a:p>
        </p:txBody>
      </p:sp>
      <p:sp>
        <p:nvSpPr>
          <p:cNvPr id="6" name="Text 4"/>
          <p:cNvSpPr txBox="1"/>
          <p:nvPr/>
        </p:nvSpPr>
        <p:spPr>
          <a:xfrm>
            <a:off x="640080" y="3383280"/>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Load-bearing problems first, cosmetic problems last</a:t>
            </a:r>
            <a:endParaRPr lang="en-US" sz="1500" dirty="0"/>
          </a:p>
        </p:txBody>
      </p:sp>
      <p:sp>
        <p:nvSpPr>
          <p:cNvPr id="7" name="Shape 5"/>
          <p:cNvSpPr/>
          <p:nvPr/>
        </p:nvSpPr>
        <p:spPr>
          <a:xfrm>
            <a:off x="640080" y="3977640"/>
            <a:ext cx="2377440" cy="18288"/>
          </a:xfrm>
          <a:prstGeom prst="rect">
            <a:avLst/>
          </a:prstGeom>
          <a:solidFill>
            <a:srgbClr val="9BB8D4"/>
          </a:solidFill>
          <a:ln/>
        </p:spPr>
        <p:txBody>
          <a:bodyPr/>
          <a:lstStyle/>
          <a:p>
            <a:endParaRPr lang="en-US"/>
          </a:p>
        </p:txBody>
      </p:sp>
      <p:sp>
        <p:nvSpPr>
          <p:cNvPr id="8" name="Text 6"/>
          <p:cNvSpPr txBox="1"/>
          <p:nvPr/>
        </p:nvSpPr>
        <p:spPr>
          <a:xfrm>
            <a:off x="640080" y="4206240"/>
            <a:ext cx="7680960" cy="731520"/>
          </a:xfrm>
          <a:prstGeom prst="rect">
            <a:avLst/>
          </a:prstGeom>
          <a:noFill/>
          <a:ln/>
        </p:spPr>
        <p:txBody>
          <a:bodyPr wrap="square" lIns="0" tIns="0" rIns="0" bIns="0" rtlCol="0" anchor="ctr"/>
          <a:lstStyle/>
          <a:p>
            <a:pPr marL="0" indent="0">
              <a:lnSpc>
                <a:spcPts val="2400"/>
              </a:lnSpc>
              <a:buNone/>
            </a:pPr>
            <a:r>
              <a:rPr lang="en-US" sz="1800" i="1" dirty="0">
                <a:solidFill>
                  <a:srgbClr val="9BB8D4"/>
                </a:solidFill>
                <a:latin typeface="Cambria" pitchFamily="34" charset="0"/>
                <a:ea typeface="Cambria" pitchFamily="34" charset="-122"/>
                <a:cs typeface="Cambria" pitchFamily="34" charset="-120"/>
              </a:rPr>
              <a:t>The first three would require rewriting. The last three are quick fixes.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PROBLEM ONE · THE LOAD-BEARING WALL</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The argument is a closed loop</a:t>
            </a:r>
            <a:endParaRPr lang="en-US" sz="2900" dirty="0"/>
          </a:p>
        </p:txBody>
      </p:sp>
      <p:sp>
        <p:nvSpPr>
          <p:cNvPr id="5" name="Shape 3"/>
          <p:cNvSpPr/>
          <p:nvPr/>
        </p:nvSpPr>
        <p:spPr>
          <a:xfrm>
            <a:off x="1097280" y="1783080"/>
            <a:ext cx="2377440" cy="914400"/>
          </a:xfrm>
          <a:prstGeom prst="roundRect">
            <a:avLst>
              <a:gd name="adj" fmla="val 8000"/>
            </a:avLst>
          </a:prstGeom>
          <a:solidFill>
            <a:srgbClr val="A93B2C"/>
          </a:solidFill>
          <a:ln w="12700">
            <a:solidFill>
              <a:srgbClr val="A93B2C"/>
            </a:solidFill>
            <a:prstDash val="solid"/>
          </a:ln>
        </p:spPr>
        <p:txBody>
          <a:bodyPr/>
          <a:lstStyle/>
          <a:p>
            <a:endParaRPr lang="en-US"/>
          </a:p>
        </p:txBody>
      </p:sp>
      <p:sp>
        <p:nvSpPr>
          <p:cNvPr id="6" name="Text 4"/>
          <p:cNvSpPr txBox="1"/>
          <p:nvPr/>
        </p:nvSpPr>
        <p:spPr>
          <a:xfrm>
            <a:off x="1097280" y="1783080"/>
            <a:ext cx="2377440" cy="914400"/>
          </a:xfrm>
          <a:prstGeom prst="rect">
            <a:avLst/>
          </a:prstGeom>
          <a:noFill/>
          <a:ln/>
        </p:spPr>
        <p:txBody>
          <a:bodyPr wrap="square" lIns="0" tIns="0" rIns="0" bIns="0" rtlCol="0" anchor="ctr"/>
          <a:lstStyle/>
          <a:p>
            <a:pPr marL="0" indent="0" algn="ctr">
              <a:lnSpc>
                <a:spcPts val="1700"/>
              </a:lnSpc>
              <a:buNone/>
            </a:pPr>
            <a:r>
              <a:rPr lang="en-US" sz="1300" b="1" dirty="0">
                <a:solidFill>
                  <a:srgbClr val="FFFFFF"/>
                </a:solidFill>
                <a:latin typeface="Cambria" pitchFamily="34" charset="0"/>
                <a:ea typeface="Cambria" pitchFamily="34" charset="-122"/>
                <a:cs typeface="Cambria" pitchFamily="34" charset="-120"/>
              </a:rPr>
              <a:t>Ovid was</a:t>
            </a:r>
            <a:endParaRPr lang="en-US" sz="1300" dirty="0"/>
          </a:p>
          <a:p>
            <a:pPr marL="0" indent="0" algn="ctr">
              <a:lnSpc>
                <a:spcPts val="1700"/>
              </a:lnSpc>
              <a:buNone/>
            </a:pPr>
            <a:r>
              <a:rPr lang="en-US" sz="1300" b="1" dirty="0">
                <a:solidFill>
                  <a:srgbClr val="FFFFFF"/>
                </a:solidFill>
                <a:latin typeface="Cambria" pitchFamily="34" charset="0"/>
                <a:ea typeface="Cambria" pitchFamily="34" charset="-122"/>
                <a:cs typeface="Cambria" pitchFamily="34" charset="-120"/>
              </a:rPr>
              <a:t>disempowered</a:t>
            </a:r>
            <a:endParaRPr lang="en-US" sz="1300" dirty="0"/>
          </a:p>
        </p:txBody>
      </p:sp>
      <p:sp>
        <p:nvSpPr>
          <p:cNvPr id="7" name="Shape 5"/>
          <p:cNvSpPr/>
          <p:nvPr/>
        </p:nvSpPr>
        <p:spPr>
          <a:xfrm>
            <a:off x="4206240" y="1783080"/>
            <a:ext cx="2377440" cy="914400"/>
          </a:xfrm>
          <a:prstGeom prst="roundRect">
            <a:avLst>
              <a:gd name="adj" fmla="val 8000"/>
            </a:avLst>
          </a:prstGeom>
          <a:solidFill>
            <a:srgbClr val="2F5D8C"/>
          </a:solidFill>
          <a:ln w="12700">
            <a:solidFill>
              <a:srgbClr val="2F5D8C"/>
            </a:solidFill>
            <a:prstDash val="solid"/>
          </a:ln>
        </p:spPr>
        <p:txBody>
          <a:bodyPr/>
          <a:lstStyle/>
          <a:p>
            <a:endParaRPr lang="en-US"/>
          </a:p>
        </p:txBody>
      </p:sp>
      <p:sp>
        <p:nvSpPr>
          <p:cNvPr id="8" name="Text 6"/>
          <p:cNvSpPr txBox="1"/>
          <p:nvPr/>
        </p:nvSpPr>
        <p:spPr>
          <a:xfrm>
            <a:off x="4206240" y="1783080"/>
            <a:ext cx="2377440" cy="914400"/>
          </a:xfrm>
          <a:prstGeom prst="rect">
            <a:avLst/>
          </a:prstGeom>
          <a:noFill/>
          <a:ln/>
        </p:spPr>
        <p:txBody>
          <a:bodyPr wrap="square" lIns="0" tIns="0" rIns="0" bIns="0" rtlCol="0" anchor="ctr"/>
          <a:lstStyle/>
          <a:p>
            <a:pPr marL="0" indent="0" algn="ctr">
              <a:lnSpc>
                <a:spcPts val="1700"/>
              </a:lnSpc>
              <a:buNone/>
            </a:pPr>
            <a:r>
              <a:rPr lang="en-US" sz="1300" b="1" dirty="0">
                <a:solidFill>
                  <a:srgbClr val="FFFFFF"/>
                </a:solidFill>
                <a:latin typeface="Cambria" pitchFamily="34" charset="0"/>
                <a:ea typeface="Cambria" pitchFamily="34" charset="-122"/>
                <a:cs typeface="Cambria" pitchFamily="34" charset="-120"/>
              </a:rPr>
              <a:t>so his agents are</a:t>
            </a:r>
            <a:endParaRPr lang="en-US" sz="1300" dirty="0"/>
          </a:p>
          <a:p>
            <a:pPr marL="0" indent="0" algn="ctr">
              <a:lnSpc>
                <a:spcPts val="1700"/>
              </a:lnSpc>
              <a:buNone/>
            </a:pPr>
            <a:r>
              <a:rPr lang="en-US" sz="1300" b="1" dirty="0">
                <a:solidFill>
                  <a:srgbClr val="FFFFFF"/>
                </a:solidFill>
                <a:latin typeface="Cambria" pitchFamily="34" charset="0"/>
                <a:ea typeface="Cambria" pitchFamily="34" charset="-122"/>
                <a:cs typeface="Cambria" pitchFamily="34" charset="-120"/>
              </a:rPr>
              <a:t>disempowered</a:t>
            </a:r>
            <a:endParaRPr lang="en-US" sz="1300" dirty="0"/>
          </a:p>
        </p:txBody>
      </p:sp>
      <p:sp>
        <p:nvSpPr>
          <p:cNvPr id="9" name="Shape 7"/>
          <p:cNvSpPr/>
          <p:nvPr/>
        </p:nvSpPr>
        <p:spPr>
          <a:xfrm>
            <a:off x="2651760" y="3794760"/>
            <a:ext cx="2377440" cy="914400"/>
          </a:xfrm>
          <a:prstGeom prst="roundRect">
            <a:avLst>
              <a:gd name="adj" fmla="val 8000"/>
            </a:avLst>
          </a:prstGeom>
          <a:solidFill>
            <a:srgbClr val="1C1B1A"/>
          </a:solidFill>
          <a:ln w="12700">
            <a:solidFill>
              <a:srgbClr val="1C1B1A"/>
            </a:solidFill>
            <a:prstDash val="solid"/>
          </a:ln>
        </p:spPr>
        <p:txBody>
          <a:bodyPr/>
          <a:lstStyle/>
          <a:p>
            <a:endParaRPr lang="en-US"/>
          </a:p>
        </p:txBody>
      </p:sp>
      <p:sp>
        <p:nvSpPr>
          <p:cNvPr id="10" name="Text 8"/>
          <p:cNvSpPr txBox="1"/>
          <p:nvPr/>
        </p:nvSpPr>
        <p:spPr>
          <a:xfrm>
            <a:off x="2651760" y="3794760"/>
            <a:ext cx="2377440" cy="914400"/>
          </a:xfrm>
          <a:prstGeom prst="rect">
            <a:avLst/>
          </a:prstGeom>
          <a:noFill/>
          <a:ln/>
        </p:spPr>
        <p:txBody>
          <a:bodyPr wrap="square" lIns="0" tIns="0" rIns="0" bIns="0" rtlCol="0" anchor="ctr"/>
          <a:lstStyle/>
          <a:p>
            <a:pPr marL="0" indent="0" algn="ctr">
              <a:lnSpc>
                <a:spcPts val="1700"/>
              </a:lnSpc>
              <a:buNone/>
            </a:pPr>
            <a:r>
              <a:rPr lang="en-US" sz="1300" b="1" dirty="0">
                <a:solidFill>
                  <a:srgbClr val="FFFFFF"/>
                </a:solidFill>
                <a:latin typeface="Cambria" pitchFamily="34" charset="0"/>
                <a:ea typeface="Cambria" pitchFamily="34" charset="-122"/>
                <a:cs typeface="Cambria" pitchFamily="34" charset="-120"/>
              </a:rPr>
              <a:t>which is how we</a:t>
            </a:r>
            <a:endParaRPr lang="en-US" sz="1300" dirty="0"/>
          </a:p>
          <a:p>
            <a:pPr marL="0" indent="0" algn="ctr">
              <a:lnSpc>
                <a:spcPts val="1700"/>
              </a:lnSpc>
              <a:buNone/>
            </a:pPr>
            <a:r>
              <a:rPr lang="en-US" sz="1300" b="1" dirty="0">
                <a:solidFill>
                  <a:srgbClr val="FFFFFF"/>
                </a:solidFill>
                <a:latin typeface="Cambria" pitchFamily="34" charset="0"/>
                <a:ea typeface="Cambria" pitchFamily="34" charset="-122"/>
                <a:cs typeface="Cambria" pitchFamily="34" charset="-120"/>
              </a:rPr>
              <a:t>know he was</a:t>
            </a:r>
            <a:endParaRPr lang="en-US" sz="1300" dirty="0"/>
          </a:p>
        </p:txBody>
      </p:sp>
      <p:sp>
        <p:nvSpPr>
          <p:cNvPr id="11" name="Shape 9"/>
          <p:cNvSpPr/>
          <p:nvPr/>
        </p:nvSpPr>
        <p:spPr>
          <a:xfrm>
            <a:off x="3547872" y="2139696"/>
            <a:ext cx="566928" cy="201168"/>
          </a:xfrm>
          <a:prstGeom prst="rightArrow">
            <a:avLst/>
          </a:prstGeom>
          <a:solidFill>
            <a:srgbClr val="6B6862"/>
          </a:solidFill>
          <a:ln/>
        </p:spPr>
        <p:txBody>
          <a:bodyPr/>
          <a:lstStyle/>
          <a:p>
            <a:endParaRPr lang="en-US"/>
          </a:p>
        </p:txBody>
      </p:sp>
      <p:sp>
        <p:nvSpPr>
          <p:cNvPr id="12" name="Shape 10"/>
          <p:cNvSpPr/>
          <p:nvPr/>
        </p:nvSpPr>
        <p:spPr>
          <a:xfrm>
            <a:off x="5413248" y="2816352"/>
            <a:ext cx="201168" cy="868680"/>
          </a:xfrm>
          <a:prstGeom prst="downArrow">
            <a:avLst/>
          </a:prstGeom>
          <a:solidFill>
            <a:srgbClr val="6B6862"/>
          </a:solidFill>
          <a:ln/>
        </p:spPr>
        <p:txBody>
          <a:bodyPr/>
          <a:lstStyle/>
          <a:p>
            <a:endParaRPr lang="en-US"/>
          </a:p>
        </p:txBody>
      </p:sp>
      <p:sp>
        <p:nvSpPr>
          <p:cNvPr id="13" name="Shape 11"/>
          <p:cNvSpPr/>
          <p:nvPr/>
        </p:nvSpPr>
        <p:spPr>
          <a:xfrm>
            <a:off x="2121408" y="2816352"/>
            <a:ext cx="201168" cy="868680"/>
          </a:xfrm>
          <a:prstGeom prst="upArrow">
            <a:avLst/>
          </a:prstGeom>
          <a:solidFill>
            <a:srgbClr val="6B6862"/>
          </a:solidFill>
          <a:ln/>
        </p:spPr>
        <p:txBody>
          <a:bodyPr/>
          <a:lstStyle/>
          <a:p>
            <a:endParaRPr lang="en-US"/>
          </a:p>
        </p:txBody>
      </p:sp>
      <p:sp>
        <p:nvSpPr>
          <p:cNvPr id="14" name="Text 12"/>
          <p:cNvSpPr txBox="1"/>
          <p:nvPr/>
        </p:nvSpPr>
        <p:spPr>
          <a:xfrm>
            <a:off x="2651760" y="3127248"/>
            <a:ext cx="2377440" cy="274320"/>
          </a:xfrm>
          <a:prstGeom prst="rect">
            <a:avLst/>
          </a:prstGeom>
          <a:noFill/>
          <a:ln/>
        </p:spPr>
        <p:txBody>
          <a:bodyPr wrap="square" lIns="0" tIns="0" rIns="0" bIns="0" rtlCol="0" anchor="ctr"/>
          <a:lstStyle/>
          <a:p>
            <a:pPr marL="0" indent="0" algn="ctr">
              <a:buNone/>
            </a:pPr>
            <a:r>
              <a:rPr lang="en-US" sz="1100" i="1" dirty="0">
                <a:solidFill>
                  <a:srgbClr val="A93B2C"/>
                </a:solidFill>
                <a:latin typeface="Calibri" pitchFamily="34" charset="0"/>
                <a:ea typeface="Calibri" pitchFamily="34" charset="-122"/>
                <a:cs typeface="Calibri" pitchFamily="34" charset="-120"/>
              </a:rPr>
              <a:t>no exit</a:t>
            </a:r>
            <a:endParaRPr lang="en-US" sz="1100" dirty="0"/>
          </a:p>
        </p:txBody>
      </p:sp>
      <p:sp>
        <p:nvSpPr>
          <p:cNvPr id="15" name="Shape 13"/>
          <p:cNvSpPr/>
          <p:nvPr/>
        </p:nvSpPr>
        <p:spPr>
          <a:xfrm>
            <a:off x="6583680" y="1325880"/>
            <a:ext cx="4946904" cy="1143000"/>
          </a:xfrm>
          <a:prstGeom prst="roundRect">
            <a:avLst>
              <a:gd name="adj" fmla="val 6400"/>
            </a:avLst>
          </a:prstGeom>
          <a:solidFill>
            <a:srgbClr val="E9EFF6"/>
          </a:solidFill>
          <a:ln w="12700">
            <a:solidFill>
              <a:srgbClr val="E9EFF6"/>
            </a:solidFill>
            <a:prstDash val="solid"/>
          </a:ln>
        </p:spPr>
        <p:txBody>
          <a:bodyPr/>
          <a:lstStyle/>
          <a:p>
            <a:endParaRPr lang="en-US"/>
          </a:p>
        </p:txBody>
      </p:sp>
      <p:sp>
        <p:nvSpPr>
          <p:cNvPr id="16" name="Text 14"/>
          <p:cNvSpPr txBox="1"/>
          <p:nvPr/>
        </p:nvSpPr>
        <p:spPr>
          <a:xfrm>
            <a:off x="6858000" y="1444752"/>
            <a:ext cx="4398264" cy="292608"/>
          </a:xfrm>
          <a:prstGeom prst="rect">
            <a:avLst/>
          </a:prstGeom>
          <a:noFill/>
          <a:ln/>
        </p:spPr>
        <p:txBody>
          <a:bodyPr wrap="square" lIns="0" tIns="0" rIns="0" bIns="0" rtlCol="0" anchor="ctr"/>
          <a:lstStyle/>
          <a:p>
            <a:pPr marL="0" indent="0">
              <a:buNone/>
            </a:pPr>
            <a:r>
              <a:rPr lang="en-US" sz="1350" b="1" dirty="0">
                <a:solidFill>
                  <a:srgbClr val="1C1B1A"/>
                </a:solidFill>
                <a:latin typeface="Cambria" pitchFamily="34" charset="0"/>
                <a:ea typeface="Cambria" pitchFamily="34" charset="-122"/>
                <a:cs typeface="Cambria" pitchFamily="34" charset="-120"/>
              </a:rPr>
              <a:t>Nothing could disconfirm it</a:t>
            </a:r>
            <a:endParaRPr lang="en-US" sz="1350" dirty="0"/>
          </a:p>
        </p:txBody>
      </p:sp>
      <p:sp>
        <p:nvSpPr>
          <p:cNvPr id="17" name="Text 15"/>
          <p:cNvSpPr txBox="1"/>
          <p:nvPr/>
        </p:nvSpPr>
        <p:spPr>
          <a:xfrm>
            <a:off x="6858000" y="1764792"/>
            <a:ext cx="4398264" cy="621792"/>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If the agents had been empowered, that would have been compensation for exile. If they were disempowered, it is reflection. Both outcomes confirm the thesis, which means neither tests it.</a:t>
            </a:r>
            <a:endParaRPr lang="en-US" sz="1050" dirty="0"/>
          </a:p>
        </p:txBody>
      </p:sp>
      <p:sp>
        <p:nvSpPr>
          <p:cNvPr id="18" name="Shape 16"/>
          <p:cNvSpPr/>
          <p:nvPr/>
        </p:nvSpPr>
        <p:spPr>
          <a:xfrm>
            <a:off x="6583680" y="2542032"/>
            <a:ext cx="4946904" cy="1143000"/>
          </a:xfrm>
          <a:prstGeom prst="roundRect">
            <a:avLst>
              <a:gd name="adj" fmla="val 6400"/>
            </a:avLst>
          </a:prstGeom>
          <a:solidFill>
            <a:srgbClr val="F8EBE8"/>
          </a:solidFill>
          <a:ln w="12700">
            <a:solidFill>
              <a:srgbClr val="F8EBE8"/>
            </a:solidFill>
            <a:prstDash val="solid"/>
          </a:ln>
        </p:spPr>
        <p:txBody>
          <a:bodyPr/>
          <a:lstStyle/>
          <a:p>
            <a:endParaRPr lang="en-US"/>
          </a:p>
        </p:txBody>
      </p:sp>
      <p:sp>
        <p:nvSpPr>
          <p:cNvPr id="19" name="Text 17"/>
          <p:cNvSpPr txBox="1"/>
          <p:nvPr/>
        </p:nvSpPr>
        <p:spPr>
          <a:xfrm>
            <a:off x="6858000" y="2660904"/>
            <a:ext cx="4398264" cy="292608"/>
          </a:xfrm>
          <a:prstGeom prst="rect">
            <a:avLst/>
          </a:prstGeom>
          <a:noFill/>
          <a:ln/>
        </p:spPr>
        <p:txBody>
          <a:bodyPr wrap="square" lIns="0" tIns="0" rIns="0" bIns="0" rtlCol="0" anchor="ctr"/>
          <a:lstStyle/>
          <a:p>
            <a:pPr marL="0" indent="0">
              <a:buNone/>
            </a:pPr>
            <a:r>
              <a:rPr lang="en-US" sz="1350" b="1" dirty="0">
                <a:solidFill>
                  <a:srgbClr val="1C1B1A"/>
                </a:solidFill>
                <a:latin typeface="Cambria" pitchFamily="34" charset="0"/>
                <a:ea typeface="Cambria" pitchFamily="34" charset="-122"/>
                <a:cs typeface="Cambria" pitchFamily="34" charset="-120"/>
              </a:rPr>
              <a:t>And the same loop runs for Sekien</a:t>
            </a:r>
            <a:endParaRPr lang="en-US" sz="1350" dirty="0"/>
          </a:p>
        </p:txBody>
      </p:sp>
      <p:sp>
        <p:nvSpPr>
          <p:cNvPr id="20" name="Text 18"/>
          <p:cNvSpPr txBox="1"/>
          <p:nvPr/>
        </p:nvSpPr>
        <p:spPr>
          <a:xfrm>
            <a:off x="6858000" y="2980944"/>
            <a:ext cx="4398264" cy="621792"/>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We are told Sekien was empowered by self-exploration. The only evidence offered for that is the prints. The prints are then explained by the empowerment. There is no independent fact about Sekien anywhere in the essay.</a:t>
            </a:r>
            <a:endParaRPr lang="en-US" sz="1050" dirty="0"/>
          </a:p>
        </p:txBody>
      </p:sp>
      <p:sp>
        <p:nvSpPr>
          <p:cNvPr id="21" name="Shape 19"/>
          <p:cNvSpPr/>
          <p:nvPr/>
        </p:nvSpPr>
        <p:spPr>
          <a:xfrm>
            <a:off x="6583680" y="3758184"/>
            <a:ext cx="4946904" cy="1143000"/>
          </a:xfrm>
          <a:prstGeom prst="roundRect">
            <a:avLst>
              <a:gd name="adj" fmla="val 6400"/>
            </a:avLst>
          </a:prstGeom>
          <a:solidFill>
            <a:srgbClr val="E9EFF6"/>
          </a:solidFill>
          <a:ln w="12700">
            <a:solidFill>
              <a:srgbClr val="E9EFF6"/>
            </a:solidFill>
            <a:prstDash val="solid"/>
          </a:ln>
        </p:spPr>
        <p:txBody>
          <a:bodyPr/>
          <a:lstStyle/>
          <a:p>
            <a:endParaRPr lang="en-US"/>
          </a:p>
        </p:txBody>
      </p:sp>
      <p:sp>
        <p:nvSpPr>
          <p:cNvPr id="22" name="Text 20"/>
          <p:cNvSpPr txBox="1"/>
          <p:nvPr/>
        </p:nvSpPr>
        <p:spPr>
          <a:xfrm>
            <a:off x="6858000" y="3877056"/>
            <a:ext cx="4398264" cy="292608"/>
          </a:xfrm>
          <a:prstGeom prst="rect">
            <a:avLst/>
          </a:prstGeom>
          <a:noFill/>
          <a:ln/>
        </p:spPr>
        <p:txBody>
          <a:bodyPr wrap="square" lIns="0" tIns="0" rIns="0" bIns="0" rtlCol="0" anchor="ctr"/>
          <a:lstStyle/>
          <a:p>
            <a:pPr marL="0" indent="0">
              <a:buNone/>
            </a:pPr>
            <a:r>
              <a:rPr lang="en-US" sz="1350" b="1" dirty="0">
                <a:solidFill>
                  <a:srgbClr val="1C1B1A"/>
                </a:solidFill>
                <a:latin typeface="Cambria" pitchFamily="34" charset="0"/>
                <a:ea typeface="Cambria" pitchFamily="34" charset="-122"/>
                <a:cs typeface="Cambria" pitchFamily="34" charset="-120"/>
              </a:rPr>
              <a:t>The asymmetry is manufactured</a:t>
            </a:r>
            <a:endParaRPr lang="en-US" sz="1350" dirty="0"/>
          </a:p>
        </p:txBody>
      </p:sp>
      <p:sp>
        <p:nvSpPr>
          <p:cNvPr id="23" name="Text 21"/>
          <p:cNvSpPr txBox="1"/>
          <p:nvPr/>
        </p:nvSpPr>
        <p:spPr>
          <a:xfrm>
            <a:off x="6858000" y="4197096"/>
            <a:ext cx="4398264" cy="621792"/>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Ovid’s state is inferred from documented biography; Sekien’s is inferred from the artefact. Putting them side by side implies two comparable findings when only one has any external support.</a:t>
            </a:r>
            <a:endParaRPr lang="en-US" sz="1050" dirty="0"/>
          </a:p>
        </p:txBody>
      </p:sp>
      <p:sp>
        <p:nvSpPr>
          <p:cNvPr id="24" name="Shape 22"/>
          <p:cNvSpPr/>
          <p:nvPr/>
        </p:nvSpPr>
        <p:spPr>
          <a:xfrm>
            <a:off x="6583680" y="4974336"/>
            <a:ext cx="4946904" cy="1143000"/>
          </a:xfrm>
          <a:prstGeom prst="roundRect">
            <a:avLst>
              <a:gd name="adj" fmla="val 6400"/>
            </a:avLst>
          </a:prstGeom>
          <a:solidFill>
            <a:srgbClr val="1C1B1A"/>
          </a:solidFill>
          <a:ln w="12700">
            <a:solidFill>
              <a:srgbClr val="1C1B1A"/>
            </a:solidFill>
            <a:prstDash val="solid"/>
          </a:ln>
        </p:spPr>
        <p:txBody>
          <a:bodyPr/>
          <a:lstStyle/>
          <a:p>
            <a:endParaRPr lang="en-US"/>
          </a:p>
        </p:txBody>
      </p:sp>
      <p:sp>
        <p:nvSpPr>
          <p:cNvPr id="25" name="Text 23"/>
          <p:cNvSpPr txBox="1"/>
          <p:nvPr/>
        </p:nvSpPr>
        <p:spPr>
          <a:xfrm>
            <a:off x="6858000" y="5093208"/>
            <a:ext cx="4398264" cy="292608"/>
          </a:xfrm>
          <a:prstGeom prst="rect">
            <a:avLst/>
          </a:prstGeom>
          <a:noFill/>
          <a:ln/>
        </p:spPr>
        <p:txBody>
          <a:bodyPr wrap="square" lIns="0" tIns="0" rIns="0" bIns="0" rtlCol="0" anchor="ctr"/>
          <a:lstStyle/>
          <a:p>
            <a:pPr marL="0" indent="0">
              <a:buNone/>
            </a:pPr>
            <a:r>
              <a:rPr lang="en-US" sz="1350" b="1" dirty="0">
                <a:solidFill>
                  <a:srgbClr val="D99A90"/>
                </a:solidFill>
                <a:latin typeface="Cambria" pitchFamily="34" charset="0"/>
                <a:ea typeface="Cambria" pitchFamily="34" charset="-122"/>
                <a:cs typeface="Cambria" pitchFamily="34" charset="-120"/>
              </a:rPr>
              <a:t>This is the wall</a:t>
            </a:r>
            <a:endParaRPr lang="en-US" sz="1350" dirty="0"/>
          </a:p>
        </p:txBody>
      </p:sp>
      <p:sp>
        <p:nvSpPr>
          <p:cNvPr id="26" name="Text 24"/>
          <p:cNvSpPr txBox="1"/>
          <p:nvPr/>
        </p:nvSpPr>
        <p:spPr>
          <a:xfrm>
            <a:off x="6858000" y="5413248"/>
            <a:ext cx="4398264" cy="621792"/>
          </a:xfrm>
          <a:prstGeom prst="rect">
            <a:avLst/>
          </a:prstGeom>
          <a:noFill/>
          <a:ln/>
        </p:spPr>
        <p:txBody>
          <a:bodyPr wrap="square" lIns="0" tIns="0" rIns="0" bIns="0" rtlCol="0" anchor="ctr"/>
          <a:lstStyle/>
          <a:p>
            <a:pPr marL="0" indent="0">
              <a:lnSpc>
                <a:spcPts val="1350"/>
              </a:lnSpc>
              <a:buNone/>
            </a:pPr>
            <a:r>
              <a:rPr lang="en-US" sz="1050" dirty="0">
                <a:solidFill>
                  <a:srgbClr val="F2F0EB"/>
                </a:solidFill>
                <a:latin typeface="Calibri" pitchFamily="34" charset="0"/>
                <a:ea typeface="Calibri" pitchFamily="34" charset="-122"/>
                <a:cs typeface="Calibri" pitchFamily="34" charset="-120"/>
              </a:rPr>
              <a:t>Every section of the essay routes through this claim. It is what makes the comparison a thesis rather than an observation, and it cannot survive being asked what would count against it.</a:t>
            </a:r>
            <a:endParaRPr lang="en-US" sz="1050" dirty="0"/>
          </a:p>
        </p:txBody>
      </p:sp>
      <p:sp>
        <p:nvSpPr>
          <p:cNvPr id="27" name="Shape 25"/>
          <p:cNvSpPr/>
          <p:nvPr/>
        </p:nvSpPr>
        <p:spPr>
          <a:xfrm>
            <a:off x="640080" y="5029200"/>
            <a:ext cx="5760720" cy="777240"/>
          </a:xfrm>
          <a:prstGeom prst="roundRect">
            <a:avLst>
              <a:gd name="adj" fmla="val 9412"/>
            </a:avLst>
          </a:prstGeom>
          <a:solidFill>
            <a:srgbClr val="E9EFF6"/>
          </a:solidFill>
          <a:ln w="12700">
            <a:solidFill>
              <a:srgbClr val="E9EFF6"/>
            </a:solidFill>
            <a:prstDash val="solid"/>
          </a:ln>
        </p:spPr>
        <p:txBody>
          <a:bodyPr/>
          <a:lstStyle/>
          <a:p>
            <a:endParaRPr lang="en-US"/>
          </a:p>
        </p:txBody>
      </p:sp>
      <p:sp>
        <p:nvSpPr>
          <p:cNvPr id="28" name="Text 26"/>
          <p:cNvSpPr txBox="1"/>
          <p:nvPr/>
        </p:nvSpPr>
        <p:spPr>
          <a:xfrm>
            <a:off x="960120" y="5029200"/>
            <a:ext cx="5212080" cy="777240"/>
          </a:xfrm>
          <a:prstGeom prst="rect">
            <a:avLst/>
          </a:prstGeom>
          <a:noFill/>
          <a:ln/>
        </p:spPr>
        <p:txBody>
          <a:bodyPr wrap="square" lIns="0" tIns="0" rIns="0" bIns="0" rtlCol="0" anchor="ctr"/>
          <a:lstStyle/>
          <a:p>
            <a:pPr marL="0" indent="0">
              <a:lnSpc>
                <a:spcPts val="1600"/>
              </a:lnSpc>
              <a:buNone/>
            </a:pPr>
            <a:r>
              <a:rPr lang="en-US" sz="1200" dirty="0">
                <a:solidFill>
                  <a:srgbClr val="2F5D8C"/>
                </a:solidFill>
                <a:latin typeface="Calibri" pitchFamily="34" charset="0"/>
                <a:ea typeface="Calibri" pitchFamily="34" charset="-122"/>
                <a:cs typeface="Calibri" pitchFamily="34" charset="-120"/>
              </a:rPr>
              <a:t>The fix: drop the author-state claim entirely. The structural comparison survives without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PROBLEM TWO · THE PREMISE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Three factual claims the argument depends on, and none is safe</a:t>
            </a:r>
            <a:endParaRPr lang="en-US" sz="2900" dirty="0"/>
          </a:p>
        </p:txBody>
      </p:sp>
      <p:sp>
        <p:nvSpPr>
          <p:cNvPr id="5" name="Shape 3"/>
          <p:cNvSpPr/>
          <p:nvPr/>
        </p:nvSpPr>
        <p:spPr>
          <a:xfrm>
            <a:off x="640080" y="1325880"/>
            <a:ext cx="3454298" cy="3657600"/>
          </a:xfrm>
          <a:prstGeom prst="roundRect">
            <a:avLst>
              <a:gd name="adj" fmla="val 2118"/>
            </a:avLst>
          </a:prstGeom>
          <a:solidFill>
            <a:srgbClr val="1C1B1A"/>
          </a:solidFill>
          <a:ln w="12700">
            <a:solidFill>
              <a:srgbClr val="1C1B1A"/>
            </a:solidFill>
            <a:prstDash val="solid"/>
          </a:ln>
        </p:spPr>
        <p:txBody>
          <a:bodyPr/>
          <a:lstStyle/>
          <a:p>
            <a:endParaRPr lang="en-US"/>
          </a:p>
        </p:txBody>
      </p:sp>
      <p:sp>
        <p:nvSpPr>
          <p:cNvPr id="6" name="Text 4"/>
          <p:cNvSpPr txBox="1"/>
          <p:nvPr/>
        </p:nvSpPr>
        <p:spPr>
          <a:xfrm>
            <a:off x="914400" y="1517904"/>
            <a:ext cx="2905658" cy="594360"/>
          </a:xfrm>
          <a:prstGeom prst="rect">
            <a:avLst/>
          </a:prstGeom>
          <a:noFill/>
          <a:ln/>
        </p:spPr>
        <p:txBody>
          <a:bodyPr wrap="square" lIns="0" tIns="0" rIns="0" bIns="0" rtlCol="0" anchor="ctr"/>
          <a:lstStyle/>
          <a:p>
            <a:pPr marL="0" indent="0">
              <a:lnSpc>
                <a:spcPts val="1900"/>
              </a:lnSpc>
              <a:buNone/>
            </a:pPr>
            <a:r>
              <a:rPr lang="en-US" sz="1550" b="1" i="1" dirty="0">
                <a:solidFill>
                  <a:srgbClr val="D99A90"/>
                </a:solidFill>
                <a:latin typeface="Cambria" pitchFamily="34" charset="0"/>
                <a:ea typeface="Cambria" pitchFamily="34" charset="-122"/>
                <a:cs typeface="Cambria" pitchFamily="34" charset="-120"/>
              </a:rPr>
              <a:t>“Composed during his exile”</a:t>
            </a:r>
            <a:endParaRPr lang="en-US" sz="1550" dirty="0"/>
          </a:p>
        </p:txBody>
      </p:sp>
      <p:sp>
        <p:nvSpPr>
          <p:cNvPr id="7" name="Text 5"/>
          <p:cNvSpPr txBox="1"/>
          <p:nvPr/>
        </p:nvSpPr>
        <p:spPr>
          <a:xfrm>
            <a:off x="914400" y="2212848"/>
            <a:ext cx="2905658" cy="1783080"/>
          </a:xfrm>
          <a:prstGeom prst="rect">
            <a:avLst/>
          </a:prstGeom>
          <a:noFill/>
          <a:ln/>
        </p:spPr>
        <p:txBody>
          <a:bodyPr wrap="square" lIns="0" tIns="0" rIns="0" bIns="0" rtlCol="0" anchor="ctr"/>
          <a:lstStyle/>
          <a:p>
            <a:pPr marL="0" indent="0">
              <a:lnSpc>
                <a:spcPts val="1500"/>
              </a:lnSpc>
              <a:buNone/>
            </a:pPr>
            <a:r>
              <a:rPr lang="en-US" sz="1150" dirty="0">
                <a:solidFill>
                  <a:srgbClr val="F2F0EB"/>
                </a:solidFill>
                <a:latin typeface="Calibri" pitchFamily="34" charset="0"/>
                <a:ea typeface="Calibri" pitchFamily="34" charset="-122"/>
                <a:cs typeface="Calibri" pitchFamily="34" charset="-120"/>
              </a:rPr>
              <a:t>The Metamorphoses was substantially written before the relegation of AD 8, not after it. Ovid says he burned a copy of it as he left. The exile poems are the Tristia and the Epistulae ex Ponto, and they are a different kind of writing.</a:t>
            </a:r>
            <a:endParaRPr lang="en-US" sz="1150" dirty="0"/>
          </a:p>
        </p:txBody>
      </p:sp>
      <p:sp>
        <p:nvSpPr>
          <p:cNvPr id="8" name="Shape 6"/>
          <p:cNvSpPr/>
          <p:nvPr/>
        </p:nvSpPr>
        <p:spPr>
          <a:xfrm>
            <a:off x="914400" y="4069080"/>
            <a:ext cx="1005840" cy="18288"/>
          </a:xfrm>
          <a:prstGeom prst="rect">
            <a:avLst/>
          </a:prstGeom>
          <a:solidFill>
            <a:srgbClr val="D99A90"/>
          </a:solidFill>
          <a:ln/>
        </p:spPr>
        <p:txBody>
          <a:bodyPr/>
          <a:lstStyle/>
          <a:p>
            <a:endParaRPr lang="en-US"/>
          </a:p>
        </p:txBody>
      </p:sp>
      <p:sp>
        <p:nvSpPr>
          <p:cNvPr id="9" name="Text 7"/>
          <p:cNvSpPr txBox="1"/>
          <p:nvPr/>
        </p:nvSpPr>
        <p:spPr>
          <a:xfrm>
            <a:off x="914400" y="4206240"/>
            <a:ext cx="2905658" cy="640080"/>
          </a:xfrm>
          <a:prstGeom prst="rect">
            <a:avLst/>
          </a:prstGeom>
          <a:noFill/>
          <a:ln/>
        </p:spPr>
        <p:txBody>
          <a:bodyPr wrap="square" lIns="0" tIns="0" rIns="0" bIns="0" rtlCol="0" anchor="ctr"/>
          <a:lstStyle/>
          <a:p>
            <a:pPr marL="0" indent="0">
              <a:lnSpc>
                <a:spcPts val="1500"/>
              </a:lnSpc>
              <a:buNone/>
            </a:pPr>
            <a:r>
              <a:rPr lang="en-US" sz="1150" b="1" i="1" dirty="0">
                <a:solidFill>
                  <a:srgbClr val="D99A90"/>
                </a:solidFill>
                <a:latin typeface="Calibri" pitchFamily="34" charset="0"/>
                <a:ea typeface="Calibri" pitchFamily="34" charset="-122"/>
                <a:cs typeface="Calibri" pitchFamily="34" charset="-120"/>
              </a:rPr>
              <a:t>If the poem predates the banishment, it cannot be a coded response to it.</a:t>
            </a:r>
            <a:endParaRPr lang="en-US" sz="1150" dirty="0"/>
          </a:p>
        </p:txBody>
      </p:sp>
      <p:sp>
        <p:nvSpPr>
          <p:cNvPr id="10" name="Shape 8"/>
          <p:cNvSpPr/>
          <p:nvPr/>
        </p:nvSpPr>
        <p:spPr>
          <a:xfrm>
            <a:off x="4368698" y="1325880"/>
            <a:ext cx="3454298" cy="3657600"/>
          </a:xfrm>
          <a:prstGeom prst="roundRect">
            <a:avLst>
              <a:gd name="adj" fmla="val 2118"/>
            </a:avLst>
          </a:prstGeom>
          <a:solidFill>
            <a:srgbClr val="F8EBE8"/>
          </a:solidFill>
          <a:ln w="12700">
            <a:solidFill>
              <a:srgbClr val="F8EBE8"/>
            </a:solidFill>
            <a:prstDash val="solid"/>
          </a:ln>
        </p:spPr>
        <p:txBody>
          <a:bodyPr/>
          <a:lstStyle/>
          <a:p>
            <a:endParaRPr lang="en-US"/>
          </a:p>
        </p:txBody>
      </p:sp>
      <p:sp>
        <p:nvSpPr>
          <p:cNvPr id="11" name="Text 9"/>
          <p:cNvSpPr txBox="1"/>
          <p:nvPr/>
        </p:nvSpPr>
        <p:spPr>
          <a:xfrm>
            <a:off x="4643018" y="1517904"/>
            <a:ext cx="2905658" cy="594360"/>
          </a:xfrm>
          <a:prstGeom prst="rect">
            <a:avLst/>
          </a:prstGeom>
          <a:noFill/>
          <a:ln/>
        </p:spPr>
        <p:txBody>
          <a:bodyPr wrap="square" lIns="0" tIns="0" rIns="0" bIns="0" rtlCol="0" anchor="ctr"/>
          <a:lstStyle/>
          <a:p>
            <a:pPr marL="0" indent="0">
              <a:lnSpc>
                <a:spcPts val="1900"/>
              </a:lnSpc>
              <a:buNone/>
            </a:pPr>
            <a:r>
              <a:rPr lang="en-US" sz="1550" b="1" i="1" dirty="0">
                <a:solidFill>
                  <a:srgbClr val="1C1B1A"/>
                </a:solidFill>
                <a:latin typeface="Cambria" pitchFamily="34" charset="0"/>
                <a:ea typeface="Cambria" pitchFamily="34" charset="-122"/>
                <a:cs typeface="Cambria" pitchFamily="34" charset="-120"/>
              </a:rPr>
              <a:t>“Banished for the Ars amatoria”</a:t>
            </a:r>
            <a:endParaRPr lang="en-US" sz="1550" dirty="0"/>
          </a:p>
        </p:txBody>
      </p:sp>
      <p:sp>
        <p:nvSpPr>
          <p:cNvPr id="12" name="Text 10"/>
          <p:cNvSpPr txBox="1"/>
          <p:nvPr/>
        </p:nvSpPr>
        <p:spPr>
          <a:xfrm>
            <a:off x="4643018" y="2212848"/>
            <a:ext cx="2905658" cy="1783080"/>
          </a:xfrm>
          <a:prstGeom prst="rect">
            <a:avLst/>
          </a:prstGeom>
          <a:noFill/>
          <a:ln/>
        </p:spPr>
        <p:txBody>
          <a:bodyPr wrap="square" lIns="0" tIns="0" rIns="0" bIns="0" rtlCol="0" anchor="ctr"/>
          <a:lstStyle/>
          <a:p>
            <a:pPr marL="0" indent="0">
              <a:lnSpc>
                <a:spcPts val="1500"/>
              </a:lnSpc>
              <a:buNone/>
            </a:pPr>
            <a:r>
              <a:rPr lang="en-US" sz="1150" dirty="0">
                <a:solidFill>
                  <a:srgbClr val="6B6862"/>
                </a:solidFill>
                <a:latin typeface="Calibri" pitchFamily="34" charset="0"/>
                <a:ea typeface="Calibri" pitchFamily="34" charset="-122"/>
                <a:cs typeface="Calibri" pitchFamily="34" charset="-120"/>
              </a:rPr>
              <a:t>Ovid gives two causes, a poem and an error, and declines to say what the error was. The link to Julia the Younger is a long-standing scholarly conjecture, not a documented fact, and the essay presents one secondary source’s reconstruction as settled.</a:t>
            </a:r>
            <a:endParaRPr lang="en-US" sz="1150" dirty="0"/>
          </a:p>
        </p:txBody>
      </p:sp>
      <p:sp>
        <p:nvSpPr>
          <p:cNvPr id="13" name="Shape 11"/>
          <p:cNvSpPr/>
          <p:nvPr/>
        </p:nvSpPr>
        <p:spPr>
          <a:xfrm>
            <a:off x="4643018" y="4069080"/>
            <a:ext cx="1005840" cy="18288"/>
          </a:xfrm>
          <a:prstGeom prst="rect">
            <a:avLst/>
          </a:prstGeom>
          <a:solidFill>
            <a:srgbClr val="A93B2C"/>
          </a:solidFill>
          <a:ln/>
        </p:spPr>
        <p:txBody>
          <a:bodyPr/>
          <a:lstStyle/>
          <a:p>
            <a:endParaRPr lang="en-US"/>
          </a:p>
        </p:txBody>
      </p:sp>
      <p:sp>
        <p:nvSpPr>
          <p:cNvPr id="14" name="Text 12"/>
          <p:cNvSpPr txBox="1"/>
          <p:nvPr/>
        </p:nvSpPr>
        <p:spPr>
          <a:xfrm>
            <a:off x="4643018" y="4206240"/>
            <a:ext cx="2905658" cy="640080"/>
          </a:xfrm>
          <a:prstGeom prst="rect">
            <a:avLst/>
          </a:prstGeom>
          <a:noFill/>
          <a:ln/>
        </p:spPr>
        <p:txBody>
          <a:bodyPr wrap="square" lIns="0" tIns="0" rIns="0" bIns="0" rtlCol="0" anchor="ctr"/>
          <a:lstStyle/>
          <a:p>
            <a:pPr marL="0" indent="0">
              <a:lnSpc>
                <a:spcPts val="1500"/>
              </a:lnSpc>
              <a:buNone/>
            </a:pPr>
            <a:r>
              <a:rPr lang="en-US" sz="1150" b="1" i="1" dirty="0">
                <a:solidFill>
                  <a:srgbClr val="A93B2C"/>
                </a:solidFill>
                <a:latin typeface="Calibri" pitchFamily="34" charset="0"/>
                <a:ea typeface="Calibri" pitchFamily="34" charset="-122"/>
                <a:cs typeface="Calibri" pitchFamily="34" charset="-120"/>
              </a:rPr>
              <a:t>A conjecture cannot bear the weight of a thesis without being flagged as one.</a:t>
            </a:r>
            <a:endParaRPr lang="en-US" sz="1150" dirty="0"/>
          </a:p>
        </p:txBody>
      </p:sp>
      <p:sp>
        <p:nvSpPr>
          <p:cNvPr id="15" name="Shape 13"/>
          <p:cNvSpPr/>
          <p:nvPr/>
        </p:nvSpPr>
        <p:spPr>
          <a:xfrm>
            <a:off x="8097317" y="1325880"/>
            <a:ext cx="3454298" cy="3657600"/>
          </a:xfrm>
          <a:prstGeom prst="roundRect">
            <a:avLst>
              <a:gd name="adj" fmla="val 2118"/>
            </a:avLst>
          </a:prstGeom>
          <a:solidFill>
            <a:srgbClr val="E9EFF6"/>
          </a:solidFill>
          <a:ln w="12700">
            <a:solidFill>
              <a:srgbClr val="E9EFF6"/>
            </a:solidFill>
            <a:prstDash val="solid"/>
          </a:ln>
        </p:spPr>
        <p:txBody>
          <a:bodyPr/>
          <a:lstStyle/>
          <a:p>
            <a:endParaRPr lang="en-US"/>
          </a:p>
        </p:txBody>
      </p:sp>
      <p:sp>
        <p:nvSpPr>
          <p:cNvPr id="16" name="Text 14"/>
          <p:cNvSpPr txBox="1"/>
          <p:nvPr/>
        </p:nvSpPr>
        <p:spPr>
          <a:xfrm>
            <a:off x="8371637" y="1517904"/>
            <a:ext cx="2905658" cy="594360"/>
          </a:xfrm>
          <a:prstGeom prst="rect">
            <a:avLst/>
          </a:prstGeom>
          <a:noFill/>
          <a:ln/>
        </p:spPr>
        <p:txBody>
          <a:bodyPr wrap="square" lIns="0" tIns="0" rIns="0" bIns="0" rtlCol="0" anchor="ctr"/>
          <a:lstStyle/>
          <a:p>
            <a:pPr marL="0" indent="0">
              <a:lnSpc>
                <a:spcPts val="1900"/>
              </a:lnSpc>
              <a:buNone/>
            </a:pPr>
            <a:r>
              <a:rPr lang="en-US" sz="1550" b="1" i="1" dirty="0">
                <a:solidFill>
                  <a:srgbClr val="1C1B1A"/>
                </a:solidFill>
                <a:latin typeface="Cambria" pitchFamily="34" charset="0"/>
                <a:ea typeface="Cambria" pitchFamily="34" charset="-122"/>
                <a:cs typeface="Cambria" pitchFamily="34" charset="-120"/>
              </a:rPr>
              <a:t>“Lost his citizenship”</a:t>
            </a:r>
            <a:endParaRPr lang="en-US" sz="1550" dirty="0"/>
          </a:p>
        </p:txBody>
      </p:sp>
      <p:sp>
        <p:nvSpPr>
          <p:cNvPr id="17" name="Text 15"/>
          <p:cNvSpPr txBox="1"/>
          <p:nvPr/>
        </p:nvSpPr>
        <p:spPr>
          <a:xfrm>
            <a:off x="8371637" y="2212848"/>
            <a:ext cx="2905658" cy="1783080"/>
          </a:xfrm>
          <a:prstGeom prst="rect">
            <a:avLst/>
          </a:prstGeom>
          <a:noFill/>
          <a:ln/>
        </p:spPr>
        <p:txBody>
          <a:bodyPr wrap="square" lIns="0" tIns="0" rIns="0" bIns="0" rtlCol="0" anchor="ctr"/>
          <a:lstStyle/>
          <a:p>
            <a:pPr marL="0" indent="0">
              <a:lnSpc>
                <a:spcPts val="1500"/>
              </a:lnSpc>
              <a:buNone/>
            </a:pPr>
            <a:r>
              <a:rPr lang="en-US" sz="1150" dirty="0">
                <a:solidFill>
                  <a:srgbClr val="6B6862"/>
                </a:solidFill>
                <a:latin typeface="Calibri" pitchFamily="34" charset="0"/>
                <a:ea typeface="Calibri" pitchFamily="34" charset="-122"/>
                <a:cs typeface="Calibri" pitchFamily="34" charset="-120"/>
              </a:rPr>
              <a:t>Relegatio specifically did not entail loss of citizenship or confiscation of property — that is what distinguished it from exilium. The essay’s own emphasis on deprivation overstates a real loss into a technically false one.</a:t>
            </a:r>
            <a:endParaRPr lang="en-US" sz="1150" dirty="0"/>
          </a:p>
        </p:txBody>
      </p:sp>
      <p:sp>
        <p:nvSpPr>
          <p:cNvPr id="18" name="Shape 16"/>
          <p:cNvSpPr/>
          <p:nvPr/>
        </p:nvSpPr>
        <p:spPr>
          <a:xfrm>
            <a:off x="8371637" y="4069080"/>
            <a:ext cx="1005840" cy="18288"/>
          </a:xfrm>
          <a:prstGeom prst="rect">
            <a:avLst/>
          </a:prstGeom>
          <a:solidFill>
            <a:srgbClr val="A93B2C"/>
          </a:solidFill>
          <a:ln/>
        </p:spPr>
        <p:txBody>
          <a:bodyPr/>
          <a:lstStyle/>
          <a:p>
            <a:endParaRPr lang="en-US"/>
          </a:p>
        </p:txBody>
      </p:sp>
      <p:sp>
        <p:nvSpPr>
          <p:cNvPr id="19" name="Text 17"/>
          <p:cNvSpPr txBox="1"/>
          <p:nvPr/>
        </p:nvSpPr>
        <p:spPr>
          <a:xfrm>
            <a:off x="8371637" y="4206240"/>
            <a:ext cx="2905658" cy="640080"/>
          </a:xfrm>
          <a:prstGeom prst="rect">
            <a:avLst/>
          </a:prstGeom>
          <a:noFill/>
          <a:ln/>
        </p:spPr>
        <p:txBody>
          <a:bodyPr wrap="square" lIns="0" tIns="0" rIns="0" bIns="0" rtlCol="0" anchor="ctr"/>
          <a:lstStyle/>
          <a:p>
            <a:pPr marL="0" indent="0">
              <a:lnSpc>
                <a:spcPts val="1500"/>
              </a:lnSpc>
              <a:buNone/>
            </a:pPr>
            <a:r>
              <a:rPr lang="en-US" sz="1150" b="1" i="1" dirty="0">
                <a:solidFill>
                  <a:srgbClr val="A93B2C"/>
                </a:solidFill>
                <a:latin typeface="Calibri" pitchFamily="34" charset="0"/>
                <a:ea typeface="Calibri" pitchFamily="34" charset="-122"/>
                <a:cs typeface="Calibri" pitchFamily="34" charset="-120"/>
              </a:rPr>
              <a:t>Precision here would have cost nothing and strengthened the pathos.</a:t>
            </a:r>
            <a:endParaRPr lang="en-US" sz="1150" dirty="0"/>
          </a:p>
        </p:txBody>
      </p:sp>
      <p:sp>
        <p:nvSpPr>
          <p:cNvPr id="20" name="Shape 18"/>
          <p:cNvSpPr/>
          <p:nvPr/>
        </p:nvSpPr>
        <p:spPr>
          <a:xfrm>
            <a:off x="640080" y="5166360"/>
            <a:ext cx="10911535" cy="1005840"/>
          </a:xfrm>
          <a:prstGeom prst="roundRect">
            <a:avLst>
              <a:gd name="adj" fmla="val 7273"/>
            </a:avLst>
          </a:prstGeom>
          <a:solidFill>
            <a:srgbClr val="1C1B1A"/>
          </a:solidFill>
          <a:ln w="12700">
            <a:solidFill>
              <a:srgbClr val="1C1B1A"/>
            </a:solidFill>
            <a:prstDash val="solid"/>
          </a:ln>
        </p:spPr>
        <p:txBody>
          <a:bodyPr/>
          <a:lstStyle/>
          <a:p>
            <a:endParaRPr lang="en-US"/>
          </a:p>
        </p:txBody>
      </p:sp>
      <p:sp>
        <p:nvSpPr>
          <p:cNvPr id="21" name="Text 19"/>
          <p:cNvSpPr txBox="1"/>
          <p:nvPr/>
        </p:nvSpPr>
        <p:spPr>
          <a:xfrm>
            <a:off x="1005840" y="5330952"/>
            <a:ext cx="10424160" cy="676656"/>
          </a:xfrm>
          <a:prstGeom prst="rect">
            <a:avLst/>
          </a:prstGeom>
          <a:noFill/>
          <a:ln/>
        </p:spPr>
        <p:txBody>
          <a:bodyPr wrap="square" lIns="0" tIns="0" rIns="0" bIns="0" rtlCol="0" anchor="ctr"/>
          <a:lstStyle/>
          <a:p>
            <a:pPr marL="0" indent="0">
              <a:lnSpc>
                <a:spcPts val="2000"/>
              </a:lnSpc>
              <a:buNone/>
            </a:pPr>
            <a:r>
              <a:rPr lang="en-US" sz="1500" dirty="0">
                <a:solidFill>
                  <a:srgbClr val="F2F0EB"/>
                </a:solidFill>
                <a:latin typeface="Cambria" pitchFamily="34" charset="0"/>
                <a:ea typeface="Cambria" pitchFamily="34" charset="-122"/>
                <a:cs typeface="Cambria" pitchFamily="34" charset="-120"/>
              </a:rPr>
              <a:t>The first one is fatal on its own. Everything in the Ovid half that reads the poem as a disguised complaint about Tomis requires a composition date the poem does not have.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PROBLEM THREE · THE KEY TERM</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“Essence” is never defined, and does all the work</a:t>
            </a:r>
            <a:endParaRPr lang="en-US" sz="2900" dirty="0"/>
          </a:p>
        </p:txBody>
      </p:sp>
      <p:sp>
        <p:nvSpPr>
          <p:cNvPr id="5" name="Shape 3"/>
          <p:cNvSpPr/>
          <p:nvPr/>
        </p:nvSpPr>
        <p:spPr>
          <a:xfrm>
            <a:off x="640080" y="1325880"/>
            <a:ext cx="5760720" cy="2148840"/>
          </a:xfrm>
          <a:prstGeom prst="roundRect">
            <a:avLst>
              <a:gd name="adj" fmla="val 3404"/>
            </a:avLst>
          </a:prstGeom>
          <a:solidFill>
            <a:srgbClr val="1C1B1A"/>
          </a:solidFill>
          <a:ln w="12700">
            <a:solidFill>
              <a:srgbClr val="1C1B1A"/>
            </a:solidFill>
            <a:prstDash val="solid"/>
          </a:ln>
        </p:spPr>
        <p:txBody>
          <a:bodyPr/>
          <a:lstStyle/>
          <a:p>
            <a:endParaRPr lang="en-US"/>
          </a:p>
        </p:txBody>
      </p:sp>
      <p:sp>
        <p:nvSpPr>
          <p:cNvPr id="6" name="Text 4"/>
          <p:cNvSpPr txBox="1"/>
          <p:nvPr/>
        </p:nvSpPr>
        <p:spPr>
          <a:xfrm>
            <a:off x="960120" y="1490472"/>
            <a:ext cx="5212080" cy="274320"/>
          </a:xfrm>
          <a:prstGeom prst="rect">
            <a:avLst/>
          </a:prstGeom>
          <a:noFill/>
          <a:ln/>
        </p:spPr>
        <p:txBody>
          <a:bodyPr wrap="square" lIns="0" tIns="0" rIns="0" bIns="0" rtlCol="0" anchor="ctr"/>
          <a:lstStyle/>
          <a:p>
            <a:pPr marL="0" indent="0">
              <a:buNone/>
            </a:pPr>
            <a:r>
              <a:rPr lang="en-US" sz="1100" b="1" kern="0" spc="140" dirty="0">
                <a:solidFill>
                  <a:srgbClr val="D99A90"/>
                </a:solidFill>
                <a:latin typeface="Calibri" pitchFamily="34" charset="0"/>
                <a:ea typeface="Calibri" pitchFamily="34" charset="-122"/>
                <a:cs typeface="Calibri" pitchFamily="34" charset="-120"/>
              </a:rPr>
              <a:t>The claim</a:t>
            </a:r>
            <a:endParaRPr lang="en-US" sz="1100" dirty="0"/>
          </a:p>
        </p:txBody>
      </p:sp>
      <p:sp>
        <p:nvSpPr>
          <p:cNvPr id="7" name="Text 5"/>
          <p:cNvSpPr txBox="1"/>
          <p:nvPr/>
        </p:nvSpPr>
        <p:spPr>
          <a:xfrm>
            <a:off x="960120" y="1828800"/>
            <a:ext cx="5257800" cy="1463040"/>
          </a:xfrm>
          <a:prstGeom prst="rect">
            <a:avLst/>
          </a:prstGeom>
          <a:noFill/>
          <a:ln/>
        </p:spPr>
        <p:txBody>
          <a:bodyPr wrap="square" lIns="0" tIns="0" rIns="0" bIns="0" rtlCol="0" anchor="ctr"/>
          <a:lstStyle/>
          <a:p>
            <a:pPr marL="0" indent="0">
              <a:lnSpc>
                <a:spcPts val="2000"/>
              </a:lnSpc>
              <a:buNone/>
            </a:pPr>
            <a:r>
              <a:rPr lang="en-US" sz="1450" dirty="0">
                <a:solidFill>
                  <a:srgbClr val="F2F0EB"/>
                </a:solidFill>
                <a:latin typeface="Cambria" pitchFamily="34" charset="0"/>
                <a:ea typeface="Cambria" pitchFamily="34" charset="-122"/>
                <a:cs typeface="Cambria" pitchFamily="34" charset="-120"/>
              </a:rPr>
              <a:t>That a transformed body is a better indicator of the subject’s essence than the human form was: Daphne’s coldness becomes literal in the laurel; Narcissus’s aloofness and loyalty become the flower beside the pool.</a:t>
            </a:r>
            <a:endParaRPr lang="en-US" sz="1450" dirty="0"/>
          </a:p>
        </p:txBody>
      </p:sp>
      <p:sp>
        <p:nvSpPr>
          <p:cNvPr id="8" name="Shape 6"/>
          <p:cNvSpPr/>
          <p:nvPr/>
        </p:nvSpPr>
        <p:spPr>
          <a:xfrm>
            <a:off x="6812280" y="1325880"/>
            <a:ext cx="4718304" cy="1051560"/>
          </a:xfrm>
          <a:prstGeom prst="roundRect">
            <a:avLst>
              <a:gd name="adj" fmla="val 6957"/>
            </a:avLst>
          </a:prstGeom>
          <a:solidFill>
            <a:srgbClr val="E9EFF6"/>
          </a:solidFill>
          <a:ln w="12700">
            <a:solidFill>
              <a:srgbClr val="E9EFF6"/>
            </a:solidFill>
            <a:prstDash val="solid"/>
          </a:ln>
        </p:spPr>
        <p:txBody>
          <a:bodyPr/>
          <a:lstStyle/>
          <a:p>
            <a:endParaRPr lang="en-US"/>
          </a:p>
        </p:txBody>
      </p:sp>
      <p:sp>
        <p:nvSpPr>
          <p:cNvPr id="9" name="Text 7"/>
          <p:cNvSpPr txBox="1"/>
          <p:nvPr/>
        </p:nvSpPr>
        <p:spPr>
          <a:xfrm>
            <a:off x="7086600" y="1435608"/>
            <a:ext cx="4169664" cy="292608"/>
          </a:xfrm>
          <a:prstGeom prst="rect">
            <a:avLst/>
          </a:prstGeom>
          <a:noFill/>
          <a:ln/>
        </p:spPr>
        <p:txBody>
          <a:bodyPr wrap="square" lIns="0" tIns="0" rIns="0" bIns="0" rtlCol="0" anchor="ctr"/>
          <a:lstStyle/>
          <a:p>
            <a:pPr marL="0" indent="0">
              <a:buNone/>
            </a:pPr>
            <a:r>
              <a:rPr lang="en-US" sz="1350" b="1" dirty="0">
                <a:solidFill>
                  <a:srgbClr val="2F5D8C"/>
                </a:solidFill>
                <a:latin typeface="Cambria" pitchFamily="34" charset="0"/>
                <a:ea typeface="Cambria" pitchFamily="34" charset="-122"/>
                <a:cs typeface="Cambria" pitchFamily="34" charset="-120"/>
              </a:rPr>
              <a:t>The Daphne reading is reasonable</a:t>
            </a:r>
            <a:endParaRPr lang="en-US" sz="1350" dirty="0"/>
          </a:p>
        </p:txBody>
      </p:sp>
      <p:sp>
        <p:nvSpPr>
          <p:cNvPr id="10" name="Text 8"/>
          <p:cNvSpPr txBox="1"/>
          <p:nvPr/>
        </p:nvSpPr>
        <p:spPr>
          <a:xfrm>
            <a:off x="7086600" y="1764792"/>
            <a:ext cx="4169664" cy="548640"/>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Coldness, muteness, intangibility — three specific correspondences, all textually present. As a reading of one tale it works and should be kept.</a:t>
            </a:r>
            <a:endParaRPr lang="en-US" sz="1050" dirty="0"/>
          </a:p>
        </p:txBody>
      </p:sp>
      <p:sp>
        <p:nvSpPr>
          <p:cNvPr id="11" name="Shape 9"/>
          <p:cNvSpPr/>
          <p:nvPr/>
        </p:nvSpPr>
        <p:spPr>
          <a:xfrm>
            <a:off x="6812280" y="2450592"/>
            <a:ext cx="4718304" cy="1051560"/>
          </a:xfrm>
          <a:prstGeom prst="roundRect">
            <a:avLst>
              <a:gd name="adj" fmla="val 6957"/>
            </a:avLst>
          </a:prstGeom>
          <a:solidFill>
            <a:srgbClr val="F8EBE8"/>
          </a:solidFill>
          <a:ln w="12700">
            <a:solidFill>
              <a:srgbClr val="F8EBE8"/>
            </a:solidFill>
            <a:prstDash val="solid"/>
          </a:ln>
        </p:spPr>
        <p:txBody>
          <a:bodyPr/>
          <a:lstStyle/>
          <a:p>
            <a:endParaRPr lang="en-US"/>
          </a:p>
        </p:txBody>
      </p:sp>
      <p:sp>
        <p:nvSpPr>
          <p:cNvPr id="12" name="Text 10"/>
          <p:cNvSpPr txBox="1"/>
          <p:nvPr/>
        </p:nvSpPr>
        <p:spPr>
          <a:xfrm>
            <a:off x="7086600" y="2560320"/>
            <a:ext cx="4169664" cy="292608"/>
          </a:xfrm>
          <a:prstGeom prst="rect">
            <a:avLst/>
          </a:prstGeom>
          <a:noFill/>
          <a:ln/>
        </p:spPr>
        <p:txBody>
          <a:bodyPr wrap="square" lIns="0" tIns="0" rIns="0" bIns="0" rtlCol="0" anchor="ctr"/>
          <a:lstStyle/>
          <a:p>
            <a:pPr marL="0" indent="0">
              <a:buNone/>
            </a:pPr>
            <a:r>
              <a:rPr lang="en-US" sz="1350" b="1" dirty="0">
                <a:solidFill>
                  <a:srgbClr val="A93B2C"/>
                </a:solidFill>
                <a:latin typeface="Cambria" pitchFamily="34" charset="0"/>
                <a:ea typeface="Cambria" pitchFamily="34" charset="-122"/>
                <a:cs typeface="Cambria" pitchFamily="34" charset="-120"/>
              </a:rPr>
              <a:t>But the criterion is never stated</a:t>
            </a:r>
            <a:endParaRPr lang="en-US" sz="1350" dirty="0"/>
          </a:p>
        </p:txBody>
      </p:sp>
      <p:sp>
        <p:nvSpPr>
          <p:cNvPr id="13" name="Text 11"/>
          <p:cNvSpPr txBox="1"/>
          <p:nvPr/>
        </p:nvSpPr>
        <p:spPr>
          <a:xfrm>
            <a:off x="7086600" y="2889504"/>
            <a:ext cx="4169664" cy="548640"/>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What would a transformation that failed to express an essence look like? If no case could fail, the term is not doing analytic work; it is supplying a licence to find a fit.</a:t>
            </a:r>
            <a:endParaRPr lang="en-US" sz="1050" dirty="0"/>
          </a:p>
        </p:txBody>
      </p:sp>
      <p:sp>
        <p:nvSpPr>
          <p:cNvPr id="14" name="Shape 12"/>
          <p:cNvSpPr/>
          <p:nvPr/>
        </p:nvSpPr>
        <p:spPr>
          <a:xfrm>
            <a:off x="6812280" y="3575304"/>
            <a:ext cx="4718304" cy="1051560"/>
          </a:xfrm>
          <a:prstGeom prst="roundRect">
            <a:avLst>
              <a:gd name="adj" fmla="val 6957"/>
            </a:avLst>
          </a:prstGeom>
          <a:solidFill>
            <a:srgbClr val="E9EFF6"/>
          </a:solidFill>
          <a:ln w="12700">
            <a:solidFill>
              <a:srgbClr val="E9EFF6"/>
            </a:solidFill>
            <a:prstDash val="solid"/>
          </a:ln>
        </p:spPr>
        <p:txBody>
          <a:bodyPr/>
          <a:lstStyle/>
          <a:p>
            <a:endParaRPr lang="en-US"/>
          </a:p>
        </p:txBody>
      </p:sp>
      <p:sp>
        <p:nvSpPr>
          <p:cNvPr id="15" name="Text 13"/>
          <p:cNvSpPr txBox="1"/>
          <p:nvPr/>
        </p:nvSpPr>
        <p:spPr>
          <a:xfrm>
            <a:off x="7086600" y="3685032"/>
            <a:ext cx="4169664" cy="292608"/>
          </a:xfrm>
          <a:prstGeom prst="rect">
            <a:avLst/>
          </a:prstGeom>
          <a:noFill/>
          <a:ln/>
        </p:spPr>
        <p:txBody>
          <a:bodyPr wrap="square" lIns="0" tIns="0" rIns="0" bIns="0" rtlCol="0" anchor="ctr"/>
          <a:lstStyle/>
          <a:p>
            <a:pPr marL="0" indent="0">
              <a:buNone/>
            </a:pPr>
            <a:r>
              <a:rPr lang="en-US" sz="1350" b="1" dirty="0">
                <a:solidFill>
                  <a:srgbClr val="2F5D8C"/>
                </a:solidFill>
                <a:latin typeface="Cambria" pitchFamily="34" charset="0"/>
                <a:ea typeface="Cambria" pitchFamily="34" charset="-122"/>
                <a:cs typeface="Cambria" pitchFamily="34" charset="-120"/>
              </a:rPr>
              <a:t>And the essay’s own example breaks it</a:t>
            </a:r>
            <a:endParaRPr lang="en-US" sz="1350" dirty="0"/>
          </a:p>
        </p:txBody>
      </p:sp>
      <p:sp>
        <p:nvSpPr>
          <p:cNvPr id="16" name="Text 14"/>
          <p:cNvSpPr txBox="1"/>
          <p:nvPr/>
        </p:nvSpPr>
        <p:spPr>
          <a:xfrm>
            <a:off x="7086600" y="4014216"/>
            <a:ext cx="4169664" cy="548640"/>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Callisto becomes a bear and is nearly killed by her son. Which essence is the bear expressing? The essay raises the case on page two and never returns to it.</a:t>
            </a:r>
            <a:endParaRPr lang="en-US" sz="1050" dirty="0"/>
          </a:p>
        </p:txBody>
      </p:sp>
      <p:sp>
        <p:nvSpPr>
          <p:cNvPr id="17" name="Shape 15"/>
          <p:cNvSpPr/>
          <p:nvPr/>
        </p:nvSpPr>
        <p:spPr>
          <a:xfrm>
            <a:off x="6812280" y="4700016"/>
            <a:ext cx="4718304" cy="1051560"/>
          </a:xfrm>
          <a:prstGeom prst="roundRect">
            <a:avLst>
              <a:gd name="adj" fmla="val 6957"/>
            </a:avLst>
          </a:prstGeom>
          <a:solidFill>
            <a:srgbClr val="F8EBE8"/>
          </a:solidFill>
          <a:ln w="12700">
            <a:solidFill>
              <a:srgbClr val="F8EBE8"/>
            </a:solidFill>
            <a:prstDash val="solid"/>
          </a:ln>
        </p:spPr>
        <p:txBody>
          <a:bodyPr/>
          <a:lstStyle/>
          <a:p>
            <a:endParaRPr lang="en-US"/>
          </a:p>
        </p:txBody>
      </p:sp>
      <p:sp>
        <p:nvSpPr>
          <p:cNvPr id="18" name="Text 16"/>
          <p:cNvSpPr txBox="1"/>
          <p:nvPr/>
        </p:nvSpPr>
        <p:spPr>
          <a:xfrm>
            <a:off x="7086600" y="4809744"/>
            <a:ext cx="4169664" cy="292608"/>
          </a:xfrm>
          <a:prstGeom prst="rect">
            <a:avLst/>
          </a:prstGeom>
          <a:noFill/>
          <a:ln/>
        </p:spPr>
        <p:txBody>
          <a:bodyPr wrap="square" lIns="0" tIns="0" rIns="0" bIns="0" rtlCol="0" anchor="ctr"/>
          <a:lstStyle/>
          <a:p>
            <a:pPr marL="0" indent="0">
              <a:buNone/>
            </a:pPr>
            <a:r>
              <a:rPr lang="en-US" sz="1350" b="1" dirty="0">
                <a:solidFill>
                  <a:srgbClr val="A93B2C"/>
                </a:solidFill>
                <a:latin typeface="Cambria" pitchFamily="34" charset="0"/>
                <a:ea typeface="Cambria" pitchFamily="34" charset="-122"/>
                <a:cs typeface="Cambria" pitchFamily="34" charset="-120"/>
              </a:rPr>
              <a:t>Ovid supplies more</a:t>
            </a:r>
            <a:endParaRPr lang="en-US" sz="1350" dirty="0"/>
          </a:p>
        </p:txBody>
      </p:sp>
      <p:sp>
        <p:nvSpPr>
          <p:cNvPr id="19" name="Text 17"/>
          <p:cNvSpPr txBox="1"/>
          <p:nvPr/>
        </p:nvSpPr>
        <p:spPr>
          <a:xfrm>
            <a:off x="7086600" y="5138928"/>
            <a:ext cx="4169664" cy="548640"/>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Actaeon becomes a stag and is torn apart by his own hounds — an accident of sight, not an expression of character. Io becomes a cow. Arachne, admittedly, becomes a spider, which fits beautifully.</a:t>
            </a:r>
            <a:endParaRPr lang="en-US" sz="1050" dirty="0"/>
          </a:p>
        </p:txBody>
      </p:sp>
      <p:sp>
        <p:nvSpPr>
          <p:cNvPr id="20" name="Shape 18"/>
          <p:cNvSpPr/>
          <p:nvPr/>
        </p:nvSpPr>
        <p:spPr>
          <a:xfrm>
            <a:off x="640080" y="3639312"/>
            <a:ext cx="5760720" cy="2121408"/>
          </a:xfrm>
          <a:prstGeom prst="roundRect">
            <a:avLst>
              <a:gd name="adj" fmla="val 3448"/>
            </a:avLst>
          </a:prstGeom>
          <a:solidFill>
            <a:srgbClr val="E9EFF6"/>
          </a:solidFill>
          <a:ln w="12700">
            <a:solidFill>
              <a:srgbClr val="E9EFF6"/>
            </a:solidFill>
            <a:prstDash val="solid"/>
          </a:ln>
        </p:spPr>
        <p:txBody>
          <a:bodyPr/>
          <a:lstStyle/>
          <a:p>
            <a:endParaRPr lang="en-US"/>
          </a:p>
        </p:txBody>
      </p:sp>
      <p:sp>
        <p:nvSpPr>
          <p:cNvPr id="21" name="Text 19"/>
          <p:cNvSpPr txBox="1"/>
          <p:nvPr/>
        </p:nvSpPr>
        <p:spPr>
          <a:xfrm>
            <a:off x="960120" y="3803904"/>
            <a:ext cx="5212080" cy="292608"/>
          </a:xfrm>
          <a:prstGeom prst="rect">
            <a:avLst/>
          </a:prstGeom>
          <a:noFill/>
          <a:ln/>
        </p:spPr>
        <p:txBody>
          <a:bodyPr wrap="square" lIns="0" tIns="0" rIns="0" bIns="0" rtlCol="0" anchor="ctr"/>
          <a:lstStyle/>
          <a:p>
            <a:pPr marL="0" indent="0">
              <a:buNone/>
            </a:pPr>
            <a:r>
              <a:rPr lang="en-US" sz="1100" b="1" kern="0" spc="140" dirty="0">
                <a:solidFill>
                  <a:srgbClr val="2F5D8C"/>
                </a:solidFill>
                <a:latin typeface="Calibri" pitchFamily="34" charset="0"/>
                <a:ea typeface="Calibri" pitchFamily="34" charset="-122"/>
                <a:cs typeface="Calibri" pitchFamily="34" charset="-120"/>
              </a:rPr>
              <a:t>The fix</a:t>
            </a:r>
            <a:endParaRPr lang="en-US" sz="1100" dirty="0"/>
          </a:p>
        </p:txBody>
      </p:sp>
      <p:sp>
        <p:nvSpPr>
          <p:cNvPr id="22" name="Text 20"/>
          <p:cNvSpPr txBox="1"/>
          <p:nvPr/>
        </p:nvSpPr>
        <p:spPr>
          <a:xfrm>
            <a:off x="960120" y="4151376"/>
            <a:ext cx="5212080" cy="1463040"/>
          </a:xfrm>
          <a:prstGeom prst="rect">
            <a:avLst/>
          </a:prstGeom>
          <a:noFill/>
          <a:ln/>
        </p:spPr>
        <p:txBody>
          <a:bodyPr wrap="square" lIns="0" tIns="0" rIns="0" bIns="0" rtlCol="0" anchor="ctr"/>
          <a:lstStyle/>
          <a:p>
            <a:pPr marL="0" indent="0">
              <a:lnSpc>
                <a:spcPts val="1700"/>
              </a:lnSpc>
              <a:buNone/>
            </a:pPr>
            <a:r>
              <a:rPr lang="en-US" sz="1250" dirty="0">
                <a:solidFill>
                  <a:srgbClr val="6B6862"/>
                </a:solidFill>
                <a:latin typeface="Calibri" pitchFamily="34" charset="0"/>
                <a:ea typeface="Calibri" pitchFamily="34" charset="-122"/>
                <a:cs typeface="Calibri" pitchFamily="34" charset="-120"/>
              </a:rPr>
              <a:t>Define essence, or replace it. The strong version of this argument is narrower: in some tales the new form literalises a trait the human form only asserted, and Ovid uses that device selectively. Then Actaeon is not a counterexample — he is evidence of the selection, and the question becomes when Ovid reaches for it and when he does not.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PROBLEM FOUR · THE INFERENCE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One paragraph does not follow, and the conclusion rests on it</a:t>
            </a:r>
            <a:endParaRPr lang="en-US" sz="2900" dirty="0"/>
          </a:p>
        </p:txBody>
      </p:sp>
      <p:sp>
        <p:nvSpPr>
          <p:cNvPr id="5" name="Shape 3"/>
          <p:cNvSpPr/>
          <p:nvPr/>
        </p:nvSpPr>
        <p:spPr>
          <a:xfrm>
            <a:off x="640080" y="1325880"/>
            <a:ext cx="6675120" cy="2331720"/>
          </a:xfrm>
          <a:prstGeom prst="roundRect">
            <a:avLst>
              <a:gd name="adj" fmla="val 3137"/>
            </a:avLst>
          </a:prstGeom>
          <a:solidFill>
            <a:srgbClr val="1C1B1A"/>
          </a:solidFill>
          <a:ln w="12700">
            <a:solidFill>
              <a:srgbClr val="1C1B1A"/>
            </a:solidFill>
            <a:prstDash val="solid"/>
          </a:ln>
        </p:spPr>
        <p:txBody>
          <a:bodyPr/>
          <a:lstStyle/>
          <a:p>
            <a:endParaRPr lang="en-US"/>
          </a:p>
        </p:txBody>
      </p:sp>
      <p:sp>
        <p:nvSpPr>
          <p:cNvPr id="6" name="Text 4"/>
          <p:cNvSpPr txBox="1"/>
          <p:nvPr/>
        </p:nvSpPr>
        <p:spPr>
          <a:xfrm>
            <a:off x="960120" y="1490472"/>
            <a:ext cx="6126480" cy="274320"/>
          </a:xfrm>
          <a:prstGeom prst="rect">
            <a:avLst/>
          </a:prstGeom>
          <a:noFill/>
          <a:ln/>
        </p:spPr>
        <p:txBody>
          <a:bodyPr wrap="square" lIns="0" tIns="0" rIns="0" bIns="0" rtlCol="0" anchor="ctr"/>
          <a:lstStyle/>
          <a:p>
            <a:pPr marL="0" indent="0">
              <a:buNone/>
            </a:pPr>
            <a:r>
              <a:rPr lang="en-US" sz="1100" b="1" kern="0" spc="140" dirty="0">
                <a:solidFill>
                  <a:srgbClr val="D99A90"/>
                </a:solidFill>
                <a:latin typeface="Calibri" pitchFamily="34" charset="0"/>
                <a:ea typeface="Calibri" pitchFamily="34" charset="-122"/>
                <a:cs typeface="Calibri" pitchFamily="34" charset="-120"/>
              </a:rPr>
              <a:t>The argument as given (p. 4)</a:t>
            </a:r>
            <a:endParaRPr lang="en-US" sz="1100" dirty="0"/>
          </a:p>
        </p:txBody>
      </p:sp>
      <p:sp>
        <p:nvSpPr>
          <p:cNvPr id="7" name="Text 5"/>
          <p:cNvSpPr txBox="1"/>
          <p:nvPr/>
        </p:nvSpPr>
        <p:spPr>
          <a:xfrm>
            <a:off x="960120" y="1847088"/>
            <a:ext cx="6126480" cy="1645920"/>
          </a:xfrm>
          <a:prstGeom prst="rect">
            <a:avLst/>
          </a:prstGeom>
          <a:noFill/>
          <a:ln/>
        </p:spPr>
        <p:txBody>
          <a:bodyPr wrap="square" lIns="0" tIns="0" rIns="0" bIns="0" rtlCol="0" anchor="ctr"/>
          <a:lstStyle/>
          <a:p>
            <a:pPr marL="0" indent="0">
              <a:lnSpc>
                <a:spcPts val="2600"/>
              </a:lnSpc>
              <a:buNone/>
            </a:pPr>
            <a:r>
              <a:rPr lang="en-US" sz="1500" dirty="0">
                <a:solidFill>
                  <a:srgbClr val="F2F0EB"/>
                </a:solidFill>
                <a:latin typeface="Cambria" pitchFamily="34" charset="0"/>
                <a:ea typeface="Cambria" pitchFamily="34" charset="-122"/>
                <a:cs typeface="Cambria" pitchFamily="34" charset="-120"/>
              </a:rPr>
              <a:t>1.  Perception is shaped by people’s words.</a:t>
            </a:r>
            <a:endParaRPr lang="en-US" sz="1500" dirty="0"/>
          </a:p>
          <a:p>
            <a:pPr marL="0" indent="0">
              <a:lnSpc>
                <a:spcPts val="2600"/>
              </a:lnSpc>
              <a:buNone/>
            </a:pPr>
            <a:r>
              <a:rPr lang="en-US" sz="1500" dirty="0">
                <a:solidFill>
                  <a:srgbClr val="F2F0EB"/>
                </a:solidFill>
                <a:latin typeface="Cambria" pitchFamily="34" charset="0"/>
                <a:ea typeface="Cambria" pitchFamily="34" charset="-122"/>
                <a:cs typeface="Cambria" pitchFamily="34" charset="-120"/>
              </a:rPr>
              <a:t>2.  Words are human-made, so perceptions are artificial.</a:t>
            </a:r>
            <a:endParaRPr lang="en-US" sz="1500" dirty="0"/>
          </a:p>
          <a:p>
            <a:pPr marL="0" indent="0">
              <a:lnSpc>
                <a:spcPts val="2600"/>
              </a:lnSpc>
              <a:buNone/>
            </a:pPr>
            <a:r>
              <a:rPr lang="en-US" sz="1500" dirty="0">
                <a:solidFill>
                  <a:srgbClr val="F2F0EB"/>
                </a:solidFill>
                <a:latin typeface="Cambria" pitchFamily="34" charset="0"/>
                <a:ea typeface="Cambria" pitchFamily="34" charset="-122"/>
                <a:cs typeface="Cambria" pitchFamily="34" charset="-120"/>
              </a:rPr>
              <a:t>3.  Therefore all perceptions are artifacts.</a:t>
            </a:r>
            <a:endParaRPr lang="en-US" sz="1500" dirty="0"/>
          </a:p>
          <a:p>
            <a:pPr marL="0" indent="0">
              <a:lnSpc>
                <a:spcPts val="2600"/>
              </a:lnSpc>
              <a:buNone/>
            </a:pPr>
            <a:r>
              <a:rPr lang="en-US" sz="1500" dirty="0">
                <a:solidFill>
                  <a:srgbClr val="F2F0EB"/>
                </a:solidFill>
                <a:latin typeface="Cambria" pitchFamily="34" charset="0"/>
                <a:ea typeface="Cambria" pitchFamily="34" charset="-122"/>
                <a:cs typeface="Cambria" pitchFamily="34" charset="-120"/>
              </a:rPr>
              <a:t>4.  Therefore the boundary between humans and artifacts disappears.</a:t>
            </a:r>
            <a:endParaRPr lang="en-US" sz="1500" dirty="0"/>
          </a:p>
        </p:txBody>
      </p:sp>
      <p:sp>
        <p:nvSpPr>
          <p:cNvPr id="8" name="Shape 6"/>
          <p:cNvSpPr/>
          <p:nvPr/>
        </p:nvSpPr>
        <p:spPr>
          <a:xfrm>
            <a:off x="7635240" y="1325880"/>
            <a:ext cx="3895344" cy="1481328"/>
          </a:xfrm>
          <a:prstGeom prst="roundRect">
            <a:avLst>
              <a:gd name="adj" fmla="val 4938"/>
            </a:avLst>
          </a:prstGeom>
          <a:solidFill>
            <a:srgbClr val="E9EFF6"/>
          </a:solidFill>
          <a:ln w="12700">
            <a:solidFill>
              <a:srgbClr val="E9EFF6"/>
            </a:solidFill>
            <a:prstDash val="solid"/>
          </a:ln>
        </p:spPr>
        <p:txBody>
          <a:bodyPr/>
          <a:lstStyle/>
          <a:p>
            <a:endParaRPr lang="en-US"/>
          </a:p>
        </p:txBody>
      </p:sp>
      <p:sp>
        <p:nvSpPr>
          <p:cNvPr id="9" name="Text 7"/>
          <p:cNvSpPr txBox="1"/>
          <p:nvPr/>
        </p:nvSpPr>
        <p:spPr>
          <a:xfrm>
            <a:off x="7909560" y="1472184"/>
            <a:ext cx="3346704" cy="475488"/>
          </a:xfrm>
          <a:prstGeom prst="rect">
            <a:avLst/>
          </a:prstGeom>
          <a:noFill/>
          <a:ln/>
        </p:spPr>
        <p:txBody>
          <a:bodyPr wrap="square" lIns="0" tIns="0" rIns="0" bIns="0" rtlCol="0" anchor="ctr"/>
          <a:lstStyle/>
          <a:p>
            <a:pPr marL="0" indent="0">
              <a:lnSpc>
                <a:spcPts val="1600"/>
              </a:lnSpc>
              <a:buNone/>
            </a:pPr>
            <a:r>
              <a:rPr lang="en-US" sz="1300" b="1" dirty="0">
                <a:solidFill>
                  <a:srgbClr val="2F5D8C"/>
                </a:solidFill>
                <a:latin typeface="Cambria" pitchFamily="34" charset="0"/>
                <a:ea typeface="Cambria" pitchFamily="34" charset="-122"/>
                <a:cs typeface="Cambria" pitchFamily="34" charset="-120"/>
              </a:rPr>
              <a:t>Step 3 to 4 is the break</a:t>
            </a:r>
            <a:endParaRPr lang="en-US" sz="1300" dirty="0"/>
          </a:p>
        </p:txBody>
      </p:sp>
      <p:sp>
        <p:nvSpPr>
          <p:cNvPr id="10" name="Text 8"/>
          <p:cNvSpPr txBox="1"/>
          <p:nvPr/>
        </p:nvSpPr>
        <p:spPr>
          <a:xfrm>
            <a:off x="7909560" y="1984248"/>
            <a:ext cx="3346704" cy="731520"/>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That a perception is constructed says something about the perception. It says nothing about the ontological status of the perceiver or the thing perceived. My belief about a rock being socially formed does not make me, or the rock, a rock.</a:t>
            </a:r>
            <a:endParaRPr lang="en-US" sz="1050" dirty="0"/>
          </a:p>
        </p:txBody>
      </p:sp>
      <p:sp>
        <p:nvSpPr>
          <p:cNvPr id="11" name="Shape 9"/>
          <p:cNvSpPr/>
          <p:nvPr/>
        </p:nvSpPr>
        <p:spPr>
          <a:xfrm>
            <a:off x="7635240" y="2880360"/>
            <a:ext cx="3895344" cy="1481328"/>
          </a:xfrm>
          <a:prstGeom prst="roundRect">
            <a:avLst>
              <a:gd name="adj" fmla="val 4938"/>
            </a:avLst>
          </a:prstGeom>
          <a:solidFill>
            <a:srgbClr val="F8EBE8"/>
          </a:solidFill>
          <a:ln w="12700">
            <a:solidFill>
              <a:srgbClr val="F8EBE8"/>
            </a:solidFill>
            <a:prstDash val="solid"/>
          </a:ln>
        </p:spPr>
        <p:txBody>
          <a:bodyPr/>
          <a:lstStyle/>
          <a:p>
            <a:endParaRPr lang="en-US"/>
          </a:p>
        </p:txBody>
      </p:sp>
      <p:sp>
        <p:nvSpPr>
          <p:cNvPr id="12" name="Text 10"/>
          <p:cNvSpPr txBox="1"/>
          <p:nvPr/>
        </p:nvSpPr>
        <p:spPr>
          <a:xfrm>
            <a:off x="7909560" y="3026664"/>
            <a:ext cx="3346704" cy="475488"/>
          </a:xfrm>
          <a:prstGeom prst="rect">
            <a:avLst/>
          </a:prstGeom>
          <a:noFill/>
          <a:ln/>
        </p:spPr>
        <p:txBody>
          <a:bodyPr wrap="square" lIns="0" tIns="0" rIns="0" bIns="0" rtlCol="0" anchor="ctr"/>
          <a:lstStyle/>
          <a:p>
            <a:pPr marL="0" indent="0">
              <a:lnSpc>
                <a:spcPts val="1600"/>
              </a:lnSpc>
              <a:buNone/>
            </a:pPr>
            <a:r>
              <a:rPr lang="en-US" sz="1300" b="1" dirty="0">
                <a:solidFill>
                  <a:srgbClr val="A93B2C"/>
                </a:solidFill>
                <a:latin typeface="Cambria" pitchFamily="34" charset="0"/>
                <a:ea typeface="Cambria" pitchFamily="34" charset="-122"/>
                <a:cs typeface="Cambria" pitchFamily="34" charset="-120"/>
              </a:rPr>
              <a:t>“Artifact” shifts meaning mid-argument</a:t>
            </a:r>
            <a:endParaRPr lang="en-US" sz="1300" dirty="0"/>
          </a:p>
        </p:txBody>
      </p:sp>
      <p:sp>
        <p:nvSpPr>
          <p:cNvPr id="13" name="Text 11"/>
          <p:cNvSpPr txBox="1"/>
          <p:nvPr/>
        </p:nvSpPr>
        <p:spPr>
          <a:xfrm>
            <a:off x="7909560" y="3538728"/>
            <a:ext cx="3346704" cy="731520"/>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In step 3 it means “socially produced.” In step 4 it means “a made physical object, like a mirror or a koto.” The conclusion only works because one word is doing two jobs.</a:t>
            </a:r>
            <a:endParaRPr lang="en-US" sz="1050" dirty="0"/>
          </a:p>
        </p:txBody>
      </p:sp>
      <p:sp>
        <p:nvSpPr>
          <p:cNvPr id="14" name="Shape 12"/>
          <p:cNvSpPr/>
          <p:nvPr/>
        </p:nvSpPr>
        <p:spPr>
          <a:xfrm>
            <a:off x="7635240" y="4434840"/>
            <a:ext cx="3895344" cy="1481328"/>
          </a:xfrm>
          <a:prstGeom prst="roundRect">
            <a:avLst>
              <a:gd name="adj" fmla="val 4938"/>
            </a:avLst>
          </a:prstGeom>
          <a:solidFill>
            <a:srgbClr val="E9EFF6"/>
          </a:solidFill>
          <a:ln w="12700">
            <a:solidFill>
              <a:srgbClr val="E9EFF6"/>
            </a:solidFill>
            <a:prstDash val="solid"/>
          </a:ln>
        </p:spPr>
        <p:txBody>
          <a:bodyPr/>
          <a:lstStyle/>
          <a:p>
            <a:endParaRPr lang="en-US"/>
          </a:p>
        </p:txBody>
      </p:sp>
      <p:sp>
        <p:nvSpPr>
          <p:cNvPr id="15" name="Text 13"/>
          <p:cNvSpPr txBox="1"/>
          <p:nvPr/>
        </p:nvSpPr>
        <p:spPr>
          <a:xfrm>
            <a:off x="7909560" y="4581144"/>
            <a:ext cx="3346704" cy="475488"/>
          </a:xfrm>
          <a:prstGeom prst="rect">
            <a:avLst/>
          </a:prstGeom>
          <a:noFill/>
          <a:ln/>
        </p:spPr>
        <p:txBody>
          <a:bodyPr wrap="square" lIns="0" tIns="0" rIns="0" bIns="0" rtlCol="0" anchor="ctr"/>
          <a:lstStyle/>
          <a:p>
            <a:pPr marL="0" indent="0">
              <a:lnSpc>
                <a:spcPts val="1600"/>
              </a:lnSpc>
              <a:buNone/>
            </a:pPr>
            <a:r>
              <a:rPr lang="en-US" sz="1300" b="1" dirty="0">
                <a:solidFill>
                  <a:srgbClr val="2F5D8C"/>
                </a:solidFill>
                <a:latin typeface="Cambria" pitchFamily="34" charset="0"/>
                <a:ea typeface="Cambria" pitchFamily="34" charset="-122"/>
                <a:cs typeface="Cambria" pitchFamily="34" charset="-120"/>
              </a:rPr>
              <a:t>And the conclusion is reused as settled</a:t>
            </a:r>
            <a:endParaRPr lang="en-US" sz="1300" dirty="0"/>
          </a:p>
        </p:txBody>
      </p:sp>
      <p:sp>
        <p:nvSpPr>
          <p:cNvPr id="16" name="Text 14"/>
          <p:cNvSpPr txBox="1"/>
          <p:nvPr/>
        </p:nvSpPr>
        <p:spPr>
          <a:xfrm>
            <a:off x="7909560" y="5093208"/>
            <a:ext cx="3346704" cy="731520"/>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The disappearance of the human/artifact boundary reappears in the final section as an established finding. It was never established; it was asserted at the end of a four-step slide.</a:t>
            </a:r>
            <a:endParaRPr lang="en-US" sz="1050" dirty="0"/>
          </a:p>
        </p:txBody>
      </p:sp>
      <p:sp>
        <p:nvSpPr>
          <p:cNvPr id="17" name="Shape 15"/>
          <p:cNvSpPr/>
          <p:nvPr/>
        </p:nvSpPr>
        <p:spPr>
          <a:xfrm>
            <a:off x="640080" y="3822192"/>
            <a:ext cx="6675120" cy="1938528"/>
          </a:xfrm>
          <a:prstGeom prst="roundRect">
            <a:avLst>
              <a:gd name="adj" fmla="val 3774"/>
            </a:avLst>
          </a:prstGeom>
          <a:solidFill>
            <a:srgbClr val="E9EFF6"/>
          </a:solidFill>
          <a:ln w="12700">
            <a:solidFill>
              <a:srgbClr val="E9EFF6"/>
            </a:solidFill>
            <a:prstDash val="solid"/>
          </a:ln>
        </p:spPr>
        <p:txBody>
          <a:bodyPr/>
          <a:lstStyle/>
          <a:p>
            <a:endParaRPr lang="en-US"/>
          </a:p>
        </p:txBody>
      </p:sp>
      <p:sp>
        <p:nvSpPr>
          <p:cNvPr id="18" name="Text 16"/>
          <p:cNvSpPr txBox="1"/>
          <p:nvPr/>
        </p:nvSpPr>
        <p:spPr>
          <a:xfrm>
            <a:off x="960120" y="3986784"/>
            <a:ext cx="6126480" cy="310896"/>
          </a:xfrm>
          <a:prstGeom prst="rect">
            <a:avLst/>
          </a:prstGeom>
          <a:noFill/>
          <a:ln/>
        </p:spPr>
        <p:txBody>
          <a:bodyPr wrap="square" lIns="0" tIns="0" rIns="0" bIns="0" rtlCol="0" anchor="ctr"/>
          <a:lstStyle/>
          <a:p>
            <a:pPr marL="0" indent="0">
              <a:buNone/>
            </a:pPr>
            <a:r>
              <a:rPr lang="en-US" sz="1550" b="1" dirty="0">
                <a:solidFill>
                  <a:srgbClr val="2F5D8C"/>
                </a:solidFill>
                <a:latin typeface="Cambria" pitchFamily="34" charset="0"/>
                <a:ea typeface="Cambria" pitchFamily="34" charset="-122"/>
                <a:cs typeface="Cambria" pitchFamily="34" charset="-120"/>
              </a:rPr>
              <a:t>The fix</a:t>
            </a:r>
            <a:endParaRPr lang="en-US" sz="1550" dirty="0"/>
          </a:p>
        </p:txBody>
      </p:sp>
      <p:sp>
        <p:nvSpPr>
          <p:cNvPr id="19" name="Text 17"/>
          <p:cNvSpPr txBox="1"/>
          <p:nvPr/>
        </p:nvSpPr>
        <p:spPr>
          <a:xfrm>
            <a:off x="960120" y="4370832"/>
            <a:ext cx="6126480" cy="1280160"/>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The essay does not need the metaphysics. Sekien’s plates already show the boundary being blurred as a matter of pictorial technique — a mirror with a face, a bell with a body, a koto with a beard, each still legibly the object it was. That is a claim about images, it is supported by the images, and it is stronger than the philosophical version because it can be checked.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PROBLEM FIVE · THE EVIDENCE BASE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Two tales, two plates, and one secondary source</a:t>
            </a:r>
            <a:endParaRPr lang="en-US" sz="2900" dirty="0"/>
          </a:p>
        </p:txBody>
      </p:sp>
      <p:sp>
        <p:nvSpPr>
          <p:cNvPr id="5" name="Shape 3"/>
          <p:cNvSpPr/>
          <p:nvPr/>
        </p:nvSpPr>
        <p:spPr>
          <a:xfrm>
            <a:off x="640080" y="1325880"/>
            <a:ext cx="5295748" cy="1627632"/>
          </a:xfrm>
          <a:prstGeom prst="roundRect">
            <a:avLst>
              <a:gd name="adj" fmla="val 4494"/>
            </a:avLst>
          </a:prstGeom>
          <a:solidFill>
            <a:srgbClr val="E9EFF6"/>
          </a:solidFill>
          <a:ln w="12700">
            <a:solidFill>
              <a:srgbClr val="E9EFF6"/>
            </a:solidFill>
            <a:prstDash val="solid"/>
          </a:ln>
        </p:spPr>
        <p:txBody>
          <a:bodyPr/>
          <a:lstStyle/>
          <a:p>
            <a:endParaRPr lang="en-US"/>
          </a:p>
        </p:txBody>
      </p:sp>
      <p:sp>
        <p:nvSpPr>
          <p:cNvPr id="6" name="Shape 4"/>
          <p:cNvSpPr/>
          <p:nvPr/>
        </p:nvSpPr>
        <p:spPr>
          <a:xfrm>
            <a:off x="932688" y="1545336"/>
            <a:ext cx="329184" cy="329184"/>
          </a:xfrm>
          <a:prstGeom prst="ellipse">
            <a:avLst/>
          </a:prstGeom>
          <a:solidFill>
            <a:srgbClr val="2F5D8C"/>
          </a:solidFill>
          <a:ln/>
        </p:spPr>
        <p:txBody>
          <a:bodyPr/>
          <a:lstStyle/>
          <a:p>
            <a:endParaRPr lang="en-US"/>
          </a:p>
        </p:txBody>
      </p:sp>
      <p:sp>
        <p:nvSpPr>
          <p:cNvPr id="7" name="Text 5"/>
          <p:cNvSpPr txBox="1"/>
          <p:nvPr/>
        </p:nvSpPr>
        <p:spPr>
          <a:xfrm>
            <a:off x="932688" y="1545336"/>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371600" y="1545336"/>
            <a:ext cx="4271620" cy="530352"/>
          </a:xfrm>
          <a:prstGeom prst="rect">
            <a:avLst/>
          </a:prstGeom>
          <a:noFill/>
          <a:ln/>
        </p:spPr>
        <p:txBody>
          <a:bodyPr wrap="square" lIns="0" tIns="0" rIns="0" bIns="0" rtlCol="0" anchor="ctr"/>
          <a:lstStyle/>
          <a:p>
            <a:pPr marL="0" indent="0">
              <a:lnSpc>
                <a:spcPts val="1800"/>
              </a:lnSpc>
              <a:buNone/>
            </a:pPr>
            <a:r>
              <a:rPr lang="en-US" sz="1450" b="1" dirty="0">
                <a:solidFill>
                  <a:srgbClr val="1C1B1A"/>
                </a:solidFill>
                <a:latin typeface="Cambria" pitchFamily="34" charset="0"/>
                <a:ea typeface="Cambria" pitchFamily="34" charset="-122"/>
                <a:cs typeface="Cambria" pitchFamily="34" charset="-120"/>
              </a:rPr>
              <a:t>Four objects for two corpora</a:t>
            </a:r>
            <a:endParaRPr lang="en-US" sz="1450" dirty="0"/>
          </a:p>
        </p:txBody>
      </p:sp>
      <p:sp>
        <p:nvSpPr>
          <p:cNvPr id="9" name="Text 7"/>
          <p:cNvSpPr txBox="1"/>
          <p:nvPr/>
        </p:nvSpPr>
        <p:spPr>
          <a:xfrm>
            <a:off x="932688" y="2130552"/>
            <a:ext cx="4710532" cy="749808"/>
          </a:xfrm>
          <a:prstGeom prst="rect">
            <a:avLst/>
          </a:prstGeom>
          <a:noFill/>
          <a:ln/>
        </p:spPr>
        <p:txBody>
          <a:bodyPr wrap="square" lIns="0" tIns="0" rIns="0" bIns="0" rtlCol="0" anchor="ctr"/>
          <a:lstStyle/>
          <a:p>
            <a:pPr marL="0" indent="0">
              <a:lnSpc>
                <a:spcPts val="1500"/>
              </a:lnSpc>
              <a:buNone/>
            </a:pPr>
            <a:r>
              <a:rPr lang="en-US" sz="1150" dirty="0">
                <a:solidFill>
                  <a:srgbClr val="6B6862"/>
                </a:solidFill>
                <a:latin typeface="Calibri" pitchFamily="34" charset="0"/>
                <a:ea typeface="Calibri" pitchFamily="34" charset="-122"/>
                <a:cs typeface="Calibri" pitchFamily="34" charset="-120"/>
              </a:rPr>
              <a:t>Daphne and Narcissus stand for roughly 250 transformations. Ungaikyo and Suzuhiko stand for a whole book. Both pairs are the most famous available, and both sit near the front of their sections. The generalisations are far wider than the sample.</a:t>
            </a:r>
            <a:endParaRPr lang="en-US" sz="1150" dirty="0"/>
          </a:p>
        </p:txBody>
      </p:sp>
      <p:sp>
        <p:nvSpPr>
          <p:cNvPr id="10" name="Shape 8"/>
          <p:cNvSpPr/>
          <p:nvPr/>
        </p:nvSpPr>
        <p:spPr>
          <a:xfrm>
            <a:off x="6255868" y="1325880"/>
            <a:ext cx="5295748" cy="1627632"/>
          </a:xfrm>
          <a:prstGeom prst="roundRect">
            <a:avLst>
              <a:gd name="adj" fmla="val 4494"/>
            </a:avLst>
          </a:prstGeom>
          <a:solidFill>
            <a:srgbClr val="F8EBE8"/>
          </a:solidFill>
          <a:ln w="12700">
            <a:solidFill>
              <a:srgbClr val="F8EBE8"/>
            </a:solidFill>
            <a:prstDash val="solid"/>
          </a:ln>
        </p:spPr>
        <p:txBody>
          <a:bodyPr/>
          <a:lstStyle/>
          <a:p>
            <a:endParaRPr lang="en-US"/>
          </a:p>
        </p:txBody>
      </p:sp>
      <p:sp>
        <p:nvSpPr>
          <p:cNvPr id="11" name="Shape 9"/>
          <p:cNvSpPr/>
          <p:nvPr/>
        </p:nvSpPr>
        <p:spPr>
          <a:xfrm>
            <a:off x="6548476" y="1545336"/>
            <a:ext cx="329184" cy="329184"/>
          </a:xfrm>
          <a:prstGeom prst="ellipse">
            <a:avLst/>
          </a:prstGeom>
          <a:solidFill>
            <a:srgbClr val="A93B2C"/>
          </a:solidFill>
          <a:ln/>
        </p:spPr>
        <p:txBody>
          <a:bodyPr/>
          <a:lstStyle/>
          <a:p>
            <a:endParaRPr lang="en-US"/>
          </a:p>
        </p:txBody>
      </p:sp>
      <p:sp>
        <p:nvSpPr>
          <p:cNvPr id="12" name="Text 10"/>
          <p:cNvSpPr txBox="1"/>
          <p:nvPr/>
        </p:nvSpPr>
        <p:spPr>
          <a:xfrm>
            <a:off x="6548476" y="1545336"/>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6987388" y="1545336"/>
            <a:ext cx="4271620" cy="530352"/>
          </a:xfrm>
          <a:prstGeom prst="rect">
            <a:avLst/>
          </a:prstGeom>
          <a:noFill/>
          <a:ln/>
        </p:spPr>
        <p:txBody>
          <a:bodyPr wrap="square" lIns="0" tIns="0" rIns="0" bIns="0" rtlCol="0" anchor="ctr"/>
          <a:lstStyle/>
          <a:p>
            <a:pPr marL="0" indent="0">
              <a:lnSpc>
                <a:spcPts val="1800"/>
              </a:lnSpc>
              <a:buNone/>
            </a:pPr>
            <a:r>
              <a:rPr lang="en-US" sz="1450" b="1" dirty="0">
                <a:solidFill>
                  <a:srgbClr val="1C1B1A"/>
                </a:solidFill>
                <a:latin typeface="Cambria" pitchFamily="34" charset="0"/>
                <a:ea typeface="Cambria" pitchFamily="34" charset="-122"/>
                <a:cs typeface="Cambria" pitchFamily="34" charset="-120"/>
              </a:rPr>
              <a:t>The strongest claims are the widest</a:t>
            </a:r>
            <a:endParaRPr lang="en-US" sz="1450" dirty="0"/>
          </a:p>
        </p:txBody>
      </p:sp>
      <p:sp>
        <p:nvSpPr>
          <p:cNvPr id="14" name="Text 12"/>
          <p:cNvSpPr txBox="1"/>
          <p:nvPr/>
        </p:nvSpPr>
        <p:spPr>
          <a:xfrm>
            <a:off x="6548476" y="2130552"/>
            <a:ext cx="4710532" cy="749808"/>
          </a:xfrm>
          <a:prstGeom prst="rect">
            <a:avLst/>
          </a:prstGeom>
          <a:noFill/>
          <a:ln/>
        </p:spPr>
        <p:txBody>
          <a:bodyPr wrap="square" lIns="0" tIns="0" rIns="0" bIns="0" rtlCol="0" anchor="ctr"/>
          <a:lstStyle/>
          <a:p>
            <a:pPr marL="0" indent="0">
              <a:lnSpc>
                <a:spcPts val="1500"/>
              </a:lnSpc>
              <a:buNone/>
            </a:pPr>
            <a:r>
              <a:rPr lang="en-US" sz="1150" dirty="0">
                <a:solidFill>
                  <a:srgbClr val="6B6862"/>
                </a:solidFill>
                <a:latin typeface="Calibri" pitchFamily="34" charset="0"/>
                <a:ea typeface="Calibri" pitchFamily="34" charset="-122"/>
                <a:cs typeface="Calibri" pitchFamily="34" charset="-120"/>
              </a:rPr>
              <a:t>“Nearly every transformation tale in Metamorphoses is a tragedy, but the persecuted agent always manages either to survive or have his or her goal achieved.” Always is doing a great deal of work on the strength of two cases.</a:t>
            </a:r>
            <a:endParaRPr lang="en-US" sz="1150" dirty="0"/>
          </a:p>
        </p:txBody>
      </p:sp>
      <p:sp>
        <p:nvSpPr>
          <p:cNvPr id="15" name="Shape 13"/>
          <p:cNvSpPr/>
          <p:nvPr/>
        </p:nvSpPr>
        <p:spPr>
          <a:xfrm>
            <a:off x="640080" y="3108960"/>
            <a:ext cx="5295748" cy="1627632"/>
          </a:xfrm>
          <a:prstGeom prst="roundRect">
            <a:avLst>
              <a:gd name="adj" fmla="val 4494"/>
            </a:avLst>
          </a:prstGeom>
          <a:solidFill>
            <a:srgbClr val="E9EFF6"/>
          </a:solidFill>
          <a:ln w="12700">
            <a:solidFill>
              <a:srgbClr val="E9EFF6"/>
            </a:solidFill>
            <a:prstDash val="solid"/>
          </a:ln>
        </p:spPr>
        <p:txBody>
          <a:bodyPr/>
          <a:lstStyle/>
          <a:p>
            <a:endParaRPr lang="en-US"/>
          </a:p>
        </p:txBody>
      </p:sp>
      <p:sp>
        <p:nvSpPr>
          <p:cNvPr id="16" name="Shape 14"/>
          <p:cNvSpPr/>
          <p:nvPr/>
        </p:nvSpPr>
        <p:spPr>
          <a:xfrm>
            <a:off x="932688" y="3328416"/>
            <a:ext cx="329184" cy="329184"/>
          </a:xfrm>
          <a:prstGeom prst="ellipse">
            <a:avLst/>
          </a:prstGeom>
          <a:solidFill>
            <a:srgbClr val="2F5D8C"/>
          </a:solidFill>
          <a:ln/>
        </p:spPr>
        <p:txBody>
          <a:bodyPr/>
          <a:lstStyle/>
          <a:p>
            <a:endParaRPr lang="en-US"/>
          </a:p>
        </p:txBody>
      </p:sp>
      <p:sp>
        <p:nvSpPr>
          <p:cNvPr id="17" name="Text 15"/>
          <p:cNvSpPr txBox="1"/>
          <p:nvPr/>
        </p:nvSpPr>
        <p:spPr>
          <a:xfrm>
            <a:off x="932688" y="3328416"/>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371600" y="3328416"/>
            <a:ext cx="4271620" cy="530352"/>
          </a:xfrm>
          <a:prstGeom prst="rect">
            <a:avLst/>
          </a:prstGeom>
          <a:noFill/>
          <a:ln/>
        </p:spPr>
        <p:txBody>
          <a:bodyPr wrap="square" lIns="0" tIns="0" rIns="0" bIns="0" rtlCol="0" anchor="ctr"/>
          <a:lstStyle/>
          <a:p>
            <a:pPr marL="0" indent="0">
              <a:lnSpc>
                <a:spcPts val="1800"/>
              </a:lnSpc>
              <a:buNone/>
            </a:pPr>
            <a:r>
              <a:rPr lang="en-US" sz="1450" b="1" dirty="0">
                <a:solidFill>
                  <a:srgbClr val="1C1B1A"/>
                </a:solidFill>
                <a:latin typeface="Cambria" pitchFamily="34" charset="0"/>
                <a:ea typeface="Cambria" pitchFamily="34" charset="-122"/>
                <a:cs typeface="Cambria" pitchFamily="34" charset="-120"/>
              </a:rPr>
              <a:t>The Sekien history is all Foster</a:t>
            </a:r>
            <a:endParaRPr lang="en-US" sz="1450" dirty="0"/>
          </a:p>
        </p:txBody>
      </p:sp>
      <p:sp>
        <p:nvSpPr>
          <p:cNvPr id="19" name="Text 17"/>
          <p:cNvSpPr txBox="1"/>
          <p:nvPr/>
        </p:nvSpPr>
        <p:spPr>
          <a:xfrm>
            <a:off x="932688" y="3913632"/>
            <a:ext cx="4710532" cy="749808"/>
          </a:xfrm>
          <a:prstGeom prst="rect">
            <a:avLst/>
          </a:prstGeom>
          <a:noFill/>
          <a:ln/>
        </p:spPr>
        <p:txBody>
          <a:bodyPr wrap="square" lIns="0" tIns="0" rIns="0" bIns="0" rtlCol="0" anchor="ctr"/>
          <a:lstStyle/>
          <a:p>
            <a:pPr marL="0" indent="0">
              <a:lnSpc>
                <a:spcPts val="1500"/>
              </a:lnSpc>
              <a:buNone/>
            </a:pPr>
            <a:r>
              <a:rPr lang="en-US" sz="1150" dirty="0">
                <a:solidFill>
                  <a:srgbClr val="6B6862"/>
                </a:solidFill>
                <a:latin typeface="Calibri" pitchFamily="34" charset="0"/>
                <a:ea typeface="Calibri" pitchFamily="34" charset="-122"/>
                <a:cs typeface="Calibri" pitchFamily="34" charset="-120"/>
              </a:rPr>
              <a:t>Yoshimune, the natural-history policy, the exhibition culture, the taste for the strange — every element of the context is from Pandemonium and Parade, honestly cited. But that means the cultural argument is a summary of one book rather than a reading of a period.</a:t>
            </a:r>
            <a:endParaRPr lang="en-US" sz="1150" dirty="0"/>
          </a:p>
        </p:txBody>
      </p:sp>
      <p:sp>
        <p:nvSpPr>
          <p:cNvPr id="20" name="Shape 18"/>
          <p:cNvSpPr/>
          <p:nvPr/>
        </p:nvSpPr>
        <p:spPr>
          <a:xfrm>
            <a:off x="6255868" y="3108960"/>
            <a:ext cx="5295748" cy="1627632"/>
          </a:xfrm>
          <a:prstGeom prst="roundRect">
            <a:avLst>
              <a:gd name="adj" fmla="val 4494"/>
            </a:avLst>
          </a:prstGeom>
          <a:solidFill>
            <a:srgbClr val="F8EBE8"/>
          </a:solidFill>
          <a:ln w="12700">
            <a:solidFill>
              <a:srgbClr val="F8EBE8"/>
            </a:solidFill>
            <a:prstDash val="solid"/>
          </a:ln>
        </p:spPr>
        <p:txBody>
          <a:bodyPr/>
          <a:lstStyle/>
          <a:p>
            <a:endParaRPr lang="en-US"/>
          </a:p>
        </p:txBody>
      </p:sp>
      <p:sp>
        <p:nvSpPr>
          <p:cNvPr id="21" name="Shape 19"/>
          <p:cNvSpPr/>
          <p:nvPr/>
        </p:nvSpPr>
        <p:spPr>
          <a:xfrm>
            <a:off x="6548476" y="3328416"/>
            <a:ext cx="329184" cy="329184"/>
          </a:xfrm>
          <a:prstGeom prst="ellipse">
            <a:avLst/>
          </a:prstGeom>
          <a:solidFill>
            <a:srgbClr val="A93B2C"/>
          </a:solidFill>
          <a:ln/>
        </p:spPr>
        <p:txBody>
          <a:bodyPr/>
          <a:lstStyle/>
          <a:p>
            <a:endParaRPr lang="en-US"/>
          </a:p>
        </p:txBody>
      </p:sp>
      <p:sp>
        <p:nvSpPr>
          <p:cNvPr id="22" name="Text 20"/>
          <p:cNvSpPr txBox="1"/>
          <p:nvPr/>
        </p:nvSpPr>
        <p:spPr>
          <a:xfrm>
            <a:off x="6548476" y="3328416"/>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6987388" y="3328416"/>
            <a:ext cx="4271620" cy="530352"/>
          </a:xfrm>
          <a:prstGeom prst="rect">
            <a:avLst/>
          </a:prstGeom>
          <a:noFill/>
          <a:ln/>
        </p:spPr>
        <p:txBody>
          <a:bodyPr wrap="square" lIns="0" tIns="0" rIns="0" bIns="0" rtlCol="0" anchor="ctr"/>
          <a:lstStyle/>
          <a:p>
            <a:pPr marL="0" indent="0">
              <a:lnSpc>
                <a:spcPts val="1800"/>
              </a:lnSpc>
              <a:buNone/>
            </a:pPr>
            <a:r>
              <a:rPr lang="en-US" sz="1450" b="1" dirty="0">
                <a:solidFill>
                  <a:srgbClr val="1C1B1A"/>
                </a:solidFill>
                <a:latin typeface="Cambria" pitchFamily="34" charset="0"/>
                <a:ea typeface="Cambria" pitchFamily="34" charset="-122"/>
                <a:cs typeface="Cambria" pitchFamily="34" charset="-120"/>
              </a:rPr>
              <a:t>And the language constraint is real</a:t>
            </a:r>
            <a:endParaRPr lang="en-US" sz="1450" dirty="0"/>
          </a:p>
        </p:txBody>
      </p:sp>
      <p:sp>
        <p:nvSpPr>
          <p:cNvPr id="24" name="Text 22"/>
          <p:cNvSpPr txBox="1"/>
          <p:nvPr/>
        </p:nvSpPr>
        <p:spPr>
          <a:xfrm>
            <a:off x="6548476" y="3913632"/>
            <a:ext cx="4710532" cy="749808"/>
          </a:xfrm>
          <a:prstGeom prst="rect">
            <a:avLst/>
          </a:prstGeom>
          <a:noFill/>
          <a:ln/>
        </p:spPr>
        <p:txBody>
          <a:bodyPr wrap="square" lIns="0" tIns="0" rIns="0" bIns="0" rtlCol="0" anchor="ctr"/>
          <a:lstStyle/>
          <a:p>
            <a:pPr marL="0" indent="0">
              <a:lnSpc>
                <a:spcPts val="1500"/>
              </a:lnSpc>
              <a:buNone/>
            </a:pPr>
            <a:r>
              <a:rPr lang="en-US" sz="1150" dirty="0">
                <a:solidFill>
                  <a:srgbClr val="6B6862"/>
                </a:solidFill>
                <a:latin typeface="Calibri" pitchFamily="34" charset="0"/>
                <a:ea typeface="Calibri" pitchFamily="34" charset="-122"/>
                <a:cs typeface="Calibri" pitchFamily="34" charset="-120"/>
              </a:rPr>
              <a:t>The annotations are translated with a professor’s help, which is properly footnoted and entirely creditable. It also caps what the Sekien half can claim, and the essay never says so.</a:t>
            </a:r>
            <a:endParaRPr lang="en-US" sz="1150" dirty="0"/>
          </a:p>
        </p:txBody>
      </p:sp>
      <p:sp>
        <p:nvSpPr>
          <p:cNvPr id="25" name="Shape 23"/>
          <p:cNvSpPr/>
          <p:nvPr/>
        </p:nvSpPr>
        <p:spPr>
          <a:xfrm>
            <a:off x="640080" y="5029200"/>
            <a:ext cx="10911535" cy="1371600"/>
          </a:xfrm>
          <a:prstGeom prst="roundRect">
            <a:avLst>
              <a:gd name="adj" fmla="val 5333"/>
            </a:avLst>
          </a:prstGeom>
          <a:solidFill>
            <a:srgbClr val="1C1B1A"/>
          </a:solidFill>
          <a:ln w="12700">
            <a:solidFill>
              <a:srgbClr val="1C1B1A"/>
            </a:solidFill>
            <a:prstDash val="solid"/>
          </a:ln>
        </p:spPr>
        <p:txBody>
          <a:bodyPr/>
          <a:lstStyle/>
          <a:p>
            <a:endParaRPr lang="en-US"/>
          </a:p>
        </p:txBody>
      </p:sp>
      <p:sp>
        <p:nvSpPr>
          <p:cNvPr id="26" name="Text 24"/>
          <p:cNvSpPr txBox="1"/>
          <p:nvPr/>
        </p:nvSpPr>
        <p:spPr>
          <a:xfrm>
            <a:off x="1005840" y="5193792"/>
            <a:ext cx="10424160" cy="274320"/>
          </a:xfrm>
          <a:prstGeom prst="rect">
            <a:avLst/>
          </a:prstGeom>
          <a:noFill/>
          <a:ln/>
        </p:spPr>
        <p:txBody>
          <a:bodyPr wrap="square" lIns="0" tIns="0" rIns="0" bIns="0" rtlCol="0" anchor="ctr"/>
          <a:lstStyle/>
          <a:p>
            <a:pPr marL="0" indent="0">
              <a:buNone/>
            </a:pPr>
            <a:r>
              <a:rPr lang="en-US" sz="1150" b="1" kern="0" spc="140" dirty="0">
                <a:solidFill>
                  <a:srgbClr val="D99A90"/>
                </a:solidFill>
                <a:latin typeface="Calibri" pitchFamily="34" charset="0"/>
                <a:ea typeface="Calibri" pitchFamily="34" charset="-122"/>
                <a:cs typeface="Calibri" pitchFamily="34" charset="-120"/>
              </a:rPr>
              <a:t>The fix is not more examples</a:t>
            </a:r>
            <a:endParaRPr lang="en-US" sz="1150" dirty="0"/>
          </a:p>
        </p:txBody>
      </p:sp>
      <p:sp>
        <p:nvSpPr>
          <p:cNvPr id="27" name="Text 25"/>
          <p:cNvSpPr txBox="1"/>
          <p:nvPr/>
        </p:nvSpPr>
        <p:spPr>
          <a:xfrm>
            <a:off x="1005840" y="5522976"/>
            <a:ext cx="10424160" cy="713232"/>
          </a:xfrm>
          <a:prstGeom prst="rect">
            <a:avLst/>
          </a:prstGeom>
          <a:noFill/>
          <a:ln/>
        </p:spPr>
        <p:txBody>
          <a:bodyPr wrap="square" lIns="0" tIns="0" rIns="0" bIns="0" rtlCol="0" anchor="ctr"/>
          <a:lstStyle/>
          <a:p>
            <a:pPr marL="0" indent="0">
              <a:lnSpc>
                <a:spcPts val="2000"/>
              </a:lnSpc>
              <a:buNone/>
            </a:pPr>
            <a:r>
              <a:rPr lang="en-US" sz="1500" dirty="0">
                <a:solidFill>
                  <a:srgbClr val="F2F0EB"/>
                </a:solidFill>
                <a:latin typeface="Cambria" pitchFamily="34" charset="0"/>
                <a:ea typeface="Cambria" pitchFamily="34" charset="-122"/>
                <a:cs typeface="Cambria" pitchFamily="34" charset="-120"/>
              </a:rPr>
              <a:t>Adding ten more tales would not rescue a generalisation about 250. The fix is to narrow the claim to what four objects can support: not “Ovid’s transformations work like this” but “in these two tales Ovid uses a device that does this, and here is how to spot it elsewhere.” A defensible small claim beats an indefensible large one, and it is almost always more interesting.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PROBLEM SIX · THE FRAME, AND THE HOUSEKEEPING</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A gap that is not there, and the things a second pass catches</a:t>
            </a:r>
            <a:endParaRPr lang="en-US" sz="2900" dirty="0"/>
          </a:p>
        </p:txBody>
      </p:sp>
      <p:sp>
        <p:nvSpPr>
          <p:cNvPr id="5" name="Shape 3"/>
          <p:cNvSpPr/>
          <p:nvPr/>
        </p:nvSpPr>
        <p:spPr>
          <a:xfrm>
            <a:off x="640080" y="1325880"/>
            <a:ext cx="5943600" cy="2468880"/>
          </a:xfrm>
          <a:prstGeom prst="roundRect">
            <a:avLst>
              <a:gd name="adj" fmla="val 2963"/>
            </a:avLst>
          </a:prstGeom>
          <a:solidFill>
            <a:srgbClr val="1C1B1A"/>
          </a:solidFill>
          <a:ln w="12700">
            <a:solidFill>
              <a:srgbClr val="1C1B1A"/>
            </a:solidFill>
            <a:prstDash val="solid"/>
          </a:ln>
        </p:spPr>
        <p:txBody>
          <a:bodyPr/>
          <a:lstStyle/>
          <a:p>
            <a:endParaRPr lang="en-US"/>
          </a:p>
        </p:txBody>
      </p:sp>
      <p:sp>
        <p:nvSpPr>
          <p:cNvPr id="6" name="Text 4"/>
          <p:cNvSpPr txBox="1"/>
          <p:nvPr/>
        </p:nvSpPr>
        <p:spPr>
          <a:xfrm>
            <a:off x="960120" y="1490472"/>
            <a:ext cx="5394960" cy="292608"/>
          </a:xfrm>
          <a:prstGeom prst="rect">
            <a:avLst/>
          </a:prstGeom>
          <a:noFill/>
          <a:ln/>
        </p:spPr>
        <p:txBody>
          <a:bodyPr wrap="square" lIns="0" tIns="0" rIns="0" bIns="0" rtlCol="0" anchor="ctr"/>
          <a:lstStyle/>
          <a:p>
            <a:pPr marL="0" indent="0">
              <a:buNone/>
            </a:pPr>
            <a:r>
              <a:rPr lang="en-US" sz="1100" b="1" kern="0" spc="140" dirty="0">
                <a:solidFill>
                  <a:srgbClr val="D99A90"/>
                </a:solidFill>
                <a:latin typeface="Calibri" pitchFamily="34" charset="0"/>
                <a:ea typeface="Calibri" pitchFamily="34" charset="-122"/>
                <a:cs typeface="Calibri" pitchFamily="34" charset="-120"/>
              </a:rPr>
              <a:t>The manufactured gap</a:t>
            </a:r>
            <a:endParaRPr lang="en-US" sz="1100" dirty="0"/>
          </a:p>
        </p:txBody>
      </p:sp>
      <p:sp>
        <p:nvSpPr>
          <p:cNvPr id="7" name="Text 5"/>
          <p:cNvSpPr txBox="1"/>
          <p:nvPr/>
        </p:nvSpPr>
        <p:spPr>
          <a:xfrm>
            <a:off x="960120" y="1847088"/>
            <a:ext cx="5394960" cy="1783080"/>
          </a:xfrm>
          <a:prstGeom prst="rect">
            <a:avLst/>
          </a:prstGeom>
          <a:noFill/>
          <a:ln/>
        </p:spPr>
        <p:txBody>
          <a:bodyPr wrap="square" lIns="0" tIns="0" rIns="0" bIns="0" rtlCol="0" anchor="ctr"/>
          <a:lstStyle/>
          <a:p>
            <a:pPr marL="0" indent="0">
              <a:lnSpc>
                <a:spcPts val="1700"/>
              </a:lnSpc>
              <a:buNone/>
            </a:pPr>
            <a:r>
              <a:rPr lang="en-US" sz="1250" dirty="0">
                <a:solidFill>
                  <a:srgbClr val="F2F0EB"/>
                </a:solidFill>
                <a:latin typeface="Calibri" pitchFamily="34" charset="0"/>
                <a:ea typeface="Calibri" pitchFamily="34" charset="-122"/>
                <a:cs typeface="Calibri" pitchFamily="34" charset="-120"/>
              </a:rPr>
              <a:t>The essay opens by claiming that scholars have underestimated the motif of transformation in the Metamorphoses. They have not. Transformation is the single most written-about feature of the poem, and the two critics cited are not ignoring it — they are pursuing different questions, which is not the same thing.</a:t>
            </a:r>
            <a:endParaRPr lang="en-US" sz="1250" dirty="0"/>
          </a:p>
          <a:p>
            <a:pPr marL="0" indent="0">
              <a:lnSpc>
                <a:spcPts val="1700"/>
              </a:lnSpc>
              <a:buNone/>
            </a:pPr>
            <a:endParaRPr lang="en-US" sz="1250" dirty="0"/>
          </a:p>
          <a:p>
            <a:pPr marL="0" indent="0">
              <a:lnSpc>
                <a:spcPts val="1700"/>
              </a:lnSpc>
              <a:buNone/>
            </a:pPr>
            <a:r>
              <a:rPr lang="en-US" sz="1250" dirty="0">
                <a:solidFill>
                  <a:srgbClr val="F2F0EB"/>
                </a:solidFill>
                <a:latin typeface="Calibri" pitchFamily="34" charset="0"/>
                <a:ea typeface="Calibri" pitchFamily="34" charset="-122"/>
                <a:cs typeface="Calibri" pitchFamily="34" charset="-120"/>
              </a:rPr>
              <a:t>The real gap is the one in the next sentence: nobody has put Ovid beside Sekien. That gap is genuine and it needs no straw man to stand up.</a:t>
            </a:r>
            <a:endParaRPr lang="en-US" sz="1250" dirty="0"/>
          </a:p>
        </p:txBody>
      </p:sp>
      <p:sp>
        <p:nvSpPr>
          <p:cNvPr id="8" name="Shape 6"/>
          <p:cNvSpPr/>
          <p:nvPr/>
        </p:nvSpPr>
        <p:spPr>
          <a:xfrm>
            <a:off x="6995160" y="1325880"/>
            <a:ext cx="4535424" cy="1143000"/>
          </a:xfrm>
          <a:prstGeom prst="roundRect">
            <a:avLst>
              <a:gd name="adj" fmla="val 6400"/>
            </a:avLst>
          </a:prstGeom>
          <a:solidFill>
            <a:srgbClr val="E9EFF6"/>
          </a:solidFill>
          <a:ln w="12700">
            <a:solidFill>
              <a:srgbClr val="E9EFF6"/>
            </a:solidFill>
            <a:prstDash val="solid"/>
          </a:ln>
        </p:spPr>
        <p:txBody>
          <a:bodyPr/>
          <a:lstStyle/>
          <a:p>
            <a:endParaRPr lang="en-US"/>
          </a:p>
        </p:txBody>
      </p:sp>
      <p:sp>
        <p:nvSpPr>
          <p:cNvPr id="9" name="Text 7"/>
          <p:cNvSpPr txBox="1"/>
          <p:nvPr/>
        </p:nvSpPr>
        <p:spPr>
          <a:xfrm>
            <a:off x="7269480" y="1435608"/>
            <a:ext cx="3986784" cy="292608"/>
          </a:xfrm>
          <a:prstGeom prst="rect">
            <a:avLst/>
          </a:prstGeom>
          <a:noFill/>
          <a:ln/>
        </p:spPr>
        <p:txBody>
          <a:bodyPr wrap="square" lIns="0" tIns="0" rIns="0" bIns="0" rtlCol="0" anchor="ctr"/>
          <a:lstStyle/>
          <a:p>
            <a:pPr marL="0" indent="0">
              <a:buNone/>
            </a:pPr>
            <a:r>
              <a:rPr lang="en-US" sz="1300" b="1" dirty="0">
                <a:solidFill>
                  <a:srgbClr val="2F5D8C"/>
                </a:solidFill>
                <a:latin typeface="Cambria" pitchFamily="34" charset="0"/>
                <a:ea typeface="Cambria" pitchFamily="34" charset="-122"/>
                <a:cs typeface="Cambria" pitchFamily="34" charset="-120"/>
              </a:rPr>
              <a:t>Spelling and consistency</a:t>
            </a:r>
            <a:endParaRPr lang="en-US" sz="1300" dirty="0"/>
          </a:p>
        </p:txBody>
      </p:sp>
      <p:sp>
        <p:nvSpPr>
          <p:cNvPr id="10" name="Text 8"/>
          <p:cNvSpPr txBox="1"/>
          <p:nvPr/>
        </p:nvSpPr>
        <p:spPr>
          <a:xfrm>
            <a:off x="7269480" y="1755648"/>
            <a:ext cx="3986784" cy="621792"/>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Seiken for Sekien three times. Koto-furuhushi in one section, Koto-furunushi in another. Texualized, fasciation, acquisitiont. A page reference to 72-72.</a:t>
            </a:r>
            <a:endParaRPr lang="en-US" sz="1050" dirty="0"/>
          </a:p>
        </p:txBody>
      </p:sp>
      <p:sp>
        <p:nvSpPr>
          <p:cNvPr id="11" name="Shape 9"/>
          <p:cNvSpPr/>
          <p:nvPr/>
        </p:nvSpPr>
        <p:spPr>
          <a:xfrm>
            <a:off x="6995160" y="2542032"/>
            <a:ext cx="4535424" cy="1143000"/>
          </a:xfrm>
          <a:prstGeom prst="roundRect">
            <a:avLst>
              <a:gd name="adj" fmla="val 6400"/>
            </a:avLst>
          </a:prstGeom>
          <a:solidFill>
            <a:srgbClr val="F8EBE8"/>
          </a:solidFill>
          <a:ln w="12700">
            <a:solidFill>
              <a:srgbClr val="F8EBE8"/>
            </a:solidFill>
            <a:prstDash val="solid"/>
          </a:ln>
        </p:spPr>
        <p:txBody>
          <a:bodyPr/>
          <a:lstStyle/>
          <a:p>
            <a:endParaRPr lang="en-US"/>
          </a:p>
        </p:txBody>
      </p:sp>
      <p:sp>
        <p:nvSpPr>
          <p:cNvPr id="12" name="Text 10"/>
          <p:cNvSpPr txBox="1"/>
          <p:nvPr/>
        </p:nvSpPr>
        <p:spPr>
          <a:xfrm>
            <a:off x="7269480" y="2651760"/>
            <a:ext cx="3986784" cy="292608"/>
          </a:xfrm>
          <a:prstGeom prst="rect">
            <a:avLst/>
          </a:prstGeom>
          <a:noFill/>
          <a:ln/>
        </p:spPr>
        <p:txBody>
          <a:bodyPr wrap="square" lIns="0" tIns="0" rIns="0" bIns="0" rtlCol="0" anchor="ctr"/>
          <a:lstStyle/>
          <a:p>
            <a:pPr marL="0" indent="0">
              <a:buNone/>
            </a:pPr>
            <a:r>
              <a:rPr lang="en-US" sz="1300" b="1" dirty="0">
                <a:solidFill>
                  <a:srgbClr val="A93B2C"/>
                </a:solidFill>
                <a:latin typeface="Cambria" pitchFamily="34" charset="0"/>
                <a:ea typeface="Cambria" pitchFamily="34" charset="-122"/>
                <a:cs typeface="Cambria" pitchFamily="34" charset="-120"/>
              </a:rPr>
              <a:t>The Works Cited misses the primary text</a:t>
            </a:r>
            <a:endParaRPr lang="en-US" sz="1300" dirty="0"/>
          </a:p>
        </p:txBody>
      </p:sp>
      <p:sp>
        <p:nvSpPr>
          <p:cNvPr id="13" name="Text 11"/>
          <p:cNvSpPr txBox="1"/>
          <p:nvPr/>
        </p:nvSpPr>
        <p:spPr>
          <a:xfrm>
            <a:off x="7269480" y="2971800"/>
            <a:ext cx="3986784" cy="621792"/>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The entry is for Gazu hyakki yagyo, the 1776 first book, but the essay is about Tsurezure Bukuro, the 1784 fourth. Page 312 implies a modern collected edition of all four, which should be named as such.</a:t>
            </a:r>
            <a:endParaRPr lang="en-US" sz="1050" dirty="0"/>
          </a:p>
        </p:txBody>
      </p:sp>
      <p:sp>
        <p:nvSpPr>
          <p:cNvPr id="14" name="Shape 12"/>
          <p:cNvSpPr/>
          <p:nvPr/>
        </p:nvSpPr>
        <p:spPr>
          <a:xfrm>
            <a:off x="6995160" y="3758184"/>
            <a:ext cx="4535424" cy="1143000"/>
          </a:xfrm>
          <a:prstGeom prst="roundRect">
            <a:avLst>
              <a:gd name="adj" fmla="val 6400"/>
            </a:avLst>
          </a:prstGeom>
          <a:solidFill>
            <a:srgbClr val="E9EFF6"/>
          </a:solidFill>
          <a:ln w="12700">
            <a:solidFill>
              <a:srgbClr val="E9EFF6"/>
            </a:solidFill>
            <a:prstDash val="solid"/>
          </a:ln>
        </p:spPr>
        <p:txBody>
          <a:bodyPr/>
          <a:lstStyle/>
          <a:p>
            <a:endParaRPr lang="en-US"/>
          </a:p>
        </p:txBody>
      </p:sp>
      <p:sp>
        <p:nvSpPr>
          <p:cNvPr id="15" name="Text 13"/>
          <p:cNvSpPr txBox="1"/>
          <p:nvPr/>
        </p:nvSpPr>
        <p:spPr>
          <a:xfrm>
            <a:off x="7269480" y="3867912"/>
            <a:ext cx="3986784" cy="292608"/>
          </a:xfrm>
          <a:prstGeom prst="rect">
            <a:avLst/>
          </a:prstGeom>
          <a:noFill/>
          <a:ln/>
        </p:spPr>
        <p:txBody>
          <a:bodyPr wrap="square" lIns="0" tIns="0" rIns="0" bIns="0" rtlCol="0" anchor="ctr"/>
          <a:lstStyle/>
          <a:p>
            <a:pPr marL="0" indent="0">
              <a:buNone/>
            </a:pPr>
            <a:r>
              <a:rPr lang="en-US" sz="1300" b="1" dirty="0">
                <a:solidFill>
                  <a:srgbClr val="2F5D8C"/>
                </a:solidFill>
                <a:latin typeface="Cambria" pitchFamily="34" charset="0"/>
                <a:ea typeface="Cambria" pitchFamily="34" charset="-122"/>
                <a:cs typeface="Cambria" pitchFamily="34" charset="-120"/>
              </a:rPr>
              <a:t>Its own source has better etymology</a:t>
            </a:r>
            <a:endParaRPr lang="en-US" sz="1300" dirty="0"/>
          </a:p>
        </p:txBody>
      </p:sp>
      <p:sp>
        <p:nvSpPr>
          <p:cNvPr id="16" name="Text 14"/>
          <p:cNvSpPr txBox="1"/>
          <p:nvPr/>
        </p:nvSpPr>
        <p:spPr>
          <a:xfrm>
            <a:off x="7269480" y="4187952"/>
            <a:ext cx="3986784" cy="621792"/>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Tsukumogami is glossed as “gods of tools.” Foster gives the ninety-nine and white-hair derivation, which points at old age — precisely what the essay’s first category needs.</a:t>
            </a:r>
            <a:endParaRPr lang="en-US" sz="1050" dirty="0"/>
          </a:p>
        </p:txBody>
      </p:sp>
      <p:sp>
        <p:nvSpPr>
          <p:cNvPr id="17" name="Shape 15"/>
          <p:cNvSpPr/>
          <p:nvPr/>
        </p:nvSpPr>
        <p:spPr>
          <a:xfrm>
            <a:off x="6995160" y="4974336"/>
            <a:ext cx="4535424" cy="1143000"/>
          </a:xfrm>
          <a:prstGeom prst="roundRect">
            <a:avLst>
              <a:gd name="adj" fmla="val 6400"/>
            </a:avLst>
          </a:prstGeom>
          <a:solidFill>
            <a:srgbClr val="F8EBE8"/>
          </a:solidFill>
          <a:ln w="12700">
            <a:solidFill>
              <a:srgbClr val="F8EBE8"/>
            </a:solidFill>
            <a:prstDash val="solid"/>
          </a:ln>
        </p:spPr>
        <p:txBody>
          <a:bodyPr/>
          <a:lstStyle/>
          <a:p>
            <a:endParaRPr lang="en-US"/>
          </a:p>
        </p:txBody>
      </p:sp>
      <p:sp>
        <p:nvSpPr>
          <p:cNvPr id="18" name="Text 16"/>
          <p:cNvSpPr txBox="1"/>
          <p:nvPr/>
        </p:nvSpPr>
        <p:spPr>
          <a:xfrm>
            <a:off x="7269480" y="5084064"/>
            <a:ext cx="3986784" cy="292608"/>
          </a:xfrm>
          <a:prstGeom prst="rect">
            <a:avLst/>
          </a:prstGeom>
          <a:noFill/>
          <a:ln/>
        </p:spPr>
        <p:txBody>
          <a:bodyPr wrap="square" lIns="0" tIns="0" rIns="0" bIns="0" rtlCol="0" anchor="ctr"/>
          <a:lstStyle/>
          <a:p>
            <a:pPr marL="0" indent="0">
              <a:buNone/>
            </a:pPr>
            <a:r>
              <a:rPr lang="en-US" sz="1300" b="1" dirty="0">
                <a:solidFill>
                  <a:srgbClr val="A93B2C"/>
                </a:solidFill>
                <a:latin typeface="Cambria" pitchFamily="34" charset="0"/>
                <a:ea typeface="Cambria" pitchFamily="34" charset="-122"/>
                <a:cs typeface="Cambria" pitchFamily="34" charset="-120"/>
              </a:rPr>
              <a:t>The essay says everything twice</a:t>
            </a:r>
            <a:endParaRPr lang="en-US" sz="1300" dirty="0"/>
          </a:p>
        </p:txBody>
      </p:sp>
      <p:sp>
        <p:nvSpPr>
          <p:cNvPr id="19" name="Text 17"/>
          <p:cNvSpPr txBox="1"/>
          <p:nvPr/>
        </p:nvSpPr>
        <p:spPr>
          <a:xfrm>
            <a:off x="7269480" y="5404104"/>
            <a:ext cx="3986784" cy="621792"/>
          </a:xfrm>
          <a:prstGeom prst="rect">
            <a:avLst/>
          </a:prstGeom>
          <a:noFill/>
          <a:ln/>
        </p:spPr>
        <p:txBody>
          <a:bodyPr wrap="square" lIns="0" tIns="0" rIns="0" bIns="0" rtlCol="0" anchor="ctr"/>
          <a:lstStyle/>
          <a:p>
            <a:pPr marL="0" indent="0">
              <a:lnSpc>
                <a:spcPts val="1350"/>
              </a:lnSpc>
              <a:buNone/>
            </a:pPr>
            <a:r>
              <a:rPr lang="en-US" sz="1050" dirty="0">
                <a:solidFill>
                  <a:srgbClr val="6B6862"/>
                </a:solidFill>
                <a:latin typeface="Calibri" pitchFamily="34" charset="0"/>
                <a:ea typeface="Calibri" pitchFamily="34" charset="-122"/>
                <a:cs typeface="Calibri" pitchFamily="34" charset="-120"/>
              </a:rPr>
              <a:t>Pages 1 to 5 are a complete compressed version of the argument. Then it restarts at section 1 and says it again at length. The thesis statement arrives on page 5, having already been asserted on page 1.</a:t>
            </a:r>
            <a:endParaRPr lang="en-US" sz="1050" dirty="0"/>
          </a:p>
        </p:txBody>
      </p:sp>
      <p:sp>
        <p:nvSpPr>
          <p:cNvPr id="20" name="Shape 18"/>
          <p:cNvSpPr/>
          <p:nvPr/>
        </p:nvSpPr>
        <p:spPr>
          <a:xfrm>
            <a:off x="640080" y="3950208"/>
            <a:ext cx="5943600" cy="1810512"/>
          </a:xfrm>
          <a:prstGeom prst="roundRect">
            <a:avLst>
              <a:gd name="adj" fmla="val 4040"/>
            </a:avLst>
          </a:prstGeom>
          <a:solidFill>
            <a:srgbClr val="E9EFF6"/>
          </a:solidFill>
          <a:ln w="12700">
            <a:solidFill>
              <a:srgbClr val="E9EFF6"/>
            </a:solidFill>
            <a:prstDash val="solid"/>
          </a:ln>
        </p:spPr>
        <p:txBody>
          <a:bodyPr/>
          <a:lstStyle/>
          <a:p>
            <a:endParaRPr lang="en-US"/>
          </a:p>
        </p:txBody>
      </p:sp>
      <p:sp>
        <p:nvSpPr>
          <p:cNvPr id="21" name="Text 19"/>
          <p:cNvSpPr txBox="1"/>
          <p:nvPr/>
        </p:nvSpPr>
        <p:spPr>
          <a:xfrm>
            <a:off x="960120" y="4114800"/>
            <a:ext cx="5394960" cy="310896"/>
          </a:xfrm>
          <a:prstGeom prst="rect">
            <a:avLst/>
          </a:prstGeom>
          <a:noFill/>
          <a:ln/>
        </p:spPr>
        <p:txBody>
          <a:bodyPr wrap="square" lIns="0" tIns="0" rIns="0" bIns="0" rtlCol="0" anchor="ctr"/>
          <a:lstStyle/>
          <a:p>
            <a:pPr marL="0" indent="0">
              <a:buNone/>
            </a:pPr>
            <a:r>
              <a:rPr lang="en-US" sz="1550" b="1" dirty="0">
                <a:solidFill>
                  <a:srgbClr val="2F5D8C"/>
                </a:solidFill>
                <a:latin typeface="Cambria" pitchFamily="34" charset="0"/>
                <a:ea typeface="Cambria" pitchFamily="34" charset="-122"/>
                <a:cs typeface="Cambria" pitchFamily="34" charset="-120"/>
              </a:rPr>
              <a:t>Why the last one is a severe problem</a:t>
            </a:r>
            <a:endParaRPr lang="en-US" sz="1550" dirty="0"/>
          </a:p>
        </p:txBody>
      </p:sp>
      <p:sp>
        <p:nvSpPr>
          <p:cNvPr id="22" name="Text 20"/>
          <p:cNvSpPr txBox="1"/>
          <p:nvPr/>
        </p:nvSpPr>
        <p:spPr>
          <a:xfrm>
            <a:off x="960120" y="4498848"/>
            <a:ext cx="5394960" cy="1143000"/>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A summary at the front followed by the same argument at length is the fossil of a paper that grew out of a shorter one. It is harmless in a draft and expensive in a thesis, because the reader cannot tell which version is authoritative — and the two versions do not quite agree.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THE DISCOVERY</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The best idea in the essay is on page 26, undeveloped</a:t>
            </a:r>
            <a:endParaRPr lang="en-US" sz="2900" dirty="0"/>
          </a:p>
        </p:txBody>
      </p:sp>
      <p:sp>
        <p:nvSpPr>
          <p:cNvPr id="5" name="Shape 3"/>
          <p:cNvSpPr/>
          <p:nvPr/>
        </p:nvSpPr>
        <p:spPr>
          <a:xfrm>
            <a:off x="640080" y="1325880"/>
            <a:ext cx="10911535" cy="1234440"/>
          </a:xfrm>
          <a:prstGeom prst="roundRect">
            <a:avLst>
              <a:gd name="adj" fmla="val 5926"/>
            </a:avLst>
          </a:prstGeom>
          <a:solidFill>
            <a:srgbClr val="1C1B1A"/>
          </a:solidFill>
          <a:ln w="12700">
            <a:solidFill>
              <a:srgbClr val="1C1B1A"/>
            </a:solidFill>
            <a:prstDash val="solid"/>
          </a:ln>
        </p:spPr>
        <p:txBody>
          <a:bodyPr/>
          <a:lstStyle/>
          <a:p>
            <a:endParaRPr lang="en-US"/>
          </a:p>
        </p:txBody>
      </p:sp>
      <p:sp>
        <p:nvSpPr>
          <p:cNvPr id="6" name="Text 4"/>
          <p:cNvSpPr txBox="1"/>
          <p:nvPr/>
        </p:nvSpPr>
        <p:spPr>
          <a:xfrm>
            <a:off x="1051560" y="1325880"/>
            <a:ext cx="10332720" cy="1234440"/>
          </a:xfrm>
          <a:prstGeom prst="rect">
            <a:avLst/>
          </a:prstGeom>
          <a:noFill/>
          <a:ln/>
        </p:spPr>
        <p:txBody>
          <a:bodyPr wrap="square" lIns="0" tIns="0" rIns="0" bIns="0" rtlCol="0" anchor="ctr"/>
          <a:lstStyle/>
          <a:p>
            <a:pPr marL="0" indent="0">
              <a:lnSpc>
                <a:spcPts val="2400"/>
              </a:lnSpc>
              <a:buNone/>
            </a:pPr>
            <a:r>
              <a:rPr lang="en-US" sz="1700" i="1" dirty="0">
                <a:solidFill>
                  <a:srgbClr val="F2F0EB"/>
                </a:solidFill>
                <a:latin typeface="Cambria" pitchFamily="34" charset="0"/>
                <a:ea typeface="Cambria" pitchFamily="34" charset="-122"/>
                <a:cs typeface="Cambria" pitchFamily="34" charset="-120"/>
              </a:rPr>
              <a:t>“The motif of transformation doesn’t specify which is the original form and which is the transformation … A context must be given if we want to know which form is original and which form is later obtained.”</a:t>
            </a:r>
            <a:endParaRPr lang="en-US" sz="1700" dirty="0"/>
          </a:p>
        </p:txBody>
      </p:sp>
      <p:sp>
        <p:nvSpPr>
          <p:cNvPr id="7" name="Shape 5"/>
          <p:cNvSpPr/>
          <p:nvPr/>
        </p:nvSpPr>
        <p:spPr>
          <a:xfrm>
            <a:off x="640080" y="2743200"/>
            <a:ext cx="3454298" cy="2377440"/>
          </a:xfrm>
          <a:prstGeom prst="roundRect">
            <a:avLst>
              <a:gd name="adj" fmla="val 3077"/>
            </a:avLst>
          </a:prstGeom>
          <a:solidFill>
            <a:srgbClr val="E9EFF6"/>
          </a:solidFill>
          <a:ln w="12700">
            <a:solidFill>
              <a:srgbClr val="E9EFF6"/>
            </a:solidFill>
            <a:prstDash val="solid"/>
          </a:ln>
        </p:spPr>
        <p:txBody>
          <a:bodyPr/>
          <a:lstStyle/>
          <a:p>
            <a:endParaRPr lang="en-US"/>
          </a:p>
        </p:txBody>
      </p:sp>
      <p:sp>
        <p:nvSpPr>
          <p:cNvPr id="8" name="Text 6"/>
          <p:cNvSpPr txBox="1"/>
          <p:nvPr/>
        </p:nvSpPr>
        <p:spPr>
          <a:xfrm>
            <a:off x="914400" y="29260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C1B1A"/>
                </a:solidFill>
                <a:latin typeface="Cambria" pitchFamily="34" charset="0"/>
                <a:ea typeface="Cambria" pitchFamily="34" charset="-122"/>
                <a:cs typeface="Cambria" pitchFamily="34" charset="-120"/>
              </a:rPr>
              <a:t>This is a structural claim, and it is original</a:t>
            </a:r>
            <a:endParaRPr lang="en-US" sz="1600" dirty="0"/>
          </a:p>
        </p:txBody>
      </p:sp>
      <p:sp>
        <p:nvSpPr>
          <p:cNvPr id="9" name="Text 7"/>
          <p:cNvSpPr txBox="1"/>
          <p:nvPr/>
        </p:nvSpPr>
        <p:spPr>
          <a:xfrm>
            <a:off x="914400" y="3566160"/>
            <a:ext cx="2905658" cy="1335024"/>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Transformation as a formal device is symmetrical. A laurel that was a woman and a mirror that became a face are the same figure running in opposite directions. What tells them apart is not the figure but the frame we bring to it.</a:t>
            </a:r>
            <a:endParaRPr lang="en-US" sz="1200" dirty="0"/>
          </a:p>
        </p:txBody>
      </p:sp>
      <p:sp>
        <p:nvSpPr>
          <p:cNvPr id="10" name="Shape 8"/>
          <p:cNvSpPr/>
          <p:nvPr/>
        </p:nvSpPr>
        <p:spPr>
          <a:xfrm>
            <a:off x="4368698" y="2743200"/>
            <a:ext cx="3454298" cy="2377440"/>
          </a:xfrm>
          <a:prstGeom prst="roundRect">
            <a:avLst>
              <a:gd name="adj" fmla="val 3077"/>
            </a:avLst>
          </a:prstGeom>
          <a:solidFill>
            <a:srgbClr val="F8EBE8"/>
          </a:solidFill>
          <a:ln w="12700">
            <a:solidFill>
              <a:srgbClr val="F8EBE8"/>
            </a:solidFill>
            <a:prstDash val="solid"/>
          </a:ln>
        </p:spPr>
        <p:txBody>
          <a:bodyPr/>
          <a:lstStyle/>
          <a:p>
            <a:endParaRPr lang="en-US"/>
          </a:p>
        </p:txBody>
      </p:sp>
      <p:sp>
        <p:nvSpPr>
          <p:cNvPr id="11" name="Text 9"/>
          <p:cNvSpPr txBox="1"/>
          <p:nvPr/>
        </p:nvSpPr>
        <p:spPr>
          <a:xfrm>
            <a:off x="4643018" y="29260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C1B1A"/>
                </a:solidFill>
                <a:latin typeface="Cambria" pitchFamily="34" charset="0"/>
                <a:ea typeface="Cambria" pitchFamily="34" charset="-122"/>
                <a:cs typeface="Cambria" pitchFamily="34" charset="-120"/>
              </a:rPr>
              <a:t>It dissolves the essay’s own problem</a:t>
            </a:r>
            <a:endParaRPr lang="en-US" sz="1600" dirty="0"/>
          </a:p>
        </p:txBody>
      </p:sp>
      <p:sp>
        <p:nvSpPr>
          <p:cNvPr id="12" name="Text 10"/>
          <p:cNvSpPr txBox="1"/>
          <p:nvPr/>
        </p:nvSpPr>
        <p:spPr>
          <a:xfrm>
            <a:off x="4643018" y="3566160"/>
            <a:ext cx="2905658" cy="1335024"/>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If direction is supplied by context rather than by the motif, then the difference between Ovid and Sekien is a difference of frame — which is a claim about two cultures of reading, and needs no speculation about either author’s mood.</a:t>
            </a:r>
            <a:endParaRPr lang="en-US" sz="1200" dirty="0"/>
          </a:p>
        </p:txBody>
      </p:sp>
      <p:sp>
        <p:nvSpPr>
          <p:cNvPr id="13" name="Shape 11"/>
          <p:cNvSpPr/>
          <p:nvPr/>
        </p:nvSpPr>
        <p:spPr>
          <a:xfrm>
            <a:off x="8097317" y="2743200"/>
            <a:ext cx="3454298" cy="2377440"/>
          </a:xfrm>
          <a:prstGeom prst="roundRect">
            <a:avLst>
              <a:gd name="adj" fmla="val 3077"/>
            </a:avLst>
          </a:prstGeom>
          <a:solidFill>
            <a:srgbClr val="E9EFF6"/>
          </a:solidFill>
          <a:ln w="12700">
            <a:solidFill>
              <a:srgbClr val="E9EFF6"/>
            </a:solidFill>
            <a:prstDash val="solid"/>
          </a:ln>
        </p:spPr>
        <p:txBody>
          <a:bodyPr/>
          <a:lstStyle/>
          <a:p>
            <a:endParaRPr lang="en-US"/>
          </a:p>
        </p:txBody>
      </p:sp>
      <p:sp>
        <p:nvSpPr>
          <p:cNvPr id="14" name="Text 12"/>
          <p:cNvSpPr txBox="1"/>
          <p:nvPr/>
        </p:nvSpPr>
        <p:spPr>
          <a:xfrm>
            <a:off x="8371637" y="29260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C1B1A"/>
                </a:solidFill>
                <a:latin typeface="Cambria" pitchFamily="34" charset="0"/>
                <a:ea typeface="Cambria" pitchFamily="34" charset="-122"/>
                <a:cs typeface="Cambria" pitchFamily="34" charset="-120"/>
              </a:rPr>
              <a:t>And it arrives two pages from the end</a:t>
            </a:r>
            <a:endParaRPr lang="en-US" sz="1600" dirty="0"/>
          </a:p>
        </p:txBody>
      </p:sp>
      <p:sp>
        <p:nvSpPr>
          <p:cNvPr id="15" name="Text 13"/>
          <p:cNvSpPr txBox="1"/>
          <p:nvPr/>
        </p:nvSpPr>
        <p:spPr>
          <a:xfrm>
            <a:off x="8371637" y="3566160"/>
            <a:ext cx="2905658" cy="1335024"/>
          </a:xfrm>
          <a:prstGeom prst="rect">
            <a:avLst/>
          </a:prstGeom>
          <a:noFill/>
          <a:ln/>
        </p:spPr>
        <p:txBody>
          <a:bodyPr wrap="square" lIns="0" tIns="0" rIns="0" bIns="0" rtlCol="0" anchor="ctr"/>
          <a:lstStyle/>
          <a:p>
            <a:pPr marL="0" indent="0">
              <a:lnSpc>
                <a:spcPts val="1600"/>
              </a:lnSpc>
              <a:buNone/>
            </a:pPr>
            <a:r>
              <a:rPr lang="en-US" sz="1200" dirty="0">
                <a:solidFill>
                  <a:srgbClr val="6B6862"/>
                </a:solidFill>
                <a:latin typeface="Calibri" pitchFamily="34" charset="0"/>
                <a:ea typeface="Calibri" pitchFamily="34" charset="-122"/>
                <a:cs typeface="Calibri" pitchFamily="34" charset="-120"/>
              </a:rPr>
              <a:t>It is stated, illustrated in two sentences, and dropped. Nothing earlier in the essay is revised in its light, and the conclusion returns to the biographical argument as though it had not been made.</a:t>
            </a:r>
            <a:endParaRPr lang="en-US" sz="1200" dirty="0"/>
          </a:p>
        </p:txBody>
      </p:sp>
      <p:sp>
        <p:nvSpPr>
          <p:cNvPr id="16" name="Shape 14"/>
          <p:cNvSpPr/>
          <p:nvPr/>
        </p:nvSpPr>
        <p:spPr>
          <a:xfrm>
            <a:off x="640080" y="5257800"/>
            <a:ext cx="10911535" cy="1005840"/>
          </a:xfrm>
          <a:prstGeom prst="roundRect">
            <a:avLst>
              <a:gd name="adj" fmla="val 7273"/>
            </a:avLst>
          </a:prstGeom>
          <a:solidFill>
            <a:srgbClr val="1C1B1A"/>
          </a:solidFill>
          <a:ln w="12700">
            <a:solidFill>
              <a:srgbClr val="1C1B1A"/>
            </a:solidFill>
            <a:prstDash val="solid"/>
          </a:ln>
        </p:spPr>
        <p:txBody>
          <a:bodyPr/>
          <a:lstStyle/>
          <a:p>
            <a:endParaRPr lang="en-US"/>
          </a:p>
        </p:txBody>
      </p:sp>
      <p:sp>
        <p:nvSpPr>
          <p:cNvPr id="17" name="Text 15"/>
          <p:cNvSpPr txBox="1"/>
          <p:nvPr/>
        </p:nvSpPr>
        <p:spPr>
          <a:xfrm>
            <a:off x="1005840" y="5422392"/>
            <a:ext cx="10424160" cy="274320"/>
          </a:xfrm>
          <a:prstGeom prst="rect">
            <a:avLst/>
          </a:prstGeom>
          <a:noFill/>
          <a:ln/>
        </p:spPr>
        <p:txBody>
          <a:bodyPr wrap="square" lIns="0" tIns="0" rIns="0" bIns="0" rtlCol="0" anchor="ctr"/>
          <a:lstStyle/>
          <a:p>
            <a:pPr marL="0" indent="0">
              <a:buNone/>
            </a:pPr>
            <a:r>
              <a:rPr lang="en-US" sz="1150" b="1" kern="0" spc="140" dirty="0">
                <a:solidFill>
                  <a:srgbClr val="D99A90"/>
                </a:solidFill>
                <a:latin typeface="Calibri" pitchFamily="34" charset="0"/>
                <a:ea typeface="Calibri" pitchFamily="34" charset="-122"/>
                <a:cs typeface="Calibri" pitchFamily="34" charset="-120"/>
              </a:rPr>
              <a:t>The commonest shape of an undergraduate thesis</a:t>
            </a:r>
            <a:endParaRPr lang="en-US" sz="1150" dirty="0"/>
          </a:p>
        </p:txBody>
      </p:sp>
      <p:sp>
        <p:nvSpPr>
          <p:cNvPr id="18" name="Text 16"/>
          <p:cNvSpPr txBox="1"/>
          <p:nvPr/>
        </p:nvSpPr>
        <p:spPr>
          <a:xfrm>
            <a:off x="1005840" y="5751576"/>
            <a:ext cx="10424160" cy="347472"/>
          </a:xfrm>
          <a:prstGeom prst="rect">
            <a:avLst/>
          </a:prstGeom>
          <a:noFill/>
          <a:ln/>
        </p:spPr>
        <p:txBody>
          <a:bodyPr wrap="square" lIns="0" tIns="0" rIns="0" bIns="0" rtlCol="0" anchor="ctr"/>
          <a:lstStyle/>
          <a:p>
            <a:pPr marL="0" indent="0">
              <a:lnSpc>
                <a:spcPts val="2000"/>
              </a:lnSpc>
              <a:buNone/>
            </a:pPr>
            <a:r>
              <a:rPr lang="en-US" sz="1500" dirty="0">
                <a:solidFill>
                  <a:srgbClr val="F2F0EB"/>
                </a:solidFill>
                <a:latin typeface="Cambria" pitchFamily="34" charset="0"/>
                <a:ea typeface="Cambria" pitchFamily="34" charset="-122"/>
                <a:cs typeface="Cambria" pitchFamily="34" charset="-120"/>
              </a:rPr>
              <a:t>The real argument is discovered in the process of writing, arrives near the end, and is never promoted — because by then the structure is built and the deadline is close.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THE REPAIR</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A better revision for the essay</a:t>
            </a:r>
            <a:endParaRPr lang="en-US" sz="2900" dirty="0"/>
          </a:p>
        </p:txBody>
      </p:sp>
      <p:sp>
        <p:nvSpPr>
          <p:cNvPr id="5" name="Shape 3"/>
          <p:cNvSpPr/>
          <p:nvPr/>
        </p:nvSpPr>
        <p:spPr>
          <a:xfrm>
            <a:off x="640080" y="1325880"/>
            <a:ext cx="10911535" cy="786384"/>
          </a:xfrm>
          <a:prstGeom prst="roundRect">
            <a:avLst>
              <a:gd name="adj" fmla="val 9302"/>
            </a:avLst>
          </a:prstGeom>
          <a:solidFill>
            <a:srgbClr val="E9EFF6"/>
          </a:solidFill>
          <a:ln w="12700">
            <a:solidFill>
              <a:srgbClr val="E9EFF6"/>
            </a:solidFill>
            <a:prstDash val="solid"/>
          </a:ln>
        </p:spPr>
        <p:txBody>
          <a:bodyPr/>
          <a:lstStyle/>
          <a:p>
            <a:endParaRPr lang="en-US"/>
          </a:p>
        </p:txBody>
      </p:sp>
      <p:sp>
        <p:nvSpPr>
          <p:cNvPr id="6" name="Shape 4"/>
          <p:cNvSpPr/>
          <p:nvPr/>
        </p:nvSpPr>
        <p:spPr>
          <a:xfrm>
            <a:off x="932688" y="1545336"/>
            <a:ext cx="347472" cy="347472"/>
          </a:xfrm>
          <a:prstGeom prst="ellipse">
            <a:avLst/>
          </a:prstGeom>
          <a:solidFill>
            <a:srgbClr val="2F5D8C"/>
          </a:solidFill>
          <a:ln/>
        </p:spPr>
        <p:txBody>
          <a:bodyPr/>
          <a:lstStyle/>
          <a:p>
            <a:endParaRPr lang="en-US"/>
          </a:p>
        </p:txBody>
      </p:sp>
      <p:sp>
        <p:nvSpPr>
          <p:cNvPr id="7" name="Text 5"/>
          <p:cNvSpPr txBox="1"/>
          <p:nvPr/>
        </p:nvSpPr>
        <p:spPr>
          <a:xfrm>
            <a:off x="932688" y="1545336"/>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36192" y="1380744"/>
            <a:ext cx="4023360" cy="676656"/>
          </a:xfrm>
          <a:prstGeom prst="rect">
            <a:avLst/>
          </a:prstGeom>
          <a:noFill/>
          <a:ln/>
        </p:spPr>
        <p:txBody>
          <a:bodyPr wrap="square" lIns="0" tIns="0" rIns="0" bIns="0" rtlCol="0" anchor="ctr"/>
          <a:lstStyle/>
          <a:p>
            <a:pPr marL="0" indent="0">
              <a:lnSpc>
                <a:spcPts val="1700"/>
              </a:lnSpc>
              <a:buNone/>
            </a:pPr>
            <a:r>
              <a:rPr lang="en-US" sz="1400" b="1" dirty="0">
                <a:solidFill>
                  <a:srgbClr val="1C1B1A"/>
                </a:solidFill>
                <a:latin typeface="Cambria" pitchFamily="34" charset="0"/>
                <a:ea typeface="Cambria" pitchFamily="34" charset="-122"/>
                <a:cs typeface="Cambria" pitchFamily="34" charset="-120"/>
              </a:rPr>
              <a:t>Promote page 26 to page 1</a:t>
            </a:r>
            <a:endParaRPr lang="en-US" sz="1400" dirty="0"/>
          </a:p>
        </p:txBody>
      </p:sp>
      <p:sp>
        <p:nvSpPr>
          <p:cNvPr id="9" name="Text 7"/>
          <p:cNvSpPr txBox="1"/>
          <p:nvPr/>
        </p:nvSpPr>
        <p:spPr>
          <a:xfrm>
            <a:off x="5669280" y="1380744"/>
            <a:ext cx="5440680" cy="676656"/>
          </a:xfrm>
          <a:prstGeom prst="rect">
            <a:avLst/>
          </a:prstGeom>
          <a:noFill/>
          <a:ln/>
        </p:spPr>
        <p:txBody>
          <a:bodyPr wrap="square" lIns="0" tIns="0" rIns="0" bIns="0" rtlCol="0" anchor="ctr"/>
          <a:lstStyle/>
          <a:p>
            <a:pPr marL="0" indent="0">
              <a:lnSpc>
                <a:spcPts val="1400"/>
              </a:lnSpc>
              <a:buNone/>
            </a:pPr>
            <a:r>
              <a:rPr lang="en-US" sz="1100" dirty="0">
                <a:solidFill>
                  <a:srgbClr val="6B6862"/>
                </a:solidFill>
                <a:latin typeface="Calibri" pitchFamily="34" charset="0"/>
                <a:ea typeface="Calibri" pitchFamily="34" charset="-122"/>
                <a:cs typeface="Calibri" pitchFamily="34" charset="-120"/>
              </a:rPr>
              <a:t>Open with the symmetry claim: transformation is a directionless figure, and direction is supplied by context. Everything else becomes evidence for it.</a:t>
            </a:r>
            <a:endParaRPr lang="en-US" sz="1100" dirty="0"/>
          </a:p>
        </p:txBody>
      </p:sp>
      <p:sp>
        <p:nvSpPr>
          <p:cNvPr id="10" name="Shape 8"/>
          <p:cNvSpPr/>
          <p:nvPr/>
        </p:nvSpPr>
        <p:spPr>
          <a:xfrm>
            <a:off x="640080" y="2185416"/>
            <a:ext cx="10911535" cy="786384"/>
          </a:xfrm>
          <a:prstGeom prst="roundRect">
            <a:avLst>
              <a:gd name="adj" fmla="val 9302"/>
            </a:avLst>
          </a:prstGeom>
          <a:solidFill>
            <a:srgbClr val="F8EBE8"/>
          </a:solidFill>
          <a:ln w="12700">
            <a:solidFill>
              <a:srgbClr val="F8EBE8"/>
            </a:solidFill>
            <a:prstDash val="solid"/>
          </a:ln>
        </p:spPr>
        <p:txBody>
          <a:bodyPr/>
          <a:lstStyle/>
          <a:p>
            <a:endParaRPr lang="en-US"/>
          </a:p>
        </p:txBody>
      </p:sp>
      <p:sp>
        <p:nvSpPr>
          <p:cNvPr id="11" name="Shape 9"/>
          <p:cNvSpPr/>
          <p:nvPr/>
        </p:nvSpPr>
        <p:spPr>
          <a:xfrm>
            <a:off x="932688" y="2404872"/>
            <a:ext cx="347472" cy="347472"/>
          </a:xfrm>
          <a:prstGeom prst="ellipse">
            <a:avLst/>
          </a:prstGeom>
          <a:solidFill>
            <a:srgbClr val="A93B2C"/>
          </a:solidFill>
          <a:ln/>
        </p:spPr>
        <p:txBody>
          <a:bodyPr/>
          <a:lstStyle/>
          <a:p>
            <a:endParaRPr lang="en-US"/>
          </a:p>
        </p:txBody>
      </p:sp>
      <p:sp>
        <p:nvSpPr>
          <p:cNvPr id="12" name="Text 10"/>
          <p:cNvSpPr txBox="1"/>
          <p:nvPr/>
        </p:nvSpPr>
        <p:spPr>
          <a:xfrm>
            <a:off x="932688" y="240487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536192" y="2240280"/>
            <a:ext cx="4023360" cy="676656"/>
          </a:xfrm>
          <a:prstGeom prst="rect">
            <a:avLst/>
          </a:prstGeom>
          <a:noFill/>
          <a:ln/>
        </p:spPr>
        <p:txBody>
          <a:bodyPr wrap="square" lIns="0" tIns="0" rIns="0" bIns="0" rtlCol="0" anchor="ctr"/>
          <a:lstStyle/>
          <a:p>
            <a:pPr marL="0" indent="0">
              <a:lnSpc>
                <a:spcPts val="1700"/>
              </a:lnSpc>
              <a:buNone/>
            </a:pPr>
            <a:r>
              <a:rPr lang="en-US" sz="1400" b="1" dirty="0">
                <a:solidFill>
                  <a:srgbClr val="1C1B1A"/>
                </a:solidFill>
                <a:latin typeface="Cambria" pitchFamily="34" charset="0"/>
                <a:ea typeface="Cambria" pitchFamily="34" charset="-122"/>
                <a:cs typeface="Cambria" pitchFamily="34" charset="-120"/>
              </a:rPr>
              <a:t>Cut the biography</a:t>
            </a:r>
            <a:endParaRPr lang="en-US" sz="1400" dirty="0"/>
          </a:p>
        </p:txBody>
      </p:sp>
      <p:sp>
        <p:nvSpPr>
          <p:cNvPr id="14" name="Text 12"/>
          <p:cNvSpPr txBox="1"/>
          <p:nvPr/>
        </p:nvSpPr>
        <p:spPr>
          <a:xfrm>
            <a:off x="5669280" y="2240280"/>
            <a:ext cx="5440680" cy="676656"/>
          </a:xfrm>
          <a:prstGeom prst="rect">
            <a:avLst/>
          </a:prstGeom>
          <a:noFill/>
          <a:ln/>
        </p:spPr>
        <p:txBody>
          <a:bodyPr wrap="square" lIns="0" tIns="0" rIns="0" bIns="0" rtlCol="0" anchor="ctr"/>
          <a:lstStyle/>
          <a:p>
            <a:pPr marL="0" indent="0">
              <a:lnSpc>
                <a:spcPts val="1400"/>
              </a:lnSpc>
              <a:buNone/>
            </a:pPr>
            <a:r>
              <a:rPr lang="en-US" sz="1100" dirty="0">
                <a:solidFill>
                  <a:srgbClr val="6B6862"/>
                </a:solidFill>
                <a:latin typeface="Calibri" pitchFamily="34" charset="0"/>
                <a:ea typeface="Calibri" pitchFamily="34" charset="-122"/>
                <a:cs typeface="Calibri" pitchFamily="34" charset="-120"/>
              </a:rPr>
              <a:t>Delete Augustus, Tomis and Sekien’s inner life. Not because authors do not matter, but because neither case can be established and the argument is better without them.</a:t>
            </a:r>
            <a:endParaRPr lang="en-US" sz="1100" dirty="0"/>
          </a:p>
        </p:txBody>
      </p:sp>
      <p:sp>
        <p:nvSpPr>
          <p:cNvPr id="15" name="Shape 13"/>
          <p:cNvSpPr/>
          <p:nvPr/>
        </p:nvSpPr>
        <p:spPr>
          <a:xfrm>
            <a:off x="640080" y="3044952"/>
            <a:ext cx="10911535" cy="786384"/>
          </a:xfrm>
          <a:prstGeom prst="roundRect">
            <a:avLst>
              <a:gd name="adj" fmla="val 9302"/>
            </a:avLst>
          </a:prstGeom>
          <a:solidFill>
            <a:srgbClr val="E9EFF6"/>
          </a:solidFill>
          <a:ln w="12700">
            <a:solidFill>
              <a:srgbClr val="E9EFF6"/>
            </a:solidFill>
            <a:prstDash val="solid"/>
          </a:ln>
        </p:spPr>
        <p:txBody>
          <a:bodyPr/>
          <a:lstStyle/>
          <a:p>
            <a:endParaRPr lang="en-US"/>
          </a:p>
        </p:txBody>
      </p:sp>
      <p:sp>
        <p:nvSpPr>
          <p:cNvPr id="16" name="Shape 14"/>
          <p:cNvSpPr/>
          <p:nvPr/>
        </p:nvSpPr>
        <p:spPr>
          <a:xfrm>
            <a:off x="932688" y="3264408"/>
            <a:ext cx="347472" cy="347472"/>
          </a:xfrm>
          <a:prstGeom prst="ellipse">
            <a:avLst/>
          </a:prstGeom>
          <a:solidFill>
            <a:srgbClr val="2F5D8C"/>
          </a:solidFill>
          <a:ln/>
        </p:spPr>
        <p:txBody>
          <a:bodyPr/>
          <a:lstStyle/>
          <a:p>
            <a:endParaRPr lang="en-US"/>
          </a:p>
        </p:txBody>
      </p:sp>
      <p:sp>
        <p:nvSpPr>
          <p:cNvPr id="17" name="Text 15"/>
          <p:cNvSpPr txBox="1"/>
          <p:nvPr/>
        </p:nvSpPr>
        <p:spPr>
          <a:xfrm>
            <a:off x="932688" y="3264408"/>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536192" y="3099816"/>
            <a:ext cx="4023360" cy="676656"/>
          </a:xfrm>
          <a:prstGeom prst="rect">
            <a:avLst/>
          </a:prstGeom>
          <a:noFill/>
          <a:ln/>
        </p:spPr>
        <p:txBody>
          <a:bodyPr wrap="square" lIns="0" tIns="0" rIns="0" bIns="0" rtlCol="0" anchor="ctr"/>
          <a:lstStyle/>
          <a:p>
            <a:pPr marL="0" indent="0">
              <a:lnSpc>
                <a:spcPts val="1700"/>
              </a:lnSpc>
              <a:buNone/>
            </a:pPr>
            <a:r>
              <a:rPr lang="en-US" sz="1400" b="1" dirty="0">
                <a:solidFill>
                  <a:srgbClr val="1C1B1A"/>
                </a:solidFill>
                <a:latin typeface="Cambria" pitchFamily="34" charset="0"/>
                <a:ea typeface="Cambria" pitchFamily="34" charset="-122"/>
                <a:cs typeface="Cambria" pitchFamily="34" charset="-120"/>
              </a:rPr>
              <a:t>Keep the four objects, narrow the claims</a:t>
            </a:r>
            <a:endParaRPr lang="en-US" sz="1400" dirty="0"/>
          </a:p>
        </p:txBody>
      </p:sp>
      <p:sp>
        <p:nvSpPr>
          <p:cNvPr id="19" name="Text 17"/>
          <p:cNvSpPr txBox="1"/>
          <p:nvPr/>
        </p:nvSpPr>
        <p:spPr>
          <a:xfrm>
            <a:off x="5669280" y="3099816"/>
            <a:ext cx="5440680" cy="676656"/>
          </a:xfrm>
          <a:prstGeom prst="rect">
            <a:avLst/>
          </a:prstGeom>
          <a:noFill/>
          <a:ln/>
        </p:spPr>
        <p:txBody>
          <a:bodyPr wrap="square" lIns="0" tIns="0" rIns="0" bIns="0" rtlCol="0" anchor="ctr"/>
          <a:lstStyle/>
          <a:p>
            <a:pPr marL="0" indent="0">
              <a:lnSpc>
                <a:spcPts val="1400"/>
              </a:lnSpc>
              <a:buNone/>
            </a:pPr>
            <a:r>
              <a:rPr lang="en-US" sz="1100" dirty="0">
                <a:solidFill>
                  <a:srgbClr val="6B6862"/>
                </a:solidFill>
                <a:latin typeface="Calibri" pitchFamily="34" charset="0"/>
                <a:ea typeface="Calibri" pitchFamily="34" charset="-122"/>
                <a:cs typeface="Calibri" pitchFamily="34" charset="-120"/>
              </a:rPr>
              <a:t>Two tales and two plates are enough to demonstrate a device. They are not enough to characterise a corpus. Say device, not corpus, throughout.</a:t>
            </a:r>
            <a:endParaRPr lang="en-US" sz="1100" dirty="0"/>
          </a:p>
        </p:txBody>
      </p:sp>
      <p:sp>
        <p:nvSpPr>
          <p:cNvPr id="20" name="Shape 18"/>
          <p:cNvSpPr/>
          <p:nvPr/>
        </p:nvSpPr>
        <p:spPr>
          <a:xfrm>
            <a:off x="640080" y="3904488"/>
            <a:ext cx="10911535" cy="786384"/>
          </a:xfrm>
          <a:prstGeom prst="roundRect">
            <a:avLst>
              <a:gd name="adj" fmla="val 9302"/>
            </a:avLst>
          </a:prstGeom>
          <a:solidFill>
            <a:srgbClr val="F8EBE8"/>
          </a:solidFill>
          <a:ln w="12700">
            <a:solidFill>
              <a:srgbClr val="F8EBE8"/>
            </a:solidFill>
            <a:prstDash val="solid"/>
          </a:ln>
        </p:spPr>
        <p:txBody>
          <a:bodyPr/>
          <a:lstStyle/>
          <a:p>
            <a:endParaRPr lang="en-US"/>
          </a:p>
        </p:txBody>
      </p:sp>
      <p:sp>
        <p:nvSpPr>
          <p:cNvPr id="21" name="Shape 19"/>
          <p:cNvSpPr/>
          <p:nvPr/>
        </p:nvSpPr>
        <p:spPr>
          <a:xfrm>
            <a:off x="932688" y="4123944"/>
            <a:ext cx="347472" cy="347472"/>
          </a:xfrm>
          <a:prstGeom prst="ellipse">
            <a:avLst/>
          </a:prstGeom>
          <a:solidFill>
            <a:srgbClr val="A93B2C"/>
          </a:solidFill>
          <a:ln/>
        </p:spPr>
        <p:txBody>
          <a:bodyPr/>
          <a:lstStyle/>
          <a:p>
            <a:endParaRPr lang="en-US"/>
          </a:p>
        </p:txBody>
      </p:sp>
      <p:sp>
        <p:nvSpPr>
          <p:cNvPr id="22" name="Text 20"/>
          <p:cNvSpPr txBox="1"/>
          <p:nvPr/>
        </p:nvSpPr>
        <p:spPr>
          <a:xfrm>
            <a:off x="932688" y="412394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1536192" y="3959352"/>
            <a:ext cx="4023360" cy="676656"/>
          </a:xfrm>
          <a:prstGeom prst="rect">
            <a:avLst/>
          </a:prstGeom>
          <a:noFill/>
          <a:ln/>
        </p:spPr>
        <p:txBody>
          <a:bodyPr wrap="square" lIns="0" tIns="0" rIns="0" bIns="0" rtlCol="0" anchor="ctr"/>
          <a:lstStyle/>
          <a:p>
            <a:pPr marL="0" indent="0">
              <a:lnSpc>
                <a:spcPts val="1700"/>
              </a:lnSpc>
              <a:buNone/>
            </a:pPr>
            <a:r>
              <a:rPr lang="en-US" sz="1400" b="1" dirty="0">
                <a:solidFill>
                  <a:srgbClr val="1C1B1A"/>
                </a:solidFill>
                <a:latin typeface="Cambria" pitchFamily="34" charset="0"/>
                <a:ea typeface="Cambria" pitchFamily="34" charset="-122"/>
                <a:cs typeface="Cambria" pitchFamily="34" charset="-120"/>
              </a:rPr>
              <a:t>Make the pictorial argument the centre</a:t>
            </a:r>
            <a:endParaRPr lang="en-US" sz="1400" dirty="0"/>
          </a:p>
        </p:txBody>
      </p:sp>
      <p:sp>
        <p:nvSpPr>
          <p:cNvPr id="24" name="Text 22"/>
          <p:cNvSpPr txBox="1"/>
          <p:nvPr/>
        </p:nvSpPr>
        <p:spPr>
          <a:xfrm>
            <a:off x="5669280" y="3959352"/>
            <a:ext cx="5440680" cy="676656"/>
          </a:xfrm>
          <a:prstGeom prst="rect">
            <a:avLst/>
          </a:prstGeom>
          <a:noFill/>
          <a:ln/>
        </p:spPr>
        <p:txBody>
          <a:bodyPr wrap="square" lIns="0" tIns="0" rIns="0" bIns="0" rtlCol="0" anchor="ctr"/>
          <a:lstStyle/>
          <a:p>
            <a:pPr marL="0" indent="0">
              <a:lnSpc>
                <a:spcPts val="1400"/>
              </a:lnSpc>
              <a:buNone/>
            </a:pPr>
            <a:r>
              <a:rPr lang="en-US" sz="1100" dirty="0">
                <a:solidFill>
                  <a:srgbClr val="6B6862"/>
                </a:solidFill>
                <a:latin typeface="Calibri" pitchFamily="34" charset="0"/>
                <a:ea typeface="Calibri" pitchFamily="34" charset="-122"/>
                <a:cs typeface="Calibri" pitchFamily="34" charset="-120"/>
              </a:rPr>
              <a:t>The dotted line versus the solid line; the object still legible inside the humanoid form. This is the essay’s best evidence and it currently sits in a subsection.</a:t>
            </a:r>
            <a:endParaRPr lang="en-US" sz="1100" dirty="0"/>
          </a:p>
        </p:txBody>
      </p:sp>
      <p:sp>
        <p:nvSpPr>
          <p:cNvPr id="25" name="Shape 23"/>
          <p:cNvSpPr/>
          <p:nvPr/>
        </p:nvSpPr>
        <p:spPr>
          <a:xfrm>
            <a:off x="640080" y="4764024"/>
            <a:ext cx="10911535" cy="786384"/>
          </a:xfrm>
          <a:prstGeom prst="roundRect">
            <a:avLst>
              <a:gd name="adj" fmla="val 9302"/>
            </a:avLst>
          </a:prstGeom>
          <a:solidFill>
            <a:srgbClr val="1C1B1A"/>
          </a:solidFill>
          <a:ln w="12700">
            <a:solidFill>
              <a:srgbClr val="1C1B1A"/>
            </a:solidFill>
            <a:prstDash val="solid"/>
          </a:ln>
        </p:spPr>
        <p:txBody>
          <a:bodyPr/>
          <a:lstStyle/>
          <a:p>
            <a:endParaRPr lang="en-US"/>
          </a:p>
        </p:txBody>
      </p:sp>
      <p:sp>
        <p:nvSpPr>
          <p:cNvPr id="26" name="Shape 24"/>
          <p:cNvSpPr/>
          <p:nvPr/>
        </p:nvSpPr>
        <p:spPr>
          <a:xfrm>
            <a:off x="932688" y="4983480"/>
            <a:ext cx="347472" cy="347472"/>
          </a:xfrm>
          <a:prstGeom prst="ellipse">
            <a:avLst/>
          </a:prstGeom>
          <a:solidFill>
            <a:srgbClr val="A93B2C"/>
          </a:solidFill>
          <a:ln/>
        </p:spPr>
        <p:txBody>
          <a:bodyPr/>
          <a:lstStyle/>
          <a:p>
            <a:endParaRPr lang="en-US"/>
          </a:p>
        </p:txBody>
      </p:sp>
      <p:sp>
        <p:nvSpPr>
          <p:cNvPr id="27" name="Text 25"/>
          <p:cNvSpPr txBox="1"/>
          <p:nvPr/>
        </p:nvSpPr>
        <p:spPr>
          <a:xfrm>
            <a:off x="932688" y="498348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6"/>
          <p:cNvSpPr txBox="1"/>
          <p:nvPr/>
        </p:nvSpPr>
        <p:spPr>
          <a:xfrm>
            <a:off x="1536192" y="4818888"/>
            <a:ext cx="4023360" cy="676656"/>
          </a:xfrm>
          <a:prstGeom prst="rect">
            <a:avLst/>
          </a:prstGeom>
          <a:noFill/>
          <a:ln/>
        </p:spPr>
        <p:txBody>
          <a:bodyPr wrap="square" lIns="0" tIns="0" rIns="0" bIns="0" rtlCol="0" anchor="ctr"/>
          <a:lstStyle/>
          <a:p>
            <a:pPr marL="0" indent="0">
              <a:lnSpc>
                <a:spcPts val="1700"/>
              </a:lnSpc>
              <a:buNone/>
            </a:pPr>
            <a:r>
              <a:rPr lang="en-US" sz="1400" b="1" dirty="0">
                <a:solidFill>
                  <a:srgbClr val="D99A90"/>
                </a:solidFill>
                <a:latin typeface="Cambria" pitchFamily="34" charset="0"/>
                <a:ea typeface="Cambria" pitchFamily="34" charset="-122"/>
                <a:cs typeface="Cambria" pitchFamily="34" charset="-120"/>
              </a:rPr>
              <a:t>Then ask the question that is left</a:t>
            </a:r>
            <a:endParaRPr lang="en-US" sz="1400" dirty="0"/>
          </a:p>
        </p:txBody>
      </p:sp>
      <p:sp>
        <p:nvSpPr>
          <p:cNvPr id="29" name="Text 27"/>
          <p:cNvSpPr txBox="1"/>
          <p:nvPr/>
        </p:nvSpPr>
        <p:spPr>
          <a:xfrm>
            <a:off x="5669280" y="4818888"/>
            <a:ext cx="5440680" cy="676656"/>
          </a:xfrm>
          <a:prstGeom prst="rect">
            <a:avLst/>
          </a:prstGeom>
          <a:noFill/>
          <a:ln/>
        </p:spPr>
        <p:txBody>
          <a:bodyPr wrap="square" lIns="0" tIns="0" rIns="0" bIns="0" rtlCol="0" anchor="ctr"/>
          <a:lstStyle/>
          <a:p>
            <a:pPr marL="0" indent="0">
              <a:lnSpc>
                <a:spcPts val="1400"/>
              </a:lnSpc>
              <a:buNone/>
            </a:pPr>
            <a:r>
              <a:rPr lang="en-US" sz="1100" dirty="0">
                <a:solidFill>
                  <a:srgbClr val="F2F0EB"/>
                </a:solidFill>
                <a:latin typeface="Calibri" pitchFamily="34" charset="0"/>
                <a:ea typeface="Calibri" pitchFamily="34" charset="-122"/>
                <a:cs typeface="Calibri" pitchFamily="34" charset="-120"/>
              </a:rPr>
              <a:t>If direction is a matter of frame, what did each culture bring that made one direction natural? That is a real question, it is unanswered, and it would be worth a second thesis.</a:t>
            </a:r>
            <a:endParaRPr lang="en-US" sz="1100" dirty="0"/>
          </a:p>
        </p:txBody>
      </p:sp>
      <p:sp>
        <p:nvSpPr>
          <p:cNvPr id="30" name="Shape 28"/>
          <p:cNvSpPr/>
          <p:nvPr/>
        </p:nvSpPr>
        <p:spPr>
          <a:xfrm>
            <a:off x="640080" y="5650992"/>
            <a:ext cx="10911535" cy="658368"/>
          </a:xfrm>
          <a:prstGeom prst="roundRect">
            <a:avLst>
              <a:gd name="adj" fmla="val 11111"/>
            </a:avLst>
          </a:prstGeom>
          <a:solidFill>
            <a:srgbClr val="1C1B1A"/>
          </a:solidFill>
          <a:ln w="12700">
            <a:solidFill>
              <a:srgbClr val="1C1B1A"/>
            </a:solidFill>
            <a:prstDash val="solid"/>
          </a:ln>
        </p:spPr>
        <p:txBody>
          <a:bodyPr/>
          <a:lstStyle/>
          <a:p>
            <a:endParaRPr lang="en-US"/>
          </a:p>
        </p:txBody>
      </p:sp>
      <p:sp>
        <p:nvSpPr>
          <p:cNvPr id="31" name="Text 29"/>
          <p:cNvSpPr txBox="1"/>
          <p:nvPr/>
        </p:nvSpPr>
        <p:spPr>
          <a:xfrm>
            <a:off x="1005840" y="5815584"/>
            <a:ext cx="10424160" cy="329184"/>
          </a:xfrm>
          <a:prstGeom prst="rect">
            <a:avLst/>
          </a:prstGeom>
          <a:noFill/>
          <a:ln/>
        </p:spPr>
        <p:txBody>
          <a:bodyPr wrap="square" lIns="0" tIns="0" rIns="0" bIns="0" rtlCol="0" anchor="ctr"/>
          <a:lstStyle/>
          <a:p>
            <a:pPr marL="0" indent="0">
              <a:lnSpc>
                <a:spcPts val="2000"/>
              </a:lnSpc>
              <a:buNone/>
            </a:pPr>
            <a:r>
              <a:rPr lang="en-US" sz="1500" dirty="0">
                <a:solidFill>
                  <a:srgbClr val="F2F0EB"/>
                </a:solidFill>
                <a:latin typeface="Cambria" pitchFamily="34" charset="0"/>
                <a:ea typeface="Cambria" pitchFamily="34" charset="-122"/>
                <a:cs typeface="Cambria" pitchFamily="34" charset="-120"/>
              </a:rPr>
              <a:t>Note that four of the five moves are deletions. The revision is shorter than the thesis and says more.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CFBF8"/>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93B2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B6862"/>
                </a:solidFill>
                <a:latin typeface="Calibri" pitchFamily="34" charset="0"/>
                <a:ea typeface="Calibri" pitchFamily="34" charset="-122"/>
                <a:cs typeface="Calibri" pitchFamily="34" charset="-120"/>
              </a:rPr>
              <a:t>FOR YOUR OWN ESSAYS</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C1B1A"/>
                </a:solidFill>
                <a:latin typeface="Cambria" pitchFamily="34" charset="0"/>
                <a:ea typeface="Cambria" pitchFamily="34" charset="-122"/>
                <a:cs typeface="Cambria" pitchFamily="34" charset="-120"/>
              </a:rPr>
              <a:t>Five questions to ask</a:t>
            </a:r>
            <a:endParaRPr lang="en-US" sz="2900" dirty="0"/>
          </a:p>
        </p:txBody>
      </p:sp>
      <p:sp>
        <p:nvSpPr>
          <p:cNvPr id="5" name="Shape 3"/>
          <p:cNvSpPr/>
          <p:nvPr/>
        </p:nvSpPr>
        <p:spPr>
          <a:xfrm>
            <a:off x="640080" y="1325880"/>
            <a:ext cx="3466490" cy="2029968"/>
          </a:xfrm>
          <a:prstGeom prst="roundRect">
            <a:avLst>
              <a:gd name="adj" fmla="val 3604"/>
            </a:avLst>
          </a:prstGeom>
          <a:solidFill>
            <a:srgbClr val="E9EFF6"/>
          </a:solidFill>
          <a:ln w="12700">
            <a:solidFill>
              <a:srgbClr val="E9EFF6"/>
            </a:solidFill>
            <a:prstDash val="solid"/>
          </a:ln>
        </p:spPr>
        <p:txBody>
          <a:bodyPr/>
          <a:lstStyle/>
          <a:p>
            <a:endParaRPr lang="en-US"/>
          </a:p>
        </p:txBody>
      </p:sp>
      <p:sp>
        <p:nvSpPr>
          <p:cNvPr id="6" name="Text 4"/>
          <p:cNvSpPr txBox="1"/>
          <p:nvPr/>
        </p:nvSpPr>
        <p:spPr>
          <a:xfrm>
            <a:off x="896112" y="1490472"/>
            <a:ext cx="2954426" cy="566928"/>
          </a:xfrm>
          <a:prstGeom prst="rect">
            <a:avLst/>
          </a:prstGeom>
          <a:noFill/>
          <a:ln/>
        </p:spPr>
        <p:txBody>
          <a:bodyPr wrap="square" lIns="0" tIns="0" rIns="0" bIns="0" rtlCol="0" anchor="ctr"/>
          <a:lstStyle/>
          <a:p>
            <a:pPr marL="0" indent="0">
              <a:lnSpc>
                <a:spcPts val="1900"/>
              </a:lnSpc>
              <a:buNone/>
            </a:pPr>
            <a:r>
              <a:rPr lang="en-US" sz="1500" b="1" i="1" dirty="0">
                <a:solidFill>
                  <a:srgbClr val="1C1B1A"/>
                </a:solidFill>
                <a:latin typeface="Cambria" pitchFamily="34" charset="0"/>
                <a:ea typeface="Cambria" pitchFamily="34" charset="-122"/>
                <a:cs typeface="Cambria" pitchFamily="34" charset="-120"/>
              </a:rPr>
              <a:t>What would disconfirm this?</a:t>
            </a:r>
            <a:endParaRPr lang="en-US" sz="1500" dirty="0"/>
          </a:p>
        </p:txBody>
      </p:sp>
      <p:sp>
        <p:nvSpPr>
          <p:cNvPr id="7" name="Text 5"/>
          <p:cNvSpPr txBox="1"/>
          <p:nvPr/>
        </p:nvSpPr>
        <p:spPr>
          <a:xfrm>
            <a:off x="896112" y="2112264"/>
            <a:ext cx="2954426" cy="1097280"/>
          </a:xfrm>
          <a:prstGeom prst="rect">
            <a:avLst/>
          </a:prstGeom>
          <a:noFill/>
          <a:ln/>
        </p:spPr>
        <p:txBody>
          <a:bodyPr wrap="square" lIns="0" tIns="0" rIns="0" bIns="0" rtlCol="0" anchor="ctr"/>
          <a:lstStyle/>
          <a:p>
            <a:pPr marL="0" indent="0">
              <a:lnSpc>
                <a:spcPts val="1500"/>
              </a:lnSpc>
              <a:buNone/>
            </a:pPr>
            <a:r>
              <a:rPr lang="en-US" sz="1150" dirty="0">
                <a:solidFill>
                  <a:srgbClr val="6B6862"/>
                </a:solidFill>
                <a:latin typeface="Calibri" pitchFamily="34" charset="0"/>
                <a:ea typeface="Calibri" pitchFamily="34" charset="-122"/>
                <a:cs typeface="Calibri" pitchFamily="34" charset="-120"/>
              </a:rPr>
              <a:t>If you cannot name a finding that would have changed your mind, you are not arguing, you are decorating. Write the disconfirming case in the margin before you write the section.</a:t>
            </a:r>
            <a:endParaRPr lang="en-US" sz="1150" dirty="0"/>
          </a:p>
        </p:txBody>
      </p:sp>
      <p:sp>
        <p:nvSpPr>
          <p:cNvPr id="8" name="Shape 6"/>
          <p:cNvSpPr/>
          <p:nvPr/>
        </p:nvSpPr>
        <p:spPr>
          <a:xfrm>
            <a:off x="4362602" y="1325880"/>
            <a:ext cx="3466490" cy="2029968"/>
          </a:xfrm>
          <a:prstGeom prst="roundRect">
            <a:avLst>
              <a:gd name="adj" fmla="val 3604"/>
            </a:avLst>
          </a:prstGeom>
          <a:solidFill>
            <a:srgbClr val="F8EBE8"/>
          </a:solidFill>
          <a:ln w="12700">
            <a:solidFill>
              <a:srgbClr val="F8EBE8"/>
            </a:solidFill>
            <a:prstDash val="solid"/>
          </a:ln>
        </p:spPr>
        <p:txBody>
          <a:bodyPr/>
          <a:lstStyle/>
          <a:p>
            <a:endParaRPr lang="en-US"/>
          </a:p>
        </p:txBody>
      </p:sp>
      <p:sp>
        <p:nvSpPr>
          <p:cNvPr id="9" name="Text 7"/>
          <p:cNvSpPr txBox="1"/>
          <p:nvPr/>
        </p:nvSpPr>
        <p:spPr>
          <a:xfrm>
            <a:off x="4618634" y="1490472"/>
            <a:ext cx="2954426" cy="566928"/>
          </a:xfrm>
          <a:prstGeom prst="rect">
            <a:avLst/>
          </a:prstGeom>
          <a:noFill/>
          <a:ln/>
        </p:spPr>
        <p:txBody>
          <a:bodyPr wrap="square" lIns="0" tIns="0" rIns="0" bIns="0" rtlCol="0" anchor="ctr"/>
          <a:lstStyle/>
          <a:p>
            <a:pPr marL="0" indent="0">
              <a:lnSpc>
                <a:spcPts val="1900"/>
              </a:lnSpc>
              <a:buNone/>
            </a:pPr>
            <a:r>
              <a:rPr lang="en-US" sz="1500" b="1" i="1" dirty="0">
                <a:solidFill>
                  <a:srgbClr val="1C1B1A"/>
                </a:solidFill>
                <a:latin typeface="Cambria" pitchFamily="34" charset="0"/>
                <a:ea typeface="Cambria" pitchFamily="34" charset="-122"/>
                <a:cs typeface="Cambria" pitchFamily="34" charset="-120"/>
              </a:rPr>
              <a:t>Have I checked the premise, or inherited it?</a:t>
            </a:r>
            <a:endParaRPr lang="en-US" sz="1500" dirty="0"/>
          </a:p>
        </p:txBody>
      </p:sp>
      <p:sp>
        <p:nvSpPr>
          <p:cNvPr id="10" name="Text 8"/>
          <p:cNvSpPr txBox="1"/>
          <p:nvPr/>
        </p:nvSpPr>
        <p:spPr>
          <a:xfrm>
            <a:off x="4618634" y="2112264"/>
            <a:ext cx="2954426" cy="1097280"/>
          </a:xfrm>
          <a:prstGeom prst="rect">
            <a:avLst/>
          </a:prstGeom>
          <a:noFill/>
          <a:ln/>
        </p:spPr>
        <p:txBody>
          <a:bodyPr wrap="square" lIns="0" tIns="0" rIns="0" bIns="0" rtlCol="0" anchor="ctr"/>
          <a:lstStyle/>
          <a:p>
            <a:pPr marL="0" indent="0">
              <a:lnSpc>
                <a:spcPts val="1500"/>
              </a:lnSpc>
              <a:buNone/>
            </a:pPr>
            <a:r>
              <a:rPr lang="en-US" sz="1150" dirty="0">
                <a:solidFill>
                  <a:srgbClr val="6B6862"/>
                </a:solidFill>
                <a:latin typeface="Calibri" pitchFamily="34" charset="0"/>
                <a:ea typeface="Calibri" pitchFamily="34" charset="-122"/>
                <a:cs typeface="Calibri" pitchFamily="34" charset="-120"/>
              </a:rPr>
              <a:t>One unverified date shaped half this essay. Any fact you got from a single secondary source and built on is a fact you should confirm somewhere else before it carries weight.</a:t>
            </a:r>
            <a:endParaRPr lang="en-US" sz="1150" dirty="0"/>
          </a:p>
        </p:txBody>
      </p:sp>
      <p:sp>
        <p:nvSpPr>
          <p:cNvPr id="11" name="Shape 9"/>
          <p:cNvSpPr/>
          <p:nvPr/>
        </p:nvSpPr>
        <p:spPr>
          <a:xfrm>
            <a:off x="8085125" y="1325880"/>
            <a:ext cx="3466490" cy="2029968"/>
          </a:xfrm>
          <a:prstGeom prst="roundRect">
            <a:avLst>
              <a:gd name="adj" fmla="val 3604"/>
            </a:avLst>
          </a:prstGeom>
          <a:solidFill>
            <a:srgbClr val="E9EFF6"/>
          </a:solidFill>
          <a:ln w="12700">
            <a:solidFill>
              <a:srgbClr val="E9EFF6"/>
            </a:solidFill>
            <a:prstDash val="solid"/>
          </a:ln>
        </p:spPr>
        <p:txBody>
          <a:bodyPr/>
          <a:lstStyle/>
          <a:p>
            <a:endParaRPr lang="en-US"/>
          </a:p>
        </p:txBody>
      </p:sp>
      <p:sp>
        <p:nvSpPr>
          <p:cNvPr id="12" name="Text 10"/>
          <p:cNvSpPr txBox="1"/>
          <p:nvPr/>
        </p:nvSpPr>
        <p:spPr>
          <a:xfrm>
            <a:off x="8341157" y="1490472"/>
            <a:ext cx="2954426" cy="566928"/>
          </a:xfrm>
          <a:prstGeom prst="rect">
            <a:avLst/>
          </a:prstGeom>
          <a:noFill/>
          <a:ln/>
        </p:spPr>
        <p:txBody>
          <a:bodyPr wrap="square" lIns="0" tIns="0" rIns="0" bIns="0" rtlCol="0" anchor="ctr"/>
          <a:lstStyle/>
          <a:p>
            <a:pPr marL="0" indent="0">
              <a:lnSpc>
                <a:spcPts val="1900"/>
              </a:lnSpc>
              <a:buNone/>
            </a:pPr>
            <a:r>
              <a:rPr lang="en-US" sz="1500" b="1" i="1" dirty="0">
                <a:solidFill>
                  <a:srgbClr val="1C1B1A"/>
                </a:solidFill>
                <a:latin typeface="Cambria" pitchFamily="34" charset="0"/>
                <a:ea typeface="Cambria" pitchFamily="34" charset="-122"/>
                <a:cs typeface="Cambria" pitchFamily="34" charset="-120"/>
              </a:rPr>
              <a:t>Is my key term defined?</a:t>
            </a:r>
            <a:endParaRPr lang="en-US" sz="1500" dirty="0"/>
          </a:p>
        </p:txBody>
      </p:sp>
      <p:sp>
        <p:nvSpPr>
          <p:cNvPr id="13" name="Text 11"/>
          <p:cNvSpPr txBox="1"/>
          <p:nvPr/>
        </p:nvSpPr>
        <p:spPr>
          <a:xfrm>
            <a:off x="8341157" y="2112264"/>
            <a:ext cx="2954426" cy="1097280"/>
          </a:xfrm>
          <a:prstGeom prst="rect">
            <a:avLst/>
          </a:prstGeom>
          <a:noFill/>
          <a:ln/>
        </p:spPr>
        <p:txBody>
          <a:bodyPr wrap="square" lIns="0" tIns="0" rIns="0" bIns="0" rtlCol="0" anchor="ctr"/>
          <a:lstStyle/>
          <a:p>
            <a:pPr marL="0" indent="0">
              <a:lnSpc>
                <a:spcPts val="1500"/>
              </a:lnSpc>
              <a:buNone/>
            </a:pPr>
            <a:r>
              <a:rPr lang="en-US" sz="1150" dirty="0">
                <a:solidFill>
                  <a:srgbClr val="6B6862"/>
                </a:solidFill>
                <a:latin typeface="Calibri" pitchFamily="34" charset="0"/>
                <a:ea typeface="Calibri" pitchFamily="34" charset="-122"/>
                <a:cs typeface="Calibri" pitchFamily="34" charset="-120"/>
              </a:rPr>
              <a:t>Essence, boundary, self-projection. Take your three most repeated abstract nouns and write a one-sentence definition of each. If you cannot, they are placeholders.</a:t>
            </a:r>
            <a:endParaRPr lang="en-US" sz="1150" dirty="0"/>
          </a:p>
        </p:txBody>
      </p:sp>
      <p:sp>
        <p:nvSpPr>
          <p:cNvPr id="14" name="Shape 12"/>
          <p:cNvSpPr/>
          <p:nvPr/>
        </p:nvSpPr>
        <p:spPr>
          <a:xfrm>
            <a:off x="640080" y="3538728"/>
            <a:ext cx="3466490" cy="2029968"/>
          </a:xfrm>
          <a:prstGeom prst="roundRect">
            <a:avLst>
              <a:gd name="adj" fmla="val 3604"/>
            </a:avLst>
          </a:prstGeom>
          <a:solidFill>
            <a:srgbClr val="F8EBE8"/>
          </a:solidFill>
          <a:ln w="12700">
            <a:solidFill>
              <a:srgbClr val="F8EBE8"/>
            </a:solidFill>
            <a:prstDash val="solid"/>
          </a:ln>
        </p:spPr>
        <p:txBody>
          <a:bodyPr/>
          <a:lstStyle/>
          <a:p>
            <a:endParaRPr lang="en-US"/>
          </a:p>
        </p:txBody>
      </p:sp>
      <p:sp>
        <p:nvSpPr>
          <p:cNvPr id="15" name="Text 13"/>
          <p:cNvSpPr txBox="1"/>
          <p:nvPr/>
        </p:nvSpPr>
        <p:spPr>
          <a:xfrm>
            <a:off x="896112" y="3703320"/>
            <a:ext cx="2954426" cy="566928"/>
          </a:xfrm>
          <a:prstGeom prst="rect">
            <a:avLst/>
          </a:prstGeom>
          <a:noFill/>
          <a:ln/>
        </p:spPr>
        <p:txBody>
          <a:bodyPr wrap="square" lIns="0" tIns="0" rIns="0" bIns="0" rtlCol="0" anchor="ctr"/>
          <a:lstStyle/>
          <a:p>
            <a:pPr marL="0" indent="0">
              <a:lnSpc>
                <a:spcPts val="1900"/>
              </a:lnSpc>
              <a:buNone/>
            </a:pPr>
            <a:r>
              <a:rPr lang="en-US" sz="1500" b="1" i="1" dirty="0">
                <a:solidFill>
                  <a:srgbClr val="1C1B1A"/>
                </a:solidFill>
                <a:latin typeface="Cambria" pitchFamily="34" charset="0"/>
                <a:ea typeface="Cambria" pitchFamily="34" charset="-122"/>
                <a:cs typeface="Cambria" pitchFamily="34" charset="-120"/>
              </a:rPr>
              <a:t>Does my evidence support the scope of my claim?</a:t>
            </a:r>
            <a:endParaRPr lang="en-US" sz="1500" dirty="0"/>
          </a:p>
        </p:txBody>
      </p:sp>
      <p:sp>
        <p:nvSpPr>
          <p:cNvPr id="16" name="Text 14"/>
          <p:cNvSpPr txBox="1"/>
          <p:nvPr/>
        </p:nvSpPr>
        <p:spPr>
          <a:xfrm>
            <a:off x="896112" y="4325112"/>
            <a:ext cx="2954426" cy="1097280"/>
          </a:xfrm>
          <a:prstGeom prst="rect">
            <a:avLst/>
          </a:prstGeom>
          <a:noFill/>
          <a:ln/>
        </p:spPr>
        <p:txBody>
          <a:bodyPr wrap="square" lIns="0" tIns="0" rIns="0" bIns="0" rtlCol="0" anchor="ctr"/>
          <a:lstStyle/>
          <a:p>
            <a:pPr marL="0" indent="0">
              <a:lnSpc>
                <a:spcPts val="1500"/>
              </a:lnSpc>
              <a:buNone/>
            </a:pPr>
            <a:r>
              <a:rPr lang="en-US" sz="1150" dirty="0">
                <a:solidFill>
                  <a:srgbClr val="6B6862"/>
                </a:solidFill>
                <a:latin typeface="Calibri" pitchFamily="34" charset="0"/>
                <a:ea typeface="Calibri" pitchFamily="34" charset="-122"/>
                <a:cs typeface="Calibri" pitchFamily="34" charset="-120"/>
              </a:rPr>
              <a:t>Count your objects. Then count the things your thesis sentence is about. If the second number is much larger, shrink the sentence rather than inflating the evidence.</a:t>
            </a:r>
            <a:endParaRPr lang="en-US" sz="1150" dirty="0"/>
          </a:p>
        </p:txBody>
      </p:sp>
      <p:sp>
        <p:nvSpPr>
          <p:cNvPr id="17" name="Shape 15"/>
          <p:cNvSpPr/>
          <p:nvPr/>
        </p:nvSpPr>
        <p:spPr>
          <a:xfrm>
            <a:off x="4362602" y="3538728"/>
            <a:ext cx="3466490" cy="2029968"/>
          </a:xfrm>
          <a:prstGeom prst="roundRect">
            <a:avLst>
              <a:gd name="adj" fmla="val 3604"/>
            </a:avLst>
          </a:prstGeom>
          <a:solidFill>
            <a:srgbClr val="1C1B1A"/>
          </a:solidFill>
          <a:ln w="12700">
            <a:solidFill>
              <a:srgbClr val="1C1B1A"/>
            </a:solidFill>
            <a:prstDash val="solid"/>
          </a:ln>
        </p:spPr>
        <p:txBody>
          <a:bodyPr/>
          <a:lstStyle/>
          <a:p>
            <a:endParaRPr lang="en-US"/>
          </a:p>
        </p:txBody>
      </p:sp>
      <p:sp>
        <p:nvSpPr>
          <p:cNvPr id="18" name="Text 16"/>
          <p:cNvSpPr txBox="1"/>
          <p:nvPr/>
        </p:nvSpPr>
        <p:spPr>
          <a:xfrm>
            <a:off x="4618634" y="3703320"/>
            <a:ext cx="2954426" cy="566928"/>
          </a:xfrm>
          <a:prstGeom prst="rect">
            <a:avLst/>
          </a:prstGeom>
          <a:noFill/>
          <a:ln/>
        </p:spPr>
        <p:txBody>
          <a:bodyPr wrap="square" lIns="0" tIns="0" rIns="0" bIns="0" rtlCol="0" anchor="ctr"/>
          <a:lstStyle/>
          <a:p>
            <a:pPr marL="0" indent="0">
              <a:lnSpc>
                <a:spcPts val="1900"/>
              </a:lnSpc>
              <a:buNone/>
            </a:pPr>
            <a:r>
              <a:rPr lang="en-US" sz="1500" b="1" i="1" dirty="0">
                <a:solidFill>
                  <a:srgbClr val="D99A90"/>
                </a:solidFill>
                <a:latin typeface="Cambria" pitchFamily="34" charset="0"/>
                <a:ea typeface="Cambria" pitchFamily="34" charset="-122"/>
                <a:cs typeface="Cambria" pitchFamily="34" charset="-120"/>
              </a:rPr>
              <a:t>Is the real argument in my last two pages?</a:t>
            </a:r>
            <a:endParaRPr lang="en-US" sz="1500" dirty="0"/>
          </a:p>
        </p:txBody>
      </p:sp>
      <p:sp>
        <p:nvSpPr>
          <p:cNvPr id="19" name="Text 17"/>
          <p:cNvSpPr txBox="1"/>
          <p:nvPr/>
        </p:nvSpPr>
        <p:spPr>
          <a:xfrm>
            <a:off x="4618634" y="4325112"/>
            <a:ext cx="2954426" cy="1097280"/>
          </a:xfrm>
          <a:prstGeom prst="rect">
            <a:avLst/>
          </a:prstGeom>
          <a:noFill/>
          <a:ln/>
        </p:spPr>
        <p:txBody>
          <a:bodyPr wrap="square" lIns="0" tIns="0" rIns="0" bIns="0" rtlCol="0" anchor="ctr"/>
          <a:lstStyle/>
          <a:p>
            <a:pPr marL="0" indent="0">
              <a:lnSpc>
                <a:spcPts val="1500"/>
              </a:lnSpc>
              <a:buNone/>
            </a:pPr>
            <a:r>
              <a:rPr lang="en-US" sz="1150" dirty="0">
                <a:solidFill>
                  <a:srgbClr val="F2F0EB"/>
                </a:solidFill>
                <a:latin typeface="Calibri" pitchFamily="34" charset="0"/>
                <a:ea typeface="Calibri" pitchFamily="34" charset="-122"/>
                <a:cs typeface="Calibri" pitchFamily="34" charset="-120"/>
              </a:rPr>
              <a:t>Read your conclusion first. If it contains a claim the introduction does not, you found your thesis while writing and have not yet rewritten around it. That is normal, and it is fixable in a day.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1165</TotalTime>
  <Words>3795</Words>
  <Application>Microsoft Macintosh PowerPoint</Application>
  <PresentationFormat>Widescreen</PresentationFormat>
  <Paragraphs>203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Critique Workshop: Changed Bodies</dc:title>
  <dc:subject>PptxGenJS Presentation</dc:subject>
  <dc:creator>Course materials</dc:creator>
  <cp:lastModifiedBy>Gao, Ashley</cp:lastModifiedBy>
  <cp:revision>13</cp:revision>
  <dcterms:created xsi:type="dcterms:W3CDTF">2026-09-29T16:59:24Z</dcterms:created>
  <dcterms:modified xsi:type="dcterms:W3CDTF">2026-09-30T14:37:08Z</dcterms:modified>
</cp:coreProperties>
</file>