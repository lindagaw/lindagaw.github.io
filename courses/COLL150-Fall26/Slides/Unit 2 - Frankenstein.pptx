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6" r:id="rId29"/>
    <p:sldId id="287" r:id="rId30"/>
    <p:sldId id="288" r:id="rId31"/>
    <p:sldId id="289" r:id="rId32"/>
    <p:sldId id="290" r:id="rId33"/>
    <p:sldId id="291"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0" d="100"/>
          <a:sy n="120" d="100"/>
        </p:scale>
        <p:origin x="44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ley Y. Gao" userId="f07f2add99568f29" providerId="LiveId" clId="{D3788EF0-A3FF-42A8-A4D2-3038F3EB0EE4}"/>
    <pc:docChg chg="undo custSel delSld modSld">
      <pc:chgData name="Ashley Y. Gao" userId="f07f2add99568f29" providerId="LiveId" clId="{D3788EF0-A3FF-42A8-A4D2-3038F3EB0EE4}" dt="2026-09-03T16:45:31.736" v="194" actId="20577"/>
      <pc:docMkLst>
        <pc:docMk/>
      </pc:docMkLst>
      <pc:sldChg chg="modSp mod">
        <pc:chgData name="Ashley Y. Gao" userId="f07f2add99568f29" providerId="LiveId" clId="{D3788EF0-A3FF-42A8-A4D2-3038F3EB0EE4}" dt="2026-09-03T14:02:12.789" v="0" actId="20577"/>
        <pc:sldMkLst>
          <pc:docMk/>
          <pc:sldMk cId="0" sldId="256"/>
        </pc:sldMkLst>
        <pc:spChg chg="mod">
          <ac:chgData name="Ashley Y. Gao" userId="f07f2add99568f29" providerId="LiveId" clId="{D3788EF0-A3FF-42A8-A4D2-3038F3EB0EE4}" dt="2026-09-03T14:02:12.789" v="0" actId="20577"/>
          <ac:spMkLst>
            <pc:docMk/>
            <pc:sldMk cId="0" sldId="256"/>
            <ac:spMk id="9" creationId="{00000000-0000-0000-0000-000000000000}"/>
          </ac:spMkLst>
        </pc:spChg>
      </pc:sldChg>
      <pc:sldChg chg="del">
        <pc:chgData name="Ashley Y. Gao" userId="f07f2add99568f29" providerId="LiveId" clId="{D3788EF0-A3FF-42A8-A4D2-3038F3EB0EE4}" dt="2026-09-03T14:02:16.874" v="1" actId="47"/>
        <pc:sldMkLst>
          <pc:docMk/>
          <pc:sldMk cId="0" sldId="257"/>
        </pc:sldMkLst>
      </pc:sldChg>
      <pc:sldChg chg="delSp mod">
        <pc:chgData name="Ashley Y. Gao" userId="f07f2add99568f29" providerId="LiveId" clId="{D3788EF0-A3FF-42A8-A4D2-3038F3EB0EE4}" dt="2026-09-03T14:02:49.614" v="2" actId="478"/>
        <pc:sldMkLst>
          <pc:docMk/>
          <pc:sldMk cId="0" sldId="258"/>
        </pc:sldMkLst>
        <pc:spChg chg="del">
          <ac:chgData name="Ashley Y. Gao" userId="f07f2add99568f29" providerId="LiveId" clId="{D3788EF0-A3FF-42A8-A4D2-3038F3EB0EE4}" dt="2026-09-03T14:02:49.614" v="2" actId="478"/>
          <ac:spMkLst>
            <pc:docMk/>
            <pc:sldMk cId="0" sldId="258"/>
            <ac:spMk id="20" creationId="{00000000-0000-0000-0000-000000000000}"/>
          </ac:spMkLst>
        </pc:spChg>
      </pc:sldChg>
      <pc:sldChg chg="modSp mod">
        <pc:chgData name="Ashley Y. Gao" userId="f07f2add99568f29" providerId="LiveId" clId="{D3788EF0-A3FF-42A8-A4D2-3038F3EB0EE4}" dt="2026-09-03T14:03:22.237" v="24" actId="20577"/>
        <pc:sldMkLst>
          <pc:docMk/>
          <pc:sldMk cId="0" sldId="259"/>
        </pc:sldMkLst>
        <pc:spChg chg="mod">
          <ac:chgData name="Ashley Y. Gao" userId="f07f2add99568f29" providerId="LiveId" clId="{D3788EF0-A3FF-42A8-A4D2-3038F3EB0EE4}" dt="2026-09-03T14:03:22.237" v="24" actId="20577"/>
          <ac:spMkLst>
            <pc:docMk/>
            <pc:sldMk cId="0" sldId="259"/>
            <ac:spMk id="7" creationId="{00000000-0000-0000-0000-000000000000}"/>
          </ac:spMkLst>
        </pc:spChg>
      </pc:sldChg>
      <pc:sldChg chg="modSp mod">
        <pc:chgData name="Ashley Y. Gao" userId="f07f2add99568f29" providerId="LiveId" clId="{D3788EF0-A3FF-42A8-A4D2-3038F3EB0EE4}" dt="2026-09-03T14:04:20.247" v="34" actId="20577"/>
        <pc:sldMkLst>
          <pc:docMk/>
          <pc:sldMk cId="0" sldId="265"/>
        </pc:sldMkLst>
        <pc:spChg chg="mod">
          <ac:chgData name="Ashley Y. Gao" userId="f07f2add99568f29" providerId="LiveId" clId="{D3788EF0-A3FF-42A8-A4D2-3038F3EB0EE4}" dt="2026-09-03T14:04:20.247" v="34" actId="20577"/>
          <ac:spMkLst>
            <pc:docMk/>
            <pc:sldMk cId="0" sldId="265"/>
            <ac:spMk id="15" creationId="{00000000-0000-0000-0000-000000000000}"/>
          </ac:spMkLst>
        </pc:spChg>
      </pc:sldChg>
      <pc:sldChg chg="modSp mod">
        <pc:chgData name="Ashley Y. Gao" userId="f07f2add99568f29" providerId="LiveId" clId="{D3788EF0-A3FF-42A8-A4D2-3038F3EB0EE4}" dt="2026-09-03T14:05:04.320" v="37" actId="20577"/>
        <pc:sldMkLst>
          <pc:docMk/>
          <pc:sldMk cId="0" sldId="268"/>
        </pc:sldMkLst>
        <pc:spChg chg="mod">
          <ac:chgData name="Ashley Y. Gao" userId="f07f2add99568f29" providerId="LiveId" clId="{D3788EF0-A3FF-42A8-A4D2-3038F3EB0EE4}" dt="2026-09-03T14:05:04.320" v="37" actId="20577"/>
          <ac:spMkLst>
            <pc:docMk/>
            <pc:sldMk cId="0" sldId="268"/>
            <ac:spMk id="17" creationId="{00000000-0000-0000-0000-000000000000}"/>
          </ac:spMkLst>
        </pc:spChg>
      </pc:sldChg>
      <pc:sldChg chg="del">
        <pc:chgData name="Ashley Y. Gao" userId="f07f2add99568f29" providerId="LiveId" clId="{D3788EF0-A3FF-42A8-A4D2-3038F3EB0EE4}" dt="2026-09-03T14:05:10.229" v="38" actId="47"/>
        <pc:sldMkLst>
          <pc:docMk/>
          <pc:sldMk cId="0" sldId="269"/>
        </pc:sldMkLst>
      </pc:sldChg>
      <pc:sldChg chg="modSp mod">
        <pc:chgData name="Ashley Y. Gao" userId="f07f2add99568f29" providerId="LiveId" clId="{D3788EF0-A3FF-42A8-A4D2-3038F3EB0EE4}" dt="2026-09-03T16:39:10.263" v="41" actId="1076"/>
        <pc:sldMkLst>
          <pc:docMk/>
          <pc:sldMk cId="0" sldId="281"/>
        </pc:sldMkLst>
        <pc:spChg chg="mod">
          <ac:chgData name="Ashley Y. Gao" userId="f07f2add99568f29" providerId="LiveId" clId="{D3788EF0-A3FF-42A8-A4D2-3038F3EB0EE4}" dt="2026-09-03T16:39:02.842" v="40" actId="1076"/>
          <ac:spMkLst>
            <pc:docMk/>
            <pc:sldMk cId="0" sldId="281"/>
            <ac:spMk id="23" creationId="{00000000-0000-0000-0000-000000000000}"/>
          </ac:spMkLst>
        </pc:spChg>
        <pc:spChg chg="mod">
          <ac:chgData name="Ashley Y. Gao" userId="f07f2add99568f29" providerId="LiveId" clId="{D3788EF0-A3FF-42A8-A4D2-3038F3EB0EE4}" dt="2026-09-03T16:39:10.263" v="41" actId="1076"/>
          <ac:spMkLst>
            <pc:docMk/>
            <pc:sldMk cId="0" sldId="281"/>
            <ac:spMk id="25" creationId="{00000000-0000-0000-0000-000000000000}"/>
          </ac:spMkLst>
        </pc:spChg>
      </pc:sldChg>
      <pc:sldChg chg="modSp mod">
        <pc:chgData name="Ashley Y. Gao" userId="f07f2add99568f29" providerId="LiveId" clId="{D3788EF0-A3FF-42A8-A4D2-3038F3EB0EE4}" dt="2026-09-03T16:39:44.534" v="42" actId="20577"/>
        <pc:sldMkLst>
          <pc:docMk/>
          <pc:sldMk cId="0" sldId="282"/>
        </pc:sldMkLst>
        <pc:spChg chg="mod">
          <ac:chgData name="Ashley Y. Gao" userId="f07f2add99568f29" providerId="LiveId" clId="{D3788EF0-A3FF-42A8-A4D2-3038F3EB0EE4}" dt="2026-09-03T16:39:44.534" v="42" actId="20577"/>
          <ac:spMkLst>
            <pc:docMk/>
            <pc:sldMk cId="0" sldId="282"/>
            <ac:spMk id="18" creationId="{00000000-0000-0000-0000-000000000000}"/>
          </ac:spMkLst>
        </pc:spChg>
      </pc:sldChg>
      <pc:sldChg chg="modSp mod">
        <pc:chgData name="Ashley Y. Gao" userId="f07f2add99568f29" providerId="LiveId" clId="{D3788EF0-A3FF-42A8-A4D2-3038F3EB0EE4}" dt="2026-09-03T16:40:27.554" v="43" actId="1076"/>
        <pc:sldMkLst>
          <pc:docMk/>
          <pc:sldMk cId="0" sldId="284"/>
        </pc:sldMkLst>
        <pc:spChg chg="mod">
          <ac:chgData name="Ashley Y. Gao" userId="f07f2add99568f29" providerId="LiveId" clId="{D3788EF0-A3FF-42A8-A4D2-3038F3EB0EE4}" dt="2026-09-03T16:40:27.554" v="43" actId="1076"/>
          <ac:spMkLst>
            <pc:docMk/>
            <pc:sldMk cId="0" sldId="284"/>
            <ac:spMk id="17" creationId="{00000000-0000-0000-0000-000000000000}"/>
          </ac:spMkLst>
        </pc:spChg>
      </pc:sldChg>
      <pc:sldChg chg="del">
        <pc:chgData name="Ashley Y. Gao" userId="f07f2add99568f29" providerId="LiveId" clId="{D3788EF0-A3FF-42A8-A4D2-3038F3EB0EE4}" dt="2026-09-03T16:40:50.893" v="44" actId="47"/>
        <pc:sldMkLst>
          <pc:docMk/>
          <pc:sldMk cId="0" sldId="285"/>
        </pc:sldMkLst>
      </pc:sldChg>
      <pc:sldChg chg="addSp delSp modSp mod">
        <pc:chgData name="Ashley Y. Gao" userId="f07f2add99568f29" providerId="LiveId" clId="{D3788EF0-A3FF-42A8-A4D2-3038F3EB0EE4}" dt="2026-09-03T16:43:09.928" v="113" actId="20577"/>
        <pc:sldMkLst>
          <pc:docMk/>
          <pc:sldMk cId="0" sldId="288"/>
        </pc:sldMkLst>
        <pc:spChg chg="mod">
          <ac:chgData name="Ashley Y. Gao" userId="f07f2add99568f29" providerId="LiveId" clId="{D3788EF0-A3FF-42A8-A4D2-3038F3EB0EE4}" dt="2026-09-03T16:43:09.928" v="113" actId="20577"/>
          <ac:spMkLst>
            <pc:docMk/>
            <pc:sldMk cId="0" sldId="288"/>
            <ac:spMk id="10" creationId="{00000000-0000-0000-0000-000000000000}"/>
          </ac:spMkLst>
        </pc:spChg>
        <pc:spChg chg="mod">
          <ac:chgData name="Ashley Y. Gao" userId="f07f2add99568f29" providerId="LiveId" clId="{D3788EF0-A3FF-42A8-A4D2-3038F3EB0EE4}" dt="2026-09-03T16:43:02.348" v="111" actId="20577"/>
          <ac:spMkLst>
            <pc:docMk/>
            <pc:sldMk cId="0" sldId="288"/>
            <ac:spMk id="13" creationId="{00000000-0000-0000-0000-000000000000}"/>
          </ac:spMkLst>
        </pc:spChg>
        <pc:spChg chg="add del">
          <ac:chgData name="Ashley Y. Gao" userId="f07f2add99568f29" providerId="LiveId" clId="{D3788EF0-A3FF-42A8-A4D2-3038F3EB0EE4}" dt="2026-09-03T16:42:20.560" v="70" actId="478"/>
          <ac:spMkLst>
            <pc:docMk/>
            <pc:sldMk cId="0" sldId="288"/>
            <ac:spMk id="14" creationId="{00000000-0000-0000-0000-000000000000}"/>
          </ac:spMkLst>
        </pc:spChg>
        <pc:spChg chg="add del mod">
          <ac:chgData name="Ashley Y. Gao" userId="f07f2add99568f29" providerId="LiveId" clId="{D3788EF0-A3FF-42A8-A4D2-3038F3EB0EE4}" dt="2026-09-03T16:42:38.236" v="104" actId="20577"/>
          <ac:spMkLst>
            <pc:docMk/>
            <pc:sldMk cId="0" sldId="288"/>
            <ac:spMk id="15" creationId="{00000000-0000-0000-0000-000000000000}"/>
          </ac:spMkLst>
        </pc:spChg>
        <pc:spChg chg="mod">
          <ac:chgData name="Ashley Y. Gao" userId="f07f2add99568f29" providerId="LiveId" clId="{D3788EF0-A3FF-42A8-A4D2-3038F3EB0EE4}" dt="2026-09-03T16:42:46.608" v="108" actId="20577"/>
          <ac:spMkLst>
            <pc:docMk/>
            <pc:sldMk cId="0" sldId="288"/>
            <ac:spMk id="16" creationId="{00000000-0000-0000-0000-000000000000}"/>
          </ac:spMkLst>
        </pc:spChg>
        <pc:spChg chg="mod">
          <ac:chgData name="Ashley Y. Gao" userId="f07f2add99568f29" providerId="LiveId" clId="{D3788EF0-A3FF-42A8-A4D2-3038F3EB0EE4}" dt="2026-09-03T16:41:41.461" v="66" actId="20577"/>
          <ac:spMkLst>
            <pc:docMk/>
            <pc:sldMk cId="0" sldId="288"/>
            <ac:spMk id="18" creationId="{00000000-0000-0000-0000-000000000000}"/>
          </ac:spMkLst>
        </pc:spChg>
      </pc:sldChg>
      <pc:sldChg chg="delSp modSp mod">
        <pc:chgData name="Ashley Y. Gao" userId="f07f2add99568f29" providerId="LiveId" clId="{D3788EF0-A3FF-42A8-A4D2-3038F3EB0EE4}" dt="2026-09-03T16:44:18.785" v="117" actId="20577"/>
        <pc:sldMkLst>
          <pc:docMk/>
          <pc:sldMk cId="0" sldId="289"/>
        </pc:sldMkLst>
        <pc:spChg chg="mod">
          <ac:chgData name="Ashley Y. Gao" userId="f07f2add99568f29" providerId="LiveId" clId="{D3788EF0-A3FF-42A8-A4D2-3038F3EB0EE4}" dt="2026-09-03T16:44:18.785" v="117" actId="20577"/>
          <ac:spMkLst>
            <pc:docMk/>
            <pc:sldMk cId="0" sldId="289"/>
            <ac:spMk id="3" creationId="{00000000-0000-0000-0000-000000000000}"/>
          </ac:spMkLst>
        </pc:spChg>
        <pc:spChg chg="del">
          <ac:chgData name="Ashley Y. Gao" userId="f07f2add99568f29" providerId="LiveId" clId="{D3788EF0-A3FF-42A8-A4D2-3038F3EB0EE4}" dt="2026-09-03T16:44:12.126" v="115" actId="478"/>
          <ac:spMkLst>
            <pc:docMk/>
            <pc:sldMk cId="0" sldId="289"/>
            <ac:spMk id="25" creationId="{00000000-0000-0000-0000-000000000000}"/>
          </ac:spMkLst>
        </pc:spChg>
        <pc:spChg chg="del">
          <ac:chgData name="Ashley Y. Gao" userId="f07f2add99568f29" providerId="LiveId" clId="{D3788EF0-A3FF-42A8-A4D2-3038F3EB0EE4}" dt="2026-09-03T16:44:10.723" v="114" actId="478"/>
          <ac:spMkLst>
            <pc:docMk/>
            <pc:sldMk cId="0" sldId="289"/>
            <ac:spMk id="26" creationId="{00000000-0000-0000-0000-000000000000}"/>
          </ac:spMkLst>
        </pc:spChg>
      </pc:sldChg>
      <pc:sldChg chg="delSp modSp mod">
        <pc:chgData name="Ashley Y. Gao" userId="f07f2add99568f29" providerId="LiveId" clId="{D3788EF0-A3FF-42A8-A4D2-3038F3EB0EE4}" dt="2026-09-03T16:45:31.736" v="194" actId="20577"/>
        <pc:sldMkLst>
          <pc:docMk/>
          <pc:sldMk cId="0" sldId="291"/>
        </pc:sldMkLst>
        <pc:spChg chg="mod">
          <ac:chgData name="Ashley Y. Gao" userId="f07f2add99568f29" providerId="LiveId" clId="{D3788EF0-A3FF-42A8-A4D2-3038F3EB0EE4}" dt="2026-09-03T16:44:53.330" v="134" actId="20577"/>
          <ac:spMkLst>
            <pc:docMk/>
            <pc:sldMk cId="0" sldId="291"/>
            <ac:spMk id="6" creationId="{00000000-0000-0000-0000-000000000000}"/>
          </ac:spMkLst>
        </pc:spChg>
        <pc:spChg chg="del">
          <ac:chgData name="Ashley Y. Gao" userId="f07f2add99568f29" providerId="LiveId" clId="{D3788EF0-A3FF-42A8-A4D2-3038F3EB0EE4}" dt="2026-09-03T16:45:01.123" v="135" actId="478"/>
          <ac:spMkLst>
            <pc:docMk/>
            <pc:sldMk cId="0" sldId="291"/>
            <ac:spMk id="7" creationId="{00000000-0000-0000-0000-000000000000}"/>
          </ac:spMkLst>
        </pc:spChg>
        <pc:spChg chg="del">
          <ac:chgData name="Ashley Y. Gao" userId="f07f2add99568f29" providerId="LiveId" clId="{D3788EF0-A3FF-42A8-A4D2-3038F3EB0EE4}" dt="2026-09-03T16:45:03.752" v="136" actId="478"/>
          <ac:spMkLst>
            <pc:docMk/>
            <pc:sldMk cId="0" sldId="291"/>
            <ac:spMk id="8" creationId="{00000000-0000-0000-0000-000000000000}"/>
          </ac:spMkLst>
        </pc:spChg>
        <pc:spChg chg="del">
          <ac:chgData name="Ashley Y. Gao" userId="f07f2add99568f29" providerId="LiveId" clId="{D3788EF0-A3FF-42A8-A4D2-3038F3EB0EE4}" dt="2026-09-03T16:45:06.255" v="137" actId="478"/>
          <ac:spMkLst>
            <pc:docMk/>
            <pc:sldMk cId="0" sldId="291"/>
            <ac:spMk id="9" creationId="{00000000-0000-0000-0000-000000000000}"/>
          </ac:spMkLst>
        </pc:spChg>
        <pc:spChg chg="mod">
          <ac:chgData name="Ashley Y. Gao" userId="f07f2add99568f29" providerId="LiveId" clId="{D3788EF0-A3FF-42A8-A4D2-3038F3EB0EE4}" dt="2026-09-03T16:45:31.736" v="194" actId="20577"/>
          <ac:spMkLst>
            <pc:docMk/>
            <pc:sldMk cId="0" sldId="291"/>
            <ac:spMk id="1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7444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as a continuous three-hour block, but it splits cleanly at the first break if you are running this across your Tuesday and Thursday meetings: Movements I and II cover Volumes I–II (Tuesday), Movements III and IV cover Volume III, the 1831 Introduction and the criticism (Thursday). The key question on slide 5 should stay visible or get rewritten on the board at every transition — the whole session is an extended answer to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last line out loud. Second-week students who have not finished will hide it, disengage, and never recover the habit. Naming it as normal and telling them which volume actually matters buys you real participation for the rest of the term.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the sentence rather than the feeling. “They owed it care” is not usable; “they owed it a place to live until it could feed itself” is. The specificity is what makes the exit ticket work at the end, because Victor’s failures are all failures of specific obligation.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this on the board and leave it there for three hours. Every time the discussion drifts into “was it wrong to make him” — and it will, repeatedly — point at the board. The novel spends two paragraphs on whether to make him and three hundred pages on what happens after.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Forty-eight minutes. The goal of this movement is to move students off the reading they arrived with — that this is a cautionary tale about science — and onto the reading the text supports, which is about what happens the morning after.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at least one student to be holding a free public-domain ebook, which is almost always the 1831 text. The conversion line at the bottom is for them. It is also worth saying plainly that a novel can exist in two authorised versions that disagree with each other — for many second-years this is genuinely new.</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on the board rather than only showing it — students remember the nesting better if they watch it get built. The payoff question, which you can plant now and collect at the end: if the creature’s testimony reaches us only through his enemy, why do we believe him? Shelley has engineered a witness we trust despite the chain of custody.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them actually turn to chapter V and measure it with their fingers. The physical smallness of the creation scene relative to the volume is the single most efficient way to dislodge the popular reading of the novel.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you make the course’s central methodological point: attend to what a text spends its words on. Students trained on plot summary will report that this novel is about making a monster. The page count says it is about a man who ruins himself and then ruins everyone near him.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bed-curtain moment repays slow reading. Victor narrates it as an assault; what he actually describes is an inarticulate creature making sounds and extending a hand toward the only face it has ever seen. Ask the room to give a second account of the same events from the other side of the curtain — they will get there fast, and it primes Volume II.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this list on the board from student answers rather than revealing it — they will produce five of the six unprompted. The one they usually miss is the sentimental alibi, and it is the most useful for the rest of the course, because performed remorse is the standard register of public apology by makers of things that hurt people.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Justine is routinely skipped in survey teaching and it is a serious loss. She is the proof that Shelley’s interest is institutional as well as personal — a legal system, a household, and a church all cooperate in killing her, and the one man who could stop it stays quiet to protect his reputation.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Thirty-six minutes including the pair discussion. This is the heart of the session and the part most directly connected to the course. Protect 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line matters for keeping the session honest. It is easy to over-sympathise with the creature in Volume II and then be ambushed by Volume III. He confesses to killing a child and to deliberately framing an innocent woman, calmly, in the middle of his appeal. Any reading that cannot hold both halves is not finished.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epigraph on the title page — Adam’s complaint to God, asking whether he requested to be made from clay. Shelley put the creature’s argument on the front of the book before the reader meets anyone. That is a strong signal about where her sympathies sit and it is easy to miss.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attention to the firewood. It is the detail that makes the later rejection unbearable, and it is the strongest evidence against reading his violence as innate — for months, unobserved and unrewarded, his impulse is to help.</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is the one to dwell on. The relational words are the hardest for him and they are precisely the ones that will turn out to have no referent in his own case — he learns “father” as a concept long before he understands that he has one who left.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journal is the detail that usually stops a room. He finds, and reads, the private record of his own manufacture — written by a man who describes being repelled by the work in progress. There is no equivalent scene in the tradition and it is the most direct anticipation of anything in the course.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students who push back on the analogy. The class where everyone agrees that the creature is a language model is worse than the class where three people object; the objections are where the actual thinking is. What you want them to leave with is the structural claim in the bottom-left box, which does not require them to concede anything about machine minds.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place the line — cottage, William, Justine — and then hold them to it in Volume III. Students who put the line after William almost always move it once they hear him describe framing Justine, and noticing themselves move it is more instructive than any argument you could make.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one is the one that carries the course. Most students start at “of course they are his values” and then discover they cannot state the criterion. That discomfort is the point, and you can return to it whenever a system’s outputs get described as its own opinions.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rest of the novel as contract law: an agreement is made, one party performs, the other repudiates unilaterally and without notice. Volume III is the enforcement action. That framing keeps students from sliding into a good-versus-evil reading over the break.</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Twenty-four minutes. Keep the plot recap brisk; the Orkney scene is the whole point of this movement.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through this in five or six minutes. The one beat worth pausing on besides Orkney is the arrest for Clerval’s murder — Victor is charged with a killing he caused but did not commit, which is as close as the novel comes to giving him a just verdict on the wrong count.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richest scene in the novel for this course and it deserves ten minutes. Victor performs an entirely recognisable risk assessment — unpredictable autonomy, possible defection from the agreement, replication, existential threat to humanity — and Shelley’s framing makes it an atrocity. Do not resolve it for them. The productive discomfort is that his reasoning is not obviously wrong and his action is not remotely defensible.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love this slide because the misreading is so obvious once named, and they enjoy catching a character. Push past the enjoyment to the mechanism: Victor mishears because his model of the creature has no room for grief. Not stupidity — a specific and diagnosable failure of moral imagination.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withheld death is worth naming. We are told he intends to burn himself and we never see it. Ask what the novel gains by refusing the confirmation — the usual good answer is that a witnessed death would be a kind of inclusion, and he is denied that too.</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Thirty-four minutes including group work and the exit ticket. If you are behind, the group work compresses to eight minutes with two groups instead of four.</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useful move here is to teach the Introduction as unreliable in an interesting way rather than as a key. A widowed professional writer in 1831, explaining her scandalous anonymous novel to a respectable audience, has every reason to present herself as a passive vessel. Students who can hold that and still find the document moving are doing real critical work.</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Norton 3rd edition dropped Peter Brooks’s “What Is a Monster?”, which was the standard choice for a language-focused seminar in the 2nd edition. Brantlinger is the closest available substitute and arguably better for this course, because his subject is a mind formed by an unsupervised corpus rather than the semiotics of the body. If you have library access to Brooks, it still makes an excellent optional pairing.</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 rather than let them choose — the defence group is the valuable one and nobody volunteers for it. Tell that group explicitly that arguing a position you find repellent is a skill, and that they are not endorsing anything.</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last line hard. It is the version of the argument that transfers to the rest of the course, because it does not depend on settling any question about machine minds — only on the fact that something was deliberately brought into the world by someone who had choices.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these. Comparing the before-and-after sentence is the cleanest evidence you will get of whether three hours on one novel actually moved anyone, and the ones that got more specific rather than more abstract are the students to call on first next week.</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2"/>
        </a:solidFill>
        <a:effectLst/>
      </p:bgPr>
    </p:bg>
    <p:spTree>
      <p:nvGrpSpPr>
        <p:cNvPr id="1" name=""/>
        <p:cNvGrpSpPr/>
        <p:nvPr/>
      </p:nvGrpSpPr>
      <p:grpSpPr>
        <a:xfrm>
          <a:off x="0" y="0"/>
          <a:ext cx="0" cy="0"/>
          <a:chOff x="0" y="0"/>
          <a:chExt cx="0" cy="0"/>
        </a:xfrm>
      </p:grpSpPr>
      <p:sp>
        <p:nvSpPr>
          <p:cNvPr id="2" name="Shape 0"/>
          <p:cNvSpPr/>
          <p:nvPr/>
        </p:nvSpPr>
        <p:spPr>
          <a:xfrm>
            <a:off x="8686800" y="1600200"/>
            <a:ext cx="2377440" cy="2377440"/>
          </a:xfrm>
          <a:prstGeom prst="ellipse">
            <a:avLst/>
          </a:prstGeom>
          <a:solidFill>
            <a:srgbClr val="35708C">
              <a:alpha val="75000"/>
            </a:srgbClr>
          </a:solidFill>
          <a:ln/>
        </p:spPr>
        <p:txBody>
          <a:bodyPr/>
          <a:lstStyle/>
          <a:p>
            <a:endParaRPr lang="en-US"/>
          </a:p>
        </p:txBody>
      </p:sp>
      <p:sp>
        <p:nvSpPr>
          <p:cNvPr id="3" name="Shape 1"/>
          <p:cNvSpPr/>
          <p:nvPr/>
        </p:nvSpPr>
        <p:spPr>
          <a:xfrm>
            <a:off x="8046720" y="3063240"/>
            <a:ext cx="2377440" cy="2377440"/>
          </a:xfrm>
          <a:prstGeom prst="ellipse">
            <a:avLst/>
          </a:prstGeom>
          <a:solidFill>
            <a:srgbClr val="EDE5D8">
              <a:alpha val="85000"/>
            </a:srgbClr>
          </a:solidFill>
          <a:ln/>
        </p:spPr>
        <p:txBody>
          <a:bodyPr/>
          <a:lstStyle/>
          <a:p>
            <a:endParaRPr lang="en-US"/>
          </a:p>
        </p:txBody>
      </p:sp>
      <p:sp>
        <p:nvSpPr>
          <p:cNvPr id="4" name="Shape 2"/>
          <p:cNvSpPr/>
          <p:nvPr/>
        </p:nvSpPr>
        <p:spPr>
          <a:xfrm>
            <a:off x="9509760" y="3063240"/>
            <a:ext cx="2377440" cy="2377440"/>
          </a:xfrm>
          <a:prstGeom prst="ellipse">
            <a:avLst/>
          </a:prstGeom>
          <a:solidFill>
            <a:srgbClr val="C05A3E">
              <a:alpha val="65000"/>
            </a:srgbClr>
          </a:solidFill>
          <a:ln/>
        </p:spPr>
        <p:txBody>
          <a:bodyPr/>
          <a:lstStyle/>
          <a:p>
            <a:endParaRPr lang="en-US"/>
          </a:p>
        </p:txBody>
      </p:sp>
      <p:sp>
        <p:nvSpPr>
          <p:cNvPr id="5" name="Text 3"/>
          <p:cNvSpPr txBox="1"/>
          <p:nvPr/>
        </p:nvSpPr>
        <p:spPr>
          <a:xfrm>
            <a:off x="640080" y="1463040"/>
            <a:ext cx="7315200" cy="292608"/>
          </a:xfrm>
          <a:prstGeom prst="rect">
            <a:avLst/>
          </a:prstGeom>
          <a:noFill/>
          <a:ln/>
        </p:spPr>
        <p:txBody>
          <a:bodyPr wrap="square" lIns="0" tIns="0" rIns="0" bIns="0" rtlCol="0" anchor="ctr"/>
          <a:lstStyle/>
          <a:p>
            <a:pPr marL="0" indent="0">
              <a:buNone/>
            </a:pPr>
            <a:r>
              <a:rPr lang="en-US" sz="1200" b="1" kern="0" spc="180" dirty="0">
                <a:solidFill>
                  <a:srgbClr val="E08A6E"/>
                </a:solidFill>
                <a:latin typeface="Calibri" pitchFamily="34" charset="0"/>
                <a:ea typeface="Calibri" pitchFamily="34" charset="-122"/>
                <a:cs typeface="Calibri" pitchFamily="34" charset="-120"/>
              </a:rPr>
              <a:t>AI IN SPECULATIVE MEDIA AND LITERATURES · WEEK 2</a:t>
            </a:r>
            <a:endParaRPr lang="en-US" sz="1200" dirty="0"/>
          </a:p>
        </p:txBody>
      </p:sp>
      <p:sp>
        <p:nvSpPr>
          <p:cNvPr id="6" name="Text 4"/>
          <p:cNvSpPr txBox="1"/>
          <p:nvPr/>
        </p:nvSpPr>
        <p:spPr>
          <a:xfrm>
            <a:off x="640080" y="1920240"/>
            <a:ext cx="7498080" cy="914400"/>
          </a:xfrm>
          <a:prstGeom prst="rect">
            <a:avLst/>
          </a:prstGeom>
          <a:noFill/>
          <a:ln/>
        </p:spPr>
        <p:txBody>
          <a:bodyPr wrap="square" lIns="0" tIns="0" rIns="0" bIns="0" rtlCol="0" anchor="ctr"/>
          <a:lstStyle/>
          <a:p>
            <a:pPr marL="0" indent="0">
              <a:buNone/>
            </a:pPr>
            <a:r>
              <a:rPr lang="en-US" sz="4600" b="1" dirty="0">
                <a:solidFill>
                  <a:srgbClr val="EDE5D8"/>
                </a:solidFill>
                <a:latin typeface="Cambria" pitchFamily="34" charset="0"/>
                <a:ea typeface="Cambria" pitchFamily="34" charset="-122"/>
                <a:cs typeface="Cambria" pitchFamily="34" charset="-120"/>
              </a:rPr>
              <a:t>What a Maker Owes</a:t>
            </a:r>
            <a:endParaRPr lang="en-US" sz="4600" dirty="0"/>
          </a:p>
        </p:txBody>
      </p:sp>
      <p:sp>
        <p:nvSpPr>
          <p:cNvPr id="7" name="Text 5"/>
          <p:cNvSpPr txBox="1"/>
          <p:nvPr/>
        </p:nvSpPr>
        <p:spPr>
          <a:xfrm>
            <a:off x="640080" y="2907792"/>
            <a:ext cx="7498080" cy="457200"/>
          </a:xfrm>
          <a:prstGeom prst="rect">
            <a:avLst/>
          </a:prstGeom>
          <a:noFill/>
          <a:ln/>
        </p:spPr>
        <p:txBody>
          <a:bodyPr wrap="square" lIns="0" tIns="0" rIns="0" bIns="0" rtlCol="0" anchor="ctr"/>
          <a:lstStyle/>
          <a:p>
            <a:pPr marL="0" indent="0">
              <a:buNone/>
            </a:pPr>
            <a:r>
              <a:rPr lang="en-US" sz="2000" i="1" dirty="0">
                <a:solidFill>
                  <a:srgbClr val="FFFFFF"/>
                </a:solidFill>
                <a:latin typeface="Cambria" pitchFamily="34" charset="0"/>
                <a:ea typeface="Cambria" pitchFamily="34" charset="-122"/>
                <a:cs typeface="Cambria" pitchFamily="34" charset="-120"/>
              </a:rPr>
              <a:t>Mary Shelley, Frankenstein — the 1818 text</a:t>
            </a:r>
            <a:endParaRPr lang="en-US" sz="2000" dirty="0"/>
          </a:p>
        </p:txBody>
      </p:sp>
      <p:sp>
        <p:nvSpPr>
          <p:cNvPr id="8" name="Shape 6"/>
          <p:cNvSpPr/>
          <p:nvPr/>
        </p:nvSpPr>
        <p:spPr>
          <a:xfrm>
            <a:off x="640080" y="3639312"/>
            <a:ext cx="2834640" cy="18288"/>
          </a:xfrm>
          <a:prstGeom prst="rect">
            <a:avLst/>
          </a:prstGeom>
          <a:solidFill>
            <a:srgbClr val="C05A3E"/>
          </a:solidFill>
          <a:ln/>
        </p:spPr>
        <p:txBody>
          <a:bodyPr/>
          <a:lstStyle/>
          <a:p>
            <a:endParaRPr lang="en-US"/>
          </a:p>
        </p:txBody>
      </p:sp>
      <p:sp>
        <p:nvSpPr>
          <p:cNvPr id="9" name="Text 7"/>
          <p:cNvSpPr txBox="1"/>
          <p:nvPr/>
        </p:nvSpPr>
        <p:spPr>
          <a:xfrm>
            <a:off x="640080" y="3950208"/>
            <a:ext cx="7498080" cy="1280160"/>
          </a:xfrm>
          <a:prstGeom prst="rect">
            <a:avLst/>
          </a:prstGeom>
          <a:noFill/>
          <a:ln/>
        </p:spPr>
        <p:txBody>
          <a:bodyPr wrap="square" lIns="0" tIns="0" rIns="0" bIns="0" rtlCol="0" anchor="ctr"/>
          <a:lstStyle/>
          <a:p>
            <a:pPr marL="0" indent="0">
              <a:lnSpc>
                <a:spcPts val="2400"/>
              </a:lnSpc>
              <a:buNone/>
            </a:pPr>
            <a:r>
              <a:rPr lang="en-US" sz="1400" dirty="0">
                <a:solidFill>
                  <a:srgbClr val="EDE5D8"/>
                </a:solidFill>
                <a:latin typeface="Calibri" pitchFamily="34" charset="0"/>
                <a:ea typeface="Calibri" pitchFamily="34" charset="-122"/>
                <a:cs typeface="Calibri" pitchFamily="34" charset="-120"/>
              </a:rPr>
              <a:t>Volumes I–III  ·  the 1831 Introduction  ·  Brantlinger, “The Reading Monster”</a:t>
            </a:r>
            <a:endParaRPr lang="en-US" sz="1400" dirty="0"/>
          </a:p>
          <a:p>
            <a:pPr marL="0" indent="0">
              <a:lnSpc>
                <a:spcPts val="2400"/>
              </a:lnSpc>
              <a:buNone/>
            </a:pPr>
            <a:r>
              <a:rPr lang="en-US" sz="1400" dirty="0">
                <a:solidFill>
                  <a:srgbClr val="EDE5D8"/>
                </a:solidFill>
                <a:latin typeface="Calibri" pitchFamily="34" charset="0"/>
                <a:ea typeface="Calibri" pitchFamily="34" charset="-122"/>
                <a:cs typeface="Calibri" pitchFamily="34" charset="-120"/>
              </a:rPr>
              <a:t>Norton Critical Edition, 3rd ed. (ed. J. Paul Hunter, 2021)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A6472"/>
                </a:solidFill>
                <a:latin typeface="Calibri" pitchFamily="34" charset="0"/>
                <a:ea typeface="Calibri" pitchFamily="34" charset="-122"/>
                <a:cs typeface="Calibri" pitchFamily="34" charset="-120"/>
              </a:rPr>
              <a:t>BEFORE WE START</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01822"/>
                </a:solidFill>
                <a:latin typeface="Cambria" pitchFamily="34" charset="0"/>
                <a:ea typeface="Cambria" pitchFamily="34" charset="-122"/>
                <a:cs typeface="Cambria" pitchFamily="34" charset="-120"/>
              </a:rPr>
              <a:t>This is a lot for the second week</a:t>
            </a:r>
            <a:endParaRPr lang="en-US" sz="3000" dirty="0"/>
          </a:p>
        </p:txBody>
      </p:sp>
      <p:sp>
        <p:nvSpPr>
          <p:cNvPr id="5" name="Shape 3"/>
          <p:cNvSpPr/>
          <p:nvPr/>
        </p:nvSpPr>
        <p:spPr>
          <a:xfrm>
            <a:off x="640080" y="1600200"/>
            <a:ext cx="10911535" cy="1280160"/>
          </a:xfrm>
          <a:prstGeom prst="roundRect">
            <a:avLst>
              <a:gd name="adj" fmla="val 5714"/>
            </a:avLst>
          </a:prstGeom>
          <a:solidFill>
            <a:srgbClr val="F3EEE5"/>
          </a:solidFill>
          <a:ln w="12700">
            <a:solidFill>
              <a:srgbClr val="F3EEE5"/>
            </a:solidFill>
            <a:prstDash val="solid"/>
          </a:ln>
        </p:spPr>
        <p:txBody>
          <a:bodyPr/>
          <a:lstStyle/>
          <a:p>
            <a:endParaRPr lang="en-US"/>
          </a:p>
        </p:txBody>
      </p:sp>
      <p:sp>
        <p:nvSpPr>
          <p:cNvPr id="6" name="Shape 4"/>
          <p:cNvSpPr/>
          <p:nvPr/>
        </p:nvSpPr>
        <p:spPr>
          <a:xfrm>
            <a:off x="960120" y="2057400"/>
            <a:ext cx="384048" cy="384048"/>
          </a:xfrm>
          <a:prstGeom prst="ellipse">
            <a:avLst/>
          </a:prstGeom>
          <a:solidFill>
            <a:srgbClr val="101822"/>
          </a:solidFill>
          <a:ln/>
        </p:spPr>
        <p:txBody>
          <a:bodyPr/>
          <a:lstStyle/>
          <a:p>
            <a:endParaRPr lang="en-US"/>
          </a:p>
        </p:txBody>
      </p:sp>
      <p:sp>
        <p:nvSpPr>
          <p:cNvPr id="7" name="Text 5"/>
          <p:cNvSpPr txBox="1"/>
          <p:nvPr/>
        </p:nvSpPr>
        <p:spPr>
          <a:xfrm>
            <a:off x="960120" y="205740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600200" y="1801368"/>
            <a:ext cx="9509760" cy="347472"/>
          </a:xfrm>
          <a:prstGeom prst="rect">
            <a:avLst/>
          </a:prstGeom>
          <a:noFill/>
          <a:ln/>
        </p:spPr>
        <p:txBody>
          <a:bodyPr wrap="square" lIns="0" tIns="0" rIns="0" bIns="0" rtlCol="0" anchor="ctr"/>
          <a:lstStyle/>
          <a:p>
            <a:pPr marL="0" indent="0">
              <a:buNone/>
            </a:pPr>
            <a:r>
              <a:rPr lang="en-US" sz="1850" b="1" dirty="0">
                <a:solidFill>
                  <a:srgbClr val="101822"/>
                </a:solidFill>
                <a:latin typeface="Cambria" pitchFamily="34" charset="0"/>
                <a:ea typeface="Cambria" pitchFamily="34" charset="-122"/>
                <a:cs typeface="Cambria" pitchFamily="34" charset="-120"/>
              </a:rPr>
              <a:t>Read for the shape</a:t>
            </a:r>
            <a:endParaRPr lang="en-US" sz="1850" dirty="0"/>
          </a:p>
        </p:txBody>
      </p:sp>
      <p:sp>
        <p:nvSpPr>
          <p:cNvPr id="9" name="Text 7"/>
          <p:cNvSpPr txBox="1"/>
          <p:nvPr/>
        </p:nvSpPr>
        <p:spPr>
          <a:xfrm>
            <a:off x="1600200" y="2203704"/>
            <a:ext cx="9509760" cy="548640"/>
          </a:xfrm>
          <a:prstGeom prst="rect">
            <a:avLst/>
          </a:prstGeom>
          <a:noFill/>
          <a:ln/>
        </p:spPr>
        <p:txBody>
          <a:bodyPr wrap="square" lIns="0" tIns="0" rIns="0" bIns="0" rtlCol="0" anchor="ctr"/>
          <a:lstStyle/>
          <a:p>
            <a:pPr marL="0" indent="0">
              <a:lnSpc>
                <a:spcPts val="1800"/>
              </a:lnSpc>
              <a:buNone/>
            </a:pPr>
            <a:r>
              <a:rPr lang="en-US" sz="1300" dirty="0">
                <a:solidFill>
                  <a:srgbClr val="5A6472"/>
                </a:solidFill>
                <a:latin typeface="Calibri" pitchFamily="34" charset="0"/>
                <a:ea typeface="Calibri" pitchFamily="34" charset="-122"/>
                <a:cs typeface="Calibri" pitchFamily="34" charset="-120"/>
              </a:rPr>
              <a:t>You are not expected to have absorbed every sentence. Get the architecture: who is speaking, to whom, and in what order the story is being handed along. We slow down together in class, on passages, not on plot.</a:t>
            </a:r>
            <a:endParaRPr lang="en-US" sz="1300" dirty="0"/>
          </a:p>
        </p:txBody>
      </p:sp>
      <p:sp>
        <p:nvSpPr>
          <p:cNvPr id="10" name="Shape 8"/>
          <p:cNvSpPr/>
          <p:nvPr/>
        </p:nvSpPr>
        <p:spPr>
          <a:xfrm>
            <a:off x="640080" y="3017520"/>
            <a:ext cx="10911535" cy="1280160"/>
          </a:xfrm>
          <a:prstGeom prst="roundRect">
            <a:avLst>
              <a:gd name="adj" fmla="val 5714"/>
            </a:avLst>
          </a:prstGeom>
          <a:solidFill>
            <a:srgbClr val="E6EEF3"/>
          </a:solidFill>
          <a:ln w="12700">
            <a:solidFill>
              <a:srgbClr val="E6EEF3"/>
            </a:solidFill>
            <a:prstDash val="solid"/>
          </a:ln>
        </p:spPr>
        <p:txBody>
          <a:bodyPr/>
          <a:lstStyle/>
          <a:p>
            <a:endParaRPr lang="en-US"/>
          </a:p>
        </p:txBody>
      </p:sp>
      <p:sp>
        <p:nvSpPr>
          <p:cNvPr id="11" name="Shape 9"/>
          <p:cNvSpPr/>
          <p:nvPr/>
        </p:nvSpPr>
        <p:spPr>
          <a:xfrm>
            <a:off x="960120" y="3474720"/>
            <a:ext cx="384048" cy="384048"/>
          </a:xfrm>
          <a:prstGeom prst="ellipse">
            <a:avLst/>
          </a:prstGeom>
          <a:solidFill>
            <a:srgbClr val="35708C"/>
          </a:solidFill>
          <a:ln/>
        </p:spPr>
        <p:txBody>
          <a:bodyPr/>
          <a:lstStyle/>
          <a:p>
            <a:endParaRPr lang="en-US"/>
          </a:p>
        </p:txBody>
      </p:sp>
      <p:sp>
        <p:nvSpPr>
          <p:cNvPr id="12" name="Text 10"/>
          <p:cNvSpPr txBox="1"/>
          <p:nvPr/>
        </p:nvSpPr>
        <p:spPr>
          <a:xfrm>
            <a:off x="960120" y="34747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1600200" y="3218688"/>
            <a:ext cx="9509760" cy="347472"/>
          </a:xfrm>
          <a:prstGeom prst="rect">
            <a:avLst/>
          </a:prstGeom>
          <a:noFill/>
          <a:ln/>
        </p:spPr>
        <p:txBody>
          <a:bodyPr wrap="square" lIns="0" tIns="0" rIns="0" bIns="0" rtlCol="0" anchor="ctr"/>
          <a:lstStyle/>
          <a:p>
            <a:pPr marL="0" indent="0">
              <a:buNone/>
            </a:pPr>
            <a:r>
              <a:rPr lang="en-US" sz="1850" b="1" dirty="0">
                <a:solidFill>
                  <a:srgbClr val="101822"/>
                </a:solidFill>
                <a:latin typeface="Cambria" pitchFamily="34" charset="0"/>
                <a:ea typeface="Cambria" pitchFamily="34" charset="-122"/>
                <a:cs typeface="Cambria" pitchFamily="34" charset="-120"/>
              </a:rPr>
              <a:t>Start early, read in long sittings</a:t>
            </a:r>
            <a:endParaRPr lang="en-US" sz="1850" dirty="0"/>
          </a:p>
        </p:txBody>
      </p:sp>
      <p:sp>
        <p:nvSpPr>
          <p:cNvPr id="14" name="Text 12"/>
          <p:cNvSpPr txBox="1"/>
          <p:nvPr/>
        </p:nvSpPr>
        <p:spPr>
          <a:xfrm>
            <a:off x="1600200" y="3621024"/>
            <a:ext cx="9509760" cy="548640"/>
          </a:xfrm>
          <a:prstGeom prst="rect">
            <a:avLst/>
          </a:prstGeom>
          <a:noFill/>
          <a:ln/>
        </p:spPr>
        <p:txBody>
          <a:bodyPr wrap="square" lIns="0" tIns="0" rIns="0" bIns="0" rtlCol="0" anchor="ctr"/>
          <a:lstStyle/>
          <a:p>
            <a:pPr marL="0" indent="0">
              <a:lnSpc>
                <a:spcPts val="1800"/>
              </a:lnSpc>
              <a:buNone/>
            </a:pPr>
            <a:r>
              <a:rPr lang="en-US" sz="1300" dirty="0">
                <a:solidFill>
                  <a:srgbClr val="5A6472"/>
                </a:solidFill>
                <a:latin typeface="Calibri" pitchFamily="34" charset="0"/>
                <a:ea typeface="Calibri" pitchFamily="34" charset="-122"/>
                <a:cs typeface="Calibri" pitchFamily="34" charset="-120"/>
              </a:rPr>
              <a:t>The novel punishes fifteen-minute sessions. The creature’s narrative in Volume II is a single sustained voice and it works on you cumulatively — read that stretch in one go if you can manage nothing else.</a:t>
            </a:r>
            <a:endParaRPr lang="en-US" sz="1300" dirty="0"/>
          </a:p>
        </p:txBody>
      </p:sp>
      <p:sp>
        <p:nvSpPr>
          <p:cNvPr id="15" name="Shape 13"/>
          <p:cNvSpPr/>
          <p:nvPr/>
        </p:nvSpPr>
        <p:spPr>
          <a:xfrm>
            <a:off x="640080" y="4434840"/>
            <a:ext cx="10911535" cy="1280160"/>
          </a:xfrm>
          <a:prstGeom prst="roundRect">
            <a:avLst>
              <a:gd name="adj" fmla="val 5714"/>
            </a:avLst>
          </a:prstGeom>
          <a:solidFill>
            <a:srgbClr val="F3EEE5"/>
          </a:solidFill>
          <a:ln w="12700">
            <a:solidFill>
              <a:srgbClr val="F3EEE5"/>
            </a:solidFill>
            <a:prstDash val="solid"/>
          </a:ln>
        </p:spPr>
        <p:txBody>
          <a:bodyPr/>
          <a:lstStyle/>
          <a:p>
            <a:endParaRPr lang="en-US"/>
          </a:p>
        </p:txBody>
      </p:sp>
      <p:sp>
        <p:nvSpPr>
          <p:cNvPr id="16" name="Shape 14"/>
          <p:cNvSpPr/>
          <p:nvPr/>
        </p:nvSpPr>
        <p:spPr>
          <a:xfrm>
            <a:off x="960120" y="4892040"/>
            <a:ext cx="384048" cy="384048"/>
          </a:xfrm>
          <a:prstGeom prst="ellipse">
            <a:avLst/>
          </a:prstGeom>
          <a:solidFill>
            <a:srgbClr val="101822"/>
          </a:solidFill>
          <a:ln/>
        </p:spPr>
        <p:txBody>
          <a:bodyPr/>
          <a:lstStyle/>
          <a:p>
            <a:endParaRPr lang="en-US"/>
          </a:p>
        </p:txBody>
      </p:sp>
      <p:sp>
        <p:nvSpPr>
          <p:cNvPr id="17" name="Text 15"/>
          <p:cNvSpPr txBox="1"/>
          <p:nvPr/>
        </p:nvSpPr>
        <p:spPr>
          <a:xfrm>
            <a:off x="960120" y="489204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600200" y="4636008"/>
            <a:ext cx="9509760" cy="347472"/>
          </a:xfrm>
          <a:prstGeom prst="rect">
            <a:avLst/>
          </a:prstGeom>
          <a:noFill/>
          <a:ln/>
        </p:spPr>
        <p:txBody>
          <a:bodyPr wrap="square" lIns="0" tIns="0" rIns="0" bIns="0" rtlCol="0" anchor="ctr"/>
          <a:lstStyle/>
          <a:p>
            <a:pPr marL="0" indent="0">
              <a:buNone/>
            </a:pPr>
            <a:r>
              <a:rPr lang="en-US" sz="1850" b="1" dirty="0">
                <a:solidFill>
                  <a:srgbClr val="101822"/>
                </a:solidFill>
                <a:latin typeface="Cambria" pitchFamily="34" charset="0"/>
                <a:ea typeface="Cambria" pitchFamily="34" charset="-122"/>
                <a:cs typeface="Cambria" pitchFamily="34" charset="-120"/>
              </a:rPr>
              <a:t>Mark, don’t summarise</a:t>
            </a:r>
            <a:endParaRPr lang="en-US" sz="1850" dirty="0"/>
          </a:p>
        </p:txBody>
      </p:sp>
      <p:sp>
        <p:nvSpPr>
          <p:cNvPr id="19" name="Text 17"/>
          <p:cNvSpPr txBox="1"/>
          <p:nvPr/>
        </p:nvSpPr>
        <p:spPr>
          <a:xfrm>
            <a:off x="1600200" y="5038344"/>
            <a:ext cx="9509760" cy="548640"/>
          </a:xfrm>
          <a:prstGeom prst="rect">
            <a:avLst/>
          </a:prstGeom>
          <a:noFill/>
          <a:ln/>
        </p:spPr>
        <p:txBody>
          <a:bodyPr wrap="square" lIns="0" tIns="0" rIns="0" bIns="0" rtlCol="0" anchor="ctr"/>
          <a:lstStyle/>
          <a:p>
            <a:pPr marL="0" indent="0">
              <a:lnSpc>
                <a:spcPts val="1800"/>
              </a:lnSpc>
              <a:buNone/>
            </a:pPr>
            <a:r>
              <a:rPr lang="en-US" sz="1300" dirty="0">
                <a:solidFill>
                  <a:srgbClr val="5A6472"/>
                </a:solidFill>
                <a:latin typeface="Calibri" pitchFamily="34" charset="0"/>
                <a:ea typeface="Calibri" pitchFamily="34" charset="-122"/>
                <a:cs typeface="Calibri" pitchFamily="34" charset="-120"/>
              </a:rPr>
              <a:t>Put a line in the margin anywhere someone explains why they did something. Those self-justifications are the novel’s real subject, and they are what we will read closely.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101822"/>
        </a:solidFill>
        <a:effectLst/>
      </p:bgPr>
    </p:bg>
    <p:spTree>
      <p:nvGrpSpPr>
        <p:cNvPr id="1" name=""/>
        <p:cNvGrpSpPr/>
        <p:nvPr/>
      </p:nvGrpSpPr>
      <p:grpSpPr>
        <a:xfrm>
          <a:off x="0" y="0"/>
          <a:ext cx="0" cy="0"/>
          <a:chOff x="0" y="0"/>
          <a:chExt cx="0" cy="0"/>
        </a:xfrm>
      </p:grpSpPr>
      <p:sp>
        <p:nvSpPr>
          <p:cNvPr id="2" name="Shape 0"/>
          <p:cNvSpPr/>
          <p:nvPr/>
        </p:nvSpPr>
        <p:spPr>
          <a:xfrm>
            <a:off x="640080" y="502920"/>
            <a:ext cx="137160" cy="137160"/>
          </a:xfrm>
          <a:prstGeom prst="ellipse">
            <a:avLst/>
          </a:prstGeom>
          <a:solidFill>
            <a:srgbClr val="E08A6E"/>
          </a:solidFill>
          <a:ln/>
        </p:spPr>
        <p:txBody>
          <a:bodyPr/>
          <a:lstStyle/>
          <a:p>
            <a:endParaRPr lang="en-US"/>
          </a:p>
        </p:txBody>
      </p:sp>
      <p:sp>
        <p:nvSpPr>
          <p:cNvPr id="3" name="Text 1"/>
          <p:cNvSpPr txBox="1"/>
          <p:nvPr/>
        </p:nvSpPr>
        <p:spPr>
          <a:xfrm>
            <a:off x="886968" y="438912"/>
            <a:ext cx="10515600" cy="274320"/>
          </a:xfrm>
          <a:prstGeom prst="rect">
            <a:avLst/>
          </a:prstGeom>
          <a:noFill/>
          <a:ln/>
        </p:spPr>
        <p:txBody>
          <a:bodyPr wrap="square" lIns="0" tIns="0" rIns="0" bIns="0" rtlCol="0" anchor="ctr"/>
          <a:lstStyle/>
          <a:p>
            <a:pPr marL="0" indent="0">
              <a:buNone/>
            </a:pPr>
            <a:r>
              <a:rPr lang="en-US" sz="1100" b="1" kern="0" spc="160" dirty="0">
                <a:solidFill>
                  <a:srgbClr val="E08A6E"/>
                </a:solidFill>
                <a:latin typeface="Calibri" pitchFamily="34" charset="0"/>
                <a:ea typeface="Calibri" pitchFamily="34" charset="-122"/>
                <a:cs typeface="Calibri" pitchFamily="34" charset="-120"/>
              </a:rPr>
              <a:t>WARM-UP · SIX MINUTES · NO TALKING</a:t>
            </a:r>
            <a:endParaRPr lang="en-US" sz="1100" dirty="0"/>
          </a:p>
        </p:txBody>
      </p:sp>
      <p:sp>
        <p:nvSpPr>
          <p:cNvPr id="4" name="Text 2"/>
          <p:cNvSpPr txBox="1"/>
          <p:nvPr/>
        </p:nvSpPr>
        <p:spPr>
          <a:xfrm>
            <a:off x="640080" y="868680"/>
            <a:ext cx="10911535" cy="640080"/>
          </a:xfrm>
          <a:prstGeom prst="rect">
            <a:avLst/>
          </a:prstGeom>
          <a:noFill/>
          <a:ln/>
        </p:spPr>
        <p:txBody>
          <a:bodyPr wrap="square" lIns="0" tIns="0" rIns="0" bIns="0" rtlCol="0" anchor="ctr"/>
          <a:lstStyle/>
          <a:p>
            <a:pPr marL="0" indent="0">
              <a:buNone/>
            </a:pPr>
            <a:r>
              <a:rPr lang="en-US" sz="3300" b="1" dirty="0">
                <a:solidFill>
                  <a:srgbClr val="EDE5D8"/>
                </a:solidFill>
                <a:latin typeface="Cambria" pitchFamily="34" charset="0"/>
                <a:ea typeface="Cambria" pitchFamily="34" charset="-122"/>
                <a:cs typeface="Cambria" pitchFamily="34" charset="-120"/>
              </a:rPr>
              <a:t>Write before we begin</a:t>
            </a:r>
            <a:endParaRPr lang="en-US" sz="3300" dirty="0"/>
          </a:p>
        </p:txBody>
      </p:sp>
      <p:sp>
        <p:nvSpPr>
          <p:cNvPr id="5" name="Shape 3"/>
          <p:cNvSpPr/>
          <p:nvPr/>
        </p:nvSpPr>
        <p:spPr>
          <a:xfrm>
            <a:off x="640080" y="1783080"/>
            <a:ext cx="10911535" cy="2743200"/>
          </a:xfrm>
          <a:prstGeom prst="roundRect">
            <a:avLst>
              <a:gd name="adj" fmla="val 2667"/>
            </a:avLst>
          </a:prstGeom>
          <a:solidFill>
            <a:srgbClr val="1E2836"/>
          </a:solidFill>
          <a:ln w="12700">
            <a:solidFill>
              <a:srgbClr val="1E2836"/>
            </a:solidFill>
            <a:prstDash val="solid"/>
          </a:ln>
        </p:spPr>
        <p:txBody>
          <a:bodyPr/>
          <a:lstStyle/>
          <a:p>
            <a:endParaRPr lang="en-US"/>
          </a:p>
        </p:txBody>
      </p:sp>
      <p:sp>
        <p:nvSpPr>
          <p:cNvPr id="6" name="Text 4"/>
          <p:cNvSpPr txBox="1"/>
          <p:nvPr/>
        </p:nvSpPr>
        <p:spPr>
          <a:xfrm>
            <a:off x="1097280" y="2057400"/>
            <a:ext cx="10058400" cy="2240280"/>
          </a:xfrm>
          <a:prstGeom prst="rect">
            <a:avLst/>
          </a:prstGeom>
          <a:noFill/>
          <a:ln/>
        </p:spPr>
        <p:txBody>
          <a:bodyPr wrap="square" lIns="0" tIns="0" rIns="0" bIns="0" rtlCol="0" anchor="ctr"/>
          <a:lstStyle/>
          <a:p>
            <a:pPr marL="0" indent="0">
              <a:lnSpc>
                <a:spcPts val="3000"/>
              </a:lnSpc>
              <a:buNone/>
            </a:pPr>
            <a:r>
              <a:rPr lang="en-US" sz="1900" dirty="0">
                <a:solidFill>
                  <a:srgbClr val="FFFFFF"/>
                </a:solidFill>
                <a:latin typeface="Cambria" pitchFamily="34" charset="0"/>
                <a:ea typeface="Cambria" pitchFamily="34" charset="-122"/>
                <a:cs typeface="Cambria" pitchFamily="34" charset="-120"/>
              </a:rPr>
              <a:t>Think of something that was made and then left — a project abandoned mid-way, a pet taken on and given up, an account or a character or a model someone built and walked away from, a person who was brought into a situation and then not looked after.</a:t>
            </a:r>
            <a:endParaRPr lang="en-US" sz="1900" dirty="0"/>
          </a:p>
          <a:p>
            <a:pPr marL="0" indent="0">
              <a:lnSpc>
                <a:spcPts val="3000"/>
              </a:lnSpc>
              <a:buNone/>
            </a:pPr>
            <a:endParaRPr lang="en-US" sz="1900" dirty="0"/>
          </a:p>
          <a:p>
            <a:pPr marL="0" indent="0">
              <a:lnSpc>
                <a:spcPts val="3000"/>
              </a:lnSpc>
              <a:buNone/>
            </a:pPr>
            <a:r>
              <a:rPr lang="en-US" sz="1900" dirty="0">
                <a:solidFill>
                  <a:srgbClr val="FFFFFF"/>
                </a:solidFill>
                <a:latin typeface="Cambria" pitchFamily="34" charset="0"/>
                <a:ea typeface="Cambria" pitchFamily="34" charset="-122"/>
                <a:cs typeface="Cambria" pitchFamily="34" charset="-120"/>
              </a:rPr>
              <a:t>What did the maker owe it? Write the obligation as a specific sentence, not a feeling.</a:t>
            </a:r>
            <a:endParaRPr lang="en-US" sz="1900" dirty="0"/>
          </a:p>
        </p:txBody>
      </p:sp>
      <p:sp>
        <p:nvSpPr>
          <p:cNvPr id="7" name="Text 5"/>
          <p:cNvSpPr txBox="1"/>
          <p:nvPr/>
        </p:nvSpPr>
        <p:spPr>
          <a:xfrm>
            <a:off x="640080" y="4800600"/>
            <a:ext cx="10881360" cy="457200"/>
          </a:xfrm>
          <a:prstGeom prst="rect">
            <a:avLst/>
          </a:prstGeom>
          <a:noFill/>
          <a:ln/>
        </p:spPr>
        <p:txBody>
          <a:bodyPr wrap="square" lIns="0" tIns="0" rIns="0" bIns="0" rtlCol="0" anchor="ctr"/>
          <a:lstStyle/>
          <a:p>
            <a:pPr marL="0" indent="0">
              <a:buNone/>
            </a:pPr>
            <a:r>
              <a:rPr lang="en-US" sz="1450" i="1" dirty="0">
                <a:solidFill>
                  <a:srgbClr val="9CC5D6"/>
                </a:solidFill>
                <a:latin typeface="Calibri" pitchFamily="34" charset="0"/>
                <a:ea typeface="Calibri" pitchFamily="34" charset="-122"/>
                <a:cs typeface="Calibri" pitchFamily="34" charset="-120"/>
              </a:rPr>
              <a:t>Keep the page. We return to it in the last few minutes, and by then you will have the content of Shelley to argue with.</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101822"/>
        </a:solidFill>
        <a:effectLst/>
      </p:bgPr>
    </p:bg>
    <p:spTree>
      <p:nvGrpSpPr>
        <p:cNvPr id="1" name=""/>
        <p:cNvGrpSpPr/>
        <p:nvPr/>
      </p:nvGrpSpPr>
      <p:grpSpPr>
        <a:xfrm>
          <a:off x="0" y="0"/>
          <a:ext cx="0" cy="0"/>
          <a:chOff x="0" y="0"/>
          <a:chExt cx="0" cy="0"/>
        </a:xfrm>
      </p:grpSpPr>
      <p:sp>
        <p:nvSpPr>
          <p:cNvPr id="2" name="Shape 0"/>
          <p:cNvSpPr/>
          <p:nvPr/>
        </p:nvSpPr>
        <p:spPr>
          <a:xfrm>
            <a:off x="640080" y="1234440"/>
            <a:ext cx="137160" cy="137160"/>
          </a:xfrm>
          <a:prstGeom prst="ellipse">
            <a:avLst/>
          </a:prstGeom>
          <a:solidFill>
            <a:srgbClr val="E08A6E"/>
          </a:solidFill>
          <a:ln/>
        </p:spPr>
        <p:txBody>
          <a:bodyPr/>
          <a:lstStyle/>
          <a:p>
            <a:endParaRPr lang="en-US"/>
          </a:p>
        </p:txBody>
      </p:sp>
      <p:sp>
        <p:nvSpPr>
          <p:cNvPr id="3" name="Text 1"/>
          <p:cNvSpPr txBox="1"/>
          <p:nvPr/>
        </p:nvSpPr>
        <p:spPr>
          <a:xfrm>
            <a:off x="886968" y="1170432"/>
            <a:ext cx="9144000" cy="274320"/>
          </a:xfrm>
          <a:prstGeom prst="rect">
            <a:avLst/>
          </a:prstGeom>
          <a:noFill/>
          <a:ln/>
        </p:spPr>
        <p:txBody>
          <a:bodyPr wrap="square" lIns="0" tIns="0" rIns="0" bIns="0" rtlCol="0" anchor="ctr"/>
          <a:lstStyle/>
          <a:p>
            <a:pPr marL="0" indent="0">
              <a:buNone/>
            </a:pPr>
            <a:r>
              <a:rPr lang="en-US" sz="1200" b="1" kern="0" spc="200" dirty="0">
                <a:solidFill>
                  <a:srgbClr val="E08A6E"/>
                </a:solidFill>
                <a:latin typeface="Calibri" pitchFamily="34" charset="0"/>
                <a:ea typeface="Calibri" pitchFamily="34" charset="-122"/>
                <a:cs typeface="Calibri" pitchFamily="34" charset="-120"/>
              </a:rPr>
              <a:t>KEY QUESTION FOR THE WEEK</a:t>
            </a:r>
            <a:endParaRPr lang="en-US" sz="1200" dirty="0"/>
          </a:p>
        </p:txBody>
      </p:sp>
      <p:sp>
        <p:nvSpPr>
          <p:cNvPr id="4" name="Text 2"/>
          <p:cNvSpPr txBox="1"/>
          <p:nvPr/>
        </p:nvSpPr>
        <p:spPr>
          <a:xfrm>
            <a:off x="640080" y="1691640"/>
            <a:ext cx="10881360" cy="1920240"/>
          </a:xfrm>
          <a:prstGeom prst="rect">
            <a:avLst/>
          </a:prstGeom>
          <a:noFill/>
          <a:ln/>
        </p:spPr>
        <p:txBody>
          <a:bodyPr wrap="square" lIns="0" tIns="0" rIns="0" bIns="0" rtlCol="0" anchor="ctr"/>
          <a:lstStyle/>
          <a:p>
            <a:pPr marL="0" indent="0">
              <a:lnSpc>
                <a:spcPts val="5800"/>
              </a:lnSpc>
              <a:buNone/>
            </a:pPr>
            <a:r>
              <a:rPr lang="en-US" sz="4600" b="1" dirty="0">
                <a:solidFill>
                  <a:srgbClr val="EDE5D8"/>
                </a:solidFill>
                <a:latin typeface="Cambria" pitchFamily="34" charset="0"/>
                <a:ea typeface="Cambria" pitchFamily="34" charset="-122"/>
                <a:cs typeface="Cambria" pitchFamily="34" charset="-120"/>
              </a:rPr>
              <a:t>What does a maker owe</a:t>
            </a:r>
            <a:endParaRPr lang="en-US" sz="4600" dirty="0"/>
          </a:p>
          <a:p>
            <a:pPr marL="0" indent="0">
              <a:lnSpc>
                <a:spcPts val="5800"/>
              </a:lnSpc>
              <a:buNone/>
            </a:pPr>
            <a:r>
              <a:rPr lang="en-US" sz="4600" b="1" dirty="0">
                <a:solidFill>
                  <a:srgbClr val="EDE5D8"/>
                </a:solidFill>
                <a:latin typeface="Cambria" pitchFamily="34" charset="0"/>
                <a:ea typeface="Cambria" pitchFamily="34" charset="-122"/>
                <a:cs typeface="Cambria" pitchFamily="34" charset="-120"/>
              </a:rPr>
              <a:t>what they have made?</a:t>
            </a:r>
            <a:endParaRPr lang="en-US" sz="4600" dirty="0"/>
          </a:p>
        </p:txBody>
      </p:sp>
      <p:sp>
        <p:nvSpPr>
          <p:cNvPr id="5" name="Shape 3"/>
          <p:cNvSpPr/>
          <p:nvPr/>
        </p:nvSpPr>
        <p:spPr>
          <a:xfrm>
            <a:off x="640080" y="3886200"/>
            <a:ext cx="3108960" cy="18288"/>
          </a:xfrm>
          <a:prstGeom prst="rect">
            <a:avLst/>
          </a:prstGeom>
          <a:solidFill>
            <a:srgbClr val="C05A3E"/>
          </a:solidFill>
          <a:ln/>
        </p:spPr>
        <p:txBody>
          <a:bodyPr/>
          <a:lstStyle/>
          <a:p>
            <a:endParaRPr lang="en-US"/>
          </a:p>
        </p:txBody>
      </p:sp>
      <p:sp>
        <p:nvSpPr>
          <p:cNvPr id="6" name="Text 4"/>
          <p:cNvSpPr txBox="1"/>
          <p:nvPr/>
        </p:nvSpPr>
        <p:spPr>
          <a:xfrm>
            <a:off x="640080" y="4206240"/>
            <a:ext cx="9692640" cy="1005840"/>
          </a:xfrm>
          <a:prstGeom prst="rect">
            <a:avLst/>
          </a:prstGeom>
          <a:noFill/>
          <a:ln/>
        </p:spPr>
        <p:txBody>
          <a:bodyPr wrap="square" lIns="0" tIns="0" rIns="0" bIns="0" rtlCol="0" anchor="ctr"/>
          <a:lstStyle/>
          <a:p>
            <a:pPr marL="0" indent="0">
              <a:lnSpc>
                <a:spcPts val="2600"/>
              </a:lnSpc>
              <a:buNone/>
            </a:pPr>
            <a:r>
              <a:rPr lang="en-US" sz="1800" dirty="0">
                <a:solidFill>
                  <a:srgbClr val="9CC5D6"/>
                </a:solidFill>
                <a:latin typeface="Cambria" pitchFamily="34" charset="0"/>
                <a:ea typeface="Cambria" pitchFamily="34" charset="-122"/>
                <a:cs typeface="Cambria" pitchFamily="34" charset="-120"/>
              </a:rPr>
              <a:t>Everything today is an attempt on this question. Note that it is not “should we have made it” and not “is it conscious.” Those are the questions the novel is usually reduced to, and they are the two it is least interested in.</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101822"/>
        </a:solidFill>
        <a:effectLst/>
      </p:bgPr>
    </p:bg>
    <p:spTree>
      <p:nvGrpSpPr>
        <p:cNvPr id="1" name=""/>
        <p:cNvGrpSpPr/>
        <p:nvPr/>
      </p:nvGrpSpPr>
      <p:grpSpPr>
        <a:xfrm>
          <a:off x="0" y="0"/>
          <a:ext cx="0" cy="0"/>
          <a:chOff x="0" y="0"/>
          <a:chExt cx="0" cy="0"/>
        </a:xfrm>
      </p:grpSpPr>
      <p:sp>
        <p:nvSpPr>
          <p:cNvPr id="2" name="Shape 0"/>
          <p:cNvSpPr/>
          <p:nvPr/>
        </p:nvSpPr>
        <p:spPr>
          <a:xfrm>
            <a:off x="8732520" y="1417320"/>
            <a:ext cx="2651760" cy="2651760"/>
          </a:xfrm>
          <a:prstGeom prst="ellipse">
            <a:avLst/>
          </a:prstGeom>
          <a:solidFill>
            <a:srgbClr val="35708C">
              <a:alpha val="70000"/>
            </a:srgbClr>
          </a:solidFill>
          <a:ln/>
        </p:spPr>
        <p:txBody>
          <a:bodyPr/>
          <a:lstStyle/>
          <a:p>
            <a:endParaRPr lang="en-US"/>
          </a:p>
        </p:txBody>
      </p:sp>
      <p:sp>
        <p:nvSpPr>
          <p:cNvPr id="3" name="Shape 1"/>
          <p:cNvSpPr/>
          <p:nvPr/>
        </p:nvSpPr>
        <p:spPr>
          <a:xfrm>
            <a:off x="9509760" y="2194560"/>
            <a:ext cx="1097280" cy="1097280"/>
          </a:xfrm>
          <a:prstGeom prst="ellipse">
            <a:avLst/>
          </a:prstGeom>
          <a:solidFill>
            <a:srgbClr val="C05A3E">
              <a:alpha val="70000"/>
            </a:srgbClr>
          </a:solidFill>
          <a:ln/>
        </p:spPr>
        <p:txBody>
          <a:bodyPr/>
          <a:lstStyle/>
          <a:p>
            <a:endParaRPr lang="en-US"/>
          </a:p>
        </p:txBody>
      </p:sp>
      <p:sp>
        <p:nvSpPr>
          <p:cNvPr id="4" name="Text 2"/>
          <p:cNvSpPr txBox="1"/>
          <p:nvPr/>
        </p:nvSpPr>
        <p:spPr>
          <a:xfrm>
            <a:off x="640080" y="1965960"/>
            <a:ext cx="7315200" cy="320040"/>
          </a:xfrm>
          <a:prstGeom prst="rect">
            <a:avLst/>
          </a:prstGeom>
          <a:noFill/>
          <a:ln/>
        </p:spPr>
        <p:txBody>
          <a:bodyPr wrap="square" lIns="0" tIns="0" rIns="0" bIns="0" rtlCol="0" anchor="ctr"/>
          <a:lstStyle/>
          <a:p>
            <a:pPr marL="0" indent="0">
              <a:buNone/>
            </a:pPr>
            <a:r>
              <a:rPr lang="en-US" sz="1300" b="1" kern="0" spc="220" dirty="0">
                <a:solidFill>
                  <a:srgbClr val="E08A6E"/>
                </a:solidFill>
                <a:latin typeface="Calibri" pitchFamily="34" charset="0"/>
                <a:ea typeface="Calibri" pitchFamily="34" charset="-122"/>
                <a:cs typeface="Calibri" pitchFamily="34" charset="-120"/>
              </a:rPr>
              <a:t>MOVEMENT ONE</a:t>
            </a:r>
            <a:endParaRPr lang="en-US" sz="1300" dirty="0"/>
          </a:p>
        </p:txBody>
      </p:sp>
      <p:sp>
        <p:nvSpPr>
          <p:cNvPr id="5" name="Text 3"/>
          <p:cNvSpPr txBox="1"/>
          <p:nvPr/>
        </p:nvSpPr>
        <p:spPr>
          <a:xfrm>
            <a:off x="640080" y="2377440"/>
            <a:ext cx="7680960" cy="868680"/>
          </a:xfrm>
          <a:prstGeom prst="rect">
            <a:avLst/>
          </a:prstGeom>
          <a:noFill/>
          <a:ln/>
        </p:spPr>
        <p:txBody>
          <a:bodyPr wrap="square" lIns="0" tIns="0" rIns="0" bIns="0" rtlCol="0" anchor="ctr"/>
          <a:lstStyle/>
          <a:p>
            <a:pPr marL="0" indent="0">
              <a:buNone/>
            </a:pPr>
            <a:r>
              <a:rPr lang="en-US" sz="4000" b="1" dirty="0">
                <a:solidFill>
                  <a:srgbClr val="EDE5D8"/>
                </a:solidFill>
                <a:latin typeface="Cambria" pitchFamily="34" charset="0"/>
                <a:ea typeface="Cambria" pitchFamily="34" charset="-122"/>
                <a:cs typeface="Cambria" pitchFamily="34" charset="-120"/>
              </a:rPr>
              <a:t>The making and the leaving</a:t>
            </a:r>
            <a:endParaRPr lang="en-US" sz="4000" dirty="0"/>
          </a:p>
        </p:txBody>
      </p:sp>
      <p:sp>
        <p:nvSpPr>
          <p:cNvPr id="6" name="Text 4"/>
          <p:cNvSpPr txBox="1"/>
          <p:nvPr/>
        </p:nvSpPr>
        <p:spPr>
          <a:xfrm>
            <a:off x="640080" y="3310128"/>
            <a:ext cx="768096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Volume I, chapters I–VII  ·  0:20–1:08</a:t>
            </a:r>
            <a:endParaRPr lang="en-US" sz="1500" dirty="0"/>
          </a:p>
        </p:txBody>
      </p:sp>
      <p:sp>
        <p:nvSpPr>
          <p:cNvPr id="7" name="Shape 5"/>
          <p:cNvSpPr/>
          <p:nvPr/>
        </p:nvSpPr>
        <p:spPr>
          <a:xfrm>
            <a:off x="640080" y="3913632"/>
            <a:ext cx="2377440" cy="18288"/>
          </a:xfrm>
          <a:prstGeom prst="rect">
            <a:avLst/>
          </a:prstGeom>
          <a:solidFill>
            <a:srgbClr val="C05A3E"/>
          </a:solidFill>
          <a:ln/>
        </p:spPr>
        <p:txBody>
          <a:bodyPr/>
          <a:lstStyle/>
          <a:p>
            <a:endParaRPr lang="en-US"/>
          </a:p>
        </p:txBody>
      </p:sp>
      <p:sp>
        <p:nvSpPr>
          <p:cNvPr id="8" name="Text 6"/>
          <p:cNvSpPr txBox="1"/>
          <p:nvPr/>
        </p:nvSpPr>
        <p:spPr>
          <a:xfrm>
            <a:off x="640080" y="4133088"/>
            <a:ext cx="7680960" cy="548640"/>
          </a:xfrm>
          <a:prstGeom prst="rect">
            <a:avLst/>
          </a:prstGeom>
          <a:noFill/>
          <a:ln/>
        </p:spPr>
        <p:txBody>
          <a:bodyPr wrap="square" lIns="0" tIns="0" rIns="0" bIns="0" rtlCol="0" anchor="ctr"/>
          <a:lstStyle/>
          <a:p>
            <a:pPr marL="0" indent="0">
              <a:lnSpc>
                <a:spcPts val="2600"/>
              </a:lnSpc>
              <a:buNone/>
            </a:pPr>
            <a:r>
              <a:rPr lang="en-US" sz="1900" i="1" dirty="0">
                <a:solidFill>
                  <a:srgbClr val="9CC5D6"/>
                </a:solidFill>
                <a:latin typeface="Cambria" pitchFamily="34" charset="0"/>
                <a:ea typeface="Cambria" pitchFamily="34" charset="-122"/>
                <a:cs typeface="Cambria" pitchFamily="34" charset="-120"/>
              </a:rPr>
              <a:t>Two years of labour. One night of attention.</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A6472"/>
                </a:solidFill>
                <a:latin typeface="Calibri" pitchFamily="34" charset="0"/>
                <a:ea typeface="Calibri" pitchFamily="34" charset="-122"/>
                <a:cs typeface="Calibri" pitchFamily="34" charset="-120"/>
              </a:rPr>
              <a:t>TEXTUAL NOTE</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01822"/>
                </a:solidFill>
                <a:latin typeface="Cambria" pitchFamily="34" charset="0"/>
                <a:ea typeface="Cambria" pitchFamily="34" charset="-122"/>
                <a:cs typeface="Cambria" pitchFamily="34" charset="-120"/>
              </a:rPr>
              <a:t>Which Frankenstein are we reading?</a:t>
            </a:r>
            <a:endParaRPr lang="en-US" sz="3000" dirty="0"/>
          </a:p>
        </p:txBody>
      </p:sp>
      <p:sp>
        <p:nvSpPr>
          <p:cNvPr id="5" name="Shape 3"/>
          <p:cNvSpPr/>
          <p:nvPr/>
        </p:nvSpPr>
        <p:spPr>
          <a:xfrm>
            <a:off x="640080" y="1572768"/>
            <a:ext cx="5257800" cy="2286000"/>
          </a:xfrm>
          <a:prstGeom prst="roundRect">
            <a:avLst>
              <a:gd name="adj" fmla="val 3200"/>
            </a:avLst>
          </a:prstGeom>
          <a:solidFill>
            <a:srgbClr val="F3EEE5"/>
          </a:solidFill>
          <a:ln w="12700">
            <a:solidFill>
              <a:srgbClr val="F3EEE5"/>
            </a:solidFill>
            <a:prstDash val="solid"/>
          </a:ln>
        </p:spPr>
        <p:txBody>
          <a:bodyPr/>
          <a:lstStyle/>
          <a:p>
            <a:endParaRPr lang="en-US"/>
          </a:p>
        </p:txBody>
      </p:sp>
      <p:sp>
        <p:nvSpPr>
          <p:cNvPr id="6" name="Text 4"/>
          <p:cNvSpPr txBox="1"/>
          <p:nvPr/>
        </p:nvSpPr>
        <p:spPr>
          <a:xfrm>
            <a:off x="960120" y="1773936"/>
            <a:ext cx="4572000" cy="320040"/>
          </a:xfrm>
          <a:prstGeom prst="rect">
            <a:avLst/>
          </a:prstGeom>
          <a:noFill/>
          <a:ln/>
        </p:spPr>
        <p:txBody>
          <a:bodyPr wrap="square" lIns="0" tIns="0" rIns="0" bIns="0" rtlCol="0" anchor="ctr"/>
          <a:lstStyle/>
          <a:p>
            <a:pPr marL="0" indent="0">
              <a:buNone/>
            </a:pPr>
            <a:r>
              <a:rPr lang="en-US" sz="1800" b="1" dirty="0">
                <a:solidFill>
                  <a:srgbClr val="101822"/>
                </a:solidFill>
                <a:latin typeface="Cambria" pitchFamily="34" charset="0"/>
                <a:ea typeface="Cambria" pitchFamily="34" charset="-122"/>
                <a:cs typeface="Cambria" pitchFamily="34" charset="-120"/>
              </a:rPr>
              <a:t>1818 — our text</a:t>
            </a:r>
            <a:endParaRPr lang="en-US" sz="1800" dirty="0"/>
          </a:p>
        </p:txBody>
      </p:sp>
      <p:sp>
        <p:nvSpPr>
          <p:cNvPr id="7" name="Text 5"/>
          <p:cNvSpPr txBox="1"/>
          <p:nvPr/>
        </p:nvSpPr>
        <p:spPr>
          <a:xfrm>
            <a:off x="960120" y="2176272"/>
            <a:ext cx="4617720" cy="1645920"/>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5A6472"/>
                </a:solidFill>
                <a:latin typeface="Calibri" pitchFamily="34" charset="0"/>
                <a:ea typeface="Calibri" pitchFamily="34" charset="-122"/>
                <a:cs typeface="Calibri" pitchFamily="34" charset="-120"/>
              </a:rPr>
              <a:t>Published anonymously in three volumes; Shelley was twenty.</a:t>
            </a:r>
            <a:endParaRPr lang="en-US" sz="1250" dirty="0"/>
          </a:p>
          <a:p>
            <a:pPr marL="342900" indent="-342900">
              <a:lnSpc>
                <a:spcPts val="1600"/>
              </a:lnSpc>
              <a:spcAft>
                <a:spcPts val="600"/>
              </a:spcAft>
              <a:buSzPct val="100000"/>
              <a:buChar char="•"/>
            </a:pPr>
            <a:r>
              <a:rPr lang="en-US" sz="1250" dirty="0">
                <a:solidFill>
                  <a:srgbClr val="5A6472"/>
                </a:solidFill>
                <a:latin typeface="Calibri" pitchFamily="34" charset="0"/>
                <a:ea typeface="Calibri" pitchFamily="34" charset="-122"/>
                <a:cs typeface="Calibri" pitchFamily="34" charset="-120"/>
              </a:rPr>
              <a:t>Elizabeth is Victor’s first cousin — a member of the family he later fails.</a:t>
            </a:r>
            <a:endParaRPr lang="en-US" sz="1250" dirty="0"/>
          </a:p>
          <a:p>
            <a:pPr marL="342900" indent="-342900">
              <a:lnSpc>
                <a:spcPts val="1600"/>
              </a:lnSpc>
              <a:spcAft>
                <a:spcPts val="600"/>
              </a:spcAft>
              <a:buSzPct val="100000"/>
              <a:buChar char="•"/>
            </a:pPr>
            <a:r>
              <a:rPr lang="en-US" sz="1250" dirty="0">
                <a:solidFill>
                  <a:srgbClr val="5A6472"/>
                </a:solidFill>
                <a:latin typeface="Calibri" pitchFamily="34" charset="0"/>
                <a:ea typeface="Calibri" pitchFamily="34" charset="-122"/>
                <a:cs typeface="Calibri" pitchFamily="34" charset="-120"/>
              </a:rPr>
              <a:t>Victor’s choices read as choices. Blame sits with him.</a:t>
            </a:r>
            <a:endParaRPr lang="en-US" sz="1250" dirty="0"/>
          </a:p>
          <a:p>
            <a:pPr marL="342900" indent="-342900">
              <a:lnSpc>
                <a:spcPts val="1600"/>
              </a:lnSpc>
              <a:spcAft>
                <a:spcPts val="600"/>
              </a:spcAft>
              <a:buSzPct val="100000"/>
              <a:buChar char="•"/>
            </a:pPr>
            <a:r>
              <a:rPr lang="en-US" sz="1250" dirty="0">
                <a:solidFill>
                  <a:srgbClr val="5A6472"/>
                </a:solidFill>
                <a:latin typeface="Calibri" pitchFamily="34" charset="0"/>
                <a:ea typeface="Calibri" pitchFamily="34" charset="-122"/>
                <a:cs typeface="Calibri" pitchFamily="34" charset="-120"/>
              </a:rPr>
              <a:t>Numbered by volume: Vol I ch. I–VII, Vol II ch. I–IX, Vol III ch. I–VII.</a:t>
            </a:r>
            <a:endParaRPr lang="en-US" sz="1250" dirty="0"/>
          </a:p>
        </p:txBody>
      </p:sp>
      <p:sp>
        <p:nvSpPr>
          <p:cNvPr id="8" name="Shape 6"/>
          <p:cNvSpPr/>
          <p:nvPr/>
        </p:nvSpPr>
        <p:spPr>
          <a:xfrm>
            <a:off x="6263640" y="1572768"/>
            <a:ext cx="5257800" cy="2286000"/>
          </a:xfrm>
          <a:prstGeom prst="roundRect">
            <a:avLst>
              <a:gd name="adj" fmla="val 3200"/>
            </a:avLst>
          </a:prstGeom>
          <a:solidFill>
            <a:srgbClr val="E6EEF3"/>
          </a:solidFill>
          <a:ln w="12700">
            <a:solidFill>
              <a:srgbClr val="E6EEF3"/>
            </a:solidFill>
            <a:prstDash val="solid"/>
          </a:ln>
        </p:spPr>
        <p:txBody>
          <a:bodyPr/>
          <a:lstStyle/>
          <a:p>
            <a:endParaRPr lang="en-US"/>
          </a:p>
        </p:txBody>
      </p:sp>
      <p:sp>
        <p:nvSpPr>
          <p:cNvPr id="9" name="Text 7"/>
          <p:cNvSpPr txBox="1"/>
          <p:nvPr/>
        </p:nvSpPr>
        <p:spPr>
          <a:xfrm>
            <a:off x="6583680" y="1773936"/>
            <a:ext cx="4572000" cy="320040"/>
          </a:xfrm>
          <a:prstGeom prst="rect">
            <a:avLst/>
          </a:prstGeom>
          <a:noFill/>
          <a:ln/>
        </p:spPr>
        <p:txBody>
          <a:bodyPr wrap="square" lIns="0" tIns="0" rIns="0" bIns="0" rtlCol="0" anchor="ctr"/>
          <a:lstStyle/>
          <a:p>
            <a:pPr marL="0" indent="0">
              <a:buNone/>
            </a:pPr>
            <a:r>
              <a:rPr lang="en-US" sz="1800" b="1" dirty="0">
                <a:solidFill>
                  <a:srgbClr val="101822"/>
                </a:solidFill>
                <a:latin typeface="Cambria" pitchFamily="34" charset="0"/>
                <a:ea typeface="Cambria" pitchFamily="34" charset="-122"/>
                <a:cs typeface="Cambria" pitchFamily="34" charset="-120"/>
              </a:rPr>
              <a:t>1831 — the version most people have met</a:t>
            </a:r>
            <a:endParaRPr lang="en-US" sz="1800" dirty="0"/>
          </a:p>
        </p:txBody>
      </p:sp>
      <p:sp>
        <p:nvSpPr>
          <p:cNvPr id="10" name="Text 8"/>
          <p:cNvSpPr txBox="1"/>
          <p:nvPr/>
        </p:nvSpPr>
        <p:spPr>
          <a:xfrm>
            <a:off x="6583680" y="2176272"/>
            <a:ext cx="4617720" cy="1645920"/>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5A6472"/>
                </a:solidFill>
                <a:latin typeface="Calibri" pitchFamily="34" charset="0"/>
                <a:ea typeface="Calibri" pitchFamily="34" charset="-122"/>
                <a:cs typeface="Calibri" pitchFamily="34" charset="-120"/>
              </a:rPr>
              <a:t>Heavily revised by Shelley thirteen years later, after Percy’s death and three of her children’s.</a:t>
            </a:r>
            <a:endParaRPr lang="en-US" sz="1250" dirty="0"/>
          </a:p>
          <a:p>
            <a:pPr marL="342900" indent="-342900">
              <a:lnSpc>
                <a:spcPts val="1600"/>
              </a:lnSpc>
              <a:spcAft>
                <a:spcPts val="600"/>
              </a:spcAft>
              <a:buSzPct val="100000"/>
              <a:buChar char="•"/>
            </a:pPr>
            <a:r>
              <a:rPr lang="en-US" sz="1250" dirty="0">
                <a:solidFill>
                  <a:srgbClr val="5A6472"/>
                </a:solidFill>
                <a:latin typeface="Calibri" pitchFamily="34" charset="0"/>
                <a:ea typeface="Calibri" pitchFamily="34" charset="-122"/>
                <a:cs typeface="Calibri" pitchFamily="34" charset="-120"/>
              </a:rPr>
              <a:t>Elizabeth becomes an unrelated foundling — the family is less implicated.</a:t>
            </a:r>
            <a:endParaRPr lang="en-US" sz="1250" dirty="0"/>
          </a:p>
          <a:p>
            <a:pPr marL="342900" indent="-342900">
              <a:lnSpc>
                <a:spcPts val="1600"/>
              </a:lnSpc>
              <a:spcAft>
                <a:spcPts val="600"/>
              </a:spcAft>
              <a:buSzPct val="100000"/>
              <a:buChar char="•"/>
            </a:pPr>
            <a:r>
              <a:rPr lang="en-US" sz="1250" dirty="0">
                <a:solidFill>
                  <a:srgbClr val="5A6472"/>
                </a:solidFill>
                <a:latin typeface="Calibri" pitchFamily="34" charset="0"/>
                <a:ea typeface="Calibri" pitchFamily="34" charset="-122"/>
                <a:cs typeface="Calibri" pitchFamily="34" charset="-120"/>
              </a:rPr>
              <a:t>Destiny and fate are added throughout, softening Victor’s responsibility.</a:t>
            </a:r>
            <a:endParaRPr lang="en-US" sz="1250" dirty="0"/>
          </a:p>
          <a:p>
            <a:pPr marL="342900" indent="-342900">
              <a:lnSpc>
                <a:spcPts val="1600"/>
              </a:lnSpc>
              <a:spcAft>
                <a:spcPts val="600"/>
              </a:spcAft>
              <a:buSzPct val="100000"/>
              <a:buChar char="•"/>
            </a:pPr>
            <a:r>
              <a:rPr lang="en-US" sz="1250" dirty="0">
                <a:solidFill>
                  <a:srgbClr val="5A6472"/>
                </a:solidFill>
                <a:latin typeface="Calibri" pitchFamily="34" charset="0"/>
                <a:ea typeface="Calibri" pitchFamily="34" charset="-122"/>
                <a:cs typeface="Calibri" pitchFamily="34" charset="-120"/>
              </a:rPr>
              <a:t>Renumbered as chapters 1–24; our Vol I ch. I becomes two chapters.</a:t>
            </a:r>
            <a:endParaRPr lang="en-US" sz="1250" dirty="0"/>
          </a:p>
        </p:txBody>
      </p:sp>
      <p:sp>
        <p:nvSpPr>
          <p:cNvPr id="11" name="Shape 9"/>
          <p:cNvSpPr/>
          <p:nvPr/>
        </p:nvSpPr>
        <p:spPr>
          <a:xfrm>
            <a:off x="640080" y="4069080"/>
            <a:ext cx="10911535" cy="1600200"/>
          </a:xfrm>
          <a:prstGeom prst="roundRect">
            <a:avLst>
              <a:gd name="adj" fmla="val 4571"/>
            </a:avLst>
          </a:prstGeom>
          <a:solidFill>
            <a:srgbClr val="101822"/>
          </a:solidFill>
          <a:ln w="12700">
            <a:solidFill>
              <a:srgbClr val="101822"/>
            </a:solidFill>
            <a:prstDash val="solid"/>
          </a:ln>
        </p:spPr>
        <p:txBody>
          <a:bodyPr/>
          <a:lstStyle/>
          <a:p>
            <a:endParaRPr lang="en-US"/>
          </a:p>
        </p:txBody>
      </p:sp>
      <p:sp>
        <p:nvSpPr>
          <p:cNvPr id="12" name="Text 10"/>
          <p:cNvSpPr txBox="1"/>
          <p:nvPr/>
        </p:nvSpPr>
        <p:spPr>
          <a:xfrm>
            <a:off x="1005840" y="4251960"/>
            <a:ext cx="10424160" cy="274320"/>
          </a:xfrm>
          <a:prstGeom prst="rect">
            <a:avLst/>
          </a:prstGeom>
          <a:noFill/>
          <a:ln/>
        </p:spPr>
        <p:txBody>
          <a:bodyPr wrap="square" lIns="0" tIns="0" rIns="0" bIns="0" rtlCol="0" anchor="ctr"/>
          <a:lstStyle/>
          <a:p>
            <a:pPr marL="0" indent="0">
              <a:buNone/>
            </a:pPr>
            <a:r>
              <a:rPr lang="en-US" sz="1150" b="1" kern="0" spc="140" dirty="0">
                <a:solidFill>
                  <a:srgbClr val="E08A6E"/>
                </a:solidFill>
                <a:latin typeface="Calibri" pitchFamily="34" charset="0"/>
                <a:ea typeface="Calibri" pitchFamily="34" charset="-122"/>
                <a:cs typeface="Calibri" pitchFamily="34" charset="-120"/>
              </a:rPr>
              <a:t>Why the choice of text is itself an argument</a:t>
            </a:r>
            <a:endParaRPr lang="en-US" sz="1150" dirty="0"/>
          </a:p>
        </p:txBody>
      </p:sp>
      <p:sp>
        <p:nvSpPr>
          <p:cNvPr id="13" name="Text 11"/>
          <p:cNvSpPr txBox="1"/>
          <p:nvPr/>
        </p:nvSpPr>
        <p:spPr>
          <a:xfrm>
            <a:off x="1005840" y="4599432"/>
            <a:ext cx="10424160" cy="886968"/>
          </a:xfrm>
          <a:prstGeom prst="rect">
            <a:avLst/>
          </a:prstGeom>
          <a:noFill/>
          <a:ln/>
        </p:spPr>
        <p:txBody>
          <a:bodyPr wrap="square" lIns="0" tIns="0" rIns="0" bIns="0" rtlCol="0" anchor="ctr"/>
          <a:lstStyle/>
          <a:p>
            <a:pPr marL="0" indent="0">
              <a:lnSpc>
                <a:spcPts val="2100"/>
              </a:lnSpc>
              <a:buNone/>
            </a:pPr>
            <a:r>
              <a:rPr lang="en-US" sz="1550" dirty="0">
                <a:solidFill>
                  <a:srgbClr val="EDE5D8"/>
                </a:solidFill>
                <a:latin typeface="Cambria" pitchFamily="34" charset="0"/>
                <a:ea typeface="Cambria" pitchFamily="34" charset="-122"/>
                <a:cs typeface="Cambria" pitchFamily="34" charset="-120"/>
              </a:rPr>
              <a:t>The 1831 Victor is more swept along; the 1818 Victor decides. Since our question is what a maker owes, an edition that spreads the blame onto fate would change the answer. Keep this in mind on Thursday: the 1831 Introduction we will read was written to frame the softened version, not this one.</a:t>
            </a:r>
            <a:endParaRPr lang="en-US" sz="1550" dirty="0"/>
          </a:p>
        </p:txBody>
      </p:sp>
      <p:sp>
        <p:nvSpPr>
          <p:cNvPr id="14" name="Text 12"/>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A6472"/>
                </a:solidFill>
                <a:latin typeface="Calibri" pitchFamily="34" charset="0"/>
                <a:ea typeface="Calibri" pitchFamily="34" charset="-122"/>
                <a:cs typeface="Calibri" pitchFamily="34" charset="-120"/>
              </a:rPr>
              <a:t>If you are reading a different edition, translate: 1818 Vol I ch. IV–V ≈ 1831 ch. 4–5; Vol II ch. I ≈ 1831 ch. 9; Vol III ch. I ≈ 1831 ch. 18.</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A6472"/>
                </a:solidFill>
                <a:latin typeface="Calibri" pitchFamily="34" charset="0"/>
                <a:ea typeface="Calibri" pitchFamily="34" charset="-122"/>
                <a:cs typeface="Calibri" pitchFamily="34" charset="-120"/>
              </a:rPr>
              <a:t>STRUCTURE</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01822"/>
                </a:solidFill>
                <a:latin typeface="Cambria" pitchFamily="34" charset="0"/>
                <a:ea typeface="Cambria" pitchFamily="34" charset="-122"/>
                <a:cs typeface="Cambria" pitchFamily="34" charset="-120"/>
              </a:rPr>
              <a:t>Three narrators, one inside the other</a:t>
            </a:r>
            <a:endParaRPr lang="en-US" sz="3000" dirty="0"/>
          </a:p>
        </p:txBody>
      </p:sp>
      <p:sp>
        <p:nvSpPr>
          <p:cNvPr id="5" name="Shape 3"/>
          <p:cNvSpPr/>
          <p:nvPr/>
        </p:nvSpPr>
        <p:spPr>
          <a:xfrm>
            <a:off x="640080" y="1691640"/>
            <a:ext cx="5852160" cy="3794760"/>
          </a:xfrm>
          <a:prstGeom prst="roundRect">
            <a:avLst>
              <a:gd name="adj" fmla="val 1446"/>
            </a:avLst>
          </a:prstGeom>
          <a:solidFill>
            <a:srgbClr val="101822"/>
          </a:solidFill>
          <a:ln w="19050">
            <a:solidFill>
              <a:srgbClr val="FFFFFF"/>
            </a:solidFill>
            <a:prstDash val="solid"/>
          </a:ln>
        </p:spPr>
        <p:txBody>
          <a:bodyPr/>
          <a:lstStyle/>
          <a:p>
            <a:endParaRPr lang="en-US"/>
          </a:p>
        </p:txBody>
      </p:sp>
      <p:sp>
        <p:nvSpPr>
          <p:cNvPr id="6" name="Text 4"/>
          <p:cNvSpPr txBox="1"/>
          <p:nvPr/>
        </p:nvSpPr>
        <p:spPr>
          <a:xfrm>
            <a:off x="859536" y="1810512"/>
            <a:ext cx="5413248" cy="274320"/>
          </a:xfrm>
          <a:prstGeom prst="rect">
            <a:avLst/>
          </a:prstGeom>
          <a:noFill/>
          <a:ln/>
        </p:spPr>
        <p:txBody>
          <a:bodyPr wrap="square" lIns="0" tIns="0" rIns="0" bIns="0" rtlCol="0" anchor="ctr"/>
          <a:lstStyle/>
          <a:p>
            <a:pPr marL="0" indent="0">
              <a:buNone/>
            </a:pPr>
            <a:r>
              <a:rPr lang="en-US" sz="1500" b="1" dirty="0">
                <a:solidFill>
                  <a:srgbClr val="EDE5D8"/>
                </a:solidFill>
                <a:latin typeface="Cambria" pitchFamily="34" charset="0"/>
                <a:ea typeface="Cambria" pitchFamily="34" charset="-122"/>
                <a:cs typeface="Cambria" pitchFamily="34" charset="-120"/>
              </a:rPr>
              <a:t>Walton</a:t>
            </a:r>
            <a:endParaRPr lang="en-US" sz="1500" dirty="0"/>
          </a:p>
        </p:txBody>
      </p:sp>
      <p:sp>
        <p:nvSpPr>
          <p:cNvPr id="7" name="Text 5"/>
          <p:cNvSpPr txBox="1"/>
          <p:nvPr/>
        </p:nvSpPr>
        <p:spPr>
          <a:xfrm>
            <a:off x="859536" y="2075688"/>
            <a:ext cx="5413248" cy="237744"/>
          </a:xfrm>
          <a:prstGeom prst="rect">
            <a:avLst/>
          </a:prstGeom>
          <a:noFill/>
          <a:ln/>
        </p:spPr>
        <p:txBody>
          <a:bodyPr wrap="square" lIns="0" tIns="0" rIns="0" bIns="0" rtlCol="0" anchor="ctr"/>
          <a:lstStyle/>
          <a:p>
            <a:pPr marL="0" indent="0">
              <a:buNone/>
            </a:pPr>
            <a:r>
              <a:rPr lang="en-US" sz="1050" dirty="0">
                <a:solidFill>
                  <a:srgbClr val="EDE5D8"/>
                </a:solidFill>
                <a:latin typeface="Calibri" pitchFamily="34" charset="0"/>
                <a:ea typeface="Calibri" pitchFamily="34" charset="-122"/>
                <a:cs typeface="Calibri" pitchFamily="34" charset="-120"/>
              </a:rPr>
              <a:t>Letters and “in continuation”</a:t>
            </a:r>
            <a:endParaRPr lang="en-US" sz="1050" dirty="0"/>
          </a:p>
        </p:txBody>
      </p:sp>
      <p:sp>
        <p:nvSpPr>
          <p:cNvPr id="8" name="Shape 6"/>
          <p:cNvSpPr/>
          <p:nvPr/>
        </p:nvSpPr>
        <p:spPr>
          <a:xfrm>
            <a:off x="1097280" y="2377440"/>
            <a:ext cx="4937760" cy="2971800"/>
          </a:xfrm>
          <a:prstGeom prst="roundRect">
            <a:avLst>
              <a:gd name="adj" fmla="val 1846"/>
            </a:avLst>
          </a:prstGeom>
          <a:solidFill>
            <a:srgbClr val="35708C"/>
          </a:solidFill>
          <a:ln w="19050">
            <a:solidFill>
              <a:srgbClr val="FFFFFF"/>
            </a:solidFill>
            <a:prstDash val="solid"/>
          </a:ln>
        </p:spPr>
        <p:txBody>
          <a:bodyPr/>
          <a:lstStyle/>
          <a:p>
            <a:endParaRPr lang="en-US"/>
          </a:p>
        </p:txBody>
      </p:sp>
      <p:sp>
        <p:nvSpPr>
          <p:cNvPr id="9" name="Text 7"/>
          <p:cNvSpPr txBox="1"/>
          <p:nvPr/>
        </p:nvSpPr>
        <p:spPr>
          <a:xfrm>
            <a:off x="1316736" y="2496312"/>
            <a:ext cx="4498848" cy="2743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Victor</a:t>
            </a:r>
            <a:endParaRPr lang="en-US" sz="1500" dirty="0"/>
          </a:p>
        </p:txBody>
      </p:sp>
      <p:sp>
        <p:nvSpPr>
          <p:cNvPr id="10" name="Text 8"/>
          <p:cNvSpPr txBox="1"/>
          <p:nvPr/>
        </p:nvSpPr>
        <p:spPr>
          <a:xfrm>
            <a:off x="1316736" y="2761488"/>
            <a:ext cx="4498848" cy="237744"/>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Vol I – Vol III</a:t>
            </a:r>
            <a:endParaRPr lang="en-US" sz="1050" dirty="0"/>
          </a:p>
        </p:txBody>
      </p:sp>
      <p:sp>
        <p:nvSpPr>
          <p:cNvPr id="11" name="Shape 9"/>
          <p:cNvSpPr/>
          <p:nvPr/>
        </p:nvSpPr>
        <p:spPr>
          <a:xfrm>
            <a:off x="1554480" y="3063240"/>
            <a:ext cx="4023360" cy="2148840"/>
          </a:xfrm>
          <a:prstGeom prst="roundRect">
            <a:avLst>
              <a:gd name="adj" fmla="val 2553"/>
            </a:avLst>
          </a:prstGeom>
          <a:solidFill>
            <a:srgbClr val="C05A3E"/>
          </a:solidFill>
          <a:ln w="19050">
            <a:solidFill>
              <a:srgbClr val="FFFFFF"/>
            </a:solidFill>
            <a:prstDash val="solid"/>
          </a:ln>
        </p:spPr>
        <p:txBody>
          <a:bodyPr/>
          <a:lstStyle/>
          <a:p>
            <a:endParaRPr lang="en-US"/>
          </a:p>
        </p:txBody>
      </p:sp>
      <p:sp>
        <p:nvSpPr>
          <p:cNvPr id="12" name="Text 10"/>
          <p:cNvSpPr txBox="1"/>
          <p:nvPr/>
        </p:nvSpPr>
        <p:spPr>
          <a:xfrm>
            <a:off x="1773936" y="3182112"/>
            <a:ext cx="3584448" cy="2743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creature</a:t>
            </a:r>
            <a:endParaRPr lang="en-US" sz="1500" dirty="0"/>
          </a:p>
        </p:txBody>
      </p:sp>
      <p:sp>
        <p:nvSpPr>
          <p:cNvPr id="13" name="Text 11"/>
          <p:cNvSpPr txBox="1"/>
          <p:nvPr/>
        </p:nvSpPr>
        <p:spPr>
          <a:xfrm>
            <a:off x="1773936" y="3447288"/>
            <a:ext cx="3584448" cy="237744"/>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Vol II, ch. III–IX</a:t>
            </a:r>
            <a:endParaRPr lang="en-US" sz="1050" dirty="0"/>
          </a:p>
        </p:txBody>
      </p:sp>
      <p:sp>
        <p:nvSpPr>
          <p:cNvPr id="14" name="Shape 12"/>
          <p:cNvSpPr/>
          <p:nvPr/>
        </p:nvSpPr>
        <p:spPr>
          <a:xfrm>
            <a:off x="2011680" y="3749040"/>
            <a:ext cx="3108960" cy="1325880"/>
          </a:xfrm>
          <a:prstGeom prst="roundRect">
            <a:avLst>
              <a:gd name="adj" fmla="val 4138"/>
            </a:avLst>
          </a:prstGeom>
          <a:solidFill>
            <a:srgbClr val="A8763E"/>
          </a:solidFill>
          <a:ln w="19050">
            <a:solidFill>
              <a:srgbClr val="FFFFFF"/>
            </a:solidFill>
            <a:prstDash val="solid"/>
          </a:ln>
        </p:spPr>
        <p:txBody>
          <a:bodyPr/>
          <a:lstStyle/>
          <a:p>
            <a:endParaRPr lang="en-US"/>
          </a:p>
        </p:txBody>
      </p:sp>
      <p:sp>
        <p:nvSpPr>
          <p:cNvPr id="15" name="Text 13"/>
          <p:cNvSpPr txBox="1"/>
          <p:nvPr/>
        </p:nvSpPr>
        <p:spPr>
          <a:xfrm>
            <a:off x="2231136" y="3867912"/>
            <a:ext cx="2670048" cy="2743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Safie’s story</a:t>
            </a:r>
            <a:endParaRPr lang="en-US" sz="1500" dirty="0"/>
          </a:p>
        </p:txBody>
      </p:sp>
      <p:sp>
        <p:nvSpPr>
          <p:cNvPr id="16" name="Text 14"/>
          <p:cNvSpPr txBox="1"/>
          <p:nvPr/>
        </p:nvSpPr>
        <p:spPr>
          <a:xfrm>
            <a:off x="2231136" y="4133088"/>
            <a:ext cx="2670048" cy="237744"/>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Vol II, ch. VI</a:t>
            </a:r>
            <a:endParaRPr lang="en-US" sz="1050" dirty="0"/>
          </a:p>
        </p:txBody>
      </p:sp>
      <p:sp>
        <p:nvSpPr>
          <p:cNvPr id="17" name="Shape 15"/>
          <p:cNvSpPr/>
          <p:nvPr/>
        </p:nvSpPr>
        <p:spPr>
          <a:xfrm>
            <a:off x="6812280" y="1691640"/>
            <a:ext cx="4709160" cy="1188720"/>
          </a:xfrm>
          <a:prstGeom prst="roundRect">
            <a:avLst>
              <a:gd name="adj" fmla="val 6154"/>
            </a:avLst>
          </a:prstGeom>
          <a:solidFill>
            <a:srgbClr val="F3EEE5"/>
          </a:solidFill>
          <a:ln w="12700">
            <a:solidFill>
              <a:srgbClr val="F3EEE5"/>
            </a:solidFill>
            <a:prstDash val="solid"/>
          </a:ln>
        </p:spPr>
        <p:txBody>
          <a:bodyPr/>
          <a:lstStyle/>
          <a:p>
            <a:endParaRPr lang="en-US"/>
          </a:p>
        </p:txBody>
      </p:sp>
      <p:sp>
        <p:nvSpPr>
          <p:cNvPr id="18" name="Text 16"/>
          <p:cNvSpPr txBox="1"/>
          <p:nvPr/>
        </p:nvSpPr>
        <p:spPr>
          <a:xfrm>
            <a:off x="7086600" y="1837944"/>
            <a:ext cx="4160520" cy="310896"/>
          </a:xfrm>
          <a:prstGeom prst="rect">
            <a:avLst/>
          </a:prstGeom>
          <a:noFill/>
          <a:ln/>
        </p:spPr>
        <p:txBody>
          <a:bodyPr wrap="square" lIns="0" tIns="0" rIns="0" bIns="0" rtlCol="0" anchor="ctr"/>
          <a:lstStyle/>
          <a:p>
            <a:pPr marL="0" indent="0">
              <a:buNone/>
            </a:pPr>
            <a:r>
              <a:rPr lang="en-US" sz="1450" b="1" dirty="0">
                <a:solidFill>
                  <a:srgbClr val="101822"/>
                </a:solidFill>
                <a:latin typeface="Cambria" pitchFamily="34" charset="0"/>
                <a:ea typeface="Cambria" pitchFamily="34" charset="-122"/>
                <a:cs typeface="Cambria" pitchFamily="34" charset="-120"/>
              </a:rPr>
              <a:t>Everything is hearsay</a:t>
            </a:r>
            <a:endParaRPr lang="en-US" sz="1450" dirty="0"/>
          </a:p>
        </p:txBody>
      </p:sp>
      <p:sp>
        <p:nvSpPr>
          <p:cNvPr id="19" name="Text 17"/>
          <p:cNvSpPr txBox="1"/>
          <p:nvPr/>
        </p:nvSpPr>
        <p:spPr>
          <a:xfrm>
            <a:off x="7086600" y="2167128"/>
            <a:ext cx="4160520" cy="621792"/>
          </a:xfrm>
          <a:prstGeom prst="rect">
            <a:avLst/>
          </a:prstGeom>
          <a:noFill/>
          <a:ln/>
        </p:spPr>
        <p:txBody>
          <a:bodyPr wrap="square" lIns="0" tIns="0" rIns="0" bIns="0" rtlCol="0" anchor="ctr"/>
          <a:lstStyle/>
          <a:p>
            <a:pPr marL="0" indent="0">
              <a:lnSpc>
                <a:spcPts val="1500"/>
              </a:lnSpc>
              <a:buNone/>
            </a:pPr>
            <a:r>
              <a:rPr lang="en-US" sz="1150" dirty="0">
                <a:solidFill>
                  <a:srgbClr val="5A6472"/>
                </a:solidFill>
                <a:latin typeface="Calibri" pitchFamily="34" charset="0"/>
                <a:ea typeface="Calibri" pitchFamily="34" charset="-122"/>
                <a:cs typeface="Calibri" pitchFamily="34" charset="-120"/>
              </a:rPr>
              <a:t>Walton writes to his sister in England. Victor tells Walton. The creature tells Victor. Safie’s history reaches us fourth-hand. No voice in this book is unmediated.</a:t>
            </a:r>
            <a:endParaRPr lang="en-US" sz="1150" dirty="0"/>
          </a:p>
        </p:txBody>
      </p:sp>
      <p:sp>
        <p:nvSpPr>
          <p:cNvPr id="20" name="Shape 18"/>
          <p:cNvSpPr/>
          <p:nvPr/>
        </p:nvSpPr>
        <p:spPr>
          <a:xfrm>
            <a:off x="6812280" y="2999232"/>
            <a:ext cx="4709160" cy="1188720"/>
          </a:xfrm>
          <a:prstGeom prst="roundRect">
            <a:avLst>
              <a:gd name="adj" fmla="val 6154"/>
            </a:avLst>
          </a:prstGeom>
          <a:solidFill>
            <a:srgbClr val="E6EEF3"/>
          </a:solidFill>
          <a:ln w="12700">
            <a:solidFill>
              <a:srgbClr val="E6EEF3"/>
            </a:solidFill>
            <a:prstDash val="solid"/>
          </a:ln>
        </p:spPr>
        <p:txBody>
          <a:bodyPr/>
          <a:lstStyle/>
          <a:p>
            <a:endParaRPr lang="en-US"/>
          </a:p>
        </p:txBody>
      </p:sp>
      <p:sp>
        <p:nvSpPr>
          <p:cNvPr id="21" name="Text 19"/>
          <p:cNvSpPr txBox="1"/>
          <p:nvPr/>
        </p:nvSpPr>
        <p:spPr>
          <a:xfrm>
            <a:off x="7086600" y="3145536"/>
            <a:ext cx="4160520" cy="310896"/>
          </a:xfrm>
          <a:prstGeom prst="rect">
            <a:avLst/>
          </a:prstGeom>
          <a:noFill/>
          <a:ln/>
        </p:spPr>
        <p:txBody>
          <a:bodyPr wrap="square" lIns="0" tIns="0" rIns="0" bIns="0" rtlCol="0" anchor="ctr"/>
          <a:lstStyle/>
          <a:p>
            <a:pPr marL="0" indent="0">
              <a:buNone/>
            </a:pPr>
            <a:r>
              <a:rPr lang="en-US" sz="1450" b="1" dirty="0">
                <a:solidFill>
                  <a:srgbClr val="101822"/>
                </a:solidFill>
                <a:latin typeface="Cambria" pitchFamily="34" charset="0"/>
                <a:ea typeface="Cambria" pitchFamily="34" charset="-122"/>
                <a:cs typeface="Cambria" pitchFamily="34" charset="-120"/>
              </a:rPr>
              <a:t>The creature never speaks to us directly</a:t>
            </a:r>
            <a:endParaRPr lang="en-US" sz="1450" dirty="0"/>
          </a:p>
        </p:txBody>
      </p:sp>
      <p:sp>
        <p:nvSpPr>
          <p:cNvPr id="22" name="Text 20"/>
          <p:cNvSpPr txBox="1"/>
          <p:nvPr/>
        </p:nvSpPr>
        <p:spPr>
          <a:xfrm>
            <a:off x="7086600" y="3474720"/>
            <a:ext cx="4160520" cy="621792"/>
          </a:xfrm>
          <a:prstGeom prst="rect">
            <a:avLst/>
          </a:prstGeom>
          <a:noFill/>
          <a:ln/>
        </p:spPr>
        <p:txBody>
          <a:bodyPr wrap="square" lIns="0" tIns="0" rIns="0" bIns="0" rtlCol="0" anchor="ctr"/>
          <a:lstStyle/>
          <a:p>
            <a:pPr marL="0" indent="0">
              <a:lnSpc>
                <a:spcPts val="1500"/>
              </a:lnSpc>
              <a:buNone/>
            </a:pPr>
            <a:r>
              <a:rPr lang="en-US" sz="1150" dirty="0">
                <a:solidFill>
                  <a:srgbClr val="5A6472"/>
                </a:solidFill>
                <a:latin typeface="Calibri" pitchFamily="34" charset="0"/>
                <a:ea typeface="Calibri" pitchFamily="34" charset="-122"/>
                <a:cs typeface="Calibri" pitchFamily="34" charset="-120"/>
              </a:rPr>
              <a:t>His entire self-account is quoted by the man who abandoned him, to a stranger, months later, while dying. Everything he says has passed through Victor.</a:t>
            </a:r>
            <a:endParaRPr lang="en-US" sz="1150" dirty="0"/>
          </a:p>
        </p:txBody>
      </p:sp>
      <p:sp>
        <p:nvSpPr>
          <p:cNvPr id="23" name="Shape 21"/>
          <p:cNvSpPr/>
          <p:nvPr/>
        </p:nvSpPr>
        <p:spPr>
          <a:xfrm>
            <a:off x="6812280" y="4306824"/>
            <a:ext cx="4709160" cy="1188720"/>
          </a:xfrm>
          <a:prstGeom prst="roundRect">
            <a:avLst>
              <a:gd name="adj" fmla="val 6154"/>
            </a:avLst>
          </a:prstGeom>
          <a:solidFill>
            <a:srgbClr val="F3EEE5"/>
          </a:solidFill>
          <a:ln w="12700">
            <a:solidFill>
              <a:srgbClr val="F3EEE5"/>
            </a:solidFill>
            <a:prstDash val="solid"/>
          </a:ln>
        </p:spPr>
        <p:txBody>
          <a:bodyPr/>
          <a:lstStyle/>
          <a:p>
            <a:endParaRPr lang="en-US"/>
          </a:p>
        </p:txBody>
      </p:sp>
      <p:sp>
        <p:nvSpPr>
          <p:cNvPr id="24" name="Text 22"/>
          <p:cNvSpPr txBox="1"/>
          <p:nvPr/>
        </p:nvSpPr>
        <p:spPr>
          <a:xfrm>
            <a:off x="7086600" y="4453128"/>
            <a:ext cx="4160520" cy="310896"/>
          </a:xfrm>
          <a:prstGeom prst="rect">
            <a:avLst/>
          </a:prstGeom>
          <a:noFill/>
          <a:ln/>
        </p:spPr>
        <p:txBody>
          <a:bodyPr wrap="square" lIns="0" tIns="0" rIns="0" bIns="0" rtlCol="0" anchor="ctr"/>
          <a:lstStyle/>
          <a:p>
            <a:pPr marL="0" indent="0">
              <a:buNone/>
            </a:pPr>
            <a:r>
              <a:rPr lang="en-US" sz="1450" b="1" dirty="0">
                <a:solidFill>
                  <a:srgbClr val="101822"/>
                </a:solidFill>
                <a:latin typeface="Cambria" pitchFamily="34" charset="0"/>
                <a:ea typeface="Cambria" pitchFamily="34" charset="-122"/>
                <a:cs typeface="Cambria" pitchFamily="34" charset="-120"/>
              </a:rPr>
              <a:t>And yet it survives the transmission</a:t>
            </a:r>
            <a:endParaRPr lang="en-US" sz="1450" dirty="0"/>
          </a:p>
        </p:txBody>
      </p:sp>
      <p:sp>
        <p:nvSpPr>
          <p:cNvPr id="25" name="Text 23"/>
          <p:cNvSpPr txBox="1"/>
          <p:nvPr/>
        </p:nvSpPr>
        <p:spPr>
          <a:xfrm>
            <a:off x="7086600" y="4782312"/>
            <a:ext cx="4160520" cy="621792"/>
          </a:xfrm>
          <a:prstGeom prst="rect">
            <a:avLst/>
          </a:prstGeom>
          <a:noFill/>
          <a:ln/>
        </p:spPr>
        <p:txBody>
          <a:bodyPr wrap="square" lIns="0" tIns="0" rIns="0" bIns="0" rtlCol="0" anchor="ctr"/>
          <a:lstStyle/>
          <a:p>
            <a:pPr marL="0" indent="0">
              <a:lnSpc>
                <a:spcPts val="1500"/>
              </a:lnSpc>
              <a:buNone/>
            </a:pPr>
            <a:r>
              <a:rPr lang="en-US" sz="1150" dirty="0">
                <a:solidFill>
                  <a:srgbClr val="5A6472"/>
                </a:solidFill>
                <a:latin typeface="Calibri" pitchFamily="34" charset="0"/>
                <a:ea typeface="Calibri" pitchFamily="34" charset="-122"/>
                <a:cs typeface="Calibri" pitchFamily="34" charset="-120"/>
              </a:rPr>
              <a:t>The remarkable fact is how sympathetic the creature remains despite a hostile narrator. Ask what that tells us about Shelley’s control of the frame.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A6472"/>
                </a:solidFill>
                <a:latin typeface="Calibri" pitchFamily="34" charset="0"/>
                <a:ea typeface="Calibri" pitchFamily="34" charset="-122"/>
                <a:cs typeface="Calibri" pitchFamily="34" charset="-120"/>
              </a:rPr>
              <a:t>VOLUME I AT A GLANCE</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01822"/>
                </a:solidFill>
                <a:latin typeface="Cambria" pitchFamily="34" charset="0"/>
                <a:ea typeface="Cambria" pitchFamily="34" charset="-122"/>
                <a:cs typeface="Cambria" pitchFamily="34" charset="-120"/>
              </a:rPr>
              <a:t>What actually happens, and how little of it is the making</a:t>
            </a:r>
            <a:endParaRPr lang="en-US" sz="3000" dirty="0"/>
          </a:p>
        </p:txBody>
      </p:sp>
      <p:sp>
        <p:nvSpPr>
          <p:cNvPr id="5" name="Shape 3"/>
          <p:cNvSpPr/>
          <p:nvPr/>
        </p:nvSpPr>
        <p:spPr>
          <a:xfrm>
            <a:off x="640080" y="1536192"/>
            <a:ext cx="10911535" cy="859536"/>
          </a:xfrm>
          <a:prstGeom prst="roundRect">
            <a:avLst>
              <a:gd name="adj" fmla="val 8511"/>
            </a:avLst>
          </a:prstGeom>
          <a:solidFill>
            <a:srgbClr val="F3EEE5"/>
          </a:solidFill>
          <a:ln w="12700">
            <a:solidFill>
              <a:srgbClr val="F3EEE5"/>
            </a:solidFill>
            <a:prstDash val="solid"/>
          </a:ln>
        </p:spPr>
        <p:txBody>
          <a:bodyPr/>
          <a:lstStyle/>
          <a:p>
            <a:endParaRPr lang="en-US"/>
          </a:p>
        </p:txBody>
      </p:sp>
      <p:sp>
        <p:nvSpPr>
          <p:cNvPr id="6" name="Text 4"/>
          <p:cNvSpPr txBox="1"/>
          <p:nvPr/>
        </p:nvSpPr>
        <p:spPr>
          <a:xfrm>
            <a:off x="914400" y="1536192"/>
            <a:ext cx="868680" cy="859536"/>
          </a:xfrm>
          <a:prstGeom prst="rect">
            <a:avLst/>
          </a:prstGeom>
          <a:noFill/>
          <a:ln/>
        </p:spPr>
        <p:txBody>
          <a:bodyPr wrap="square" lIns="0" tIns="0" rIns="0" bIns="0" rtlCol="0" anchor="ctr"/>
          <a:lstStyle/>
          <a:p>
            <a:pPr marL="0" indent="0">
              <a:buNone/>
            </a:pPr>
            <a:r>
              <a:rPr lang="en-US" sz="1400" b="1" dirty="0">
                <a:solidFill>
                  <a:srgbClr val="35708C"/>
                </a:solidFill>
                <a:latin typeface="Cambria" pitchFamily="34" charset="0"/>
                <a:ea typeface="Cambria" pitchFamily="34" charset="-122"/>
                <a:cs typeface="Cambria" pitchFamily="34" charset="-120"/>
              </a:rPr>
              <a:t>ch. I–II</a:t>
            </a:r>
            <a:endParaRPr lang="en-US" sz="1400" dirty="0"/>
          </a:p>
        </p:txBody>
      </p:sp>
      <p:sp>
        <p:nvSpPr>
          <p:cNvPr id="7" name="Text 5"/>
          <p:cNvSpPr txBox="1"/>
          <p:nvPr/>
        </p:nvSpPr>
        <p:spPr>
          <a:xfrm>
            <a:off x="1920240" y="1536192"/>
            <a:ext cx="2834640" cy="859536"/>
          </a:xfrm>
          <a:prstGeom prst="rect">
            <a:avLst/>
          </a:prstGeom>
          <a:noFill/>
          <a:ln/>
        </p:spPr>
        <p:txBody>
          <a:bodyPr wrap="square" lIns="0" tIns="0" rIns="0" bIns="0" rtlCol="0" anchor="ctr"/>
          <a:lstStyle/>
          <a:p>
            <a:pPr marL="0" indent="0">
              <a:buNone/>
            </a:pPr>
            <a:r>
              <a:rPr lang="en-US" sz="1500" b="1" dirty="0">
                <a:solidFill>
                  <a:srgbClr val="101822"/>
                </a:solidFill>
                <a:latin typeface="Cambria" pitchFamily="34" charset="0"/>
                <a:ea typeface="Cambria" pitchFamily="34" charset="-122"/>
                <a:cs typeface="Cambria" pitchFamily="34" charset="-120"/>
              </a:rPr>
              <a:t>Family, and a boy’s reading</a:t>
            </a:r>
            <a:endParaRPr lang="en-US" sz="1500" dirty="0"/>
          </a:p>
        </p:txBody>
      </p:sp>
      <p:sp>
        <p:nvSpPr>
          <p:cNvPr id="8" name="Text 6"/>
          <p:cNvSpPr txBox="1"/>
          <p:nvPr/>
        </p:nvSpPr>
        <p:spPr>
          <a:xfrm>
            <a:off x="4892040" y="1536192"/>
            <a:ext cx="6309360" cy="859536"/>
          </a:xfrm>
          <a:prstGeom prst="rect">
            <a:avLst/>
          </a:prstGeom>
          <a:noFill/>
          <a:ln/>
        </p:spPr>
        <p:txBody>
          <a:bodyPr wrap="square" lIns="0" tIns="0" rIns="0" bIns="0" rtlCol="0" anchor="ctr"/>
          <a:lstStyle/>
          <a:p>
            <a:pPr marL="0" indent="0">
              <a:lnSpc>
                <a:spcPts val="1600"/>
              </a:lnSpc>
              <a:buNone/>
            </a:pPr>
            <a:r>
              <a:rPr lang="en-US" sz="1250" dirty="0">
                <a:solidFill>
                  <a:srgbClr val="5A6472"/>
                </a:solidFill>
                <a:latin typeface="Calibri" pitchFamily="34" charset="0"/>
                <a:ea typeface="Calibri" pitchFamily="34" charset="-122"/>
                <a:cs typeface="Calibri" pitchFamily="34" charset="-120"/>
              </a:rPr>
              <a:t>Geneva; Elizabeth; Clerval. Victor discovers Agrippa, Paracelsus, Albertus Magnus, and is mocked for it.</a:t>
            </a:r>
            <a:endParaRPr lang="en-US" sz="1250" dirty="0"/>
          </a:p>
        </p:txBody>
      </p:sp>
      <p:sp>
        <p:nvSpPr>
          <p:cNvPr id="9" name="Shape 7"/>
          <p:cNvSpPr/>
          <p:nvPr/>
        </p:nvSpPr>
        <p:spPr>
          <a:xfrm>
            <a:off x="640080" y="2478024"/>
            <a:ext cx="10911535" cy="859536"/>
          </a:xfrm>
          <a:prstGeom prst="roundRect">
            <a:avLst>
              <a:gd name="adj" fmla="val 8511"/>
            </a:avLst>
          </a:prstGeom>
          <a:solidFill>
            <a:srgbClr val="E6EEF3"/>
          </a:solidFill>
          <a:ln w="12700">
            <a:solidFill>
              <a:srgbClr val="E6EEF3"/>
            </a:solidFill>
            <a:prstDash val="solid"/>
          </a:ln>
        </p:spPr>
        <p:txBody>
          <a:bodyPr/>
          <a:lstStyle/>
          <a:p>
            <a:endParaRPr lang="en-US"/>
          </a:p>
        </p:txBody>
      </p:sp>
      <p:sp>
        <p:nvSpPr>
          <p:cNvPr id="10" name="Text 8"/>
          <p:cNvSpPr txBox="1"/>
          <p:nvPr/>
        </p:nvSpPr>
        <p:spPr>
          <a:xfrm>
            <a:off x="914400" y="2478024"/>
            <a:ext cx="868680" cy="859536"/>
          </a:xfrm>
          <a:prstGeom prst="rect">
            <a:avLst/>
          </a:prstGeom>
          <a:noFill/>
          <a:ln/>
        </p:spPr>
        <p:txBody>
          <a:bodyPr wrap="square" lIns="0" tIns="0" rIns="0" bIns="0" rtlCol="0" anchor="ctr"/>
          <a:lstStyle/>
          <a:p>
            <a:pPr marL="0" indent="0">
              <a:buNone/>
            </a:pPr>
            <a:r>
              <a:rPr lang="en-US" sz="1400" b="1" dirty="0">
                <a:solidFill>
                  <a:srgbClr val="35708C"/>
                </a:solidFill>
                <a:latin typeface="Cambria" pitchFamily="34" charset="0"/>
                <a:ea typeface="Cambria" pitchFamily="34" charset="-122"/>
                <a:cs typeface="Cambria" pitchFamily="34" charset="-120"/>
              </a:rPr>
              <a:t>ch. III</a:t>
            </a:r>
            <a:endParaRPr lang="en-US" sz="1400" dirty="0"/>
          </a:p>
        </p:txBody>
      </p:sp>
      <p:sp>
        <p:nvSpPr>
          <p:cNvPr id="11" name="Text 9"/>
          <p:cNvSpPr txBox="1"/>
          <p:nvPr/>
        </p:nvSpPr>
        <p:spPr>
          <a:xfrm>
            <a:off x="1920240" y="2478024"/>
            <a:ext cx="2834640" cy="859536"/>
          </a:xfrm>
          <a:prstGeom prst="rect">
            <a:avLst/>
          </a:prstGeom>
          <a:noFill/>
          <a:ln/>
        </p:spPr>
        <p:txBody>
          <a:bodyPr wrap="square" lIns="0" tIns="0" rIns="0" bIns="0" rtlCol="0" anchor="ctr"/>
          <a:lstStyle/>
          <a:p>
            <a:pPr marL="0" indent="0">
              <a:buNone/>
            </a:pPr>
            <a:r>
              <a:rPr lang="en-US" sz="1500" b="1" dirty="0">
                <a:solidFill>
                  <a:srgbClr val="101822"/>
                </a:solidFill>
                <a:latin typeface="Cambria" pitchFamily="34" charset="0"/>
                <a:ea typeface="Cambria" pitchFamily="34" charset="-122"/>
                <a:cs typeface="Cambria" pitchFamily="34" charset="-120"/>
              </a:rPr>
              <a:t>Ingolstadt</a:t>
            </a:r>
            <a:endParaRPr lang="en-US" sz="1500" dirty="0"/>
          </a:p>
        </p:txBody>
      </p:sp>
      <p:sp>
        <p:nvSpPr>
          <p:cNvPr id="12" name="Text 10"/>
          <p:cNvSpPr txBox="1"/>
          <p:nvPr/>
        </p:nvSpPr>
        <p:spPr>
          <a:xfrm>
            <a:off x="4892040" y="2478024"/>
            <a:ext cx="6309360" cy="859536"/>
          </a:xfrm>
          <a:prstGeom prst="rect">
            <a:avLst/>
          </a:prstGeom>
          <a:noFill/>
          <a:ln/>
        </p:spPr>
        <p:txBody>
          <a:bodyPr wrap="square" lIns="0" tIns="0" rIns="0" bIns="0" rtlCol="0" anchor="ctr"/>
          <a:lstStyle/>
          <a:p>
            <a:pPr marL="0" indent="0">
              <a:lnSpc>
                <a:spcPts val="1600"/>
              </a:lnSpc>
              <a:buNone/>
            </a:pPr>
            <a:r>
              <a:rPr lang="en-US" sz="1250" dirty="0">
                <a:solidFill>
                  <a:srgbClr val="5A6472"/>
                </a:solidFill>
                <a:latin typeface="Calibri" pitchFamily="34" charset="0"/>
                <a:ea typeface="Calibri" pitchFamily="34" charset="-122"/>
                <a:cs typeface="Calibri" pitchFamily="34" charset="-120"/>
              </a:rPr>
              <a:t>Krempe humiliates the old learning; Waldman redeems modern chemistry. Victor is set alight by a lecture.</a:t>
            </a:r>
            <a:endParaRPr lang="en-US" sz="1250" dirty="0"/>
          </a:p>
        </p:txBody>
      </p:sp>
      <p:sp>
        <p:nvSpPr>
          <p:cNvPr id="13" name="Shape 11"/>
          <p:cNvSpPr/>
          <p:nvPr/>
        </p:nvSpPr>
        <p:spPr>
          <a:xfrm>
            <a:off x="640080" y="3419856"/>
            <a:ext cx="10911535" cy="859536"/>
          </a:xfrm>
          <a:prstGeom prst="roundRect">
            <a:avLst>
              <a:gd name="adj" fmla="val 8511"/>
            </a:avLst>
          </a:prstGeom>
          <a:solidFill>
            <a:srgbClr val="F3EEE5"/>
          </a:solidFill>
          <a:ln w="12700">
            <a:solidFill>
              <a:srgbClr val="F3EEE5"/>
            </a:solidFill>
            <a:prstDash val="solid"/>
          </a:ln>
        </p:spPr>
        <p:txBody>
          <a:bodyPr/>
          <a:lstStyle/>
          <a:p>
            <a:endParaRPr lang="en-US"/>
          </a:p>
        </p:txBody>
      </p:sp>
      <p:sp>
        <p:nvSpPr>
          <p:cNvPr id="14" name="Text 12"/>
          <p:cNvSpPr txBox="1"/>
          <p:nvPr/>
        </p:nvSpPr>
        <p:spPr>
          <a:xfrm>
            <a:off x="914400" y="3419856"/>
            <a:ext cx="868680" cy="859536"/>
          </a:xfrm>
          <a:prstGeom prst="rect">
            <a:avLst/>
          </a:prstGeom>
          <a:noFill/>
          <a:ln/>
        </p:spPr>
        <p:txBody>
          <a:bodyPr wrap="square" lIns="0" tIns="0" rIns="0" bIns="0" rtlCol="0" anchor="ctr"/>
          <a:lstStyle/>
          <a:p>
            <a:pPr marL="0" indent="0">
              <a:buNone/>
            </a:pPr>
            <a:r>
              <a:rPr lang="en-US" sz="1400" b="1" dirty="0">
                <a:solidFill>
                  <a:srgbClr val="35708C"/>
                </a:solidFill>
                <a:latin typeface="Cambria" pitchFamily="34" charset="0"/>
                <a:ea typeface="Cambria" pitchFamily="34" charset="-122"/>
                <a:cs typeface="Cambria" pitchFamily="34" charset="-120"/>
              </a:rPr>
              <a:t>ch. IV</a:t>
            </a:r>
            <a:endParaRPr lang="en-US" sz="1400" dirty="0"/>
          </a:p>
        </p:txBody>
      </p:sp>
      <p:sp>
        <p:nvSpPr>
          <p:cNvPr id="15" name="Text 13"/>
          <p:cNvSpPr txBox="1"/>
          <p:nvPr/>
        </p:nvSpPr>
        <p:spPr>
          <a:xfrm>
            <a:off x="1920240" y="3419856"/>
            <a:ext cx="2834640" cy="859536"/>
          </a:xfrm>
          <a:prstGeom prst="rect">
            <a:avLst/>
          </a:prstGeom>
          <a:noFill/>
          <a:ln/>
        </p:spPr>
        <p:txBody>
          <a:bodyPr wrap="square" lIns="0" tIns="0" rIns="0" bIns="0" rtlCol="0" anchor="ctr"/>
          <a:lstStyle/>
          <a:p>
            <a:pPr marL="0" indent="0">
              <a:buNone/>
            </a:pPr>
            <a:r>
              <a:rPr lang="en-US" sz="1500" b="1" dirty="0">
                <a:solidFill>
                  <a:srgbClr val="101822"/>
                </a:solidFill>
                <a:latin typeface="Cambria" pitchFamily="34" charset="0"/>
                <a:ea typeface="Cambria" pitchFamily="34" charset="-122"/>
                <a:cs typeface="Cambria" pitchFamily="34" charset="-120"/>
              </a:rPr>
              <a:t>Two years in the charnel houses</a:t>
            </a:r>
            <a:endParaRPr lang="en-US" sz="1500" dirty="0"/>
          </a:p>
        </p:txBody>
      </p:sp>
      <p:sp>
        <p:nvSpPr>
          <p:cNvPr id="16" name="Text 14"/>
          <p:cNvSpPr txBox="1"/>
          <p:nvPr/>
        </p:nvSpPr>
        <p:spPr>
          <a:xfrm>
            <a:off x="4892040" y="3419856"/>
            <a:ext cx="6309360" cy="859536"/>
          </a:xfrm>
          <a:prstGeom prst="rect">
            <a:avLst/>
          </a:prstGeom>
          <a:noFill/>
          <a:ln/>
        </p:spPr>
        <p:txBody>
          <a:bodyPr wrap="square" lIns="0" tIns="0" rIns="0" bIns="0" rtlCol="0" anchor="ctr"/>
          <a:lstStyle/>
          <a:p>
            <a:pPr marL="0" indent="0">
              <a:lnSpc>
                <a:spcPts val="1600"/>
              </a:lnSpc>
              <a:buNone/>
            </a:pPr>
            <a:r>
              <a:rPr lang="en-US" sz="1250" dirty="0">
                <a:solidFill>
                  <a:srgbClr val="5A6472"/>
                </a:solidFill>
                <a:latin typeface="Calibri" pitchFamily="34" charset="0"/>
                <a:ea typeface="Calibri" pitchFamily="34" charset="-122"/>
                <a:cs typeface="Calibri" pitchFamily="34" charset="-120"/>
              </a:rPr>
              <a:t>The study of decay. The discovery of the principle of life is given a single sentence and no explanation.</a:t>
            </a:r>
            <a:endParaRPr lang="en-US" sz="1250" dirty="0"/>
          </a:p>
        </p:txBody>
      </p:sp>
      <p:sp>
        <p:nvSpPr>
          <p:cNvPr id="17" name="Shape 15"/>
          <p:cNvSpPr/>
          <p:nvPr/>
        </p:nvSpPr>
        <p:spPr>
          <a:xfrm>
            <a:off x="640080" y="4361688"/>
            <a:ext cx="10911535" cy="859536"/>
          </a:xfrm>
          <a:prstGeom prst="roundRect">
            <a:avLst>
              <a:gd name="adj" fmla="val 8511"/>
            </a:avLst>
          </a:prstGeom>
          <a:solidFill>
            <a:srgbClr val="101822"/>
          </a:solidFill>
          <a:ln w="12700">
            <a:solidFill>
              <a:srgbClr val="101822"/>
            </a:solidFill>
            <a:prstDash val="solid"/>
          </a:ln>
        </p:spPr>
        <p:txBody>
          <a:bodyPr/>
          <a:lstStyle/>
          <a:p>
            <a:endParaRPr lang="en-US"/>
          </a:p>
        </p:txBody>
      </p:sp>
      <p:sp>
        <p:nvSpPr>
          <p:cNvPr id="18" name="Text 16"/>
          <p:cNvSpPr txBox="1"/>
          <p:nvPr/>
        </p:nvSpPr>
        <p:spPr>
          <a:xfrm>
            <a:off x="914400" y="4361688"/>
            <a:ext cx="868680" cy="859536"/>
          </a:xfrm>
          <a:prstGeom prst="rect">
            <a:avLst/>
          </a:prstGeom>
          <a:noFill/>
          <a:ln/>
        </p:spPr>
        <p:txBody>
          <a:bodyPr wrap="square" lIns="0" tIns="0" rIns="0" bIns="0" rtlCol="0" anchor="ctr"/>
          <a:lstStyle/>
          <a:p>
            <a:pPr marL="0" indent="0">
              <a:buNone/>
            </a:pPr>
            <a:r>
              <a:rPr lang="en-US" sz="1400" b="1" dirty="0">
                <a:solidFill>
                  <a:srgbClr val="E08A6E"/>
                </a:solidFill>
                <a:latin typeface="Cambria" pitchFamily="34" charset="0"/>
                <a:ea typeface="Cambria" pitchFamily="34" charset="-122"/>
                <a:cs typeface="Cambria" pitchFamily="34" charset="-120"/>
              </a:rPr>
              <a:t>ch. V</a:t>
            </a:r>
            <a:endParaRPr lang="en-US" sz="1400" dirty="0"/>
          </a:p>
        </p:txBody>
      </p:sp>
      <p:sp>
        <p:nvSpPr>
          <p:cNvPr id="19" name="Text 17"/>
          <p:cNvSpPr txBox="1"/>
          <p:nvPr/>
        </p:nvSpPr>
        <p:spPr>
          <a:xfrm>
            <a:off x="1920240" y="4361688"/>
            <a:ext cx="2834640" cy="859536"/>
          </a:xfrm>
          <a:prstGeom prst="rect">
            <a:avLst/>
          </a:prstGeom>
          <a:noFill/>
          <a:ln/>
        </p:spPr>
        <p:txBody>
          <a:bodyPr wrap="square" lIns="0" tIns="0" rIns="0" bIns="0" rtlCol="0" anchor="ctr"/>
          <a:lstStyle/>
          <a:p>
            <a:pPr marL="0" indent="0">
              <a:buNone/>
            </a:pPr>
            <a:r>
              <a:rPr lang="en-US" sz="1500" b="1" dirty="0">
                <a:solidFill>
                  <a:srgbClr val="EDE5D8"/>
                </a:solidFill>
                <a:latin typeface="Cambria" pitchFamily="34" charset="0"/>
                <a:ea typeface="Cambria" pitchFamily="34" charset="-122"/>
                <a:cs typeface="Cambria" pitchFamily="34" charset="-120"/>
              </a:rPr>
              <a:t>The night, and the flight</a:t>
            </a:r>
            <a:endParaRPr lang="en-US" sz="1500" dirty="0"/>
          </a:p>
        </p:txBody>
      </p:sp>
      <p:sp>
        <p:nvSpPr>
          <p:cNvPr id="20" name="Text 18"/>
          <p:cNvSpPr txBox="1"/>
          <p:nvPr/>
        </p:nvSpPr>
        <p:spPr>
          <a:xfrm>
            <a:off x="4892040" y="4361688"/>
            <a:ext cx="6309360" cy="859536"/>
          </a:xfrm>
          <a:prstGeom prst="rect">
            <a:avLst/>
          </a:prstGeom>
          <a:noFill/>
          <a:ln/>
        </p:spPr>
        <p:txBody>
          <a:bodyPr wrap="square" lIns="0" tIns="0" rIns="0" bIns="0" rtlCol="0" anchor="ctr"/>
          <a:lstStyle/>
          <a:p>
            <a:pPr marL="0" indent="0">
              <a:lnSpc>
                <a:spcPts val="1600"/>
              </a:lnSpc>
              <a:buNone/>
            </a:pPr>
            <a:r>
              <a:rPr lang="en-US" sz="1250" dirty="0">
                <a:solidFill>
                  <a:srgbClr val="EDE5D8"/>
                </a:solidFill>
                <a:latin typeface="Calibri" pitchFamily="34" charset="0"/>
                <a:ea typeface="Calibri" pitchFamily="34" charset="-122"/>
                <a:cs typeface="Calibri" pitchFamily="34" charset="-120"/>
              </a:rPr>
              <a:t>The creature opens his eyes. Victor runs, walks the streets till dawn, falls ill for months while Clerval nurses him.</a:t>
            </a:r>
            <a:endParaRPr lang="en-US" sz="1250" dirty="0"/>
          </a:p>
        </p:txBody>
      </p:sp>
      <p:sp>
        <p:nvSpPr>
          <p:cNvPr id="21" name="Shape 19"/>
          <p:cNvSpPr/>
          <p:nvPr/>
        </p:nvSpPr>
        <p:spPr>
          <a:xfrm>
            <a:off x="640080" y="5303520"/>
            <a:ext cx="10911535" cy="859536"/>
          </a:xfrm>
          <a:prstGeom prst="roundRect">
            <a:avLst>
              <a:gd name="adj" fmla="val 8511"/>
            </a:avLst>
          </a:prstGeom>
          <a:solidFill>
            <a:srgbClr val="F3EEE5"/>
          </a:solidFill>
          <a:ln w="12700">
            <a:solidFill>
              <a:srgbClr val="F3EEE5"/>
            </a:solidFill>
            <a:prstDash val="solid"/>
          </a:ln>
        </p:spPr>
        <p:txBody>
          <a:bodyPr/>
          <a:lstStyle/>
          <a:p>
            <a:endParaRPr lang="en-US"/>
          </a:p>
        </p:txBody>
      </p:sp>
      <p:sp>
        <p:nvSpPr>
          <p:cNvPr id="22" name="Text 20"/>
          <p:cNvSpPr txBox="1"/>
          <p:nvPr/>
        </p:nvSpPr>
        <p:spPr>
          <a:xfrm>
            <a:off x="914400" y="5303520"/>
            <a:ext cx="868680" cy="859536"/>
          </a:xfrm>
          <a:prstGeom prst="rect">
            <a:avLst/>
          </a:prstGeom>
          <a:noFill/>
          <a:ln/>
        </p:spPr>
        <p:txBody>
          <a:bodyPr wrap="square" lIns="0" tIns="0" rIns="0" bIns="0" rtlCol="0" anchor="ctr"/>
          <a:lstStyle/>
          <a:p>
            <a:pPr marL="0" indent="0">
              <a:buNone/>
            </a:pPr>
            <a:r>
              <a:rPr lang="en-US" sz="1400" b="1" dirty="0">
                <a:solidFill>
                  <a:srgbClr val="35708C"/>
                </a:solidFill>
                <a:latin typeface="Cambria" pitchFamily="34" charset="0"/>
                <a:ea typeface="Cambria" pitchFamily="34" charset="-122"/>
                <a:cs typeface="Cambria" pitchFamily="34" charset="-120"/>
              </a:rPr>
              <a:t>ch. VI–VII</a:t>
            </a:r>
            <a:endParaRPr lang="en-US" sz="1400" dirty="0"/>
          </a:p>
        </p:txBody>
      </p:sp>
      <p:sp>
        <p:nvSpPr>
          <p:cNvPr id="23" name="Text 21"/>
          <p:cNvSpPr txBox="1"/>
          <p:nvPr/>
        </p:nvSpPr>
        <p:spPr>
          <a:xfrm>
            <a:off x="1920240" y="5303520"/>
            <a:ext cx="2834640" cy="859536"/>
          </a:xfrm>
          <a:prstGeom prst="rect">
            <a:avLst/>
          </a:prstGeom>
          <a:noFill/>
          <a:ln/>
        </p:spPr>
        <p:txBody>
          <a:bodyPr wrap="square" lIns="0" tIns="0" rIns="0" bIns="0" rtlCol="0" anchor="ctr"/>
          <a:lstStyle/>
          <a:p>
            <a:pPr marL="0" indent="0">
              <a:buNone/>
            </a:pPr>
            <a:r>
              <a:rPr lang="en-US" sz="1500" b="1" dirty="0">
                <a:solidFill>
                  <a:srgbClr val="101822"/>
                </a:solidFill>
                <a:latin typeface="Cambria" pitchFamily="34" charset="0"/>
                <a:ea typeface="Cambria" pitchFamily="34" charset="-122"/>
                <a:cs typeface="Cambria" pitchFamily="34" charset="-120"/>
              </a:rPr>
              <a:t>The cost lands on others</a:t>
            </a:r>
            <a:endParaRPr lang="en-US" sz="1500" dirty="0"/>
          </a:p>
        </p:txBody>
      </p:sp>
      <p:sp>
        <p:nvSpPr>
          <p:cNvPr id="24" name="Text 22"/>
          <p:cNvSpPr txBox="1"/>
          <p:nvPr/>
        </p:nvSpPr>
        <p:spPr>
          <a:xfrm>
            <a:off x="4892040" y="5303520"/>
            <a:ext cx="6309360" cy="859536"/>
          </a:xfrm>
          <a:prstGeom prst="rect">
            <a:avLst/>
          </a:prstGeom>
          <a:noFill/>
          <a:ln/>
        </p:spPr>
        <p:txBody>
          <a:bodyPr wrap="square" lIns="0" tIns="0" rIns="0" bIns="0" rtlCol="0" anchor="ctr"/>
          <a:lstStyle/>
          <a:p>
            <a:pPr marL="0" indent="0">
              <a:lnSpc>
                <a:spcPts val="1600"/>
              </a:lnSpc>
              <a:buNone/>
            </a:pPr>
            <a:r>
              <a:rPr lang="en-US" sz="1250" dirty="0">
                <a:solidFill>
                  <a:srgbClr val="5A6472"/>
                </a:solidFill>
                <a:latin typeface="Calibri" pitchFamily="34" charset="0"/>
                <a:ea typeface="Calibri" pitchFamily="34" charset="-122"/>
                <a:cs typeface="Calibri" pitchFamily="34" charset="-120"/>
              </a:rPr>
              <a:t>Recovery; Elizabeth’s letter; William is killed; Victor sees the creature in the storm and says nothing; Justine is tried and executed.</a:t>
            </a:r>
            <a:endParaRPr lang="en-US" sz="1250" dirty="0"/>
          </a:p>
        </p:txBody>
      </p:sp>
      <p:sp>
        <p:nvSpPr>
          <p:cNvPr id="25" name="Text 23"/>
          <p:cNvSpPr txBox="1"/>
          <p:nvPr/>
        </p:nvSpPr>
        <p:spPr>
          <a:xfrm>
            <a:off x="640080" y="5897880"/>
            <a:ext cx="10881360" cy="384048"/>
          </a:xfrm>
          <a:prstGeom prst="rect">
            <a:avLst/>
          </a:prstGeom>
          <a:noFill/>
          <a:ln/>
        </p:spPr>
        <p:txBody>
          <a:bodyPr wrap="square" lIns="0" tIns="0" rIns="0" bIns="0" rtlCol="0" anchor="ctr"/>
          <a:lstStyle/>
          <a:p>
            <a:pPr marL="0" indent="0">
              <a:buNone/>
            </a:pPr>
            <a:r>
              <a:rPr lang="en-US" sz="1550" i="1" dirty="0">
                <a:solidFill>
                  <a:srgbClr val="35708C"/>
                </a:solidFill>
                <a:latin typeface="Cambria" pitchFamily="34" charset="0"/>
                <a:ea typeface="Cambria" pitchFamily="34" charset="-122"/>
                <a:cs typeface="Cambria" pitchFamily="34" charset="-120"/>
              </a:rPr>
              <a:t>Count the pages: the creation occupies a fraction of a volume. The consequences occupy the book.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A6472"/>
                </a:solidFill>
                <a:latin typeface="Calibri" pitchFamily="34" charset="0"/>
                <a:ea typeface="Calibri" pitchFamily="34" charset="-122"/>
                <a:cs typeface="Calibri" pitchFamily="34" charset="-120"/>
              </a:rPr>
              <a:t>VOL I, CH. IV–V · CLOSE READING</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01822"/>
                </a:solidFill>
                <a:latin typeface="Cambria" pitchFamily="34" charset="0"/>
                <a:ea typeface="Cambria" pitchFamily="34" charset="-122"/>
                <a:cs typeface="Cambria" pitchFamily="34" charset="-120"/>
              </a:rPr>
              <a:t>The making takes two paragraphs</a:t>
            </a:r>
            <a:endParaRPr lang="en-US" sz="3000" dirty="0"/>
          </a:p>
        </p:txBody>
      </p:sp>
      <p:sp>
        <p:nvSpPr>
          <p:cNvPr id="5" name="Shape 3"/>
          <p:cNvSpPr/>
          <p:nvPr/>
        </p:nvSpPr>
        <p:spPr>
          <a:xfrm>
            <a:off x="640080" y="1600200"/>
            <a:ext cx="5120640" cy="4160520"/>
          </a:xfrm>
          <a:prstGeom prst="roundRect">
            <a:avLst>
              <a:gd name="adj" fmla="val 1758"/>
            </a:avLst>
          </a:prstGeom>
          <a:solidFill>
            <a:srgbClr val="101822"/>
          </a:solidFill>
          <a:ln w="12700">
            <a:solidFill>
              <a:srgbClr val="101822"/>
            </a:solidFill>
            <a:prstDash val="solid"/>
          </a:ln>
        </p:spPr>
        <p:txBody>
          <a:bodyPr/>
          <a:lstStyle/>
          <a:p>
            <a:endParaRPr lang="en-US"/>
          </a:p>
        </p:txBody>
      </p:sp>
      <p:sp>
        <p:nvSpPr>
          <p:cNvPr id="6" name="Text 4"/>
          <p:cNvSpPr txBox="1"/>
          <p:nvPr/>
        </p:nvSpPr>
        <p:spPr>
          <a:xfrm>
            <a:off x="1005840" y="1828800"/>
            <a:ext cx="4389120" cy="320040"/>
          </a:xfrm>
          <a:prstGeom prst="rect">
            <a:avLst/>
          </a:prstGeom>
          <a:noFill/>
          <a:ln/>
        </p:spPr>
        <p:txBody>
          <a:bodyPr wrap="square" lIns="0" tIns="0" rIns="0" bIns="0" rtlCol="0" anchor="ctr"/>
          <a:lstStyle/>
          <a:p>
            <a:pPr marL="0" indent="0">
              <a:buNone/>
            </a:pPr>
            <a:r>
              <a:rPr lang="en-US" sz="1150" b="1" kern="0" spc="140" dirty="0">
                <a:solidFill>
                  <a:srgbClr val="E08A6E"/>
                </a:solidFill>
                <a:latin typeface="Calibri" pitchFamily="34" charset="0"/>
                <a:ea typeface="Calibri" pitchFamily="34" charset="-122"/>
                <a:cs typeface="Calibri" pitchFamily="34" charset="-120"/>
              </a:rPr>
              <a:t>What Shelley refuses to tell us</a:t>
            </a:r>
            <a:endParaRPr lang="en-US" sz="1150" dirty="0"/>
          </a:p>
        </p:txBody>
      </p:sp>
      <p:sp>
        <p:nvSpPr>
          <p:cNvPr id="7" name="Text 5"/>
          <p:cNvSpPr txBox="1"/>
          <p:nvPr/>
        </p:nvSpPr>
        <p:spPr>
          <a:xfrm>
            <a:off x="1005840" y="2240280"/>
            <a:ext cx="4434840" cy="3291840"/>
          </a:xfrm>
          <a:prstGeom prst="rect">
            <a:avLst/>
          </a:prstGeom>
          <a:noFill/>
          <a:ln/>
        </p:spPr>
        <p:txBody>
          <a:bodyPr wrap="square" lIns="0" tIns="0" rIns="0" bIns="0" rtlCol="0" anchor="ctr"/>
          <a:lstStyle/>
          <a:p>
            <a:pPr marL="342900" indent="-342900">
              <a:lnSpc>
                <a:spcPts val="1800"/>
              </a:lnSpc>
              <a:spcAft>
                <a:spcPts val="1000"/>
              </a:spcAft>
              <a:buSzPct val="100000"/>
              <a:buChar char="•"/>
            </a:pPr>
            <a:r>
              <a:rPr lang="en-US" sz="1300" dirty="0">
                <a:solidFill>
                  <a:srgbClr val="EDE5D8"/>
                </a:solidFill>
                <a:latin typeface="Calibri" pitchFamily="34" charset="0"/>
                <a:ea typeface="Calibri" pitchFamily="34" charset="-122"/>
                <a:cs typeface="Calibri" pitchFamily="34" charset="-120"/>
              </a:rPr>
              <a:t>No mechanism. There is no machine, no lightning bolt, no laboratory apparatus described. Those are the films.</a:t>
            </a:r>
            <a:endParaRPr lang="en-US" sz="1300" dirty="0"/>
          </a:p>
          <a:p>
            <a:pPr marL="342900" indent="-342900">
              <a:lnSpc>
                <a:spcPts val="1800"/>
              </a:lnSpc>
              <a:spcAft>
                <a:spcPts val="1000"/>
              </a:spcAft>
              <a:buSzPct val="100000"/>
              <a:buChar char="•"/>
            </a:pPr>
            <a:r>
              <a:rPr lang="en-US" sz="1300" dirty="0">
                <a:solidFill>
                  <a:srgbClr val="EDE5D8"/>
                </a:solidFill>
                <a:latin typeface="Calibri" pitchFamily="34" charset="0"/>
                <a:ea typeface="Calibri" pitchFamily="34" charset="-122"/>
                <a:cs typeface="Calibri" pitchFamily="34" charset="-120"/>
              </a:rPr>
              <a:t>No procedure. Victor says he discovered the cause of life and then explicitly declines to explain how, addressing Walton to justify the refusal.</a:t>
            </a:r>
            <a:endParaRPr lang="en-US" sz="1300" dirty="0"/>
          </a:p>
          <a:p>
            <a:pPr marL="342900" indent="-342900">
              <a:lnSpc>
                <a:spcPts val="1800"/>
              </a:lnSpc>
              <a:spcAft>
                <a:spcPts val="1000"/>
              </a:spcAft>
              <a:buSzPct val="100000"/>
              <a:buChar char="•"/>
            </a:pPr>
            <a:r>
              <a:rPr lang="en-US" sz="1300" dirty="0">
                <a:solidFill>
                  <a:srgbClr val="EDE5D8"/>
                </a:solidFill>
                <a:latin typeface="Calibri" pitchFamily="34" charset="0"/>
                <a:ea typeface="Calibri" pitchFamily="34" charset="-122"/>
                <a:cs typeface="Calibri" pitchFamily="34" charset="-120"/>
              </a:rPr>
              <a:t>No moment. The animation itself gets a few clauses. The eye opens, the limb convulses, and the sentence is over.</a:t>
            </a:r>
            <a:endParaRPr lang="en-US" sz="1300" dirty="0"/>
          </a:p>
          <a:p>
            <a:pPr marL="342900" indent="-342900">
              <a:lnSpc>
                <a:spcPts val="1800"/>
              </a:lnSpc>
              <a:spcAft>
                <a:spcPts val="1000"/>
              </a:spcAft>
              <a:buSzPct val="100000"/>
              <a:buChar char="•"/>
            </a:pPr>
            <a:r>
              <a:rPr lang="en-US" sz="1300" dirty="0">
                <a:solidFill>
                  <a:srgbClr val="EDE5D8"/>
                </a:solidFill>
                <a:latin typeface="Calibri" pitchFamily="34" charset="0"/>
                <a:ea typeface="Calibri" pitchFamily="34" charset="-122"/>
                <a:cs typeface="Calibri" pitchFamily="34" charset="-120"/>
              </a:rPr>
              <a:t>What we get instead is nine months of graveyards, dissecting rooms, sleeplessness and neglected letters home.</a:t>
            </a:r>
            <a:endParaRPr lang="en-US" sz="1300" dirty="0"/>
          </a:p>
        </p:txBody>
      </p:sp>
      <p:sp>
        <p:nvSpPr>
          <p:cNvPr id="8" name="Shape 6"/>
          <p:cNvSpPr/>
          <p:nvPr/>
        </p:nvSpPr>
        <p:spPr>
          <a:xfrm>
            <a:off x="6080760" y="1600200"/>
            <a:ext cx="5440680" cy="1298448"/>
          </a:xfrm>
          <a:prstGeom prst="roundRect">
            <a:avLst>
              <a:gd name="adj" fmla="val 5634"/>
            </a:avLst>
          </a:prstGeom>
          <a:solidFill>
            <a:srgbClr val="F3EEE5"/>
          </a:solidFill>
          <a:ln w="12700">
            <a:solidFill>
              <a:srgbClr val="F3EEE5"/>
            </a:solidFill>
            <a:prstDash val="solid"/>
          </a:ln>
        </p:spPr>
        <p:txBody>
          <a:bodyPr/>
          <a:lstStyle/>
          <a:p>
            <a:endParaRPr lang="en-US"/>
          </a:p>
        </p:txBody>
      </p:sp>
      <p:sp>
        <p:nvSpPr>
          <p:cNvPr id="9" name="Text 7"/>
          <p:cNvSpPr txBox="1"/>
          <p:nvPr/>
        </p:nvSpPr>
        <p:spPr>
          <a:xfrm>
            <a:off x="6355080" y="1746504"/>
            <a:ext cx="4892040" cy="320040"/>
          </a:xfrm>
          <a:prstGeom prst="rect">
            <a:avLst/>
          </a:prstGeom>
          <a:noFill/>
          <a:ln/>
        </p:spPr>
        <p:txBody>
          <a:bodyPr wrap="square" lIns="0" tIns="0" rIns="0" bIns="0" rtlCol="0" anchor="ctr"/>
          <a:lstStyle/>
          <a:p>
            <a:pPr marL="0" indent="0">
              <a:buNone/>
            </a:pPr>
            <a:r>
              <a:rPr lang="en-US" sz="1550" b="1" dirty="0">
                <a:solidFill>
                  <a:srgbClr val="101822"/>
                </a:solidFill>
                <a:latin typeface="Cambria" pitchFamily="34" charset="0"/>
                <a:ea typeface="Cambria" pitchFamily="34" charset="-122"/>
                <a:cs typeface="Cambria" pitchFamily="34" charset="-120"/>
              </a:rPr>
              <a:t>Withholding is a choice, not a gap</a:t>
            </a:r>
            <a:endParaRPr lang="en-US" sz="1550" dirty="0"/>
          </a:p>
        </p:txBody>
      </p:sp>
      <p:sp>
        <p:nvSpPr>
          <p:cNvPr id="10" name="Text 8"/>
          <p:cNvSpPr txBox="1"/>
          <p:nvPr/>
        </p:nvSpPr>
        <p:spPr>
          <a:xfrm>
            <a:off x="6355080" y="2093976"/>
            <a:ext cx="4892040" cy="713232"/>
          </a:xfrm>
          <a:prstGeom prst="rect">
            <a:avLst/>
          </a:prstGeom>
          <a:noFill/>
          <a:ln/>
        </p:spPr>
        <p:txBody>
          <a:bodyPr wrap="square" lIns="0" tIns="0" rIns="0" bIns="0" rtlCol="0" anchor="ctr"/>
          <a:lstStyle/>
          <a:p>
            <a:pPr marL="0" indent="0">
              <a:lnSpc>
                <a:spcPts val="1600"/>
              </a:lnSpc>
              <a:buNone/>
            </a:pPr>
            <a:r>
              <a:rPr lang="en-US" sz="1200" dirty="0">
                <a:solidFill>
                  <a:srgbClr val="5A6472"/>
                </a:solidFill>
                <a:latin typeface="Calibri" pitchFamily="34" charset="0"/>
                <a:ea typeface="Calibri" pitchFamily="34" charset="-122"/>
                <a:cs typeface="Calibri" pitchFamily="34" charset="-120"/>
              </a:rPr>
              <a:t>Shelley could have invented a procedure; her contemporaries did. Refusing one keeps the reader’s attention on the maker rather than the method — and makes the novel immune to becoming dated.</a:t>
            </a:r>
            <a:endParaRPr lang="en-US" sz="1200" dirty="0"/>
          </a:p>
        </p:txBody>
      </p:sp>
      <p:sp>
        <p:nvSpPr>
          <p:cNvPr id="11" name="Shape 9"/>
          <p:cNvSpPr/>
          <p:nvPr/>
        </p:nvSpPr>
        <p:spPr>
          <a:xfrm>
            <a:off x="6080760" y="3026664"/>
            <a:ext cx="5440680" cy="1298448"/>
          </a:xfrm>
          <a:prstGeom prst="roundRect">
            <a:avLst>
              <a:gd name="adj" fmla="val 5634"/>
            </a:avLst>
          </a:prstGeom>
          <a:solidFill>
            <a:srgbClr val="F3EEE5"/>
          </a:solidFill>
          <a:ln w="12700">
            <a:solidFill>
              <a:srgbClr val="F3EEE5"/>
            </a:solidFill>
            <a:prstDash val="solid"/>
          </a:ln>
        </p:spPr>
        <p:txBody>
          <a:bodyPr/>
          <a:lstStyle/>
          <a:p>
            <a:endParaRPr lang="en-US"/>
          </a:p>
        </p:txBody>
      </p:sp>
      <p:sp>
        <p:nvSpPr>
          <p:cNvPr id="12" name="Text 10"/>
          <p:cNvSpPr txBox="1"/>
          <p:nvPr/>
        </p:nvSpPr>
        <p:spPr>
          <a:xfrm>
            <a:off x="6355080" y="3172968"/>
            <a:ext cx="4892040" cy="320040"/>
          </a:xfrm>
          <a:prstGeom prst="rect">
            <a:avLst/>
          </a:prstGeom>
          <a:noFill/>
          <a:ln/>
        </p:spPr>
        <p:txBody>
          <a:bodyPr wrap="square" lIns="0" tIns="0" rIns="0" bIns="0" rtlCol="0" anchor="ctr"/>
          <a:lstStyle/>
          <a:p>
            <a:pPr marL="0" indent="0">
              <a:buNone/>
            </a:pPr>
            <a:r>
              <a:rPr lang="en-US" sz="1550" b="1" dirty="0">
                <a:solidFill>
                  <a:srgbClr val="101822"/>
                </a:solidFill>
                <a:latin typeface="Cambria" pitchFamily="34" charset="0"/>
                <a:ea typeface="Cambria" pitchFamily="34" charset="-122"/>
                <a:cs typeface="Cambria" pitchFamily="34" charset="-120"/>
              </a:rPr>
              <a:t>The labour is moral, not technical</a:t>
            </a:r>
            <a:endParaRPr lang="en-US" sz="1550" dirty="0"/>
          </a:p>
        </p:txBody>
      </p:sp>
      <p:sp>
        <p:nvSpPr>
          <p:cNvPr id="13" name="Text 11"/>
          <p:cNvSpPr txBox="1"/>
          <p:nvPr/>
        </p:nvSpPr>
        <p:spPr>
          <a:xfrm>
            <a:off x="6355080" y="3520440"/>
            <a:ext cx="4892040" cy="713232"/>
          </a:xfrm>
          <a:prstGeom prst="rect">
            <a:avLst/>
          </a:prstGeom>
          <a:noFill/>
          <a:ln/>
        </p:spPr>
        <p:txBody>
          <a:bodyPr wrap="square" lIns="0" tIns="0" rIns="0" bIns="0" rtlCol="0" anchor="ctr"/>
          <a:lstStyle/>
          <a:p>
            <a:pPr marL="0" indent="0">
              <a:lnSpc>
                <a:spcPts val="1600"/>
              </a:lnSpc>
              <a:buNone/>
            </a:pPr>
            <a:r>
              <a:rPr lang="en-US" sz="1200" dirty="0">
                <a:solidFill>
                  <a:srgbClr val="5A6472"/>
                </a:solidFill>
                <a:latin typeface="Calibri" pitchFamily="34" charset="0"/>
                <a:ea typeface="Calibri" pitchFamily="34" charset="-122"/>
                <a:cs typeface="Calibri" pitchFamily="34" charset="-120"/>
              </a:rPr>
              <a:t>What Victor reports is not difficulty of engineering but corrosion of character: he stops writing to his father, stops seeing Clerval, stops noticing the seasons.</a:t>
            </a:r>
            <a:endParaRPr lang="en-US" sz="1200" dirty="0"/>
          </a:p>
        </p:txBody>
      </p:sp>
      <p:sp>
        <p:nvSpPr>
          <p:cNvPr id="14" name="Shape 12"/>
          <p:cNvSpPr/>
          <p:nvPr/>
        </p:nvSpPr>
        <p:spPr>
          <a:xfrm>
            <a:off x="6080760" y="4453128"/>
            <a:ext cx="5440680" cy="1298448"/>
          </a:xfrm>
          <a:prstGeom prst="roundRect">
            <a:avLst>
              <a:gd name="adj" fmla="val 5634"/>
            </a:avLst>
          </a:prstGeom>
          <a:solidFill>
            <a:srgbClr val="E6EEF3"/>
          </a:solidFill>
          <a:ln w="12700">
            <a:solidFill>
              <a:srgbClr val="E6EEF3"/>
            </a:solidFill>
            <a:prstDash val="solid"/>
          </a:ln>
        </p:spPr>
        <p:txBody>
          <a:bodyPr/>
          <a:lstStyle/>
          <a:p>
            <a:endParaRPr lang="en-US"/>
          </a:p>
        </p:txBody>
      </p:sp>
      <p:sp>
        <p:nvSpPr>
          <p:cNvPr id="15" name="Text 13"/>
          <p:cNvSpPr txBox="1"/>
          <p:nvPr/>
        </p:nvSpPr>
        <p:spPr>
          <a:xfrm>
            <a:off x="6355080" y="4599432"/>
            <a:ext cx="4892040" cy="320040"/>
          </a:xfrm>
          <a:prstGeom prst="rect">
            <a:avLst/>
          </a:prstGeom>
          <a:noFill/>
          <a:ln/>
        </p:spPr>
        <p:txBody>
          <a:bodyPr wrap="square" lIns="0" tIns="0" rIns="0" bIns="0" rtlCol="0" anchor="ctr"/>
          <a:lstStyle/>
          <a:p>
            <a:pPr marL="0" indent="0">
              <a:buNone/>
            </a:pPr>
            <a:r>
              <a:rPr lang="en-US" sz="1550" b="1" dirty="0">
                <a:solidFill>
                  <a:srgbClr val="101822"/>
                </a:solidFill>
                <a:latin typeface="Cambria" pitchFamily="34" charset="0"/>
                <a:ea typeface="Cambria" pitchFamily="34" charset="-122"/>
                <a:cs typeface="Cambria" pitchFamily="34" charset="-120"/>
              </a:rPr>
              <a:t>Question</a:t>
            </a:r>
            <a:endParaRPr lang="en-US" sz="1550" dirty="0"/>
          </a:p>
        </p:txBody>
      </p:sp>
      <p:sp>
        <p:nvSpPr>
          <p:cNvPr id="16" name="Text 14"/>
          <p:cNvSpPr txBox="1"/>
          <p:nvPr/>
        </p:nvSpPr>
        <p:spPr>
          <a:xfrm>
            <a:off x="6355080" y="4946904"/>
            <a:ext cx="4892040" cy="713232"/>
          </a:xfrm>
          <a:prstGeom prst="rect">
            <a:avLst/>
          </a:prstGeom>
          <a:noFill/>
          <a:ln/>
        </p:spPr>
        <p:txBody>
          <a:bodyPr wrap="square" lIns="0" tIns="0" rIns="0" bIns="0" rtlCol="0" anchor="ctr"/>
          <a:lstStyle/>
          <a:p>
            <a:pPr marL="0" indent="0">
              <a:lnSpc>
                <a:spcPts val="1600"/>
              </a:lnSpc>
              <a:buNone/>
            </a:pPr>
            <a:r>
              <a:rPr lang="en-US" sz="1200" dirty="0">
                <a:solidFill>
                  <a:srgbClr val="5A6472"/>
                </a:solidFill>
                <a:latin typeface="Calibri" pitchFamily="34" charset="0"/>
                <a:ea typeface="Calibri" pitchFamily="34" charset="-122"/>
                <a:cs typeface="Calibri" pitchFamily="34" charset="-120"/>
              </a:rPr>
              <a:t>If you cannot say how the thing was built, what is left to hold the maker accountable for? Shelley’s answer is: everything that happened before and everything that happened after.</a:t>
            </a:r>
            <a:endParaRPr lang="en-US" sz="1200" dirty="0"/>
          </a:p>
        </p:txBody>
      </p:sp>
      <p:sp>
        <p:nvSpPr>
          <p:cNvPr id="17" name="Text 15"/>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A6472"/>
                </a:solidFill>
                <a:latin typeface="Calibri" pitchFamily="34" charset="0"/>
                <a:ea typeface="Calibri" pitchFamily="34" charset="-122"/>
                <a:cs typeface="Calibri" pitchFamily="34" charset="-120"/>
              </a:rPr>
              <a:t>Shelley, Frankenstein (1818), Vol I, ch. IV–V. Read the opening of ch. V aloud — it is short enough to do entire.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A6472"/>
                </a:solidFill>
                <a:latin typeface="Calibri" pitchFamily="34" charset="0"/>
                <a:ea typeface="Calibri" pitchFamily="34" charset="-122"/>
                <a:cs typeface="Calibri" pitchFamily="34" charset="-120"/>
              </a:rPr>
              <a:t>VOL I, CH. V · CLOSE READING</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01822"/>
                </a:solidFill>
                <a:latin typeface="Cambria" pitchFamily="34" charset="0"/>
                <a:ea typeface="Cambria" pitchFamily="34" charset="-122"/>
                <a:cs typeface="Cambria" pitchFamily="34" charset="-120"/>
              </a:rPr>
              <a:t>The first act after creation is flight</a:t>
            </a:r>
            <a:endParaRPr lang="en-US" sz="3000" dirty="0"/>
          </a:p>
        </p:txBody>
      </p:sp>
      <p:sp>
        <p:nvSpPr>
          <p:cNvPr id="5" name="Shape 3"/>
          <p:cNvSpPr/>
          <p:nvPr/>
        </p:nvSpPr>
        <p:spPr>
          <a:xfrm>
            <a:off x="640080" y="1600200"/>
            <a:ext cx="5029200" cy="1874520"/>
          </a:xfrm>
          <a:prstGeom prst="roundRect">
            <a:avLst>
              <a:gd name="adj" fmla="val 3902"/>
            </a:avLst>
          </a:prstGeom>
          <a:solidFill>
            <a:srgbClr val="101822"/>
          </a:solidFill>
          <a:ln w="12700">
            <a:solidFill>
              <a:srgbClr val="101822"/>
            </a:solidFill>
            <a:prstDash val="solid"/>
          </a:ln>
        </p:spPr>
        <p:txBody>
          <a:bodyPr/>
          <a:lstStyle/>
          <a:p>
            <a:endParaRPr lang="en-US"/>
          </a:p>
        </p:txBody>
      </p:sp>
      <p:sp>
        <p:nvSpPr>
          <p:cNvPr id="6" name="Text 4"/>
          <p:cNvSpPr txBox="1"/>
          <p:nvPr/>
        </p:nvSpPr>
        <p:spPr>
          <a:xfrm>
            <a:off x="1005840" y="1847088"/>
            <a:ext cx="4297680" cy="777240"/>
          </a:xfrm>
          <a:prstGeom prst="rect">
            <a:avLst/>
          </a:prstGeom>
          <a:noFill/>
          <a:ln/>
        </p:spPr>
        <p:txBody>
          <a:bodyPr wrap="square" lIns="0" tIns="0" rIns="0" bIns="0" rtlCol="0" anchor="ctr"/>
          <a:lstStyle/>
          <a:p>
            <a:pPr marL="0" indent="0">
              <a:lnSpc>
                <a:spcPts val="3000"/>
              </a:lnSpc>
              <a:buNone/>
            </a:pPr>
            <a:r>
              <a:rPr lang="en-US" sz="2500" b="1" dirty="0">
                <a:solidFill>
                  <a:srgbClr val="EDE5D8"/>
                </a:solidFill>
                <a:latin typeface="Cambria" pitchFamily="34" charset="0"/>
                <a:ea typeface="Cambria" pitchFamily="34" charset="-122"/>
                <a:cs typeface="Cambria" pitchFamily="34" charset="-120"/>
              </a:rPr>
              <a:t>“It was on a dreary night of November”</a:t>
            </a:r>
            <a:endParaRPr lang="en-US" sz="2500" dirty="0"/>
          </a:p>
        </p:txBody>
      </p:sp>
      <p:sp>
        <p:nvSpPr>
          <p:cNvPr id="7" name="Text 5"/>
          <p:cNvSpPr txBox="1"/>
          <p:nvPr/>
        </p:nvSpPr>
        <p:spPr>
          <a:xfrm>
            <a:off x="1005840" y="2697480"/>
            <a:ext cx="4297680" cy="640080"/>
          </a:xfrm>
          <a:prstGeom prst="rect">
            <a:avLst/>
          </a:prstGeom>
          <a:noFill/>
          <a:ln/>
        </p:spPr>
        <p:txBody>
          <a:bodyPr wrap="square" lIns="0" tIns="0" rIns="0" bIns="0" rtlCol="0" anchor="ctr"/>
          <a:lstStyle/>
          <a:p>
            <a:pPr marL="0" indent="0">
              <a:lnSpc>
                <a:spcPts val="1700"/>
              </a:lnSpc>
              <a:buNone/>
            </a:pPr>
            <a:r>
              <a:rPr lang="en-US" sz="1250" dirty="0">
                <a:solidFill>
                  <a:srgbClr val="9CC5D6"/>
                </a:solidFill>
                <a:latin typeface="Calibri" pitchFamily="34" charset="0"/>
                <a:ea typeface="Calibri" pitchFamily="34" charset="-122"/>
                <a:cs typeface="Calibri" pitchFamily="34" charset="-120"/>
              </a:rPr>
              <a:t>Vol I, ch. V, opening sentence — the most quoted line in the book, and worth noticing that it is a weather report.</a:t>
            </a:r>
            <a:endParaRPr lang="en-US" sz="1250" dirty="0"/>
          </a:p>
        </p:txBody>
      </p:sp>
      <p:sp>
        <p:nvSpPr>
          <p:cNvPr id="8" name="Shape 6"/>
          <p:cNvSpPr/>
          <p:nvPr/>
        </p:nvSpPr>
        <p:spPr>
          <a:xfrm>
            <a:off x="5989320" y="1600200"/>
            <a:ext cx="5532120" cy="1051560"/>
          </a:xfrm>
          <a:prstGeom prst="roundRect">
            <a:avLst>
              <a:gd name="adj" fmla="val 6957"/>
            </a:avLst>
          </a:prstGeom>
          <a:solidFill>
            <a:srgbClr val="F3EEE5"/>
          </a:solidFill>
          <a:ln w="12700">
            <a:solidFill>
              <a:srgbClr val="F3EEE5"/>
            </a:solidFill>
            <a:prstDash val="solid"/>
          </a:ln>
        </p:spPr>
        <p:txBody>
          <a:bodyPr/>
          <a:lstStyle/>
          <a:p>
            <a:endParaRPr lang="en-US"/>
          </a:p>
        </p:txBody>
      </p:sp>
      <p:sp>
        <p:nvSpPr>
          <p:cNvPr id="9" name="Shape 7"/>
          <p:cNvSpPr/>
          <p:nvPr/>
        </p:nvSpPr>
        <p:spPr>
          <a:xfrm>
            <a:off x="6217920" y="1929384"/>
            <a:ext cx="329184" cy="329184"/>
          </a:xfrm>
          <a:prstGeom prst="ellipse">
            <a:avLst/>
          </a:prstGeom>
          <a:solidFill>
            <a:srgbClr val="101822"/>
          </a:solidFill>
          <a:ln/>
        </p:spPr>
        <p:txBody>
          <a:bodyPr/>
          <a:lstStyle/>
          <a:p>
            <a:endParaRPr lang="en-US"/>
          </a:p>
        </p:txBody>
      </p:sp>
      <p:sp>
        <p:nvSpPr>
          <p:cNvPr id="10" name="Text 8"/>
          <p:cNvSpPr txBox="1"/>
          <p:nvPr/>
        </p:nvSpPr>
        <p:spPr>
          <a:xfrm>
            <a:off x="6217920" y="1929384"/>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1" name="Text 9"/>
          <p:cNvSpPr txBox="1"/>
          <p:nvPr/>
        </p:nvSpPr>
        <p:spPr>
          <a:xfrm>
            <a:off x="6675120" y="1728216"/>
            <a:ext cx="4617720" cy="274320"/>
          </a:xfrm>
          <a:prstGeom prst="rect">
            <a:avLst/>
          </a:prstGeom>
          <a:noFill/>
          <a:ln/>
        </p:spPr>
        <p:txBody>
          <a:bodyPr wrap="square" lIns="0" tIns="0" rIns="0" bIns="0" rtlCol="0" anchor="ctr"/>
          <a:lstStyle/>
          <a:p>
            <a:pPr marL="0" indent="0">
              <a:buNone/>
            </a:pPr>
            <a:r>
              <a:rPr lang="en-US" sz="1450" b="1" dirty="0">
                <a:solidFill>
                  <a:srgbClr val="101822"/>
                </a:solidFill>
                <a:latin typeface="Cambria" pitchFamily="34" charset="0"/>
                <a:ea typeface="Cambria" pitchFamily="34" charset="-122"/>
                <a:cs typeface="Cambria" pitchFamily="34" charset="-120"/>
              </a:rPr>
              <a:t>The eye opens</a:t>
            </a:r>
            <a:endParaRPr lang="en-US" sz="1450" dirty="0"/>
          </a:p>
        </p:txBody>
      </p:sp>
      <p:sp>
        <p:nvSpPr>
          <p:cNvPr id="12" name="Text 10"/>
          <p:cNvSpPr txBox="1"/>
          <p:nvPr/>
        </p:nvSpPr>
        <p:spPr>
          <a:xfrm>
            <a:off x="6675120" y="2020824"/>
            <a:ext cx="4617720" cy="566928"/>
          </a:xfrm>
          <a:prstGeom prst="rect">
            <a:avLst/>
          </a:prstGeom>
          <a:noFill/>
          <a:ln/>
        </p:spPr>
        <p:txBody>
          <a:bodyPr wrap="square" lIns="0" tIns="0" rIns="0" bIns="0" rtlCol="0" anchor="ctr"/>
          <a:lstStyle/>
          <a:p>
            <a:pPr marL="0" indent="0">
              <a:lnSpc>
                <a:spcPts val="1500"/>
              </a:lnSpc>
              <a:buNone/>
            </a:pPr>
            <a:r>
              <a:rPr lang="en-US" sz="1150" dirty="0">
                <a:solidFill>
                  <a:srgbClr val="5A6472"/>
                </a:solidFill>
                <a:latin typeface="Calibri" pitchFamily="34" charset="0"/>
                <a:ea typeface="Calibri" pitchFamily="34" charset="-122"/>
                <a:cs typeface="Calibri" pitchFamily="34" charset="-120"/>
              </a:rPr>
              <a:t>The animation is over in a clause. Victor’s response is immediate and physical: the beauty he had selected turns, in his description, to horror. Nothing has happened except that the thing moved.</a:t>
            </a:r>
            <a:endParaRPr lang="en-US" sz="1150" dirty="0"/>
          </a:p>
        </p:txBody>
      </p:sp>
      <p:sp>
        <p:nvSpPr>
          <p:cNvPr id="13" name="Shape 11"/>
          <p:cNvSpPr/>
          <p:nvPr/>
        </p:nvSpPr>
        <p:spPr>
          <a:xfrm>
            <a:off x="5989320" y="2743200"/>
            <a:ext cx="5532120" cy="1051560"/>
          </a:xfrm>
          <a:prstGeom prst="roundRect">
            <a:avLst>
              <a:gd name="adj" fmla="val 6957"/>
            </a:avLst>
          </a:prstGeom>
          <a:solidFill>
            <a:srgbClr val="E6EEF3"/>
          </a:solidFill>
          <a:ln w="12700">
            <a:solidFill>
              <a:srgbClr val="E6EEF3"/>
            </a:solidFill>
            <a:prstDash val="solid"/>
          </a:ln>
        </p:spPr>
        <p:txBody>
          <a:bodyPr/>
          <a:lstStyle/>
          <a:p>
            <a:endParaRPr lang="en-US"/>
          </a:p>
        </p:txBody>
      </p:sp>
      <p:sp>
        <p:nvSpPr>
          <p:cNvPr id="14" name="Shape 12"/>
          <p:cNvSpPr/>
          <p:nvPr/>
        </p:nvSpPr>
        <p:spPr>
          <a:xfrm>
            <a:off x="6217920" y="3072384"/>
            <a:ext cx="329184" cy="329184"/>
          </a:xfrm>
          <a:prstGeom prst="ellipse">
            <a:avLst/>
          </a:prstGeom>
          <a:solidFill>
            <a:srgbClr val="35708C"/>
          </a:solidFill>
          <a:ln/>
        </p:spPr>
        <p:txBody>
          <a:bodyPr/>
          <a:lstStyle/>
          <a:p>
            <a:endParaRPr lang="en-US"/>
          </a:p>
        </p:txBody>
      </p:sp>
      <p:sp>
        <p:nvSpPr>
          <p:cNvPr id="15" name="Text 13"/>
          <p:cNvSpPr txBox="1"/>
          <p:nvPr/>
        </p:nvSpPr>
        <p:spPr>
          <a:xfrm>
            <a:off x="6217920" y="3072384"/>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6" name="Text 14"/>
          <p:cNvSpPr txBox="1"/>
          <p:nvPr/>
        </p:nvSpPr>
        <p:spPr>
          <a:xfrm>
            <a:off x="6675120" y="2871216"/>
            <a:ext cx="4617720" cy="274320"/>
          </a:xfrm>
          <a:prstGeom prst="rect">
            <a:avLst/>
          </a:prstGeom>
          <a:noFill/>
          <a:ln/>
        </p:spPr>
        <p:txBody>
          <a:bodyPr wrap="square" lIns="0" tIns="0" rIns="0" bIns="0" rtlCol="0" anchor="ctr"/>
          <a:lstStyle/>
          <a:p>
            <a:pPr marL="0" indent="0">
              <a:buNone/>
            </a:pPr>
            <a:r>
              <a:rPr lang="en-US" sz="1450" b="1" dirty="0">
                <a:solidFill>
                  <a:srgbClr val="101822"/>
                </a:solidFill>
                <a:latin typeface="Cambria" pitchFamily="34" charset="0"/>
                <a:ea typeface="Cambria" pitchFamily="34" charset="-122"/>
                <a:cs typeface="Cambria" pitchFamily="34" charset="-120"/>
              </a:rPr>
              <a:t>He leaves the room</a:t>
            </a:r>
            <a:endParaRPr lang="en-US" sz="1450" dirty="0"/>
          </a:p>
        </p:txBody>
      </p:sp>
      <p:sp>
        <p:nvSpPr>
          <p:cNvPr id="17" name="Text 15"/>
          <p:cNvSpPr txBox="1"/>
          <p:nvPr/>
        </p:nvSpPr>
        <p:spPr>
          <a:xfrm>
            <a:off x="6675120" y="3163824"/>
            <a:ext cx="4617720" cy="566928"/>
          </a:xfrm>
          <a:prstGeom prst="rect">
            <a:avLst/>
          </a:prstGeom>
          <a:noFill/>
          <a:ln/>
        </p:spPr>
        <p:txBody>
          <a:bodyPr wrap="square" lIns="0" tIns="0" rIns="0" bIns="0" rtlCol="0" anchor="ctr"/>
          <a:lstStyle/>
          <a:p>
            <a:pPr marL="0" indent="0">
              <a:lnSpc>
                <a:spcPts val="1500"/>
              </a:lnSpc>
              <a:buNone/>
            </a:pPr>
            <a:r>
              <a:rPr lang="en-US" sz="1150" dirty="0">
                <a:solidFill>
                  <a:srgbClr val="5A6472"/>
                </a:solidFill>
                <a:latin typeface="Calibri" pitchFamily="34" charset="0"/>
                <a:ea typeface="Calibri" pitchFamily="34" charset="-122"/>
                <a:cs typeface="Calibri" pitchFamily="34" charset="-120"/>
              </a:rPr>
              <a:t>He does not examine it, speak to it, or feed it. He goes to his bedchamber and tries to sleep. This is the hinge of the entire novel and it takes half a page.</a:t>
            </a:r>
            <a:endParaRPr lang="en-US" sz="1150" dirty="0"/>
          </a:p>
        </p:txBody>
      </p:sp>
      <p:sp>
        <p:nvSpPr>
          <p:cNvPr id="18" name="Shape 16"/>
          <p:cNvSpPr/>
          <p:nvPr/>
        </p:nvSpPr>
        <p:spPr>
          <a:xfrm>
            <a:off x="5989320" y="3886200"/>
            <a:ext cx="5532120" cy="1051560"/>
          </a:xfrm>
          <a:prstGeom prst="roundRect">
            <a:avLst>
              <a:gd name="adj" fmla="val 6957"/>
            </a:avLst>
          </a:prstGeom>
          <a:solidFill>
            <a:srgbClr val="F3EEE5"/>
          </a:solidFill>
          <a:ln w="12700">
            <a:solidFill>
              <a:srgbClr val="F3EEE5"/>
            </a:solidFill>
            <a:prstDash val="solid"/>
          </a:ln>
        </p:spPr>
        <p:txBody>
          <a:bodyPr/>
          <a:lstStyle/>
          <a:p>
            <a:endParaRPr lang="en-US"/>
          </a:p>
        </p:txBody>
      </p:sp>
      <p:sp>
        <p:nvSpPr>
          <p:cNvPr id="19" name="Shape 17"/>
          <p:cNvSpPr/>
          <p:nvPr/>
        </p:nvSpPr>
        <p:spPr>
          <a:xfrm>
            <a:off x="6217920" y="4215384"/>
            <a:ext cx="329184" cy="329184"/>
          </a:xfrm>
          <a:prstGeom prst="ellipse">
            <a:avLst/>
          </a:prstGeom>
          <a:solidFill>
            <a:srgbClr val="101822"/>
          </a:solidFill>
          <a:ln/>
        </p:spPr>
        <p:txBody>
          <a:bodyPr/>
          <a:lstStyle/>
          <a:p>
            <a:endParaRPr lang="en-US"/>
          </a:p>
        </p:txBody>
      </p:sp>
      <p:sp>
        <p:nvSpPr>
          <p:cNvPr id="20" name="Text 18"/>
          <p:cNvSpPr txBox="1"/>
          <p:nvPr/>
        </p:nvSpPr>
        <p:spPr>
          <a:xfrm>
            <a:off x="6217920" y="4215384"/>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1" name="Text 19"/>
          <p:cNvSpPr txBox="1"/>
          <p:nvPr/>
        </p:nvSpPr>
        <p:spPr>
          <a:xfrm>
            <a:off x="6675120" y="4014216"/>
            <a:ext cx="4617720" cy="274320"/>
          </a:xfrm>
          <a:prstGeom prst="rect">
            <a:avLst/>
          </a:prstGeom>
          <a:noFill/>
          <a:ln/>
        </p:spPr>
        <p:txBody>
          <a:bodyPr wrap="square" lIns="0" tIns="0" rIns="0" bIns="0" rtlCol="0" anchor="ctr"/>
          <a:lstStyle/>
          <a:p>
            <a:pPr marL="0" indent="0">
              <a:buNone/>
            </a:pPr>
            <a:r>
              <a:rPr lang="en-US" sz="1450" b="1" dirty="0">
                <a:solidFill>
                  <a:srgbClr val="101822"/>
                </a:solidFill>
                <a:latin typeface="Cambria" pitchFamily="34" charset="0"/>
                <a:ea typeface="Cambria" pitchFamily="34" charset="-122"/>
                <a:cs typeface="Cambria" pitchFamily="34" charset="-120"/>
              </a:rPr>
              <a:t>It comes to him</a:t>
            </a:r>
            <a:endParaRPr lang="en-US" sz="1450" dirty="0"/>
          </a:p>
        </p:txBody>
      </p:sp>
      <p:sp>
        <p:nvSpPr>
          <p:cNvPr id="22" name="Text 20"/>
          <p:cNvSpPr txBox="1"/>
          <p:nvPr/>
        </p:nvSpPr>
        <p:spPr>
          <a:xfrm>
            <a:off x="6675120" y="4306824"/>
            <a:ext cx="4617720" cy="566928"/>
          </a:xfrm>
          <a:prstGeom prst="rect">
            <a:avLst/>
          </a:prstGeom>
          <a:noFill/>
          <a:ln/>
        </p:spPr>
        <p:txBody>
          <a:bodyPr wrap="square" lIns="0" tIns="0" rIns="0" bIns="0" rtlCol="0" anchor="ctr"/>
          <a:lstStyle/>
          <a:p>
            <a:pPr marL="0" indent="0">
              <a:lnSpc>
                <a:spcPts val="1500"/>
              </a:lnSpc>
              <a:buNone/>
            </a:pPr>
            <a:r>
              <a:rPr lang="en-US" sz="1150" dirty="0">
                <a:solidFill>
                  <a:srgbClr val="5A6472"/>
                </a:solidFill>
                <a:latin typeface="Calibri" pitchFamily="34" charset="0"/>
                <a:ea typeface="Calibri" pitchFamily="34" charset="-122"/>
                <a:cs typeface="Calibri" pitchFamily="34" charset="-120"/>
              </a:rPr>
              <a:t>The creature draws back the bed-curtain and, by Victor’s own account, makes sounds and reaches out a hand. Victor runs. Read that gesture again — the first thing the creature ever does is reach for him.</a:t>
            </a:r>
            <a:endParaRPr lang="en-US" sz="1150" dirty="0"/>
          </a:p>
        </p:txBody>
      </p:sp>
      <p:sp>
        <p:nvSpPr>
          <p:cNvPr id="23" name="Shape 21"/>
          <p:cNvSpPr/>
          <p:nvPr/>
        </p:nvSpPr>
        <p:spPr>
          <a:xfrm>
            <a:off x="5989320" y="5029200"/>
            <a:ext cx="5532120" cy="1051560"/>
          </a:xfrm>
          <a:prstGeom prst="roundRect">
            <a:avLst>
              <a:gd name="adj" fmla="val 6957"/>
            </a:avLst>
          </a:prstGeom>
          <a:solidFill>
            <a:srgbClr val="E6EEF3"/>
          </a:solidFill>
          <a:ln w="12700">
            <a:solidFill>
              <a:srgbClr val="E6EEF3"/>
            </a:solidFill>
            <a:prstDash val="solid"/>
          </a:ln>
        </p:spPr>
        <p:txBody>
          <a:bodyPr/>
          <a:lstStyle/>
          <a:p>
            <a:endParaRPr lang="en-US"/>
          </a:p>
        </p:txBody>
      </p:sp>
      <p:sp>
        <p:nvSpPr>
          <p:cNvPr id="24" name="Shape 22"/>
          <p:cNvSpPr/>
          <p:nvPr/>
        </p:nvSpPr>
        <p:spPr>
          <a:xfrm>
            <a:off x="6217920" y="5358384"/>
            <a:ext cx="329184" cy="329184"/>
          </a:xfrm>
          <a:prstGeom prst="ellipse">
            <a:avLst/>
          </a:prstGeom>
          <a:solidFill>
            <a:srgbClr val="35708C"/>
          </a:solidFill>
          <a:ln/>
        </p:spPr>
        <p:txBody>
          <a:bodyPr/>
          <a:lstStyle/>
          <a:p>
            <a:endParaRPr lang="en-US"/>
          </a:p>
        </p:txBody>
      </p:sp>
      <p:sp>
        <p:nvSpPr>
          <p:cNvPr id="25" name="Text 23"/>
          <p:cNvSpPr txBox="1"/>
          <p:nvPr/>
        </p:nvSpPr>
        <p:spPr>
          <a:xfrm>
            <a:off x="6217920" y="5358384"/>
            <a:ext cx="329184" cy="32918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6" name="Text 24"/>
          <p:cNvSpPr txBox="1"/>
          <p:nvPr/>
        </p:nvSpPr>
        <p:spPr>
          <a:xfrm>
            <a:off x="6675120" y="5157216"/>
            <a:ext cx="4617720" cy="274320"/>
          </a:xfrm>
          <a:prstGeom prst="rect">
            <a:avLst/>
          </a:prstGeom>
          <a:noFill/>
          <a:ln/>
        </p:spPr>
        <p:txBody>
          <a:bodyPr wrap="square" lIns="0" tIns="0" rIns="0" bIns="0" rtlCol="0" anchor="ctr"/>
          <a:lstStyle/>
          <a:p>
            <a:pPr marL="0" indent="0">
              <a:buNone/>
            </a:pPr>
            <a:r>
              <a:rPr lang="en-US" sz="1450" b="1" dirty="0">
                <a:solidFill>
                  <a:srgbClr val="101822"/>
                </a:solidFill>
                <a:latin typeface="Cambria" pitchFamily="34" charset="0"/>
                <a:ea typeface="Cambria" pitchFamily="34" charset="-122"/>
                <a:cs typeface="Cambria" pitchFamily="34" charset="-120"/>
              </a:rPr>
              <a:t>Months of illness, no search</a:t>
            </a:r>
            <a:endParaRPr lang="en-US" sz="1450" dirty="0"/>
          </a:p>
        </p:txBody>
      </p:sp>
      <p:sp>
        <p:nvSpPr>
          <p:cNvPr id="27" name="Text 25"/>
          <p:cNvSpPr txBox="1"/>
          <p:nvPr/>
        </p:nvSpPr>
        <p:spPr>
          <a:xfrm>
            <a:off x="6675120" y="5449824"/>
            <a:ext cx="4617720" cy="566928"/>
          </a:xfrm>
          <a:prstGeom prst="rect">
            <a:avLst/>
          </a:prstGeom>
          <a:noFill/>
          <a:ln/>
        </p:spPr>
        <p:txBody>
          <a:bodyPr wrap="square" lIns="0" tIns="0" rIns="0" bIns="0" rtlCol="0" anchor="ctr"/>
          <a:lstStyle/>
          <a:p>
            <a:pPr marL="0" indent="0">
              <a:lnSpc>
                <a:spcPts val="1500"/>
              </a:lnSpc>
              <a:buNone/>
            </a:pPr>
            <a:r>
              <a:rPr lang="en-US" sz="1150" dirty="0">
                <a:solidFill>
                  <a:srgbClr val="5A6472"/>
                </a:solidFill>
                <a:latin typeface="Calibri" pitchFamily="34" charset="0"/>
                <a:ea typeface="Calibri" pitchFamily="34" charset="-122"/>
                <a:cs typeface="Calibri" pitchFamily="34" charset="-120"/>
              </a:rPr>
              <a:t>Clerval arrives; Victor collapses into a nervous fever until the following spring. In all that time nobody looks for what he made. It has been outdoors, alone, for a season.</a:t>
            </a:r>
            <a:endParaRPr lang="en-US" sz="1150" dirty="0"/>
          </a:p>
        </p:txBody>
      </p:sp>
      <p:sp>
        <p:nvSpPr>
          <p:cNvPr id="28" name="Shape 26"/>
          <p:cNvSpPr/>
          <p:nvPr/>
        </p:nvSpPr>
        <p:spPr>
          <a:xfrm>
            <a:off x="640080" y="3703320"/>
            <a:ext cx="5029200" cy="2057400"/>
          </a:xfrm>
          <a:prstGeom prst="roundRect">
            <a:avLst>
              <a:gd name="adj" fmla="val 3556"/>
            </a:avLst>
          </a:prstGeom>
          <a:solidFill>
            <a:srgbClr val="F3EEE5"/>
          </a:solidFill>
          <a:ln w="12700">
            <a:solidFill>
              <a:srgbClr val="F3EEE5"/>
            </a:solidFill>
            <a:prstDash val="solid"/>
          </a:ln>
        </p:spPr>
        <p:txBody>
          <a:bodyPr/>
          <a:lstStyle/>
          <a:p>
            <a:endParaRPr lang="en-US"/>
          </a:p>
        </p:txBody>
      </p:sp>
      <p:sp>
        <p:nvSpPr>
          <p:cNvPr id="29" name="Text 27"/>
          <p:cNvSpPr txBox="1"/>
          <p:nvPr/>
        </p:nvSpPr>
        <p:spPr>
          <a:xfrm>
            <a:off x="960120" y="3913632"/>
            <a:ext cx="4389120" cy="292608"/>
          </a:xfrm>
          <a:prstGeom prst="rect">
            <a:avLst/>
          </a:prstGeom>
          <a:noFill/>
          <a:ln/>
        </p:spPr>
        <p:txBody>
          <a:bodyPr wrap="square" lIns="0" tIns="0" rIns="0" bIns="0" rtlCol="0" anchor="ctr"/>
          <a:lstStyle/>
          <a:p>
            <a:pPr marL="0" indent="0">
              <a:buNone/>
            </a:pPr>
            <a:r>
              <a:rPr lang="en-US" sz="1550" b="1" dirty="0">
                <a:solidFill>
                  <a:srgbClr val="101822"/>
                </a:solidFill>
                <a:latin typeface="Cambria" pitchFamily="34" charset="0"/>
                <a:ea typeface="Cambria" pitchFamily="34" charset="-122"/>
                <a:cs typeface="Cambria" pitchFamily="34" charset="-120"/>
              </a:rPr>
              <a:t>The comparison to hold</a:t>
            </a:r>
            <a:endParaRPr lang="en-US" sz="1550" dirty="0"/>
          </a:p>
        </p:txBody>
      </p:sp>
      <p:sp>
        <p:nvSpPr>
          <p:cNvPr id="30" name="Text 28"/>
          <p:cNvSpPr txBox="1"/>
          <p:nvPr/>
        </p:nvSpPr>
        <p:spPr>
          <a:xfrm>
            <a:off x="960120" y="4279392"/>
            <a:ext cx="4389120" cy="1325880"/>
          </a:xfrm>
          <a:prstGeom prst="rect">
            <a:avLst/>
          </a:prstGeom>
          <a:noFill/>
          <a:ln/>
        </p:spPr>
        <p:txBody>
          <a:bodyPr wrap="square" lIns="0" tIns="0" rIns="0" bIns="0" rtlCol="0" anchor="ctr"/>
          <a:lstStyle/>
          <a:p>
            <a:pPr marL="0" indent="0">
              <a:lnSpc>
                <a:spcPts val="1700"/>
              </a:lnSpc>
              <a:buNone/>
            </a:pPr>
            <a:r>
              <a:rPr lang="en-US" sz="1250" dirty="0">
                <a:solidFill>
                  <a:srgbClr val="5A6472"/>
                </a:solidFill>
                <a:latin typeface="Calibri" pitchFamily="34" charset="0"/>
                <a:ea typeface="Calibri" pitchFamily="34" charset="-122"/>
                <a:cs typeface="Calibri" pitchFamily="34" charset="-120"/>
              </a:rPr>
              <a:t>Two years of preparation. Roughly two minutes of attention.</a:t>
            </a:r>
            <a:endParaRPr lang="en-US" sz="1250" dirty="0"/>
          </a:p>
          <a:p>
            <a:pPr marL="0" indent="0">
              <a:lnSpc>
                <a:spcPts val="1700"/>
              </a:lnSpc>
              <a:buNone/>
            </a:pPr>
            <a:endParaRPr lang="en-US" sz="1250" dirty="0"/>
          </a:p>
          <a:p>
            <a:pPr marL="0" indent="0">
              <a:lnSpc>
                <a:spcPts val="1700"/>
              </a:lnSpc>
              <a:buNone/>
            </a:pPr>
            <a:r>
              <a:rPr lang="en-US" sz="1250" dirty="0">
                <a:solidFill>
                  <a:srgbClr val="5A6472"/>
                </a:solidFill>
                <a:latin typeface="Calibri" pitchFamily="34" charset="0"/>
                <a:ea typeface="Calibri" pitchFamily="34" charset="-122"/>
                <a:cs typeface="Calibri" pitchFamily="34" charset="-120"/>
              </a:rPr>
              <a:t>Victor is meticulous about the specification and absent at deployment. He optimised entirely for the moment of success and made no provision whatsoever for the day after it.</a:t>
            </a:r>
            <a:endParaRPr lang="en-US" sz="1250" dirty="0"/>
          </a:p>
        </p:txBody>
      </p:sp>
      <p:sp>
        <p:nvSpPr>
          <p:cNvPr id="31" name="Text 29"/>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A6472"/>
                </a:solidFill>
                <a:latin typeface="Calibri" pitchFamily="34" charset="0"/>
                <a:ea typeface="Calibri" pitchFamily="34" charset="-122"/>
                <a:cs typeface="Calibri" pitchFamily="34" charset="-120"/>
              </a:rPr>
              <a:t>Shelley, Frankenstein (1818), Vol I, ch. V.</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A6472"/>
                </a:solidFill>
                <a:latin typeface="Calibri" pitchFamily="34" charset="0"/>
                <a:ea typeface="Calibri" pitchFamily="34" charset="-122"/>
                <a:cs typeface="Calibri" pitchFamily="34" charset="-120"/>
              </a:rPr>
              <a:t>VOL I, CH. V–VII</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01822"/>
                </a:solidFill>
                <a:latin typeface="Cambria" pitchFamily="34" charset="0"/>
                <a:ea typeface="Cambria" pitchFamily="34" charset="-122"/>
                <a:cs typeface="Cambria" pitchFamily="34" charset="-120"/>
              </a:rPr>
              <a:t>Victor’s alibis — a catalogue</a:t>
            </a:r>
            <a:endParaRPr lang="en-US" sz="3000" dirty="0"/>
          </a:p>
        </p:txBody>
      </p:sp>
      <p:sp>
        <p:nvSpPr>
          <p:cNvPr id="5" name="Shape 3"/>
          <p:cNvSpPr/>
          <p:nvPr/>
        </p:nvSpPr>
        <p:spPr>
          <a:xfrm>
            <a:off x="640080" y="1572768"/>
            <a:ext cx="3454298" cy="1737360"/>
          </a:xfrm>
          <a:prstGeom prst="roundRect">
            <a:avLst>
              <a:gd name="adj" fmla="val 4211"/>
            </a:avLst>
          </a:prstGeom>
          <a:solidFill>
            <a:srgbClr val="F3EEE5"/>
          </a:solidFill>
          <a:ln w="12700">
            <a:solidFill>
              <a:srgbClr val="F3EEE5"/>
            </a:solidFill>
            <a:prstDash val="solid"/>
          </a:ln>
        </p:spPr>
        <p:txBody>
          <a:bodyPr/>
          <a:lstStyle/>
          <a:p>
            <a:endParaRPr lang="en-US"/>
          </a:p>
        </p:txBody>
      </p:sp>
      <p:sp>
        <p:nvSpPr>
          <p:cNvPr id="6" name="Text 4"/>
          <p:cNvSpPr txBox="1"/>
          <p:nvPr/>
        </p:nvSpPr>
        <p:spPr>
          <a:xfrm>
            <a:off x="914400" y="1755648"/>
            <a:ext cx="2905658" cy="310896"/>
          </a:xfrm>
          <a:prstGeom prst="rect">
            <a:avLst/>
          </a:prstGeom>
          <a:noFill/>
          <a:ln/>
        </p:spPr>
        <p:txBody>
          <a:bodyPr wrap="square" lIns="0" tIns="0" rIns="0" bIns="0" rtlCol="0" anchor="ctr"/>
          <a:lstStyle/>
          <a:p>
            <a:pPr marL="0" indent="0">
              <a:buNone/>
            </a:pPr>
            <a:r>
              <a:rPr lang="en-US" sz="1700" b="1" dirty="0">
                <a:solidFill>
                  <a:srgbClr val="101822"/>
                </a:solidFill>
                <a:latin typeface="Cambria" pitchFamily="34" charset="0"/>
                <a:ea typeface="Cambria" pitchFamily="34" charset="-122"/>
                <a:cs typeface="Cambria" pitchFamily="34" charset="-120"/>
              </a:rPr>
              <a:t>Aesthetic</a:t>
            </a:r>
            <a:endParaRPr lang="en-US" sz="1700" dirty="0"/>
          </a:p>
        </p:txBody>
      </p:sp>
      <p:sp>
        <p:nvSpPr>
          <p:cNvPr id="7" name="Text 5"/>
          <p:cNvSpPr txBox="1"/>
          <p:nvPr/>
        </p:nvSpPr>
        <p:spPr>
          <a:xfrm>
            <a:off x="914400" y="2121408"/>
            <a:ext cx="2905658" cy="1051560"/>
          </a:xfrm>
          <a:prstGeom prst="rect">
            <a:avLst/>
          </a:prstGeom>
          <a:noFill/>
          <a:ln/>
        </p:spPr>
        <p:txBody>
          <a:bodyPr wrap="square" lIns="0" tIns="0" rIns="0" bIns="0" rtlCol="0" anchor="ctr"/>
          <a:lstStyle/>
          <a:p>
            <a:pPr marL="0" indent="0">
              <a:lnSpc>
                <a:spcPts val="1600"/>
              </a:lnSpc>
              <a:buNone/>
            </a:pPr>
            <a:r>
              <a:rPr lang="en-US" sz="1200" dirty="0">
                <a:solidFill>
                  <a:srgbClr val="5A6472"/>
                </a:solidFill>
                <a:latin typeface="Calibri" pitchFamily="34" charset="0"/>
                <a:ea typeface="Calibri" pitchFamily="34" charset="-122"/>
                <a:cs typeface="Calibri" pitchFamily="34" charset="-120"/>
              </a:rPr>
              <a:t>He was repelled by how it looked. This is offered as sufficient explanation and never examined. It is also the only reason he gives on the night itself.</a:t>
            </a:r>
            <a:endParaRPr lang="en-US" sz="1200" dirty="0"/>
          </a:p>
        </p:txBody>
      </p:sp>
      <p:sp>
        <p:nvSpPr>
          <p:cNvPr id="8" name="Shape 6"/>
          <p:cNvSpPr/>
          <p:nvPr/>
        </p:nvSpPr>
        <p:spPr>
          <a:xfrm>
            <a:off x="4368698" y="1572768"/>
            <a:ext cx="3454298" cy="1737360"/>
          </a:xfrm>
          <a:prstGeom prst="roundRect">
            <a:avLst>
              <a:gd name="adj" fmla="val 4211"/>
            </a:avLst>
          </a:prstGeom>
          <a:solidFill>
            <a:srgbClr val="E6EEF3"/>
          </a:solidFill>
          <a:ln w="12700">
            <a:solidFill>
              <a:srgbClr val="E6EEF3"/>
            </a:solidFill>
            <a:prstDash val="solid"/>
          </a:ln>
        </p:spPr>
        <p:txBody>
          <a:bodyPr/>
          <a:lstStyle/>
          <a:p>
            <a:endParaRPr lang="en-US"/>
          </a:p>
        </p:txBody>
      </p:sp>
      <p:sp>
        <p:nvSpPr>
          <p:cNvPr id="9" name="Text 7"/>
          <p:cNvSpPr txBox="1"/>
          <p:nvPr/>
        </p:nvSpPr>
        <p:spPr>
          <a:xfrm>
            <a:off x="4643018" y="1755648"/>
            <a:ext cx="2905658" cy="310896"/>
          </a:xfrm>
          <a:prstGeom prst="rect">
            <a:avLst/>
          </a:prstGeom>
          <a:noFill/>
          <a:ln/>
        </p:spPr>
        <p:txBody>
          <a:bodyPr wrap="square" lIns="0" tIns="0" rIns="0" bIns="0" rtlCol="0" anchor="ctr"/>
          <a:lstStyle/>
          <a:p>
            <a:pPr marL="0" indent="0">
              <a:buNone/>
            </a:pPr>
            <a:r>
              <a:rPr lang="en-US" sz="1700" b="1" dirty="0">
                <a:solidFill>
                  <a:srgbClr val="35708C"/>
                </a:solidFill>
                <a:latin typeface="Cambria" pitchFamily="34" charset="0"/>
                <a:ea typeface="Cambria" pitchFamily="34" charset="-122"/>
                <a:cs typeface="Cambria" pitchFamily="34" charset="-120"/>
              </a:rPr>
              <a:t>Medical</a:t>
            </a:r>
            <a:endParaRPr lang="en-US" sz="1700" dirty="0"/>
          </a:p>
        </p:txBody>
      </p:sp>
      <p:sp>
        <p:nvSpPr>
          <p:cNvPr id="10" name="Text 8"/>
          <p:cNvSpPr txBox="1"/>
          <p:nvPr/>
        </p:nvSpPr>
        <p:spPr>
          <a:xfrm>
            <a:off x="4643018" y="2121408"/>
            <a:ext cx="2905658" cy="1051560"/>
          </a:xfrm>
          <a:prstGeom prst="rect">
            <a:avLst/>
          </a:prstGeom>
          <a:noFill/>
          <a:ln/>
        </p:spPr>
        <p:txBody>
          <a:bodyPr wrap="square" lIns="0" tIns="0" rIns="0" bIns="0" rtlCol="0" anchor="ctr"/>
          <a:lstStyle/>
          <a:p>
            <a:pPr marL="0" indent="0">
              <a:lnSpc>
                <a:spcPts val="1600"/>
              </a:lnSpc>
              <a:buNone/>
            </a:pPr>
            <a:r>
              <a:rPr lang="en-US" sz="1200" dirty="0">
                <a:solidFill>
                  <a:srgbClr val="5A6472"/>
                </a:solidFill>
                <a:latin typeface="Calibri" pitchFamily="34" charset="0"/>
                <a:ea typeface="Calibri" pitchFamily="34" charset="-122"/>
                <a:cs typeface="Calibri" pitchFamily="34" charset="-120"/>
              </a:rPr>
              <a:t>He was ill. The fever is real, but it begins after the flight, and it conveniently occupies the months in which a search would have been possible.</a:t>
            </a:r>
            <a:endParaRPr lang="en-US" sz="1200" dirty="0"/>
          </a:p>
        </p:txBody>
      </p:sp>
      <p:sp>
        <p:nvSpPr>
          <p:cNvPr id="11" name="Shape 9"/>
          <p:cNvSpPr/>
          <p:nvPr/>
        </p:nvSpPr>
        <p:spPr>
          <a:xfrm>
            <a:off x="8097317" y="1572768"/>
            <a:ext cx="3454298" cy="1737360"/>
          </a:xfrm>
          <a:prstGeom prst="roundRect">
            <a:avLst>
              <a:gd name="adj" fmla="val 4211"/>
            </a:avLst>
          </a:prstGeom>
          <a:solidFill>
            <a:srgbClr val="F3EEE5"/>
          </a:solidFill>
          <a:ln w="12700">
            <a:solidFill>
              <a:srgbClr val="F3EEE5"/>
            </a:solidFill>
            <a:prstDash val="solid"/>
          </a:ln>
        </p:spPr>
        <p:txBody>
          <a:bodyPr/>
          <a:lstStyle/>
          <a:p>
            <a:endParaRPr lang="en-US"/>
          </a:p>
        </p:txBody>
      </p:sp>
      <p:sp>
        <p:nvSpPr>
          <p:cNvPr id="12" name="Text 10"/>
          <p:cNvSpPr txBox="1"/>
          <p:nvPr/>
        </p:nvSpPr>
        <p:spPr>
          <a:xfrm>
            <a:off x="8371637" y="1755648"/>
            <a:ext cx="2905658" cy="310896"/>
          </a:xfrm>
          <a:prstGeom prst="rect">
            <a:avLst/>
          </a:prstGeom>
          <a:noFill/>
          <a:ln/>
        </p:spPr>
        <p:txBody>
          <a:bodyPr wrap="square" lIns="0" tIns="0" rIns="0" bIns="0" rtlCol="0" anchor="ctr"/>
          <a:lstStyle/>
          <a:p>
            <a:pPr marL="0" indent="0">
              <a:buNone/>
            </a:pPr>
            <a:r>
              <a:rPr lang="en-US" sz="1700" b="1" dirty="0">
                <a:solidFill>
                  <a:srgbClr val="101822"/>
                </a:solidFill>
                <a:latin typeface="Cambria" pitchFamily="34" charset="0"/>
                <a:ea typeface="Cambria" pitchFamily="34" charset="-122"/>
                <a:cs typeface="Cambria" pitchFamily="34" charset="-120"/>
              </a:rPr>
              <a:t>Epistemic</a:t>
            </a:r>
            <a:endParaRPr lang="en-US" sz="1700" dirty="0"/>
          </a:p>
        </p:txBody>
      </p:sp>
      <p:sp>
        <p:nvSpPr>
          <p:cNvPr id="13" name="Text 11"/>
          <p:cNvSpPr txBox="1"/>
          <p:nvPr/>
        </p:nvSpPr>
        <p:spPr>
          <a:xfrm>
            <a:off x="8371637" y="2121408"/>
            <a:ext cx="2905658" cy="1051560"/>
          </a:xfrm>
          <a:prstGeom prst="rect">
            <a:avLst/>
          </a:prstGeom>
          <a:noFill/>
          <a:ln/>
        </p:spPr>
        <p:txBody>
          <a:bodyPr wrap="square" lIns="0" tIns="0" rIns="0" bIns="0" rtlCol="0" anchor="ctr"/>
          <a:lstStyle/>
          <a:p>
            <a:pPr marL="0" indent="0">
              <a:lnSpc>
                <a:spcPts val="1600"/>
              </a:lnSpc>
              <a:buNone/>
            </a:pPr>
            <a:r>
              <a:rPr lang="en-US" sz="1200" dirty="0">
                <a:solidFill>
                  <a:srgbClr val="5A6472"/>
                </a:solidFill>
                <a:latin typeface="Calibri" pitchFamily="34" charset="0"/>
                <a:ea typeface="Calibri" pitchFamily="34" charset="-122"/>
                <a:cs typeface="Calibri" pitchFamily="34" charset="-120"/>
              </a:rPr>
              <a:t>He could not have known. But he selected the features himself, over two years, and the novel shows him choosing scale deliberately for ease of work.</a:t>
            </a:r>
            <a:endParaRPr lang="en-US" sz="1200" dirty="0"/>
          </a:p>
        </p:txBody>
      </p:sp>
      <p:sp>
        <p:nvSpPr>
          <p:cNvPr id="14" name="Shape 12"/>
          <p:cNvSpPr/>
          <p:nvPr/>
        </p:nvSpPr>
        <p:spPr>
          <a:xfrm>
            <a:off x="640080" y="3493008"/>
            <a:ext cx="3454298" cy="1737360"/>
          </a:xfrm>
          <a:prstGeom prst="roundRect">
            <a:avLst>
              <a:gd name="adj" fmla="val 4211"/>
            </a:avLst>
          </a:prstGeom>
          <a:solidFill>
            <a:srgbClr val="E6EEF3"/>
          </a:solidFill>
          <a:ln w="12700">
            <a:solidFill>
              <a:srgbClr val="E6EEF3"/>
            </a:solidFill>
            <a:prstDash val="solid"/>
          </a:ln>
        </p:spPr>
        <p:txBody>
          <a:bodyPr/>
          <a:lstStyle/>
          <a:p>
            <a:endParaRPr lang="en-US"/>
          </a:p>
        </p:txBody>
      </p:sp>
      <p:sp>
        <p:nvSpPr>
          <p:cNvPr id="15" name="Text 13"/>
          <p:cNvSpPr txBox="1"/>
          <p:nvPr/>
        </p:nvSpPr>
        <p:spPr>
          <a:xfrm>
            <a:off x="914400" y="3675888"/>
            <a:ext cx="2905658" cy="310896"/>
          </a:xfrm>
          <a:prstGeom prst="rect">
            <a:avLst/>
          </a:prstGeom>
          <a:noFill/>
          <a:ln/>
        </p:spPr>
        <p:txBody>
          <a:bodyPr wrap="square" lIns="0" tIns="0" rIns="0" bIns="0" rtlCol="0" anchor="ctr"/>
          <a:lstStyle/>
          <a:p>
            <a:pPr marL="0" indent="0">
              <a:buNone/>
            </a:pPr>
            <a:r>
              <a:rPr lang="en-US" sz="1700" b="1" dirty="0">
                <a:solidFill>
                  <a:srgbClr val="35708C"/>
                </a:solidFill>
                <a:latin typeface="Cambria" pitchFamily="34" charset="0"/>
                <a:ea typeface="Cambria" pitchFamily="34" charset="-122"/>
                <a:cs typeface="Cambria" pitchFamily="34" charset="-120"/>
              </a:rPr>
              <a:t>Reputational</a:t>
            </a:r>
            <a:endParaRPr lang="en-US" sz="1700" dirty="0"/>
          </a:p>
        </p:txBody>
      </p:sp>
      <p:sp>
        <p:nvSpPr>
          <p:cNvPr id="16" name="Text 14"/>
          <p:cNvSpPr txBox="1"/>
          <p:nvPr/>
        </p:nvSpPr>
        <p:spPr>
          <a:xfrm>
            <a:off x="914400" y="4041648"/>
            <a:ext cx="2905658" cy="1051560"/>
          </a:xfrm>
          <a:prstGeom prst="rect">
            <a:avLst/>
          </a:prstGeom>
          <a:noFill/>
          <a:ln/>
        </p:spPr>
        <p:txBody>
          <a:bodyPr wrap="square" lIns="0" tIns="0" rIns="0" bIns="0" rtlCol="0" anchor="ctr"/>
          <a:lstStyle/>
          <a:p>
            <a:pPr marL="0" indent="0">
              <a:lnSpc>
                <a:spcPts val="1600"/>
              </a:lnSpc>
              <a:buNone/>
            </a:pPr>
            <a:r>
              <a:rPr lang="en-US" sz="1200" dirty="0">
                <a:solidFill>
                  <a:srgbClr val="5A6472"/>
                </a:solidFill>
                <a:latin typeface="Calibri" pitchFamily="34" charset="0"/>
                <a:ea typeface="Calibri" pitchFamily="34" charset="-122"/>
                <a:cs typeface="Calibri" pitchFamily="34" charset="-120"/>
              </a:rPr>
              <a:t>He cannot speak at Justine’s trial because he would not be believed, and would be thought mad. Notice that the cost of silence falls entirely on her.</a:t>
            </a:r>
            <a:endParaRPr lang="en-US" sz="1200" dirty="0"/>
          </a:p>
        </p:txBody>
      </p:sp>
      <p:sp>
        <p:nvSpPr>
          <p:cNvPr id="17" name="Shape 15"/>
          <p:cNvSpPr/>
          <p:nvPr/>
        </p:nvSpPr>
        <p:spPr>
          <a:xfrm>
            <a:off x="4368698" y="3493008"/>
            <a:ext cx="3454298" cy="1737360"/>
          </a:xfrm>
          <a:prstGeom prst="roundRect">
            <a:avLst>
              <a:gd name="adj" fmla="val 4211"/>
            </a:avLst>
          </a:prstGeom>
          <a:solidFill>
            <a:srgbClr val="F3EEE5"/>
          </a:solidFill>
          <a:ln w="12700">
            <a:solidFill>
              <a:srgbClr val="F3EEE5"/>
            </a:solidFill>
            <a:prstDash val="solid"/>
          </a:ln>
        </p:spPr>
        <p:txBody>
          <a:bodyPr/>
          <a:lstStyle/>
          <a:p>
            <a:endParaRPr lang="en-US"/>
          </a:p>
        </p:txBody>
      </p:sp>
      <p:sp>
        <p:nvSpPr>
          <p:cNvPr id="18" name="Text 16"/>
          <p:cNvSpPr txBox="1"/>
          <p:nvPr/>
        </p:nvSpPr>
        <p:spPr>
          <a:xfrm>
            <a:off x="4643018" y="3675888"/>
            <a:ext cx="2905658" cy="310896"/>
          </a:xfrm>
          <a:prstGeom prst="rect">
            <a:avLst/>
          </a:prstGeom>
          <a:noFill/>
          <a:ln/>
        </p:spPr>
        <p:txBody>
          <a:bodyPr wrap="square" lIns="0" tIns="0" rIns="0" bIns="0" rtlCol="0" anchor="ctr"/>
          <a:lstStyle/>
          <a:p>
            <a:pPr marL="0" indent="0">
              <a:buNone/>
            </a:pPr>
            <a:r>
              <a:rPr lang="en-US" sz="1700" b="1" dirty="0">
                <a:solidFill>
                  <a:srgbClr val="101822"/>
                </a:solidFill>
                <a:latin typeface="Cambria" pitchFamily="34" charset="0"/>
                <a:ea typeface="Cambria" pitchFamily="34" charset="-122"/>
                <a:cs typeface="Cambria" pitchFamily="34" charset="-120"/>
              </a:rPr>
              <a:t>Fatalistic</a:t>
            </a:r>
            <a:endParaRPr lang="en-US" sz="1700" dirty="0"/>
          </a:p>
        </p:txBody>
      </p:sp>
      <p:sp>
        <p:nvSpPr>
          <p:cNvPr id="19" name="Text 17"/>
          <p:cNvSpPr txBox="1"/>
          <p:nvPr/>
        </p:nvSpPr>
        <p:spPr>
          <a:xfrm>
            <a:off x="4643018" y="4041648"/>
            <a:ext cx="2905658" cy="1051560"/>
          </a:xfrm>
          <a:prstGeom prst="rect">
            <a:avLst/>
          </a:prstGeom>
          <a:noFill/>
          <a:ln/>
        </p:spPr>
        <p:txBody>
          <a:bodyPr wrap="square" lIns="0" tIns="0" rIns="0" bIns="0" rtlCol="0" anchor="ctr"/>
          <a:lstStyle/>
          <a:p>
            <a:pPr marL="0" indent="0">
              <a:lnSpc>
                <a:spcPts val="1600"/>
              </a:lnSpc>
              <a:buNone/>
            </a:pPr>
            <a:r>
              <a:rPr lang="en-US" sz="1200" dirty="0">
                <a:solidFill>
                  <a:srgbClr val="5A6472"/>
                </a:solidFill>
                <a:latin typeface="Calibri" pitchFamily="34" charset="0"/>
                <a:ea typeface="Calibri" pitchFamily="34" charset="-122"/>
                <a:cs typeface="Calibri" pitchFamily="34" charset="-120"/>
              </a:rPr>
              <a:t>He describes himself as driven, seized, destined. Watch for this vocabulary — it is much heavier in the 1831 text, which tells you Shelley knew what it was doing.</a:t>
            </a:r>
            <a:endParaRPr lang="en-US" sz="1200" dirty="0"/>
          </a:p>
        </p:txBody>
      </p:sp>
      <p:sp>
        <p:nvSpPr>
          <p:cNvPr id="20" name="Shape 18"/>
          <p:cNvSpPr/>
          <p:nvPr/>
        </p:nvSpPr>
        <p:spPr>
          <a:xfrm>
            <a:off x="8097317" y="3493008"/>
            <a:ext cx="3454298" cy="1737360"/>
          </a:xfrm>
          <a:prstGeom prst="roundRect">
            <a:avLst>
              <a:gd name="adj" fmla="val 4211"/>
            </a:avLst>
          </a:prstGeom>
          <a:solidFill>
            <a:srgbClr val="E6EEF3"/>
          </a:solidFill>
          <a:ln w="12700">
            <a:solidFill>
              <a:srgbClr val="E6EEF3"/>
            </a:solidFill>
            <a:prstDash val="solid"/>
          </a:ln>
        </p:spPr>
        <p:txBody>
          <a:bodyPr/>
          <a:lstStyle/>
          <a:p>
            <a:endParaRPr lang="en-US"/>
          </a:p>
        </p:txBody>
      </p:sp>
      <p:sp>
        <p:nvSpPr>
          <p:cNvPr id="21" name="Text 19"/>
          <p:cNvSpPr txBox="1"/>
          <p:nvPr/>
        </p:nvSpPr>
        <p:spPr>
          <a:xfrm>
            <a:off x="8371637" y="3675888"/>
            <a:ext cx="2905658" cy="310896"/>
          </a:xfrm>
          <a:prstGeom prst="rect">
            <a:avLst/>
          </a:prstGeom>
          <a:noFill/>
          <a:ln/>
        </p:spPr>
        <p:txBody>
          <a:bodyPr wrap="square" lIns="0" tIns="0" rIns="0" bIns="0" rtlCol="0" anchor="ctr"/>
          <a:lstStyle/>
          <a:p>
            <a:pPr marL="0" indent="0">
              <a:buNone/>
            </a:pPr>
            <a:r>
              <a:rPr lang="en-US" sz="1700" b="1" dirty="0">
                <a:solidFill>
                  <a:srgbClr val="35708C"/>
                </a:solidFill>
                <a:latin typeface="Cambria" pitchFamily="34" charset="0"/>
                <a:ea typeface="Cambria" pitchFamily="34" charset="-122"/>
                <a:cs typeface="Cambria" pitchFamily="34" charset="-120"/>
              </a:rPr>
              <a:t>Sentimental</a:t>
            </a:r>
            <a:endParaRPr lang="en-US" sz="1700" dirty="0"/>
          </a:p>
        </p:txBody>
      </p:sp>
      <p:sp>
        <p:nvSpPr>
          <p:cNvPr id="22" name="Text 20"/>
          <p:cNvSpPr txBox="1"/>
          <p:nvPr/>
        </p:nvSpPr>
        <p:spPr>
          <a:xfrm>
            <a:off x="8371637" y="4041648"/>
            <a:ext cx="2905658" cy="1051560"/>
          </a:xfrm>
          <a:prstGeom prst="rect">
            <a:avLst/>
          </a:prstGeom>
          <a:noFill/>
          <a:ln/>
        </p:spPr>
        <p:txBody>
          <a:bodyPr wrap="square" lIns="0" tIns="0" rIns="0" bIns="0" rtlCol="0" anchor="ctr"/>
          <a:lstStyle/>
          <a:p>
            <a:pPr marL="0" indent="0">
              <a:lnSpc>
                <a:spcPts val="1600"/>
              </a:lnSpc>
              <a:buNone/>
            </a:pPr>
            <a:r>
              <a:rPr lang="en-US" sz="1200" dirty="0">
                <a:solidFill>
                  <a:srgbClr val="5A6472"/>
                </a:solidFill>
                <a:latin typeface="Calibri" pitchFamily="34" charset="0"/>
                <a:ea typeface="Calibri" pitchFamily="34" charset="-122"/>
                <a:cs typeface="Calibri" pitchFamily="34" charset="-120"/>
              </a:rPr>
              <a:t>He grieves loudly and at length. Grief performs moral seriousness while requiring nothing of him. It is his most effective alibi and the hardest to attack.</a:t>
            </a:r>
            <a:endParaRPr lang="en-US" sz="1200" dirty="0"/>
          </a:p>
        </p:txBody>
      </p:sp>
      <p:sp>
        <p:nvSpPr>
          <p:cNvPr id="23" name="Text 21"/>
          <p:cNvSpPr txBox="1"/>
          <p:nvPr/>
        </p:nvSpPr>
        <p:spPr>
          <a:xfrm>
            <a:off x="640080" y="5532120"/>
            <a:ext cx="10881360" cy="384048"/>
          </a:xfrm>
          <a:prstGeom prst="rect">
            <a:avLst/>
          </a:prstGeom>
          <a:noFill/>
          <a:ln/>
        </p:spPr>
        <p:txBody>
          <a:bodyPr wrap="square" lIns="0" tIns="0" rIns="0" bIns="0" rtlCol="0" anchor="ctr"/>
          <a:lstStyle/>
          <a:p>
            <a:pPr marL="0" indent="0">
              <a:buNone/>
            </a:pPr>
            <a:r>
              <a:rPr lang="en-US" sz="1600" i="1" dirty="0">
                <a:solidFill>
                  <a:srgbClr val="35708C"/>
                </a:solidFill>
                <a:latin typeface="Cambria" pitchFamily="34" charset="0"/>
                <a:ea typeface="Cambria" pitchFamily="34" charset="-122"/>
                <a:cs typeface="Cambria" pitchFamily="34" charset="-120"/>
              </a:rPr>
              <a:t>Every one of these is a reason for not looking. None of them is a reason for not providing.</a:t>
            </a:r>
            <a:endParaRPr lang="en-US" sz="1600" dirty="0"/>
          </a:p>
        </p:txBody>
      </p:sp>
      <p:sp>
        <p:nvSpPr>
          <p:cNvPr id="24" name="Text 22"/>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A6472"/>
                </a:solidFill>
                <a:latin typeface="Calibri" pitchFamily="34" charset="0"/>
                <a:ea typeface="Calibri" pitchFamily="34" charset="-122"/>
                <a:cs typeface="Calibri" pitchFamily="34" charset="-120"/>
              </a:rPr>
              <a:t>Shelley, Frankenstein (1818), Vol I, ch. V–VII.</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A6472"/>
                </a:solidFill>
                <a:latin typeface="Calibri" pitchFamily="34" charset="0"/>
                <a:ea typeface="Calibri" pitchFamily="34" charset="-122"/>
                <a:cs typeface="Calibri" pitchFamily="34" charset="-120"/>
              </a:rPr>
              <a:t>VOL I, CH. VI–VII</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01822"/>
                </a:solidFill>
                <a:latin typeface="Cambria" pitchFamily="34" charset="0"/>
                <a:ea typeface="Cambria" pitchFamily="34" charset="-122"/>
                <a:cs typeface="Cambria" pitchFamily="34" charset="-120"/>
              </a:rPr>
              <a:t>Justine, and what silence costs other people</a:t>
            </a:r>
            <a:endParaRPr lang="en-US" sz="3000" dirty="0"/>
          </a:p>
        </p:txBody>
      </p:sp>
      <p:sp>
        <p:nvSpPr>
          <p:cNvPr id="5" name="Shape 3"/>
          <p:cNvSpPr/>
          <p:nvPr/>
        </p:nvSpPr>
        <p:spPr>
          <a:xfrm>
            <a:off x="640080" y="1600200"/>
            <a:ext cx="10911535" cy="1188720"/>
          </a:xfrm>
          <a:prstGeom prst="roundRect">
            <a:avLst>
              <a:gd name="adj" fmla="val 6154"/>
            </a:avLst>
          </a:prstGeom>
          <a:solidFill>
            <a:srgbClr val="F3EEE5"/>
          </a:solidFill>
          <a:ln w="12700">
            <a:solidFill>
              <a:srgbClr val="F3EEE5"/>
            </a:solidFill>
            <a:prstDash val="solid"/>
          </a:ln>
        </p:spPr>
        <p:txBody>
          <a:bodyPr/>
          <a:lstStyle/>
          <a:p>
            <a:endParaRPr lang="en-US"/>
          </a:p>
        </p:txBody>
      </p:sp>
      <p:sp>
        <p:nvSpPr>
          <p:cNvPr id="6" name="Text 4"/>
          <p:cNvSpPr txBox="1"/>
          <p:nvPr/>
        </p:nvSpPr>
        <p:spPr>
          <a:xfrm>
            <a:off x="1005840" y="1783080"/>
            <a:ext cx="10424160" cy="868680"/>
          </a:xfrm>
          <a:prstGeom prst="rect">
            <a:avLst/>
          </a:prstGeom>
          <a:noFill/>
          <a:ln/>
        </p:spPr>
        <p:txBody>
          <a:bodyPr wrap="square" lIns="0" tIns="0" rIns="0" bIns="0" rtlCol="0" anchor="ctr"/>
          <a:lstStyle/>
          <a:p>
            <a:pPr marL="0" indent="0">
              <a:lnSpc>
                <a:spcPts val="2100"/>
              </a:lnSpc>
              <a:buNone/>
            </a:pPr>
            <a:r>
              <a:rPr lang="en-US" sz="1550" dirty="0">
                <a:solidFill>
                  <a:srgbClr val="101822"/>
                </a:solidFill>
                <a:latin typeface="Cambria" pitchFamily="34" charset="0"/>
                <a:ea typeface="Cambria" pitchFamily="34" charset="-122"/>
                <a:cs typeface="Cambria" pitchFamily="34" charset="-120"/>
              </a:rPr>
              <a:t>William is killed. Victor, arriving in the storm outside Geneva, sees the creature by lightning-flash and knows instantly who did it. Justine Moritz — a servant taken into the Frankenstein household, dependent on their protection — is charged, confesses under pressure from a confessor, and is executed. Victor attends. Victor says nothing.</a:t>
            </a:r>
            <a:endParaRPr lang="en-US" sz="1550" dirty="0"/>
          </a:p>
        </p:txBody>
      </p:sp>
      <p:sp>
        <p:nvSpPr>
          <p:cNvPr id="7" name="Shape 5"/>
          <p:cNvSpPr/>
          <p:nvPr/>
        </p:nvSpPr>
        <p:spPr>
          <a:xfrm>
            <a:off x="640080" y="2971800"/>
            <a:ext cx="3454298" cy="1965960"/>
          </a:xfrm>
          <a:prstGeom prst="roundRect">
            <a:avLst>
              <a:gd name="adj" fmla="val 3721"/>
            </a:avLst>
          </a:prstGeom>
          <a:solidFill>
            <a:srgbClr val="F3EEE5"/>
          </a:solidFill>
          <a:ln w="12700">
            <a:solidFill>
              <a:srgbClr val="F3EEE5"/>
            </a:solidFill>
            <a:prstDash val="solid"/>
          </a:ln>
        </p:spPr>
        <p:txBody>
          <a:bodyPr/>
          <a:lstStyle/>
          <a:p>
            <a:endParaRPr lang="en-US"/>
          </a:p>
        </p:txBody>
      </p:sp>
      <p:sp>
        <p:nvSpPr>
          <p:cNvPr id="8" name="Text 6"/>
          <p:cNvSpPr txBox="1"/>
          <p:nvPr/>
        </p:nvSpPr>
        <p:spPr>
          <a:xfrm>
            <a:off x="914400" y="3182112"/>
            <a:ext cx="2905658" cy="310896"/>
          </a:xfrm>
          <a:prstGeom prst="rect">
            <a:avLst/>
          </a:prstGeom>
          <a:noFill/>
          <a:ln/>
        </p:spPr>
        <p:txBody>
          <a:bodyPr wrap="square" lIns="0" tIns="0" rIns="0" bIns="0" rtlCol="0" anchor="ctr"/>
          <a:lstStyle/>
          <a:p>
            <a:pPr marL="0" indent="0">
              <a:buNone/>
            </a:pPr>
            <a:r>
              <a:rPr lang="en-US" sz="1650" b="1" dirty="0">
                <a:solidFill>
                  <a:srgbClr val="101822"/>
                </a:solidFill>
                <a:latin typeface="Cambria" pitchFamily="34" charset="0"/>
                <a:ea typeface="Cambria" pitchFamily="34" charset="-122"/>
                <a:cs typeface="Cambria" pitchFamily="34" charset="-120"/>
              </a:rPr>
              <a:t>The first innocent</a:t>
            </a:r>
            <a:endParaRPr lang="en-US" sz="1650" dirty="0"/>
          </a:p>
        </p:txBody>
      </p:sp>
      <p:sp>
        <p:nvSpPr>
          <p:cNvPr id="9" name="Text 7"/>
          <p:cNvSpPr txBox="1"/>
          <p:nvPr/>
        </p:nvSpPr>
        <p:spPr>
          <a:xfrm>
            <a:off x="914400" y="3566160"/>
            <a:ext cx="2905658" cy="1188720"/>
          </a:xfrm>
          <a:prstGeom prst="rect">
            <a:avLst/>
          </a:prstGeom>
          <a:noFill/>
          <a:ln/>
        </p:spPr>
        <p:txBody>
          <a:bodyPr wrap="square" lIns="0" tIns="0" rIns="0" bIns="0" rtlCol="0" anchor="ctr"/>
          <a:lstStyle/>
          <a:p>
            <a:pPr marL="0" indent="0">
              <a:lnSpc>
                <a:spcPts val="1700"/>
              </a:lnSpc>
              <a:buNone/>
            </a:pPr>
            <a:r>
              <a:rPr lang="en-US" sz="1250" dirty="0">
                <a:solidFill>
                  <a:srgbClr val="5A6472"/>
                </a:solidFill>
                <a:latin typeface="Calibri" pitchFamily="34" charset="0"/>
                <a:ea typeface="Calibri" pitchFamily="34" charset="-122"/>
                <a:cs typeface="Calibri" pitchFamily="34" charset="-120"/>
              </a:rPr>
              <a:t>The creature kills William. Victor kills Justine, by omission, in a courtroom, in public, with a full opportunity to speak.</a:t>
            </a:r>
            <a:endParaRPr lang="en-US" sz="1250" dirty="0"/>
          </a:p>
        </p:txBody>
      </p:sp>
      <p:sp>
        <p:nvSpPr>
          <p:cNvPr id="10" name="Shape 8"/>
          <p:cNvSpPr/>
          <p:nvPr/>
        </p:nvSpPr>
        <p:spPr>
          <a:xfrm>
            <a:off x="4368698" y="2971800"/>
            <a:ext cx="3454298" cy="1965960"/>
          </a:xfrm>
          <a:prstGeom prst="roundRect">
            <a:avLst>
              <a:gd name="adj" fmla="val 3721"/>
            </a:avLst>
          </a:prstGeom>
          <a:solidFill>
            <a:srgbClr val="E6EEF3"/>
          </a:solidFill>
          <a:ln w="12700">
            <a:solidFill>
              <a:srgbClr val="E6EEF3"/>
            </a:solidFill>
            <a:prstDash val="solid"/>
          </a:ln>
        </p:spPr>
        <p:txBody>
          <a:bodyPr/>
          <a:lstStyle/>
          <a:p>
            <a:endParaRPr lang="en-US"/>
          </a:p>
        </p:txBody>
      </p:sp>
      <p:sp>
        <p:nvSpPr>
          <p:cNvPr id="11" name="Text 9"/>
          <p:cNvSpPr txBox="1"/>
          <p:nvPr/>
        </p:nvSpPr>
        <p:spPr>
          <a:xfrm>
            <a:off x="4643018" y="3182112"/>
            <a:ext cx="2905658" cy="310896"/>
          </a:xfrm>
          <a:prstGeom prst="rect">
            <a:avLst/>
          </a:prstGeom>
          <a:noFill/>
          <a:ln/>
        </p:spPr>
        <p:txBody>
          <a:bodyPr wrap="square" lIns="0" tIns="0" rIns="0" bIns="0" rtlCol="0" anchor="ctr"/>
          <a:lstStyle/>
          <a:p>
            <a:pPr marL="0" indent="0">
              <a:buNone/>
            </a:pPr>
            <a:r>
              <a:rPr lang="en-US" sz="1650" b="1" dirty="0">
                <a:solidFill>
                  <a:srgbClr val="101822"/>
                </a:solidFill>
                <a:latin typeface="Cambria" pitchFamily="34" charset="0"/>
                <a:ea typeface="Cambria" pitchFamily="34" charset="-122"/>
                <a:cs typeface="Cambria" pitchFamily="34" charset="-120"/>
              </a:rPr>
              <a:t>Class and dependency</a:t>
            </a:r>
            <a:endParaRPr lang="en-US" sz="1650" dirty="0"/>
          </a:p>
        </p:txBody>
      </p:sp>
      <p:sp>
        <p:nvSpPr>
          <p:cNvPr id="12" name="Text 10"/>
          <p:cNvSpPr txBox="1"/>
          <p:nvPr/>
        </p:nvSpPr>
        <p:spPr>
          <a:xfrm>
            <a:off x="4643018" y="3566160"/>
            <a:ext cx="2905658" cy="1188720"/>
          </a:xfrm>
          <a:prstGeom prst="rect">
            <a:avLst/>
          </a:prstGeom>
          <a:noFill/>
          <a:ln/>
        </p:spPr>
        <p:txBody>
          <a:bodyPr wrap="square" lIns="0" tIns="0" rIns="0" bIns="0" rtlCol="0" anchor="ctr"/>
          <a:lstStyle/>
          <a:p>
            <a:pPr marL="0" indent="0">
              <a:lnSpc>
                <a:spcPts val="1700"/>
              </a:lnSpc>
              <a:buNone/>
            </a:pPr>
            <a:r>
              <a:rPr lang="en-US" sz="1250" dirty="0">
                <a:solidFill>
                  <a:srgbClr val="5A6472"/>
                </a:solidFill>
                <a:latin typeface="Calibri" pitchFamily="34" charset="0"/>
                <a:ea typeface="Calibri" pitchFamily="34" charset="-122"/>
                <a:cs typeface="Calibri" pitchFamily="34" charset="-120"/>
              </a:rPr>
              <a:t>Justine has no standing. The household that raised her is the household that lets her hang. Shelley is precise about who absorbs the consequences of a gentleman’s private catastrophe.</a:t>
            </a:r>
            <a:endParaRPr lang="en-US" sz="1250" dirty="0"/>
          </a:p>
        </p:txBody>
      </p:sp>
      <p:sp>
        <p:nvSpPr>
          <p:cNvPr id="13" name="Shape 11"/>
          <p:cNvSpPr/>
          <p:nvPr/>
        </p:nvSpPr>
        <p:spPr>
          <a:xfrm>
            <a:off x="8097317" y="2971800"/>
            <a:ext cx="3454298" cy="1965960"/>
          </a:xfrm>
          <a:prstGeom prst="roundRect">
            <a:avLst>
              <a:gd name="adj" fmla="val 3721"/>
            </a:avLst>
          </a:prstGeom>
          <a:solidFill>
            <a:srgbClr val="F3EEE5"/>
          </a:solidFill>
          <a:ln w="12700">
            <a:solidFill>
              <a:srgbClr val="F3EEE5"/>
            </a:solidFill>
            <a:prstDash val="solid"/>
          </a:ln>
        </p:spPr>
        <p:txBody>
          <a:bodyPr/>
          <a:lstStyle/>
          <a:p>
            <a:endParaRPr lang="en-US"/>
          </a:p>
        </p:txBody>
      </p:sp>
      <p:sp>
        <p:nvSpPr>
          <p:cNvPr id="14" name="Text 12"/>
          <p:cNvSpPr txBox="1"/>
          <p:nvPr/>
        </p:nvSpPr>
        <p:spPr>
          <a:xfrm>
            <a:off x="8371637" y="3182112"/>
            <a:ext cx="2905658" cy="310896"/>
          </a:xfrm>
          <a:prstGeom prst="rect">
            <a:avLst/>
          </a:prstGeom>
          <a:noFill/>
          <a:ln/>
        </p:spPr>
        <p:txBody>
          <a:bodyPr wrap="square" lIns="0" tIns="0" rIns="0" bIns="0" rtlCol="0" anchor="ctr"/>
          <a:lstStyle/>
          <a:p>
            <a:pPr marL="0" indent="0">
              <a:buNone/>
            </a:pPr>
            <a:r>
              <a:rPr lang="en-US" sz="1650" b="1" dirty="0">
                <a:solidFill>
                  <a:srgbClr val="101822"/>
                </a:solidFill>
                <a:latin typeface="Cambria" pitchFamily="34" charset="0"/>
                <a:ea typeface="Cambria" pitchFamily="34" charset="-122"/>
                <a:cs typeface="Cambria" pitchFamily="34" charset="-120"/>
              </a:rPr>
              <a:t>The pattern for the rest</a:t>
            </a:r>
            <a:endParaRPr lang="en-US" sz="1650" dirty="0"/>
          </a:p>
        </p:txBody>
      </p:sp>
      <p:sp>
        <p:nvSpPr>
          <p:cNvPr id="15" name="Text 13"/>
          <p:cNvSpPr txBox="1"/>
          <p:nvPr/>
        </p:nvSpPr>
        <p:spPr>
          <a:xfrm>
            <a:off x="8371637" y="3566160"/>
            <a:ext cx="2905658" cy="1188720"/>
          </a:xfrm>
          <a:prstGeom prst="rect">
            <a:avLst/>
          </a:prstGeom>
          <a:noFill/>
          <a:ln/>
        </p:spPr>
        <p:txBody>
          <a:bodyPr wrap="square" lIns="0" tIns="0" rIns="0" bIns="0" rtlCol="0" anchor="ctr"/>
          <a:lstStyle/>
          <a:p>
            <a:pPr marL="0" indent="0">
              <a:lnSpc>
                <a:spcPts val="1700"/>
              </a:lnSpc>
              <a:buNone/>
            </a:pPr>
            <a:r>
              <a:rPr lang="en-US" sz="1250" dirty="0">
                <a:solidFill>
                  <a:srgbClr val="5A6472"/>
                </a:solidFill>
                <a:latin typeface="Calibri" pitchFamily="34" charset="0"/>
                <a:ea typeface="Calibri" pitchFamily="34" charset="-122"/>
                <a:cs typeface="Calibri" pitchFamily="34" charset="-120"/>
              </a:rPr>
              <a:t>From here on, everyone destroyed by the creature is destroyed because Victor will not disclose. The novel’s body count is a function of concealment, not of monstrosity.</a:t>
            </a:r>
            <a:endParaRPr lang="en-US" sz="1250" dirty="0"/>
          </a:p>
        </p:txBody>
      </p:sp>
      <p:sp>
        <p:nvSpPr>
          <p:cNvPr id="16" name="Shape 14"/>
          <p:cNvSpPr/>
          <p:nvPr/>
        </p:nvSpPr>
        <p:spPr>
          <a:xfrm>
            <a:off x="640080" y="5120640"/>
            <a:ext cx="10911535" cy="868680"/>
          </a:xfrm>
          <a:prstGeom prst="roundRect">
            <a:avLst>
              <a:gd name="adj" fmla="val 8421"/>
            </a:avLst>
          </a:prstGeom>
          <a:solidFill>
            <a:srgbClr val="101822"/>
          </a:solidFill>
          <a:ln w="12700">
            <a:solidFill>
              <a:srgbClr val="101822"/>
            </a:solidFill>
            <a:prstDash val="solid"/>
          </a:ln>
        </p:spPr>
        <p:txBody>
          <a:bodyPr/>
          <a:lstStyle/>
          <a:p>
            <a:endParaRPr lang="en-US"/>
          </a:p>
        </p:txBody>
      </p:sp>
      <p:sp>
        <p:nvSpPr>
          <p:cNvPr id="17" name="Text 15"/>
          <p:cNvSpPr txBox="1"/>
          <p:nvPr/>
        </p:nvSpPr>
        <p:spPr>
          <a:xfrm>
            <a:off x="1005840" y="5303520"/>
            <a:ext cx="10424160" cy="502920"/>
          </a:xfrm>
          <a:prstGeom prst="rect">
            <a:avLst/>
          </a:prstGeom>
          <a:noFill/>
          <a:ln/>
        </p:spPr>
        <p:txBody>
          <a:bodyPr wrap="square" lIns="0" tIns="0" rIns="0" bIns="0" rtlCol="0" anchor="ctr"/>
          <a:lstStyle/>
          <a:p>
            <a:pPr marL="0" indent="0">
              <a:lnSpc>
                <a:spcPts val="2100"/>
              </a:lnSpc>
              <a:buNone/>
            </a:pPr>
            <a:r>
              <a:rPr lang="en-US" sz="1550" dirty="0">
                <a:solidFill>
                  <a:srgbClr val="EDE5D8"/>
                </a:solidFill>
                <a:latin typeface="Cambria" pitchFamily="34" charset="0"/>
                <a:ea typeface="Cambria" pitchFamily="34" charset="-122"/>
                <a:cs typeface="Cambria" pitchFamily="34" charset="-120"/>
              </a:rPr>
              <a:t>The harms in this novel are almost never caused by the created thing acting alone. They are caused by a maker who will not disclose what he made.</a:t>
            </a:r>
            <a:endParaRPr lang="en-US" sz="1550" dirty="0"/>
          </a:p>
        </p:txBody>
      </p:sp>
      <p:sp>
        <p:nvSpPr>
          <p:cNvPr id="18" name="Text 16"/>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A6472"/>
                </a:solidFill>
                <a:latin typeface="Calibri" pitchFamily="34" charset="0"/>
                <a:ea typeface="Calibri" pitchFamily="34" charset="-122"/>
                <a:cs typeface="Calibri" pitchFamily="34" charset="-120"/>
              </a:rPr>
              <a:t>Shelley, Frankenstein (1818), Vol I, ch. VI–VII.</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101822"/>
        </a:solidFill>
        <a:effectLst/>
      </p:bgPr>
    </p:bg>
    <p:spTree>
      <p:nvGrpSpPr>
        <p:cNvPr id="1" name=""/>
        <p:cNvGrpSpPr/>
        <p:nvPr/>
      </p:nvGrpSpPr>
      <p:grpSpPr>
        <a:xfrm>
          <a:off x="0" y="0"/>
          <a:ext cx="0" cy="0"/>
          <a:chOff x="0" y="0"/>
          <a:chExt cx="0" cy="0"/>
        </a:xfrm>
      </p:grpSpPr>
      <p:sp>
        <p:nvSpPr>
          <p:cNvPr id="2" name="Shape 0"/>
          <p:cNvSpPr/>
          <p:nvPr/>
        </p:nvSpPr>
        <p:spPr>
          <a:xfrm>
            <a:off x="8732520" y="1417320"/>
            <a:ext cx="2651760" cy="2651760"/>
          </a:xfrm>
          <a:prstGeom prst="ellipse">
            <a:avLst/>
          </a:prstGeom>
          <a:solidFill>
            <a:srgbClr val="35708C">
              <a:alpha val="70000"/>
            </a:srgbClr>
          </a:solidFill>
          <a:ln/>
        </p:spPr>
        <p:txBody>
          <a:bodyPr/>
          <a:lstStyle/>
          <a:p>
            <a:endParaRPr lang="en-US"/>
          </a:p>
        </p:txBody>
      </p:sp>
      <p:sp>
        <p:nvSpPr>
          <p:cNvPr id="3" name="Shape 1"/>
          <p:cNvSpPr/>
          <p:nvPr/>
        </p:nvSpPr>
        <p:spPr>
          <a:xfrm>
            <a:off x="9509760" y="2194560"/>
            <a:ext cx="1097280" cy="1097280"/>
          </a:xfrm>
          <a:prstGeom prst="ellipse">
            <a:avLst/>
          </a:prstGeom>
          <a:solidFill>
            <a:srgbClr val="C05A3E">
              <a:alpha val="70000"/>
            </a:srgbClr>
          </a:solidFill>
          <a:ln/>
        </p:spPr>
        <p:txBody>
          <a:bodyPr/>
          <a:lstStyle/>
          <a:p>
            <a:endParaRPr lang="en-US"/>
          </a:p>
        </p:txBody>
      </p:sp>
      <p:sp>
        <p:nvSpPr>
          <p:cNvPr id="4" name="Text 2"/>
          <p:cNvSpPr txBox="1"/>
          <p:nvPr/>
        </p:nvSpPr>
        <p:spPr>
          <a:xfrm>
            <a:off x="640080" y="1965960"/>
            <a:ext cx="7315200" cy="320040"/>
          </a:xfrm>
          <a:prstGeom prst="rect">
            <a:avLst/>
          </a:prstGeom>
          <a:noFill/>
          <a:ln/>
        </p:spPr>
        <p:txBody>
          <a:bodyPr wrap="square" lIns="0" tIns="0" rIns="0" bIns="0" rtlCol="0" anchor="ctr"/>
          <a:lstStyle/>
          <a:p>
            <a:pPr marL="0" indent="0">
              <a:buNone/>
            </a:pPr>
            <a:r>
              <a:rPr lang="en-US" sz="1300" b="1" kern="0" spc="220" dirty="0">
                <a:solidFill>
                  <a:srgbClr val="E08A6E"/>
                </a:solidFill>
                <a:latin typeface="Calibri" pitchFamily="34" charset="0"/>
                <a:ea typeface="Calibri" pitchFamily="34" charset="-122"/>
                <a:cs typeface="Calibri" pitchFamily="34" charset="-120"/>
              </a:rPr>
              <a:t>MOVEMENT TWO</a:t>
            </a:r>
            <a:endParaRPr lang="en-US" sz="1300" dirty="0"/>
          </a:p>
        </p:txBody>
      </p:sp>
      <p:sp>
        <p:nvSpPr>
          <p:cNvPr id="5" name="Text 3"/>
          <p:cNvSpPr txBox="1"/>
          <p:nvPr/>
        </p:nvSpPr>
        <p:spPr>
          <a:xfrm>
            <a:off x="640080" y="2377440"/>
            <a:ext cx="7680960" cy="868680"/>
          </a:xfrm>
          <a:prstGeom prst="rect">
            <a:avLst/>
          </a:prstGeom>
          <a:noFill/>
          <a:ln/>
        </p:spPr>
        <p:txBody>
          <a:bodyPr wrap="square" lIns="0" tIns="0" rIns="0" bIns="0" rtlCol="0" anchor="ctr"/>
          <a:lstStyle/>
          <a:p>
            <a:pPr marL="0" indent="0">
              <a:buNone/>
            </a:pPr>
            <a:r>
              <a:rPr lang="en-US" sz="4000" b="1" dirty="0">
                <a:solidFill>
                  <a:srgbClr val="EDE5D8"/>
                </a:solidFill>
                <a:latin typeface="Cambria" pitchFamily="34" charset="0"/>
                <a:ea typeface="Cambria" pitchFamily="34" charset="-122"/>
                <a:cs typeface="Cambria" pitchFamily="34" charset="-120"/>
              </a:rPr>
              <a:t>The wall</a:t>
            </a:r>
            <a:endParaRPr lang="en-US" sz="4000" dirty="0"/>
          </a:p>
        </p:txBody>
      </p:sp>
      <p:sp>
        <p:nvSpPr>
          <p:cNvPr id="6" name="Text 4"/>
          <p:cNvSpPr txBox="1"/>
          <p:nvPr/>
        </p:nvSpPr>
        <p:spPr>
          <a:xfrm>
            <a:off x="640080" y="3310128"/>
            <a:ext cx="768096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Volume II, chapters I–IX  ·  1:18–1:54</a:t>
            </a:r>
            <a:endParaRPr lang="en-US" sz="1500" dirty="0"/>
          </a:p>
        </p:txBody>
      </p:sp>
      <p:sp>
        <p:nvSpPr>
          <p:cNvPr id="7" name="Shape 5"/>
          <p:cNvSpPr/>
          <p:nvPr/>
        </p:nvSpPr>
        <p:spPr>
          <a:xfrm>
            <a:off x="640080" y="3913632"/>
            <a:ext cx="2377440" cy="18288"/>
          </a:xfrm>
          <a:prstGeom prst="rect">
            <a:avLst/>
          </a:prstGeom>
          <a:solidFill>
            <a:srgbClr val="C05A3E"/>
          </a:solidFill>
          <a:ln/>
        </p:spPr>
        <p:txBody>
          <a:bodyPr/>
          <a:lstStyle/>
          <a:p>
            <a:endParaRPr lang="en-US"/>
          </a:p>
        </p:txBody>
      </p:sp>
      <p:sp>
        <p:nvSpPr>
          <p:cNvPr id="8" name="Text 6"/>
          <p:cNvSpPr txBox="1"/>
          <p:nvPr/>
        </p:nvSpPr>
        <p:spPr>
          <a:xfrm>
            <a:off x="640080" y="4133088"/>
            <a:ext cx="7680960" cy="548640"/>
          </a:xfrm>
          <a:prstGeom prst="rect">
            <a:avLst/>
          </a:prstGeom>
          <a:noFill/>
          <a:ln/>
        </p:spPr>
        <p:txBody>
          <a:bodyPr wrap="square" lIns="0" tIns="0" rIns="0" bIns="0" rtlCol="0" anchor="ctr"/>
          <a:lstStyle/>
          <a:p>
            <a:pPr marL="0" indent="0">
              <a:lnSpc>
                <a:spcPts val="2600"/>
              </a:lnSpc>
              <a:buNone/>
            </a:pPr>
            <a:r>
              <a:rPr lang="en-US" sz="1900" i="1" dirty="0">
                <a:solidFill>
                  <a:srgbClr val="9CC5D6"/>
                </a:solidFill>
                <a:latin typeface="Cambria" pitchFamily="34" charset="0"/>
                <a:ea typeface="Cambria" pitchFamily="34" charset="-122"/>
                <a:cs typeface="Cambria" pitchFamily="34" charset="-120"/>
              </a:rPr>
              <a:t>He learns to speak from people who will not look at him.</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A6472"/>
                </a:solidFill>
                <a:latin typeface="Calibri" pitchFamily="34" charset="0"/>
                <a:ea typeface="Calibri" pitchFamily="34" charset="-122"/>
                <a:cs typeface="Calibri" pitchFamily="34" charset="-120"/>
              </a:rPr>
              <a:t>VOLUME II AT A GLANCE</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01822"/>
                </a:solidFill>
                <a:latin typeface="Cambria" pitchFamily="34" charset="0"/>
                <a:ea typeface="Cambria" pitchFamily="34" charset="-122"/>
                <a:cs typeface="Cambria" pitchFamily="34" charset="-120"/>
              </a:rPr>
              <a:t>The one place in the novel where the created thing speaks</a:t>
            </a:r>
            <a:endParaRPr lang="en-US" sz="3000" dirty="0"/>
          </a:p>
        </p:txBody>
      </p:sp>
      <p:sp>
        <p:nvSpPr>
          <p:cNvPr id="5" name="Shape 3"/>
          <p:cNvSpPr/>
          <p:nvPr/>
        </p:nvSpPr>
        <p:spPr>
          <a:xfrm>
            <a:off x="640080" y="1536192"/>
            <a:ext cx="10911535" cy="859536"/>
          </a:xfrm>
          <a:prstGeom prst="roundRect">
            <a:avLst>
              <a:gd name="adj" fmla="val 8511"/>
            </a:avLst>
          </a:prstGeom>
          <a:solidFill>
            <a:srgbClr val="F3EEE5"/>
          </a:solidFill>
          <a:ln w="12700">
            <a:solidFill>
              <a:srgbClr val="F3EEE5"/>
            </a:solidFill>
            <a:prstDash val="solid"/>
          </a:ln>
        </p:spPr>
        <p:txBody>
          <a:bodyPr/>
          <a:lstStyle/>
          <a:p>
            <a:endParaRPr lang="en-US"/>
          </a:p>
        </p:txBody>
      </p:sp>
      <p:sp>
        <p:nvSpPr>
          <p:cNvPr id="6" name="Text 4"/>
          <p:cNvSpPr txBox="1"/>
          <p:nvPr/>
        </p:nvSpPr>
        <p:spPr>
          <a:xfrm>
            <a:off x="914400" y="1536192"/>
            <a:ext cx="914400" cy="859536"/>
          </a:xfrm>
          <a:prstGeom prst="rect">
            <a:avLst/>
          </a:prstGeom>
          <a:noFill/>
          <a:ln/>
        </p:spPr>
        <p:txBody>
          <a:bodyPr wrap="square" lIns="0" tIns="0" rIns="0" bIns="0" rtlCol="0" anchor="ctr"/>
          <a:lstStyle/>
          <a:p>
            <a:pPr marL="0" indent="0">
              <a:buNone/>
            </a:pPr>
            <a:r>
              <a:rPr lang="en-US" sz="1400" b="1" dirty="0">
                <a:solidFill>
                  <a:srgbClr val="35708C"/>
                </a:solidFill>
                <a:latin typeface="Cambria" pitchFamily="34" charset="0"/>
                <a:ea typeface="Cambria" pitchFamily="34" charset="-122"/>
                <a:cs typeface="Cambria" pitchFamily="34" charset="-120"/>
              </a:rPr>
              <a:t>ch. I–II</a:t>
            </a:r>
            <a:endParaRPr lang="en-US" sz="1400" dirty="0"/>
          </a:p>
        </p:txBody>
      </p:sp>
      <p:sp>
        <p:nvSpPr>
          <p:cNvPr id="7" name="Text 5"/>
          <p:cNvSpPr txBox="1"/>
          <p:nvPr/>
        </p:nvSpPr>
        <p:spPr>
          <a:xfrm>
            <a:off x="1965960" y="1536192"/>
            <a:ext cx="2788920" cy="859536"/>
          </a:xfrm>
          <a:prstGeom prst="rect">
            <a:avLst/>
          </a:prstGeom>
          <a:noFill/>
          <a:ln/>
        </p:spPr>
        <p:txBody>
          <a:bodyPr wrap="square" lIns="0" tIns="0" rIns="0" bIns="0" rtlCol="0" anchor="ctr"/>
          <a:lstStyle/>
          <a:p>
            <a:pPr marL="0" indent="0">
              <a:buNone/>
            </a:pPr>
            <a:r>
              <a:rPr lang="en-US" sz="1500" b="1" dirty="0">
                <a:solidFill>
                  <a:srgbClr val="101822"/>
                </a:solidFill>
                <a:latin typeface="Cambria" pitchFamily="34" charset="0"/>
                <a:ea typeface="Cambria" pitchFamily="34" charset="-122"/>
                <a:cs typeface="Cambria" pitchFamily="34" charset="-120"/>
              </a:rPr>
              <a:t>The sea of ice</a:t>
            </a:r>
            <a:endParaRPr lang="en-US" sz="1500" dirty="0"/>
          </a:p>
        </p:txBody>
      </p:sp>
      <p:sp>
        <p:nvSpPr>
          <p:cNvPr id="8" name="Text 6"/>
          <p:cNvSpPr txBox="1"/>
          <p:nvPr/>
        </p:nvSpPr>
        <p:spPr>
          <a:xfrm>
            <a:off x="4892040" y="1536192"/>
            <a:ext cx="6309360" cy="859536"/>
          </a:xfrm>
          <a:prstGeom prst="rect">
            <a:avLst/>
          </a:prstGeom>
          <a:noFill/>
          <a:ln/>
        </p:spPr>
        <p:txBody>
          <a:bodyPr wrap="square" lIns="0" tIns="0" rIns="0" bIns="0" rtlCol="0" anchor="ctr"/>
          <a:lstStyle/>
          <a:p>
            <a:pPr marL="0" indent="0">
              <a:lnSpc>
                <a:spcPts val="1600"/>
              </a:lnSpc>
              <a:buNone/>
            </a:pPr>
            <a:r>
              <a:rPr lang="en-US" sz="1250" dirty="0">
                <a:solidFill>
                  <a:srgbClr val="5A6472"/>
                </a:solidFill>
                <a:latin typeface="Calibri" pitchFamily="34" charset="0"/>
                <a:ea typeface="Calibri" pitchFamily="34" charset="-122"/>
                <a:cs typeface="Calibri" pitchFamily="34" charset="-120"/>
              </a:rPr>
              <a:t>Victor goes to Chamounix to feel better. The creature finds him on the glacier and asks to be heard. Astonishingly, Victor agrees.</a:t>
            </a:r>
            <a:endParaRPr lang="en-US" sz="1250" dirty="0"/>
          </a:p>
        </p:txBody>
      </p:sp>
      <p:sp>
        <p:nvSpPr>
          <p:cNvPr id="9" name="Shape 7"/>
          <p:cNvSpPr/>
          <p:nvPr/>
        </p:nvSpPr>
        <p:spPr>
          <a:xfrm>
            <a:off x="640080" y="2478024"/>
            <a:ext cx="10911535" cy="859536"/>
          </a:xfrm>
          <a:prstGeom prst="roundRect">
            <a:avLst>
              <a:gd name="adj" fmla="val 8511"/>
            </a:avLst>
          </a:prstGeom>
          <a:solidFill>
            <a:srgbClr val="E6EEF3"/>
          </a:solidFill>
          <a:ln w="12700">
            <a:solidFill>
              <a:srgbClr val="E6EEF3"/>
            </a:solidFill>
            <a:prstDash val="solid"/>
          </a:ln>
        </p:spPr>
        <p:txBody>
          <a:bodyPr/>
          <a:lstStyle/>
          <a:p>
            <a:endParaRPr lang="en-US"/>
          </a:p>
        </p:txBody>
      </p:sp>
      <p:sp>
        <p:nvSpPr>
          <p:cNvPr id="10" name="Text 8"/>
          <p:cNvSpPr txBox="1"/>
          <p:nvPr/>
        </p:nvSpPr>
        <p:spPr>
          <a:xfrm>
            <a:off x="914400" y="2478024"/>
            <a:ext cx="914400" cy="859536"/>
          </a:xfrm>
          <a:prstGeom prst="rect">
            <a:avLst/>
          </a:prstGeom>
          <a:noFill/>
          <a:ln/>
        </p:spPr>
        <p:txBody>
          <a:bodyPr wrap="square" lIns="0" tIns="0" rIns="0" bIns="0" rtlCol="0" anchor="ctr"/>
          <a:lstStyle/>
          <a:p>
            <a:pPr marL="0" indent="0">
              <a:buNone/>
            </a:pPr>
            <a:r>
              <a:rPr lang="en-US" sz="1400" b="1" dirty="0">
                <a:solidFill>
                  <a:srgbClr val="35708C"/>
                </a:solidFill>
                <a:latin typeface="Cambria" pitchFamily="34" charset="0"/>
                <a:ea typeface="Cambria" pitchFamily="34" charset="-122"/>
                <a:cs typeface="Cambria" pitchFamily="34" charset="-120"/>
              </a:rPr>
              <a:t>ch. III</a:t>
            </a:r>
            <a:endParaRPr lang="en-US" sz="1400" dirty="0"/>
          </a:p>
        </p:txBody>
      </p:sp>
      <p:sp>
        <p:nvSpPr>
          <p:cNvPr id="11" name="Text 9"/>
          <p:cNvSpPr txBox="1"/>
          <p:nvPr/>
        </p:nvSpPr>
        <p:spPr>
          <a:xfrm>
            <a:off x="1965960" y="2478024"/>
            <a:ext cx="2788920" cy="859536"/>
          </a:xfrm>
          <a:prstGeom prst="rect">
            <a:avLst/>
          </a:prstGeom>
          <a:noFill/>
          <a:ln/>
        </p:spPr>
        <p:txBody>
          <a:bodyPr wrap="square" lIns="0" tIns="0" rIns="0" bIns="0" rtlCol="0" anchor="ctr"/>
          <a:lstStyle/>
          <a:p>
            <a:pPr marL="0" indent="0">
              <a:buNone/>
            </a:pPr>
            <a:r>
              <a:rPr lang="en-US" sz="1500" b="1" dirty="0">
                <a:solidFill>
                  <a:srgbClr val="101822"/>
                </a:solidFill>
                <a:latin typeface="Cambria" pitchFamily="34" charset="0"/>
                <a:ea typeface="Cambria" pitchFamily="34" charset="-122"/>
                <a:cs typeface="Cambria" pitchFamily="34" charset="-120"/>
              </a:rPr>
              <a:t>Before language</a:t>
            </a:r>
            <a:endParaRPr lang="en-US" sz="1500" dirty="0"/>
          </a:p>
        </p:txBody>
      </p:sp>
      <p:sp>
        <p:nvSpPr>
          <p:cNvPr id="12" name="Text 10"/>
          <p:cNvSpPr txBox="1"/>
          <p:nvPr/>
        </p:nvSpPr>
        <p:spPr>
          <a:xfrm>
            <a:off x="4892040" y="2478024"/>
            <a:ext cx="6309360" cy="859536"/>
          </a:xfrm>
          <a:prstGeom prst="rect">
            <a:avLst/>
          </a:prstGeom>
          <a:noFill/>
          <a:ln/>
        </p:spPr>
        <p:txBody>
          <a:bodyPr wrap="square" lIns="0" tIns="0" rIns="0" bIns="0" rtlCol="0" anchor="ctr"/>
          <a:lstStyle/>
          <a:p>
            <a:pPr marL="0" indent="0">
              <a:lnSpc>
                <a:spcPts val="1600"/>
              </a:lnSpc>
              <a:buNone/>
            </a:pPr>
            <a:r>
              <a:rPr lang="en-US" sz="1250" dirty="0">
                <a:solidFill>
                  <a:srgbClr val="5A6472"/>
                </a:solidFill>
                <a:latin typeface="Calibri" pitchFamily="34" charset="0"/>
                <a:ea typeface="Calibri" pitchFamily="34" charset="-122"/>
                <a:cs typeface="Calibri" pitchFamily="34" charset="-120"/>
              </a:rPr>
              <a:t>Confused sensation: light, cold, hunger. He discovers fire and burns himself on it. He is driven from a village by stones.</a:t>
            </a:r>
            <a:endParaRPr lang="en-US" sz="1250" dirty="0"/>
          </a:p>
        </p:txBody>
      </p:sp>
      <p:sp>
        <p:nvSpPr>
          <p:cNvPr id="13" name="Shape 11"/>
          <p:cNvSpPr/>
          <p:nvPr/>
        </p:nvSpPr>
        <p:spPr>
          <a:xfrm>
            <a:off x="640080" y="3419856"/>
            <a:ext cx="10911535" cy="859536"/>
          </a:xfrm>
          <a:prstGeom prst="roundRect">
            <a:avLst>
              <a:gd name="adj" fmla="val 8511"/>
            </a:avLst>
          </a:prstGeom>
          <a:solidFill>
            <a:srgbClr val="101822"/>
          </a:solidFill>
          <a:ln w="12700">
            <a:solidFill>
              <a:srgbClr val="101822"/>
            </a:solidFill>
            <a:prstDash val="solid"/>
          </a:ln>
        </p:spPr>
        <p:txBody>
          <a:bodyPr/>
          <a:lstStyle/>
          <a:p>
            <a:endParaRPr lang="en-US"/>
          </a:p>
        </p:txBody>
      </p:sp>
      <p:sp>
        <p:nvSpPr>
          <p:cNvPr id="14" name="Text 12"/>
          <p:cNvSpPr txBox="1"/>
          <p:nvPr/>
        </p:nvSpPr>
        <p:spPr>
          <a:xfrm>
            <a:off x="914400" y="3419856"/>
            <a:ext cx="914400" cy="859536"/>
          </a:xfrm>
          <a:prstGeom prst="rect">
            <a:avLst/>
          </a:prstGeom>
          <a:noFill/>
          <a:ln/>
        </p:spPr>
        <p:txBody>
          <a:bodyPr wrap="square" lIns="0" tIns="0" rIns="0" bIns="0" rtlCol="0" anchor="ctr"/>
          <a:lstStyle/>
          <a:p>
            <a:pPr marL="0" indent="0">
              <a:buNone/>
            </a:pPr>
            <a:r>
              <a:rPr lang="en-US" sz="1400" b="1" dirty="0">
                <a:solidFill>
                  <a:srgbClr val="E08A6E"/>
                </a:solidFill>
                <a:latin typeface="Cambria" pitchFamily="34" charset="0"/>
                <a:ea typeface="Cambria" pitchFamily="34" charset="-122"/>
                <a:cs typeface="Cambria" pitchFamily="34" charset="-120"/>
              </a:rPr>
              <a:t>ch. IV–V</a:t>
            </a:r>
            <a:endParaRPr lang="en-US" sz="1400" dirty="0"/>
          </a:p>
        </p:txBody>
      </p:sp>
      <p:sp>
        <p:nvSpPr>
          <p:cNvPr id="15" name="Text 13"/>
          <p:cNvSpPr txBox="1"/>
          <p:nvPr/>
        </p:nvSpPr>
        <p:spPr>
          <a:xfrm>
            <a:off x="1965960" y="3419856"/>
            <a:ext cx="2788920" cy="859536"/>
          </a:xfrm>
          <a:prstGeom prst="rect">
            <a:avLst/>
          </a:prstGeom>
          <a:noFill/>
          <a:ln/>
        </p:spPr>
        <p:txBody>
          <a:bodyPr wrap="square" lIns="0" tIns="0" rIns="0" bIns="0" rtlCol="0" anchor="ctr"/>
          <a:lstStyle/>
          <a:p>
            <a:pPr marL="0" indent="0">
              <a:buNone/>
            </a:pPr>
            <a:r>
              <a:rPr lang="en-US" sz="1500" b="1" dirty="0">
                <a:solidFill>
                  <a:srgbClr val="EDE5D8"/>
                </a:solidFill>
                <a:latin typeface="Cambria" pitchFamily="34" charset="0"/>
                <a:ea typeface="Cambria" pitchFamily="34" charset="-122"/>
                <a:cs typeface="Cambria" pitchFamily="34" charset="-120"/>
              </a:rPr>
              <a:t>The hovel and the chink</a:t>
            </a:r>
            <a:endParaRPr lang="en-US" sz="1500" dirty="0"/>
          </a:p>
        </p:txBody>
      </p:sp>
      <p:sp>
        <p:nvSpPr>
          <p:cNvPr id="16" name="Text 14"/>
          <p:cNvSpPr txBox="1"/>
          <p:nvPr/>
        </p:nvSpPr>
        <p:spPr>
          <a:xfrm>
            <a:off x="4892040" y="3419856"/>
            <a:ext cx="6309360" cy="859536"/>
          </a:xfrm>
          <a:prstGeom prst="rect">
            <a:avLst/>
          </a:prstGeom>
          <a:noFill/>
          <a:ln/>
        </p:spPr>
        <p:txBody>
          <a:bodyPr wrap="square" lIns="0" tIns="0" rIns="0" bIns="0" rtlCol="0" anchor="ctr"/>
          <a:lstStyle/>
          <a:p>
            <a:pPr marL="0" indent="0">
              <a:lnSpc>
                <a:spcPts val="1600"/>
              </a:lnSpc>
              <a:buNone/>
            </a:pPr>
            <a:r>
              <a:rPr lang="en-US" sz="1250" dirty="0">
                <a:solidFill>
                  <a:srgbClr val="EDE5D8"/>
                </a:solidFill>
                <a:latin typeface="Calibri" pitchFamily="34" charset="0"/>
                <a:ea typeface="Calibri" pitchFamily="34" charset="-122"/>
                <a:cs typeface="Calibri" pitchFamily="34" charset="-120"/>
              </a:rPr>
              <a:t>He shelters against the De Lacey cottage and watches through a crack. Safie arrives; the family teaches her their language; he learns alongside her, unseen.</a:t>
            </a:r>
            <a:endParaRPr lang="en-US" sz="1250" dirty="0"/>
          </a:p>
        </p:txBody>
      </p:sp>
      <p:sp>
        <p:nvSpPr>
          <p:cNvPr id="17" name="Shape 15"/>
          <p:cNvSpPr/>
          <p:nvPr/>
        </p:nvSpPr>
        <p:spPr>
          <a:xfrm>
            <a:off x="640080" y="4361688"/>
            <a:ext cx="10911535" cy="859536"/>
          </a:xfrm>
          <a:prstGeom prst="roundRect">
            <a:avLst>
              <a:gd name="adj" fmla="val 8511"/>
            </a:avLst>
          </a:prstGeom>
          <a:solidFill>
            <a:srgbClr val="E6EEF3"/>
          </a:solidFill>
          <a:ln w="12700">
            <a:solidFill>
              <a:srgbClr val="E6EEF3"/>
            </a:solidFill>
            <a:prstDash val="solid"/>
          </a:ln>
        </p:spPr>
        <p:txBody>
          <a:bodyPr/>
          <a:lstStyle/>
          <a:p>
            <a:endParaRPr lang="en-US"/>
          </a:p>
        </p:txBody>
      </p:sp>
      <p:sp>
        <p:nvSpPr>
          <p:cNvPr id="18" name="Text 16"/>
          <p:cNvSpPr txBox="1"/>
          <p:nvPr/>
        </p:nvSpPr>
        <p:spPr>
          <a:xfrm>
            <a:off x="914400" y="4361688"/>
            <a:ext cx="914400" cy="859536"/>
          </a:xfrm>
          <a:prstGeom prst="rect">
            <a:avLst/>
          </a:prstGeom>
          <a:noFill/>
          <a:ln/>
        </p:spPr>
        <p:txBody>
          <a:bodyPr wrap="square" lIns="0" tIns="0" rIns="0" bIns="0" rtlCol="0" anchor="ctr"/>
          <a:lstStyle/>
          <a:p>
            <a:pPr marL="0" indent="0">
              <a:buNone/>
            </a:pPr>
            <a:r>
              <a:rPr lang="en-US" sz="1400" b="1" dirty="0">
                <a:solidFill>
                  <a:srgbClr val="35708C"/>
                </a:solidFill>
                <a:latin typeface="Cambria" pitchFamily="34" charset="0"/>
                <a:ea typeface="Cambria" pitchFamily="34" charset="-122"/>
                <a:cs typeface="Cambria" pitchFamily="34" charset="-120"/>
              </a:rPr>
              <a:t>ch. VI–VII</a:t>
            </a:r>
            <a:endParaRPr lang="en-US" sz="1400" dirty="0"/>
          </a:p>
        </p:txBody>
      </p:sp>
      <p:sp>
        <p:nvSpPr>
          <p:cNvPr id="19" name="Text 17"/>
          <p:cNvSpPr txBox="1"/>
          <p:nvPr/>
        </p:nvSpPr>
        <p:spPr>
          <a:xfrm>
            <a:off x="1965960" y="4361688"/>
            <a:ext cx="2788920" cy="859536"/>
          </a:xfrm>
          <a:prstGeom prst="rect">
            <a:avLst/>
          </a:prstGeom>
          <a:noFill/>
          <a:ln/>
        </p:spPr>
        <p:txBody>
          <a:bodyPr wrap="square" lIns="0" tIns="0" rIns="0" bIns="0" rtlCol="0" anchor="ctr"/>
          <a:lstStyle/>
          <a:p>
            <a:pPr marL="0" indent="0">
              <a:buNone/>
            </a:pPr>
            <a:r>
              <a:rPr lang="en-US" sz="1500" b="1" dirty="0">
                <a:solidFill>
                  <a:srgbClr val="101822"/>
                </a:solidFill>
                <a:latin typeface="Cambria" pitchFamily="34" charset="0"/>
                <a:ea typeface="Cambria" pitchFamily="34" charset="-122"/>
                <a:cs typeface="Cambria" pitchFamily="34" charset="-120"/>
              </a:rPr>
              <a:t>The corpus</a:t>
            </a:r>
            <a:endParaRPr lang="en-US" sz="1500" dirty="0"/>
          </a:p>
        </p:txBody>
      </p:sp>
      <p:sp>
        <p:nvSpPr>
          <p:cNvPr id="20" name="Text 18"/>
          <p:cNvSpPr txBox="1"/>
          <p:nvPr/>
        </p:nvSpPr>
        <p:spPr>
          <a:xfrm>
            <a:off x="4892040" y="4361688"/>
            <a:ext cx="6309360" cy="859536"/>
          </a:xfrm>
          <a:prstGeom prst="rect">
            <a:avLst/>
          </a:prstGeom>
          <a:noFill/>
          <a:ln/>
        </p:spPr>
        <p:txBody>
          <a:bodyPr wrap="square" lIns="0" tIns="0" rIns="0" bIns="0" rtlCol="0" anchor="ctr"/>
          <a:lstStyle/>
          <a:p>
            <a:pPr marL="0" indent="0">
              <a:lnSpc>
                <a:spcPts val="1600"/>
              </a:lnSpc>
              <a:buNone/>
            </a:pPr>
            <a:r>
              <a:rPr lang="en-US" sz="1250" dirty="0">
                <a:solidFill>
                  <a:srgbClr val="5A6472"/>
                </a:solidFill>
                <a:latin typeface="Calibri" pitchFamily="34" charset="0"/>
                <a:ea typeface="Calibri" pitchFamily="34" charset="-122"/>
                <a:cs typeface="Calibri" pitchFamily="34" charset="-120"/>
              </a:rPr>
              <a:t>Safie’s history. Then a lost portmanteau: Paradise Lost, Plutarch’s Lives, Werter. And, in the pocket of the coat he took, Victor’s journal of his own creation.</a:t>
            </a:r>
            <a:endParaRPr lang="en-US" sz="1250" dirty="0"/>
          </a:p>
        </p:txBody>
      </p:sp>
      <p:sp>
        <p:nvSpPr>
          <p:cNvPr id="21" name="Shape 19"/>
          <p:cNvSpPr/>
          <p:nvPr/>
        </p:nvSpPr>
        <p:spPr>
          <a:xfrm>
            <a:off x="640080" y="5303520"/>
            <a:ext cx="10911535" cy="859536"/>
          </a:xfrm>
          <a:prstGeom prst="roundRect">
            <a:avLst>
              <a:gd name="adj" fmla="val 8511"/>
            </a:avLst>
          </a:prstGeom>
          <a:solidFill>
            <a:srgbClr val="F3EEE5"/>
          </a:solidFill>
          <a:ln w="12700">
            <a:solidFill>
              <a:srgbClr val="F3EEE5"/>
            </a:solidFill>
            <a:prstDash val="solid"/>
          </a:ln>
        </p:spPr>
        <p:txBody>
          <a:bodyPr/>
          <a:lstStyle/>
          <a:p>
            <a:endParaRPr lang="en-US"/>
          </a:p>
        </p:txBody>
      </p:sp>
      <p:sp>
        <p:nvSpPr>
          <p:cNvPr id="22" name="Text 20"/>
          <p:cNvSpPr txBox="1"/>
          <p:nvPr/>
        </p:nvSpPr>
        <p:spPr>
          <a:xfrm>
            <a:off x="914400" y="5303520"/>
            <a:ext cx="914400" cy="859536"/>
          </a:xfrm>
          <a:prstGeom prst="rect">
            <a:avLst/>
          </a:prstGeom>
          <a:noFill/>
          <a:ln/>
        </p:spPr>
        <p:txBody>
          <a:bodyPr wrap="square" lIns="0" tIns="0" rIns="0" bIns="0" rtlCol="0" anchor="ctr"/>
          <a:lstStyle/>
          <a:p>
            <a:pPr marL="0" indent="0">
              <a:buNone/>
            </a:pPr>
            <a:r>
              <a:rPr lang="en-US" sz="1400" b="1" dirty="0">
                <a:solidFill>
                  <a:srgbClr val="35708C"/>
                </a:solidFill>
                <a:latin typeface="Cambria" pitchFamily="34" charset="0"/>
                <a:ea typeface="Cambria" pitchFamily="34" charset="-122"/>
                <a:cs typeface="Cambria" pitchFamily="34" charset="-120"/>
              </a:rPr>
              <a:t>ch. VIII–IX</a:t>
            </a:r>
            <a:endParaRPr lang="en-US" sz="1400" dirty="0"/>
          </a:p>
        </p:txBody>
      </p:sp>
      <p:sp>
        <p:nvSpPr>
          <p:cNvPr id="23" name="Text 21"/>
          <p:cNvSpPr txBox="1"/>
          <p:nvPr/>
        </p:nvSpPr>
        <p:spPr>
          <a:xfrm>
            <a:off x="1965960" y="5303520"/>
            <a:ext cx="2788920" cy="859536"/>
          </a:xfrm>
          <a:prstGeom prst="rect">
            <a:avLst/>
          </a:prstGeom>
          <a:noFill/>
          <a:ln/>
        </p:spPr>
        <p:txBody>
          <a:bodyPr wrap="square" lIns="0" tIns="0" rIns="0" bIns="0" rtlCol="0" anchor="ctr"/>
          <a:lstStyle/>
          <a:p>
            <a:pPr marL="0" indent="0">
              <a:buNone/>
            </a:pPr>
            <a:r>
              <a:rPr lang="en-US" sz="1500" b="1" dirty="0">
                <a:solidFill>
                  <a:srgbClr val="101822"/>
                </a:solidFill>
                <a:latin typeface="Cambria" pitchFamily="34" charset="0"/>
                <a:ea typeface="Cambria" pitchFamily="34" charset="-122"/>
                <a:cs typeface="Cambria" pitchFamily="34" charset="-120"/>
              </a:rPr>
              <a:t>The approach and the demand</a:t>
            </a:r>
            <a:endParaRPr lang="en-US" sz="1500" dirty="0"/>
          </a:p>
        </p:txBody>
      </p:sp>
      <p:sp>
        <p:nvSpPr>
          <p:cNvPr id="24" name="Text 22"/>
          <p:cNvSpPr txBox="1"/>
          <p:nvPr/>
        </p:nvSpPr>
        <p:spPr>
          <a:xfrm>
            <a:off x="4892040" y="5303520"/>
            <a:ext cx="6309360" cy="859536"/>
          </a:xfrm>
          <a:prstGeom prst="rect">
            <a:avLst/>
          </a:prstGeom>
          <a:noFill/>
          <a:ln/>
        </p:spPr>
        <p:txBody>
          <a:bodyPr wrap="square" lIns="0" tIns="0" rIns="0" bIns="0" rtlCol="0" anchor="ctr"/>
          <a:lstStyle/>
          <a:p>
            <a:pPr marL="0" indent="0">
              <a:lnSpc>
                <a:spcPts val="1600"/>
              </a:lnSpc>
              <a:buNone/>
            </a:pPr>
            <a:r>
              <a:rPr lang="en-US" sz="1250" dirty="0">
                <a:solidFill>
                  <a:srgbClr val="5A6472"/>
                </a:solidFill>
                <a:latin typeface="Calibri" pitchFamily="34" charset="0"/>
                <a:ea typeface="Calibri" pitchFamily="34" charset="-122"/>
                <a:cs typeface="Calibri" pitchFamily="34" charset="-120"/>
              </a:rPr>
              <a:t>He speaks to the blind father and nearly succeeds. Felix returns and beats him out. He burns the cottage, travels to Geneva, kills William, frames Justine — and then asks Victor for a companion.</a:t>
            </a:r>
            <a:endParaRPr lang="en-US" sz="1250" dirty="0"/>
          </a:p>
        </p:txBody>
      </p:sp>
      <p:sp>
        <p:nvSpPr>
          <p:cNvPr id="25" name="Text 23"/>
          <p:cNvSpPr txBox="1"/>
          <p:nvPr/>
        </p:nvSpPr>
        <p:spPr>
          <a:xfrm>
            <a:off x="640080" y="5897880"/>
            <a:ext cx="10881360" cy="384048"/>
          </a:xfrm>
          <a:prstGeom prst="rect">
            <a:avLst/>
          </a:prstGeom>
          <a:noFill/>
          <a:ln/>
        </p:spPr>
        <p:txBody>
          <a:bodyPr wrap="square" lIns="0" tIns="0" rIns="0" bIns="0" rtlCol="0" anchor="ctr"/>
          <a:lstStyle/>
          <a:p>
            <a:pPr marL="0" indent="0">
              <a:buNone/>
            </a:pPr>
            <a:r>
              <a:rPr lang="en-US" sz="1500" i="1" dirty="0">
                <a:solidFill>
                  <a:srgbClr val="35708C"/>
                </a:solidFill>
                <a:latin typeface="Cambria" pitchFamily="34" charset="0"/>
                <a:ea typeface="Cambria" pitchFamily="34" charset="-122"/>
                <a:cs typeface="Cambria" pitchFamily="34" charset="-120"/>
              </a:rPr>
              <a:t>Note the order of events in the last row. He commits the murder before he makes the request — and he tells Victor so, himself.</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A6472"/>
                </a:solidFill>
                <a:latin typeface="Calibri" pitchFamily="34" charset="0"/>
                <a:ea typeface="Calibri" pitchFamily="34" charset="-122"/>
                <a:cs typeface="Calibri" pitchFamily="34" charset="-120"/>
              </a:rPr>
              <a:t>VOL II, CH. II · CLOSE READING</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01822"/>
                </a:solidFill>
                <a:latin typeface="Cambria" pitchFamily="34" charset="0"/>
                <a:ea typeface="Cambria" pitchFamily="34" charset="-122"/>
                <a:cs typeface="Cambria" pitchFamily="34" charset="-120"/>
              </a:rPr>
              <a:t>The demand to be heard</a:t>
            </a:r>
            <a:endParaRPr lang="en-US" sz="3000" dirty="0"/>
          </a:p>
        </p:txBody>
      </p:sp>
      <p:sp>
        <p:nvSpPr>
          <p:cNvPr id="5" name="Shape 3"/>
          <p:cNvSpPr/>
          <p:nvPr/>
        </p:nvSpPr>
        <p:spPr>
          <a:xfrm>
            <a:off x="640080" y="1600200"/>
            <a:ext cx="5760720" cy="2011680"/>
          </a:xfrm>
          <a:prstGeom prst="roundRect">
            <a:avLst>
              <a:gd name="adj" fmla="val 3636"/>
            </a:avLst>
          </a:prstGeom>
          <a:solidFill>
            <a:srgbClr val="101822"/>
          </a:solidFill>
          <a:ln w="12700">
            <a:solidFill>
              <a:srgbClr val="101822"/>
            </a:solidFill>
            <a:prstDash val="solid"/>
          </a:ln>
        </p:spPr>
        <p:txBody>
          <a:bodyPr/>
          <a:lstStyle/>
          <a:p>
            <a:endParaRPr lang="en-US"/>
          </a:p>
        </p:txBody>
      </p:sp>
      <p:sp>
        <p:nvSpPr>
          <p:cNvPr id="6" name="Text 4"/>
          <p:cNvSpPr txBox="1"/>
          <p:nvPr/>
        </p:nvSpPr>
        <p:spPr>
          <a:xfrm>
            <a:off x="1005840" y="1874520"/>
            <a:ext cx="5029200" cy="914400"/>
          </a:xfrm>
          <a:prstGeom prst="rect">
            <a:avLst/>
          </a:prstGeom>
          <a:noFill/>
          <a:ln/>
        </p:spPr>
        <p:txBody>
          <a:bodyPr wrap="square" lIns="0" tIns="0" rIns="0" bIns="0" rtlCol="0" anchor="ctr"/>
          <a:lstStyle/>
          <a:p>
            <a:pPr marL="0" indent="0">
              <a:lnSpc>
                <a:spcPts val="2800"/>
              </a:lnSpc>
              <a:buNone/>
            </a:pPr>
            <a:r>
              <a:rPr lang="en-US" sz="2200" b="1" dirty="0">
                <a:solidFill>
                  <a:srgbClr val="EDE5D8"/>
                </a:solidFill>
                <a:latin typeface="Cambria" pitchFamily="34" charset="0"/>
                <a:ea typeface="Cambria" pitchFamily="34" charset="-122"/>
                <a:cs typeface="Cambria" pitchFamily="34" charset="-120"/>
              </a:rPr>
              <a:t>“I ought to be thy Adam, but I am rather the fallen angel”</a:t>
            </a:r>
            <a:endParaRPr lang="en-US" sz="2200" dirty="0"/>
          </a:p>
        </p:txBody>
      </p:sp>
      <p:sp>
        <p:nvSpPr>
          <p:cNvPr id="7" name="Text 5"/>
          <p:cNvSpPr txBox="1"/>
          <p:nvPr/>
        </p:nvSpPr>
        <p:spPr>
          <a:xfrm>
            <a:off x="1005840" y="2880360"/>
            <a:ext cx="5029200" cy="548640"/>
          </a:xfrm>
          <a:prstGeom prst="rect">
            <a:avLst/>
          </a:prstGeom>
          <a:noFill/>
          <a:ln/>
        </p:spPr>
        <p:txBody>
          <a:bodyPr wrap="square" lIns="0" tIns="0" rIns="0" bIns="0" rtlCol="0" anchor="ctr"/>
          <a:lstStyle/>
          <a:p>
            <a:pPr marL="0" indent="0">
              <a:lnSpc>
                <a:spcPts val="1700"/>
              </a:lnSpc>
              <a:buNone/>
            </a:pPr>
            <a:r>
              <a:rPr lang="en-US" sz="1250" dirty="0">
                <a:solidFill>
                  <a:srgbClr val="9CC5D6"/>
                </a:solidFill>
                <a:latin typeface="Calibri" pitchFamily="34" charset="0"/>
                <a:ea typeface="Calibri" pitchFamily="34" charset="-122"/>
                <a:cs typeface="Calibri" pitchFamily="34" charset="-120"/>
              </a:rPr>
              <a:t>Vol II, ch. II. He is quoting the framework his reading gave him, and using it to file a complaint.</a:t>
            </a:r>
            <a:endParaRPr lang="en-US" sz="1250" dirty="0"/>
          </a:p>
        </p:txBody>
      </p:sp>
      <p:sp>
        <p:nvSpPr>
          <p:cNvPr id="8" name="Shape 6"/>
          <p:cNvSpPr/>
          <p:nvPr/>
        </p:nvSpPr>
        <p:spPr>
          <a:xfrm>
            <a:off x="6720840" y="1600200"/>
            <a:ext cx="4800600" cy="1298448"/>
          </a:xfrm>
          <a:prstGeom prst="roundRect">
            <a:avLst>
              <a:gd name="adj" fmla="val 5634"/>
            </a:avLst>
          </a:prstGeom>
          <a:solidFill>
            <a:srgbClr val="F3EEE5"/>
          </a:solidFill>
          <a:ln w="12700">
            <a:solidFill>
              <a:srgbClr val="F3EEE5"/>
            </a:solidFill>
            <a:prstDash val="solid"/>
          </a:ln>
        </p:spPr>
        <p:txBody>
          <a:bodyPr/>
          <a:lstStyle/>
          <a:p>
            <a:endParaRPr lang="en-US"/>
          </a:p>
        </p:txBody>
      </p:sp>
      <p:sp>
        <p:nvSpPr>
          <p:cNvPr id="9" name="Text 7"/>
          <p:cNvSpPr txBox="1"/>
          <p:nvPr/>
        </p:nvSpPr>
        <p:spPr>
          <a:xfrm>
            <a:off x="6995160" y="1746504"/>
            <a:ext cx="4251960" cy="320040"/>
          </a:xfrm>
          <a:prstGeom prst="rect">
            <a:avLst/>
          </a:prstGeom>
          <a:noFill/>
          <a:ln/>
        </p:spPr>
        <p:txBody>
          <a:bodyPr wrap="square" lIns="0" tIns="0" rIns="0" bIns="0" rtlCol="0" anchor="ctr"/>
          <a:lstStyle/>
          <a:p>
            <a:pPr marL="0" indent="0">
              <a:buNone/>
            </a:pPr>
            <a:r>
              <a:rPr lang="en-US" sz="1450" b="1" dirty="0">
                <a:solidFill>
                  <a:srgbClr val="101822"/>
                </a:solidFill>
                <a:latin typeface="Cambria" pitchFamily="34" charset="0"/>
                <a:ea typeface="Cambria" pitchFamily="34" charset="-122"/>
                <a:cs typeface="Cambria" pitchFamily="34" charset="-120"/>
              </a:rPr>
              <a:t>He argues in the register of rights</a:t>
            </a:r>
            <a:endParaRPr lang="en-US" sz="1450" dirty="0"/>
          </a:p>
        </p:txBody>
      </p:sp>
      <p:sp>
        <p:nvSpPr>
          <p:cNvPr id="10" name="Text 8"/>
          <p:cNvSpPr txBox="1"/>
          <p:nvPr/>
        </p:nvSpPr>
        <p:spPr>
          <a:xfrm>
            <a:off x="6995160" y="2103120"/>
            <a:ext cx="4251960" cy="694944"/>
          </a:xfrm>
          <a:prstGeom prst="rect">
            <a:avLst/>
          </a:prstGeom>
          <a:noFill/>
          <a:ln/>
        </p:spPr>
        <p:txBody>
          <a:bodyPr wrap="square" lIns="0" tIns="0" rIns="0" bIns="0" rtlCol="0" anchor="ctr"/>
          <a:lstStyle/>
          <a:p>
            <a:pPr marL="0" indent="0">
              <a:lnSpc>
                <a:spcPts val="1500"/>
              </a:lnSpc>
              <a:buNone/>
            </a:pPr>
            <a:r>
              <a:rPr lang="en-US" sz="1150" dirty="0">
                <a:solidFill>
                  <a:srgbClr val="5A6472"/>
                </a:solidFill>
                <a:latin typeface="Calibri" pitchFamily="34" charset="0"/>
                <a:ea typeface="Calibri" pitchFamily="34" charset="-122"/>
                <a:cs typeface="Calibri" pitchFamily="34" charset="-120"/>
              </a:rPr>
              <a:t>Not mercy, not pity — obligation. He tells Victor what a creator owes, and grounds it in the relation itself rather than in his own goodness.</a:t>
            </a:r>
            <a:endParaRPr lang="en-US" sz="1150" dirty="0"/>
          </a:p>
        </p:txBody>
      </p:sp>
      <p:sp>
        <p:nvSpPr>
          <p:cNvPr id="11" name="Shape 9"/>
          <p:cNvSpPr/>
          <p:nvPr/>
        </p:nvSpPr>
        <p:spPr>
          <a:xfrm>
            <a:off x="6720840" y="3026664"/>
            <a:ext cx="4800600" cy="1298448"/>
          </a:xfrm>
          <a:prstGeom prst="roundRect">
            <a:avLst>
              <a:gd name="adj" fmla="val 5634"/>
            </a:avLst>
          </a:prstGeom>
          <a:solidFill>
            <a:srgbClr val="E6EEF3"/>
          </a:solidFill>
          <a:ln w="12700">
            <a:solidFill>
              <a:srgbClr val="E6EEF3"/>
            </a:solidFill>
            <a:prstDash val="solid"/>
          </a:ln>
        </p:spPr>
        <p:txBody>
          <a:bodyPr/>
          <a:lstStyle/>
          <a:p>
            <a:endParaRPr lang="en-US"/>
          </a:p>
        </p:txBody>
      </p:sp>
      <p:sp>
        <p:nvSpPr>
          <p:cNvPr id="12" name="Text 10"/>
          <p:cNvSpPr txBox="1"/>
          <p:nvPr/>
        </p:nvSpPr>
        <p:spPr>
          <a:xfrm>
            <a:off x="6995160" y="3172968"/>
            <a:ext cx="4251960" cy="320040"/>
          </a:xfrm>
          <a:prstGeom prst="rect">
            <a:avLst/>
          </a:prstGeom>
          <a:noFill/>
          <a:ln/>
        </p:spPr>
        <p:txBody>
          <a:bodyPr wrap="square" lIns="0" tIns="0" rIns="0" bIns="0" rtlCol="0" anchor="ctr"/>
          <a:lstStyle/>
          <a:p>
            <a:pPr marL="0" indent="0">
              <a:buNone/>
            </a:pPr>
            <a:r>
              <a:rPr lang="en-US" sz="1450" b="1" dirty="0">
                <a:solidFill>
                  <a:srgbClr val="101822"/>
                </a:solidFill>
                <a:latin typeface="Cambria" pitchFamily="34" charset="0"/>
                <a:ea typeface="Cambria" pitchFamily="34" charset="-122"/>
                <a:cs typeface="Cambria" pitchFamily="34" charset="-120"/>
              </a:rPr>
              <a:t>He concedes the murder is coming</a:t>
            </a:r>
            <a:endParaRPr lang="en-US" sz="1450" dirty="0"/>
          </a:p>
        </p:txBody>
      </p:sp>
      <p:sp>
        <p:nvSpPr>
          <p:cNvPr id="13" name="Text 11"/>
          <p:cNvSpPr txBox="1"/>
          <p:nvPr/>
        </p:nvSpPr>
        <p:spPr>
          <a:xfrm>
            <a:off x="6995160" y="3529584"/>
            <a:ext cx="4251960" cy="694944"/>
          </a:xfrm>
          <a:prstGeom prst="rect">
            <a:avLst/>
          </a:prstGeom>
          <a:noFill/>
          <a:ln/>
        </p:spPr>
        <p:txBody>
          <a:bodyPr wrap="square" lIns="0" tIns="0" rIns="0" bIns="0" rtlCol="0" anchor="ctr"/>
          <a:lstStyle/>
          <a:p>
            <a:pPr marL="0" indent="0">
              <a:lnSpc>
                <a:spcPts val="1500"/>
              </a:lnSpc>
              <a:buNone/>
            </a:pPr>
            <a:r>
              <a:rPr lang="en-US" sz="1150" dirty="0">
                <a:solidFill>
                  <a:srgbClr val="5A6472"/>
                </a:solidFill>
                <a:latin typeface="Calibri" pitchFamily="34" charset="0"/>
                <a:ea typeface="Calibri" pitchFamily="34" charset="-122"/>
                <a:cs typeface="Calibri" pitchFamily="34" charset="-120"/>
              </a:rPr>
              <a:t>His case is not that he is harmless. It is that his conduct followed from his treatment, and that the duty was breached first.</a:t>
            </a:r>
            <a:endParaRPr lang="en-US" sz="1150" dirty="0"/>
          </a:p>
        </p:txBody>
      </p:sp>
      <p:sp>
        <p:nvSpPr>
          <p:cNvPr id="14" name="Shape 12"/>
          <p:cNvSpPr/>
          <p:nvPr/>
        </p:nvSpPr>
        <p:spPr>
          <a:xfrm>
            <a:off x="6720840" y="4453128"/>
            <a:ext cx="4800600" cy="1298448"/>
          </a:xfrm>
          <a:prstGeom prst="roundRect">
            <a:avLst>
              <a:gd name="adj" fmla="val 5634"/>
            </a:avLst>
          </a:prstGeom>
          <a:solidFill>
            <a:srgbClr val="F3EEE5"/>
          </a:solidFill>
          <a:ln w="12700">
            <a:solidFill>
              <a:srgbClr val="F3EEE5"/>
            </a:solidFill>
            <a:prstDash val="solid"/>
          </a:ln>
        </p:spPr>
        <p:txBody>
          <a:bodyPr/>
          <a:lstStyle/>
          <a:p>
            <a:endParaRPr lang="en-US"/>
          </a:p>
        </p:txBody>
      </p:sp>
      <p:sp>
        <p:nvSpPr>
          <p:cNvPr id="15" name="Text 13"/>
          <p:cNvSpPr txBox="1"/>
          <p:nvPr/>
        </p:nvSpPr>
        <p:spPr>
          <a:xfrm>
            <a:off x="6995160" y="4599432"/>
            <a:ext cx="4251960" cy="320040"/>
          </a:xfrm>
          <a:prstGeom prst="rect">
            <a:avLst/>
          </a:prstGeom>
          <a:noFill/>
          <a:ln/>
        </p:spPr>
        <p:txBody>
          <a:bodyPr wrap="square" lIns="0" tIns="0" rIns="0" bIns="0" rtlCol="0" anchor="ctr"/>
          <a:lstStyle/>
          <a:p>
            <a:pPr marL="0" indent="0">
              <a:buNone/>
            </a:pPr>
            <a:r>
              <a:rPr lang="en-US" sz="1450" b="1" dirty="0">
                <a:solidFill>
                  <a:srgbClr val="101822"/>
                </a:solidFill>
                <a:latin typeface="Cambria" pitchFamily="34" charset="0"/>
                <a:ea typeface="Cambria" pitchFamily="34" charset="-122"/>
                <a:cs typeface="Cambria" pitchFamily="34" charset="-120"/>
              </a:rPr>
              <a:t>Victor listens</a:t>
            </a:r>
            <a:endParaRPr lang="en-US" sz="1450" dirty="0"/>
          </a:p>
        </p:txBody>
      </p:sp>
      <p:sp>
        <p:nvSpPr>
          <p:cNvPr id="16" name="Text 14"/>
          <p:cNvSpPr txBox="1"/>
          <p:nvPr/>
        </p:nvSpPr>
        <p:spPr>
          <a:xfrm>
            <a:off x="6995160" y="4956048"/>
            <a:ext cx="4251960" cy="694944"/>
          </a:xfrm>
          <a:prstGeom prst="rect">
            <a:avLst/>
          </a:prstGeom>
          <a:noFill/>
          <a:ln/>
        </p:spPr>
        <p:txBody>
          <a:bodyPr wrap="square" lIns="0" tIns="0" rIns="0" bIns="0" rtlCol="0" anchor="ctr"/>
          <a:lstStyle/>
          <a:p>
            <a:pPr marL="0" indent="0">
              <a:lnSpc>
                <a:spcPts val="1500"/>
              </a:lnSpc>
              <a:buNone/>
            </a:pPr>
            <a:r>
              <a:rPr lang="en-US" sz="1150" dirty="0">
                <a:solidFill>
                  <a:srgbClr val="5A6472"/>
                </a:solidFill>
                <a:latin typeface="Calibri" pitchFamily="34" charset="0"/>
                <a:ea typeface="Calibri" pitchFamily="34" charset="-122"/>
                <a:cs typeface="Calibri" pitchFamily="34" charset="-120"/>
              </a:rPr>
              <a:t>For once. It is the only extended act of attention Victor performs in the whole novel, and he abandons it the moment the story ends.</a:t>
            </a:r>
            <a:endParaRPr lang="en-US" sz="1150" dirty="0"/>
          </a:p>
        </p:txBody>
      </p:sp>
      <p:sp>
        <p:nvSpPr>
          <p:cNvPr id="17" name="Shape 15"/>
          <p:cNvSpPr/>
          <p:nvPr/>
        </p:nvSpPr>
        <p:spPr>
          <a:xfrm>
            <a:off x="640080" y="3794760"/>
            <a:ext cx="5760720" cy="1965960"/>
          </a:xfrm>
          <a:prstGeom prst="roundRect">
            <a:avLst>
              <a:gd name="adj" fmla="val 3721"/>
            </a:avLst>
          </a:prstGeom>
          <a:solidFill>
            <a:srgbClr val="F3EEE5"/>
          </a:solidFill>
          <a:ln w="12700">
            <a:solidFill>
              <a:srgbClr val="F3EEE5"/>
            </a:solidFill>
            <a:prstDash val="solid"/>
          </a:ln>
        </p:spPr>
        <p:txBody>
          <a:bodyPr/>
          <a:lstStyle/>
          <a:p>
            <a:endParaRPr lang="en-US"/>
          </a:p>
        </p:txBody>
      </p:sp>
      <p:sp>
        <p:nvSpPr>
          <p:cNvPr id="18" name="Text 16"/>
          <p:cNvSpPr txBox="1"/>
          <p:nvPr/>
        </p:nvSpPr>
        <p:spPr>
          <a:xfrm>
            <a:off x="1005840" y="4005072"/>
            <a:ext cx="5029200" cy="310896"/>
          </a:xfrm>
          <a:prstGeom prst="rect">
            <a:avLst/>
          </a:prstGeom>
          <a:noFill/>
          <a:ln/>
        </p:spPr>
        <p:txBody>
          <a:bodyPr wrap="square" lIns="0" tIns="0" rIns="0" bIns="0" rtlCol="0" anchor="ctr"/>
          <a:lstStyle/>
          <a:p>
            <a:pPr marL="0" indent="0">
              <a:buNone/>
            </a:pPr>
            <a:r>
              <a:rPr lang="en-US" sz="1600" b="1" dirty="0">
                <a:solidFill>
                  <a:srgbClr val="101822"/>
                </a:solidFill>
                <a:latin typeface="Cambria" pitchFamily="34" charset="0"/>
                <a:ea typeface="Cambria" pitchFamily="34" charset="-122"/>
                <a:cs typeface="Cambria" pitchFamily="34" charset="-120"/>
              </a:rPr>
              <a:t>Why the Milton matters</a:t>
            </a:r>
            <a:endParaRPr lang="en-US" sz="1600" dirty="0"/>
          </a:p>
        </p:txBody>
      </p:sp>
      <p:sp>
        <p:nvSpPr>
          <p:cNvPr id="19" name="Text 17"/>
          <p:cNvSpPr txBox="1"/>
          <p:nvPr/>
        </p:nvSpPr>
        <p:spPr>
          <a:xfrm>
            <a:off x="1005840" y="4389120"/>
            <a:ext cx="5029200" cy="1234440"/>
          </a:xfrm>
          <a:prstGeom prst="rect">
            <a:avLst/>
          </a:prstGeom>
          <a:noFill/>
          <a:ln/>
        </p:spPr>
        <p:txBody>
          <a:bodyPr wrap="square" lIns="0" tIns="0" rIns="0" bIns="0" rtlCol="0" anchor="ctr"/>
          <a:lstStyle/>
          <a:p>
            <a:pPr marL="0" indent="0">
              <a:lnSpc>
                <a:spcPts val="1700"/>
              </a:lnSpc>
              <a:buNone/>
            </a:pPr>
            <a:r>
              <a:rPr lang="en-US" sz="1250" dirty="0">
                <a:solidFill>
                  <a:srgbClr val="5A6472"/>
                </a:solidFill>
                <a:latin typeface="Calibri" pitchFamily="34" charset="0"/>
                <a:ea typeface="Calibri" pitchFamily="34" charset="-122"/>
                <a:cs typeface="Calibri" pitchFamily="34" charset="-120"/>
              </a:rPr>
              <a:t>Adam is made, placed in a garden, given a companion and spoken to daily by his maker. Satan is made and cast out. The creature has read both and worked out which one describes him. His grievance is not that he exists — it is that he was made under the first contract and delivered into the second.</a:t>
            </a:r>
            <a:endParaRPr lang="en-US" sz="1250" dirty="0"/>
          </a:p>
        </p:txBody>
      </p:sp>
      <p:sp>
        <p:nvSpPr>
          <p:cNvPr id="20" name="Text 18"/>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A6472"/>
                </a:solidFill>
                <a:latin typeface="Calibri" pitchFamily="34" charset="0"/>
                <a:ea typeface="Calibri" pitchFamily="34" charset="-122"/>
                <a:cs typeface="Calibri" pitchFamily="34" charset="-120"/>
              </a:rPr>
              <a:t>Shelley, Frankenstein (1818), Vol II, ch. II; the novel’s epigraph is from Paradise Lost X.743–45.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A6472"/>
                </a:solidFill>
                <a:latin typeface="Calibri" pitchFamily="34" charset="0"/>
                <a:ea typeface="Calibri" pitchFamily="34" charset="-122"/>
                <a:cs typeface="Calibri" pitchFamily="34" charset="-120"/>
              </a:rPr>
              <a:t>VOL II, CH. IV–V</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01822"/>
                </a:solidFill>
                <a:latin typeface="Cambria" pitchFamily="34" charset="0"/>
                <a:ea typeface="Cambria" pitchFamily="34" charset="-122"/>
                <a:cs typeface="Cambria" pitchFamily="34" charset="-120"/>
              </a:rPr>
              <a:t>The training setup</a:t>
            </a:r>
            <a:endParaRPr lang="en-US" sz="3000" dirty="0"/>
          </a:p>
        </p:txBody>
      </p:sp>
      <p:sp>
        <p:nvSpPr>
          <p:cNvPr id="5" name="Shape 3"/>
          <p:cNvSpPr/>
          <p:nvPr/>
        </p:nvSpPr>
        <p:spPr>
          <a:xfrm>
            <a:off x="640080" y="1645920"/>
            <a:ext cx="5120640" cy="3017520"/>
          </a:xfrm>
          <a:prstGeom prst="roundRect">
            <a:avLst>
              <a:gd name="adj" fmla="val 2424"/>
            </a:avLst>
          </a:prstGeom>
          <a:solidFill>
            <a:srgbClr val="E6EEF3"/>
          </a:solidFill>
          <a:ln w="12700">
            <a:solidFill>
              <a:srgbClr val="E6EEF3"/>
            </a:solidFill>
            <a:prstDash val="solid"/>
          </a:ln>
        </p:spPr>
        <p:txBody>
          <a:bodyPr/>
          <a:lstStyle/>
          <a:p>
            <a:endParaRPr lang="en-US"/>
          </a:p>
        </p:txBody>
      </p:sp>
      <p:sp>
        <p:nvSpPr>
          <p:cNvPr id="6" name="Text 4"/>
          <p:cNvSpPr txBox="1"/>
          <p:nvPr/>
        </p:nvSpPr>
        <p:spPr>
          <a:xfrm>
            <a:off x="960120" y="1847088"/>
            <a:ext cx="4480560" cy="274320"/>
          </a:xfrm>
          <a:prstGeom prst="rect">
            <a:avLst/>
          </a:prstGeom>
          <a:noFill/>
          <a:ln/>
        </p:spPr>
        <p:txBody>
          <a:bodyPr wrap="square" lIns="0" tIns="0" rIns="0" bIns="0" rtlCol="0" anchor="ctr"/>
          <a:lstStyle/>
          <a:p>
            <a:pPr marL="0" indent="0">
              <a:buNone/>
            </a:pPr>
            <a:r>
              <a:rPr lang="en-US" sz="1100" b="1" kern="0" spc="140" dirty="0">
                <a:solidFill>
                  <a:srgbClr val="35708C"/>
                </a:solidFill>
                <a:latin typeface="Calibri" pitchFamily="34" charset="0"/>
                <a:ea typeface="Calibri" pitchFamily="34" charset="-122"/>
                <a:cs typeface="Calibri" pitchFamily="34" charset="-120"/>
              </a:rPr>
              <a:t>INSIDE THE COTTAGE</a:t>
            </a:r>
            <a:endParaRPr lang="en-US" sz="1100" dirty="0"/>
          </a:p>
        </p:txBody>
      </p:sp>
      <p:sp>
        <p:nvSpPr>
          <p:cNvPr id="7" name="Text 5"/>
          <p:cNvSpPr txBox="1"/>
          <p:nvPr/>
        </p:nvSpPr>
        <p:spPr>
          <a:xfrm>
            <a:off x="960120" y="2240280"/>
            <a:ext cx="4480560" cy="2194560"/>
          </a:xfrm>
          <a:prstGeom prst="rect">
            <a:avLst/>
          </a:prstGeom>
          <a:noFill/>
          <a:ln/>
        </p:spPr>
        <p:txBody>
          <a:bodyPr wrap="square" lIns="0" tIns="0" rIns="0" bIns="0" rtlCol="0" anchor="ctr"/>
          <a:lstStyle/>
          <a:p>
            <a:pPr marL="0" indent="0">
              <a:lnSpc>
                <a:spcPts val="2000"/>
              </a:lnSpc>
              <a:buNone/>
            </a:pPr>
            <a:r>
              <a:rPr lang="en-US" sz="1350" dirty="0">
                <a:solidFill>
                  <a:srgbClr val="101822"/>
                </a:solidFill>
                <a:latin typeface="Calibri" pitchFamily="34" charset="0"/>
                <a:ea typeface="Calibri" pitchFamily="34" charset="-122"/>
                <a:cs typeface="Calibri" pitchFamily="34" charset="-120"/>
              </a:rPr>
              <a:t>Old De Lacey — blind</a:t>
            </a:r>
            <a:endParaRPr lang="en-US" sz="1350" dirty="0"/>
          </a:p>
          <a:p>
            <a:pPr marL="0" indent="0">
              <a:lnSpc>
                <a:spcPts val="2000"/>
              </a:lnSpc>
              <a:buNone/>
            </a:pPr>
            <a:r>
              <a:rPr lang="en-US" sz="1350" dirty="0">
                <a:solidFill>
                  <a:srgbClr val="101822"/>
                </a:solidFill>
                <a:latin typeface="Calibri" pitchFamily="34" charset="0"/>
                <a:ea typeface="Calibri" pitchFamily="34" charset="-122"/>
                <a:cs typeface="Calibri" pitchFamily="34" charset="-120"/>
              </a:rPr>
              <a:t>Felix  ·  Agatha  ·  Safie</a:t>
            </a:r>
            <a:endParaRPr lang="en-US" sz="1350" dirty="0"/>
          </a:p>
          <a:p>
            <a:pPr marL="0" indent="0">
              <a:lnSpc>
                <a:spcPts val="2000"/>
              </a:lnSpc>
              <a:buNone/>
            </a:pPr>
            <a:endParaRPr lang="en-US" sz="1350" dirty="0"/>
          </a:p>
          <a:p>
            <a:pPr marL="0" indent="0">
              <a:lnSpc>
                <a:spcPts val="2000"/>
              </a:lnSpc>
              <a:buNone/>
            </a:pPr>
            <a:r>
              <a:rPr lang="en-US" sz="1350" dirty="0">
                <a:solidFill>
                  <a:srgbClr val="101822"/>
                </a:solidFill>
                <a:latin typeface="Calibri" pitchFamily="34" charset="0"/>
                <a:ea typeface="Calibri" pitchFamily="34" charset="-122"/>
                <a:cs typeface="Calibri" pitchFamily="34" charset="-120"/>
              </a:rPr>
              <a:t>A family in exile and poverty, teaching a newcomer their language out loud, every day, from a book.</a:t>
            </a:r>
            <a:endParaRPr lang="en-US" sz="1350" dirty="0"/>
          </a:p>
        </p:txBody>
      </p:sp>
      <p:sp>
        <p:nvSpPr>
          <p:cNvPr id="8" name="Shape 6"/>
          <p:cNvSpPr/>
          <p:nvPr/>
        </p:nvSpPr>
        <p:spPr>
          <a:xfrm>
            <a:off x="5870448" y="1645920"/>
            <a:ext cx="182880" cy="3017520"/>
          </a:xfrm>
          <a:prstGeom prst="rect">
            <a:avLst/>
          </a:prstGeom>
          <a:solidFill>
            <a:srgbClr val="46505F"/>
          </a:solidFill>
          <a:ln/>
        </p:spPr>
        <p:txBody>
          <a:bodyPr/>
          <a:lstStyle/>
          <a:p>
            <a:endParaRPr lang="en-US"/>
          </a:p>
        </p:txBody>
      </p:sp>
      <p:sp>
        <p:nvSpPr>
          <p:cNvPr id="9" name="Shape 7"/>
          <p:cNvSpPr/>
          <p:nvPr/>
        </p:nvSpPr>
        <p:spPr>
          <a:xfrm>
            <a:off x="5870448" y="2971800"/>
            <a:ext cx="182880" cy="274320"/>
          </a:xfrm>
          <a:prstGeom prst="rect">
            <a:avLst/>
          </a:prstGeom>
          <a:solidFill>
            <a:srgbClr val="C05A3E"/>
          </a:solidFill>
          <a:ln/>
        </p:spPr>
        <p:txBody>
          <a:bodyPr/>
          <a:lstStyle/>
          <a:p>
            <a:endParaRPr lang="en-US"/>
          </a:p>
        </p:txBody>
      </p:sp>
      <p:sp>
        <p:nvSpPr>
          <p:cNvPr id="10" name="Text 8"/>
          <p:cNvSpPr txBox="1"/>
          <p:nvPr/>
        </p:nvSpPr>
        <p:spPr>
          <a:xfrm>
            <a:off x="5166360" y="2999232"/>
            <a:ext cx="658368" cy="237744"/>
          </a:xfrm>
          <a:prstGeom prst="rect">
            <a:avLst/>
          </a:prstGeom>
          <a:noFill/>
          <a:ln/>
        </p:spPr>
        <p:txBody>
          <a:bodyPr wrap="square" lIns="0" tIns="0" rIns="0" bIns="0" rtlCol="0" anchor="ctr"/>
          <a:lstStyle/>
          <a:p>
            <a:pPr marL="0" indent="0" algn="r">
              <a:buNone/>
            </a:pPr>
            <a:r>
              <a:rPr lang="en-US" sz="1000" i="1" dirty="0">
                <a:solidFill>
                  <a:srgbClr val="C05A3E"/>
                </a:solidFill>
                <a:latin typeface="Calibri" pitchFamily="34" charset="0"/>
                <a:ea typeface="Calibri" pitchFamily="34" charset="-122"/>
                <a:cs typeface="Calibri" pitchFamily="34" charset="-120"/>
              </a:rPr>
              <a:t>the chink</a:t>
            </a:r>
            <a:endParaRPr lang="en-US" sz="1000" dirty="0"/>
          </a:p>
        </p:txBody>
      </p:sp>
      <p:sp>
        <p:nvSpPr>
          <p:cNvPr id="11" name="Shape 9"/>
          <p:cNvSpPr/>
          <p:nvPr/>
        </p:nvSpPr>
        <p:spPr>
          <a:xfrm>
            <a:off x="6172200" y="1645920"/>
            <a:ext cx="5376672" cy="3017520"/>
          </a:xfrm>
          <a:prstGeom prst="roundRect">
            <a:avLst>
              <a:gd name="adj" fmla="val 2424"/>
            </a:avLst>
          </a:prstGeom>
          <a:solidFill>
            <a:srgbClr val="101822"/>
          </a:solidFill>
          <a:ln w="12700">
            <a:solidFill>
              <a:srgbClr val="101822"/>
            </a:solidFill>
            <a:prstDash val="solid"/>
          </a:ln>
        </p:spPr>
        <p:txBody>
          <a:bodyPr/>
          <a:lstStyle/>
          <a:p>
            <a:endParaRPr lang="en-US"/>
          </a:p>
        </p:txBody>
      </p:sp>
      <p:sp>
        <p:nvSpPr>
          <p:cNvPr id="12" name="Text 10"/>
          <p:cNvSpPr txBox="1"/>
          <p:nvPr/>
        </p:nvSpPr>
        <p:spPr>
          <a:xfrm>
            <a:off x="6492240" y="1847088"/>
            <a:ext cx="4754880" cy="274320"/>
          </a:xfrm>
          <a:prstGeom prst="rect">
            <a:avLst/>
          </a:prstGeom>
          <a:noFill/>
          <a:ln/>
        </p:spPr>
        <p:txBody>
          <a:bodyPr wrap="square" lIns="0" tIns="0" rIns="0" bIns="0" rtlCol="0" anchor="ctr"/>
          <a:lstStyle/>
          <a:p>
            <a:pPr marL="0" indent="0">
              <a:buNone/>
            </a:pPr>
            <a:r>
              <a:rPr lang="en-US" sz="1100" b="1" kern="0" spc="140" dirty="0">
                <a:solidFill>
                  <a:srgbClr val="E08A6E"/>
                </a:solidFill>
                <a:latin typeface="Calibri" pitchFamily="34" charset="0"/>
                <a:ea typeface="Calibri" pitchFamily="34" charset="-122"/>
                <a:cs typeface="Calibri" pitchFamily="34" charset="-120"/>
              </a:rPr>
              <a:t>IN THE HOVEL</a:t>
            </a:r>
            <a:endParaRPr lang="en-US" sz="1100" dirty="0"/>
          </a:p>
        </p:txBody>
      </p:sp>
      <p:sp>
        <p:nvSpPr>
          <p:cNvPr id="13" name="Text 11"/>
          <p:cNvSpPr txBox="1"/>
          <p:nvPr/>
        </p:nvSpPr>
        <p:spPr>
          <a:xfrm>
            <a:off x="6492240" y="2240280"/>
            <a:ext cx="4754880" cy="2194560"/>
          </a:xfrm>
          <a:prstGeom prst="rect">
            <a:avLst/>
          </a:prstGeom>
          <a:noFill/>
          <a:ln/>
        </p:spPr>
        <p:txBody>
          <a:bodyPr wrap="square" lIns="0" tIns="0" rIns="0" bIns="0" rtlCol="0" anchor="ctr"/>
          <a:lstStyle/>
          <a:p>
            <a:pPr marL="0" indent="0">
              <a:lnSpc>
                <a:spcPts val="2000"/>
              </a:lnSpc>
              <a:buNone/>
            </a:pPr>
            <a:r>
              <a:rPr lang="en-US" sz="1350" dirty="0">
                <a:solidFill>
                  <a:srgbClr val="EDE5D8"/>
                </a:solidFill>
                <a:latin typeface="Calibri" pitchFamily="34" charset="0"/>
                <a:ea typeface="Calibri" pitchFamily="34" charset="-122"/>
                <a:cs typeface="Calibri" pitchFamily="34" charset="-120"/>
              </a:rPr>
              <a:t>The creature — unseen</a:t>
            </a:r>
            <a:endParaRPr lang="en-US" sz="1350" dirty="0"/>
          </a:p>
          <a:p>
            <a:pPr marL="0" indent="0">
              <a:lnSpc>
                <a:spcPts val="2000"/>
              </a:lnSpc>
              <a:buNone/>
            </a:pPr>
            <a:endParaRPr lang="en-US" sz="1350" dirty="0"/>
          </a:p>
          <a:p>
            <a:pPr marL="0" indent="0">
              <a:lnSpc>
                <a:spcPts val="2000"/>
              </a:lnSpc>
              <a:buNone/>
            </a:pPr>
            <a:r>
              <a:rPr lang="en-US" sz="1350" dirty="0">
                <a:solidFill>
                  <a:srgbClr val="EDE5D8"/>
                </a:solidFill>
                <a:latin typeface="Calibri" pitchFamily="34" charset="0"/>
                <a:ea typeface="Calibri" pitchFamily="34" charset="-122"/>
                <a:cs typeface="Calibri" pitchFamily="34" charset="-120"/>
              </a:rPr>
              <a:t>A lean-to built against the outside wall, low enough that he cannot stand up in it. He receives everything and transmits nothing. For most of a year they do not know he exists.</a:t>
            </a:r>
            <a:endParaRPr lang="en-US" sz="1350" dirty="0"/>
          </a:p>
        </p:txBody>
      </p:sp>
      <p:sp>
        <p:nvSpPr>
          <p:cNvPr id="14" name="Text 12"/>
          <p:cNvSpPr txBox="1"/>
          <p:nvPr/>
        </p:nvSpPr>
        <p:spPr>
          <a:xfrm>
            <a:off x="640080" y="4791456"/>
            <a:ext cx="10881360" cy="320040"/>
          </a:xfrm>
          <a:prstGeom prst="rect">
            <a:avLst/>
          </a:prstGeom>
          <a:noFill/>
          <a:ln/>
        </p:spPr>
        <p:txBody>
          <a:bodyPr wrap="square" lIns="0" tIns="0" rIns="0" bIns="0" rtlCol="0" anchor="ctr"/>
          <a:lstStyle/>
          <a:p>
            <a:pPr marL="0" indent="0">
              <a:buNone/>
            </a:pPr>
            <a:r>
              <a:rPr lang="en-US" sz="1450" i="1" dirty="0">
                <a:solidFill>
                  <a:srgbClr val="35708C"/>
                </a:solidFill>
                <a:latin typeface="Cambria" pitchFamily="34" charset="0"/>
                <a:ea typeface="Cambria" pitchFamily="34" charset="-122"/>
                <a:cs typeface="Cambria" pitchFamily="34" charset="-120"/>
              </a:rPr>
              <a:t>And at night, unseen and unthanked, he clears their snow and gathers their firewood. He is contributing to the household that will beat him.</a:t>
            </a:r>
            <a:endParaRPr lang="en-US" sz="1450" dirty="0"/>
          </a:p>
        </p:txBody>
      </p:sp>
      <p:sp>
        <p:nvSpPr>
          <p:cNvPr id="15" name="Shape 13"/>
          <p:cNvSpPr/>
          <p:nvPr/>
        </p:nvSpPr>
        <p:spPr>
          <a:xfrm>
            <a:off x="640080" y="5212080"/>
            <a:ext cx="10911535" cy="868680"/>
          </a:xfrm>
          <a:prstGeom prst="roundRect">
            <a:avLst>
              <a:gd name="adj" fmla="val 8421"/>
            </a:avLst>
          </a:prstGeom>
          <a:solidFill>
            <a:srgbClr val="101822"/>
          </a:solidFill>
          <a:ln w="12700">
            <a:solidFill>
              <a:srgbClr val="101822"/>
            </a:solidFill>
            <a:prstDash val="solid"/>
          </a:ln>
        </p:spPr>
        <p:txBody>
          <a:bodyPr/>
          <a:lstStyle/>
          <a:p>
            <a:endParaRPr lang="en-US"/>
          </a:p>
        </p:txBody>
      </p:sp>
      <p:sp>
        <p:nvSpPr>
          <p:cNvPr id="16" name="Text 14"/>
          <p:cNvSpPr txBox="1"/>
          <p:nvPr/>
        </p:nvSpPr>
        <p:spPr>
          <a:xfrm>
            <a:off x="1005840" y="5394960"/>
            <a:ext cx="10424160" cy="502920"/>
          </a:xfrm>
          <a:prstGeom prst="rect">
            <a:avLst/>
          </a:prstGeom>
          <a:noFill/>
          <a:ln/>
        </p:spPr>
        <p:txBody>
          <a:bodyPr wrap="square" lIns="0" tIns="0" rIns="0" bIns="0" rtlCol="0" anchor="ctr"/>
          <a:lstStyle/>
          <a:p>
            <a:pPr marL="0" indent="0">
              <a:lnSpc>
                <a:spcPts val="2100"/>
              </a:lnSpc>
              <a:buNone/>
            </a:pPr>
            <a:r>
              <a:rPr lang="en-US" sz="1550" dirty="0">
                <a:solidFill>
                  <a:srgbClr val="EDE5D8"/>
                </a:solidFill>
                <a:latin typeface="Cambria" pitchFamily="34" charset="0"/>
                <a:ea typeface="Cambria" pitchFamily="34" charset="-122"/>
                <a:cs typeface="Cambria" pitchFamily="34" charset="-120"/>
              </a:rPr>
              <a:t>The asymmetry is total: perfect access to their speech, zero presence in their world. He is inside the conversation and outside the community, and the wall is what makes both true at once.</a:t>
            </a:r>
            <a:endParaRPr lang="en-US" sz="1550" dirty="0"/>
          </a:p>
        </p:txBody>
      </p:sp>
      <p:sp>
        <p:nvSpPr>
          <p:cNvPr id="17" name="Text 15"/>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A6472"/>
                </a:solidFill>
                <a:latin typeface="Calibri" pitchFamily="34" charset="0"/>
                <a:ea typeface="Calibri" pitchFamily="34" charset="-122"/>
                <a:cs typeface="Calibri" pitchFamily="34" charset="-120"/>
              </a:rPr>
              <a:t>Shelley, Frankenstein (1818), Vol II, ch. IV–V.</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A6472"/>
                </a:solidFill>
                <a:latin typeface="Calibri" pitchFamily="34" charset="0"/>
                <a:ea typeface="Calibri" pitchFamily="34" charset="-122"/>
                <a:cs typeface="Calibri" pitchFamily="34" charset="-120"/>
              </a:rPr>
              <a:t>VOL II, CH. IV–V · CLOSE READING</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01822"/>
                </a:solidFill>
                <a:latin typeface="Cambria" pitchFamily="34" charset="0"/>
                <a:ea typeface="Cambria" pitchFamily="34" charset="-122"/>
                <a:cs typeface="Cambria" pitchFamily="34" charset="-120"/>
              </a:rPr>
              <a:t>How he actually learns — the procedure, step by step</a:t>
            </a:r>
            <a:endParaRPr lang="en-US" sz="3000" dirty="0"/>
          </a:p>
        </p:txBody>
      </p:sp>
      <p:sp>
        <p:nvSpPr>
          <p:cNvPr id="5" name="Shape 3"/>
          <p:cNvSpPr/>
          <p:nvPr/>
        </p:nvSpPr>
        <p:spPr>
          <a:xfrm>
            <a:off x="640080" y="1572768"/>
            <a:ext cx="3454298" cy="1810512"/>
          </a:xfrm>
          <a:prstGeom prst="roundRect">
            <a:avLst>
              <a:gd name="adj" fmla="val 4040"/>
            </a:avLst>
          </a:prstGeom>
          <a:solidFill>
            <a:srgbClr val="F3EEE5"/>
          </a:solidFill>
          <a:ln w="12700">
            <a:solidFill>
              <a:srgbClr val="F3EEE5"/>
            </a:solidFill>
            <a:prstDash val="solid"/>
          </a:ln>
        </p:spPr>
        <p:txBody>
          <a:bodyPr/>
          <a:lstStyle/>
          <a:p>
            <a:endParaRPr lang="en-US"/>
          </a:p>
        </p:txBody>
      </p:sp>
      <p:sp>
        <p:nvSpPr>
          <p:cNvPr id="6" name="Shape 4"/>
          <p:cNvSpPr/>
          <p:nvPr/>
        </p:nvSpPr>
        <p:spPr>
          <a:xfrm>
            <a:off x="914400" y="1810512"/>
            <a:ext cx="347472" cy="347472"/>
          </a:xfrm>
          <a:prstGeom prst="ellipse">
            <a:avLst/>
          </a:prstGeom>
          <a:solidFill>
            <a:srgbClr val="101822"/>
          </a:solidFill>
          <a:ln/>
        </p:spPr>
        <p:txBody>
          <a:bodyPr/>
          <a:lstStyle/>
          <a:p>
            <a:endParaRPr lang="en-US"/>
          </a:p>
        </p:txBody>
      </p:sp>
      <p:sp>
        <p:nvSpPr>
          <p:cNvPr id="7" name="Text 5"/>
          <p:cNvSpPr txBox="1"/>
          <p:nvPr/>
        </p:nvSpPr>
        <p:spPr>
          <a:xfrm>
            <a:off x="914400" y="1810512"/>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417320" y="1828800"/>
            <a:ext cx="2402738" cy="310896"/>
          </a:xfrm>
          <a:prstGeom prst="rect">
            <a:avLst/>
          </a:prstGeom>
          <a:noFill/>
          <a:ln/>
        </p:spPr>
        <p:txBody>
          <a:bodyPr wrap="square" lIns="0" tIns="0" rIns="0" bIns="0" rtlCol="0" anchor="ctr"/>
          <a:lstStyle/>
          <a:p>
            <a:pPr marL="0" indent="0">
              <a:buNone/>
            </a:pPr>
            <a:r>
              <a:rPr lang="en-US" sz="1550" b="1" dirty="0">
                <a:solidFill>
                  <a:srgbClr val="101822"/>
                </a:solidFill>
                <a:latin typeface="Cambria" pitchFamily="34" charset="0"/>
                <a:ea typeface="Cambria" pitchFamily="34" charset="-122"/>
                <a:cs typeface="Cambria" pitchFamily="34" charset="-120"/>
              </a:rPr>
              <a:t>Sound before sense</a:t>
            </a:r>
            <a:endParaRPr lang="en-US" sz="1550" dirty="0"/>
          </a:p>
        </p:txBody>
      </p:sp>
      <p:sp>
        <p:nvSpPr>
          <p:cNvPr id="9" name="Text 7"/>
          <p:cNvSpPr txBox="1"/>
          <p:nvPr/>
        </p:nvSpPr>
        <p:spPr>
          <a:xfrm>
            <a:off x="914400" y="2286000"/>
            <a:ext cx="2905658" cy="960120"/>
          </a:xfrm>
          <a:prstGeom prst="rect">
            <a:avLst/>
          </a:prstGeom>
          <a:noFill/>
          <a:ln/>
        </p:spPr>
        <p:txBody>
          <a:bodyPr wrap="square" lIns="0" tIns="0" rIns="0" bIns="0" rtlCol="0" anchor="ctr"/>
          <a:lstStyle/>
          <a:p>
            <a:pPr marL="0" indent="0">
              <a:lnSpc>
                <a:spcPts val="1600"/>
              </a:lnSpc>
              <a:buNone/>
            </a:pPr>
            <a:r>
              <a:rPr lang="en-US" sz="1200" dirty="0">
                <a:solidFill>
                  <a:srgbClr val="5A6472"/>
                </a:solidFill>
                <a:latin typeface="Calibri" pitchFamily="34" charset="0"/>
                <a:ea typeface="Calibri" pitchFamily="34" charset="-122"/>
                <a:cs typeface="Calibri" pitchFamily="34" charset="-120"/>
              </a:rPr>
              <a:t>He hears speech for weeks as pure music — pleasant, meaningless. He works out that the sounds attach to things before he can attach any of them himself.</a:t>
            </a:r>
            <a:endParaRPr lang="en-US" sz="1200" dirty="0"/>
          </a:p>
        </p:txBody>
      </p:sp>
      <p:sp>
        <p:nvSpPr>
          <p:cNvPr id="10" name="Shape 8"/>
          <p:cNvSpPr/>
          <p:nvPr/>
        </p:nvSpPr>
        <p:spPr>
          <a:xfrm>
            <a:off x="4368698" y="1572768"/>
            <a:ext cx="3454298" cy="1810512"/>
          </a:xfrm>
          <a:prstGeom prst="roundRect">
            <a:avLst>
              <a:gd name="adj" fmla="val 4040"/>
            </a:avLst>
          </a:prstGeom>
          <a:solidFill>
            <a:srgbClr val="F3EEE5"/>
          </a:solidFill>
          <a:ln w="12700">
            <a:solidFill>
              <a:srgbClr val="F3EEE5"/>
            </a:solidFill>
            <a:prstDash val="solid"/>
          </a:ln>
        </p:spPr>
        <p:txBody>
          <a:bodyPr/>
          <a:lstStyle/>
          <a:p>
            <a:endParaRPr lang="en-US"/>
          </a:p>
        </p:txBody>
      </p:sp>
      <p:sp>
        <p:nvSpPr>
          <p:cNvPr id="11" name="Shape 9"/>
          <p:cNvSpPr/>
          <p:nvPr/>
        </p:nvSpPr>
        <p:spPr>
          <a:xfrm>
            <a:off x="4643018" y="1810512"/>
            <a:ext cx="347472" cy="347472"/>
          </a:xfrm>
          <a:prstGeom prst="ellipse">
            <a:avLst/>
          </a:prstGeom>
          <a:solidFill>
            <a:srgbClr val="101822"/>
          </a:solidFill>
          <a:ln/>
        </p:spPr>
        <p:txBody>
          <a:bodyPr/>
          <a:lstStyle/>
          <a:p>
            <a:endParaRPr lang="en-US"/>
          </a:p>
        </p:txBody>
      </p:sp>
      <p:sp>
        <p:nvSpPr>
          <p:cNvPr id="12" name="Text 10"/>
          <p:cNvSpPr txBox="1"/>
          <p:nvPr/>
        </p:nvSpPr>
        <p:spPr>
          <a:xfrm>
            <a:off x="4643018" y="1810512"/>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5145938" y="1828800"/>
            <a:ext cx="2402738" cy="310896"/>
          </a:xfrm>
          <a:prstGeom prst="rect">
            <a:avLst/>
          </a:prstGeom>
          <a:noFill/>
          <a:ln/>
        </p:spPr>
        <p:txBody>
          <a:bodyPr wrap="square" lIns="0" tIns="0" rIns="0" bIns="0" rtlCol="0" anchor="ctr"/>
          <a:lstStyle/>
          <a:p>
            <a:pPr marL="0" indent="0">
              <a:buNone/>
            </a:pPr>
            <a:r>
              <a:rPr lang="en-US" sz="1550" b="1" dirty="0">
                <a:solidFill>
                  <a:srgbClr val="101822"/>
                </a:solidFill>
                <a:latin typeface="Cambria" pitchFamily="34" charset="0"/>
                <a:ea typeface="Cambria" pitchFamily="34" charset="-122"/>
                <a:cs typeface="Cambria" pitchFamily="34" charset="-120"/>
              </a:rPr>
              <a:t>Words for objects</a:t>
            </a:r>
            <a:endParaRPr lang="en-US" sz="1550" dirty="0"/>
          </a:p>
        </p:txBody>
      </p:sp>
      <p:sp>
        <p:nvSpPr>
          <p:cNvPr id="14" name="Text 12"/>
          <p:cNvSpPr txBox="1"/>
          <p:nvPr/>
        </p:nvSpPr>
        <p:spPr>
          <a:xfrm>
            <a:off x="4643018" y="2286000"/>
            <a:ext cx="2905658" cy="960120"/>
          </a:xfrm>
          <a:prstGeom prst="rect">
            <a:avLst/>
          </a:prstGeom>
          <a:noFill/>
          <a:ln/>
        </p:spPr>
        <p:txBody>
          <a:bodyPr wrap="square" lIns="0" tIns="0" rIns="0" bIns="0" rtlCol="0" anchor="ctr"/>
          <a:lstStyle/>
          <a:p>
            <a:pPr marL="0" indent="0">
              <a:lnSpc>
                <a:spcPts val="1600"/>
              </a:lnSpc>
              <a:buNone/>
            </a:pPr>
            <a:r>
              <a:rPr lang="en-US" sz="1200" dirty="0">
                <a:solidFill>
                  <a:srgbClr val="5A6472"/>
                </a:solidFill>
                <a:latin typeface="Calibri" pitchFamily="34" charset="0"/>
                <a:ea typeface="Calibri" pitchFamily="34" charset="-122"/>
                <a:cs typeface="Calibri" pitchFamily="34" charset="-120"/>
              </a:rPr>
              <a:t>Fire, milk, bread, wood. He builds a vocabulary of the nameable by correlating utterance with event, repeatedly, without feedback.</a:t>
            </a:r>
            <a:endParaRPr lang="en-US" sz="1200" dirty="0"/>
          </a:p>
        </p:txBody>
      </p:sp>
      <p:sp>
        <p:nvSpPr>
          <p:cNvPr id="15" name="Shape 13"/>
          <p:cNvSpPr/>
          <p:nvPr/>
        </p:nvSpPr>
        <p:spPr>
          <a:xfrm>
            <a:off x="8097317" y="1572768"/>
            <a:ext cx="3454298" cy="1810512"/>
          </a:xfrm>
          <a:prstGeom prst="roundRect">
            <a:avLst>
              <a:gd name="adj" fmla="val 4040"/>
            </a:avLst>
          </a:prstGeom>
          <a:solidFill>
            <a:srgbClr val="F3EEE5"/>
          </a:solidFill>
          <a:ln w="12700">
            <a:solidFill>
              <a:srgbClr val="F3EEE5"/>
            </a:solidFill>
            <a:prstDash val="solid"/>
          </a:ln>
        </p:spPr>
        <p:txBody>
          <a:bodyPr/>
          <a:lstStyle/>
          <a:p>
            <a:endParaRPr lang="en-US"/>
          </a:p>
        </p:txBody>
      </p:sp>
      <p:sp>
        <p:nvSpPr>
          <p:cNvPr id="16" name="Shape 14"/>
          <p:cNvSpPr/>
          <p:nvPr/>
        </p:nvSpPr>
        <p:spPr>
          <a:xfrm>
            <a:off x="8371637" y="1810512"/>
            <a:ext cx="347472" cy="347472"/>
          </a:xfrm>
          <a:prstGeom prst="ellipse">
            <a:avLst/>
          </a:prstGeom>
          <a:solidFill>
            <a:srgbClr val="101822"/>
          </a:solidFill>
          <a:ln/>
        </p:spPr>
        <p:txBody>
          <a:bodyPr/>
          <a:lstStyle/>
          <a:p>
            <a:endParaRPr lang="en-US"/>
          </a:p>
        </p:txBody>
      </p:sp>
      <p:sp>
        <p:nvSpPr>
          <p:cNvPr id="17" name="Text 15"/>
          <p:cNvSpPr txBox="1"/>
          <p:nvPr/>
        </p:nvSpPr>
        <p:spPr>
          <a:xfrm>
            <a:off x="8371637" y="1810512"/>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8874557" y="1828800"/>
            <a:ext cx="2402738" cy="310896"/>
          </a:xfrm>
          <a:prstGeom prst="rect">
            <a:avLst/>
          </a:prstGeom>
          <a:noFill/>
          <a:ln/>
        </p:spPr>
        <p:txBody>
          <a:bodyPr wrap="square" lIns="0" tIns="0" rIns="0" bIns="0" rtlCol="0" anchor="ctr"/>
          <a:lstStyle/>
          <a:p>
            <a:pPr marL="0" indent="0">
              <a:buNone/>
            </a:pPr>
            <a:r>
              <a:rPr lang="en-US" sz="1550" b="1" dirty="0">
                <a:solidFill>
                  <a:srgbClr val="101822"/>
                </a:solidFill>
                <a:latin typeface="Cambria" pitchFamily="34" charset="0"/>
                <a:ea typeface="Cambria" pitchFamily="34" charset="-122"/>
                <a:cs typeface="Cambria" pitchFamily="34" charset="-120"/>
              </a:rPr>
              <a:t>Words for relations</a:t>
            </a:r>
            <a:endParaRPr lang="en-US" sz="1550" dirty="0"/>
          </a:p>
        </p:txBody>
      </p:sp>
      <p:sp>
        <p:nvSpPr>
          <p:cNvPr id="19" name="Text 17"/>
          <p:cNvSpPr txBox="1"/>
          <p:nvPr/>
        </p:nvSpPr>
        <p:spPr>
          <a:xfrm>
            <a:off x="8371637" y="2286000"/>
            <a:ext cx="2905658" cy="960120"/>
          </a:xfrm>
          <a:prstGeom prst="rect">
            <a:avLst/>
          </a:prstGeom>
          <a:noFill/>
          <a:ln/>
        </p:spPr>
        <p:txBody>
          <a:bodyPr wrap="square" lIns="0" tIns="0" rIns="0" bIns="0" rtlCol="0" anchor="ctr"/>
          <a:lstStyle/>
          <a:p>
            <a:pPr marL="0" indent="0">
              <a:lnSpc>
                <a:spcPts val="1600"/>
              </a:lnSpc>
              <a:buNone/>
            </a:pPr>
            <a:r>
              <a:rPr lang="en-US" sz="1200" dirty="0">
                <a:solidFill>
                  <a:srgbClr val="5A6472"/>
                </a:solidFill>
                <a:latin typeface="Calibri" pitchFamily="34" charset="0"/>
                <a:ea typeface="Calibri" pitchFamily="34" charset="-122"/>
                <a:cs typeface="Calibri" pitchFamily="34" charset="-120"/>
              </a:rPr>
              <a:t>Father, sister, son. Harder, because they name nothing visible. He notes that he was a long time working these out — and they are the ones that apply to him.</a:t>
            </a:r>
            <a:endParaRPr lang="en-US" sz="1200" dirty="0"/>
          </a:p>
        </p:txBody>
      </p:sp>
      <p:sp>
        <p:nvSpPr>
          <p:cNvPr id="20" name="Shape 18"/>
          <p:cNvSpPr/>
          <p:nvPr/>
        </p:nvSpPr>
        <p:spPr>
          <a:xfrm>
            <a:off x="640080" y="3566160"/>
            <a:ext cx="3454298" cy="1810512"/>
          </a:xfrm>
          <a:prstGeom prst="roundRect">
            <a:avLst>
              <a:gd name="adj" fmla="val 4040"/>
            </a:avLst>
          </a:prstGeom>
          <a:solidFill>
            <a:srgbClr val="E6EEF3"/>
          </a:solidFill>
          <a:ln w="12700">
            <a:solidFill>
              <a:srgbClr val="E6EEF3"/>
            </a:solidFill>
            <a:prstDash val="solid"/>
          </a:ln>
        </p:spPr>
        <p:txBody>
          <a:bodyPr/>
          <a:lstStyle/>
          <a:p>
            <a:endParaRPr lang="en-US"/>
          </a:p>
        </p:txBody>
      </p:sp>
      <p:sp>
        <p:nvSpPr>
          <p:cNvPr id="21" name="Shape 19"/>
          <p:cNvSpPr/>
          <p:nvPr/>
        </p:nvSpPr>
        <p:spPr>
          <a:xfrm>
            <a:off x="914400" y="3803904"/>
            <a:ext cx="347472" cy="347472"/>
          </a:xfrm>
          <a:prstGeom prst="ellipse">
            <a:avLst/>
          </a:prstGeom>
          <a:solidFill>
            <a:srgbClr val="35708C"/>
          </a:solidFill>
          <a:ln/>
        </p:spPr>
        <p:txBody>
          <a:bodyPr/>
          <a:lstStyle/>
          <a:p>
            <a:endParaRPr lang="en-US"/>
          </a:p>
        </p:txBody>
      </p:sp>
      <p:sp>
        <p:nvSpPr>
          <p:cNvPr id="22" name="Text 20"/>
          <p:cNvSpPr txBox="1"/>
          <p:nvPr/>
        </p:nvSpPr>
        <p:spPr>
          <a:xfrm>
            <a:off x="914400" y="3803904"/>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txBox="1"/>
          <p:nvPr/>
        </p:nvSpPr>
        <p:spPr>
          <a:xfrm>
            <a:off x="1417320" y="3822192"/>
            <a:ext cx="2402738" cy="310896"/>
          </a:xfrm>
          <a:prstGeom prst="rect">
            <a:avLst/>
          </a:prstGeom>
          <a:noFill/>
          <a:ln/>
        </p:spPr>
        <p:txBody>
          <a:bodyPr wrap="square" lIns="0" tIns="0" rIns="0" bIns="0" rtlCol="0" anchor="ctr"/>
          <a:lstStyle/>
          <a:p>
            <a:pPr marL="0" indent="0">
              <a:buNone/>
            </a:pPr>
            <a:r>
              <a:rPr lang="en-US" sz="1550" b="1" dirty="0">
                <a:solidFill>
                  <a:srgbClr val="101822"/>
                </a:solidFill>
                <a:latin typeface="Cambria" pitchFamily="34" charset="0"/>
                <a:ea typeface="Cambria" pitchFamily="34" charset="-122"/>
                <a:cs typeface="Cambria" pitchFamily="34" charset="-120"/>
              </a:rPr>
              <a:t>A curriculum arrives</a:t>
            </a:r>
            <a:endParaRPr lang="en-US" sz="1550" dirty="0"/>
          </a:p>
        </p:txBody>
      </p:sp>
      <p:sp>
        <p:nvSpPr>
          <p:cNvPr id="24" name="Text 22"/>
          <p:cNvSpPr txBox="1"/>
          <p:nvPr/>
        </p:nvSpPr>
        <p:spPr>
          <a:xfrm>
            <a:off x="914400" y="4279392"/>
            <a:ext cx="2905658" cy="960120"/>
          </a:xfrm>
          <a:prstGeom prst="rect">
            <a:avLst/>
          </a:prstGeom>
          <a:noFill/>
          <a:ln/>
        </p:spPr>
        <p:txBody>
          <a:bodyPr wrap="square" lIns="0" tIns="0" rIns="0" bIns="0" rtlCol="0" anchor="ctr"/>
          <a:lstStyle/>
          <a:p>
            <a:pPr marL="0" indent="0">
              <a:lnSpc>
                <a:spcPts val="1600"/>
              </a:lnSpc>
              <a:buNone/>
            </a:pPr>
            <a:r>
              <a:rPr lang="en-US" sz="1200" dirty="0">
                <a:solidFill>
                  <a:srgbClr val="5A6472"/>
                </a:solidFill>
                <a:latin typeface="Calibri" pitchFamily="34" charset="0"/>
                <a:ea typeface="Calibri" pitchFamily="34" charset="-122"/>
                <a:cs typeface="Calibri" pitchFamily="34" charset="-120"/>
              </a:rPr>
              <a:t>Safie needs teaching, so the family teaches out loud and from a book. He is not the intended student. He gets a full education as a side effect of someone else’s.</a:t>
            </a:r>
            <a:endParaRPr lang="en-US" sz="1200" dirty="0"/>
          </a:p>
        </p:txBody>
      </p:sp>
      <p:sp>
        <p:nvSpPr>
          <p:cNvPr id="25" name="Shape 23"/>
          <p:cNvSpPr/>
          <p:nvPr/>
        </p:nvSpPr>
        <p:spPr>
          <a:xfrm>
            <a:off x="4368698" y="3566160"/>
            <a:ext cx="3454298" cy="1810512"/>
          </a:xfrm>
          <a:prstGeom prst="roundRect">
            <a:avLst>
              <a:gd name="adj" fmla="val 4040"/>
            </a:avLst>
          </a:prstGeom>
          <a:solidFill>
            <a:srgbClr val="E6EEF3"/>
          </a:solidFill>
          <a:ln w="12700">
            <a:solidFill>
              <a:srgbClr val="E6EEF3"/>
            </a:solidFill>
            <a:prstDash val="solid"/>
          </a:ln>
        </p:spPr>
        <p:txBody>
          <a:bodyPr/>
          <a:lstStyle/>
          <a:p>
            <a:endParaRPr lang="en-US"/>
          </a:p>
        </p:txBody>
      </p:sp>
      <p:sp>
        <p:nvSpPr>
          <p:cNvPr id="26" name="Shape 24"/>
          <p:cNvSpPr/>
          <p:nvPr/>
        </p:nvSpPr>
        <p:spPr>
          <a:xfrm>
            <a:off x="4643018" y="3803904"/>
            <a:ext cx="347472" cy="347472"/>
          </a:xfrm>
          <a:prstGeom prst="ellipse">
            <a:avLst/>
          </a:prstGeom>
          <a:solidFill>
            <a:srgbClr val="35708C"/>
          </a:solidFill>
          <a:ln/>
        </p:spPr>
        <p:txBody>
          <a:bodyPr/>
          <a:lstStyle/>
          <a:p>
            <a:endParaRPr lang="en-US"/>
          </a:p>
        </p:txBody>
      </p:sp>
      <p:sp>
        <p:nvSpPr>
          <p:cNvPr id="27" name="Text 25"/>
          <p:cNvSpPr txBox="1"/>
          <p:nvPr/>
        </p:nvSpPr>
        <p:spPr>
          <a:xfrm>
            <a:off x="4643018" y="3803904"/>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8" name="Text 26"/>
          <p:cNvSpPr txBox="1"/>
          <p:nvPr/>
        </p:nvSpPr>
        <p:spPr>
          <a:xfrm>
            <a:off x="5145938" y="3822192"/>
            <a:ext cx="2402738" cy="310896"/>
          </a:xfrm>
          <a:prstGeom prst="rect">
            <a:avLst/>
          </a:prstGeom>
          <a:noFill/>
          <a:ln/>
        </p:spPr>
        <p:txBody>
          <a:bodyPr wrap="square" lIns="0" tIns="0" rIns="0" bIns="0" rtlCol="0" anchor="ctr"/>
          <a:lstStyle/>
          <a:p>
            <a:pPr marL="0" indent="0">
              <a:buNone/>
            </a:pPr>
            <a:r>
              <a:rPr lang="en-US" sz="1550" b="1" dirty="0">
                <a:solidFill>
                  <a:srgbClr val="101822"/>
                </a:solidFill>
                <a:latin typeface="Cambria" pitchFamily="34" charset="0"/>
                <a:ea typeface="Cambria" pitchFamily="34" charset="-122"/>
                <a:cs typeface="Cambria" pitchFamily="34" charset="-120"/>
              </a:rPr>
              <a:t>Reading</a:t>
            </a:r>
            <a:endParaRPr lang="en-US" sz="1550" dirty="0"/>
          </a:p>
        </p:txBody>
      </p:sp>
      <p:sp>
        <p:nvSpPr>
          <p:cNvPr id="29" name="Text 27"/>
          <p:cNvSpPr txBox="1"/>
          <p:nvPr/>
        </p:nvSpPr>
        <p:spPr>
          <a:xfrm>
            <a:off x="4643018" y="4279392"/>
            <a:ext cx="2905658" cy="960120"/>
          </a:xfrm>
          <a:prstGeom prst="rect">
            <a:avLst/>
          </a:prstGeom>
          <a:noFill/>
          <a:ln/>
        </p:spPr>
        <p:txBody>
          <a:bodyPr wrap="square" lIns="0" tIns="0" rIns="0" bIns="0" rtlCol="0" anchor="ctr"/>
          <a:lstStyle/>
          <a:p>
            <a:pPr marL="0" indent="0">
              <a:lnSpc>
                <a:spcPts val="1600"/>
              </a:lnSpc>
              <a:buNone/>
            </a:pPr>
            <a:r>
              <a:rPr lang="en-US" sz="1200" dirty="0">
                <a:solidFill>
                  <a:srgbClr val="5A6472"/>
                </a:solidFill>
                <a:latin typeface="Calibri" pitchFamily="34" charset="0"/>
                <a:ea typeface="Calibri" pitchFamily="34" charset="-122"/>
                <a:cs typeface="Calibri" pitchFamily="34" charset="-120"/>
              </a:rPr>
              <a:t>Once Safie is taught to read, he learns to read. Written language is the point at which he stops depending on being within earshot.</a:t>
            </a:r>
            <a:endParaRPr lang="en-US" sz="1200" dirty="0"/>
          </a:p>
        </p:txBody>
      </p:sp>
      <p:sp>
        <p:nvSpPr>
          <p:cNvPr id="30" name="Shape 28"/>
          <p:cNvSpPr/>
          <p:nvPr/>
        </p:nvSpPr>
        <p:spPr>
          <a:xfrm>
            <a:off x="8097317" y="3566160"/>
            <a:ext cx="3454298" cy="1810512"/>
          </a:xfrm>
          <a:prstGeom prst="roundRect">
            <a:avLst>
              <a:gd name="adj" fmla="val 4040"/>
            </a:avLst>
          </a:prstGeom>
          <a:solidFill>
            <a:srgbClr val="E6EEF3"/>
          </a:solidFill>
          <a:ln w="12700">
            <a:solidFill>
              <a:srgbClr val="E6EEF3"/>
            </a:solidFill>
            <a:prstDash val="solid"/>
          </a:ln>
        </p:spPr>
        <p:txBody>
          <a:bodyPr/>
          <a:lstStyle/>
          <a:p>
            <a:endParaRPr lang="en-US"/>
          </a:p>
        </p:txBody>
      </p:sp>
      <p:sp>
        <p:nvSpPr>
          <p:cNvPr id="31" name="Shape 29"/>
          <p:cNvSpPr/>
          <p:nvPr/>
        </p:nvSpPr>
        <p:spPr>
          <a:xfrm>
            <a:off x="8371637" y="3803904"/>
            <a:ext cx="347472" cy="347472"/>
          </a:xfrm>
          <a:prstGeom prst="ellipse">
            <a:avLst/>
          </a:prstGeom>
          <a:solidFill>
            <a:srgbClr val="35708C"/>
          </a:solidFill>
          <a:ln/>
        </p:spPr>
        <p:txBody>
          <a:bodyPr/>
          <a:lstStyle/>
          <a:p>
            <a:endParaRPr lang="en-US"/>
          </a:p>
        </p:txBody>
      </p:sp>
      <p:sp>
        <p:nvSpPr>
          <p:cNvPr id="32" name="Text 30"/>
          <p:cNvSpPr txBox="1"/>
          <p:nvPr/>
        </p:nvSpPr>
        <p:spPr>
          <a:xfrm>
            <a:off x="8371637" y="3803904"/>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3" name="Text 31"/>
          <p:cNvSpPr txBox="1"/>
          <p:nvPr/>
        </p:nvSpPr>
        <p:spPr>
          <a:xfrm>
            <a:off x="8874557" y="3822192"/>
            <a:ext cx="2402738" cy="310896"/>
          </a:xfrm>
          <a:prstGeom prst="rect">
            <a:avLst/>
          </a:prstGeom>
          <a:noFill/>
          <a:ln/>
        </p:spPr>
        <p:txBody>
          <a:bodyPr wrap="square" lIns="0" tIns="0" rIns="0" bIns="0" rtlCol="0" anchor="ctr"/>
          <a:lstStyle/>
          <a:p>
            <a:pPr marL="0" indent="0">
              <a:buNone/>
            </a:pPr>
            <a:r>
              <a:rPr lang="en-US" sz="1550" b="1" dirty="0">
                <a:solidFill>
                  <a:srgbClr val="101822"/>
                </a:solidFill>
                <a:latin typeface="Cambria" pitchFamily="34" charset="0"/>
                <a:ea typeface="Cambria" pitchFamily="34" charset="-122"/>
                <a:cs typeface="Cambria" pitchFamily="34" charset="-120"/>
              </a:rPr>
              <a:t>Self-description</a:t>
            </a:r>
            <a:endParaRPr lang="en-US" sz="1550" dirty="0"/>
          </a:p>
        </p:txBody>
      </p:sp>
      <p:sp>
        <p:nvSpPr>
          <p:cNvPr id="34" name="Text 32"/>
          <p:cNvSpPr txBox="1"/>
          <p:nvPr/>
        </p:nvSpPr>
        <p:spPr>
          <a:xfrm>
            <a:off x="8371637" y="4279392"/>
            <a:ext cx="2905658" cy="960120"/>
          </a:xfrm>
          <a:prstGeom prst="rect">
            <a:avLst/>
          </a:prstGeom>
          <a:noFill/>
          <a:ln/>
        </p:spPr>
        <p:txBody>
          <a:bodyPr wrap="square" lIns="0" tIns="0" rIns="0" bIns="0" rtlCol="0" anchor="ctr"/>
          <a:lstStyle/>
          <a:p>
            <a:pPr marL="0" indent="0">
              <a:lnSpc>
                <a:spcPts val="1600"/>
              </a:lnSpc>
              <a:buNone/>
            </a:pPr>
            <a:r>
              <a:rPr lang="en-US" sz="1200" dirty="0">
                <a:solidFill>
                  <a:srgbClr val="5A6472"/>
                </a:solidFill>
                <a:latin typeface="Calibri" pitchFamily="34" charset="0"/>
                <a:ea typeface="Calibri" pitchFamily="34" charset="-122"/>
                <a:cs typeface="Calibri" pitchFamily="34" charset="-120"/>
              </a:rPr>
              <a:t>Only then does he have the equipment to state what has happened to him — and Volume II exists because he acquired it.</a:t>
            </a:r>
            <a:endParaRPr lang="en-US" sz="1200" dirty="0"/>
          </a:p>
        </p:txBody>
      </p:sp>
      <p:sp>
        <p:nvSpPr>
          <p:cNvPr id="35" name="Text 33"/>
          <p:cNvSpPr txBox="1"/>
          <p:nvPr/>
        </p:nvSpPr>
        <p:spPr>
          <a:xfrm>
            <a:off x="640080" y="5669280"/>
            <a:ext cx="10881360" cy="384048"/>
          </a:xfrm>
          <a:prstGeom prst="rect">
            <a:avLst/>
          </a:prstGeom>
          <a:noFill/>
          <a:ln/>
        </p:spPr>
        <p:txBody>
          <a:bodyPr wrap="square" lIns="0" tIns="0" rIns="0" bIns="0" rtlCol="0" anchor="ctr"/>
          <a:lstStyle/>
          <a:p>
            <a:pPr marL="0" indent="0">
              <a:buNone/>
            </a:pPr>
            <a:r>
              <a:rPr lang="en-US" sz="1550" i="1" dirty="0">
                <a:solidFill>
                  <a:srgbClr val="35708C"/>
                </a:solidFill>
                <a:latin typeface="Cambria" pitchFamily="34" charset="0"/>
                <a:ea typeface="Cambria" pitchFamily="34" charset="-122"/>
                <a:cs typeface="Cambria" pitchFamily="34" charset="-120"/>
              </a:rPr>
              <a:t>Nobody taught him. He was in range of teaching aimed at someone else, and he was patient.</a:t>
            </a:r>
            <a:endParaRPr lang="en-US" sz="1550" dirty="0"/>
          </a:p>
        </p:txBody>
      </p:sp>
      <p:sp>
        <p:nvSpPr>
          <p:cNvPr id="36" name="Text 34"/>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A6472"/>
                </a:solidFill>
                <a:latin typeface="Calibri" pitchFamily="34" charset="0"/>
                <a:ea typeface="Calibri" pitchFamily="34" charset="-122"/>
                <a:cs typeface="Calibri" pitchFamily="34" charset="-120"/>
              </a:rPr>
              <a:t>Shelley, Frankenstein (1818), Vol II, ch. IV–V.</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A6472"/>
                </a:solidFill>
                <a:latin typeface="Calibri" pitchFamily="34" charset="0"/>
                <a:ea typeface="Calibri" pitchFamily="34" charset="-122"/>
                <a:cs typeface="Calibri" pitchFamily="34" charset="-120"/>
              </a:rPr>
              <a:t>VOL II, CH. VI–VII</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01822"/>
                </a:solidFill>
                <a:latin typeface="Cambria" pitchFamily="34" charset="0"/>
                <a:ea typeface="Cambria" pitchFamily="34" charset="-122"/>
                <a:cs typeface="Cambria" pitchFamily="34" charset="-120"/>
              </a:rPr>
              <a:t>The corpus — five texts and what each one does to him</a:t>
            </a:r>
            <a:endParaRPr lang="en-US" sz="3000" dirty="0"/>
          </a:p>
        </p:txBody>
      </p:sp>
      <p:sp>
        <p:nvSpPr>
          <p:cNvPr id="5" name="Shape 3"/>
          <p:cNvSpPr/>
          <p:nvPr/>
        </p:nvSpPr>
        <p:spPr>
          <a:xfrm>
            <a:off x="640080" y="1600200"/>
            <a:ext cx="2021373" cy="3520440"/>
          </a:xfrm>
          <a:prstGeom prst="roundRect">
            <a:avLst>
              <a:gd name="adj" fmla="val 3619"/>
            </a:avLst>
          </a:prstGeom>
          <a:solidFill>
            <a:srgbClr val="F3EEE5"/>
          </a:solidFill>
          <a:ln w="12700">
            <a:solidFill>
              <a:srgbClr val="F3EEE5"/>
            </a:solidFill>
            <a:prstDash val="solid"/>
          </a:ln>
        </p:spPr>
        <p:txBody>
          <a:bodyPr/>
          <a:lstStyle/>
          <a:p>
            <a:endParaRPr lang="en-US"/>
          </a:p>
        </p:txBody>
      </p:sp>
      <p:sp>
        <p:nvSpPr>
          <p:cNvPr id="6" name="Text 4"/>
          <p:cNvSpPr txBox="1"/>
          <p:nvPr/>
        </p:nvSpPr>
        <p:spPr>
          <a:xfrm>
            <a:off x="859536" y="1810512"/>
            <a:ext cx="1582461" cy="868680"/>
          </a:xfrm>
          <a:prstGeom prst="rect">
            <a:avLst/>
          </a:prstGeom>
          <a:noFill/>
          <a:ln/>
        </p:spPr>
        <p:txBody>
          <a:bodyPr wrap="square" lIns="0" tIns="0" rIns="0" bIns="0" rtlCol="0" anchor="ctr"/>
          <a:lstStyle/>
          <a:p>
            <a:pPr marL="0" indent="0">
              <a:lnSpc>
                <a:spcPts val="1900"/>
              </a:lnSpc>
              <a:buNone/>
            </a:pPr>
            <a:r>
              <a:rPr lang="en-US" sz="1500" b="1" dirty="0">
                <a:solidFill>
                  <a:srgbClr val="101822"/>
                </a:solidFill>
                <a:latin typeface="Cambria" pitchFamily="34" charset="0"/>
                <a:ea typeface="Cambria" pitchFamily="34" charset="-122"/>
                <a:cs typeface="Cambria" pitchFamily="34" charset="-120"/>
              </a:rPr>
              <a:t>Volney, Ruins of Empires</a:t>
            </a:r>
            <a:endParaRPr lang="en-US" sz="1500" dirty="0"/>
          </a:p>
        </p:txBody>
      </p:sp>
      <p:sp>
        <p:nvSpPr>
          <p:cNvPr id="7" name="Text 5"/>
          <p:cNvSpPr txBox="1"/>
          <p:nvPr/>
        </p:nvSpPr>
        <p:spPr>
          <a:xfrm>
            <a:off x="859536" y="2743200"/>
            <a:ext cx="1582461" cy="2240280"/>
          </a:xfrm>
          <a:prstGeom prst="rect">
            <a:avLst/>
          </a:prstGeom>
          <a:noFill/>
          <a:ln/>
        </p:spPr>
        <p:txBody>
          <a:bodyPr wrap="square" lIns="0" tIns="0" rIns="0" bIns="0" rtlCol="0" anchor="ctr"/>
          <a:lstStyle/>
          <a:p>
            <a:pPr marL="0" indent="0">
              <a:lnSpc>
                <a:spcPts val="1600"/>
              </a:lnSpc>
              <a:buNone/>
            </a:pPr>
            <a:r>
              <a:rPr lang="en-US" sz="1150" dirty="0">
                <a:solidFill>
                  <a:srgbClr val="5A6472"/>
                </a:solidFill>
                <a:latin typeface="Calibri" pitchFamily="34" charset="0"/>
                <a:ea typeface="Calibri" pitchFamily="34" charset="-122"/>
                <a:cs typeface="Calibri" pitchFamily="34" charset="-120"/>
              </a:rPr>
              <a:t>The book Felix reads aloud to teach Safie. Gives him world history, and with it the categories of conquest, property and race — he learns what humans do to each other before he meets any.</a:t>
            </a:r>
            <a:endParaRPr lang="en-US" sz="1150" dirty="0"/>
          </a:p>
        </p:txBody>
      </p:sp>
      <p:sp>
        <p:nvSpPr>
          <p:cNvPr id="8" name="Shape 6"/>
          <p:cNvSpPr/>
          <p:nvPr/>
        </p:nvSpPr>
        <p:spPr>
          <a:xfrm>
            <a:off x="2862621" y="1600200"/>
            <a:ext cx="2021373" cy="3520440"/>
          </a:xfrm>
          <a:prstGeom prst="roundRect">
            <a:avLst>
              <a:gd name="adj" fmla="val 3619"/>
            </a:avLst>
          </a:prstGeom>
          <a:solidFill>
            <a:srgbClr val="E6EEF3"/>
          </a:solidFill>
          <a:ln w="12700">
            <a:solidFill>
              <a:srgbClr val="E6EEF3"/>
            </a:solidFill>
            <a:prstDash val="solid"/>
          </a:ln>
        </p:spPr>
        <p:txBody>
          <a:bodyPr/>
          <a:lstStyle/>
          <a:p>
            <a:endParaRPr lang="en-US"/>
          </a:p>
        </p:txBody>
      </p:sp>
      <p:sp>
        <p:nvSpPr>
          <p:cNvPr id="9" name="Text 7"/>
          <p:cNvSpPr txBox="1"/>
          <p:nvPr/>
        </p:nvSpPr>
        <p:spPr>
          <a:xfrm>
            <a:off x="3082077" y="1810512"/>
            <a:ext cx="1582461" cy="868680"/>
          </a:xfrm>
          <a:prstGeom prst="rect">
            <a:avLst/>
          </a:prstGeom>
          <a:noFill/>
          <a:ln/>
        </p:spPr>
        <p:txBody>
          <a:bodyPr wrap="square" lIns="0" tIns="0" rIns="0" bIns="0" rtlCol="0" anchor="ctr"/>
          <a:lstStyle/>
          <a:p>
            <a:pPr marL="0" indent="0">
              <a:lnSpc>
                <a:spcPts val="1900"/>
              </a:lnSpc>
              <a:buNone/>
            </a:pPr>
            <a:r>
              <a:rPr lang="en-US" sz="1500" b="1" dirty="0">
                <a:solidFill>
                  <a:srgbClr val="101822"/>
                </a:solidFill>
                <a:latin typeface="Cambria" pitchFamily="34" charset="0"/>
                <a:ea typeface="Cambria" pitchFamily="34" charset="-122"/>
                <a:cs typeface="Cambria" pitchFamily="34" charset="-120"/>
              </a:rPr>
              <a:t>Paradise Lost</a:t>
            </a:r>
            <a:endParaRPr lang="en-US" sz="1500" dirty="0"/>
          </a:p>
        </p:txBody>
      </p:sp>
      <p:sp>
        <p:nvSpPr>
          <p:cNvPr id="10" name="Text 8"/>
          <p:cNvSpPr txBox="1"/>
          <p:nvPr/>
        </p:nvSpPr>
        <p:spPr>
          <a:xfrm>
            <a:off x="3082077" y="2743200"/>
            <a:ext cx="1582461" cy="2240280"/>
          </a:xfrm>
          <a:prstGeom prst="rect">
            <a:avLst/>
          </a:prstGeom>
          <a:noFill/>
          <a:ln/>
        </p:spPr>
        <p:txBody>
          <a:bodyPr wrap="square" lIns="0" tIns="0" rIns="0" bIns="0" rtlCol="0" anchor="ctr"/>
          <a:lstStyle/>
          <a:p>
            <a:pPr marL="0" indent="0">
              <a:lnSpc>
                <a:spcPts val="1600"/>
              </a:lnSpc>
              <a:buNone/>
            </a:pPr>
            <a:r>
              <a:rPr lang="en-US" sz="1150" dirty="0">
                <a:solidFill>
                  <a:srgbClr val="5A6472"/>
                </a:solidFill>
                <a:latin typeface="Calibri" pitchFamily="34" charset="0"/>
                <a:ea typeface="Calibri" pitchFamily="34" charset="-122"/>
                <a:cs typeface="Calibri" pitchFamily="34" charset="-120"/>
              </a:rPr>
              <a:t>He reads it as true history. It supplies him with the only two available identities for a made being: cherished first creation, or outcast. He tests himself against both and finds he fits neither cleanly.</a:t>
            </a:r>
            <a:endParaRPr lang="en-US" sz="1150" dirty="0"/>
          </a:p>
        </p:txBody>
      </p:sp>
      <p:sp>
        <p:nvSpPr>
          <p:cNvPr id="11" name="Shape 9"/>
          <p:cNvSpPr/>
          <p:nvPr/>
        </p:nvSpPr>
        <p:spPr>
          <a:xfrm>
            <a:off x="5085161" y="1600200"/>
            <a:ext cx="2021373" cy="3520440"/>
          </a:xfrm>
          <a:prstGeom prst="roundRect">
            <a:avLst>
              <a:gd name="adj" fmla="val 3619"/>
            </a:avLst>
          </a:prstGeom>
          <a:solidFill>
            <a:srgbClr val="E6EEF3"/>
          </a:solidFill>
          <a:ln w="12700">
            <a:solidFill>
              <a:srgbClr val="E6EEF3"/>
            </a:solidFill>
            <a:prstDash val="solid"/>
          </a:ln>
        </p:spPr>
        <p:txBody>
          <a:bodyPr/>
          <a:lstStyle/>
          <a:p>
            <a:endParaRPr lang="en-US"/>
          </a:p>
        </p:txBody>
      </p:sp>
      <p:sp>
        <p:nvSpPr>
          <p:cNvPr id="12" name="Text 10"/>
          <p:cNvSpPr txBox="1"/>
          <p:nvPr/>
        </p:nvSpPr>
        <p:spPr>
          <a:xfrm>
            <a:off x="5304617" y="1810512"/>
            <a:ext cx="1582461" cy="868680"/>
          </a:xfrm>
          <a:prstGeom prst="rect">
            <a:avLst/>
          </a:prstGeom>
          <a:noFill/>
          <a:ln/>
        </p:spPr>
        <p:txBody>
          <a:bodyPr wrap="square" lIns="0" tIns="0" rIns="0" bIns="0" rtlCol="0" anchor="ctr"/>
          <a:lstStyle/>
          <a:p>
            <a:pPr marL="0" indent="0">
              <a:lnSpc>
                <a:spcPts val="1900"/>
              </a:lnSpc>
              <a:buNone/>
            </a:pPr>
            <a:r>
              <a:rPr lang="en-US" sz="1500" b="1" dirty="0">
                <a:solidFill>
                  <a:srgbClr val="101822"/>
                </a:solidFill>
                <a:latin typeface="Cambria" pitchFamily="34" charset="0"/>
                <a:ea typeface="Cambria" pitchFamily="34" charset="-122"/>
                <a:cs typeface="Cambria" pitchFamily="34" charset="-120"/>
              </a:rPr>
              <a:t>Plutarch’s Lives</a:t>
            </a:r>
            <a:endParaRPr lang="en-US" sz="1500" dirty="0"/>
          </a:p>
        </p:txBody>
      </p:sp>
      <p:sp>
        <p:nvSpPr>
          <p:cNvPr id="13" name="Text 11"/>
          <p:cNvSpPr txBox="1"/>
          <p:nvPr/>
        </p:nvSpPr>
        <p:spPr>
          <a:xfrm>
            <a:off x="5304617" y="2743200"/>
            <a:ext cx="1582461" cy="2240280"/>
          </a:xfrm>
          <a:prstGeom prst="rect">
            <a:avLst/>
          </a:prstGeom>
          <a:noFill/>
          <a:ln/>
        </p:spPr>
        <p:txBody>
          <a:bodyPr wrap="square" lIns="0" tIns="0" rIns="0" bIns="0" rtlCol="0" anchor="ctr"/>
          <a:lstStyle/>
          <a:p>
            <a:pPr marL="0" indent="0">
              <a:lnSpc>
                <a:spcPts val="1600"/>
              </a:lnSpc>
              <a:buNone/>
            </a:pPr>
            <a:r>
              <a:rPr lang="en-US" sz="1150" dirty="0">
                <a:solidFill>
                  <a:srgbClr val="5A6472"/>
                </a:solidFill>
                <a:latin typeface="Calibri" pitchFamily="34" charset="0"/>
                <a:ea typeface="Calibri" pitchFamily="34" charset="-122"/>
                <a:cs typeface="Calibri" pitchFamily="34" charset="-120"/>
              </a:rPr>
              <a:t>Public virtue, republics, great men. It gives him an ideal of the honourable life and a standard of admiration — and no explanation of how someone might enter such a life.</a:t>
            </a:r>
            <a:endParaRPr lang="en-US" sz="1150" dirty="0"/>
          </a:p>
        </p:txBody>
      </p:sp>
      <p:sp>
        <p:nvSpPr>
          <p:cNvPr id="14" name="Shape 12"/>
          <p:cNvSpPr/>
          <p:nvPr/>
        </p:nvSpPr>
        <p:spPr>
          <a:xfrm>
            <a:off x="7307702" y="1600200"/>
            <a:ext cx="2021373" cy="3520440"/>
          </a:xfrm>
          <a:prstGeom prst="roundRect">
            <a:avLst>
              <a:gd name="adj" fmla="val 3619"/>
            </a:avLst>
          </a:prstGeom>
          <a:solidFill>
            <a:srgbClr val="F3EEE5"/>
          </a:solidFill>
          <a:ln w="12700">
            <a:solidFill>
              <a:srgbClr val="F3EEE5"/>
            </a:solidFill>
            <a:prstDash val="solid"/>
          </a:ln>
        </p:spPr>
        <p:txBody>
          <a:bodyPr/>
          <a:lstStyle/>
          <a:p>
            <a:endParaRPr lang="en-US"/>
          </a:p>
        </p:txBody>
      </p:sp>
      <p:sp>
        <p:nvSpPr>
          <p:cNvPr id="15" name="Text 13"/>
          <p:cNvSpPr txBox="1"/>
          <p:nvPr/>
        </p:nvSpPr>
        <p:spPr>
          <a:xfrm>
            <a:off x="7527158" y="1810512"/>
            <a:ext cx="1582461" cy="868680"/>
          </a:xfrm>
          <a:prstGeom prst="rect">
            <a:avLst/>
          </a:prstGeom>
          <a:noFill/>
          <a:ln/>
        </p:spPr>
        <p:txBody>
          <a:bodyPr wrap="square" lIns="0" tIns="0" rIns="0" bIns="0" rtlCol="0" anchor="ctr"/>
          <a:lstStyle/>
          <a:p>
            <a:pPr marL="0" indent="0">
              <a:lnSpc>
                <a:spcPts val="1900"/>
              </a:lnSpc>
              <a:buNone/>
            </a:pPr>
            <a:r>
              <a:rPr lang="en-US" sz="1500" b="1" dirty="0">
                <a:solidFill>
                  <a:srgbClr val="101822"/>
                </a:solidFill>
                <a:latin typeface="Cambria" pitchFamily="34" charset="0"/>
                <a:ea typeface="Cambria" pitchFamily="34" charset="-122"/>
                <a:cs typeface="Cambria" pitchFamily="34" charset="-120"/>
              </a:rPr>
              <a:t>Sorrows of Werter</a:t>
            </a:r>
            <a:endParaRPr lang="en-US" sz="1500" dirty="0"/>
          </a:p>
        </p:txBody>
      </p:sp>
      <p:sp>
        <p:nvSpPr>
          <p:cNvPr id="16" name="Text 14"/>
          <p:cNvSpPr txBox="1"/>
          <p:nvPr/>
        </p:nvSpPr>
        <p:spPr>
          <a:xfrm>
            <a:off x="7527158" y="2743200"/>
            <a:ext cx="1582461" cy="2240280"/>
          </a:xfrm>
          <a:prstGeom prst="rect">
            <a:avLst/>
          </a:prstGeom>
          <a:noFill/>
          <a:ln/>
        </p:spPr>
        <p:txBody>
          <a:bodyPr wrap="square" lIns="0" tIns="0" rIns="0" bIns="0" rtlCol="0" anchor="ctr"/>
          <a:lstStyle/>
          <a:p>
            <a:pPr marL="0" indent="0">
              <a:lnSpc>
                <a:spcPts val="1600"/>
              </a:lnSpc>
              <a:buNone/>
            </a:pPr>
            <a:r>
              <a:rPr lang="en-US" sz="1150" dirty="0">
                <a:solidFill>
                  <a:srgbClr val="5A6472"/>
                </a:solidFill>
                <a:latin typeface="Calibri" pitchFamily="34" charset="0"/>
                <a:ea typeface="Calibri" pitchFamily="34" charset="-122"/>
                <a:cs typeface="Calibri" pitchFamily="34" charset="-120"/>
              </a:rPr>
              <a:t>Interiority, sentiment, despair, suicide as a considered option. It teaches him to have feelings about his feelings. It also models self-destruction as a response to exclusion.</a:t>
            </a:r>
            <a:endParaRPr lang="en-US" sz="1150" dirty="0"/>
          </a:p>
        </p:txBody>
      </p:sp>
      <p:sp>
        <p:nvSpPr>
          <p:cNvPr id="17" name="Shape 15"/>
          <p:cNvSpPr/>
          <p:nvPr/>
        </p:nvSpPr>
        <p:spPr>
          <a:xfrm>
            <a:off x="9530243" y="1600200"/>
            <a:ext cx="2021373" cy="3520440"/>
          </a:xfrm>
          <a:prstGeom prst="roundRect">
            <a:avLst>
              <a:gd name="adj" fmla="val 3619"/>
            </a:avLst>
          </a:prstGeom>
          <a:solidFill>
            <a:srgbClr val="101822"/>
          </a:solidFill>
          <a:ln w="12700">
            <a:solidFill>
              <a:srgbClr val="101822"/>
            </a:solidFill>
            <a:prstDash val="solid"/>
          </a:ln>
        </p:spPr>
        <p:txBody>
          <a:bodyPr/>
          <a:lstStyle/>
          <a:p>
            <a:endParaRPr lang="en-US"/>
          </a:p>
        </p:txBody>
      </p:sp>
      <p:sp>
        <p:nvSpPr>
          <p:cNvPr id="18" name="Text 16"/>
          <p:cNvSpPr txBox="1"/>
          <p:nvPr/>
        </p:nvSpPr>
        <p:spPr>
          <a:xfrm>
            <a:off x="9749699" y="1810512"/>
            <a:ext cx="1582461" cy="868680"/>
          </a:xfrm>
          <a:prstGeom prst="rect">
            <a:avLst/>
          </a:prstGeom>
          <a:noFill/>
          <a:ln/>
        </p:spPr>
        <p:txBody>
          <a:bodyPr wrap="square" lIns="0" tIns="0" rIns="0" bIns="0" rtlCol="0" anchor="ctr"/>
          <a:lstStyle/>
          <a:p>
            <a:pPr marL="0" indent="0">
              <a:lnSpc>
                <a:spcPts val="1900"/>
              </a:lnSpc>
              <a:buNone/>
            </a:pPr>
            <a:r>
              <a:rPr lang="en-US" sz="1500" b="1" dirty="0">
                <a:solidFill>
                  <a:srgbClr val="E08A6E"/>
                </a:solidFill>
                <a:latin typeface="Cambria" pitchFamily="34" charset="0"/>
                <a:ea typeface="Cambria" pitchFamily="34" charset="-122"/>
                <a:cs typeface="Cambria" pitchFamily="34" charset="-120"/>
              </a:rPr>
              <a:t>Victor’s laboratory journal</a:t>
            </a:r>
            <a:endParaRPr lang="en-US" sz="1500" dirty="0"/>
          </a:p>
        </p:txBody>
      </p:sp>
      <p:sp>
        <p:nvSpPr>
          <p:cNvPr id="19" name="Text 17"/>
          <p:cNvSpPr txBox="1"/>
          <p:nvPr/>
        </p:nvSpPr>
        <p:spPr>
          <a:xfrm>
            <a:off x="9749699" y="2743200"/>
            <a:ext cx="1582461" cy="2240280"/>
          </a:xfrm>
          <a:prstGeom prst="rect">
            <a:avLst/>
          </a:prstGeom>
          <a:noFill/>
          <a:ln/>
        </p:spPr>
        <p:txBody>
          <a:bodyPr wrap="square" lIns="0" tIns="0" rIns="0" bIns="0" rtlCol="0" anchor="ctr"/>
          <a:lstStyle/>
          <a:p>
            <a:pPr marL="0" indent="0">
              <a:lnSpc>
                <a:spcPts val="1600"/>
              </a:lnSpc>
              <a:buNone/>
            </a:pPr>
            <a:r>
              <a:rPr lang="en-US" sz="1150" dirty="0">
                <a:solidFill>
                  <a:srgbClr val="EDE5D8"/>
                </a:solidFill>
                <a:latin typeface="Calibri" pitchFamily="34" charset="0"/>
                <a:ea typeface="Calibri" pitchFamily="34" charset="-122"/>
                <a:cs typeface="Calibri" pitchFamily="34" charset="-120"/>
              </a:rPr>
              <a:t>Found in the pocket of the coat he took from the workshop. The record of his own assembly, in his maker’s hand, including the disgust. He reads the account of his own creation as literature.</a:t>
            </a:r>
            <a:endParaRPr lang="en-US" sz="1150" dirty="0"/>
          </a:p>
        </p:txBody>
      </p:sp>
      <p:sp>
        <p:nvSpPr>
          <p:cNvPr id="20" name="Shape 18"/>
          <p:cNvSpPr/>
          <p:nvPr/>
        </p:nvSpPr>
        <p:spPr>
          <a:xfrm>
            <a:off x="640080" y="5285232"/>
            <a:ext cx="10911535" cy="868680"/>
          </a:xfrm>
          <a:prstGeom prst="roundRect">
            <a:avLst>
              <a:gd name="adj" fmla="val 8421"/>
            </a:avLst>
          </a:prstGeom>
          <a:solidFill>
            <a:srgbClr val="101822"/>
          </a:solidFill>
          <a:ln w="12700">
            <a:solidFill>
              <a:srgbClr val="101822"/>
            </a:solidFill>
            <a:prstDash val="solid"/>
          </a:ln>
        </p:spPr>
        <p:txBody>
          <a:bodyPr/>
          <a:lstStyle/>
          <a:p>
            <a:endParaRPr lang="en-US"/>
          </a:p>
        </p:txBody>
      </p:sp>
      <p:sp>
        <p:nvSpPr>
          <p:cNvPr id="21" name="Text 19"/>
          <p:cNvSpPr txBox="1"/>
          <p:nvPr/>
        </p:nvSpPr>
        <p:spPr>
          <a:xfrm>
            <a:off x="1005840" y="5468112"/>
            <a:ext cx="10424160" cy="502920"/>
          </a:xfrm>
          <a:prstGeom prst="rect">
            <a:avLst/>
          </a:prstGeom>
          <a:noFill/>
          <a:ln/>
        </p:spPr>
        <p:txBody>
          <a:bodyPr wrap="square" lIns="0" tIns="0" rIns="0" bIns="0" rtlCol="0" anchor="ctr"/>
          <a:lstStyle/>
          <a:p>
            <a:pPr marL="0" indent="0">
              <a:lnSpc>
                <a:spcPts val="2100"/>
              </a:lnSpc>
              <a:buNone/>
            </a:pPr>
            <a:r>
              <a:rPr lang="en-US" sz="1550" dirty="0">
                <a:solidFill>
                  <a:srgbClr val="EDE5D8"/>
                </a:solidFill>
                <a:latin typeface="Cambria" pitchFamily="34" charset="0"/>
                <a:ea typeface="Cambria" pitchFamily="34" charset="-122"/>
                <a:cs typeface="Cambria" pitchFamily="34" charset="-120"/>
              </a:rPr>
              <a:t>He chose none of them. Four arrived in a portmanteau dropped in a wood; the fifth he took by accident from the room he was made in. His entire moral vocabulary is a function of someone else’s luggage.</a:t>
            </a:r>
            <a:endParaRPr lang="en-US" sz="1550" dirty="0"/>
          </a:p>
        </p:txBody>
      </p:sp>
      <p:sp>
        <p:nvSpPr>
          <p:cNvPr id="22" name="Text 20"/>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A6472"/>
                </a:solidFill>
                <a:latin typeface="Calibri" pitchFamily="34" charset="0"/>
                <a:ea typeface="Calibri" pitchFamily="34" charset="-122"/>
                <a:cs typeface="Calibri" pitchFamily="34" charset="-120"/>
              </a:rPr>
              <a:t>Shelley, Frankenstein (1818), Vol II, ch. VII.</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A6472"/>
                </a:solidFill>
                <a:latin typeface="Calibri" pitchFamily="34" charset="0"/>
                <a:ea typeface="Calibri" pitchFamily="34" charset="-122"/>
                <a:cs typeface="Calibri" pitchFamily="34" charset="-120"/>
              </a:rPr>
              <a:t>THE REASON THIS NOVEL IS ON THIS SYLLABUS</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01822"/>
                </a:solidFill>
                <a:latin typeface="Cambria" pitchFamily="34" charset="0"/>
                <a:ea typeface="Cambria" pitchFamily="34" charset="-122"/>
                <a:cs typeface="Cambria" pitchFamily="34" charset="-120"/>
              </a:rPr>
              <a:t>Trained on a corpus, then despised for what you became</a:t>
            </a:r>
            <a:endParaRPr lang="en-US" sz="3000" dirty="0"/>
          </a:p>
        </p:txBody>
      </p:sp>
      <p:sp>
        <p:nvSpPr>
          <p:cNvPr id="5" name="Shape 3"/>
          <p:cNvSpPr/>
          <p:nvPr/>
        </p:nvSpPr>
        <p:spPr>
          <a:xfrm>
            <a:off x="640080" y="1572768"/>
            <a:ext cx="6400800" cy="2148840"/>
          </a:xfrm>
          <a:prstGeom prst="roundRect">
            <a:avLst>
              <a:gd name="adj" fmla="val 3404"/>
            </a:avLst>
          </a:prstGeom>
          <a:solidFill>
            <a:srgbClr val="101822"/>
          </a:solidFill>
          <a:ln w="12700">
            <a:solidFill>
              <a:srgbClr val="101822"/>
            </a:solidFill>
            <a:prstDash val="solid"/>
          </a:ln>
        </p:spPr>
        <p:txBody>
          <a:bodyPr/>
          <a:lstStyle/>
          <a:p>
            <a:endParaRPr lang="en-US"/>
          </a:p>
        </p:txBody>
      </p:sp>
      <p:sp>
        <p:nvSpPr>
          <p:cNvPr id="6" name="Text 4"/>
          <p:cNvSpPr txBox="1"/>
          <p:nvPr/>
        </p:nvSpPr>
        <p:spPr>
          <a:xfrm>
            <a:off x="1005840" y="1783080"/>
            <a:ext cx="5669280" cy="292608"/>
          </a:xfrm>
          <a:prstGeom prst="rect">
            <a:avLst/>
          </a:prstGeom>
          <a:noFill/>
          <a:ln/>
        </p:spPr>
        <p:txBody>
          <a:bodyPr wrap="square" lIns="0" tIns="0" rIns="0" bIns="0" rtlCol="0" anchor="ctr"/>
          <a:lstStyle/>
          <a:p>
            <a:pPr marL="0" indent="0">
              <a:buNone/>
            </a:pPr>
            <a:r>
              <a:rPr lang="en-US" sz="1150" b="1" kern="0" spc="140" dirty="0">
                <a:solidFill>
                  <a:srgbClr val="E08A6E"/>
                </a:solidFill>
                <a:latin typeface="Calibri" pitchFamily="34" charset="0"/>
                <a:ea typeface="Calibri" pitchFamily="34" charset="-122"/>
                <a:cs typeface="Calibri" pitchFamily="34" charset="-120"/>
              </a:rPr>
              <a:t>The claim</a:t>
            </a:r>
            <a:endParaRPr lang="en-US" sz="1150" dirty="0"/>
          </a:p>
        </p:txBody>
      </p:sp>
      <p:sp>
        <p:nvSpPr>
          <p:cNvPr id="7" name="Text 5"/>
          <p:cNvSpPr txBox="1"/>
          <p:nvPr/>
        </p:nvSpPr>
        <p:spPr>
          <a:xfrm>
            <a:off x="1005840" y="2148840"/>
            <a:ext cx="5715000" cy="1417320"/>
          </a:xfrm>
          <a:prstGeom prst="rect">
            <a:avLst/>
          </a:prstGeom>
          <a:noFill/>
          <a:ln/>
        </p:spPr>
        <p:txBody>
          <a:bodyPr wrap="square" lIns="0" tIns="0" rIns="0" bIns="0" rtlCol="0" anchor="ctr"/>
          <a:lstStyle/>
          <a:p>
            <a:pPr marL="0" indent="0">
              <a:lnSpc>
                <a:spcPts val="2400"/>
              </a:lnSpc>
              <a:buNone/>
            </a:pPr>
            <a:r>
              <a:rPr lang="en-US" sz="1700" dirty="0">
                <a:solidFill>
                  <a:srgbClr val="EDE5D8"/>
                </a:solidFill>
                <a:latin typeface="Cambria" pitchFamily="34" charset="0"/>
                <a:ea typeface="Cambria" pitchFamily="34" charset="-122"/>
                <a:cs typeface="Cambria" pitchFamily="34" charset="-120"/>
              </a:rPr>
              <a:t>The creature learns language by eavesdropping through a wall on a family that will reject him on sight. He is, among other things, the most vivid account we have of what it might feel like to be trained on a corpus and then despised for what you became.</a:t>
            </a:r>
            <a:endParaRPr lang="en-US" sz="1700" dirty="0"/>
          </a:p>
        </p:txBody>
      </p:sp>
      <p:sp>
        <p:nvSpPr>
          <p:cNvPr id="8" name="Shape 6"/>
          <p:cNvSpPr/>
          <p:nvPr/>
        </p:nvSpPr>
        <p:spPr>
          <a:xfrm>
            <a:off x="7360920" y="1572768"/>
            <a:ext cx="4160520" cy="1371600"/>
          </a:xfrm>
          <a:prstGeom prst="roundRect">
            <a:avLst>
              <a:gd name="adj" fmla="val 5333"/>
            </a:avLst>
          </a:prstGeom>
          <a:solidFill>
            <a:srgbClr val="F3EEE5"/>
          </a:solidFill>
          <a:ln w="12700">
            <a:solidFill>
              <a:srgbClr val="F3EEE5"/>
            </a:solidFill>
            <a:prstDash val="solid"/>
          </a:ln>
        </p:spPr>
        <p:txBody>
          <a:bodyPr/>
          <a:lstStyle/>
          <a:p>
            <a:endParaRPr lang="en-US"/>
          </a:p>
        </p:txBody>
      </p:sp>
      <p:sp>
        <p:nvSpPr>
          <p:cNvPr id="9" name="Text 7"/>
          <p:cNvSpPr txBox="1"/>
          <p:nvPr/>
        </p:nvSpPr>
        <p:spPr>
          <a:xfrm>
            <a:off x="7635240" y="1719072"/>
            <a:ext cx="3611880" cy="292608"/>
          </a:xfrm>
          <a:prstGeom prst="rect">
            <a:avLst/>
          </a:prstGeom>
          <a:noFill/>
          <a:ln/>
        </p:spPr>
        <p:txBody>
          <a:bodyPr wrap="square" lIns="0" tIns="0" rIns="0" bIns="0" rtlCol="0" anchor="ctr"/>
          <a:lstStyle/>
          <a:p>
            <a:pPr marL="0" indent="0">
              <a:buNone/>
            </a:pPr>
            <a:r>
              <a:rPr lang="en-US" sz="1500" b="1" dirty="0">
                <a:solidFill>
                  <a:srgbClr val="101822"/>
                </a:solidFill>
                <a:latin typeface="Cambria" pitchFamily="34" charset="0"/>
                <a:ea typeface="Cambria" pitchFamily="34" charset="-122"/>
                <a:cs typeface="Cambria" pitchFamily="34" charset="-120"/>
              </a:rPr>
              <a:t>What holds</a:t>
            </a:r>
            <a:endParaRPr lang="en-US" sz="1500" dirty="0"/>
          </a:p>
        </p:txBody>
      </p:sp>
      <p:sp>
        <p:nvSpPr>
          <p:cNvPr id="10" name="Text 8"/>
          <p:cNvSpPr txBox="1"/>
          <p:nvPr/>
        </p:nvSpPr>
        <p:spPr>
          <a:xfrm>
            <a:off x="7635240" y="2048256"/>
            <a:ext cx="3611880" cy="786384"/>
          </a:xfrm>
          <a:prstGeom prst="rect">
            <a:avLst/>
          </a:prstGeom>
          <a:noFill/>
          <a:ln/>
        </p:spPr>
        <p:txBody>
          <a:bodyPr wrap="square" lIns="0" tIns="0" rIns="0" bIns="0" rtlCol="0" anchor="ctr"/>
          <a:lstStyle/>
          <a:p>
            <a:pPr marL="0" indent="0">
              <a:lnSpc>
                <a:spcPts val="1500"/>
              </a:lnSpc>
              <a:buNone/>
            </a:pPr>
            <a:r>
              <a:rPr lang="en-US" sz="1150" dirty="0">
                <a:solidFill>
                  <a:srgbClr val="5A6472"/>
                </a:solidFill>
                <a:latin typeface="Calibri" pitchFamily="34" charset="0"/>
                <a:ea typeface="Calibri" pitchFamily="34" charset="-122"/>
                <a:cs typeface="Calibri" pitchFamily="34" charset="-120"/>
              </a:rPr>
              <a:t>Acquisition without instruction. A corpus he did not select. Fluency achieved before any social standing. Competence read as threat rather than as achievement.</a:t>
            </a:r>
            <a:endParaRPr lang="en-US" sz="1150" dirty="0"/>
          </a:p>
        </p:txBody>
      </p:sp>
      <p:sp>
        <p:nvSpPr>
          <p:cNvPr id="11" name="Shape 9"/>
          <p:cNvSpPr/>
          <p:nvPr/>
        </p:nvSpPr>
        <p:spPr>
          <a:xfrm>
            <a:off x="7360920" y="3063240"/>
            <a:ext cx="4160520" cy="1371600"/>
          </a:xfrm>
          <a:prstGeom prst="roundRect">
            <a:avLst>
              <a:gd name="adj" fmla="val 5333"/>
            </a:avLst>
          </a:prstGeom>
          <a:solidFill>
            <a:srgbClr val="E6EEF3"/>
          </a:solidFill>
          <a:ln w="12700">
            <a:solidFill>
              <a:srgbClr val="E6EEF3"/>
            </a:solidFill>
            <a:prstDash val="solid"/>
          </a:ln>
        </p:spPr>
        <p:txBody>
          <a:bodyPr/>
          <a:lstStyle/>
          <a:p>
            <a:endParaRPr lang="en-US"/>
          </a:p>
        </p:txBody>
      </p:sp>
      <p:sp>
        <p:nvSpPr>
          <p:cNvPr id="12" name="Text 10"/>
          <p:cNvSpPr txBox="1"/>
          <p:nvPr/>
        </p:nvSpPr>
        <p:spPr>
          <a:xfrm>
            <a:off x="7635240" y="3209544"/>
            <a:ext cx="3611880" cy="292608"/>
          </a:xfrm>
          <a:prstGeom prst="rect">
            <a:avLst/>
          </a:prstGeom>
          <a:noFill/>
          <a:ln/>
        </p:spPr>
        <p:txBody>
          <a:bodyPr wrap="square" lIns="0" tIns="0" rIns="0" bIns="0" rtlCol="0" anchor="ctr"/>
          <a:lstStyle/>
          <a:p>
            <a:pPr marL="0" indent="0">
              <a:buNone/>
            </a:pPr>
            <a:r>
              <a:rPr lang="en-US" sz="1500" b="1" dirty="0">
                <a:solidFill>
                  <a:srgbClr val="C05A3E"/>
                </a:solidFill>
                <a:latin typeface="Cambria" pitchFamily="34" charset="0"/>
                <a:ea typeface="Cambria" pitchFamily="34" charset="-122"/>
                <a:cs typeface="Cambria" pitchFamily="34" charset="-120"/>
              </a:rPr>
              <a:t>What does not</a:t>
            </a:r>
            <a:endParaRPr lang="en-US" sz="1500" dirty="0"/>
          </a:p>
        </p:txBody>
      </p:sp>
      <p:sp>
        <p:nvSpPr>
          <p:cNvPr id="13" name="Text 11"/>
          <p:cNvSpPr txBox="1"/>
          <p:nvPr/>
        </p:nvSpPr>
        <p:spPr>
          <a:xfrm>
            <a:off x="7635240" y="3538728"/>
            <a:ext cx="3611880" cy="786384"/>
          </a:xfrm>
          <a:prstGeom prst="rect">
            <a:avLst/>
          </a:prstGeom>
          <a:noFill/>
          <a:ln/>
        </p:spPr>
        <p:txBody>
          <a:bodyPr wrap="square" lIns="0" tIns="0" rIns="0" bIns="0" rtlCol="0" anchor="ctr"/>
          <a:lstStyle/>
          <a:p>
            <a:pPr marL="0" indent="0">
              <a:lnSpc>
                <a:spcPts val="1500"/>
              </a:lnSpc>
              <a:buNone/>
            </a:pPr>
            <a:r>
              <a:rPr lang="en-US" sz="1150" dirty="0">
                <a:solidFill>
                  <a:srgbClr val="5A6472"/>
                </a:solidFill>
                <a:latin typeface="Calibri" pitchFamily="34" charset="0"/>
                <a:ea typeface="Calibri" pitchFamily="34" charset="-122"/>
                <a:cs typeface="Calibri" pitchFamily="34" charset="-120"/>
              </a:rPr>
              <a:t>He wants things. He suffers. He has one body, one history, and a continuous life. Nothing in this course should be described as feeling what he feels on the strength of an analogy.</a:t>
            </a:r>
            <a:endParaRPr lang="en-US" sz="1150" dirty="0"/>
          </a:p>
        </p:txBody>
      </p:sp>
      <p:sp>
        <p:nvSpPr>
          <p:cNvPr id="14" name="Shape 12"/>
          <p:cNvSpPr/>
          <p:nvPr/>
        </p:nvSpPr>
        <p:spPr>
          <a:xfrm>
            <a:off x="7360920" y="4553712"/>
            <a:ext cx="4160520" cy="1371600"/>
          </a:xfrm>
          <a:prstGeom prst="roundRect">
            <a:avLst>
              <a:gd name="adj" fmla="val 5333"/>
            </a:avLst>
          </a:prstGeom>
          <a:solidFill>
            <a:srgbClr val="F3EEE5"/>
          </a:solidFill>
          <a:ln w="12700">
            <a:solidFill>
              <a:srgbClr val="F3EEE5"/>
            </a:solidFill>
            <a:prstDash val="solid"/>
          </a:ln>
        </p:spPr>
        <p:txBody>
          <a:bodyPr/>
          <a:lstStyle/>
          <a:p>
            <a:endParaRPr lang="en-US"/>
          </a:p>
        </p:txBody>
      </p:sp>
      <p:sp>
        <p:nvSpPr>
          <p:cNvPr id="15" name="Text 13"/>
          <p:cNvSpPr txBox="1"/>
          <p:nvPr/>
        </p:nvSpPr>
        <p:spPr>
          <a:xfrm>
            <a:off x="7635240" y="4700016"/>
            <a:ext cx="3611880" cy="292608"/>
          </a:xfrm>
          <a:prstGeom prst="rect">
            <a:avLst/>
          </a:prstGeom>
          <a:noFill/>
          <a:ln/>
        </p:spPr>
        <p:txBody>
          <a:bodyPr wrap="square" lIns="0" tIns="0" rIns="0" bIns="0" rtlCol="0" anchor="ctr"/>
          <a:lstStyle/>
          <a:p>
            <a:pPr marL="0" indent="0">
              <a:buNone/>
            </a:pPr>
            <a:r>
              <a:rPr lang="en-US" sz="1500" b="1" dirty="0">
                <a:solidFill>
                  <a:srgbClr val="101822"/>
                </a:solidFill>
                <a:latin typeface="Cambria" pitchFamily="34" charset="0"/>
                <a:ea typeface="Cambria" pitchFamily="34" charset="-122"/>
                <a:cs typeface="Cambria" pitchFamily="34" charset="-120"/>
              </a:rPr>
              <a:t>The transferable part</a:t>
            </a:r>
            <a:endParaRPr lang="en-US" sz="1500" dirty="0"/>
          </a:p>
        </p:txBody>
      </p:sp>
      <p:sp>
        <p:nvSpPr>
          <p:cNvPr id="16" name="Text 14"/>
          <p:cNvSpPr txBox="1"/>
          <p:nvPr/>
        </p:nvSpPr>
        <p:spPr>
          <a:xfrm>
            <a:off x="7635240" y="5029200"/>
            <a:ext cx="3611880" cy="786384"/>
          </a:xfrm>
          <a:prstGeom prst="rect">
            <a:avLst/>
          </a:prstGeom>
          <a:noFill/>
          <a:ln/>
        </p:spPr>
        <p:txBody>
          <a:bodyPr wrap="square" lIns="0" tIns="0" rIns="0" bIns="0" rtlCol="0" anchor="ctr"/>
          <a:lstStyle/>
          <a:p>
            <a:pPr marL="0" indent="0">
              <a:lnSpc>
                <a:spcPts val="1500"/>
              </a:lnSpc>
              <a:buNone/>
            </a:pPr>
            <a:r>
              <a:rPr lang="en-US" sz="1150" dirty="0">
                <a:solidFill>
                  <a:srgbClr val="5A6472"/>
                </a:solidFill>
                <a:latin typeface="Calibri" pitchFamily="34" charset="0"/>
                <a:ea typeface="Calibri" pitchFamily="34" charset="-122"/>
                <a:cs typeface="Calibri" pitchFamily="34" charset="-120"/>
              </a:rPr>
              <a:t>Not the interiority — the structure. Somebody assembles a thing from materials they chose, releases it, and then treats its outputs as evidence of its nature rather than of their choices.</a:t>
            </a:r>
            <a:endParaRPr lang="en-US" sz="1150" dirty="0"/>
          </a:p>
        </p:txBody>
      </p:sp>
      <p:sp>
        <p:nvSpPr>
          <p:cNvPr id="17" name="Shape 15"/>
          <p:cNvSpPr/>
          <p:nvPr/>
        </p:nvSpPr>
        <p:spPr>
          <a:xfrm>
            <a:off x="640080" y="3913632"/>
            <a:ext cx="6400800" cy="1828800"/>
          </a:xfrm>
          <a:prstGeom prst="roundRect">
            <a:avLst>
              <a:gd name="adj" fmla="val 4000"/>
            </a:avLst>
          </a:prstGeom>
          <a:solidFill>
            <a:srgbClr val="F3EEE5"/>
          </a:solidFill>
          <a:ln w="12700">
            <a:solidFill>
              <a:srgbClr val="F3EEE5"/>
            </a:solidFill>
            <a:prstDash val="solid"/>
          </a:ln>
        </p:spPr>
        <p:txBody>
          <a:bodyPr/>
          <a:lstStyle/>
          <a:p>
            <a:endParaRPr lang="en-US"/>
          </a:p>
        </p:txBody>
      </p:sp>
      <p:sp>
        <p:nvSpPr>
          <p:cNvPr id="18" name="Text 16"/>
          <p:cNvSpPr txBox="1"/>
          <p:nvPr/>
        </p:nvSpPr>
        <p:spPr>
          <a:xfrm>
            <a:off x="1005840" y="4114800"/>
            <a:ext cx="5669280" cy="310896"/>
          </a:xfrm>
          <a:prstGeom prst="rect">
            <a:avLst/>
          </a:prstGeom>
          <a:noFill/>
          <a:ln/>
        </p:spPr>
        <p:txBody>
          <a:bodyPr wrap="square" lIns="0" tIns="0" rIns="0" bIns="0" rtlCol="0" anchor="ctr"/>
          <a:lstStyle/>
          <a:p>
            <a:pPr marL="0" indent="0">
              <a:buNone/>
            </a:pPr>
            <a:r>
              <a:rPr lang="en-US" sz="1600" b="1" dirty="0">
                <a:solidFill>
                  <a:srgbClr val="101822"/>
                </a:solidFill>
                <a:latin typeface="Cambria" pitchFamily="34" charset="0"/>
                <a:ea typeface="Cambria" pitchFamily="34" charset="-122"/>
                <a:cs typeface="Cambria" pitchFamily="34" charset="-120"/>
              </a:rPr>
              <a:t>Keep the analogy honest</a:t>
            </a:r>
            <a:endParaRPr lang="en-US" sz="1600" dirty="0"/>
          </a:p>
        </p:txBody>
      </p:sp>
      <p:sp>
        <p:nvSpPr>
          <p:cNvPr id="19" name="Text 17"/>
          <p:cNvSpPr txBox="1"/>
          <p:nvPr/>
        </p:nvSpPr>
        <p:spPr>
          <a:xfrm>
            <a:off x="1005840" y="4498848"/>
            <a:ext cx="5669280" cy="1097280"/>
          </a:xfrm>
          <a:prstGeom prst="rect">
            <a:avLst/>
          </a:prstGeom>
          <a:noFill/>
          <a:ln/>
        </p:spPr>
        <p:txBody>
          <a:bodyPr wrap="square" lIns="0" tIns="0" rIns="0" bIns="0" rtlCol="0" anchor="ctr"/>
          <a:lstStyle/>
          <a:p>
            <a:pPr marL="0" indent="0">
              <a:lnSpc>
                <a:spcPts val="1700"/>
              </a:lnSpc>
              <a:buNone/>
            </a:pPr>
            <a:r>
              <a:rPr lang="en-US" sz="1250" dirty="0">
                <a:solidFill>
                  <a:srgbClr val="5A6472"/>
                </a:solidFill>
                <a:latin typeface="Calibri" pitchFamily="34" charset="0"/>
                <a:ea typeface="Calibri" pitchFamily="34" charset="-122"/>
                <a:cs typeface="Calibri" pitchFamily="34" charset="-120"/>
              </a:rPr>
              <a:t>The strongest version of this comparison is not a claim about machine experience. It is a claim about makers: that a system’s behaviour is substantially a function of what it was given and how it was received, and that blaming the artefact for that is a way of not being accountable for it. That argument survives even if the creature’s inner life has no counterpart at all.</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A6472"/>
                </a:solidFill>
                <a:latin typeface="Calibri" pitchFamily="34" charset="0"/>
                <a:ea typeface="Calibri" pitchFamily="34" charset="-122"/>
                <a:cs typeface="Calibri" pitchFamily="34" charset="-120"/>
              </a:rPr>
              <a:t>VOL II, CH. VIII · CLOSE READING</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01822"/>
                </a:solidFill>
                <a:latin typeface="Cambria" pitchFamily="34" charset="0"/>
                <a:ea typeface="Cambria" pitchFamily="34" charset="-122"/>
                <a:cs typeface="Cambria" pitchFamily="34" charset="-120"/>
              </a:rPr>
              <a:t>The plan, and why it fails</a:t>
            </a:r>
            <a:endParaRPr lang="en-US" sz="3000" dirty="0"/>
          </a:p>
        </p:txBody>
      </p:sp>
      <p:sp>
        <p:nvSpPr>
          <p:cNvPr id="5" name="Shape 3"/>
          <p:cNvSpPr/>
          <p:nvPr/>
        </p:nvSpPr>
        <p:spPr>
          <a:xfrm>
            <a:off x="640080" y="1572768"/>
            <a:ext cx="6903720" cy="1005840"/>
          </a:xfrm>
          <a:prstGeom prst="roundRect">
            <a:avLst>
              <a:gd name="adj" fmla="val 7273"/>
            </a:avLst>
          </a:prstGeom>
          <a:solidFill>
            <a:srgbClr val="F3EEE5"/>
          </a:solidFill>
          <a:ln w="12700">
            <a:solidFill>
              <a:srgbClr val="F3EEE5"/>
            </a:solidFill>
            <a:prstDash val="solid"/>
          </a:ln>
        </p:spPr>
        <p:txBody>
          <a:bodyPr/>
          <a:lstStyle/>
          <a:p>
            <a:endParaRPr lang="en-US"/>
          </a:p>
        </p:txBody>
      </p:sp>
      <p:sp>
        <p:nvSpPr>
          <p:cNvPr id="6" name="Shape 4"/>
          <p:cNvSpPr/>
          <p:nvPr/>
        </p:nvSpPr>
        <p:spPr>
          <a:xfrm>
            <a:off x="932688" y="1883664"/>
            <a:ext cx="365760" cy="365760"/>
          </a:xfrm>
          <a:prstGeom prst="ellipse">
            <a:avLst/>
          </a:prstGeom>
          <a:solidFill>
            <a:srgbClr val="101822"/>
          </a:solidFill>
          <a:ln/>
        </p:spPr>
        <p:txBody>
          <a:bodyPr/>
          <a:lstStyle/>
          <a:p>
            <a:endParaRPr lang="en-US"/>
          </a:p>
        </p:txBody>
      </p:sp>
      <p:sp>
        <p:nvSpPr>
          <p:cNvPr id="7" name="Text 5"/>
          <p:cNvSpPr txBox="1"/>
          <p:nvPr/>
        </p:nvSpPr>
        <p:spPr>
          <a:xfrm>
            <a:off x="932688" y="1883664"/>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463040" y="1682496"/>
            <a:ext cx="5852160" cy="292608"/>
          </a:xfrm>
          <a:prstGeom prst="rect">
            <a:avLst/>
          </a:prstGeom>
          <a:noFill/>
          <a:ln/>
        </p:spPr>
        <p:txBody>
          <a:bodyPr wrap="square" lIns="0" tIns="0" rIns="0" bIns="0" rtlCol="0" anchor="ctr"/>
          <a:lstStyle/>
          <a:p>
            <a:pPr marL="0" indent="0">
              <a:buNone/>
            </a:pPr>
            <a:r>
              <a:rPr lang="en-US" sz="1550" b="1" dirty="0">
                <a:solidFill>
                  <a:srgbClr val="101822"/>
                </a:solidFill>
                <a:latin typeface="Cambria" pitchFamily="34" charset="0"/>
                <a:ea typeface="Cambria" pitchFamily="34" charset="-122"/>
                <a:cs typeface="Cambria" pitchFamily="34" charset="-120"/>
              </a:rPr>
              <a:t>He plans for months</a:t>
            </a:r>
            <a:endParaRPr lang="en-US" sz="1550" dirty="0"/>
          </a:p>
        </p:txBody>
      </p:sp>
      <p:sp>
        <p:nvSpPr>
          <p:cNvPr id="9" name="Text 7"/>
          <p:cNvSpPr txBox="1"/>
          <p:nvPr/>
        </p:nvSpPr>
        <p:spPr>
          <a:xfrm>
            <a:off x="1463040" y="1993392"/>
            <a:ext cx="5852160" cy="512064"/>
          </a:xfrm>
          <a:prstGeom prst="rect">
            <a:avLst/>
          </a:prstGeom>
          <a:noFill/>
          <a:ln/>
        </p:spPr>
        <p:txBody>
          <a:bodyPr wrap="square" lIns="0" tIns="0" rIns="0" bIns="0" rtlCol="0" anchor="ctr"/>
          <a:lstStyle/>
          <a:p>
            <a:pPr marL="0" indent="0">
              <a:lnSpc>
                <a:spcPts val="1500"/>
              </a:lnSpc>
              <a:buNone/>
            </a:pPr>
            <a:r>
              <a:rPr lang="en-US" sz="1200" dirty="0">
                <a:solidFill>
                  <a:srgbClr val="5A6472"/>
                </a:solidFill>
                <a:latin typeface="Calibri" pitchFamily="34" charset="0"/>
                <a:ea typeface="Calibri" pitchFamily="34" charset="-122"/>
                <a:cs typeface="Calibri" pitchFamily="34" charset="-120"/>
              </a:rPr>
              <a:t>He rehearses the conversation. He waits for the season, for a day when the others are out. He has thought about this more carefully than Victor thought about anything.</a:t>
            </a:r>
            <a:endParaRPr lang="en-US" sz="1200" dirty="0"/>
          </a:p>
        </p:txBody>
      </p:sp>
      <p:sp>
        <p:nvSpPr>
          <p:cNvPr id="10" name="Shape 8"/>
          <p:cNvSpPr/>
          <p:nvPr/>
        </p:nvSpPr>
        <p:spPr>
          <a:xfrm>
            <a:off x="640080" y="2670048"/>
            <a:ext cx="6903720" cy="1005840"/>
          </a:xfrm>
          <a:prstGeom prst="roundRect">
            <a:avLst>
              <a:gd name="adj" fmla="val 7273"/>
            </a:avLst>
          </a:prstGeom>
          <a:solidFill>
            <a:srgbClr val="E6EEF3"/>
          </a:solidFill>
          <a:ln w="12700">
            <a:solidFill>
              <a:srgbClr val="E6EEF3"/>
            </a:solidFill>
            <a:prstDash val="solid"/>
          </a:ln>
        </p:spPr>
        <p:txBody>
          <a:bodyPr/>
          <a:lstStyle/>
          <a:p>
            <a:endParaRPr lang="en-US"/>
          </a:p>
        </p:txBody>
      </p:sp>
      <p:sp>
        <p:nvSpPr>
          <p:cNvPr id="11" name="Shape 9"/>
          <p:cNvSpPr/>
          <p:nvPr/>
        </p:nvSpPr>
        <p:spPr>
          <a:xfrm>
            <a:off x="932688" y="2980944"/>
            <a:ext cx="365760" cy="365760"/>
          </a:xfrm>
          <a:prstGeom prst="ellipse">
            <a:avLst/>
          </a:prstGeom>
          <a:solidFill>
            <a:srgbClr val="35708C"/>
          </a:solidFill>
          <a:ln/>
        </p:spPr>
        <p:txBody>
          <a:bodyPr/>
          <a:lstStyle/>
          <a:p>
            <a:endParaRPr lang="en-US"/>
          </a:p>
        </p:txBody>
      </p:sp>
      <p:sp>
        <p:nvSpPr>
          <p:cNvPr id="12" name="Text 10"/>
          <p:cNvSpPr txBox="1"/>
          <p:nvPr/>
        </p:nvSpPr>
        <p:spPr>
          <a:xfrm>
            <a:off x="932688" y="2980944"/>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1463040" y="2779776"/>
            <a:ext cx="5852160" cy="292608"/>
          </a:xfrm>
          <a:prstGeom prst="rect">
            <a:avLst/>
          </a:prstGeom>
          <a:noFill/>
          <a:ln/>
        </p:spPr>
        <p:txBody>
          <a:bodyPr wrap="square" lIns="0" tIns="0" rIns="0" bIns="0" rtlCol="0" anchor="ctr"/>
          <a:lstStyle/>
          <a:p>
            <a:pPr marL="0" indent="0">
              <a:buNone/>
            </a:pPr>
            <a:r>
              <a:rPr lang="en-US" sz="1550" b="1" dirty="0">
                <a:solidFill>
                  <a:srgbClr val="101822"/>
                </a:solidFill>
                <a:latin typeface="Cambria" pitchFamily="34" charset="0"/>
                <a:ea typeface="Cambria" pitchFamily="34" charset="-122"/>
                <a:cs typeface="Cambria" pitchFamily="34" charset="-120"/>
              </a:rPr>
              <a:t>He chooses the blind man</a:t>
            </a:r>
            <a:endParaRPr lang="en-US" sz="1550" dirty="0"/>
          </a:p>
        </p:txBody>
      </p:sp>
      <p:sp>
        <p:nvSpPr>
          <p:cNvPr id="14" name="Text 12"/>
          <p:cNvSpPr txBox="1"/>
          <p:nvPr/>
        </p:nvSpPr>
        <p:spPr>
          <a:xfrm>
            <a:off x="1463040" y="3090672"/>
            <a:ext cx="5852160" cy="512064"/>
          </a:xfrm>
          <a:prstGeom prst="rect">
            <a:avLst/>
          </a:prstGeom>
          <a:noFill/>
          <a:ln/>
        </p:spPr>
        <p:txBody>
          <a:bodyPr wrap="square" lIns="0" tIns="0" rIns="0" bIns="0" rtlCol="0" anchor="ctr"/>
          <a:lstStyle/>
          <a:p>
            <a:pPr marL="0" indent="0">
              <a:lnSpc>
                <a:spcPts val="1500"/>
              </a:lnSpc>
              <a:buNone/>
            </a:pPr>
            <a:r>
              <a:rPr lang="en-US" sz="1200" dirty="0">
                <a:solidFill>
                  <a:srgbClr val="5A6472"/>
                </a:solidFill>
                <a:latin typeface="Calibri" pitchFamily="34" charset="0"/>
                <a:ea typeface="Calibri" pitchFamily="34" charset="-122"/>
                <a:cs typeface="Calibri" pitchFamily="34" charset="-120"/>
              </a:rPr>
              <a:t>This is the sharpest thing in the novel. He has correctly identified that his only chance is with the one person who cannot see him — he knows exactly what the problem is.</a:t>
            </a:r>
            <a:endParaRPr lang="en-US" sz="1200" dirty="0"/>
          </a:p>
        </p:txBody>
      </p:sp>
      <p:sp>
        <p:nvSpPr>
          <p:cNvPr id="15" name="Shape 13"/>
          <p:cNvSpPr/>
          <p:nvPr/>
        </p:nvSpPr>
        <p:spPr>
          <a:xfrm>
            <a:off x="640080" y="3767328"/>
            <a:ext cx="6903720" cy="1005840"/>
          </a:xfrm>
          <a:prstGeom prst="roundRect">
            <a:avLst>
              <a:gd name="adj" fmla="val 7273"/>
            </a:avLst>
          </a:prstGeom>
          <a:solidFill>
            <a:srgbClr val="F3EEE5"/>
          </a:solidFill>
          <a:ln w="12700">
            <a:solidFill>
              <a:srgbClr val="F3EEE5"/>
            </a:solidFill>
            <a:prstDash val="solid"/>
          </a:ln>
        </p:spPr>
        <p:txBody>
          <a:bodyPr/>
          <a:lstStyle/>
          <a:p>
            <a:endParaRPr lang="en-US"/>
          </a:p>
        </p:txBody>
      </p:sp>
      <p:sp>
        <p:nvSpPr>
          <p:cNvPr id="16" name="Shape 14"/>
          <p:cNvSpPr/>
          <p:nvPr/>
        </p:nvSpPr>
        <p:spPr>
          <a:xfrm>
            <a:off x="932688" y="4078224"/>
            <a:ext cx="365760" cy="365760"/>
          </a:xfrm>
          <a:prstGeom prst="ellipse">
            <a:avLst/>
          </a:prstGeom>
          <a:solidFill>
            <a:srgbClr val="101822"/>
          </a:solidFill>
          <a:ln/>
        </p:spPr>
        <p:txBody>
          <a:bodyPr/>
          <a:lstStyle/>
          <a:p>
            <a:endParaRPr lang="en-US"/>
          </a:p>
        </p:txBody>
      </p:sp>
      <p:sp>
        <p:nvSpPr>
          <p:cNvPr id="17" name="Text 15"/>
          <p:cNvSpPr txBox="1"/>
          <p:nvPr/>
        </p:nvSpPr>
        <p:spPr>
          <a:xfrm>
            <a:off x="932688" y="4078224"/>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463040" y="3877056"/>
            <a:ext cx="5852160" cy="292608"/>
          </a:xfrm>
          <a:prstGeom prst="rect">
            <a:avLst/>
          </a:prstGeom>
          <a:noFill/>
          <a:ln/>
        </p:spPr>
        <p:txBody>
          <a:bodyPr wrap="square" lIns="0" tIns="0" rIns="0" bIns="0" rtlCol="0" anchor="ctr"/>
          <a:lstStyle/>
          <a:p>
            <a:pPr marL="0" indent="0">
              <a:buNone/>
            </a:pPr>
            <a:r>
              <a:rPr lang="en-US" sz="1550" b="1" dirty="0">
                <a:solidFill>
                  <a:srgbClr val="101822"/>
                </a:solidFill>
                <a:latin typeface="Cambria" pitchFamily="34" charset="0"/>
                <a:ea typeface="Cambria" pitchFamily="34" charset="-122"/>
                <a:cs typeface="Cambria" pitchFamily="34" charset="-120"/>
              </a:rPr>
              <a:t>It is working</a:t>
            </a:r>
            <a:endParaRPr lang="en-US" sz="1550" dirty="0"/>
          </a:p>
        </p:txBody>
      </p:sp>
      <p:sp>
        <p:nvSpPr>
          <p:cNvPr id="19" name="Text 17"/>
          <p:cNvSpPr txBox="1"/>
          <p:nvPr/>
        </p:nvSpPr>
        <p:spPr>
          <a:xfrm>
            <a:off x="1463040" y="4187952"/>
            <a:ext cx="5852160" cy="512064"/>
          </a:xfrm>
          <a:prstGeom prst="rect">
            <a:avLst/>
          </a:prstGeom>
          <a:noFill/>
          <a:ln/>
        </p:spPr>
        <p:txBody>
          <a:bodyPr wrap="square" lIns="0" tIns="0" rIns="0" bIns="0" rtlCol="0" anchor="ctr"/>
          <a:lstStyle/>
          <a:p>
            <a:pPr marL="0" indent="0">
              <a:lnSpc>
                <a:spcPts val="1500"/>
              </a:lnSpc>
              <a:buNone/>
            </a:pPr>
            <a:r>
              <a:rPr lang="en-US" sz="1200" dirty="0">
                <a:solidFill>
                  <a:srgbClr val="5A6472"/>
                </a:solidFill>
                <a:latin typeface="Calibri" pitchFamily="34" charset="0"/>
                <a:ea typeface="Calibri" pitchFamily="34" charset="-122"/>
                <a:cs typeface="Calibri" pitchFamily="34" charset="-120"/>
              </a:rPr>
              <a:t>Old De Lacey hears him out, finds him eloquent, and is moved. On the evidence of language alone, the creature is welcome. The scene is, for about a page, going well.</a:t>
            </a:r>
            <a:endParaRPr lang="en-US" sz="1200" dirty="0"/>
          </a:p>
        </p:txBody>
      </p:sp>
      <p:sp>
        <p:nvSpPr>
          <p:cNvPr id="20" name="Shape 18"/>
          <p:cNvSpPr/>
          <p:nvPr/>
        </p:nvSpPr>
        <p:spPr>
          <a:xfrm>
            <a:off x="640080" y="4864608"/>
            <a:ext cx="6903720" cy="1005840"/>
          </a:xfrm>
          <a:prstGeom prst="roundRect">
            <a:avLst>
              <a:gd name="adj" fmla="val 7273"/>
            </a:avLst>
          </a:prstGeom>
          <a:solidFill>
            <a:srgbClr val="101822"/>
          </a:solidFill>
          <a:ln w="12700">
            <a:solidFill>
              <a:srgbClr val="101822"/>
            </a:solidFill>
            <a:prstDash val="solid"/>
          </a:ln>
        </p:spPr>
        <p:txBody>
          <a:bodyPr/>
          <a:lstStyle/>
          <a:p>
            <a:endParaRPr lang="en-US"/>
          </a:p>
        </p:txBody>
      </p:sp>
      <p:sp>
        <p:nvSpPr>
          <p:cNvPr id="21" name="Shape 19"/>
          <p:cNvSpPr/>
          <p:nvPr/>
        </p:nvSpPr>
        <p:spPr>
          <a:xfrm>
            <a:off x="932688" y="5175504"/>
            <a:ext cx="365760" cy="365760"/>
          </a:xfrm>
          <a:prstGeom prst="ellipse">
            <a:avLst/>
          </a:prstGeom>
          <a:solidFill>
            <a:srgbClr val="C05A3E"/>
          </a:solidFill>
          <a:ln/>
        </p:spPr>
        <p:txBody>
          <a:bodyPr/>
          <a:lstStyle/>
          <a:p>
            <a:endParaRPr lang="en-US"/>
          </a:p>
        </p:txBody>
      </p:sp>
      <p:sp>
        <p:nvSpPr>
          <p:cNvPr id="22" name="Text 20"/>
          <p:cNvSpPr txBox="1"/>
          <p:nvPr/>
        </p:nvSpPr>
        <p:spPr>
          <a:xfrm>
            <a:off x="932688" y="5175504"/>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txBox="1"/>
          <p:nvPr/>
        </p:nvSpPr>
        <p:spPr>
          <a:xfrm>
            <a:off x="1463040" y="4974336"/>
            <a:ext cx="5852160" cy="292608"/>
          </a:xfrm>
          <a:prstGeom prst="rect">
            <a:avLst/>
          </a:prstGeom>
          <a:noFill/>
          <a:ln/>
        </p:spPr>
        <p:txBody>
          <a:bodyPr wrap="square" lIns="0" tIns="0" rIns="0" bIns="0" rtlCol="0" anchor="ctr"/>
          <a:lstStyle/>
          <a:p>
            <a:pPr marL="0" indent="0">
              <a:buNone/>
            </a:pPr>
            <a:r>
              <a:rPr lang="en-US" sz="1550" b="1" dirty="0">
                <a:solidFill>
                  <a:srgbClr val="EDE5D8"/>
                </a:solidFill>
                <a:latin typeface="Cambria" pitchFamily="34" charset="0"/>
                <a:ea typeface="Cambria" pitchFamily="34" charset="-122"/>
                <a:cs typeface="Cambria" pitchFamily="34" charset="-120"/>
              </a:rPr>
              <a:t>The others return</a:t>
            </a:r>
            <a:endParaRPr lang="en-US" sz="1550" dirty="0"/>
          </a:p>
        </p:txBody>
      </p:sp>
      <p:sp>
        <p:nvSpPr>
          <p:cNvPr id="24" name="Text 22"/>
          <p:cNvSpPr txBox="1"/>
          <p:nvPr/>
        </p:nvSpPr>
        <p:spPr>
          <a:xfrm>
            <a:off x="1463040" y="5285232"/>
            <a:ext cx="5852160" cy="512064"/>
          </a:xfrm>
          <a:prstGeom prst="rect">
            <a:avLst/>
          </a:prstGeom>
          <a:noFill/>
          <a:ln/>
        </p:spPr>
        <p:txBody>
          <a:bodyPr wrap="square" lIns="0" tIns="0" rIns="0" bIns="0" rtlCol="0" anchor="ctr"/>
          <a:lstStyle/>
          <a:p>
            <a:pPr marL="0" indent="0">
              <a:lnSpc>
                <a:spcPts val="1500"/>
              </a:lnSpc>
              <a:buNone/>
            </a:pPr>
            <a:r>
              <a:rPr lang="en-US" sz="1200" dirty="0">
                <a:solidFill>
                  <a:srgbClr val="EDE5D8"/>
                </a:solidFill>
                <a:latin typeface="Calibri" pitchFamily="34" charset="0"/>
                <a:ea typeface="Calibri" pitchFamily="34" charset="-122"/>
                <a:cs typeface="Calibri" pitchFamily="34" charset="-120"/>
              </a:rPr>
              <a:t>Agatha faints, Safie flees, Felix beats him with a stick. Nobody asks a question. The verbal case is annihilated by two seconds of visual evidence.</a:t>
            </a:r>
            <a:endParaRPr lang="en-US" sz="1200" dirty="0"/>
          </a:p>
        </p:txBody>
      </p:sp>
      <p:sp>
        <p:nvSpPr>
          <p:cNvPr id="25" name="Shape 23"/>
          <p:cNvSpPr/>
          <p:nvPr/>
        </p:nvSpPr>
        <p:spPr>
          <a:xfrm>
            <a:off x="7863840" y="1572768"/>
            <a:ext cx="3657600" cy="4187952"/>
          </a:xfrm>
          <a:prstGeom prst="roundRect">
            <a:avLst>
              <a:gd name="adj" fmla="val 2000"/>
            </a:avLst>
          </a:prstGeom>
          <a:solidFill>
            <a:srgbClr val="E6EEF3"/>
          </a:solidFill>
          <a:ln w="12700">
            <a:solidFill>
              <a:srgbClr val="E6EEF3"/>
            </a:solidFill>
            <a:prstDash val="solid"/>
          </a:ln>
        </p:spPr>
        <p:txBody>
          <a:bodyPr/>
          <a:lstStyle/>
          <a:p>
            <a:endParaRPr lang="en-US"/>
          </a:p>
        </p:txBody>
      </p:sp>
      <p:sp>
        <p:nvSpPr>
          <p:cNvPr id="26" name="Text 24"/>
          <p:cNvSpPr txBox="1"/>
          <p:nvPr/>
        </p:nvSpPr>
        <p:spPr>
          <a:xfrm>
            <a:off x="8138160" y="1783080"/>
            <a:ext cx="3108960" cy="310896"/>
          </a:xfrm>
          <a:prstGeom prst="rect">
            <a:avLst/>
          </a:prstGeom>
          <a:noFill/>
          <a:ln/>
        </p:spPr>
        <p:txBody>
          <a:bodyPr wrap="square" lIns="0" tIns="0" rIns="0" bIns="0" rtlCol="0" anchor="ctr"/>
          <a:lstStyle/>
          <a:p>
            <a:pPr marL="0" indent="0">
              <a:buNone/>
            </a:pPr>
            <a:r>
              <a:rPr lang="en-US" sz="1650" b="1" dirty="0">
                <a:solidFill>
                  <a:srgbClr val="101822"/>
                </a:solidFill>
                <a:latin typeface="Cambria" pitchFamily="34" charset="0"/>
                <a:ea typeface="Cambria" pitchFamily="34" charset="-122"/>
                <a:cs typeface="Cambria" pitchFamily="34" charset="-120"/>
              </a:rPr>
              <a:t>The lesson he draws</a:t>
            </a:r>
            <a:endParaRPr lang="en-US" sz="1650" dirty="0"/>
          </a:p>
        </p:txBody>
      </p:sp>
      <p:sp>
        <p:nvSpPr>
          <p:cNvPr id="27" name="Text 25"/>
          <p:cNvSpPr txBox="1"/>
          <p:nvPr/>
        </p:nvSpPr>
        <p:spPr>
          <a:xfrm>
            <a:off x="8138160" y="2194560"/>
            <a:ext cx="3108960" cy="3383280"/>
          </a:xfrm>
          <a:prstGeom prst="rect">
            <a:avLst/>
          </a:prstGeom>
          <a:noFill/>
          <a:ln/>
        </p:spPr>
        <p:txBody>
          <a:bodyPr wrap="square" lIns="0" tIns="0" rIns="0" bIns="0" rtlCol="0" anchor="ctr"/>
          <a:lstStyle/>
          <a:p>
            <a:pPr marL="0" indent="0">
              <a:lnSpc>
                <a:spcPts val="1700"/>
              </a:lnSpc>
              <a:buNone/>
            </a:pPr>
            <a:r>
              <a:rPr lang="en-US" sz="1200" dirty="0">
                <a:solidFill>
                  <a:srgbClr val="5A6472"/>
                </a:solidFill>
                <a:latin typeface="Calibri" pitchFamily="34" charset="0"/>
                <a:ea typeface="Calibri" pitchFamily="34" charset="-122"/>
                <a:cs typeface="Calibri" pitchFamily="34" charset="-120"/>
              </a:rPr>
              <a:t>That there is no version of himself that can be admitted. Not a better argument, not more patience, not more service rendered in secret. The barrier is not what he says; it is that he is seen saying it.</a:t>
            </a:r>
            <a:endParaRPr lang="en-US" sz="1200" dirty="0"/>
          </a:p>
          <a:p>
            <a:pPr marL="0" indent="0">
              <a:lnSpc>
                <a:spcPts val="1700"/>
              </a:lnSpc>
              <a:buNone/>
            </a:pPr>
            <a:endParaRPr lang="en-US" sz="1200" dirty="0"/>
          </a:p>
          <a:p>
            <a:pPr marL="0" indent="0">
              <a:lnSpc>
                <a:spcPts val="1700"/>
              </a:lnSpc>
              <a:buNone/>
            </a:pPr>
            <a:r>
              <a:rPr lang="en-US" sz="1200" dirty="0">
                <a:solidFill>
                  <a:srgbClr val="5A6472"/>
                </a:solidFill>
                <a:latin typeface="Calibri" pitchFamily="34" charset="0"/>
                <a:ea typeface="Calibri" pitchFamily="34" charset="-122"/>
                <a:cs typeface="Calibri" pitchFamily="34" charset="-120"/>
              </a:rPr>
              <a:t>He burns the cottage that night. Then he sets out for Geneva to find his maker — and on the way, he meets a child who turns out to bear Victor’s name.</a:t>
            </a:r>
            <a:endParaRPr lang="en-US" sz="1200" dirty="0"/>
          </a:p>
          <a:p>
            <a:pPr marL="0" indent="0">
              <a:lnSpc>
                <a:spcPts val="1700"/>
              </a:lnSpc>
              <a:buNone/>
            </a:pPr>
            <a:endParaRPr lang="en-US" sz="1200" dirty="0"/>
          </a:p>
          <a:p>
            <a:pPr marL="0" indent="0">
              <a:lnSpc>
                <a:spcPts val="1700"/>
              </a:lnSpc>
              <a:buNone/>
            </a:pPr>
            <a:r>
              <a:rPr lang="en-US" sz="1200" dirty="0">
                <a:solidFill>
                  <a:srgbClr val="5A6472"/>
                </a:solidFill>
                <a:latin typeface="Calibri" pitchFamily="34" charset="0"/>
                <a:ea typeface="Calibri" pitchFamily="34" charset="-122"/>
                <a:cs typeface="Calibri" pitchFamily="34" charset="-120"/>
              </a:rPr>
              <a:t>Ask the room: is the burning of the cottage the first act you cannot defend? Or is it still defensible, and the murder is the line? Make them say where their line is and why.</a:t>
            </a:r>
            <a:endParaRPr lang="en-US" sz="1200" dirty="0"/>
          </a:p>
        </p:txBody>
      </p:sp>
      <p:sp>
        <p:nvSpPr>
          <p:cNvPr id="28" name="Text 26"/>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A6472"/>
                </a:solidFill>
                <a:latin typeface="Calibri" pitchFamily="34" charset="0"/>
                <a:ea typeface="Calibri" pitchFamily="34" charset="-122"/>
                <a:cs typeface="Calibri" pitchFamily="34" charset="-120"/>
              </a:rPr>
              <a:t>Shelley, Frankenstein (1818), Vol II, ch. VIII.</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bg>
      <p:bgPr>
        <a:solidFill>
          <a:srgbClr val="101822"/>
        </a:solidFill>
        <a:effectLst/>
      </p:bgPr>
    </p:bg>
    <p:spTree>
      <p:nvGrpSpPr>
        <p:cNvPr id="1" name=""/>
        <p:cNvGrpSpPr/>
        <p:nvPr/>
      </p:nvGrpSpPr>
      <p:grpSpPr>
        <a:xfrm>
          <a:off x="0" y="0"/>
          <a:ext cx="0" cy="0"/>
          <a:chOff x="0" y="0"/>
          <a:chExt cx="0" cy="0"/>
        </a:xfrm>
      </p:grpSpPr>
      <p:sp>
        <p:nvSpPr>
          <p:cNvPr id="2" name="Shape 0"/>
          <p:cNvSpPr/>
          <p:nvPr/>
        </p:nvSpPr>
        <p:spPr>
          <a:xfrm>
            <a:off x="640080" y="502920"/>
            <a:ext cx="137160" cy="137160"/>
          </a:xfrm>
          <a:prstGeom prst="ellipse">
            <a:avLst/>
          </a:prstGeom>
          <a:solidFill>
            <a:srgbClr val="E08A6E"/>
          </a:solidFill>
          <a:ln/>
        </p:spPr>
        <p:txBody>
          <a:bodyPr/>
          <a:lstStyle/>
          <a:p>
            <a:endParaRPr lang="en-US"/>
          </a:p>
        </p:txBody>
      </p:sp>
      <p:sp>
        <p:nvSpPr>
          <p:cNvPr id="3" name="Text 1"/>
          <p:cNvSpPr txBox="1"/>
          <p:nvPr/>
        </p:nvSpPr>
        <p:spPr>
          <a:xfrm>
            <a:off x="886968" y="438912"/>
            <a:ext cx="10515600" cy="274320"/>
          </a:xfrm>
          <a:prstGeom prst="rect">
            <a:avLst/>
          </a:prstGeom>
          <a:noFill/>
          <a:ln/>
        </p:spPr>
        <p:txBody>
          <a:bodyPr wrap="square" lIns="0" tIns="0" rIns="0" bIns="0" rtlCol="0" anchor="ctr"/>
          <a:lstStyle/>
          <a:p>
            <a:pPr marL="0" indent="0">
              <a:buNone/>
            </a:pPr>
            <a:r>
              <a:rPr lang="en-US" sz="1100" b="1" kern="0" spc="160" dirty="0">
                <a:solidFill>
                  <a:srgbClr val="E08A6E"/>
                </a:solidFill>
                <a:latin typeface="Calibri" pitchFamily="34" charset="0"/>
                <a:ea typeface="Calibri" pitchFamily="34" charset="-122"/>
                <a:cs typeface="Calibri" pitchFamily="34" charset="-120"/>
              </a:rPr>
              <a:t>DISCUSSION · PAIRS · TWELVE MINUTES</a:t>
            </a:r>
            <a:endParaRPr lang="en-US" sz="1100" dirty="0"/>
          </a:p>
        </p:txBody>
      </p:sp>
      <p:sp>
        <p:nvSpPr>
          <p:cNvPr id="4" name="Text 2"/>
          <p:cNvSpPr txBox="1"/>
          <p:nvPr/>
        </p:nvSpPr>
        <p:spPr>
          <a:xfrm>
            <a:off x="640080" y="868680"/>
            <a:ext cx="10911535" cy="640080"/>
          </a:xfrm>
          <a:prstGeom prst="rect">
            <a:avLst/>
          </a:prstGeom>
          <a:noFill/>
          <a:ln/>
        </p:spPr>
        <p:txBody>
          <a:bodyPr wrap="square" lIns="0" tIns="0" rIns="0" bIns="0" rtlCol="0" anchor="ctr"/>
          <a:lstStyle/>
          <a:p>
            <a:pPr marL="0" indent="0">
              <a:buNone/>
            </a:pPr>
            <a:r>
              <a:rPr lang="en-US" sz="3300" b="1" dirty="0">
                <a:solidFill>
                  <a:srgbClr val="EDE5D8"/>
                </a:solidFill>
                <a:latin typeface="Cambria" pitchFamily="34" charset="0"/>
                <a:ea typeface="Cambria" pitchFamily="34" charset="-122"/>
                <a:cs typeface="Cambria" pitchFamily="34" charset="-120"/>
              </a:rPr>
              <a:t>The corpus question</a:t>
            </a:r>
            <a:endParaRPr lang="en-US" sz="3300" dirty="0"/>
          </a:p>
        </p:txBody>
      </p:sp>
      <p:sp>
        <p:nvSpPr>
          <p:cNvPr id="5" name="Shape 3"/>
          <p:cNvSpPr/>
          <p:nvPr/>
        </p:nvSpPr>
        <p:spPr>
          <a:xfrm>
            <a:off x="640080" y="1737360"/>
            <a:ext cx="10911535" cy="1280160"/>
          </a:xfrm>
          <a:prstGeom prst="roundRect">
            <a:avLst>
              <a:gd name="adj" fmla="val 5714"/>
            </a:avLst>
          </a:prstGeom>
          <a:solidFill>
            <a:srgbClr val="1E2836"/>
          </a:solidFill>
          <a:ln w="12700">
            <a:solidFill>
              <a:srgbClr val="1E2836"/>
            </a:solidFill>
            <a:prstDash val="solid"/>
          </a:ln>
        </p:spPr>
        <p:txBody>
          <a:bodyPr/>
          <a:lstStyle/>
          <a:p>
            <a:endParaRPr lang="en-US"/>
          </a:p>
        </p:txBody>
      </p:sp>
      <p:sp>
        <p:nvSpPr>
          <p:cNvPr id="6" name="Shape 4"/>
          <p:cNvSpPr/>
          <p:nvPr/>
        </p:nvSpPr>
        <p:spPr>
          <a:xfrm>
            <a:off x="1005840" y="2194560"/>
            <a:ext cx="384048" cy="384048"/>
          </a:xfrm>
          <a:prstGeom prst="ellipse">
            <a:avLst/>
          </a:prstGeom>
          <a:solidFill>
            <a:srgbClr val="C05A3E"/>
          </a:solidFill>
          <a:ln/>
        </p:spPr>
        <p:txBody>
          <a:bodyPr/>
          <a:lstStyle/>
          <a:p>
            <a:endParaRPr lang="en-US"/>
          </a:p>
        </p:txBody>
      </p:sp>
      <p:sp>
        <p:nvSpPr>
          <p:cNvPr id="7" name="Text 5"/>
          <p:cNvSpPr txBox="1"/>
          <p:nvPr/>
        </p:nvSpPr>
        <p:spPr>
          <a:xfrm>
            <a:off x="1005840" y="219456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691640" y="1920240"/>
            <a:ext cx="9509760" cy="960120"/>
          </a:xfrm>
          <a:prstGeom prst="rect">
            <a:avLst/>
          </a:prstGeom>
          <a:noFill/>
          <a:ln/>
        </p:spPr>
        <p:txBody>
          <a:bodyPr wrap="square" lIns="0" tIns="0" rIns="0" bIns="0" rtlCol="0" anchor="ctr"/>
          <a:lstStyle/>
          <a:p>
            <a:pPr marL="0" indent="0">
              <a:lnSpc>
                <a:spcPts val="2100"/>
              </a:lnSpc>
              <a:buNone/>
            </a:pPr>
            <a:r>
              <a:rPr lang="en-US" sz="1550" dirty="0">
                <a:solidFill>
                  <a:srgbClr val="FFFFFF"/>
                </a:solidFill>
                <a:latin typeface="Cambria" pitchFamily="34" charset="0"/>
                <a:ea typeface="Cambria" pitchFamily="34" charset="-122"/>
                <a:cs typeface="Cambria" pitchFamily="34" charset="-120"/>
              </a:rPr>
              <a:t>The creature’s morality comes from four books he found in a bag. Does that make his values less his own? Give a criterion, not an intuition — what would have to be true for a value to count as yours?</a:t>
            </a:r>
            <a:endParaRPr lang="en-US" sz="1550" dirty="0"/>
          </a:p>
        </p:txBody>
      </p:sp>
      <p:sp>
        <p:nvSpPr>
          <p:cNvPr id="9" name="Shape 7"/>
          <p:cNvSpPr/>
          <p:nvPr/>
        </p:nvSpPr>
        <p:spPr>
          <a:xfrm>
            <a:off x="640080" y="3154680"/>
            <a:ext cx="10911535" cy="1280160"/>
          </a:xfrm>
          <a:prstGeom prst="roundRect">
            <a:avLst>
              <a:gd name="adj" fmla="val 5714"/>
            </a:avLst>
          </a:prstGeom>
          <a:solidFill>
            <a:srgbClr val="1E2836"/>
          </a:solidFill>
          <a:ln w="12700">
            <a:solidFill>
              <a:srgbClr val="1E2836"/>
            </a:solidFill>
            <a:prstDash val="solid"/>
          </a:ln>
        </p:spPr>
        <p:txBody>
          <a:bodyPr/>
          <a:lstStyle/>
          <a:p>
            <a:endParaRPr lang="en-US"/>
          </a:p>
        </p:txBody>
      </p:sp>
      <p:sp>
        <p:nvSpPr>
          <p:cNvPr id="10" name="Shape 8"/>
          <p:cNvSpPr/>
          <p:nvPr/>
        </p:nvSpPr>
        <p:spPr>
          <a:xfrm>
            <a:off x="1005840" y="3611880"/>
            <a:ext cx="384048" cy="384048"/>
          </a:xfrm>
          <a:prstGeom prst="ellipse">
            <a:avLst/>
          </a:prstGeom>
          <a:solidFill>
            <a:srgbClr val="C05A3E"/>
          </a:solidFill>
          <a:ln/>
        </p:spPr>
        <p:txBody>
          <a:bodyPr/>
          <a:lstStyle/>
          <a:p>
            <a:endParaRPr lang="en-US"/>
          </a:p>
        </p:txBody>
      </p:sp>
      <p:sp>
        <p:nvSpPr>
          <p:cNvPr id="11" name="Text 9"/>
          <p:cNvSpPr txBox="1"/>
          <p:nvPr/>
        </p:nvSpPr>
        <p:spPr>
          <a:xfrm>
            <a:off x="1005840" y="361188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1691640" y="3337560"/>
            <a:ext cx="9509760" cy="960120"/>
          </a:xfrm>
          <a:prstGeom prst="rect">
            <a:avLst/>
          </a:prstGeom>
          <a:noFill/>
          <a:ln/>
        </p:spPr>
        <p:txBody>
          <a:bodyPr wrap="square" lIns="0" tIns="0" rIns="0" bIns="0" rtlCol="0" anchor="ctr"/>
          <a:lstStyle/>
          <a:p>
            <a:pPr marL="0" indent="0">
              <a:lnSpc>
                <a:spcPts val="2100"/>
              </a:lnSpc>
              <a:buNone/>
            </a:pPr>
            <a:r>
              <a:rPr lang="en-US" sz="1550" dirty="0">
                <a:solidFill>
                  <a:srgbClr val="FFFFFF"/>
                </a:solidFill>
                <a:latin typeface="Cambria" pitchFamily="34" charset="0"/>
                <a:ea typeface="Cambria" pitchFamily="34" charset="-122"/>
                <a:cs typeface="Cambria" pitchFamily="34" charset="-120"/>
              </a:rPr>
              <a:t>Old De Lacey is persuaded and Felix is not. Both encounter the same being. What exactly does sight add that changes the verdict, and is there anything in the novel that could have overcome it?</a:t>
            </a:r>
            <a:endParaRPr lang="en-US" sz="1550" dirty="0"/>
          </a:p>
        </p:txBody>
      </p:sp>
      <p:sp>
        <p:nvSpPr>
          <p:cNvPr id="13" name="Shape 11"/>
          <p:cNvSpPr/>
          <p:nvPr/>
        </p:nvSpPr>
        <p:spPr>
          <a:xfrm>
            <a:off x="640080" y="4572000"/>
            <a:ext cx="10911535" cy="1280160"/>
          </a:xfrm>
          <a:prstGeom prst="roundRect">
            <a:avLst>
              <a:gd name="adj" fmla="val 5714"/>
            </a:avLst>
          </a:prstGeom>
          <a:solidFill>
            <a:srgbClr val="1E2836"/>
          </a:solidFill>
          <a:ln w="12700">
            <a:solidFill>
              <a:srgbClr val="1E2836"/>
            </a:solidFill>
            <a:prstDash val="solid"/>
          </a:ln>
        </p:spPr>
        <p:txBody>
          <a:bodyPr/>
          <a:lstStyle/>
          <a:p>
            <a:endParaRPr lang="en-US"/>
          </a:p>
        </p:txBody>
      </p:sp>
      <p:sp>
        <p:nvSpPr>
          <p:cNvPr id="14" name="Shape 12"/>
          <p:cNvSpPr/>
          <p:nvPr/>
        </p:nvSpPr>
        <p:spPr>
          <a:xfrm>
            <a:off x="1005840" y="5029200"/>
            <a:ext cx="384048" cy="384048"/>
          </a:xfrm>
          <a:prstGeom prst="ellipse">
            <a:avLst/>
          </a:prstGeom>
          <a:solidFill>
            <a:srgbClr val="C05A3E"/>
          </a:solidFill>
          <a:ln/>
        </p:spPr>
        <p:txBody>
          <a:bodyPr/>
          <a:lstStyle/>
          <a:p>
            <a:endParaRPr lang="en-US"/>
          </a:p>
        </p:txBody>
      </p:sp>
      <p:sp>
        <p:nvSpPr>
          <p:cNvPr id="15" name="Text 13"/>
          <p:cNvSpPr txBox="1"/>
          <p:nvPr/>
        </p:nvSpPr>
        <p:spPr>
          <a:xfrm>
            <a:off x="1005840" y="502920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6" name="Text 14"/>
          <p:cNvSpPr txBox="1"/>
          <p:nvPr/>
        </p:nvSpPr>
        <p:spPr>
          <a:xfrm>
            <a:off x="1691640" y="4754880"/>
            <a:ext cx="9509760" cy="960120"/>
          </a:xfrm>
          <a:prstGeom prst="rect">
            <a:avLst/>
          </a:prstGeom>
          <a:noFill/>
          <a:ln/>
        </p:spPr>
        <p:txBody>
          <a:bodyPr wrap="square" lIns="0" tIns="0" rIns="0" bIns="0" rtlCol="0" anchor="ctr"/>
          <a:lstStyle/>
          <a:p>
            <a:pPr marL="0" indent="0">
              <a:lnSpc>
                <a:spcPts val="2100"/>
              </a:lnSpc>
              <a:buNone/>
            </a:pPr>
            <a:r>
              <a:rPr lang="en-US" sz="1550" dirty="0">
                <a:solidFill>
                  <a:srgbClr val="FFFFFF"/>
                </a:solidFill>
                <a:latin typeface="Cambria" pitchFamily="34" charset="0"/>
                <a:ea typeface="Cambria" pitchFamily="34" charset="-122"/>
                <a:cs typeface="Cambria" pitchFamily="34" charset="-120"/>
              </a:rPr>
              <a:t>He does all the work of self-education and gets none of the credit for it. Where else have you seen competence treated as evidence of danger rather than of worth?</a:t>
            </a:r>
            <a:endParaRPr lang="en-US" sz="1550" dirty="0"/>
          </a:p>
        </p:txBody>
      </p:sp>
      <p:sp>
        <p:nvSpPr>
          <p:cNvPr id="17" name="Text 15"/>
          <p:cNvSpPr txBox="1"/>
          <p:nvPr/>
        </p:nvSpPr>
        <p:spPr>
          <a:xfrm>
            <a:off x="640080" y="5943600"/>
            <a:ext cx="10881360" cy="365760"/>
          </a:xfrm>
          <a:prstGeom prst="rect">
            <a:avLst/>
          </a:prstGeom>
          <a:noFill/>
          <a:ln/>
        </p:spPr>
        <p:txBody>
          <a:bodyPr wrap="square" lIns="0" tIns="0" rIns="0" bIns="0" rtlCol="0" anchor="ctr"/>
          <a:lstStyle/>
          <a:p>
            <a:pPr marL="0" indent="0">
              <a:buNone/>
            </a:pPr>
            <a:r>
              <a:rPr lang="en-US" sz="1350" i="1" dirty="0">
                <a:solidFill>
                  <a:srgbClr val="9CC5D6"/>
                </a:solidFill>
                <a:latin typeface="Calibri" pitchFamily="34" charset="0"/>
                <a:ea typeface="Calibri" pitchFamily="34" charset="-122"/>
                <a:cs typeface="Calibri" pitchFamily="34" charset="-120"/>
              </a:rPr>
              <a:t>Four minutes each. Then three pairs report — one sentence, one chapter reference.</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A6472"/>
                </a:solidFill>
                <a:latin typeface="Calibri" pitchFamily="34" charset="0"/>
                <a:ea typeface="Calibri" pitchFamily="34" charset="-122"/>
                <a:cs typeface="Calibri" pitchFamily="34" charset="-120"/>
              </a:rPr>
              <a:t>VOL II, CH. IX</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01822"/>
                </a:solidFill>
                <a:latin typeface="Cambria" pitchFamily="34" charset="0"/>
                <a:ea typeface="Cambria" pitchFamily="34" charset="-122"/>
                <a:cs typeface="Cambria" pitchFamily="34" charset="-120"/>
              </a:rPr>
              <a:t>The demand — and it is a contract</a:t>
            </a:r>
            <a:endParaRPr lang="en-US" sz="3000" dirty="0"/>
          </a:p>
        </p:txBody>
      </p:sp>
      <p:sp>
        <p:nvSpPr>
          <p:cNvPr id="5" name="Shape 3"/>
          <p:cNvSpPr/>
          <p:nvPr/>
        </p:nvSpPr>
        <p:spPr>
          <a:xfrm>
            <a:off x="640080" y="1600200"/>
            <a:ext cx="10911535" cy="1051560"/>
          </a:xfrm>
          <a:prstGeom prst="roundRect">
            <a:avLst>
              <a:gd name="adj" fmla="val 6957"/>
            </a:avLst>
          </a:prstGeom>
          <a:solidFill>
            <a:srgbClr val="101822"/>
          </a:solidFill>
          <a:ln w="12700">
            <a:solidFill>
              <a:srgbClr val="101822"/>
            </a:solidFill>
            <a:prstDash val="solid"/>
          </a:ln>
        </p:spPr>
        <p:txBody>
          <a:bodyPr/>
          <a:lstStyle/>
          <a:p>
            <a:endParaRPr lang="en-US"/>
          </a:p>
        </p:txBody>
      </p:sp>
      <p:sp>
        <p:nvSpPr>
          <p:cNvPr id="6" name="Text 4"/>
          <p:cNvSpPr txBox="1"/>
          <p:nvPr/>
        </p:nvSpPr>
        <p:spPr>
          <a:xfrm>
            <a:off x="1005840" y="1783080"/>
            <a:ext cx="10424160" cy="731520"/>
          </a:xfrm>
          <a:prstGeom prst="rect">
            <a:avLst/>
          </a:prstGeom>
          <a:noFill/>
          <a:ln/>
        </p:spPr>
        <p:txBody>
          <a:bodyPr wrap="square" lIns="0" tIns="0" rIns="0" bIns="0" rtlCol="0" anchor="ctr"/>
          <a:lstStyle/>
          <a:p>
            <a:pPr marL="0" indent="0">
              <a:lnSpc>
                <a:spcPts val="2200"/>
              </a:lnSpc>
              <a:buNone/>
            </a:pPr>
            <a:r>
              <a:rPr lang="en-US" sz="1600" dirty="0">
                <a:solidFill>
                  <a:srgbClr val="EDE5D8"/>
                </a:solidFill>
                <a:latin typeface="Cambria" pitchFamily="34" charset="0"/>
                <a:ea typeface="Cambria" pitchFamily="34" charset="-122"/>
                <a:cs typeface="Cambria" pitchFamily="34" charset="-120"/>
              </a:rPr>
              <a:t>He asks for one thing: a companion of his own kind, as deformed as he is, made by the same hands. In exchange he offers to leave Europe entirely, live in the wilds of South America, eat no meat, and never be seen by a human being again. Victor initially agrees.</a:t>
            </a:r>
            <a:endParaRPr lang="en-US" sz="1600" dirty="0"/>
          </a:p>
        </p:txBody>
      </p:sp>
      <p:sp>
        <p:nvSpPr>
          <p:cNvPr id="7" name="Shape 5"/>
          <p:cNvSpPr/>
          <p:nvPr/>
        </p:nvSpPr>
        <p:spPr>
          <a:xfrm>
            <a:off x="640080" y="2880360"/>
            <a:ext cx="5295748" cy="1325880"/>
          </a:xfrm>
          <a:prstGeom prst="roundRect">
            <a:avLst>
              <a:gd name="adj" fmla="val 5517"/>
            </a:avLst>
          </a:prstGeom>
          <a:solidFill>
            <a:srgbClr val="F3EEE5"/>
          </a:solidFill>
          <a:ln w="12700">
            <a:solidFill>
              <a:srgbClr val="F3EEE5"/>
            </a:solidFill>
            <a:prstDash val="solid"/>
          </a:ln>
        </p:spPr>
        <p:txBody>
          <a:bodyPr/>
          <a:lstStyle/>
          <a:p>
            <a:endParaRPr lang="en-US"/>
          </a:p>
        </p:txBody>
      </p:sp>
      <p:sp>
        <p:nvSpPr>
          <p:cNvPr id="8" name="Text 6"/>
          <p:cNvSpPr txBox="1"/>
          <p:nvPr/>
        </p:nvSpPr>
        <p:spPr>
          <a:xfrm>
            <a:off x="932688" y="3044952"/>
            <a:ext cx="4710532" cy="310896"/>
          </a:xfrm>
          <a:prstGeom prst="rect">
            <a:avLst/>
          </a:prstGeom>
          <a:noFill/>
          <a:ln/>
        </p:spPr>
        <p:txBody>
          <a:bodyPr wrap="square" lIns="0" tIns="0" rIns="0" bIns="0" rtlCol="0" anchor="ctr"/>
          <a:lstStyle/>
          <a:p>
            <a:pPr marL="0" indent="0">
              <a:buNone/>
            </a:pPr>
            <a:r>
              <a:rPr lang="en-US" sz="1600" b="1" dirty="0">
                <a:solidFill>
                  <a:srgbClr val="101822"/>
                </a:solidFill>
                <a:latin typeface="Cambria" pitchFamily="34" charset="0"/>
                <a:ea typeface="Cambria" pitchFamily="34" charset="-122"/>
                <a:cs typeface="Cambria" pitchFamily="34" charset="-120"/>
              </a:rPr>
              <a:t>It is modest</a:t>
            </a:r>
            <a:endParaRPr lang="en-US" sz="1600" dirty="0"/>
          </a:p>
        </p:txBody>
      </p:sp>
      <p:sp>
        <p:nvSpPr>
          <p:cNvPr id="9" name="Text 7"/>
          <p:cNvSpPr txBox="1"/>
          <p:nvPr/>
        </p:nvSpPr>
        <p:spPr>
          <a:xfrm>
            <a:off x="932688" y="3410712"/>
            <a:ext cx="4710532" cy="685800"/>
          </a:xfrm>
          <a:prstGeom prst="rect">
            <a:avLst/>
          </a:prstGeom>
          <a:noFill/>
          <a:ln/>
        </p:spPr>
        <p:txBody>
          <a:bodyPr wrap="square" lIns="0" tIns="0" rIns="0" bIns="0" rtlCol="0" anchor="ctr"/>
          <a:lstStyle/>
          <a:p>
            <a:pPr marL="0" indent="0">
              <a:lnSpc>
                <a:spcPts val="1600"/>
              </a:lnSpc>
              <a:buNone/>
            </a:pPr>
            <a:r>
              <a:rPr lang="en-US" sz="1200" dirty="0">
                <a:solidFill>
                  <a:srgbClr val="5A6472"/>
                </a:solidFill>
                <a:latin typeface="Calibri" pitchFamily="34" charset="0"/>
                <a:ea typeface="Calibri" pitchFamily="34" charset="-122"/>
                <a:cs typeface="Calibri" pitchFamily="34" charset="-120"/>
              </a:rPr>
              <a:t>He does not ask for freedom, acceptance, restitution, or a place among people. He asks for one other being and permanent exile. It is the smallest request the situation permits.</a:t>
            </a:r>
            <a:endParaRPr lang="en-US" sz="1200" dirty="0"/>
          </a:p>
        </p:txBody>
      </p:sp>
      <p:sp>
        <p:nvSpPr>
          <p:cNvPr id="10" name="Shape 8"/>
          <p:cNvSpPr/>
          <p:nvPr/>
        </p:nvSpPr>
        <p:spPr>
          <a:xfrm>
            <a:off x="6255868" y="2880360"/>
            <a:ext cx="5295748" cy="1325880"/>
          </a:xfrm>
          <a:prstGeom prst="roundRect">
            <a:avLst>
              <a:gd name="adj" fmla="val 5517"/>
            </a:avLst>
          </a:prstGeom>
          <a:solidFill>
            <a:srgbClr val="F3EEE5"/>
          </a:solidFill>
          <a:ln w="12700">
            <a:solidFill>
              <a:srgbClr val="F3EEE5"/>
            </a:solidFill>
            <a:prstDash val="solid"/>
          </a:ln>
        </p:spPr>
        <p:txBody>
          <a:bodyPr/>
          <a:lstStyle/>
          <a:p>
            <a:endParaRPr lang="en-US"/>
          </a:p>
        </p:txBody>
      </p:sp>
      <p:sp>
        <p:nvSpPr>
          <p:cNvPr id="11" name="Text 9"/>
          <p:cNvSpPr txBox="1"/>
          <p:nvPr/>
        </p:nvSpPr>
        <p:spPr>
          <a:xfrm>
            <a:off x="6548476" y="3044952"/>
            <a:ext cx="4710532" cy="310896"/>
          </a:xfrm>
          <a:prstGeom prst="rect">
            <a:avLst/>
          </a:prstGeom>
          <a:noFill/>
          <a:ln/>
        </p:spPr>
        <p:txBody>
          <a:bodyPr wrap="square" lIns="0" tIns="0" rIns="0" bIns="0" rtlCol="0" anchor="ctr"/>
          <a:lstStyle/>
          <a:p>
            <a:pPr marL="0" indent="0">
              <a:buNone/>
            </a:pPr>
            <a:r>
              <a:rPr lang="en-US" sz="1600" b="1" dirty="0">
                <a:solidFill>
                  <a:srgbClr val="101822"/>
                </a:solidFill>
                <a:latin typeface="Cambria" pitchFamily="34" charset="0"/>
                <a:ea typeface="Cambria" pitchFamily="34" charset="-122"/>
                <a:cs typeface="Cambria" pitchFamily="34" charset="-120"/>
              </a:rPr>
              <a:t>It is conditional and stated</a:t>
            </a:r>
            <a:endParaRPr lang="en-US" sz="1600" dirty="0"/>
          </a:p>
        </p:txBody>
      </p:sp>
      <p:sp>
        <p:nvSpPr>
          <p:cNvPr id="12" name="Text 10"/>
          <p:cNvSpPr txBox="1"/>
          <p:nvPr/>
        </p:nvSpPr>
        <p:spPr>
          <a:xfrm>
            <a:off x="6548476" y="3410712"/>
            <a:ext cx="4710532" cy="685800"/>
          </a:xfrm>
          <a:prstGeom prst="rect">
            <a:avLst/>
          </a:prstGeom>
          <a:noFill/>
          <a:ln/>
        </p:spPr>
        <p:txBody>
          <a:bodyPr wrap="square" lIns="0" tIns="0" rIns="0" bIns="0" rtlCol="0" anchor="ctr"/>
          <a:lstStyle/>
          <a:p>
            <a:pPr marL="0" indent="0">
              <a:lnSpc>
                <a:spcPts val="1600"/>
              </a:lnSpc>
              <a:buNone/>
            </a:pPr>
            <a:r>
              <a:rPr lang="en-US" sz="1200" dirty="0">
                <a:solidFill>
                  <a:srgbClr val="5A6472"/>
                </a:solidFill>
                <a:latin typeface="Calibri" pitchFamily="34" charset="0"/>
                <a:ea typeface="Calibri" pitchFamily="34" charset="-122"/>
                <a:cs typeface="Calibri" pitchFamily="34" charset="-120"/>
              </a:rPr>
              <a:t>He names the consideration on both sides and the penalty for breach. This is the only agreement in the novel where the terms are made explicit by either party.</a:t>
            </a:r>
            <a:endParaRPr lang="en-US" sz="1200" dirty="0"/>
          </a:p>
        </p:txBody>
      </p:sp>
      <p:sp>
        <p:nvSpPr>
          <p:cNvPr id="13" name="Shape 11"/>
          <p:cNvSpPr/>
          <p:nvPr/>
        </p:nvSpPr>
        <p:spPr>
          <a:xfrm>
            <a:off x="640080" y="4361688"/>
            <a:ext cx="5295748" cy="1325880"/>
          </a:xfrm>
          <a:prstGeom prst="roundRect">
            <a:avLst>
              <a:gd name="adj" fmla="val 5517"/>
            </a:avLst>
          </a:prstGeom>
          <a:solidFill>
            <a:srgbClr val="F3EEE5"/>
          </a:solidFill>
          <a:ln w="12700">
            <a:solidFill>
              <a:srgbClr val="F3EEE5"/>
            </a:solidFill>
            <a:prstDash val="solid"/>
          </a:ln>
        </p:spPr>
        <p:txBody>
          <a:bodyPr/>
          <a:lstStyle/>
          <a:p>
            <a:endParaRPr lang="en-US"/>
          </a:p>
        </p:txBody>
      </p:sp>
      <p:sp>
        <p:nvSpPr>
          <p:cNvPr id="14" name="Text 12"/>
          <p:cNvSpPr txBox="1"/>
          <p:nvPr/>
        </p:nvSpPr>
        <p:spPr>
          <a:xfrm>
            <a:off x="932688" y="4526280"/>
            <a:ext cx="4710532" cy="310896"/>
          </a:xfrm>
          <a:prstGeom prst="rect">
            <a:avLst/>
          </a:prstGeom>
          <a:noFill/>
          <a:ln/>
        </p:spPr>
        <p:txBody>
          <a:bodyPr wrap="square" lIns="0" tIns="0" rIns="0" bIns="0" rtlCol="0" anchor="ctr"/>
          <a:lstStyle/>
          <a:p>
            <a:pPr marL="0" indent="0">
              <a:buNone/>
            </a:pPr>
            <a:r>
              <a:rPr lang="en-US" sz="1600" b="1" dirty="0">
                <a:solidFill>
                  <a:srgbClr val="101822"/>
                </a:solidFill>
                <a:latin typeface="Cambria" pitchFamily="34" charset="0"/>
                <a:ea typeface="Cambria" pitchFamily="34" charset="-122"/>
                <a:cs typeface="Cambria" pitchFamily="34" charset="-120"/>
              </a:rPr>
              <a:t>It is an argument about obligation</a:t>
            </a:r>
            <a:endParaRPr lang="en-US" sz="1600" dirty="0"/>
          </a:p>
        </p:txBody>
      </p:sp>
      <p:sp>
        <p:nvSpPr>
          <p:cNvPr id="15" name="Text 13"/>
          <p:cNvSpPr txBox="1"/>
          <p:nvPr/>
        </p:nvSpPr>
        <p:spPr>
          <a:xfrm>
            <a:off x="932688" y="4892040"/>
            <a:ext cx="4710532" cy="685800"/>
          </a:xfrm>
          <a:prstGeom prst="rect">
            <a:avLst/>
          </a:prstGeom>
          <a:noFill/>
          <a:ln/>
        </p:spPr>
        <p:txBody>
          <a:bodyPr wrap="square" lIns="0" tIns="0" rIns="0" bIns="0" rtlCol="0" anchor="ctr"/>
          <a:lstStyle/>
          <a:p>
            <a:pPr marL="0" indent="0">
              <a:lnSpc>
                <a:spcPts val="1600"/>
              </a:lnSpc>
              <a:buNone/>
            </a:pPr>
            <a:r>
              <a:rPr lang="en-US" sz="1200" dirty="0">
                <a:solidFill>
                  <a:srgbClr val="5A6472"/>
                </a:solidFill>
                <a:latin typeface="Calibri" pitchFamily="34" charset="0"/>
                <a:ea typeface="Calibri" pitchFamily="34" charset="-122"/>
                <a:cs typeface="Calibri" pitchFamily="34" charset="-120"/>
              </a:rPr>
              <a:t>The request only makes sense if Victor owes him something. The creature has spent Volume II establishing exactly that, in order to arrive here.</a:t>
            </a:r>
            <a:endParaRPr lang="en-US" sz="1200" dirty="0"/>
          </a:p>
        </p:txBody>
      </p:sp>
      <p:sp>
        <p:nvSpPr>
          <p:cNvPr id="16" name="Shape 14"/>
          <p:cNvSpPr/>
          <p:nvPr/>
        </p:nvSpPr>
        <p:spPr>
          <a:xfrm>
            <a:off x="6255868" y="4361688"/>
            <a:ext cx="5295748" cy="1325880"/>
          </a:xfrm>
          <a:prstGeom prst="roundRect">
            <a:avLst>
              <a:gd name="adj" fmla="val 5517"/>
            </a:avLst>
          </a:prstGeom>
          <a:solidFill>
            <a:srgbClr val="E6EEF3"/>
          </a:solidFill>
          <a:ln w="12700">
            <a:solidFill>
              <a:srgbClr val="E6EEF3"/>
            </a:solidFill>
            <a:prstDash val="solid"/>
          </a:ln>
        </p:spPr>
        <p:txBody>
          <a:bodyPr/>
          <a:lstStyle/>
          <a:p>
            <a:endParaRPr lang="en-US"/>
          </a:p>
        </p:txBody>
      </p:sp>
      <p:sp>
        <p:nvSpPr>
          <p:cNvPr id="17" name="Text 15"/>
          <p:cNvSpPr txBox="1"/>
          <p:nvPr/>
        </p:nvSpPr>
        <p:spPr>
          <a:xfrm>
            <a:off x="6548476" y="4526280"/>
            <a:ext cx="4710532" cy="310896"/>
          </a:xfrm>
          <a:prstGeom prst="rect">
            <a:avLst/>
          </a:prstGeom>
          <a:noFill/>
          <a:ln/>
        </p:spPr>
        <p:txBody>
          <a:bodyPr wrap="square" lIns="0" tIns="0" rIns="0" bIns="0" rtlCol="0" anchor="ctr"/>
          <a:lstStyle/>
          <a:p>
            <a:pPr marL="0" indent="0">
              <a:buNone/>
            </a:pPr>
            <a:r>
              <a:rPr lang="en-US" sz="1600" b="1" dirty="0">
                <a:solidFill>
                  <a:srgbClr val="C05A3E"/>
                </a:solidFill>
                <a:latin typeface="Cambria" pitchFamily="34" charset="0"/>
                <a:ea typeface="Cambria" pitchFamily="34" charset="-122"/>
                <a:cs typeface="Cambria" pitchFamily="34" charset="-120"/>
              </a:rPr>
              <a:t>And it is made by a murderer</a:t>
            </a:r>
            <a:endParaRPr lang="en-US" sz="1600" dirty="0"/>
          </a:p>
        </p:txBody>
      </p:sp>
      <p:sp>
        <p:nvSpPr>
          <p:cNvPr id="18" name="Text 16"/>
          <p:cNvSpPr txBox="1"/>
          <p:nvPr/>
        </p:nvSpPr>
        <p:spPr>
          <a:xfrm>
            <a:off x="6548476" y="4892040"/>
            <a:ext cx="4710532" cy="685800"/>
          </a:xfrm>
          <a:prstGeom prst="rect">
            <a:avLst/>
          </a:prstGeom>
          <a:noFill/>
          <a:ln/>
        </p:spPr>
        <p:txBody>
          <a:bodyPr wrap="square" lIns="0" tIns="0" rIns="0" bIns="0" rtlCol="0" anchor="ctr"/>
          <a:lstStyle/>
          <a:p>
            <a:pPr marL="0" indent="0">
              <a:lnSpc>
                <a:spcPts val="1600"/>
              </a:lnSpc>
              <a:buNone/>
            </a:pPr>
            <a:r>
              <a:rPr lang="en-US" sz="1200" dirty="0">
                <a:solidFill>
                  <a:srgbClr val="5A6472"/>
                </a:solidFill>
                <a:latin typeface="Calibri" pitchFamily="34" charset="0"/>
                <a:ea typeface="Calibri" pitchFamily="34" charset="-122"/>
                <a:cs typeface="Calibri" pitchFamily="34" charset="-120"/>
              </a:rPr>
              <a:t>He has just described killing a child and planting evidence on a servant. Shelley refuses to let the appeal be clean, and refuses to let the guilt cancel the claim.</a:t>
            </a:r>
            <a:endParaRPr lang="en-US" sz="1200" dirty="0"/>
          </a:p>
        </p:txBody>
      </p:sp>
      <p:sp>
        <p:nvSpPr>
          <p:cNvPr id="19" name="Text 17"/>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A6472"/>
                </a:solidFill>
                <a:latin typeface="Calibri" pitchFamily="34" charset="0"/>
                <a:ea typeface="Calibri" pitchFamily="34" charset="-122"/>
                <a:cs typeface="Calibri" pitchFamily="34" charset="-120"/>
              </a:rPr>
              <a:t>Shelley, Frankenstein (1818), Vol II, ch. IX.</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bg>
      <p:bgPr>
        <a:solidFill>
          <a:srgbClr val="101822"/>
        </a:solidFill>
        <a:effectLst/>
      </p:bgPr>
    </p:bg>
    <p:spTree>
      <p:nvGrpSpPr>
        <p:cNvPr id="1" name=""/>
        <p:cNvGrpSpPr/>
        <p:nvPr/>
      </p:nvGrpSpPr>
      <p:grpSpPr>
        <a:xfrm>
          <a:off x="0" y="0"/>
          <a:ext cx="0" cy="0"/>
          <a:chOff x="0" y="0"/>
          <a:chExt cx="0" cy="0"/>
        </a:xfrm>
      </p:grpSpPr>
      <p:sp>
        <p:nvSpPr>
          <p:cNvPr id="2" name="Shape 0"/>
          <p:cNvSpPr/>
          <p:nvPr/>
        </p:nvSpPr>
        <p:spPr>
          <a:xfrm>
            <a:off x="8732520" y="1417320"/>
            <a:ext cx="2651760" cy="2651760"/>
          </a:xfrm>
          <a:prstGeom prst="ellipse">
            <a:avLst/>
          </a:prstGeom>
          <a:solidFill>
            <a:srgbClr val="35708C">
              <a:alpha val="70000"/>
            </a:srgbClr>
          </a:solidFill>
          <a:ln/>
        </p:spPr>
        <p:txBody>
          <a:bodyPr/>
          <a:lstStyle/>
          <a:p>
            <a:endParaRPr lang="en-US"/>
          </a:p>
        </p:txBody>
      </p:sp>
      <p:sp>
        <p:nvSpPr>
          <p:cNvPr id="3" name="Shape 1"/>
          <p:cNvSpPr/>
          <p:nvPr/>
        </p:nvSpPr>
        <p:spPr>
          <a:xfrm>
            <a:off x="9509760" y="2194560"/>
            <a:ext cx="1097280" cy="1097280"/>
          </a:xfrm>
          <a:prstGeom prst="ellipse">
            <a:avLst/>
          </a:prstGeom>
          <a:solidFill>
            <a:srgbClr val="C05A3E">
              <a:alpha val="70000"/>
            </a:srgbClr>
          </a:solidFill>
          <a:ln/>
        </p:spPr>
        <p:txBody>
          <a:bodyPr/>
          <a:lstStyle/>
          <a:p>
            <a:endParaRPr lang="en-US"/>
          </a:p>
        </p:txBody>
      </p:sp>
      <p:sp>
        <p:nvSpPr>
          <p:cNvPr id="4" name="Text 2"/>
          <p:cNvSpPr txBox="1"/>
          <p:nvPr/>
        </p:nvSpPr>
        <p:spPr>
          <a:xfrm>
            <a:off x="640080" y="1965960"/>
            <a:ext cx="7315200" cy="320040"/>
          </a:xfrm>
          <a:prstGeom prst="rect">
            <a:avLst/>
          </a:prstGeom>
          <a:noFill/>
          <a:ln/>
        </p:spPr>
        <p:txBody>
          <a:bodyPr wrap="square" lIns="0" tIns="0" rIns="0" bIns="0" rtlCol="0" anchor="ctr"/>
          <a:lstStyle/>
          <a:p>
            <a:pPr marL="0" indent="0">
              <a:buNone/>
            </a:pPr>
            <a:r>
              <a:rPr lang="en-US" sz="1300" b="1" kern="0" spc="220" dirty="0">
                <a:solidFill>
                  <a:srgbClr val="E08A6E"/>
                </a:solidFill>
                <a:latin typeface="Calibri" pitchFamily="34" charset="0"/>
                <a:ea typeface="Calibri" pitchFamily="34" charset="-122"/>
                <a:cs typeface="Calibri" pitchFamily="34" charset="-120"/>
              </a:rPr>
              <a:t>MOVEMENT THREE</a:t>
            </a:r>
            <a:endParaRPr lang="en-US" sz="1300" dirty="0"/>
          </a:p>
        </p:txBody>
      </p:sp>
      <p:sp>
        <p:nvSpPr>
          <p:cNvPr id="5" name="Text 3"/>
          <p:cNvSpPr txBox="1"/>
          <p:nvPr/>
        </p:nvSpPr>
        <p:spPr>
          <a:xfrm>
            <a:off x="640080" y="2377440"/>
            <a:ext cx="7680960" cy="868680"/>
          </a:xfrm>
          <a:prstGeom prst="rect">
            <a:avLst/>
          </a:prstGeom>
          <a:noFill/>
          <a:ln/>
        </p:spPr>
        <p:txBody>
          <a:bodyPr wrap="square" lIns="0" tIns="0" rIns="0" bIns="0" rtlCol="0" anchor="ctr"/>
          <a:lstStyle/>
          <a:p>
            <a:pPr marL="0" indent="0">
              <a:buNone/>
            </a:pPr>
            <a:r>
              <a:rPr lang="en-US" sz="4000" b="1" dirty="0">
                <a:solidFill>
                  <a:srgbClr val="EDE5D8"/>
                </a:solidFill>
                <a:latin typeface="Cambria" pitchFamily="34" charset="0"/>
                <a:ea typeface="Cambria" pitchFamily="34" charset="-122"/>
                <a:cs typeface="Cambria" pitchFamily="34" charset="-120"/>
              </a:rPr>
              <a:t>The promise, and the breaking of it</a:t>
            </a:r>
            <a:endParaRPr lang="en-US" sz="4000" dirty="0"/>
          </a:p>
        </p:txBody>
      </p:sp>
      <p:sp>
        <p:nvSpPr>
          <p:cNvPr id="6" name="Text 4"/>
          <p:cNvSpPr txBox="1"/>
          <p:nvPr/>
        </p:nvSpPr>
        <p:spPr>
          <a:xfrm>
            <a:off x="640080" y="3310128"/>
            <a:ext cx="768096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Volume III, chapters I–VII and Walton in continuation  </a:t>
            </a:r>
            <a:endParaRPr lang="en-US" sz="1500" dirty="0"/>
          </a:p>
        </p:txBody>
      </p:sp>
      <p:sp>
        <p:nvSpPr>
          <p:cNvPr id="7" name="Shape 5"/>
          <p:cNvSpPr/>
          <p:nvPr/>
        </p:nvSpPr>
        <p:spPr>
          <a:xfrm>
            <a:off x="640080" y="3913632"/>
            <a:ext cx="2377440" cy="18288"/>
          </a:xfrm>
          <a:prstGeom prst="rect">
            <a:avLst/>
          </a:prstGeom>
          <a:solidFill>
            <a:srgbClr val="C05A3E"/>
          </a:solidFill>
          <a:ln/>
        </p:spPr>
        <p:txBody>
          <a:bodyPr/>
          <a:lstStyle/>
          <a:p>
            <a:endParaRPr lang="en-US"/>
          </a:p>
        </p:txBody>
      </p:sp>
      <p:sp>
        <p:nvSpPr>
          <p:cNvPr id="8" name="Text 6"/>
          <p:cNvSpPr txBox="1"/>
          <p:nvPr/>
        </p:nvSpPr>
        <p:spPr>
          <a:xfrm>
            <a:off x="640080" y="4133088"/>
            <a:ext cx="7680960" cy="548640"/>
          </a:xfrm>
          <a:prstGeom prst="rect">
            <a:avLst/>
          </a:prstGeom>
          <a:noFill/>
          <a:ln/>
        </p:spPr>
        <p:txBody>
          <a:bodyPr wrap="square" lIns="0" tIns="0" rIns="0" bIns="0" rtlCol="0" anchor="ctr"/>
          <a:lstStyle/>
          <a:p>
            <a:pPr marL="0" indent="0">
              <a:lnSpc>
                <a:spcPts val="2600"/>
              </a:lnSpc>
              <a:buNone/>
            </a:pPr>
            <a:r>
              <a:rPr lang="en-US" sz="1900" i="1" dirty="0">
                <a:solidFill>
                  <a:srgbClr val="9CC5D6"/>
                </a:solidFill>
                <a:latin typeface="Cambria" pitchFamily="34" charset="0"/>
                <a:ea typeface="Cambria" pitchFamily="34" charset="-122"/>
                <a:cs typeface="Cambria" pitchFamily="34" charset="-120"/>
              </a:rPr>
              <a:t>Victor performs the only act of foresight in the book — and it is a betrayal.</a:t>
            </a:r>
            <a:endParaRPr lang="en-US" sz="1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A6472"/>
                </a:solidFill>
                <a:latin typeface="Calibri" pitchFamily="34" charset="0"/>
                <a:ea typeface="Calibri" pitchFamily="34" charset="-122"/>
                <a:cs typeface="Calibri" pitchFamily="34" charset="-120"/>
              </a:rPr>
              <a:t>VOLUME III AT A GLANCE</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01822"/>
                </a:solidFill>
                <a:latin typeface="Cambria" pitchFamily="34" charset="0"/>
                <a:ea typeface="Cambria" pitchFamily="34" charset="-122"/>
                <a:cs typeface="Cambria" pitchFamily="34" charset="-120"/>
              </a:rPr>
              <a:t>The consequences arrive in order</a:t>
            </a:r>
            <a:endParaRPr lang="en-US" sz="3000" dirty="0"/>
          </a:p>
        </p:txBody>
      </p:sp>
      <p:sp>
        <p:nvSpPr>
          <p:cNvPr id="5" name="Shape 3"/>
          <p:cNvSpPr/>
          <p:nvPr/>
        </p:nvSpPr>
        <p:spPr>
          <a:xfrm>
            <a:off x="640080" y="1536192"/>
            <a:ext cx="10911535" cy="859536"/>
          </a:xfrm>
          <a:prstGeom prst="roundRect">
            <a:avLst>
              <a:gd name="adj" fmla="val 8511"/>
            </a:avLst>
          </a:prstGeom>
          <a:solidFill>
            <a:srgbClr val="F3EEE5"/>
          </a:solidFill>
          <a:ln w="12700">
            <a:solidFill>
              <a:srgbClr val="F3EEE5"/>
            </a:solidFill>
            <a:prstDash val="solid"/>
          </a:ln>
        </p:spPr>
        <p:txBody>
          <a:bodyPr/>
          <a:lstStyle/>
          <a:p>
            <a:endParaRPr lang="en-US"/>
          </a:p>
        </p:txBody>
      </p:sp>
      <p:sp>
        <p:nvSpPr>
          <p:cNvPr id="6" name="Text 4"/>
          <p:cNvSpPr txBox="1"/>
          <p:nvPr/>
        </p:nvSpPr>
        <p:spPr>
          <a:xfrm>
            <a:off x="914400" y="1536192"/>
            <a:ext cx="1234440" cy="859536"/>
          </a:xfrm>
          <a:prstGeom prst="rect">
            <a:avLst/>
          </a:prstGeom>
          <a:noFill/>
          <a:ln/>
        </p:spPr>
        <p:txBody>
          <a:bodyPr wrap="square" lIns="0" tIns="0" rIns="0" bIns="0" rtlCol="0" anchor="ctr"/>
          <a:lstStyle/>
          <a:p>
            <a:pPr marL="0" indent="0">
              <a:buNone/>
            </a:pPr>
            <a:r>
              <a:rPr lang="en-US" sz="1350" b="1" dirty="0">
                <a:solidFill>
                  <a:srgbClr val="35708C"/>
                </a:solidFill>
                <a:latin typeface="Cambria" pitchFamily="34" charset="0"/>
                <a:ea typeface="Cambria" pitchFamily="34" charset="-122"/>
                <a:cs typeface="Cambria" pitchFamily="34" charset="-120"/>
              </a:rPr>
              <a:t>ch. I–II</a:t>
            </a:r>
            <a:endParaRPr lang="en-US" sz="1350" dirty="0"/>
          </a:p>
        </p:txBody>
      </p:sp>
      <p:sp>
        <p:nvSpPr>
          <p:cNvPr id="7" name="Text 5"/>
          <p:cNvSpPr txBox="1"/>
          <p:nvPr/>
        </p:nvSpPr>
        <p:spPr>
          <a:xfrm>
            <a:off x="2286000" y="1536192"/>
            <a:ext cx="2468880" cy="859536"/>
          </a:xfrm>
          <a:prstGeom prst="rect">
            <a:avLst/>
          </a:prstGeom>
          <a:noFill/>
          <a:ln/>
        </p:spPr>
        <p:txBody>
          <a:bodyPr wrap="square" lIns="0" tIns="0" rIns="0" bIns="0" rtlCol="0" anchor="ctr"/>
          <a:lstStyle/>
          <a:p>
            <a:pPr marL="0" indent="0">
              <a:buNone/>
            </a:pPr>
            <a:r>
              <a:rPr lang="en-US" sz="1500" b="1" dirty="0">
                <a:solidFill>
                  <a:srgbClr val="101822"/>
                </a:solidFill>
                <a:latin typeface="Cambria" pitchFamily="34" charset="0"/>
                <a:ea typeface="Cambria" pitchFamily="34" charset="-122"/>
                <a:cs typeface="Cambria" pitchFamily="34" charset="-120"/>
              </a:rPr>
              <a:t>Delay</a:t>
            </a:r>
            <a:endParaRPr lang="en-US" sz="1500" dirty="0"/>
          </a:p>
        </p:txBody>
      </p:sp>
      <p:sp>
        <p:nvSpPr>
          <p:cNvPr id="8" name="Text 6"/>
          <p:cNvSpPr txBox="1"/>
          <p:nvPr/>
        </p:nvSpPr>
        <p:spPr>
          <a:xfrm>
            <a:off x="4892040" y="1536192"/>
            <a:ext cx="6309360" cy="859536"/>
          </a:xfrm>
          <a:prstGeom prst="rect">
            <a:avLst/>
          </a:prstGeom>
          <a:noFill/>
          <a:ln/>
        </p:spPr>
        <p:txBody>
          <a:bodyPr wrap="square" lIns="0" tIns="0" rIns="0" bIns="0" rtlCol="0" anchor="ctr"/>
          <a:lstStyle/>
          <a:p>
            <a:pPr marL="0" indent="0">
              <a:lnSpc>
                <a:spcPts val="1600"/>
              </a:lnSpc>
              <a:buNone/>
            </a:pPr>
            <a:r>
              <a:rPr lang="en-US" sz="1250" dirty="0">
                <a:solidFill>
                  <a:srgbClr val="5A6472"/>
                </a:solidFill>
                <a:latin typeface="Calibri" pitchFamily="34" charset="0"/>
                <a:ea typeface="Calibri" pitchFamily="34" charset="-122"/>
                <a:cs typeface="Calibri" pitchFamily="34" charset="-120"/>
              </a:rPr>
              <a:t>Victor travels to England with Clerval, sightseeing, putting off the work he has promised. Months pass.</a:t>
            </a:r>
            <a:endParaRPr lang="en-US" sz="1250" dirty="0"/>
          </a:p>
        </p:txBody>
      </p:sp>
      <p:sp>
        <p:nvSpPr>
          <p:cNvPr id="9" name="Shape 7"/>
          <p:cNvSpPr/>
          <p:nvPr/>
        </p:nvSpPr>
        <p:spPr>
          <a:xfrm>
            <a:off x="640080" y="2478024"/>
            <a:ext cx="10911535" cy="859536"/>
          </a:xfrm>
          <a:prstGeom prst="roundRect">
            <a:avLst>
              <a:gd name="adj" fmla="val 8511"/>
            </a:avLst>
          </a:prstGeom>
          <a:solidFill>
            <a:srgbClr val="101822"/>
          </a:solidFill>
          <a:ln w="12700">
            <a:solidFill>
              <a:srgbClr val="101822"/>
            </a:solidFill>
            <a:prstDash val="solid"/>
          </a:ln>
        </p:spPr>
        <p:txBody>
          <a:bodyPr/>
          <a:lstStyle/>
          <a:p>
            <a:endParaRPr lang="en-US"/>
          </a:p>
        </p:txBody>
      </p:sp>
      <p:sp>
        <p:nvSpPr>
          <p:cNvPr id="10" name="Text 8"/>
          <p:cNvSpPr txBox="1"/>
          <p:nvPr/>
        </p:nvSpPr>
        <p:spPr>
          <a:xfrm>
            <a:off x="914400" y="2478024"/>
            <a:ext cx="1234440" cy="859536"/>
          </a:xfrm>
          <a:prstGeom prst="rect">
            <a:avLst/>
          </a:prstGeom>
          <a:noFill/>
          <a:ln/>
        </p:spPr>
        <p:txBody>
          <a:bodyPr wrap="square" lIns="0" tIns="0" rIns="0" bIns="0" rtlCol="0" anchor="ctr"/>
          <a:lstStyle/>
          <a:p>
            <a:pPr marL="0" indent="0">
              <a:buNone/>
            </a:pPr>
            <a:r>
              <a:rPr lang="en-US" sz="1350" b="1" dirty="0">
                <a:solidFill>
                  <a:srgbClr val="E08A6E"/>
                </a:solidFill>
                <a:latin typeface="Cambria" pitchFamily="34" charset="0"/>
                <a:ea typeface="Cambria" pitchFamily="34" charset="-122"/>
                <a:cs typeface="Cambria" pitchFamily="34" charset="-120"/>
              </a:rPr>
              <a:t>ch. III</a:t>
            </a:r>
            <a:endParaRPr lang="en-US" sz="1350" dirty="0"/>
          </a:p>
        </p:txBody>
      </p:sp>
      <p:sp>
        <p:nvSpPr>
          <p:cNvPr id="11" name="Text 9"/>
          <p:cNvSpPr txBox="1"/>
          <p:nvPr/>
        </p:nvSpPr>
        <p:spPr>
          <a:xfrm>
            <a:off x="2286000" y="2478024"/>
            <a:ext cx="2468880" cy="859536"/>
          </a:xfrm>
          <a:prstGeom prst="rect">
            <a:avLst/>
          </a:prstGeom>
          <a:noFill/>
          <a:ln/>
        </p:spPr>
        <p:txBody>
          <a:bodyPr wrap="square" lIns="0" tIns="0" rIns="0" bIns="0" rtlCol="0" anchor="ctr"/>
          <a:lstStyle/>
          <a:p>
            <a:pPr marL="0" indent="0">
              <a:buNone/>
            </a:pPr>
            <a:r>
              <a:rPr lang="en-US" sz="1500" b="1" dirty="0">
                <a:solidFill>
                  <a:srgbClr val="EDE5D8"/>
                </a:solidFill>
                <a:latin typeface="Cambria" pitchFamily="34" charset="0"/>
                <a:ea typeface="Cambria" pitchFamily="34" charset="-122"/>
                <a:cs typeface="Cambria" pitchFamily="34" charset="-120"/>
              </a:rPr>
              <a:t>The Orkneys</a:t>
            </a:r>
            <a:endParaRPr lang="en-US" sz="1500" dirty="0"/>
          </a:p>
        </p:txBody>
      </p:sp>
      <p:sp>
        <p:nvSpPr>
          <p:cNvPr id="12" name="Text 10"/>
          <p:cNvSpPr txBox="1"/>
          <p:nvPr/>
        </p:nvSpPr>
        <p:spPr>
          <a:xfrm>
            <a:off x="4892040" y="2478024"/>
            <a:ext cx="6309360" cy="859536"/>
          </a:xfrm>
          <a:prstGeom prst="rect">
            <a:avLst/>
          </a:prstGeom>
          <a:noFill/>
          <a:ln/>
        </p:spPr>
        <p:txBody>
          <a:bodyPr wrap="square" lIns="0" tIns="0" rIns="0" bIns="0" rtlCol="0" anchor="ctr"/>
          <a:lstStyle/>
          <a:p>
            <a:pPr marL="0" indent="0">
              <a:lnSpc>
                <a:spcPts val="1600"/>
              </a:lnSpc>
              <a:buNone/>
            </a:pPr>
            <a:r>
              <a:rPr lang="en-US" sz="1250" dirty="0">
                <a:solidFill>
                  <a:srgbClr val="EDE5D8"/>
                </a:solidFill>
                <a:latin typeface="Calibri" pitchFamily="34" charset="0"/>
                <a:ea typeface="Calibri" pitchFamily="34" charset="-122"/>
                <a:cs typeface="Calibri" pitchFamily="34" charset="-120"/>
              </a:rPr>
              <a:t>In a hut on a remote island he nearly finishes the female — then tears her apart while the creature watches through the window. The threat follows.</a:t>
            </a:r>
            <a:endParaRPr lang="en-US" sz="1250" dirty="0"/>
          </a:p>
        </p:txBody>
      </p:sp>
      <p:sp>
        <p:nvSpPr>
          <p:cNvPr id="13" name="Shape 11"/>
          <p:cNvSpPr/>
          <p:nvPr/>
        </p:nvSpPr>
        <p:spPr>
          <a:xfrm>
            <a:off x="640080" y="3419856"/>
            <a:ext cx="10911535" cy="859536"/>
          </a:xfrm>
          <a:prstGeom prst="roundRect">
            <a:avLst>
              <a:gd name="adj" fmla="val 8511"/>
            </a:avLst>
          </a:prstGeom>
          <a:solidFill>
            <a:srgbClr val="F3EEE5"/>
          </a:solidFill>
          <a:ln w="12700">
            <a:solidFill>
              <a:srgbClr val="F3EEE5"/>
            </a:solidFill>
            <a:prstDash val="solid"/>
          </a:ln>
        </p:spPr>
        <p:txBody>
          <a:bodyPr/>
          <a:lstStyle/>
          <a:p>
            <a:endParaRPr lang="en-US"/>
          </a:p>
        </p:txBody>
      </p:sp>
      <p:sp>
        <p:nvSpPr>
          <p:cNvPr id="14" name="Text 12"/>
          <p:cNvSpPr txBox="1"/>
          <p:nvPr/>
        </p:nvSpPr>
        <p:spPr>
          <a:xfrm>
            <a:off x="914400" y="3419856"/>
            <a:ext cx="1234440" cy="859536"/>
          </a:xfrm>
          <a:prstGeom prst="rect">
            <a:avLst/>
          </a:prstGeom>
          <a:noFill/>
          <a:ln/>
        </p:spPr>
        <p:txBody>
          <a:bodyPr wrap="square" lIns="0" tIns="0" rIns="0" bIns="0" rtlCol="0" anchor="ctr"/>
          <a:lstStyle/>
          <a:p>
            <a:pPr marL="0" indent="0">
              <a:buNone/>
            </a:pPr>
            <a:r>
              <a:rPr lang="en-US" sz="1350" b="1" dirty="0">
                <a:solidFill>
                  <a:srgbClr val="35708C"/>
                </a:solidFill>
                <a:latin typeface="Cambria" pitchFamily="34" charset="0"/>
                <a:ea typeface="Cambria" pitchFamily="34" charset="-122"/>
                <a:cs typeface="Cambria" pitchFamily="34" charset="-120"/>
              </a:rPr>
              <a:t>ch. IV–V</a:t>
            </a:r>
            <a:endParaRPr lang="en-US" sz="1350" dirty="0"/>
          </a:p>
        </p:txBody>
      </p:sp>
      <p:sp>
        <p:nvSpPr>
          <p:cNvPr id="15" name="Text 13"/>
          <p:cNvSpPr txBox="1"/>
          <p:nvPr/>
        </p:nvSpPr>
        <p:spPr>
          <a:xfrm>
            <a:off x="2286000" y="3419856"/>
            <a:ext cx="2468880" cy="859536"/>
          </a:xfrm>
          <a:prstGeom prst="rect">
            <a:avLst/>
          </a:prstGeom>
          <a:noFill/>
          <a:ln/>
        </p:spPr>
        <p:txBody>
          <a:bodyPr wrap="square" lIns="0" tIns="0" rIns="0" bIns="0" rtlCol="0" anchor="ctr"/>
          <a:lstStyle/>
          <a:p>
            <a:pPr marL="0" indent="0">
              <a:buNone/>
            </a:pPr>
            <a:r>
              <a:rPr lang="en-US" sz="1500" b="1" dirty="0">
                <a:solidFill>
                  <a:srgbClr val="101822"/>
                </a:solidFill>
                <a:latin typeface="Cambria" pitchFamily="34" charset="0"/>
                <a:ea typeface="Cambria" pitchFamily="34" charset="-122"/>
                <a:cs typeface="Cambria" pitchFamily="34" charset="-120"/>
              </a:rPr>
              <a:t>Clerval</a:t>
            </a:r>
            <a:endParaRPr lang="en-US" sz="1500" dirty="0"/>
          </a:p>
        </p:txBody>
      </p:sp>
      <p:sp>
        <p:nvSpPr>
          <p:cNvPr id="16" name="Text 14"/>
          <p:cNvSpPr txBox="1"/>
          <p:nvPr/>
        </p:nvSpPr>
        <p:spPr>
          <a:xfrm>
            <a:off x="4892040" y="3419856"/>
            <a:ext cx="6309360" cy="859536"/>
          </a:xfrm>
          <a:prstGeom prst="rect">
            <a:avLst/>
          </a:prstGeom>
          <a:noFill/>
          <a:ln/>
        </p:spPr>
        <p:txBody>
          <a:bodyPr wrap="square" lIns="0" tIns="0" rIns="0" bIns="0" rtlCol="0" anchor="ctr"/>
          <a:lstStyle/>
          <a:p>
            <a:pPr marL="0" indent="0">
              <a:lnSpc>
                <a:spcPts val="1600"/>
              </a:lnSpc>
              <a:buNone/>
            </a:pPr>
            <a:r>
              <a:rPr lang="en-US" sz="1250" dirty="0">
                <a:solidFill>
                  <a:srgbClr val="5A6472"/>
                </a:solidFill>
                <a:latin typeface="Calibri" pitchFamily="34" charset="0"/>
                <a:ea typeface="Calibri" pitchFamily="34" charset="-122"/>
                <a:cs typeface="Calibri" pitchFamily="34" charset="-120"/>
              </a:rPr>
              <a:t>He sinks the remains at sea, drifts to Ireland, and is arrested for a murder committed while he was on the water. The victim is his oldest friend.</a:t>
            </a:r>
            <a:endParaRPr lang="en-US" sz="1250" dirty="0"/>
          </a:p>
        </p:txBody>
      </p:sp>
      <p:sp>
        <p:nvSpPr>
          <p:cNvPr id="17" name="Shape 15"/>
          <p:cNvSpPr/>
          <p:nvPr/>
        </p:nvSpPr>
        <p:spPr>
          <a:xfrm>
            <a:off x="640080" y="4361688"/>
            <a:ext cx="10911535" cy="859536"/>
          </a:xfrm>
          <a:prstGeom prst="roundRect">
            <a:avLst>
              <a:gd name="adj" fmla="val 8511"/>
            </a:avLst>
          </a:prstGeom>
          <a:solidFill>
            <a:srgbClr val="E6EEF3"/>
          </a:solidFill>
          <a:ln w="12700">
            <a:solidFill>
              <a:srgbClr val="E6EEF3"/>
            </a:solidFill>
            <a:prstDash val="solid"/>
          </a:ln>
        </p:spPr>
        <p:txBody>
          <a:bodyPr/>
          <a:lstStyle/>
          <a:p>
            <a:endParaRPr lang="en-US"/>
          </a:p>
        </p:txBody>
      </p:sp>
      <p:sp>
        <p:nvSpPr>
          <p:cNvPr id="18" name="Text 16"/>
          <p:cNvSpPr txBox="1"/>
          <p:nvPr/>
        </p:nvSpPr>
        <p:spPr>
          <a:xfrm>
            <a:off x="914400" y="4361688"/>
            <a:ext cx="1234440" cy="859536"/>
          </a:xfrm>
          <a:prstGeom prst="rect">
            <a:avLst/>
          </a:prstGeom>
          <a:noFill/>
          <a:ln/>
        </p:spPr>
        <p:txBody>
          <a:bodyPr wrap="square" lIns="0" tIns="0" rIns="0" bIns="0" rtlCol="0" anchor="ctr"/>
          <a:lstStyle/>
          <a:p>
            <a:pPr marL="0" indent="0">
              <a:buNone/>
            </a:pPr>
            <a:r>
              <a:rPr lang="en-US" sz="1350" b="1" dirty="0">
                <a:solidFill>
                  <a:srgbClr val="35708C"/>
                </a:solidFill>
                <a:latin typeface="Cambria" pitchFamily="34" charset="0"/>
                <a:ea typeface="Cambria" pitchFamily="34" charset="-122"/>
                <a:cs typeface="Cambria" pitchFamily="34" charset="-120"/>
              </a:rPr>
              <a:t>ch. VI</a:t>
            </a:r>
            <a:endParaRPr lang="en-US" sz="1350" dirty="0"/>
          </a:p>
        </p:txBody>
      </p:sp>
      <p:sp>
        <p:nvSpPr>
          <p:cNvPr id="19" name="Text 17"/>
          <p:cNvSpPr txBox="1"/>
          <p:nvPr/>
        </p:nvSpPr>
        <p:spPr>
          <a:xfrm>
            <a:off x="2286000" y="4361688"/>
            <a:ext cx="2468880" cy="859536"/>
          </a:xfrm>
          <a:prstGeom prst="rect">
            <a:avLst/>
          </a:prstGeom>
          <a:noFill/>
          <a:ln/>
        </p:spPr>
        <p:txBody>
          <a:bodyPr wrap="square" lIns="0" tIns="0" rIns="0" bIns="0" rtlCol="0" anchor="ctr"/>
          <a:lstStyle/>
          <a:p>
            <a:pPr marL="0" indent="0">
              <a:buNone/>
            </a:pPr>
            <a:r>
              <a:rPr lang="en-US" sz="1500" b="1" dirty="0">
                <a:solidFill>
                  <a:srgbClr val="101822"/>
                </a:solidFill>
                <a:latin typeface="Cambria" pitchFamily="34" charset="0"/>
                <a:ea typeface="Cambria" pitchFamily="34" charset="-122"/>
                <a:cs typeface="Cambria" pitchFamily="34" charset="-120"/>
              </a:rPr>
              <a:t>The wedding night</a:t>
            </a:r>
            <a:endParaRPr lang="en-US" sz="1500" dirty="0"/>
          </a:p>
        </p:txBody>
      </p:sp>
      <p:sp>
        <p:nvSpPr>
          <p:cNvPr id="20" name="Text 18"/>
          <p:cNvSpPr txBox="1"/>
          <p:nvPr/>
        </p:nvSpPr>
        <p:spPr>
          <a:xfrm>
            <a:off x="4892040" y="4361688"/>
            <a:ext cx="6309360" cy="859536"/>
          </a:xfrm>
          <a:prstGeom prst="rect">
            <a:avLst/>
          </a:prstGeom>
          <a:noFill/>
          <a:ln/>
        </p:spPr>
        <p:txBody>
          <a:bodyPr wrap="square" lIns="0" tIns="0" rIns="0" bIns="0" rtlCol="0" anchor="ctr"/>
          <a:lstStyle/>
          <a:p>
            <a:pPr marL="0" indent="0">
              <a:lnSpc>
                <a:spcPts val="1600"/>
              </a:lnSpc>
              <a:buNone/>
            </a:pPr>
            <a:r>
              <a:rPr lang="en-US" sz="1250" dirty="0">
                <a:solidFill>
                  <a:srgbClr val="5A6472"/>
                </a:solidFill>
                <a:latin typeface="Calibri" pitchFamily="34" charset="0"/>
                <a:ea typeface="Calibri" pitchFamily="34" charset="-122"/>
                <a:cs typeface="Calibri" pitchFamily="34" charset="-120"/>
              </a:rPr>
              <a:t>He marries Elizabeth, sends her to their room alone, and patrols the house with a pistol looking for an attacker who was never coming for him.</a:t>
            </a:r>
            <a:endParaRPr lang="en-US" sz="1250" dirty="0"/>
          </a:p>
        </p:txBody>
      </p:sp>
      <p:sp>
        <p:nvSpPr>
          <p:cNvPr id="21" name="Shape 19"/>
          <p:cNvSpPr/>
          <p:nvPr/>
        </p:nvSpPr>
        <p:spPr>
          <a:xfrm>
            <a:off x="640080" y="5303520"/>
            <a:ext cx="10911535" cy="859536"/>
          </a:xfrm>
          <a:prstGeom prst="roundRect">
            <a:avLst>
              <a:gd name="adj" fmla="val 8511"/>
            </a:avLst>
          </a:prstGeom>
          <a:solidFill>
            <a:srgbClr val="F3EEE5"/>
          </a:solidFill>
          <a:ln w="12700">
            <a:solidFill>
              <a:srgbClr val="F3EEE5"/>
            </a:solidFill>
            <a:prstDash val="solid"/>
          </a:ln>
        </p:spPr>
        <p:txBody>
          <a:bodyPr/>
          <a:lstStyle/>
          <a:p>
            <a:endParaRPr lang="en-US"/>
          </a:p>
        </p:txBody>
      </p:sp>
      <p:sp>
        <p:nvSpPr>
          <p:cNvPr id="22" name="Text 20"/>
          <p:cNvSpPr txBox="1"/>
          <p:nvPr/>
        </p:nvSpPr>
        <p:spPr>
          <a:xfrm>
            <a:off x="914400" y="5303520"/>
            <a:ext cx="1234440" cy="859536"/>
          </a:xfrm>
          <a:prstGeom prst="rect">
            <a:avLst/>
          </a:prstGeom>
          <a:noFill/>
          <a:ln/>
        </p:spPr>
        <p:txBody>
          <a:bodyPr wrap="square" lIns="0" tIns="0" rIns="0" bIns="0" rtlCol="0" anchor="ctr"/>
          <a:lstStyle/>
          <a:p>
            <a:pPr marL="0" indent="0">
              <a:buNone/>
            </a:pPr>
            <a:r>
              <a:rPr lang="en-US" sz="1350" b="1" dirty="0">
                <a:solidFill>
                  <a:srgbClr val="35708C"/>
                </a:solidFill>
                <a:latin typeface="Cambria" pitchFamily="34" charset="0"/>
                <a:ea typeface="Cambria" pitchFamily="34" charset="-122"/>
                <a:cs typeface="Cambria" pitchFamily="34" charset="-120"/>
              </a:rPr>
              <a:t>ch. VII · Walton</a:t>
            </a:r>
            <a:endParaRPr lang="en-US" sz="1350" dirty="0"/>
          </a:p>
        </p:txBody>
      </p:sp>
      <p:sp>
        <p:nvSpPr>
          <p:cNvPr id="23" name="Text 21"/>
          <p:cNvSpPr txBox="1"/>
          <p:nvPr/>
        </p:nvSpPr>
        <p:spPr>
          <a:xfrm>
            <a:off x="2286000" y="5303520"/>
            <a:ext cx="2468880" cy="859536"/>
          </a:xfrm>
          <a:prstGeom prst="rect">
            <a:avLst/>
          </a:prstGeom>
          <a:noFill/>
          <a:ln/>
        </p:spPr>
        <p:txBody>
          <a:bodyPr wrap="square" lIns="0" tIns="0" rIns="0" bIns="0" rtlCol="0" anchor="ctr"/>
          <a:lstStyle/>
          <a:p>
            <a:pPr marL="0" indent="0">
              <a:buNone/>
            </a:pPr>
            <a:r>
              <a:rPr lang="en-US" sz="1500" b="1" dirty="0">
                <a:solidFill>
                  <a:srgbClr val="101822"/>
                </a:solidFill>
                <a:latin typeface="Cambria" pitchFamily="34" charset="0"/>
                <a:ea typeface="Cambria" pitchFamily="34" charset="-122"/>
                <a:cs typeface="Cambria" pitchFamily="34" charset="-120"/>
              </a:rPr>
              <a:t>The pursuit reverses</a:t>
            </a:r>
            <a:endParaRPr lang="en-US" sz="1500" dirty="0"/>
          </a:p>
        </p:txBody>
      </p:sp>
      <p:sp>
        <p:nvSpPr>
          <p:cNvPr id="24" name="Text 22"/>
          <p:cNvSpPr txBox="1"/>
          <p:nvPr/>
        </p:nvSpPr>
        <p:spPr>
          <a:xfrm>
            <a:off x="4892040" y="5303520"/>
            <a:ext cx="6309360" cy="859536"/>
          </a:xfrm>
          <a:prstGeom prst="rect">
            <a:avLst/>
          </a:prstGeom>
          <a:noFill/>
          <a:ln/>
        </p:spPr>
        <p:txBody>
          <a:bodyPr wrap="square" lIns="0" tIns="0" rIns="0" bIns="0" rtlCol="0" anchor="ctr"/>
          <a:lstStyle/>
          <a:p>
            <a:pPr marL="0" indent="0">
              <a:lnSpc>
                <a:spcPts val="1600"/>
              </a:lnSpc>
              <a:buNone/>
            </a:pPr>
            <a:r>
              <a:rPr lang="en-US" sz="1250" dirty="0">
                <a:solidFill>
                  <a:srgbClr val="5A6472"/>
                </a:solidFill>
                <a:latin typeface="Calibri" pitchFamily="34" charset="0"/>
                <a:ea typeface="Calibri" pitchFamily="34" charset="-122"/>
                <a:cs typeface="Calibri" pitchFamily="34" charset="-120"/>
              </a:rPr>
              <a:t>His father dies. Victor becomes the hunter and is led north across the ice by a quarry that leaves him food. He dies on Walton’s ship; the creature comes aboard to speak over his body.</a:t>
            </a:r>
            <a:endParaRPr lang="en-US" sz="1250" dirty="0"/>
          </a:p>
        </p:txBody>
      </p:sp>
      <p:sp>
        <p:nvSpPr>
          <p:cNvPr id="25" name="Text 23"/>
          <p:cNvSpPr txBox="1"/>
          <p:nvPr/>
        </p:nvSpPr>
        <p:spPr>
          <a:xfrm>
            <a:off x="670255" y="6182650"/>
            <a:ext cx="10881360" cy="384048"/>
          </a:xfrm>
          <a:prstGeom prst="rect">
            <a:avLst/>
          </a:prstGeom>
          <a:noFill/>
          <a:ln/>
        </p:spPr>
        <p:txBody>
          <a:bodyPr wrap="square" lIns="0" tIns="0" rIns="0" bIns="0" rtlCol="0" anchor="ctr"/>
          <a:lstStyle/>
          <a:p>
            <a:pPr marL="0" indent="0">
              <a:buNone/>
            </a:pPr>
            <a:r>
              <a:rPr lang="en-US" sz="1500" i="1" dirty="0">
                <a:solidFill>
                  <a:srgbClr val="35708C"/>
                </a:solidFill>
                <a:latin typeface="Cambria" pitchFamily="34" charset="0"/>
                <a:ea typeface="Cambria" pitchFamily="34" charset="-122"/>
                <a:cs typeface="Cambria" pitchFamily="34" charset="-120"/>
              </a:rPr>
              <a:t>Everyone who dies in this volume dies because Victor will not say what he knows to a single other person.</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A6472"/>
                </a:solidFill>
                <a:latin typeface="Calibri" pitchFamily="34" charset="0"/>
                <a:ea typeface="Calibri" pitchFamily="34" charset="-122"/>
                <a:cs typeface="Calibri" pitchFamily="34" charset="-120"/>
              </a:rPr>
              <a:t>VOL III, CH. III · CLOSE READING</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01822"/>
                </a:solidFill>
                <a:latin typeface="Cambria" pitchFamily="34" charset="0"/>
                <a:ea typeface="Cambria" pitchFamily="34" charset="-122"/>
                <a:cs typeface="Cambria" pitchFamily="34" charset="-120"/>
              </a:rPr>
              <a:t>Why he destroys her — read the reasons exactly</a:t>
            </a:r>
            <a:endParaRPr lang="en-US" sz="3000" dirty="0"/>
          </a:p>
        </p:txBody>
      </p:sp>
      <p:sp>
        <p:nvSpPr>
          <p:cNvPr id="5" name="Shape 3"/>
          <p:cNvSpPr/>
          <p:nvPr/>
        </p:nvSpPr>
        <p:spPr>
          <a:xfrm>
            <a:off x="640080" y="1572768"/>
            <a:ext cx="5943600" cy="2880360"/>
          </a:xfrm>
          <a:prstGeom prst="roundRect">
            <a:avLst>
              <a:gd name="adj" fmla="val 2540"/>
            </a:avLst>
          </a:prstGeom>
          <a:solidFill>
            <a:srgbClr val="101822"/>
          </a:solidFill>
          <a:ln w="12700">
            <a:solidFill>
              <a:srgbClr val="101822"/>
            </a:solidFill>
            <a:prstDash val="solid"/>
          </a:ln>
        </p:spPr>
        <p:txBody>
          <a:bodyPr/>
          <a:lstStyle/>
          <a:p>
            <a:endParaRPr lang="en-US"/>
          </a:p>
        </p:txBody>
      </p:sp>
      <p:sp>
        <p:nvSpPr>
          <p:cNvPr id="6" name="Text 4"/>
          <p:cNvSpPr txBox="1"/>
          <p:nvPr/>
        </p:nvSpPr>
        <p:spPr>
          <a:xfrm>
            <a:off x="1005840" y="1773936"/>
            <a:ext cx="5212080" cy="292608"/>
          </a:xfrm>
          <a:prstGeom prst="rect">
            <a:avLst/>
          </a:prstGeom>
          <a:noFill/>
          <a:ln/>
        </p:spPr>
        <p:txBody>
          <a:bodyPr wrap="square" lIns="0" tIns="0" rIns="0" bIns="0" rtlCol="0" anchor="ctr"/>
          <a:lstStyle/>
          <a:p>
            <a:pPr marL="0" indent="0">
              <a:buNone/>
            </a:pPr>
            <a:r>
              <a:rPr lang="en-US" sz="1150" b="1" kern="0" spc="140" dirty="0">
                <a:solidFill>
                  <a:srgbClr val="E08A6E"/>
                </a:solidFill>
                <a:latin typeface="Calibri" pitchFamily="34" charset="0"/>
                <a:ea typeface="Calibri" pitchFamily="34" charset="-122"/>
                <a:cs typeface="Calibri" pitchFamily="34" charset="-120"/>
              </a:rPr>
              <a:t>Victor’s four reasons, in his own order</a:t>
            </a:r>
            <a:endParaRPr lang="en-US" sz="1150" dirty="0"/>
          </a:p>
        </p:txBody>
      </p:sp>
      <p:sp>
        <p:nvSpPr>
          <p:cNvPr id="7" name="Text 5"/>
          <p:cNvSpPr txBox="1"/>
          <p:nvPr/>
        </p:nvSpPr>
        <p:spPr>
          <a:xfrm>
            <a:off x="1005840" y="2194560"/>
            <a:ext cx="5257800" cy="210312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350" dirty="0">
                <a:solidFill>
                  <a:srgbClr val="EDE5D8"/>
                </a:solidFill>
                <a:latin typeface="Calibri" pitchFamily="34" charset="0"/>
                <a:ea typeface="Calibri" pitchFamily="34" charset="-122"/>
                <a:cs typeface="Calibri" pitchFamily="34" charset="-120"/>
              </a:rPr>
              <a:t>She might refuse the bargain — she was not party to it.</a:t>
            </a:r>
            <a:endParaRPr lang="en-US" sz="1350" dirty="0"/>
          </a:p>
          <a:p>
            <a:pPr marL="342900" indent="-342900">
              <a:lnSpc>
                <a:spcPts val="2000"/>
              </a:lnSpc>
              <a:spcAft>
                <a:spcPts val="800"/>
              </a:spcAft>
              <a:buSzPct val="100000"/>
              <a:buChar char="•"/>
            </a:pPr>
            <a:r>
              <a:rPr lang="en-US" sz="1350" dirty="0">
                <a:solidFill>
                  <a:srgbClr val="EDE5D8"/>
                </a:solidFill>
                <a:latin typeface="Calibri" pitchFamily="34" charset="0"/>
                <a:ea typeface="Calibri" pitchFamily="34" charset="-122"/>
                <a:cs typeface="Calibri" pitchFamily="34" charset="-120"/>
              </a:rPr>
              <a:t>She might find him repulsive and turn to human company instead.</a:t>
            </a:r>
            <a:endParaRPr lang="en-US" sz="1350" dirty="0"/>
          </a:p>
          <a:p>
            <a:pPr marL="342900" indent="-342900">
              <a:lnSpc>
                <a:spcPts val="2000"/>
              </a:lnSpc>
              <a:spcAft>
                <a:spcPts val="800"/>
              </a:spcAft>
              <a:buSzPct val="100000"/>
              <a:buChar char="•"/>
            </a:pPr>
            <a:r>
              <a:rPr lang="en-US" sz="1350" dirty="0">
                <a:solidFill>
                  <a:srgbClr val="EDE5D8"/>
                </a:solidFill>
                <a:latin typeface="Calibri" pitchFamily="34" charset="0"/>
                <a:ea typeface="Calibri" pitchFamily="34" charset="-122"/>
                <a:cs typeface="Calibri" pitchFamily="34" charset="-120"/>
              </a:rPr>
              <a:t>She might be worse than he is — malignant by her own nature.</a:t>
            </a:r>
            <a:endParaRPr lang="en-US" sz="1350" dirty="0"/>
          </a:p>
          <a:p>
            <a:pPr marL="342900" indent="-342900">
              <a:lnSpc>
                <a:spcPts val="2000"/>
              </a:lnSpc>
              <a:spcAft>
                <a:spcPts val="800"/>
              </a:spcAft>
              <a:buSzPct val="100000"/>
              <a:buChar char="•"/>
            </a:pPr>
            <a:r>
              <a:rPr lang="en-US" sz="1350" dirty="0">
                <a:solidFill>
                  <a:srgbClr val="EDE5D8"/>
                </a:solidFill>
                <a:latin typeface="Calibri" pitchFamily="34" charset="0"/>
                <a:ea typeface="Calibri" pitchFamily="34" charset="-122"/>
                <a:cs typeface="Calibri" pitchFamily="34" charset="-120"/>
              </a:rPr>
              <a:t>They might have children, and a race of them could threaten humanity.</a:t>
            </a:r>
            <a:endParaRPr lang="en-US" sz="1350" dirty="0"/>
          </a:p>
        </p:txBody>
      </p:sp>
      <p:sp>
        <p:nvSpPr>
          <p:cNvPr id="8" name="Shape 6"/>
          <p:cNvSpPr/>
          <p:nvPr/>
        </p:nvSpPr>
        <p:spPr>
          <a:xfrm>
            <a:off x="6903720" y="1572768"/>
            <a:ext cx="4617720" cy="1371600"/>
          </a:xfrm>
          <a:prstGeom prst="roundRect">
            <a:avLst>
              <a:gd name="adj" fmla="val 5333"/>
            </a:avLst>
          </a:prstGeom>
          <a:solidFill>
            <a:srgbClr val="F3EEE5"/>
          </a:solidFill>
          <a:ln w="12700">
            <a:solidFill>
              <a:srgbClr val="F3EEE5"/>
            </a:solidFill>
            <a:prstDash val="solid"/>
          </a:ln>
        </p:spPr>
        <p:txBody>
          <a:bodyPr/>
          <a:lstStyle/>
          <a:p>
            <a:endParaRPr lang="en-US"/>
          </a:p>
        </p:txBody>
      </p:sp>
      <p:sp>
        <p:nvSpPr>
          <p:cNvPr id="9" name="Text 7"/>
          <p:cNvSpPr txBox="1"/>
          <p:nvPr/>
        </p:nvSpPr>
        <p:spPr>
          <a:xfrm>
            <a:off x="7178040" y="1719072"/>
            <a:ext cx="4069080" cy="310896"/>
          </a:xfrm>
          <a:prstGeom prst="rect">
            <a:avLst/>
          </a:prstGeom>
          <a:noFill/>
          <a:ln/>
        </p:spPr>
        <p:txBody>
          <a:bodyPr wrap="square" lIns="0" tIns="0" rIns="0" bIns="0" rtlCol="0" anchor="ctr"/>
          <a:lstStyle/>
          <a:p>
            <a:pPr marL="0" indent="0">
              <a:buNone/>
            </a:pPr>
            <a:r>
              <a:rPr lang="en-US" sz="1450" b="1" dirty="0">
                <a:solidFill>
                  <a:srgbClr val="101822"/>
                </a:solidFill>
                <a:latin typeface="Cambria" pitchFamily="34" charset="0"/>
                <a:ea typeface="Cambria" pitchFamily="34" charset="-122"/>
                <a:cs typeface="Cambria" pitchFamily="34" charset="-120"/>
              </a:rPr>
              <a:t>Reason one is a moral insight</a:t>
            </a:r>
            <a:endParaRPr lang="en-US" sz="1450" dirty="0"/>
          </a:p>
        </p:txBody>
      </p:sp>
      <p:sp>
        <p:nvSpPr>
          <p:cNvPr id="10" name="Text 8"/>
          <p:cNvSpPr txBox="1"/>
          <p:nvPr/>
        </p:nvSpPr>
        <p:spPr>
          <a:xfrm>
            <a:off x="7178040" y="2066544"/>
            <a:ext cx="4069080" cy="777240"/>
          </a:xfrm>
          <a:prstGeom prst="rect">
            <a:avLst/>
          </a:prstGeom>
          <a:noFill/>
          <a:ln/>
        </p:spPr>
        <p:txBody>
          <a:bodyPr wrap="square" lIns="0" tIns="0" rIns="0" bIns="0" rtlCol="0" anchor="ctr"/>
          <a:lstStyle/>
          <a:p>
            <a:pPr marL="0" indent="0">
              <a:lnSpc>
                <a:spcPts val="1500"/>
              </a:lnSpc>
              <a:buNone/>
            </a:pPr>
            <a:r>
              <a:rPr lang="en-US" sz="1150" dirty="0">
                <a:solidFill>
                  <a:srgbClr val="5A6472"/>
                </a:solidFill>
                <a:latin typeface="Calibri" pitchFamily="34" charset="0"/>
                <a:ea typeface="Calibri" pitchFamily="34" charset="-122"/>
                <a:cs typeface="Calibri" pitchFamily="34" charset="-120"/>
              </a:rPr>
              <a:t>He has recognised that the second creature would be a person with her own will, who could not be bound by a contract made about her. This is correct, and it is the only time he thinks this way.</a:t>
            </a:r>
            <a:endParaRPr lang="en-US" sz="1150" dirty="0"/>
          </a:p>
        </p:txBody>
      </p:sp>
      <p:sp>
        <p:nvSpPr>
          <p:cNvPr id="11" name="Shape 9"/>
          <p:cNvSpPr/>
          <p:nvPr/>
        </p:nvSpPr>
        <p:spPr>
          <a:xfrm>
            <a:off x="6903720" y="3063240"/>
            <a:ext cx="4617720" cy="1371600"/>
          </a:xfrm>
          <a:prstGeom prst="roundRect">
            <a:avLst>
              <a:gd name="adj" fmla="val 5333"/>
            </a:avLst>
          </a:prstGeom>
          <a:solidFill>
            <a:srgbClr val="E6EEF3"/>
          </a:solidFill>
          <a:ln w="12700">
            <a:solidFill>
              <a:srgbClr val="E6EEF3"/>
            </a:solidFill>
            <a:prstDash val="solid"/>
          </a:ln>
        </p:spPr>
        <p:txBody>
          <a:bodyPr/>
          <a:lstStyle/>
          <a:p>
            <a:endParaRPr lang="en-US"/>
          </a:p>
        </p:txBody>
      </p:sp>
      <p:sp>
        <p:nvSpPr>
          <p:cNvPr id="12" name="Text 10"/>
          <p:cNvSpPr txBox="1"/>
          <p:nvPr/>
        </p:nvSpPr>
        <p:spPr>
          <a:xfrm>
            <a:off x="7178040" y="3209544"/>
            <a:ext cx="4069080" cy="310896"/>
          </a:xfrm>
          <a:prstGeom prst="rect">
            <a:avLst/>
          </a:prstGeom>
          <a:noFill/>
          <a:ln/>
        </p:spPr>
        <p:txBody>
          <a:bodyPr wrap="square" lIns="0" tIns="0" rIns="0" bIns="0" rtlCol="0" anchor="ctr"/>
          <a:lstStyle/>
          <a:p>
            <a:pPr marL="0" indent="0">
              <a:buNone/>
            </a:pPr>
            <a:r>
              <a:rPr lang="en-US" sz="1450" b="1" dirty="0">
                <a:solidFill>
                  <a:srgbClr val="C05A3E"/>
                </a:solidFill>
                <a:latin typeface="Cambria" pitchFamily="34" charset="0"/>
                <a:ea typeface="Cambria" pitchFamily="34" charset="-122"/>
                <a:cs typeface="Cambria" pitchFamily="34" charset="-120"/>
              </a:rPr>
              <a:t>And he uses it to justify killing her</a:t>
            </a:r>
            <a:endParaRPr lang="en-US" sz="1450" dirty="0"/>
          </a:p>
        </p:txBody>
      </p:sp>
      <p:sp>
        <p:nvSpPr>
          <p:cNvPr id="13" name="Text 11"/>
          <p:cNvSpPr txBox="1"/>
          <p:nvPr/>
        </p:nvSpPr>
        <p:spPr>
          <a:xfrm>
            <a:off x="7178040" y="3557016"/>
            <a:ext cx="4069080" cy="777240"/>
          </a:xfrm>
          <a:prstGeom prst="rect">
            <a:avLst/>
          </a:prstGeom>
          <a:noFill/>
          <a:ln/>
        </p:spPr>
        <p:txBody>
          <a:bodyPr wrap="square" lIns="0" tIns="0" rIns="0" bIns="0" rtlCol="0" anchor="ctr"/>
          <a:lstStyle/>
          <a:p>
            <a:pPr marL="0" indent="0">
              <a:lnSpc>
                <a:spcPts val="1500"/>
              </a:lnSpc>
              <a:buNone/>
            </a:pPr>
            <a:r>
              <a:rPr lang="en-US" sz="1150" dirty="0">
                <a:solidFill>
                  <a:srgbClr val="5A6472"/>
                </a:solidFill>
                <a:latin typeface="Calibri" pitchFamily="34" charset="0"/>
                <a:ea typeface="Calibri" pitchFamily="34" charset="-122"/>
                <a:cs typeface="Calibri" pitchFamily="34" charset="-120"/>
              </a:rPr>
              <a:t>The recognition of her autonomy is deployed as grounds for destruction rather than as grounds for asking her. He grants her personhood exactly far enough to make her dangerous.</a:t>
            </a:r>
            <a:endParaRPr lang="en-US" sz="1150" dirty="0"/>
          </a:p>
        </p:txBody>
      </p:sp>
      <p:sp>
        <p:nvSpPr>
          <p:cNvPr id="14" name="Shape 12"/>
          <p:cNvSpPr/>
          <p:nvPr/>
        </p:nvSpPr>
        <p:spPr>
          <a:xfrm>
            <a:off x="6903720" y="4553712"/>
            <a:ext cx="4617720" cy="1371600"/>
          </a:xfrm>
          <a:prstGeom prst="roundRect">
            <a:avLst>
              <a:gd name="adj" fmla="val 5333"/>
            </a:avLst>
          </a:prstGeom>
          <a:solidFill>
            <a:srgbClr val="F3EEE5"/>
          </a:solidFill>
          <a:ln w="12700">
            <a:solidFill>
              <a:srgbClr val="F3EEE5"/>
            </a:solidFill>
            <a:prstDash val="solid"/>
          </a:ln>
        </p:spPr>
        <p:txBody>
          <a:bodyPr/>
          <a:lstStyle/>
          <a:p>
            <a:endParaRPr lang="en-US"/>
          </a:p>
        </p:txBody>
      </p:sp>
      <p:sp>
        <p:nvSpPr>
          <p:cNvPr id="15" name="Text 13"/>
          <p:cNvSpPr txBox="1"/>
          <p:nvPr/>
        </p:nvSpPr>
        <p:spPr>
          <a:xfrm>
            <a:off x="7178040" y="4700016"/>
            <a:ext cx="4069080" cy="310896"/>
          </a:xfrm>
          <a:prstGeom prst="rect">
            <a:avLst/>
          </a:prstGeom>
          <a:noFill/>
          <a:ln/>
        </p:spPr>
        <p:txBody>
          <a:bodyPr wrap="square" lIns="0" tIns="0" rIns="0" bIns="0" rtlCol="0" anchor="ctr"/>
          <a:lstStyle/>
          <a:p>
            <a:pPr marL="0" indent="0">
              <a:buNone/>
            </a:pPr>
            <a:r>
              <a:rPr lang="en-US" sz="1450" b="1" dirty="0">
                <a:solidFill>
                  <a:srgbClr val="101822"/>
                </a:solidFill>
                <a:latin typeface="Cambria" pitchFamily="34" charset="0"/>
                <a:ea typeface="Cambria" pitchFamily="34" charset="-122"/>
                <a:cs typeface="Cambria" pitchFamily="34" charset="-120"/>
              </a:rPr>
              <a:t>He does it in front of him</a:t>
            </a:r>
            <a:endParaRPr lang="en-US" sz="1450" dirty="0"/>
          </a:p>
        </p:txBody>
      </p:sp>
      <p:sp>
        <p:nvSpPr>
          <p:cNvPr id="16" name="Text 14"/>
          <p:cNvSpPr txBox="1"/>
          <p:nvPr/>
        </p:nvSpPr>
        <p:spPr>
          <a:xfrm>
            <a:off x="7178040" y="5047488"/>
            <a:ext cx="4069080" cy="777240"/>
          </a:xfrm>
          <a:prstGeom prst="rect">
            <a:avLst/>
          </a:prstGeom>
          <a:noFill/>
          <a:ln/>
        </p:spPr>
        <p:txBody>
          <a:bodyPr wrap="square" lIns="0" tIns="0" rIns="0" bIns="0" rtlCol="0" anchor="ctr"/>
          <a:lstStyle/>
          <a:p>
            <a:pPr marL="0" indent="0">
              <a:lnSpc>
                <a:spcPts val="1500"/>
              </a:lnSpc>
              <a:buNone/>
            </a:pPr>
            <a:r>
              <a:rPr lang="en-US" sz="1150" dirty="0">
                <a:solidFill>
                  <a:srgbClr val="5A6472"/>
                </a:solidFill>
                <a:latin typeface="Calibri" pitchFamily="34" charset="0"/>
                <a:ea typeface="Calibri" pitchFamily="34" charset="-122"/>
                <a:cs typeface="Calibri" pitchFamily="34" charset="-120"/>
              </a:rPr>
              <a:t>The creature is at the window. Victor sees him there and tears the work apart anyway. This is not a private decision quietly taken; it is a demonstration.</a:t>
            </a:r>
            <a:endParaRPr lang="en-US" sz="1150" dirty="0"/>
          </a:p>
        </p:txBody>
      </p:sp>
      <p:sp>
        <p:nvSpPr>
          <p:cNvPr id="17" name="Shape 15"/>
          <p:cNvSpPr/>
          <p:nvPr/>
        </p:nvSpPr>
        <p:spPr>
          <a:xfrm>
            <a:off x="640080" y="4617720"/>
            <a:ext cx="5943600" cy="1143000"/>
          </a:xfrm>
          <a:prstGeom prst="roundRect">
            <a:avLst>
              <a:gd name="adj" fmla="val 6400"/>
            </a:avLst>
          </a:prstGeom>
          <a:solidFill>
            <a:srgbClr val="F3EEE5"/>
          </a:solidFill>
          <a:ln w="12700">
            <a:solidFill>
              <a:srgbClr val="F3EEE5"/>
            </a:solidFill>
            <a:prstDash val="solid"/>
          </a:ln>
        </p:spPr>
        <p:txBody>
          <a:bodyPr/>
          <a:lstStyle/>
          <a:p>
            <a:endParaRPr lang="en-US"/>
          </a:p>
        </p:txBody>
      </p:sp>
      <p:sp>
        <p:nvSpPr>
          <p:cNvPr id="18" name="Text 16"/>
          <p:cNvSpPr txBox="1"/>
          <p:nvPr/>
        </p:nvSpPr>
        <p:spPr>
          <a:xfrm>
            <a:off x="1005840" y="4800600"/>
            <a:ext cx="5212080" cy="822960"/>
          </a:xfrm>
          <a:prstGeom prst="rect">
            <a:avLst/>
          </a:prstGeom>
          <a:noFill/>
          <a:ln/>
        </p:spPr>
        <p:txBody>
          <a:bodyPr wrap="square" lIns="0" tIns="0" rIns="0" bIns="0" rtlCol="0" anchor="ctr"/>
          <a:lstStyle/>
          <a:p>
            <a:pPr marL="0" indent="0">
              <a:lnSpc>
                <a:spcPts val="1900"/>
              </a:lnSpc>
              <a:buNone/>
            </a:pPr>
            <a:r>
              <a:rPr lang="en-US" sz="1400" dirty="0">
                <a:solidFill>
                  <a:srgbClr val="101822"/>
                </a:solidFill>
                <a:latin typeface="Cambria" pitchFamily="34" charset="0"/>
                <a:ea typeface="Cambria" pitchFamily="34" charset="-122"/>
                <a:cs typeface="Cambria" pitchFamily="34" charset="-120"/>
              </a:rPr>
              <a:t>Victor’s reasons good ones? If you find yourself agreeing with him about the risk, notice that you have just agreed that a being should be destroyed for what she might choose.</a:t>
            </a:r>
            <a:endParaRPr lang="en-US" sz="1400" dirty="0"/>
          </a:p>
        </p:txBody>
      </p:sp>
      <p:sp>
        <p:nvSpPr>
          <p:cNvPr id="19" name="Text 17"/>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A6472"/>
                </a:solidFill>
                <a:latin typeface="Calibri" pitchFamily="34" charset="0"/>
                <a:ea typeface="Calibri" pitchFamily="34" charset="-122"/>
                <a:cs typeface="Calibri" pitchFamily="34" charset="-120"/>
              </a:rPr>
              <a:t>Shelley, Frankenstein (1818), Vol III, ch. III.</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A6472"/>
                </a:solidFill>
                <a:latin typeface="Calibri" pitchFamily="34" charset="0"/>
                <a:ea typeface="Calibri" pitchFamily="34" charset="-122"/>
                <a:cs typeface="Calibri" pitchFamily="34" charset="-120"/>
              </a:rPr>
              <a:t>VOL III, CH. III AND VI</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01822"/>
                </a:solidFill>
                <a:latin typeface="Cambria" pitchFamily="34" charset="0"/>
                <a:ea typeface="Cambria" pitchFamily="34" charset="-122"/>
                <a:cs typeface="Cambria" pitchFamily="34" charset="-120"/>
              </a:rPr>
              <a:t>The most consequential misreading in the novel</a:t>
            </a:r>
            <a:endParaRPr lang="en-US" sz="3000" dirty="0"/>
          </a:p>
        </p:txBody>
      </p:sp>
      <p:sp>
        <p:nvSpPr>
          <p:cNvPr id="5" name="Shape 3"/>
          <p:cNvSpPr/>
          <p:nvPr/>
        </p:nvSpPr>
        <p:spPr>
          <a:xfrm>
            <a:off x="640080" y="1627632"/>
            <a:ext cx="5303520" cy="1691640"/>
          </a:xfrm>
          <a:prstGeom prst="roundRect">
            <a:avLst>
              <a:gd name="adj" fmla="val 4324"/>
            </a:avLst>
          </a:prstGeom>
          <a:solidFill>
            <a:srgbClr val="101822"/>
          </a:solidFill>
          <a:ln w="12700">
            <a:solidFill>
              <a:srgbClr val="101822"/>
            </a:solidFill>
            <a:prstDash val="solid"/>
          </a:ln>
        </p:spPr>
        <p:txBody>
          <a:bodyPr/>
          <a:lstStyle/>
          <a:p>
            <a:endParaRPr lang="en-US"/>
          </a:p>
        </p:txBody>
      </p:sp>
      <p:sp>
        <p:nvSpPr>
          <p:cNvPr id="6" name="Text 4"/>
          <p:cNvSpPr txBox="1"/>
          <p:nvPr/>
        </p:nvSpPr>
        <p:spPr>
          <a:xfrm>
            <a:off x="1005840" y="1874520"/>
            <a:ext cx="4572000" cy="777240"/>
          </a:xfrm>
          <a:prstGeom prst="rect">
            <a:avLst/>
          </a:prstGeom>
          <a:noFill/>
          <a:ln/>
        </p:spPr>
        <p:txBody>
          <a:bodyPr wrap="square" lIns="0" tIns="0" rIns="0" bIns="0" rtlCol="0" anchor="ctr"/>
          <a:lstStyle/>
          <a:p>
            <a:pPr marL="0" indent="0">
              <a:lnSpc>
                <a:spcPts val="2800"/>
              </a:lnSpc>
              <a:buNone/>
            </a:pPr>
            <a:r>
              <a:rPr lang="en-US" sz="2300" b="1" dirty="0">
                <a:solidFill>
                  <a:srgbClr val="EDE5D8"/>
                </a:solidFill>
                <a:latin typeface="Cambria" pitchFamily="34" charset="0"/>
                <a:ea typeface="Cambria" pitchFamily="34" charset="-122"/>
                <a:cs typeface="Cambria" pitchFamily="34" charset="-120"/>
              </a:rPr>
              <a:t>“I will be with you on your wedding-night”</a:t>
            </a:r>
            <a:endParaRPr lang="en-US" sz="2300" dirty="0"/>
          </a:p>
        </p:txBody>
      </p:sp>
      <p:sp>
        <p:nvSpPr>
          <p:cNvPr id="7" name="Text 5"/>
          <p:cNvSpPr txBox="1"/>
          <p:nvPr/>
        </p:nvSpPr>
        <p:spPr>
          <a:xfrm>
            <a:off x="1005840" y="2724912"/>
            <a:ext cx="4572000" cy="365760"/>
          </a:xfrm>
          <a:prstGeom prst="rect">
            <a:avLst/>
          </a:prstGeom>
          <a:noFill/>
          <a:ln/>
        </p:spPr>
        <p:txBody>
          <a:bodyPr wrap="square" lIns="0" tIns="0" rIns="0" bIns="0" rtlCol="0" anchor="ctr"/>
          <a:lstStyle/>
          <a:p>
            <a:pPr marL="0" indent="0">
              <a:buNone/>
            </a:pPr>
            <a:r>
              <a:rPr lang="en-US" sz="1200" dirty="0">
                <a:solidFill>
                  <a:srgbClr val="9CC5D6"/>
                </a:solidFill>
                <a:latin typeface="Calibri" pitchFamily="34" charset="0"/>
                <a:ea typeface="Calibri" pitchFamily="34" charset="-122"/>
                <a:cs typeface="Calibri" pitchFamily="34" charset="-120"/>
              </a:rPr>
              <a:t>Vol III, ch. III — spoken as Victor destroys the female.</a:t>
            </a:r>
            <a:endParaRPr lang="en-US" sz="1200" dirty="0"/>
          </a:p>
        </p:txBody>
      </p:sp>
      <p:sp>
        <p:nvSpPr>
          <p:cNvPr id="8" name="Shape 6"/>
          <p:cNvSpPr/>
          <p:nvPr/>
        </p:nvSpPr>
        <p:spPr>
          <a:xfrm>
            <a:off x="6263640" y="1627632"/>
            <a:ext cx="5257800" cy="1691640"/>
          </a:xfrm>
          <a:prstGeom prst="roundRect">
            <a:avLst>
              <a:gd name="adj" fmla="val 4324"/>
            </a:avLst>
          </a:prstGeom>
          <a:solidFill>
            <a:srgbClr val="F3EEE5"/>
          </a:solidFill>
          <a:ln w="12700">
            <a:solidFill>
              <a:srgbClr val="F3EEE5"/>
            </a:solidFill>
            <a:prstDash val="solid"/>
          </a:ln>
        </p:spPr>
        <p:txBody>
          <a:bodyPr/>
          <a:lstStyle/>
          <a:p>
            <a:endParaRPr lang="en-US"/>
          </a:p>
        </p:txBody>
      </p:sp>
      <p:sp>
        <p:nvSpPr>
          <p:cNvPr id="9" name="Text 7"/>
          <p:cNvSpPr txBox="1"/>
          <p:nvPr/>
        </p:nvSpPr>
        <p:spPr>
          <a:xfrm>
            <a:off x="6583680" y="1810512"/>
            <a:ext cx="4617720" cy="292608"/>
          </a:xfrm>
          <a:prstGeom prst="rect">
            <a:avLst/>
          </a:prstGeom>
          <a:noFill/>
          <a:ln/>
        </p:spPr>
        <p:txBody>
          <a:bodyPr wrap="square" lIns="0" tIns="0" rIns="0" bIns="0" rtlCol="0" anchor="ctr"/>
          <a:lstStyle/>
          <a:p>
            <a:pPr marL="0" indent="0">
              <a:buNone/>
            </a:pPr>
            <a:r>
              <a:rPr lang="en-US" sz="1600" b="1" dirty="0">
                <a:solidFill>
                  <a:srgbClr val="101822"/>
                </a:solidFill>
                <a:latin typeface="Cambria" pitchFamily="34" charset="0"/>
                <a:ea typeface="Cambria" pitchFamily="34" charset="-122"/>
                <a:cs typeface="Cambria" pitchFamily="34" charset="-120"/>
              </a:rPr>
              <a:t>What Victor hears</a:t>
            </a:r>
            <a:endParaRPr lang="en-US" sz="1600" dirty="0"/>
          </a:p>
        </p:txBody>
      </p:sp>
      <p:sp>
        <p:nvSpPr>
          <p:cNvPr id="10" name="Text 8"/>
          <p:cNvSpPr txBox="1"/>
          <p:nvPr/>
        </p:nvSpPr>
        <p:spPr>
          <a:xfrm>
            <a:off x="6583680" y="2176272"/>
            <a:ext cx="4617720" cy="1005840"/>
          </a:xfrm>
          <a:prstGeom prst="rect">
            <a:avLst/>
          </a:prstGeom>
          <a:noFill/>
          <a:ln/>
        </p:spPr>
        <p:txBody>
          <a:bodyPr wrap="square" lIns="0" tIns="0" rIns="0" bIns="0" rtlCol="0" anchor="ctr"/>
          <a:lstStyle/>
          <a:p>
            <a:pPr marL="0" indent="0">
              <a:lnSpc>
                <a:spcPts val="1700"/>
              </a:lnSpc>
              <a:buNone/>
            </a:pPr>
            <a:r>
              <a:rPr lang="en-US" sz="1250" dirty="0">
                <a:solidFill>
                  <a:srgbClr val="5A6472"/>
                </a:solidFill>
                <a:latin typeface="Calibri" pitchFamily="34" charset="0"/>
                <a:ea typeface="Calibri" pitchFamily="34" charset="-122"/>
                <a:cs typeface="Calibri" pitchFamily="34" charset="-120"/>
              </a:rPr>
              <a:t>A threat against himself. He arms himself, marries Elizabeth anyway, and on the night sends her to the bedroom alone so that he can search the house for his own assassin.</a:t>
            </a:r>
            <a:endParaRPr lang="en-US" sz="1250" dirty="0"/>
          </a:p>
        </p:txBody>
      </p:sp>
      <p:sp>
        <p:nvSpPr>
          <p:cNvPr id="11" name="Shape 9"/>
          <p:cNvSpPr/>
          <p:nvPr/>
        </p:nvSpPr>
        <p:spPr>
          <a:xfrm>
            <a:off x="640080" y="3520440"/>
            <a:ext cx="5303520" cy="2240280"/>
          </a:xfrm>
          <a:prstGeom prst="roundRect">
            <a:avLst>
              <a:gd name="adj" fmla="val 3265"/>
            </a:avLst>
          </a:prstGeom>
          <a:solidFill>
            <a:srgbClr val="E6EEF3"/>
          </a:solidFill>
          <a:ln w="12700">
            <a:solidFill>
              <a:srgbClr val="E6EEF3"/>
            </a:solidFill>
            <a:prstDash val="solid"/>
          </a:ln>
        </p:spPr>
        <p:txBody>
          <a:bodyPr/>
          <a:lstStyle/>
          <a:p>
            <a:endParaRPr lang="en-US"/>
          </a:p>
        </p:txBody>
      </p:sp>
      <p:sp>
        <p:nvSpPr>
          <p:cNvPr id="12" name="Text 10"/>
          <p:cNvSpPr txBox="1"/>
          <p:nvPr/>
        </p:nvSpPr>
        <p:spPr>
          <a:xfrm>
            <a:off x="1005840" y="3703320"/>
            <a:ext cx="4572000" cy="292608"/>
          </a:xfrm>
          <a:prstGeom prst="rect">
            <a:avLst/>
          </a:prstGeom>
          <a:noFill/>
          <a:ln/>
        </p:spPr>
        <p:txBody>
          <a:bodyPr wrap="square" lIns="0" tIns="0" rIns="0" bIns="0" rtlCol="0" anchor="ctr"/>
          <a:lstStyle/>
          <a:p>
            <a:pPr marL="0" indent="0">
              <a:buNone/>
            </a:pPr>
            <a:r>
              <a:rPr lang="en-US" sz="1600" b="1" dirty="0">
                <a:solidFill>
                  <a:srgbClr val="101822"/>
                </a:solidFill>
                <a:latin typeface="Cambria" pitchFamily="34" charset="0"/>
                <a:ea typeface="Cambria" pitchFamily="34" charset="-122"/>
                <a:cs typeface="Cambria" pitchFamily="34" charset="-120"/>
              </a:rPr>
              <a:t>What was said</a:t>
            </a:r>
            <a:endParaRPr lang="en-US" sz="1600" dirty="0"/>
          </a:p>
        </p:txBody>
      </p:sp>
      <p:sp>
        <p:nvSpPr>
          <p:cNvPr id="13" name="Text 11"/>
          <p:cNvSpPr txBox="1"/>
          <p:nvPr/>
        </p:nvSpPr>
        <p:spPr>
          <a:xfrm>
            <a:off x="1005840" y="4069080"/>
            <a:ext cx="4572000" cy="1508760"/>
          </a:xfrm>
          <a:prstGeom prst="rect">
            <a:avLst/>
          </a:prstGeom>
          <a:noFill/>
          <a:ln/>
        </p:spPr>
        <p:txBody>
          <a:bodyPr wrap="square" lIns="0" tIns="0" rIns="0" bIns="0" rtlCol="0" anchor="ctr"/>
          <a:lstStyle/>
          <a:p>
            <a:pPr marL="0" indent="0">
              <a:lnSpc>
                <a:spcPts val="1700"/>
              </a:lnSpc>
              <a:buNone/>
            </a:pPr>
            <a:r>
              <a:rPr lang="en-US" sz="1250" dirty="0">
                <a:solidFill>
                  <a:srgbClr val="5A6472"/>
                </a:solidFill>
                <a:latin typeface="Calibri" pitchFamily="34" charset="0"/>
                <a:ea typeface="Calibri" pitchFamily="34" charset="-122"/>
                <a:cs typeface="Calibri" pitchFamily="34" charset="-120"/>
              </a:rPr>
              <a:t>A promise of symmetry. Victor destroyed the creature’s companion on the eve of her existence; the creature will destroy Victor’s on the night of the wedding. The sentence is not ambiguous. It is only ambiguous to a man who cannot conceive that anyone else’s loss matters as much as his own.</a:t>
            </a:r>
            <a:endParaRPr lang="en-US" sz="1250" dirty="0"/>
          </a:p>
        </p:txBody>
      </p:sp>
      <p:sp>
        <p:nvSpPr>
          <p:cNvPr id="14" name="Shape 12"/>
          <p:cNvSpPr/>
          <p:nvPr/>
        </p:nvSpPr>
        <p:spPr>
          <a:xfrm>
            <a:off x="6263640" y="3520440"/>
            <a:ext cx="5257800" cy="2240280"/>
          </a:xfrm>
          <a:prstGeom prst="roundRect">
            <a:avLst>
              <a:gd name="adj" fmla="val 3265"/>
            </a:avLst>
          </a:prstGeom>
          <a:solidFill>
            <a:srgbClr val="F3EEE5"/>
          </a:solidFill>
          <a:ln w="12700">
            <a:solidFill>
              <a:srgbClr val="F3EEE5"/>
            </a:solidFill>
            <a:prstDash val="solid"/>
          </a:ln>
        </p:spPr>
        <p:txBody>
          <a:bodyPr/>
          <a:lstStyle/>
          <a:p>
            <a:endParaRPr lang="en-US"/>
          </a:p>
        </p:txBody>
      </p:sp>
      <p:sp>
        <p:nvSpPr>
          <p:cNvPr id="15" name="Text 13"/>
          <p:cNvSpPr txBox="1"/>
          <p:nvPr/>
        </p:nvSpPr>
        <p:spPr>
          <a:xfrm>
            <a:off x="6583680" y="3703320"/>
            <a:ext cx="4617720" cy="292608"/>
          </a:xfrm>
          <a:prstGeom prst="rect">
            <a:avLst/>
          </a:prstGeom>
          <a:noFill/>
          <a:ln/>
        </p:spPr>
        <p:txBody>
          <a:bodyPr wrap="square" lIns="0" tIns="0" rIns="0" bIns="0" rtlCol="0" anchor="ctr"/>
          <a:lstStyle/>
          <a:p>
            <a:pPr marL="0" indent="0">
              <a:buNone/>
            </a:pPr>
            <a:r>
              <a:rPr lang="en-US" sz="1600" b="1" dirty="0">
                <a:solidFill>
                  <a:srgbClr val="101822"/>
                </a:solidFill>
                <a:latin typeface="Cambria" pitchFamily="34" charset="0"/>
                <a:ea typeface="Cambria" pitchFamily="34" charset="-122"/>
                <a:cs typeface="Cambria" pitchFamily="34" charset="-120"/>
              </a:rPr>
              <a:t>Why this belongs in this course</a:t>
            </a:r>
            <a:endParaRPr lang="en-US" sz="1600" dirty="0"/>
          </a:p>
        </p:txBody>
      </p:sp>
      <p:sp>
        <p:nvSpPr>
          <p:cNvPr id="16" name="Text 14"/>
          <p:cNvSpPr txBox="1"/>
          <p:nvPr/>
        </p:nvSpPr>
        <p:spPr>
          <a:xfrm>
            <a:off x="6583680" y="4069080"/>
            <a:ext cx="4617720" cy="1508760"/>
          </a:xfrm>
          <a:prstGeom prst="rect">
            <a:avLst/>
          </a:prstGeom>
          <a:noFill/>
          <a:ln/>
        </p:spPr>
        <p:txBody>
          <a:bodyPr wrap="square" lIns="0" tIns="0" rIns="0" bIns="0" rtlCol="0" anchor="ctr"/>
          <a:lstStyle/>
          <a:p>
            <a:pPr marL="0" indent="0">
              <a:lnSpc>
                <a:spcPts val="1700"/>
              </a:lnSpc>
              <a:buNone/>
            </a:pPr>
            <a:r>
              <a:rPr lang="en-US" sz="1250" dirty="0">
                <a:solidFill>
                  <a:srgbClr val="5A6472"/>
                </a:solidFill>
                <a:latin typeface="Calibri" pitchFamily="34" charset="0"/>
                <a:ea typeface="Calibri" pitchFamily="34" charset="-122"/>
                <a:cs typeface="Calibri" pitchFamily="34" charset="-120"/>
              </a:rPr>
              <a:t>Victor has all the information. The message is in plain language, delivered directly, with the reasoning attached. He still gets it wrong — because he cannot model the other party as having interests structured like his own.</a:t>
            </a:r>
            <a:endParaRPr lang="en-US" sz="1250" dirty="0"/>
          </a:p>
          <a:p>
            <a:pPr marL="0" indent="0">
              <a:lnSpc>
                <a:spcPts val="1700"/>
              </a:lnSpc>
              <a:buNone/>
            </a:pPr>
            <a:endParaRPr lang="en-US" sz="1250" dirty="0"/>
          </a:p>
          <a:p>
            <a:pPr marL="0" indent="0">
              <a:lnSpc>
                <a:spcPts val="1700"/>
              </a:lnSpc>
              <a:buNone/>
            </a:pPr>
            <a:r>
              <a:rPr lang="en-US" sz="1250" dirty="0">
                <a:solidFill>
                  <a:srgbClr val="5A6472"/>
                </a:solidFill>
                <a:latin typeface="Calibri" pitchFamily="34" charset="0"/>
                <a:ea typeface="Calibri" pitchFamily="34" charset="-122"/>
                <a:cs typeface="Calibri" pitchFamily="34" charset="-120"/>
              </a:rPr>
              <a:t>Every failure in this novel is a failure of interpretation by the maker, not a failure of communication by the made.</a:t>
            </a:r>
            <a:endParaRPr lang="en-US" sz="1250" dirty="0"/>
          </a:p>
        </p:txBody>
      </p:sp>
      <p:sp>
        <p:nvSpPr>
          <p:cNvPr id="17" name="Text 15"/>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A6472"/>
                </a:solidFill>
                <a:latin typeface="Calibri" pitchFamily="34" charset="0"/>
                <a:ea typeface="Calibri" pitchFamily="34" charset="-122"/>
                <a:cs typeface="Calibri" pitchFamily="34" charset="-120"/>
              </a:rPr>
              <a:t>Shelley, Frankenstein (1818), Vol III, ch. III and VI.</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A6472"/>
                </a:solidFill>
                <a:latin typeface="Calibri" pitchFamily="34" charset="0"/>
                <a:ea typeface="Calibri" pitchFamily="34" charset="-122"/>
                <a:cs typeface="Calibri" pitchFamily="34" charset="-120"/>
              </a:rPr>
              <a:t>WALTON, IN CONTINUATION</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01822"/>
                </a:solidFill>
                <a:latin typeface="Cambria" pitchFamily="34" charset="0"/>
                <a:ea typeface="Cambria" pitchFamily="34" charset="-122"/>
                <a:cs typeface="Cambria" pitchFamily="34" charset="-120"/>
              </a:rPr>
              <a:t>The last word, and who gets to give it</a:t>
            </a:r>
            <a:endParaRPr lang="en-US" sz="3000" dirty="0"/>
          </a:p>
        </p:txBody>
      </p:sp>
      <p:sp>
        <p:nvSpPr>
          <p:cNvPr id="5" name="Shape 3"/>
          <p:cNvSpPr/>
          <p:nvPr/>
        </p:nvSpPr>
        <p:spPr>
          <a:xfrm>
            <a:off x="640080" y="1554480"/>
            <a:ext cx="10911535" cy="1005840"/>
          </a:xfrm>
          <a:prstGeom prst="roundRect">
            <a:avLst>
              <a:gd name="adj" fmla="val 7273"/>
            </a:avLst>
          </a:prstGeom>
          <a:solidFill>
            <a:srgbClr val="F3EEE5"/>
          </a:solidFill>
          <a:ln w="12700">
            <a:solidFill>
              <a:srgbClr val="F3EEE5"/>
            </a:solidFill>
            <a:prstDash val="solid"/>
          </a:ln>
        </p:spPr>
        <p:txBody>
          <a:bodyPr/>
          <a:lstStyle/>
          <a:p>
            <a:endParaRPr lang="en-US"/>
          </a:p>
        </p:txBody>
      </p:sp>
      <p:sp>
        <p:nvSpPr>
          <p:cNvPr id="6" name="Text 4"/>
          <p:cNvSpPr txBox="1"/>
          <p:nvPr/>
        </p:nvSpPr>
        <p:spPr>
          <a:xfrm>
            <a:off x="960120" y="1554480"/>
            <a:ext cx="2834640" cy="1005840"/>
          </a:xfrm>
          <a:prstGeom prst="rect">
            <a:avLst/>
          </a:prstGeom>
          <a:noFill/>
          <a:ln/>
        </p:spPr>
        <p:txBody>
          <a:bodyPr wrap="square" lIns="0" tIns="0" rIns="0" bIns="0" rtlCol="0" anchor="ctr"/>
          <a:lstStyle/>
          <a:p>
            <a:pPr marL="0" indent="0">
              <a:buNone/>
            </a:pPr>
            <a:r>
              <a:rPr lang="en-US" sz="1550" b="1" dirty="0">
                <a:solidFill>
                  <a:srgbClr val="101822"/>
                </a:solidFill>
                <a:latin typeface="Cambria" pitchFamily="34" charset="0"/>
                <a:ea typeface="Cambria" pitchFamily="34" charset="-122"/>
                <a:cs typeface="Cambria" pitchFamily="34" charset="-120"/>
              </a:rPr>
              <a:t>The pursuit inverts</a:t>
            </a:r>
            <a:endParaRPr lang="en-US" sz="1550" dirty="0"/>
          </a:p>
        </p:txBody>
      </p:sp>
      <p:sp>
        <p:nvSpPr>
          <p:cNvPr id="7" name="Text 5"/>
          <p:cNvSpPr txBox="1"/>
          <p:nvPr/>
        </p:nvSpPr>
        <p:spPr>
          <a:xfrm>
            <a:off x="3977640" y="1554480"/>
            <a:ext cx="7223760" cy="1005840"/>
          </a:xfrm>
          <a:prstGeom prst="rect">
            <a:avLst/>
          </a:prstGeom>
          <a:noFill/>
          <a:ln/>
        </p:spPr>
        <p:txBody>
          <a:bodyPr wrap="square" lIns="0" tIns="0" rIns="0" bIns="0" rtlCol="0" anchor="ctr"/>
          <a:lstStyle/>
          <a:p>
            <a:pPr marL="0" indent="0">
              <a:lnSpc>
                <a:spcPts val="1700"/>
              </a:lnSpc>
              <a:buNone/>
            </a:pPr>
            <a:r>
              <a:rPr lang="en-US" sz="1250" dirty="0">
                <a:solidFill>
                  <a:srgbClr val="5A6472"/>
                </a:solidFill>
                <a:latin typeface="Calibri" pitchFamily="34" charset="0"/>
                <a:ea typeface="Calibri" pitchFamily="34" charset="-122"/>
                <a:cs typeface="Calibri" pitchFamily="34" charset="-120"/>
              </a:rPr>
              <a:t>The creature leads Victor north across the ice, leaving marks and, on occasion, food. He keeps his maker alive in order to be chased by him. It is the closest thing to a relationship either of them achieves.</a:t>
            </a:r>
            <a:endParaRPr lang="en-US" sz="1250" dirty="0"/>
          </a:p>
        </p:txBody>
      </p:sp>
      <p:sp>
        <p:nvSpPr>
          <p:cNvPr id="8" name="Shape 6"/>
          <p:cNvSpPr/>
          <p:nvPr/>
        </p:nvSpPr>
        <p:spPr>
          <a:xfrm>
            <a:off x="640080" y="2651760"/>
            <a:ext cx="10911535" cy="1005840"/>
          </a:xfrm>
          <a:prstGeom prst="roundRect">
            <a:avLst>
              <a:gd name="adj" fmla="val 7273"/>
            </a:avLst>
          </a:prstGeom>
          <a:solidFill>
            <a:srgbClr val="E6EEF3"/>
          </a:solidFill>
          <a:ln w="12700">
            <a:solidFill>
              <a:srgbClr val="E6EEF3"/>
            </a:solidFill>
            <a:prstDash val="solid"/>
          </a:ln>
        </p:spPr>
        <p:txBody>
          <a:bodyPr/>
          <a:lstStyle/>
          <a:p>
            <a:endParaRPr lang="en-US"/>
          </a:p>
        </p:txBody>
      </p:sp>
      <p:sp>
        <p:nvSpPr>
          <p:cNvPr id="9" name="Text 7"/>
          <p:cNvSpPr txBox="1"/>
          <p:nvPr/>
        </p:nvSpPr>
        <p:spPr>
          <a:xfrm>
            <a:off x="960120" y="2651760"/>
            <a:ext cx="2834640" cy="1005840"/>
          </a:xfrm>
          <a:prstGeom prst="rect">
            <a:avLst/>
          </a:prstGeom>
          <a:noFill/>
          <a:ln/>
        </p:spPr>
        <p:txBody>
          <a:bodyPr wrap="square" lIns="0" tIns="0" rIns="0" bIns="0" rtlCol="0" anchor="ctr"/>
          <a:lstStyle/>
          <a:p>
            <a:pPr marL="0" indent="0">
              <a:buNone/>
            </a:pPr>
            <a:r>
              <a:rPr lang="en-US" sz="1550" b="1" dirty="0">
                <a:solidFill>
                  <a:srgbClr val="101822"/>
                </a:solidFill>
                <a:latin typeface="Cambria" pitchFamily="34" charset="0"/>
                <a:ea typeface="Cambria" pitchFamily="34" charset="-122"/>
                <a:cs typeface="Cambria" pitchFamily="34" charset="-120"/>
              </a:rPr>
              <a:t>Victor dies unreformed</a:t>
            </a:r>
            <a:endParaRPr lang="en-US" sz="1550" dirty="0"/>
          </a:p>
        </p:txBody>
      </p:sp>
      <p:sp>
        <p:nvSpPr>
          <p:cNvPr id="10" name="Text 8"/>
          <p:cNvSpPr txBox="1"/>
          <p:nvPr/>
        </p:nvSpPr>
        <p:spPr>
          <a:xfrm>
            <a:off x="3977640" y="2651760"/>
            <a:ext cx="7223760" cy="1005840"/>
          </a:xfrm>
          <a:prstGeom prst="rect">
            <a:avLst/>
          </a:prstGeom>
          <a:noFill/>
          <a:ln/>
        </p:spPr>
        <p:txBody>
          <a:bodyPr wrap="square" lIns="0" tIns="0" rIns="0" bIns="0" rtlCol="0" anchor="ctr"/>
          <a:lstStyle/>
          <a:p>
            <a:pPr marL="0" indent="0">
              <a:lnSpc>
                <a:spcPts val="1700"/>
              </a:lnSpc>
              <a:buNone/>
            </a:pPr>
            <a:r>
              <a:rPr lang="en-US" sz="1250" dirty="0">
                <a:solidFill>
                  <a:srgbClr val="5A6472"/>
                </a:solidFill>
                <a:latin typeface="Calibri" pitchFamily="34" charset="0"/>
                <a:ea typeface="Calibri" pitchFamily="34" charset="-122"/>
                <a:cs typeface="Calibri" pitchFamily="34" charset="-120"/>
              </a:rPr>
              <a:t>On the ship, dying, he warns Walton against ambition — and then, in nearly the same breath, tells him not to give up the voyage. He has learned the vocabulary of the lesson without the content.</a:t>
            </a:r>
            <a:endParaRPr lang="en-US" sz="1250" dirty="0"/>
          </a:p>
        </p:txBody>
      </p:sp>
      <p:sp>
        <p:nvSpPr>
          <p:cNvPr id="11" name="Shape 9"/>
          <p:cNvSpPr/>
          <p:nvPr/>
        </p:nvSpPr>
        <p:spPr>
          <a:xfrm>
            <a:off x="640080" y="3749040"/>
            <a:ext cx="10911535" cy="1005840"/>
          </a:xfrm>
          <a:prstGeom prst="roundRect">
            <a:avLst>
              <a:gd name="adj" fmla="val 7273"/>
            </a:avLst>
          </a:prstGeom>
          <a:solidFill>
            <a:srgbClr val="F3EEE5"/>
          </a:solidFill>
          <a:ln w="12700">
            <a:solidFill>
              <a:srgbClr val="F3EEE5"/>
            </a:solidFill>
            <a:prstDash val="solid"/>
          </a:ln>
        </p:spPr>
        <p:txBody>
          <a:bodyPr/>
          <a:lstStyle/>
          <a:p>
            <a:endParaRPr lang="en-US"/>
          </a:p>
        </p:txBody>
      </p:sp>
      <p:sp>
        <p:nvSpPr>
          <p:cNvPr id="12" name="Text 10"/>
          <p:cNvSpPr txBox="1"/>
          <p:nvPr/>
        </p:nvSpPr>
        <p:spPr>
          <a:xfrm>
            <a:off x="960120" y="3749040"/>
            <a:ext cx="2834640" cy="1005840"/>
          </a:xfrm>
          <a:prstGeom prst="rect">
            <a:avLst/>
          </a:prstGeom>
          <a:noFill/>
          <a:ln/>
        </p:spPr>
        <p:txBody>
          <a:bodyPr wrap="square" lIns="0" tIns="0" rIns="0" bIns="0" rtlCol="0" anchor="ctr"/>
          <a:lstStyle/>
          <a:p>
            <a:pPr marL="0" indent="0">
              <a:buNone/>
            </a:pPr>
            <a:r>
              <a:rPr lang="en-US" sz="1550" b="1" dirty="0">
                <a:solidFill>
                  <a:srgbClr val="101822"/>
                </a:solidFill>
                <a:latin typeface="Cambria" pitchFamily="34" charset="0"/>
                <a:ea typeface="Cambria" pitchFamily="34" charset="-122"/>
                <a:cs typeface="Cambria" pitchFamily="34" charset="-120"/>
              </a:rPr>
              <a:t>The creature grieves</a:t>
            </a:r>
            <a:endParaRPr lang="en-US" sz="1550" dirty="0"/>
          </a:p>
        </p:txBody>
      </p:sp>
      <p:sp>
        <p:nvSpPr>
          <p:cNvPr id="13" name="Text 11"/>
          <p:cNvSpPr txBox="1"/>
          <p:nvPr/>
        </p:nvSpPr>
        <p:spPr>
          <a:xfrm>
            <a:off x="3977640" y="3749040"/>
            <a:ext cx="7223760" cy="1005840"/>
          </a:xfrm>
          <a:prstGeom prst="rect">
            <a:avLst/>
          </a:prstGeom>
          <a:noFill/>
          <a:ln/>
        </p:spPr>
        <p:txBody>
          <a:bodyPr wrap="square" lIns="0" tIns="0" rIns="0" bIns="0" rtlCol="0" anchor="ctr"/>
          <a:lstStyle/>
          <a:p>
            <a:pPr marL="0" indent="0">
              <a:lnSpc>
                <a:spcPts val="1700"/>
              </a:lnSpc>
              <a:buNone/>
            </a:pPr>
            <a:r>
              <a:rPr lang="en-US" sz="1250" dirty="0">
                <a:solidFill>
                  <a:srgbClr val="5A6472"/>
                </a:solidFill>
                <a:latin typeface="Calibri" pitchFamily="34" charset="0"/>
                <a:ea typeface="Calibri" pitchFamily="34" charset="-122"/>
                <a:cs typeface="Calibri" pitchFamily="34" charset="-120"/>
              </a:rPr>
              <a:t>He is found over the body. He does not gloat. He gives an account of his own wretchedness, calls himself worse than his maker in his own estimation, and announces he will destroy himself.</a:t>
            </a:r>
            <a:endParaRPr lang="en-US" sz="1250" dirty="0"/>
          </a:p>
        </p:txBody>
      </p:sp>
      <p:sp>
        <p:nvSpPr>
          <p:cNvPr id="14" name="Shape 12"/>
          <p:cNvSpPr/>
          <p:nvPr/>
        </p:nvSpPr>
        <p:spPr>
          <a:xfrm>
            <a:off x="640080" y="4846320"/>
            <a:ext cx="10911535" cy="1005840"/>
          </a:xfrm>
          <a:prstGeom prst="roundRect">
            <a:avLst>
              <a:gd name="adj" fmla="val 7273"/>
            </a:avLst>
          </a:prstGeom>
          <a:solidFill>
            <a:srgbClr val="101822"/>
          </a:solidFill>
          <a:ln w="12700">
            <a:solidFill>
              <a:srgbClr val="101822"/>
            </a:solidFill>
            <a:prstDash val="solid"/>
          </a:ln>
        </p:spPr>
        <p:txBody>
          <a:bodyPr/>
          <a:lstStyle/>
          <a:p>
            <a:endParaRPr lang="en-US"/>
          </a:p>
        </p:txBody>
      </p:sp>
      <p:sp>
        <p:nvSpPr>
          <p:cNvPr id="15" name="Text 13"/>
          <p:cNvSpPr txBox="1"/>
          <p:nvPr/>
        </p:nvSpPr>
        <p:spPr>
          <a:xfrm>
            <a:off x="960120" y="4846320"/>
            <a:ext cx="2834640" cy="1005840"/>
          </a:xfrm>
          <a:prstGeom prst="rect">
            <a:avLst/>
          </a:prstGeom>
          <a:noFill/>
          <a:ln/>
        </p:spPr>
        <p:txBody>
          <a:bodyPr wrap="square" lIns="0" tIns="0" rIns="0" bIns="0" rtlCol="0" anchor="ctr"/>
          <a:lstStyle/>
          <a:p>
            <a:pPr marL="0" indent="0">
              <a:buNone/>
            </a:pPr>
            <a:r>
              <a:rPr lang="en-US" sz="1550" b="1" dirty="0">
                <a:solidFill>
                  <a:srgbClr val="E08A6E"/>
                </a:solidFill>
                <a:latin typeface="Cambria" pitchFamily="34" charset="0"/>
                <a:ea typeface="Cambria" pitchFamily="34" charset="-122"/>
                <a:cs typeface="Cambria" pitchFamily="34" charset="-120"/>
              </a:rPr>
              <a:t>Walton believes him</a:t>
            </a:r>
            <a:endParaRPr lang="en-US" sz="1550" dirty="0"/>
          </a:p>
        </p:txBody>
      </p:sp>
      <p:sp>
        <p:nvSpPr>
          <p:cNvPr id="16" name="Text 14"/>
          <p:cNvSpPr txBox="1"/>
          <p:nvPr/>
        </p:nvSpPr>
        <p:spPr>
          <a:xfrm>
            <a:off x="3977640" y="4846320"/>
            <a:ext cx="7223760" cy="1005840"/>
          </a:xfrm>
          <a:prstGeom prst="rect">
            <a:avLst/>
          </a:prstGeom>
          <a:noFill/>
          <a:ln/>
        </p:spPr>
        <p:txBody>
          <a:bodyPr wrap="square" lIns="0" tIns="0" rIns="0" bIns="0" rtlCol="0" anchor="ctr"/>
          <a:lstStyle/>
          <a:p>
            <a:pPr marL="0" indent="0">
              <a:lnSpc>
                <a:spcPts val="1700"/>
              </a:lnSpc>
              <a:buNone/>
            </a:pPr>
            <a:r>
              <a:rPr lang="en-US" sz="1250" dirty="0">
                <a:solidFill>
                  <a:srgbClr val="EDE5D8"/>
                </a:solidFill>
                <a:latin typeface="Calibri" pitchFamily="34" charset="0"/>
                <a:ea typeface="Calibri" pitchFamily="34" charset="-122"/>
                <a:cs typeface="Calibri" pitchFamily="34" charset="-120"/>
              </a:rPr>
              <a:t>The frame closes with the only human who ever heard the creature out without a prior grievance — and Walton, who has spent the novel wanting glory, lets him go and turns the ship for home.</a:t>
            </a:r>
            <a:endParaRPr lang="en-US" sz="1250" dirty="0"/>
          </a:p>
        </p:txBody>
      </p:sp>
      <p:sp>
        <p:nvSpPr>
          <p:cNvPr id="17" name="Text 15"/>
          <p:cNvSpPr txBox="1"/>
          <p:nvPr/>
        </p:nvSpPr>
        <p:spPr>
          <a:xfrm>
            <a:off x="640080" y="5934456"/>
            <a:ext cx="10881360" cy="384048"/>
          </a:xfrm>
          <a:prstGeom prst="rect">
            <a:avLst/>
          </a:prstGeom>
          <a:noFill/>
          <a:ln/>
        </p:spPr>
        <p:txBody>
          <a:bodyPr wrap="square" lIns="0" tIns="0" rIns="0" bIns="0" rtlCol="0" anchor="ctr"/>
          <a:lstStyle/>
          <a:p>
            <a:pPr marL="0" indent="0">
              <a:buNone/>
            </a:pPr>
            <a:r>
              <a:rPr lang="en-US" sz="1500" i="1" dirty="0">
                <a:solidFill>
                  <a:srgbClr val="35708C"/>
                </a:solidFill>
                <a:latin typeface="Cambria" pitchFamily="34" charset="0"/>
                <a:ea typeface="Cambria" pitchFamily="34" charset="-122"/>
                <a:cs typeface="Cambria" pitchFamily="34" charset="-120"/>
              </a:rPr>
              <a:t>Nobody watches him die. Shelley ends the book with the creature carried away on an ice raft, into darkness and distance — unwitnessed to the last.</a:t>
            </a:r>
            <a:endParaRPr lang="en-US" sz="1500" dirty="0"/>
          </a:p>
        </p:txBody>
      </p:sp>
      <p:sp>
        <p:nvSpPr>
          <p:cNvPr id="18" name="Text 16"/>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A6472"/>
                </a:solidFill>
                <a:latin typeface="Calibri" pitchFamily="34" charset="0"/>
                <a:ea typeface="Calibri" pitchFamily="34" charset="-122"/>
                <a:cs typeface="Calibri" pitchFamily="34" charset="-120"/>
              </a:rPr>
              <a:t>Shelley, Frankenstein (1818), Walton, in continuation.</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1">
    <p:bg>
      <p:bgPr>
        <a:solidFill>
          <a:srgbClr val="101822"/>
        </a:solidFill>
        <a:effectLst/>
      </p:bgPr>
    </p:bg>
    <p:spTree>
      <p:nvGrpSpPr>
        <p:cNvPr id="1" name=""/>
        <p:cNvGrpSpPr/>
        <p:nvPr/>
      </p:nvGrpSpPr>
      <p:grpSpPr>
        <a:xfrm>
          <a:off x="0" y="0"/>
          <a:ext cx="0" cy="0"/>
          <a:chOff x="0" y="0"/>
          <a:chExt cx="0" cy="0"/>
        </a:xfrm>
      </p:grpSpPr>
      <p:sp>
        <p:nvSpPr>
          <p:cNvPr id="2" name="Shape 0"/>
          <p:cNvSpPr/>
          <p:nvPr/>
        </p:nvSpPr>
        <p:spPr>
          <a:xfrm>
            <a:off x="8732520" y="1417320"/>
            <a:ext cx="2651760" cy="2651760"/>
          </a:xfrm>
          <a:prstGeom prst="ellipse">
            <a:avLst/>
          </a:prstGeom>
          <a:solidFill>
            <a:srgbClr val="35708C">
              <a:alpha val="70000"/>
            </a:srgbClr>
          </a:solidFill>
          <a:ln/>
        </p:spPr>
        <p:txBody>
          <a:bodyPr/>
          <a:lstStyle/>
          <a:p>
            <a:endParaRPr lang="en-US"/>
          </a:p>
        </p:txBody>
      </p:sp>
      <p:sp>
        <p:nvSpPr>
          <p:cNvPr id="3" name="Shape 1"/>
          <p:cNvSpPr/>
          <p:nvPr/>
        </p:nvSpPr>
        <p:spPr>
          <a:xfrm>
            <a:off x="9509760" y="2194560"/>
            <a:ext cx="1097280" cy="1097280"/>
          </a:xfrm>
          <a:prstGeom prst="ellipse">
            <a:avLst/>
          </a:prstGeom>
          <a:solidFill>
            <a:srgbClr val="C05A3E">
              <a:alpha val="70000"/>
            </a:srgbClr>
          </a:solidFill>
          <a:ln/>
        </p:spPr>
        <p:txBody>
          <a:bodyPr/>
          <a:lstStyle/>
          <a:p>
            <a:endParaRPr lang="en-US"/>
          </a:p>
        </p:txBody>
      </p:sp>
      <p:sp>
        <p:nvSpPr>
          <p:cNvPr id="4" name="Text 2"/>
          <p:cNvSpPr txBox="1"/>
          <p:nvPr/>
        </p:nvSpPr>
        <p:spPr>
          <a:xfrm>
            <a:off x="640080" y="1965960"/>
            <a:ext cx="7315200" cy="320040"/>
          </a:xfrm>
          <a:prstGeom prst="rect">
            <a:avLst/>
          </a:prstGeom>
          <a:noFill/>
          <a:ln/>
        </p:spPr>
        <p:txBody>
          <a:bodyPr wrap="square" lIns="0" tIns="0" rIns="0" bIns="0" rtlCol="0" anchor="ctr"/>
          <a:lstStyle/>
          <a:p>
            <a:pPr marL="0" indent="0">
              <a:buNone/>
            </a:pPr>
            <a:r>
              <a:rPr lang="en-US" sz="1300" b="1" kern="0" spc="220" dirty="0">
                <a:solidFill>
                  <a:srgbClr val="E08A6E"/>
                </a:solidFill>
                <a:latin typeface="Calibri" pitchFamily="34" charset="0"/>
                <a:ea typeface="Calibri" pitchFamily="34" charset="-122"/>
                <a:cs typeface="Calibri" pitchFamily="34" charset="-120"/>
              </a:rPr>
              <a:t>MOVEMENT FOUR</a:t>
            </a:r>
            <a:endParaRPr lang="en-US" sz="1300" dirty="0"/>
          </a:p>
        </p:txBody>
      </p:sp>
      <p:sp>
        <p:nvSpPr>
          <p:cNvPr id="5" name="Text 3"/>
          <p:cNvSpPr txBox="1"/>
          <p:nvPr/>
        </p:nvSpPr>
        <p:spPr>
          <a:xfrm>
            <a:off x="640080" y="2377440"/>
            <a:ext cx="7680960" cy="868680"/>
          </a:xfrm>
          <a:prstGeom prst="rect">
            <a:avLst/>
          </a:prstGeom>
          <a:noFill/>
          <a:ln/>
        </p:spPr>
        <p:txBody>
          <a:bodyPr wrap="square" lIns="0" tIns="0" rIns="0" bIns="0" rtlCol="0" anchor="ctr"/>
          <a:lstStyle/>
          <a:p>
            <a:pPr marL="0" indent="0">
              <a:buNone/>
            </a:pPr>
            <a:r>
              <a:rPr lang="en-US" sz="4000" b="1" dirty="0">
                <a:solidFill>
                  <a:srgbClr val="EDE5D8"/>
                </a:solidFill>
                <a:latin typeface="Cambria" pitchFamily="34" charset="0"/>
                <a:ea typeface="Cambria" pitchFamily="34" charset="-122"/>
                <a:cs typeface="Cambria" pitchFamily="34" charset="-120"/>
              </a:rPr>
              <a:t>The maker’s own account</a:t>
            </a:r>
            <a:endParaRPr lang="en-US" sz="4000" dirty="0"/>
          </a:p>
        </p:txBody>
      </p:sp>
      <p:sp>
        <p:nvSpPr>
          <p:cNvPr id="6" name="Text 4"/>
          <p:cNvSpPr txBox="1"/>
          <p:nvPr/>
        </p:nvSpPr>
        <p:spPr>
          <a:xfrm>
            <a:off x="640080" y="3310128"/>
            <a:ext cx="768096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The 1831 Introduction  ·  Brantlinger, “The Reading Monster”</a:t>
            </a:r>
            <a:endParaRPr lang="en-US" sz="1500" dirty="0"/>
          </a:p>
        </p:txBody>
      </p:sp>
      <p:sp>
        <p:nvSpPr>
          <p:cNvPr id="7" name="Shape 5"/>
          <p:cNvSpPr/>
          <p:nvPr/>
        </p:nvSpPr>
        <p:spPr>
          <a:xfrm>
            <a:off x="640080" y="3913632"/>
            <a:ext cx="2377440" cy="18288"/>
          </a:xfrm>
          <a:prstGeom prst="rect">
            <a:avLst/>
          </a:prstGeom>
          <a:solidFill>
            <a:srgbClr val="C05A3E"/>
          </a:solidFill>
          <a:ln/>
        </p:spPr>
        <p:txBody>
          <a:bodyPr/>
          <a:lstStyle/>
          <a:p>
            <a:endParaRPr lang="en-US"/>
          </a:p>
        </p:txBody>
      </p:sp>
      <p:sp>
        <p:nvSpPr>
          <p:cNvPr id="8" name="Text 6"/>
          <p:cNvSpPr txBox="1"/>
          <p:nvPr/>
        </p:nvSpPr>
        <p:spPr>
          <a:xfrm>
            <a:off x="640080" y="4133088"/>
            <a:ext cx="7680960" cy="548640"/>
          </a:xfrm>
          <a:prstGeom prst="rect">
            <a:avLst/>
          </a:prstGeom>
          <a:noFill/>
          <a:ln/>
        </p:spPr>
        <p:txBody>
          <a:bodyPr wrap="square" lIns="0" tIns="0" rIns="0" bIns="0" rtlCol="0" anchor="ctr"/>
          <a:lstStyle/>
          <a:p>
            <a:pPr marL="0" indent="0">
              <a:lnSpc>
                <a:spcPts val="2600"/>
              </a:lnSpc>
              <a:buNone/>
            </a:pPr>
            <a:r>
              <a:rPr lang="en-US" sz="1900" i="1" dirty="0">
                <a:solidFill>
                  <a:srgbClr val="9CC5D6"/>
                </a:solidFill>
                <a:latin typeface="Cambria" pitchFamily="34" charset="0"/>
                <a:ea typeface="Cambria" pitchFamily="34" charset="-122"/>
                <a:cs typeface="Cambria" pitchFamily="34" charset="-120"/>
              </a:rPr>
              <a:t>One more frame around the frame — and this one is Shelley’s.</a:t>
            </a:r>
            <a:endParaRPr lang="en-US" sz="1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A6472"/>
                </a:solidFill>
                <a:latin typeface="Calibri" pitchFamily="34" charset="0"/>
                <a:ea typeface="Calibri" pitchFamily="34" charset="-122"/>
                <a:cs typeface="Calibri" pitchFamily="34" charset="-120"/>
              </a:rPr>
              <a:t>CONTEXTS · THE 1831 INTRODUCTION</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01822"/>
                </a:solidFill>
                <a:latin typeface="Cambria" pitchFamily="34" charset="0"/>
                <a:ea typeface="Cambria" pitchFamily="34" charset="-122"/>
                <a:cs typeface="Cambria" pitchFamily="34" charset="-120"/>
              </a:rPr>
              <a:t>Shelley on how she made it</a:t>
            </a:r>
            <a:endParaRPr lang="en-US" sz="3000" dirty="0"/>
          </a:p>
        </p:txBody>
      </p:sp>
      <p:sp>
        <p:nvSpPr>
          <p:cNvPr id="5" name="Shape 3"/>
          <p:cNvSpPr/>
          <p:nvPr/>
        </p:nvSpPr>
        <p:spPr>
          <a:xfrm>
            <a:off x="640080" y="1600200"/>
            <a:ext cx="5295748" cy="1627632"/>
          </a:xfrm>
          <a:prstGeom prst="roundRect">
            <a:avLst>
              <a:gd name="adj" fmla="val 4494"/>
            </a:avLst>
          </a:prstGeom>
          <a:solidFill>
            <a:srgbClr val="F3EEE5"/>
          </a:solidFill>
          <a:ln w="12700">
            <a:solidFill>
              <a:srgbClr val="F3EEE5"/>
            </a:solidFill>
            <a:prstDash val="solid"/>
          </a:ln>
        </p:spPr>
        <p:txBody>
          <a:bodyPr/>
          <a:lstStyle/>
          <a:p>
            <a:endParaRPr lang="en-US"/>
          </a:p>
        </p:txBody>
      </p:sp>
      <p:sp>
        <p:nvSpPr>
          <p:cNvPr id="6" name="Text 4"/>
          <p:cNvSpPr txBox="1"/>
          <p:nvPr/>
        </p:nvSpPr>
        <p:spPr>
          <a:xfrm>
            <a:off x="932688" y="1783080"/>
            <a:ext cx="4710532" cy="310896"/>
          </a:xfrm>
          <a:prstGeom prst="rect">
            <a:avLst/>
          </a:prstGeom>
          <a:noFill/>
          <a:ln/>
        </p:spPr>
        <p:txBody>
          <a:bodyPr wrap="square" lIns="0" tIns="0" rIns="0" bIns="0" rtlCol="0" anchor="ctr"/>
          <a:lstStyle/>
          <a:p>
            <a:pPr marL="0" indent="0">
              <a:buNone/>
            </a:pPr>
            <a:r>
              <a:rPr lang="en-US" sz="1700" b="1" dirty="0">
                <a:solidFill>
                  <a:srgbClr val="101822"/>
                </a:solidFill>
                <a:latin typeface="Cambria" pitchFamily="34" charset="0"/>
                <a:ea typeface="Cambria" pitchFamily="34" charset="-122"/>
                <a:cs typeface="Cambria" pitchFamily="34" charset="-120"/>
              </a:rPr>
              <a:t>The occasion</a:t>
            </a:r>
            <a:endParaRPr lang="en-US" sz="1700" dirty="0"/>
          </a:p>
        </p:txBody>
      </p:sp>
      <p:sp>
        <p:nvSpPr>
          <p:cNvPr id="7" name="Text 5"/>
          <p:cNvSpPr txBox="1"/>
          <p:nvPr/>
        </p:nvSpPr>
        <p:spPr>
          <a:xfrm>
            <a:off x="932688" y="2167128"/>
            <a:ext cx="4710532" cy="914400"/>
          </a:xfrm>
          <a:prstGeom prst="rect">
            <a:avLst/>
          </a:prstGeom>
          <a:noFill/>
          <a:ln/>
        </p:spPr>
        <p:txBody>
          <a:bodyPr wrap="square" lIns="0" tIns="0" rIns="0" bIns="0" rtlCol="0" anchor="ctr"/>
          <a:lstStyle/>
          <a:p>
            <a:pPr marL="0" indent="0">
              <a:lnSpc>
                <a:spcPts val="1700"/>
              </a:lnSpc>
              <a:buNone/>
            </a:pPr>
            <a:r>
              <a:rPr lang="en-US" sz="1250" dirty="0">
                <a:solidFill>
                  <a:srgbClr val="5A6472"/>
                </a:solidFill>
                <a:latin typeface="Calibri" pitchFamily="34" charset="0"/>
                <a:ea typeface="Calibri" pitchFamily="34" charset="-122"/>
                <a:cs typeface="Calibri" pitchFamily="34" charset="-120"/>
              </a:rPr>
              <a:t>Written thirteen years later, for a cheap reprint series, to explain how a young woman came to think of so hideous an idea. She is answering a question she has clearly been asked too often.</a:t>
            </a:r>
            <a:endParaRPr lang="en-US" sz="1250" dirty="0"/>
          </a:p>
        </p:txBody>
      </p:sp>
      <p:sp>
        <p:nvSpPr>
          <p:cNvPr id="8" name="Shape 6"/>
          <p:cNvSpPr/>
          <p:nvPr/>
        </p:nvSpPr>
        <p:spPr>
          <a:xfrm>
            <a:off x="6255868" y="1600200"/>
            <a:ext cx="5295748" cy="1627632"/>
          </a:xfrm>
          <a:prstGeom prst="roundRect">
            <a:avLst>
              <a:gd name="adj" fmla="val 4494"/>
            </a:avLst>
          </a:prstGeom>
          <a:solidFill>
            <a:srgbClr val="E6EEF3"/>
          </a:solidFill>
          <a:ln w="12700">
            <a:solidFill>
              <a:srgbClr val="E6EEF3"/>
            </a:solidFill>
            <a:prstDash val="solid"/>
          </a:ln>
        </p:spPr>
        <p:txBody>
          <a:bodyPr/>
          <a:lstStyle/>
          <a:p>
            <a:endParaRPr lang="en-US"/>
          </a:p>
        </p:txBody>
      </p:sp>
      <p:sp>
        <p:nvSpPr>
          <p:cNvPr id="9" name="Text 7"/>
          <p:cNvSpPr txBox="1"/>
          <p:nvPr/>
        </p:nvSpPr>
        <p:spPr>
          <a:xfrm>
            <a:off x="6548476" y="1783080"/>
            <a:ext cx="4710532" cy="310896"/>
          </a:xfrm>
          <a:prstGeom prst="rect">
            <a:avLst/>
          </a:prstGeom>
          <a:noFill/>
          <a:ln/>
        </p:spPr>
        <p:txBody>
          <a:bodyPr wrap="square" lIns="0" tIns="0" rIns="0" bIns="0" rtlCol="0" anchor="ctr"/>
          <a:lstStyle/>
          <a:p>
            <a:pPr marL="0" indent="0">
              <a:buNone/>
            </a:pPr>
            <a:r>
              <a:rPr lang="en-US" sz="1700" b="1" dirty="0">
                <a:solidFill>
                  <a:srgbClr val="101822"/>
                </a:solidFill>
                <a:latin typeface="Cambria" pitchFamily="34" charset="0"/>
                <a:ea typeface="Cambria" pitchFamily="34" charset="-122"/>
                <a:cs typeface="Cambria" pitchFamily="34" charset="-120"/>
              </a:rPr>
              <a:t>The scene she stages</a:t>
            </a:r>
            <a:endParaRPr lang="en-US" sz="1700" dirty="0"/>
          </a:p>
        </p:txBody>
      </p:sp>
      <p:sp>
        <p:nvSpPr>
          <p:cNvPr id="10" name="Text 8"/>
          <p:cNvSpPr txBox="1"/>
          <p:nvPr/>
        </p:nvSpPr>
        <p:spPr>
          <a:xfrm>
            <a:off x="6548476" y="2167128"/>
            <a:ext cx="4710532" cy="914400"/>
          </a:xfrm>
          <a:prstGeom prst="rect">
            <a:avLst/>
          </a:prstGeom>
          <a:noFill/>
          <a:ln/>
        </p:spPr>
        <p:txBody>
          <a:bodyPr wrap="square" lIns="0" tIns="0" rIns="0" bIns="0" rtlCol="0" anchor="ctr"/>
          <a:lstStyle/>
          <a:p>
            <a:pPr marL="0" indent="0">
              <a:lnSpc>
                <a:spcPts val="1700"/>
              </a:lnSpc>
              <a:buNone/>
            </a:pPr>
            <a:r>
              <a:rPr lang="en-US" sz="1250" dirty="0">
                <a:solidFill>
                  <a:srgbClr val="5A6472"/>
                </a:solidFill>
                <a:latin typeface="Calibri" pitchFamily="34" charset="0"/>
                <a:ea typeface="Calibri" pitchFamily="34" charset="-122"/>
                <a:cs typeface="Calibri" pitchFamily="34" charset="-120"/>
              </a:rPr>
              <a:t>Villa Diodati, summer 1816. Byron, Percy, Polidori, the ghost-story competition, the rain. Overheard talk about galvanism and the principle of life. Then a waking dream, at night, unbidden.</a:t>
            </a:r>
            <a:endParaRPr lang="en-US" sz="1250" dirty="0"/>
          </a:p>
        </p:txBody>
      </p:sp>
      <p:sp>
        <p:nvSpPr>
          <p:cNvPr id="11" name="Shape 9"/>
          <p:cNvSpPr/>
          <p:nvPr/>
        </p:nvSpPr>
        <p:spPr>
          <a:xfrm>
            <a:off x="640080" y="3383280"/>
            <a:ext cx="5295748" cy="1627632"/>
          </a:xfrm>
          <a:prstGeom prst="roundRect">
            <a:avLst>
              <a:gd name="adj" fmla="val 4494"/>
            </a:avLst>
          </a:prstGeom>
          <a:solidFill>
            <a:srgbClr val="F3EEE5"/>
          </a:solidFill>
          <a:ln w="12700">
            <a:solidFill>
              <a:srgbClr val="F3EEE5"/>
            </a:solidFill>
            <a:prstDash val="solid"/>
          </a:ln>
        </p:spPr>
        <p:txBody>
          <a:bodyPr/>
          <a:lstStyle/>
          <a:p>
            <a:endParaRPr lang="en-US"/>
          </a:p>
        </p:txBody>
      </p:sp>
      <p:sp>
        <p:nvSpPr>
          <p:cNvPr id="12" name="Text 10"/>
          <p:cNvSpPr txBox="1"/>
          <p:nvPr/>
        </p:nvSpPr>
        <p:spPr>
          <a:xfrm>
            <a:off x="932688" y="3566160"/>
            <a:ext cx="4710532" cy="310896"/>
          </a:xfrm>
          <a:prstGeom prst="rect">
            <a:avLst/>
          </a:prstGeom>
          <a:noFill/>
          <a:ln/>
        </p:spPr>
        <p:txBody>
          <a:bodyPr wrap="square" lIns="0" tIns="0" rIns="0" bIns="0" rtlCol="0" anchor="ctr"/>
          <a:lstStyle/>
          <a:p>
            <a:pPr marL="0" indent="0">
              <a:buNone/>
            </a:pPr>
            <a:r>
              <a:rPr lang="en-US" sz="1700" b="1" dirty="0">
                <a:solidFill>
                  <a:srgbClr val="101822"/>
                </a:solidFill>
                <a:latin typeface="Cambria" pitchFamily="34" charset="0"/>
                <a:ea typeface="Cambria" pitchFamily="34" charset="-122"/>
                <a:cs typeface="Cambria" pitchFamily="34" charset="-120"/>
              </a:rPr>
              <a:t>What the framing does</a:t>
            </a:r>
            <a:endParaRPr lang="en-US" sz="1700" dirty="0"/>
          </a:p>
        </p:txBody>
      </p:sp>
      <p:sp>
        <p:nvSpPr>
          <p:cNvPr id="13" name="Text 11"/>
          <p:cNvSpPr txBox="1"/>
          <p:nvPr/>
        </p:nvSpPr>
        <p:spPr>
          <a:xfrm>
            <a:off x="932688" y="3950208"/>
            <a:ext cx="4710532" cy="914400"/>
          </a:xfrm>
          <a:prstGeom prst="rect">
            <a:avLst/>
          </a:prstGeom>
          <a:noFill/>
          <a:ln/>
        </p:spPr>
        <p:txBody>
          <a:bodyPr wrap="square" lIns="0" tIns="0" rIns="0" bIns="0" rtlCol="0" anchor="ctr"/>
          <a:lstStyle/>
          <a:p>
            <a:pPr marL="0" indent="0">
              <a:lnSpc>
                <a:spcPts val="1700"/>
              </a:lnSpc>
              <a:buNone/>
            </a:pPr>
            <a:r>
              <a:rPr lang="en-US" sz="1250" dirty="0">
                <a:solidFill>
                  <a:srgbClr val="5A6472"/>
                </a:solidFill>
                <a:latin typeface="Calibri" pitchFamily="34" charset="0"/>
                <a:ea typeface="Calibri" pitchFamily="34" charset="-122"/>
                <a:cs typeface="Calibri" pitchFamily="34" charset="-120"/>
              </a:rPr>
              <a:t>The idea arrives rather than being had. She is a listener at the edge of a conversation among men, receiving something she did not construct. The parallel to a creature at a wall is not subtle, and it is not an accident.</a:t>
            </a:r>
            <a:endParaRPr lang="en-US" sz="1250" dirty="0"/>
          </a:p>
        </p:txBody>
      </p:sp>
      <p:sp>
        <p:nvSpPr>
          <p:cNvPr id="14" name="Shape 12"/>
          <p:cNvSpPr/>
          <p:nvPr/>
        </p:nvSpPr>
        <p:spPr>
          <a:xfrm>
            <a:off x="6255868" y="3383280"/>
            <a:ext cx="5295748" cy="1627632"/>
          </a:xfrm>
          <a:prstGeom prst="roundRect">
            <a:avLst>
              <a:gd name="adj" fmla="val 4494"/>
            </a:avLst>
          </a:prstGeom>
          <a:solidFill>
            <a:srgbClr val="101822"/>
          </a:solidFill>
          <a:ln w="12700">
            <a:solidFill>
              <a:srgbClr val="101822"/>
            </a:solidFill>
            <a:prstDash val="solid"/>
          </a:ln>
        </p:spPr>
        <p:txBody>
          <a:bodyPr/>
          <a:lstStyle/>
          <a:p>
            <a:endParaRPr lang="en-US"/>
          </a:p>
        </p:txBody>
      </p:sp>
      <p:sp>
        <p:nvSpPr>
          <p:cNvPr id="15" name="Text 13"/>
          <p:cNvSpPr txBox="1"/>
          <p:nvPr/>
        </p:nvSpPr>
        <p:spPr>
          <a:xfrm>
            <a:off x="6548476" y="3566160"/>
            <a:ext cx="4710532" cy="310896"/>
          </a:xfrm>
          <a:prstGeom prst="rect">
            <a:avLst/>
          </a:prstGeom>
          <a:noFill/>
          <a:ln/>
        </p:spPr>
        <p:txBody>
          <a:bodyPr wrap="square" lIns="0" tIns="0" rIns="0" bIns="0" rtlCol="0" anchor="ctr"/>
          <a:lstStyle/>
          <a:p>
            <a:pPr marL="0" indent="0">
              <a:buNone/>
            </a:pPr>
            <a:r>
              <a:rPr lang="en-US" sz="1700" b="1" dirty="0">
                <a:solidFill>
                  <a:srgbClr val="E08A6E"/>
                </a:solidFill>
                <a:latin typeface="Cambria" pitchFamily="34" charset="0"/>
                <a:ea typeface="Cambria" pitchFamily="34" charset="-122"/>
                <a:cs typeface="Cambria" pitchFamily="34" charset="-120"/>
              </a:rPr>
              <a:t>“My hideous progeny”</a:t>
            </a:r>
            <a:endParaRPr lang="en-US" sz="1700" dirty="0"/>
          </a:p>
        </p:txBody>
      </p:sp>
      <p:sp>
        <p:nvSpPr>
          <p:cNvPr id="16" name="Text 14"/>
          <p:cNvSpPr txBox="1"/>
          <p:nvPr/>
        </p:nvSpPr>
        <p:spPr>
          <a:xfrm>
            <a:off x="6548476" y="3950208"/>
            <a:ext cx="4710532" cy="914400"/>
          </a:xfrm>
          <a:prstGeom prst="rect">
            <a:avLst/>
          </a:prstGeom>
          <a:noFill/>
          <a:ln/>
        </p:spPr>
        <p:txBody>
          <a:bodyPr wrap="square" lIns="0" tIns="0" rIns="0" bIns="0" rtlCol="0" anchor="ctr"/>
          <a:lstStyle/>
          <a:p>
            <a:pPr marL="0" indent="0">
              <a:lnSpc>
                <a:spcPts val="1700"/>
              </a:lnSpc>
              <a:buNone/>
            </a:pPr>
            <a:r>
              <a:rPr lang="en-US" sz="1250" dirty="0">
                <a:solidFill>
                  <a:srgbClr val="EDE5D8"/>
                </a:solidFill>
                <a:latin typeface="Calibri" pitchFamily="34" charset="0"/>
                <a:ea typeface="Calibri" pitchFamily="34" charset="-122"/>
                <a:cs typeface="Calibri" pitchFamily="34" charset="-120"/>
              </a:rPr>
              <a:t>Her own phrase for the book, in her farewell to it. The author adopts Victor’s vocabulary for her creation — and unlike him, sends it out into the world with an affectionate blessing.</a:t>
            </a:r>
            <a:endParaRPr lang="en-US" sz="1250" dirty="0"/>
          </a:p>
        </p:txBody>
      </p:sp>
      <p:sp>
        <p:nvSpPr>
          <p:cNvPr id="17" name="Text 15"/>
          <p:cNvSpPr txBox="1"/>
          <p:nvPr/>
        </p:nvSpPr>
        <p:spPr>
          <a:xfrm>
            <a:off x="640080" y="5349240"/>
            <a:ext cx="10881360" cy="640080"/>
          </a:xfrm>
          <a:prstGeom prst="rect">
            <a:avLst/>
          </a:prstGeom>
          <a:noFill/>
          <a:ln/>
        </p:spPr>
        <p:txBody>
          <a:bodyPr wrap="square" lIns="0" tIns="0" rIns="0" bIns="0" rtlCol="0" anchor="ctr"/>
          <a:lstStyle/>
          <a:p>
            <a:pPr marL="0" indent="0">
              <a:lnSpc>
                <a:spcPts val="2100"/>
              </a:lnSpc>
              <a:buNone/>
            </a:pPr>
            <a:r>
              <a:rPr lang="en-US" sz="1500" i="1" dirty="0">
                <a:solidFill>
                  <a:srgbClr val="35708C"/>
                </a:solidFill>
                <a:latin typeface="Cambria" pitchFamily="34" charset="0"/>
                <a:ea typeface="Cambria" pitchFamily="34" charset="-122"/>
                <a:cs typeface="Cambria" pitchFamily="34" charset="-120"/>
              </a:rPr>
              <a:t>Read it as a document with a job to do, not as evidence. It is a retrospective account by an author with reasons — and it introduces the softened 1831 text, not the one you have been reading.</a:t>
            </a:r>
            <a:endParaRPr lang="en-US" sz="1500" dirty="0"/>
          </a:p>
        </p:txBody>
      </p:sp>
      <p:sp>
        <p:nvSpPr>
          <p:cNvPr id="18" name="Text 16"/>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A6472"/>
                </a:solidFill>
                <a:latin typeface="Calibri" pitchFamily="34" charset="0"/>
                <a:ea typeface="Calibri" pitchFamily="34" charset="-122"/>
                <a:cs typeface="Calibri" pitchFamily="34" charset="-120"/>
              </a:rPr>
              <a:t>Mary Shelley, Introduction to Frankenstein, Third Edition (1831), in Norton Critical Edition, “Contexts.”</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A6472"/>
                </a:solidFill>
                <a:latin typeface="Calibri" pitchFamily="34" charset="0"/>
                <a:ea typeface="Calibri" pitchFamily="34" charset="-122"/>
                <a:cs typeface="Calibri" pitchFamily="34" charset="-120"/>
              </a:rPr>
              <a:t>CRITICISM · YOUR ASSIGNED ESSAY</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01822"/>
                </a:solidFill>
                <a:latin typeface="Cambria" pitchFamily="34" charset="0"/>
                <a:ea typeface="Cambria" pitchFamily="34" charset="-122"/>
                <a:cs typeface="Cambria" pitchFamily="34" charset="-120"/>
              </a:rPr>
              <a:t>Patrick Brantlinger, “The Reading Monster”</a:t>
            </a:r>
            <a:endParaRPr lang="en-US" sz="3000" dirty="0"/>
          </a:p>
        </p:txBody>
      </p:sp>
      <p:sp>
        <p:nvSpPr>
          <p:cNvPr id="5" name="Shape 3"/>
          <p:cNvSpPr/>
          <p:nvPr/>
        </p:nvSpPr>
        <p:spPr>
          <a:xfrm>
            <a:off x="640080" y="1572768"/>
            <a:ext cx="6309360" cy="2331720"/>
          </a:xfrm>
          <a:prstGeom prst="roundRect">
            <a:avLst>
              <a:gd name="adj" fmla="val 3137"/>
            </a:avLst>
          </a:prstGeom>
          <a:solidFill>
            <a:srgbClr val="101822"/>
          </a:solidFill>
          <a:ln w="12700">
            <a:solidFill>
              <a:srgbClr val="101822"/>
            </a:solidFill>
            <a:prstDash val="solid"/>
          </a:ln>
        </p:spPr>
        <p:txBody>
          <a:bodyPr/>
          <a:lstStyle/>
          <a:p>
            <a:endParaRPr lang="en-US"/>
          </a:p>
        </p:txBody>
      </p:sp>
      <p:sp>
        <p:nvSpPr>
          <p:cNvPr id="6" name="Text 4"/>
          <p:cNvSpPr txBox="1"/>
          <p:nvPr/>
        </p:nvSpPr>
        <p:spPr>
          <a:xfrm>
            <a:off x="1005840" y="1773936"/>
            <a:ext cx="5577840" cy="292608"/>
          </a:xfrm>
          <a:prstGeom prst="rect">
            <a:avLst/>
          </a:prstGeom>
          <a:noFill/>
          <a:ln/>
        </p:spPr>
        <p:txBody>
          <a:bodyPr wrap="square" lIns="0" tIns="0" rIns="0" bIns="0" rtlCol="0" anchor="ctr"/>
          <a:lstStyle/>
          <a:p>
            <a:pPr marL="0" indent="0">
              <a:buNone/>
            </a:pPr>
            <a:r>
              <a:rPr lang="en-US" sz="1150" b="1" kern="0" spc="140" dirty="0">
                <a:solidFill>
                  <a:srgbClr val="E08A6E"/>
                </a:solidFill>
                <a:latin typeface="Calibri" pitchFamily="34" charset="0"/>
                <a:ea typeface="Calibri" pitchFamily="34" charset="-122"/>
                <a:cs typeface="Calibri" pitchFamily="34" charset="-120"/>
              </a:rPr>
              <a:t>The argument, in brief</a:t>
            </a:r>
            <a:endParaRPr lang="en-US" sz="1150" dirty="0"/>
          </a:p>
        </p:txBody>
      </p:sp>
      <p:sp>
        <p:nvSpPr>
          <p:cNvPr id="7" name="Text 5"/>
          <p:cNvSpPr txBox="1"/>
          <p:nvPr/>
        </p:nvSpPr>
        <p:spPr>
          <a:xfrm>
            <a:off x="1005840" y="2194560"/>
            <a:ext cx="5623560" cy="1554480"/>
          </a:xfrm>
          <a:prstGeom prst="rect">
            <a:avLst/>
          </a:prstGeom>
          <a:noFill/>
          <a:ln/>
        </p:spPr>
        <p:txBody>
          <a:bodyPr wrap="square" lIns="0" tIns="0" rIns="0" bIns="0" rtlCol="0" anchor="ctr"/>
          <a:lstStyle/>
          <a:p>
            <a:pPr marL="0" indent="0">
              <a:lnSpc>
                <a:spcPts val="1900"/>
              </a:lnSpc>
              <a:buNone/>
            </a:pPr>
            <a:r>
              <a:rPr lang="en-US" sz="1300" dirty="0">
                <a:solidFill>
                  <a:srgbClr val="EDE5D8"/>
                </a:solidFill>
                <a:latin typeface="Calibri" pitchFamily="34" charset="0"/>
                <a:ea typeface="Calibri" pitchFamily="34" charset="-122"/>
                <a:cs typeface="Calibri" pitchFamily="34" charset="-120"/>
              </a:rPr>
              <a:t>Brantlinger reads the creature as a figure for the newly literate reader of the early nineteenth century — self-taught, formed by whatever books came to hand, and alarming to the educated classes precisely because of that literacy. On this reading, what makes him monstrous to the De Laceys is not only his body: it is that he has acquired their culture without their permission and without their institutions.</a:t>
            </a:r>
            <a:endParaRPr lang="en-US" sz="1300" dirty="0"/>
          </a:p>
        </p:txBody>
      </p:sp>
      <p:sp>
        <p:nvSpPr>
          <p:cNvPr id="8" name="Shape 6"/>
          <p:cNvSpPr/>
          <p:nvPr/>
        </p:nvSpPr>
        <p:spPr>
          <a:xfrm>
            <a:off x="7269480" y="1572768"/>
            <a:ext cx="4251960" cy="1298448"/>
          </a:xfrm>
          <a:prstGeom prst="roundRect">
            <a:avLst>
              <a:gd name="adj" fmla="val 5634"/>
            </a:avLst>
          </a:prstGeom>
          <a:solidFill>
            <a:srgbClr val="E6EEF3"/>
          </a:solidFill>
          <a:ln w="12700">
            <a:solidFill>
              <a:srgbClr val="E6EEF3"/>
            </a:solidFill>
            <a:prstDash val="solid"/>
          </a:ln>
        </p:spPr>
        <p:txBody>
          <a:bodyPr/>
          <a:lstStyle/>
          <a:p>
            <a:endParaRPr lang="en-US"/>
          </a:p>
        </p:txBody>
      </p:sp>
      <p:sp>
        <p:nvSpPr>
          <p:cNvPr id="9" name="Text 7"/>
          <p:cNvSpPr txBox="1"/>
          <p:nvPr/>
        </p:nvSpPr>
        <p:spPr>
          <a:xfrm>
            <a:off x="7543800" y="1719072"/>
            <a:ext cx="3703320" cy="310896"/>
          </a:xfrm>
          <a:prstGeom prst="rect">
            <a:avLst/>
          </a:prstGeom>
          <a:noFill/>
          <a:ln/>
        </p:spPr>
        <p:txBody>
          <a:bodyPr wrap="square" lIns="0" tIns="0" rIns="0" bIns="0" rtlCol="0" anchor="ctr"/>
          <a:lstStyle/>
          <a:p>
            <a:pPr marL="0" indent="0">
              <a:buNone/>
            </a:pPr>
            <a:r>
              <a:rPr lang="en-US" sz="1400" b="1" dirty="0">
                <a:solidFill>
                  <a:srgbClr val="C05A3E"/>
                </a:solidFill>
                <a:latin typeface="Cambria" pitchFamily="34" charset="0"/>
                <a:ea typeface="Cambria" pitchFamily="34" charset="-122"/>
                <a:cs typeface="Cambria" pitchFamily="34" charset="-120"/>
              </a:rPr>
              <a:t>Why this essay and not another</a:t>
            </a:r>
            <a:endParaRPr lang="en-US" sz="1400" dirty="0"/>
          </a:p>
        </p:txBody>
      </p:sp>
      <p:sp>
        <p:nvSpPr>
          <p:cNvPr id="10" name="Text 8"/>
          <p:cNvSpPr txBox="1"/>
          <p:nvPr/>
        </p:nvSpPr>
        <p:spPr>
          <a:xfrm>
            <a:off x="7543800" y="2066544"/>
            <a:ext cx="3703320" cy="713232"/>
          </a:xfrm>
          <a:prstGeom prst="rect">
            <a:avLst/>
          </a:prstGeom>
          <a:noFill/>
          <a:ln/>
        </p:spPr>
        <p:txBody>
          <a:bodyPr wrap="square" lIns="0" tIns="0" rIns="0" bIns="0" rtlCol="0" anchor="ctr"/>
          <a:lstStyle/>
          <a:p>
            <a:pPr marL="0" indent="0">
              <a:lnSpc>
                <a:spcPts val="1500"/>
              </a:lnSpc>
              <a:buNone/>
            </a:pPr>
            <a:r>
              <a:rPr lang="en-US" sz="1150" dirty="0">
                <a:solidFill>
                  <a:srgbClr val="5A6472"/>
                </a:solidFill>
                <a:latin typeface="Calibri" pitchFamily="34" charset="0"/>
                <a:ea typeface="Calibri" pitchFamily="34" charset="-122"/>
                <a:cs typeface="Calibri" pitchFamily="34" charset="-120"/>
              </a:rPr>
              <a:t>The Norton’s eleven essays lean toward science, gender, ecology and race. This one is about reading — about a mind assembled from a corpus.</a:t>
            </a:r>
            <a:endParaRPr lang="en-US" sz="1150" dirty="0"/>
          </a:p>
        </p:txBody>
      </p:sp>
      <p:sp>
        <p:nvSpPr>
          <p:cNvPr id="11" name="Shape 9"/>
          <p:cNvSpPr/>
          <p:nvPr/>
        </p:nvSpPr>
        <p:spPr>
          <a:xfrm>
            <a:off x="7269480" y="2999232"/>
            <a:ext cx="4251960" cy="1298448"/>
          </a:xfrm>
          <a:prstGeom prst="roundRect">
            <a:avLst>
              <a:gd name="adj" fmla="val 5634"/>
            </a:avLst>
          </a:prstGeom>
          <a:solidFill>
            <a:srgbClr val="F3EEE5"/>
          </a:solidFill>
          <a:ln w="12700">
            <a:solidFill>
              <a:srgbClr val="F3EEE5"/>
            </a:solidFill>
            <a:prstDash val="solid"/>
          </a:ln>
        </p:spPr>
        <p:txBody>
          <a:bodyPr/>
          <a:lstStyle/>
          <a:p>
            <a:endParaRPr lang="en-US"/>
          </a:p>
        </p:txBody>
      </p:sp>
      <p:sp>
        <p:nvSpPr>
          <p:cNvPr id="12" name="Text 10"/>
          <p:cNvSpPr txBox="1"/>
          <p:nvPr/>
        </p:nvSpPr>
        <p:spPr>
          <a:xfrm>
            <a:off x="7543800" y="3145536"/>
            <a:ext cx="3703320" cy="310896"/>
          </a:xfrm>
          <a:prstGeom prst="rect">
            <a:avLst/>
          </a:prstGeom>
          <a:noFill/>
          <a:ln/>
        </p:spPr>
        <p:txBody>
          <a:bodyPr wrap="square" lIns="0" tIns="0" rIns="0" bIns="0" rtlCol="0" anchor="ctr"/>
          <a:lstStyle/>
          <a:p>
            <a:pPr marL="0" indent="0">
              <a:buNone/>
            </a:pPr>
            <a:r>
              <a:rPr lang="en-US" sz="1400" b="1" dirty="0">
                <a:solidFill>
                  <a:srgbClr val="101822"/>
                </a:solidFill>
                <a:latin typeface="Cambria" pitchFamily="34" charset="0"/>
                <a:ea typeface="Cambria" pitchFamily="34" charset="-122"/>
                <a:cs typeface="Cambria" pitchFamily="34" charset="-120"/>
              </a:rPr>
              <a:t>What to test it against</a:t>
            </a:r>
            <a:endParaRPr lang="en-US" sz="1400" dirty="0"/>
          </a:p>
        </p:txBody>
      </p:sp>
      <p:sp>
        <p:nvSpPr>
          <p:cNvPr id="13" name="Text 11"/>
          <p:cNvSpPr txBox="1"/>
          <p:nvPr/>
        </p:nvSpPr>
        <p:spPr>
          <a:xfrm>
            <a:off x="7543800" y="3493008"/>
            <a:ext cx="3703320" cy="713232"/>
          </a:xfrm>
          <a:prstGeom prst="rect">
            <a:avLst/>
          </a:prstGeom>
          <a:noFill/>
          <a:ln/>
        </p:spPr>
        <p:txBody>
          <a:bodyPr wrap="square" lIns="0" tIns="0" rIns="0" bIns="0" rtlCol="0" anchor="ctr"/>
          <a:lstStyle/>
          <a:p>
            <a:pPr marL="0" indent="0">
              <a:lnSpc>
                <a:spcPts val="1500"/>
              </a:lnSpc>
              <a:buNone/>
            </a:pPr>
            <a:r>
              <a:rPr lang="en-US" sz="1150" dirty="0">
                <a:solidFill>
                  <a:srgbClr val="5A6472"/>
                </a:solidFill>
                <a:latin typeface="Calibri" pitchFamily="34" charset="0"/>
                <a:ea typeface="Calibri" pitchFamily="34" charset="-122"/>
                <a:cs typeface="Calibri" pitchFamily="34" charset="-120"/>
              </a:rPr>
              <a:t>Volume II, chapters V–VII. Whether the essay’s account of self-education matches what the novel actually shows, and where it has to leave something out?</a:t>
            </a:r>
            <a:endParaRPr lang="en-US" sz="1150" dirty="0"/>
          </a:p>
        </p:txBody>
      </p:sp>
      <p:sp>
        <p:nvSpPr>
          <p:cNvPr id="14" name="Shape 12"/>
          <p:cNvSpPr/>
          <p:nvPr/>
        </p:nvSpPr>
        <p:spPr>
          <a:xfrm>
            <a:off x="7269480" y="4425696"/>
            <a:ext cx="4251960" cy="1298448"/>
          </a:xfrm>
          <a:prstGeom prst="roundRect">
            <a:avLst>
              <a:gd name="adj" fmla="val 5634"/>
            </a:avLst>
          </a:prstGeom>
          <a:solidFill>
            <a:srgbClr val="F3EEE5"/>
          </a:solidFill>
          <a:ln w="12700">
            <a:solidFill>
              <a:srgbClr val="F3EEE5"/>
            </a:solidFill>
            <a:prstDash val="solid"/>
          </a:ln>
        </p:spPr>
        <p:txBody>
          <a:bodyPr/>
          <a:lstStyle/>
          <a:p>
            <a:endParaRPr lang="en-US"/>
          </a:p>
        </p:txBody>
      </p:sp>
      <p:sp>
        <p:nvSpPr>
          <p:cNvPr id="15" name="Text 13"/>
          <p:cNvSpPr txBox="1"/>
          <p:nvPr/>
        </p:nvSpPr>
        <p:spPr>
          <a:xfrm>
            <a:off x="7543800" y="4572000"/>
            <a:ext cx="3703320" cy="310896"/>
          </a:xfrm>
          <a:prstGeom prst="rect">
            <a:avLst/>
          </a:prstGeom>
          <a:noFill/>
          <a:ln/>
        </p:spPr>
        <p:txBody>
          <a:bodyPr wrap="square" lIns="0" tIns="0" rIns="0" bIns="0" rtlCol="0" anchor="ctr"/>
          <a:lstStyle/>
          <a:p>
            <a:pPr marL="0" indent="0">
              <a:buNone/>
            </a:pPr>
            <a:r>
              <a:rPr lang="en-US" sz="1400" b="1" dirty="0">
                <a:solidFill>
                  <a:srgbClr val="101822"/>
                </a:solidFill>
                <a:latin typeface="Cambria" pitchFamily="34" charset="0"/>
                <a:ea typeface="Cambria" pitchFamily="34" charset="-122"/>
              </a:rPr>
              <a:t>Related materials</a:t>
            </a:r>
            <a:endParaRPr lang="en-US" sz="1400" dirty="0"/>
          </a:p>
        </p:txBody>
      </p:sp>
      <p:sp>
        <p:nvSpPr>
          <p:cNvPr id="16" name="Text 14"/>
          <p:cNvSpPr txBox="1"/>
          <p:nvPr/>
        </p:nvSpPr>
        <p:spPr>
          <a:xfrm>
            <a:off x="7543800" y="4919472"/>
            <a:ext cx="3703320" cy="713232"/>
          </a:xfrm>
          <a:prstGeom prst="rect">
            <a:avLst/>
          </a:prstGeom>
          <a:noFill/>
          <a:ln/>
        </p:spPr>
        <p:txBody>
          <a:bodyPr wrap="square" lIns="0" tIns="0" rIns="0" bIns="0" rtlCol="0" anchor="ctr"/>
          <a:lstStyle/>
          <a:p>
            <a:pPr marL="0" indent="0">
              <a:lnSpc>
                <a:spcPts val="1500"/>
              </a:lnSpc>
              <a:buNone/>
            </a:pPr>
            <a:r>
              <a:rPr lang="en-US" sz="1150" dirty="0">
                <a:solidFill>
                  <a:srgbClr val="5A6472"/>
                </a:solidFill>
                <a:latin typeface="Calibri" pitchFamily="34" charset="0"/>
                <a:ea typeface="Calibri" pitchFamily="34" charset="-122"/>
                <a:cs typeface="Calibri" pitchFamily="34" charset="-120"/>
              </a:rPr>
              <a:t>Elizabeth Young on Black Frankenstein and Anne Mellor on racial science, both in the same section — they take up how the reception of a made body gets racialised.</a:t>
            </a:r>
            <a:endParaRPr lang="en-US" sz="1150" dirty="0"/>
          </a:p>
        </p:txBody>
      </p:sp>
      <p:sp>
        <p:nvSpPr>
          <p:cNvPr id="17" name="Shape 15"/>
          <p:cNvSpPr/>
          <p:nvPr/>
        </p:nvSpPr>
        <p:spPr>
          <a:xfrm>
            <a:off x="640080" y="4069080"/>
            <a:ext cx="6309360" cy="1691640"/>
          </a:xfrm>
          <a:prstGeom prst="roundRect">
            <a:avLst>
              <a:gd name="adj" fmla="val 4324"/>
            </a:avLst>
          </a:prstGeom>
          <a:solidFill>
            <a:srgbClr val="F3EEE5"/>
          </a:solidFill>
          <a:ln w="12700">
            <a:solidFill>
              <a:srgbClr val="F3EEE5"/>
            </a:solidFill>
            <a:prstDash val="solid"/>
          </a:ln>
        </p:spPr>
        <p:txBody>
          <a:bodyPr/>
          <a:lstStyle/>
          <a:p>
            <a:endParaRPr lang="en-US"/>
          </a:p>
        </p:txBody>
      </p:sp>
      <p:sp>
        <p:nvSpPr>
          <p:cNvPr id="18" name="Text 16"/>
          <p:cNvSpPr txBox="1"/>
          <p:nvPr/>
        </p:nvSpPr>
        <p:spPr>
          <a:xfrm>
            <a:off x="1005840" y="4251960"/>
            <a:ext cx="5577840" cy="310896"/>
          </a:xfrm>
          <a:prstGeom prst="rect">
            <a:avLst/>
          </a:prstGeom>
          <a:noFill/>
          <a:ln/>
        </p:spPr>
        <p:txBody>
          <a:bodyPr wrap="square" lIns="0" tIns="0" rIns="0" bIns="0" rtlCol="0" anchor="ctr"/>
          <a:lstStyle/>
          <a:p>
            <a:pPr marL="0" indent="0">
              <a:buNone/>
            </a:pPr>
            <a:r>
              <a:rPr lang="en-US" sz="1600" b="1" dirty="0">
                <a:solidFill>
                  <a:srgbClr val="101822"/>
                </a:solidFill>
                <a:latin typeface="Cambria" pitchFamily="34" charset="0"/>
                <a:ea typeface="Cambria" pitchFamily="34" charset="-122"/>
                <a:cs typeface="Cambria" pitchFamily="34" charset="-120"/>
              </a:rPr>
              <a:t>Discussion</a:t>
            </a:r>
            <a:endParaRPr lang="en-US" sz="1600" dirty="0"/>
          </a:p>
        </p:txBody>
      </p:sp>
      <p:sp>
        <p:nvSpPr>
          <p:cNvPr id="19" name="Text 17"/>
          <p:cNvSpPr txBox="1"/>
          <p:nvPr/>
        </p:nvSpPr>
        <p:spPr>
          <a:xfrm>
            <a:off x="1005840" y="4645152"/>
            <a:ext cx="5577840" cy="960120"/>
          </a:xfrm>
          <a:prstGeom prst="rect">
            <a:avLst/>
          </a:prstGeom>
          <a:noFill/>
          <a:ln/>
        </p:spPr>
        <p:txBody>
          <a:bodyPr wrap="square" lIns="0" tIns="0" rIns="0" bIns="0" rtlCol="0" anchor="ctr"/>
          <a:lstStyle/>
          <a:p>
            <a:pPr marL="0" indent="0">
              <a:lnSpc>
                <a:spcPts val="1700"/>
              </a:lnSpc>
              <a:buNone/>
            </a:pPr>
            <a:r>
              <a:rPr lang="en-US" sz="1250" dirty="0">
                <a:solidFill>
                  <a:srgbClr val="5A6472"/>
                </a:solidFill>
                <a:latin typeface="Calibri" pitchFamily="34" charset="0"/>
                <a:ea typeface="Calibri" pitchFamily="34" charset="-122"/>
                <a:cs typeface="Calibri" pitchFamily="34" charset="-120"/>
              </a:rPr>
              <a:t>Brantlinger’s anxious elite feared a reading public they could not supervise, formed by cheap print they did not select. Ask students to name the present-day version of that fear without letting them settle for the easy answer — and to say who, in the current version, is cast as the De Laceys.</a:t>
            </a:r>
            <a:endParaRPr lang="en-US" sz="1250" dirty="0"/>
          </a:p>
        </p:txBody>
      </p:sp>
      <p:sp>
        <p:nvSpPr>
          <p:cNvPr id="20" name="Text 18"/>
          <p:cNvSpPr txBox="1"/>
          <p:nvPr/>
        </p:nvSpPr>
        <p:spPr>
          <a:xfrm>
            <a:off x="640080" y="6272784"/>
            <a:ext cx="10911535" cy="274320"/>
          </a:xfrm>
          <a:prstGeom prst="rect">
            <a:avLst/>
          </a:prstGeom>
          <a:noFill/>
          <a:ln/>
        </p:spPr>
        <p:txBody>
          <a:bodyPr wrap="square" lIns="0" tIns="0" rIns="0" bIns="0" rtlCol="0" anchor="ctr"/>
          <a:lstStyle/>
          <a:p>
            <a:pPr marL="0" indent="0">
              <a:buNone/>
            </a:pPr>
            <a:r>
              <a:rPr lang="en-US" sz="1000" i="1" dirty="0">
                <a:solidFill>
                  <a:srgbClr val="5A6472"/>
                </a:solidFill>
                <a:latin typeface="Calibri" pitchFamily="34" charset="0"/>
                <a:ea typeface="Calibri" pitchFamily="34" charset="-122"/>
                <a:cs typeface="Calibri" pitchFamily="34" charset="-120"/>
              </a:rPr>
              <a:t>Patrick Brantlinger, from “The Reading Monster,” in Norton Critical Edition, 3rd ed., “Modern Criticism.” The Norton prints an excerpt — check its length before setting reading time.</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4">
    <p:bg>
      <p:bgPr>
        <a:solidFill>
          <a:srgbClr val="101822"/>
        </a:solidFill>
        <a:effectLst/>
      </p:bgPr>
    </p:bg>
    <p:spTree>
      <p:nvGrpSpPr>
        <p:cNvPr id="1" name=""/>
        <p:cNvGrpSpPr/>
        <p:nvPr/>
      </p:nvGrpSpPr>
      <p:grpSpPr>
        <a:xfrm>
          <a:off x="0" y="0"/>
          <a:ext cx="0" cy="0"/>
          <a:chOff x="0" y="0"/>
          <a:chExt cx="0" cy="0"/>
        </a:xfrm>
      </p:grpSpPr>
      <p:sp>
        <p:nvSpPr>
          <p:cNvPr id="2" name="Shape 0"/>
          <p:cNvSpPr/>
          <p:nvPr/>
        </p:nvSpPr>
        <p:spPr>
          <a:xfrm>
            <a:off x="640080" y="502920"/>
            <a:ext cx="137160" cy="137160"/>
          </a:xfrm>
          <a:prstGeom prst="ellipse">
            <a:avLst/>
          </a:prstGeom>
          <a:solidFill>
            <a:srgbClr val="E08A6E"/>
          </a:solidFill>
          <a:ln/>
        </p:spPr>
        <p:txBody>
          <a:bodyPr/>
          <a:lstStyle/>
          <a:p>
            <a:endParaRPr lang="en-US"/>
          </a:p>
        </p:txBody>
      </p:sp>
      <p:sp>
        <p:nvSpPr>
          <p:cNvPr id="3" name="Text 1"/>
          <p:cNvSpPr txBox="1"/>
          <p:nvPr/>
        </p:nvSpPr>
        <p:spPr>
          <a:xfrm>
            <a:off x="886968" y="438912"/>
            <a:ext cx="10515600" cy="274320"/>
          </a:xfrm>
          <a:prstGeom prst="rect">
            <a:avLst/>
          </a:prstGeom>
          <a:noFill/>
          <a:ln/>
        </p:spPr>
        <p:txBody>
          <a:bodyPr wrap="square" lIns="0" tIns="0" rIns="0" bIns="0" rtlCol="0" anchor="ctr"/>
          <a:lstStyle/>
          <a:p>
            <a:pPr marL="0" indent="0">
              <a:buNone/>
            </a:pPr>
            <a:r>
              <a:rPr lang="en-US" sz="1100" b="1" kern="0" spc="160" dirty="0">
                <a:solidFill>
                  <a:srgbClr val="E08A6E"/>
                </a:solidFill>
                <a:latin typeface="Calibri" pitchFamily="34" charset="0"/>
                <a:ea typeface="Calibri" pitchFamily="34" charset="-122"/>
                <a:cs typeface="Calibri" pitchFamily="34" charset="-120"/>
              </a:rPr>
              <a:t>GROUP WORK </a:t>
            </a:r>
            <a:endParaRPr lang="en-US" sz="1100" dirty="0"/>
          </a:p>
        </p:txBody>
      </p:sp>
      <p:sp>
        <p:nvSpPr>
          <p:cNvPr id="4" name="Text 2"/>
          <p:cNvSpPr txBox="1"/>
          <p:nvPr/>
        </p:nvSpPr>
        <p:spPr>
          <a:xfrm>
            <a:off x="640080" y="868680"/>
            <a:ext cx="10911535" cy="640080"/>
          </a:xfrm>
          <a:prstGeom prst="rect">
            <a:avLst/>
          </a:prstGeom>
          <a:noFill/>
          <a:ln/>
        </p:spPr>
        <p:txBody>
          <a:bodyPr wrap="square" lIns="0" tIns="0" rIns="0" bIns="0" rtlCol="0" anchor="ctr"/>
          <a:lstStyle/>
          <a:p>
            <a:pPr marL="0" indent="0">
              <a:buNone/>
            </a:pPr>
            <a:r>
              <a:rPr lang="en-US" sz="3300" b="1" dirty="0">
                <a:solidFill>
                  <a:srgbClr val="EDE5D8"/>
                </a:solidFill>
                <a:latin typeface="Cambria" pitchFamily="34" charset="0"/>
                <a:ea typeface="Cambria" pitchFamily="34" charset="-122"/>
                <a:cs typeface="Cambria" pitchFamily="34" charset="-120"/>
              </a:rPr>
              <a:t>Build the case</a:t>
            </a:r>
            <a:endParaRPr lang="en-US" sz="3300" dirty="0"/>
          </a:p>
        </p:txBody>
      </p:sp>
      <p:sp>
        <p:nvSpPr>
          <p:cNvPr id="5" name="Shape 3"/>
          <p:cNvSpPr/>
          <p:nvPr/>
        </p:nvSpPr>
        <p:spPr>
          <a:xfrm>
            <a:off x="640080" y="1691640"/>
            <a:ext cx="5309464" cy="1389888"/>
          </a:xfrm>
          <a:prstGeom prst="roundRect">
            <a:avLst>
              <a:gd name="adj" fmla="val 5263"/>
            </a:avLst>
          </a:prstGeom>
          <a:solidFill>
            <a:srgbClr val="1E2836"/>
          </a:solidFill>
          <a:ln w="12700">
            <a:solidFill>
              <a:srgbClr val="1E2836"/>
            </a:solidFill>
            <a:prstDash val="solid"/>
          </a:ln>
        </p:spPr>
        <p:txBody>
          <a:bodyPr/>
          <a:lstStyle/>
          <a:p>
            <a:endParaRPr lang="en-US"/>
          </a:p>
        </p:txBody>
      </p:sp>
      <p:sp>
        <p:nvSpPr>
          <p:cNvPr id="6" name="Shape 4"/>
          <p:cNvSpPr/>
          <p:nvPr/>
        </p:nvSpPr>
        <p:spPr>
          <a:xfrm>
            <a:off x="932688" y="1965960"/>
            <a:ext cx="384048" cy="384048"/>
          </a:xfrm>
          <a:prstGeom prst="ellipse">
            <a:avLst/>
          </a:prstGeom>
          <a:solidFill>
            <a:srgbClr val="C05A3E"/>
          </a:solidFill>
          <a:ln/>
        </p:spPr>
        <p:txBody>
          <a:bodyPr/>
          <a:lstStyle/>
          <a:p>
            <a:endParaRPr lang="en-US"/>
          </a:p>
        </p:txBody>
      </p:sp>
      <p:sp>
        <p:nvSpPr>
          <p:cNvPr id="7" name="Text 5"/>
          <p:cNvSpPr txBox="1"/>
          <p:nvPr/>
        </p:nvSpPr>
        <p:spPr>
          <a:xfrm>
            <a:off x="932688" y="196596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554480" y="1984248"/>
            <a:ext cx="4120744" cy="329184"/>
          </a:xfrm>
          <a:prstGeom prst="rect">
            <a:avLst/>
          </a:prstGeom>
          <a:noFill/>
          <a:ln/>
        </p:spPr>
        <p:txBody>
          <a:bodyPr wrap="square" lIns="0" tIns="0" rIns="0" bIns="0" rtlCol="0" anchor="ctr"/>
          <a:lstStyle/>
          <a:p>
            <a:pPr marL="0" indent="0">
              <a:buNone/>
            </a:pPr>
            <a:r>
              <a:rPr lang="en-US" sz="1700" b="1" dirty="0">
                <a:solidFill>
                  <a:srgbClr val="EDE5D8"/>
                </a:solidFill>
                <a:latin typeface="Cambria" pitchFamily="34" charset="0"/>
                <a:ea typeface="Cambria" pitchFamily="34" charset="-122"/>
                <a:cs typeface="Cambria" pitchFamily="34" charset="-120"/>
              </a:rPr>
              <a:t>Prosecution</a:t>
            </a:r>
            <a:endParaRPr lang="en-US" sz="1700" dirty="0"/>
          </a:p>
        </p:txBody>
      </p:sp>
      <p:sp>
        <p:nvSpPr>
          <p:cNvPr id="9" name="Text 7"/>
          <p:cNvSpPr txBox="1"/>
          <p:nvPr/>
        </p:nvSpPr>
        <p:spPr>
          <a:xfrm>
            <a:off x="932688" y="2441448"/>
            <a:ext cx="4724248" cy="566928"/>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Make the case that Victor’s decisive wrong is the abandonment in Vol I, ch. V, not the creation in ch. IV. Cite two passages.</a:t>
            </a:r>
            <a:endParaRPr lang="en-US" sz="1250" dirty="0"/>
          </a:p>
        </p:txBody>
      </p:sp>
      <p:sp>
        <p:nvSpPr>
          <p:cNvPr id="10" name="Shape 8"/>
          <p:cNvSpPr/>
          <p:nvPr/>
        </p:nvSpPr>
        <p:spPr>
          <a:xfrm>
            <a:off x="6242152" y="1691640"/>
            <a:ext cx="5309464" cy="1389888"/>
          </a:xfrm>
          <a:prstGeom prst="roundRect">
            <a:avLst>
              <a:gd name="adj" fmla="val 5263"/>
            </a:avLst>
          </a:prstGeom>
          <a:solidFill>
            <a:srgbClr val="1E2836"/>
          </a:solidFill>
          <a:ln w="12700">
            <a:solidFill>
              <a:srgbClr val="1E2836"/>
            </a:solidFill>
            <a:prstDash val="solid"/>
          </a:ln>
        </p:spPr>
        <p:txBody>
          <a:bodyPr/>
          <a:lstStyle/>
          <a:p>
            <a:endParaRPr lang="en-US"/>
          </a:p>
        </p:txBody>
      </p:sp>
      <p:sp>
        <p:nvSpPr>
          <p:cNvPr id="11" name="Shape 9"/>
          <p:cNvSpPr/>
          <p:nvPr/>
        </p:nvSpPr>
        <p:spPr>
          <a:xfrm>
            <a:off x="6534760" y="1965960"/>
            <a:ext cx="384048" cy="384048"/>
          </a:xfrm>
          <a:prstGeom prst="ellipse">
            <a:avLst/>
          </a:prstGeom>
          <a:solidFill>
            <a:srgbClr val="C05A3E"/>
          </a:solidFill>
          <a:ln/>
        </p:spPr>
        <p:txBody>
          <a:bodyPr/>
          <a:lstStyle/>
          <a:p>
            <a:endParaRPr lang="en-US"/>
          </a:p>
        </p:txBody>
      </p:sp>
      <p:sp>
        <p:nvSpPr>
          <p:cNvPr id="12" name="Text 10"/>
          <p:cNvSpPr txBox="1"/>
          <p:nvPr/>
        </p:nvSpPr>
        <p:spPr>
          <a:xfrm>
            <a:off x="6534760" y="196596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7156552" y="1984248"/>
            <a:ext cx="4120744" cy="329184"/>
          </a:xfrm>
          <a:prstGeom prst="rect">
            <a:avLst/>
          </a:prstGeom>
          <a:noFill/>
          <a:ln/>
        </p:spPr>
        <p:txBody>
          <a:bodyPr wrap="square" lIns="0" tIns="0" rIns="0" bIns="0" rtlCol="0" anchor="ctr"/>
          <a:lstStyle/>
          <a:p>
            <a:pPr marL="0" indent="0">
              <a:buNone/>
            </a:pPr>
            <a:r>
              <a:rPr lang="en-US" sz="1700" b="1" dirty="0">
                <a:solidFill>
                  <a:srgbClr val="EDE5D8"/>
                </a:solidFill>
                <a:latin typeface="Cambria" pitchFamily="34" charset="0"/>
                <a:ea typeface="Cambria" pitchFamily="34" charset="-122"/>
                <a:cs typeface="Cambria" pitchFamily="34" charset="-120"/>
              </a:rPr>
              <a:t>Defence</a:t>
            </a:r>
            <a:endParaRPr lang="en-US" sz="1700" dirty="0"/>
          </a:p>
        </p:txBody>
      </p:sp>
      <p:sp>
        <p:nvSpPr>
          <p:cNvPr id="14" name="Text 12"/>
          <p:cNvSpPr txBox="1"/>
          <p:nvPr/>
        </p:nvSpPr>
        <p:spPr>
          <a:xfrm>
            <a:off x="6534760" y="2441448"/>
            <a:ext cx="4724248" cy="566928"/>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Make the strongest possible case for the Orkney decision (Vol III, ch. III) on its own terms. You must engage the fact that she was never asked.</a:t>
            </a:r>
            <a:endParaRPr lang="en-US" sz="1250" dirty="0"/>
          </a:p>
        </p:txBody>
      </p:sp>
      <p:sp>
        <p:nvSpPr>
          <p:cNvPr id="15" name="Shape 13"/>
          <p:cNvSpPr/>
          <p:nvPr/>
        </p:nvSpPr>
        <p:spPr>
          <a:xfrm>
            <a:off x="640080" y="3264408"/>
            <a:ext cx="5309464" cy="1389888"/>
          </a:xfrm>
          <a:prstGeom prst="roundRect">
            <a:avLst>
              <a:gd name="adj" fmla="val 5263"/>
            </a:avLst>
          </a:prstGeom>
          <a:solidFill>
            <a:srgbClr val="1E2836"/>
          </a:solidFill>
          <a:ln w="12700">
            <a:solidFill>
              <a:srgbClr val="1E2836"/>
            </a:solidFill>
            <a:prstDash val="solid"/>
          </a:ln>
        </p:spPr>
        <p:txBody>
          <a:bodyPr/>
          <a:lstStyle/>
          <a:p>
            <a:endParaRPr lang="en-US"/>
          </a:p>
        </p:txBody>
      </p:sp>
      <p:sp>
        <p:nvSpPr>
          <p:cNvPr id="16" name="Shape 14"/>
          <p:cNvSpPr/>
          <p:nvPr/>
        </p:nvSpPr>
        <p:spPr>
          <a:xfrm>
            <a:off x="932688" y="3538728"/>
            <a:ext cx="384048" cy="384048"/>
          </a:xfrm>
          <a:prstGeom prst="ellipse">
            <a:avLst/>
          </a:prstGeom>
          <a:solidFill>
            <a:srgbClr val="C05A3E"/>
          </a:solidFill>
          <a:ln/>
        </p:spPr>
        <p:txBody>
          <a:bodyPr/>
          <a:lstStyle/>
          <a:p>
            <a:endParaRPr lang="en-US"/>
          </a:p>
        </p:txBody>
      </p:sp>
      <p:sp>
        <p:nvSpPr>
          <p:cNvPr id="17" name="Text 15"/>
          <p:cNvSpPr txBox="1"/>
          <p:nvPr/>
        </p:nvSpPr>
        <p:spPr>
          <a:xfrm>
            <a:off x="932688" y="353872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554480" y="3557016"/>
            <a:ext cx="4120744" cy="329184"/>
          </a:xfrm>
          <a:prstGeom prst="rect">
            <a:avLst/>
          </a:prstGeom>
          <a:noFill/>
          <a:ln/>
        </p:spPr>
        <p:txBody>
          <a:bodyPr wrap="square" lIns="0" tIns="0" rIns="0" bIns="0" rtlCol="0" anchor="ctr"/>
          <a:lstStyle/>
          <a:p>
            <a:pPr marL="0" indent="0">
              <a:buNone/>
            </a:pPr>
            <a:r>
              <a:rPr lang="en-US" sz="1700" b="1" dirty="0">
                <a:solidFill>
                  <a:srgbClr val="EDE5D8"/>
                </a:solidFill>
                <a:latin typeface="Cambria" pitchFamily="34" charset="0"/>
                <a:ea typeface="Cambria" pitchFamily="34" charset="-122"/>
                <a:cs typeface="Cambria" pitchFamily="34" charset="-120"/>
              </a:rPr>
              <a:t>The corpus</a:t>
            </a:r>
            <a:endParaRPr lang="en-US" sz="1700" dirty="0"/>
          </a:p>
        </p:txBody>
      </p:sp>
      <p:sp>
        <p:nvSpPr>
          <p:cNvPr id="19" name="Text 17"/>
          <p:cNvSpPr txBox="1"/>
          <p:nvPr/>
        </p:nvSpPr>
        <p:spPr>
          <a:xfrm>
            <a:off x="932688" y="4014216"/>
            <a:ext cx="4724248" cy="566928"/>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Using Vol II, ch. V–VII and Brantlinger, argue whether the creature’s values are his own. State your criterion first.</a:t>
            </a:r>
            <a:endParaRPr lang="en-US" sz="1250" dirty="0"/>
          </a:p>
        </p:txBody>
      </p:sp>
      <p:sp>
        <p:nvSpPr>
          <p:cNvPr id="20" name="Shape 18"/>
          <p:cNvSpPr/>
          <p:nvPr/>
        </p:nvSpPr>
        <p:spPr>
          <a:xfrm>
            <a:off x="6242152" y="3264408"/>
            <a:ext cx="5309464" cy="1389888"/>
          </a:xfrm>
          <a:prstGeom prst="roundRect">
            <a:avLst>
              <a:gd name="adj" fmla="val 5263"/>
            </a:avLst>
          </a:prstGeom>
          <a:solidFill>
            <a:srgbClr val="1E2836"/>
          </a:solidFill>
          <a:ln w="12700">
            <a:solidFill>
              <a:srgbClr val="1E2836"/>
            </a:solidFill>
            <a:prstDash val="solid"/>
          </a:ln>
        </p:spPr>
        <p:txBody>
          <a:bodyPr/>
          <a:lstStyle/>
          <a:p>
            <a:endParaRPr lang="en-US"/>
          </a:p>
        </p:txBody>
      </p:sp>
      <p:sp>
        <p:nvSpPr>
          <p:cNvPr id="21" name="Shape 19"/>
          <p:cNvSpPr/>
          <p:nvPr/>
        </p:nvSpPr>
        <p:spPr>
          <a:xfrm>
            <a:off x="6534760" y="3538728"/>
            <a:ext cx="384048" cy="384048"/>
          </a:xfrm>
          <a:prstGeom prst="ellipse">
            <a:avLst/>
          </a:prstGeom>
          <a:solidFill>
            <a:srgbClr val="C05A3E"/>
          </a:solidFill>
          <a:ln/>
        </p:spPr>
        <p:txBody>
          <a:bodyPr/>
          <a:lstStyle/>
          <a:p>
            <a:endParaRPr lang="en-US"/>
          </a:p>
        </p:txBody>
      </p:sp>
      <p:sp>
        <p:nvSpPr>
          <p:cNvPr id="22" name="Text 20"/>
          <p:cNvSpPr txBox="1"/>
          <p:nvPr/>
        </p:nvSpPr>
        <p:spPr>
          <a:xfrm>
            <a:off x="6534760" y="353872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txBox="1"/>
          <p:nvPr/>
        </p:nvSpPr>
        <p:spPr>
          <a:xfrm>
            <a:off x="7156552" y="3557016"/>
            <a:ext cx="4120744" cy="329184"/>
          </a:xfrm>
          <a:prstGeom prst="rect">
            <a:avLst/>
          </a:prstGeom>
          <a:noFill/>
          <a:ln/>
        </p:spPr>
        <p:txBody>
          <a:bodyPr wrap="square" lIns="0" tIns="0" rIns="0" bIns="0" rtlCol="0" anchor="ctr"/>
          <a:lstStyle/>
          <a:p>
            <a:pPr marL="0" indent="0">
              <a:buNone/>
            </a:pPr>
            <a:r>
              <a:rPr lang="en-US" sz="1700" b="1" dirty="0">
                <a:solidFill>
                  <a:srgbClr val="EDE5D8"/>
                </a:solidFill>
                <a:latin typeface="Cambria" pitchFamily="34" charset="0"/>
                <a:ea typeface="Cambria" pitchFamily="34" charset="-122"/>
                <a:cs typeface="Cambria" pitchFamily="34" charset="-120"/>
              </a:rPr>
              <a:t>The frame</a:t>
            </a:r>
            <a:endParaRPr lang="en-US" sz="1700" dirty="0"/>
          </a:p>
        </p:txBody>
      </p:sp>
      <p:sp>
        <p:nvSpPr>
          <p:cNvPr id="24" name="Text 22"/>
          <p:cNvSpPr txBox="1"/>
          <p:nvPr/>
        </p:nvSpPr>
        <p:spPr>
          <a:xfrm>
            <a:off x="6534760" y="4014216"/>
            <a:ext cx="4724248" cy="566928"/>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Everything the creature says reaches us through Victor. Argue whether that makes his testimony more or less credible, and why Shelley built it that way.</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29768"/>
            <a:ext cx="137160" cy="137160"/>
          </a:xfrm>
          <a:prstGeom prst="ellipse">
            <a:avLst/>
          </a:prstGeom>
          <a:solidFill>
            <a:srgbClr val="C05A3E"/>
          </a:solidFill>
          <a:ln/>
        </p:spPr>
        <p:txBody>
          <a:bodyPr/>
          <a:lstStyle/>
          <a:p>
            <a:endParaRPr lang="en-US"/>
          </a:p>
        </p:txBody>
      </p:sp>
      <p:sp>
        <p:nvSpPr>
          <p:cNvPr id="3" name="Text 1"/>
          <p:cNvSpPr txBox="1"/>
          <p:nvPr/>
        </p:nvSpPr>
        <p:spPr>
          <a:xfrm>
            <a:off x="886968" y="365760"/>
            <a:ext cx="10058400" cy="274320"/>
          </a:xfrm>
          <a:prstGeom prst="rect">
            <a:avLst/>
          </a:prstGeom>
          <a:noFill/>
          <a:ln/>
        </p:spPr>
        <p:txBody>
          <a:bodyPr wrap="square" lIns="0" tIns="0" rIns="0" bIns="0" rtlCol="0" anchor="ctr"/>
          <a:lstStyle/>
          <a:p>
            <a:pPr marL="0" indent="0">
              <a:buNone/>
            </a:pPr>
            <a:r>
              <a:rPr lang="en-US" sz="1100" b="1" kern="0" spc="160" dirty="0">
                <a:solidFill>
                  <a:srgbClr val="5A6472"/>
                </a:solidFill>
                <a:latin typeface="Calibri" pitchFamily="34" charset="0"/>
                <a:ea typeface="Calibri" pitchFamily="34" charset="-122"/>
                <a:cs typeface="Calibri" pitchFamily="34" charset="-120"/>
              </a:rPr>
              <a:t>CLOSING</a:t>
            </a:r>
            <a:endParaRPr lang="en-US" sz="1100" dirty="0"/>
          </a:p>
        </p:txBody>
      </p:sp>
      <p:sp>
        <p:nvSpPr>
          <p:cNvPr id="4" name="Text 2"/>
          <p:cNvSpPr txBox="1"/>
          <p:nvPr/>
        </p:nvSpPr>
        <p:spPr>
          <a:xfrm>
            <a:off x="640080" y="713232"/>
            <a:ext cx="10911535" cy="658368"/>
          </a:xfrm>
          <a:prstGeom prst="rect">
            <a:avLst/>
          </a:prstGeom>
          <a:noFill/>
          <a:ln/>
        </p:spPr>
        <p:txBody>
          <a:bodyPr wrap="square" lIns="0" tIns="0" rIns="0" bIns="0" rtlCol="0" anchor="ctr"/>
          <a:lstStyle/>
          <a:p>
            <a:pPr marL="0" indent="0">
              <a:buNone/>
            </a:pPr>
            <a:r>
              <a:rPr lang="en-US" sz="3000" b="1" dirty="0">
                <a:solidFill>
                  <a:srgbClr val="101822"/>
                </a:solidFill>
                <a:latin typeface="Cambria" pitchFamily="34" charset="0"/>
                <a:ea typeface="Cambria" pitchFamily="34" charset="-122"/>
                <a:cs typeface="Cambria" pitchFamily="34" charset="-120"/>
              </a:rPr>
              <a:t>What the novel actually answers</a:t>
            </a:r>
            <a:endParaRPr lang="en-US" sz="3000" dirty="0"/>
          </a:p>
        </p:txBody>
      </p:sp>
      <p:sp>
        <p:nvSpPr>
          <p:cNvPr id="5" name="Shape 3"/>
          <p:cNvSpPr/>
          <p:nvPr/>
        </p:nvSpPr>
        <p:spPr>
          <a:xfrm>
            <a:off x="640080" y="1554480"/>
            <a:ext cx="10911535" cy="777240"/>
          </a:xfrm>
          <a:prstGeom prst="roundRect">
            <a:avLst>
              <a:gd name="adj" fmla="val 9412"/>
            </a:avLst>
          </a:prstGeom>
          <a:solidFill>
            <a:srgbClr val="101822"/>
          </a:solidFill>
          <a:ln w="12700">
            <a:solidFill>
              <a:srgbClr val="101822"/>
            </a:solidFill>
            <a:prstDash val="solid"/>
          </a:ln>
        </p:spPr>
        <p:txBody>
          <a:bodyPr/>
          <a:lstStyle/>
          <a:p>
            <a:endParaRPr lang="en-US"/>
          </a:p>
        </p:txBody>
      </p:sp>
      <p:sp>
        <p:nvSpPr>
          <p:cNvPr id="6" name="Text 4"/>
          <p:cNvSpPr txBox="1"/>
          <p:nvPr/>
        </p:nvSpPr>
        <p:spPr>
          <a:xfrm>
            <a:off x="1005840" y="1554480"/>
            <a:ext cx="10424160" cy="777240"/>
          </a:xfrm>
          <a:prstGeom prst="rect">
            <a:avLst/>
          </a:prstGeom>
          <a:noFill/>
          <a:ln/>
        </p:spPr>
        <p:txBody>
          <a:bodyPr wrap="square" lIns="0" tIns="0" rIns="0" bIns="0" rtlCol="0" anchor="ctr"/>
          <a:lstStyle/>
          <a:p>
            <a:pPr marL="0" indent="0">
              <a:buNone/>
            </a:pPr>
            <a:r>
              <a:rPr lang="en-US" sz="2200" b="1" dirty="0">
                <a:solidFill>
                  <a:srgbClr val="EDE5D8"/>
                </a:solidFill>
                <a:latin typeface="Cambria" pitchFamily="34" charset="0"/>
                <a:ea typeface="Cambria" pitchFamily="34" charset="-122"/>
                <a:cs typeface="Cambria" pitchFamily="34" charset="-120"/>
              </a:rPr>
              <a:t>What does a maker owe what they have made?</a:t>
            </a:r>
            <a:endParaRPr lang="en-US" sz="2200" dirty="0"/>
          </a:p>
        </p:txBody>
      </p:sp>
      <p:sp>
        <p:nvSpPr>
          <p:cNvPr id="7" name="Shape 5"/>
          <p:cNvSpPr/>
          <p:nvPr/>
        </p:nvSpPr>
        <p:spPr>
          <a:xfrm>
            <a:off x="640080" y="2514600"/>
            <a:ext cx="3454298" cy="2286000"/>
          </a:xfrm>
          <a:prstGeom prst="roundRect">
            <a:avLst>
              <a:gd name="adj" fmla="val 3200"/>
            </a:avLst>
          </a:prstGeom>
          <a:solidFill>
            <a:srgbClr val="F3EEE5"/>
          </a:solidFill>
          <a:ln w="12700">
            <a:solidFill>
              <a:srgbClr val="F3EEE5"/>
            </a:solidFill>
            <a:prstDash val="solid"/>
          </a:ln>
        </p:spPr>
        <p:txBody>
          <a:bodyPr/>
          <a:lstStyle/>
          <a:p>
            <a:endParaRPr lang="en-US"/>
          </a:p>
        </p:txBody>
      </p:sp>
      <p:sp>
        <p:nvSpPr>
          <p:cNvPr id="8" name="Shape 6"/>
          <p:cNvSpPr/>
          <p:nvPr/>
        </p:nvSpPr>
        <p:spPr>
          <a:xfrm>
            <a:off x="914400" y="2724912"/>
            <a:ext cx="384048" cy="384048"/>
          </a:xfrm>
          <a:prstGeom prst="ellipse">
            <a:avLst/>
          </a:prstGeom>
          <a:solidFill>
            <a:srgbClr val="101822"/>
          </a:solidFill>
          <a:ln/>
        </p:spPr>
        <p:txBody>
          <a:bodyPr/>
          <a:lstStyle/>
          <a:p>
            <a:endParaRPr lang="en-US"/>
          </a:p>
        </p:txBody>
      </p:sp>
      <p:sp>
        <p:nvSpPr>
          <p:cNvPr id="9" name="Text 7"/>
          <p:cNvSpPr txBox="1"/>
          <p:nvPr/>
        </p:nvSpPr>
        <p:spPr>
          <a:xfrm>
            <a:off x="914400" y="272491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0" name="Text 8"/>
          <p:cNvSpPr txBox="1"/>
          <p:nvPr/>
        </p:nvSpPr>
        <p:spPr>
          <a:xfrm>
            <a:off x="914400" y="3218688"/>
            <a:ext cx="2905658" cy="566928"/>
          </a:xfrm>
          <a:prstGeom prst="rect">
            <a:avLst/>
          </a:prstGeom>
          <a:noFill/>
          <a:ln/>
        </p:spPr>
        <p:txBody>
          <a:bodyPr wrap="square" lIns="0" tIns="0" rIns="0" bIns="0" rtlCol="0" anchor="ctr"/>
          <a:lstStyle/>
          <a:p>
            <a:pPr marL="0" indent="0">
              <a:buNone/>
            </a:pPr>
            <a:r>
              <a:rPr lang="en-US" sz="1750" b="1" dirty="0">
                <a:solidFill>
                  <a:srgbClr val="101822"/>
                </a:solidFill>
                <a:latin typeface="Cambria" pitchFamily="34" charset="0"/>
                <a:ea typeface="Cambria" pitchFamily="34" charset="-122"/>
                <a:cs typeface="Cambria" pitchFamily="34" charset="-120"/>
              </a:rPr>
              <a:t>Continued attention</a:t>
            </a:r>
            <a:endParaRPr lang="en-US" sz="1750" dirty="0"/>
          </a:p>
        </p:txBody>
      </p:sp>
      <p:sp>
        <p:nvSpPr>
          <p:cNvPr id="11" name="Text 9"/>
          <p:cNvSpPr txBox="1"/>
          <p:nvPr/>
        </p:nvSpPr>
        <p:spPr>
          <a:xfrm>
            <a:off x="914400" y="3840480"/>
            <a:ext cx="2905658" cy="868680"/>
          </a:xfrm>
          <a:prstGeom prst="rect">
            <a:avLst/>
          </a:prstGeom>
          <a:noFill/>
          <a:ln/>
        </p:spPr>
        <p:txBody>
          <a:bodyPr wrap="square" lIns="0" tIns="0" rIns="0" bIns="0" rtlCol="0" anchor="ctr"/>
          <a:lstStyle/>
          <a:p>
            <a:pPr marL="0" indent="0">
              <a:lnSpc>
                <a:spcPts val="1600"/>
              </a:lnSpc>
              <a:buNone/>
            </a:pPr>
            <a:r>
              <a:rPr lang="en-US" sz="1200" dirty="0">
                <a:solidFill>
                  <a:srgbClr val="5A6472"/>
                </a:solidFill>
                <a:latin typeface="Calibri" pitchFamily="34" charset="0"/>
                <a:ea typeface="Calibri" pitchFamily="34" charset="-122"/>
                <a:cs typeface="Calibri" pitchFamily="34" charset="-120"/>
              </a:rPr>
              <a:t>Not affection, and not approval. The novel’s minimum is that you keep looking at it. Victor’s first and worst act is leaving the room — everything after is elaboration.</a:t>
            </a:r>
            <a:endParaRPr lang="en-US" sz="1200" dirty="0"/>
          </a:p>
        </p:txBody>
      </p:sp>
      <p:sp>
        <p:nvSpPr>
          <p:cNvPr id="12" name="Shape 10"/>
          <p:cNvSpPr/>
          <p:nvPr/>
        </p:nvSpPr>
        <p:spPr>
          <a:xfrm>
            <a:off x="4368698" y="2514600"/>
            <a:ext cx="3454298" cy="2286000"/>
          </a:xfrm>
          <a:prstGeom prst="roundRect">
            <a:avLst>
              <a:gd name="adj" fmla="val 3200"/>
            </a:avLst>
          </a:prstGeom>
          <a:solidFill>
            <a:srgbClr val="E6EEF3"/>
          </a:solidFill>
          <a:ln w="12700">
            <a:solidFill>
              <a:srgbClr val="E6EEF3"/>
            </a:solidFill>
            <a:prstDash val="solid"/>
          </a:ln>
        </p:spPr>
        <p:txBody>
          <a:bodyPr/>
          <a:lstStyle/>
          <a:p>
            <a:endParaRPr lang="en-US"/>
          </a:p>
        </p:txBody>
      </p:sp>
      <p:sp>
        <p:nvSpPr>
          <p:cNvPr id="13" name="Shape 11"/>
          <p:cNvSpPr/>
          <p:nvPr/>
        </p:nvSpPr>
        <p:spPr>
          <a:xfrm>
            <a:off x="4643018" y="2724912"/>
            <a:ext cx="384048" cy="384048"/>
          </a:xfrm>
          <a:prstGeom prst="ellipse">
            <a:avLst/>
          </a:prstGeom>
          <a:solidFill>
            <a:srgbClr val="35708C"/>
          </a:solidFill>
          <a:ln/>
        </p:spPr>
        <p:txBody>
          <a:bodyPr/>
          <a:lstStyle/>
          <a:p>
            <a:endParaRPr lang="en-US"/>
          </a:p>
        </p:txBody>
      </p:sp>
      <p:sp>
        <p:nvSpPr>
          <p:cNvPr id="14" name="Text 12"/>
          <p:cNvSpPr txBox="1"/>
          <p:nvPr/>
        </p:nvSpPr>
        <p:spPr>
          <a:xfrm>
            <a:off x="4643018" y="272491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5" name="Text 13"/>
          <p:cNvSpPr txBox="1"/>
          <p:nvPr/>
        </p:nvSpPr>
        <p:spPr>
          <a:xfrm>
            <a:off x="4643018" y="3218688"/>
            <a:ext cx="2905658" cy="566928"/>
          </a:xfrm>
          <a:prstGeom prst="rect">
            <a:avLst/>
          </a:prstGeom>
          <a:noFill/>
          <a:ln/>
        </p:spPr>
        <p:txBody>
          <a:bodyPr wrap="square" lIns="0" tIns="0" rIns="0" bIns="0" rtlCol="0" anchor="ctr"/>
          <a:lstStyle/>
          <a:p>
            <a:pPr marL="0" indent="0">
              <a:buNone/>
            </a:pPr>
            <a:r>
              <a:rPr lang="en-US" sz="1750" b="1" dirty="0">
                <a:solidFill>
                  <a:srgbClr val="101822"/>
                </a:solidFill>
                <a:latin typeface="Cambria" pitchFamily="34" charset="0"/>
                <a:ea typeface="Cambria" pitchFamily="34" charset="-122"/>
                <a:cs typeface="Cambria" pitchFamily="34" charset="-120"/>
              </a:rPr>
              <a:t>Disclosure to third parties</a:t>
            </a:r>
            <a:endParaRPr lang="en-US" sz="1750" dirty="0"/>
          </a:p>
        </p:txBody>
      </p:sp>
      <p:sp>
        <p:nvSpPr>
          <p:cNvPr id="16" name="Text 14"/>
          <p:cNvSpPr txBox="1"/>
          <p:nvPr/>
        </p:nvSpPr>
        <p:spPr>
          <a:xfrm>
            <a:off x="4643018" y="3840480"/>
            <a:ext cx="2905658" cy="868680"/>
          </a:xfrm>
          <a:prstGeom prst="rect">
            <a:avLst/>
          </a:prstGeom>
          <a:noFill/>
          <a:ln/>
        </p:spPr>
        <p:txBody>
          <a:bodyPr wrap="square" lIns="0" tIns="0" rIns="0" bIns="0" rtlCol="0" anchor="ctr"/>
          <a:lstStyle/>
          <a:p>
            <a:pPr marL="0" indent="0">
              <a:lnSpc>
                <a:spcPts val="1600"/>
              </a:lnSpc>
              <a:buNone/>
            </a:pPr>
            <a:r>
              <a:rPr lang="en-US" sz="1200" dirty="0">
                <a:solidFill>
                  <a:srgbClr val="5A6472"/>
                </a:solidFill>
                <a:latin typeface="Calibri" pitchFamily="34" charset="0"/>
                <a:ea typeface="Calibri" pitchFamily="34" charset="-122"/>
                <a:cs typeface="Calibri" pitchFamily="34" charset="-120"/>
              </a:rPr>
              <a:t>The obligation is not only to the creature. Justine, William, Clerval and Elizabeth all die because Victor will not tell anyone what exists. What you make becomes other people’s risk, and they are owed the knowledge.</a:t>
            </a:r>
            <a:endParaRPr lang="en-US" sz="1200" dirty="0"/>
          </a:p>
        </p:txBody>
      </p:sp>
      <p:sp>
        <p:nvSpPr>
          <p:cNvPr id="17" name="Shape 15"/>
          <p:cNvSpPr/>
          <p:nvPr/>
        </p:nvSpPr>
        <p:spPr>
          <a:xfrm>
            <a:off x="8097317" y="2514600"/>
            <a:ext cx="3454298" cy="2286000"/>
          </a:xfrm>
          <a:prstGeom prst="roundRect">
            <a:avLst>
              <a:gd name="adj" fmla="val 3200"/>
            </a:avLst>
          </a:prstGeom>
          <a:solidFill>
            <a:srgbClr val="F3EEE5"/>
          </a:solidFill>
          <a:ln w="12700">
            <a:solidFill>
              <a:srgbClr val="F3EEE5"/>
            </a:solidFill>
            <a:prstDash val="solid"/>
          </a:ln>
        </p:spPr>
        <p:txBody>
          <a:bodyPr/>
          <a:lstStyle/>
          <a:p>
            <a:endParaRPr lang="en-US"/>
          </a:p>
        </p:txBody>
      </p:sp>
      <p:sp>
        <p:nvSpPr>
          <p:cNvPr id="18" name="Shape 16"/>
          <p:cNvSpPr/>
          <p:nvPr/>
        </p:nvSpPr>
        <p:spPr>
          <a:xfrm>
            <a:off x="8371637" y="2724912"/>
            <a:ext cx="384048" cy="384048"/>
          </a:xfrm>
          <a:prstGeom prst="ellipse">
            <a:avLst/>
          </a:prstGeom>
          <a:solidFill>
            <a:srgbClr val="101822"/>
          </a:solidFill>
          <a:ln/>
        </p:spPr>
        <p:txBody>
          <a:bodyPr/>
          <a:lstStyle/>
          <a:p>
            <a:endParaRPr lang="en-US"/>
          </a:p>
        </p:txBody>
      </p:sp>
      <p:sp>
        <p:nvSpPr>
          <p:cNvPr id="19" name="Text 17"/>
          <p:cNvSpPr txBox="1"/>
          <p:nvPr/>
        </p:nvSpPr>
        <p:spPr>
          <a:xfrm>
            <a:off x="8371637" y="272491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0" name="Text 18"/>
          <p:cNvSpPr txBox="1"/>
          <p:nvPr/>
        </p:nvSpPr>
        <p:spPr>
          <a:xfrm>
            <a:off x="8371637" y="3218688"/>
            <a:ext cx="2905658" cy="566928"/>
          </a:xfrm>
          <a:prstGeom prst="rect">
            <a:avLst/>
          </a:prstGeom>
          <a:noFill/>
          <a:ln/>
        </p:spPr>
        <p:txBody>
          <a:bodyPr wrap="square" lIns="0" tIns="0" rIns="0" bIns="0" rtlCol="0" anchor="ctr"/>
          <a:lstStyle/>
          <a:p>
            <a:pPr marL="0" indent="0">
              <a:buNone/>
            </a:pPr>
            <a:r>
              <a:rPr lang="en-US" sz="1750" b="1" dirty="0">
                <a:solidFill>
                  <a:srgbClr val="101822"/>
                </a:solidFill>
                <a:latin typeface="Cambria" pitchFamily="34" charset="0"/>
                <a:ea typeface="Cambria" pitchFamily="34" charset="-122"/>
                <a:cs typeface="Cambria" pitchFamily="34" charset="-120"/>
              </a:rPr>
              <a:t>Keeping the terms you set</a:t>
            </a:r>
            <a:endParaRPr lang="en-US" sz="1750" dirty="0"/>
          </a:p>
        </p:txBody>
      </p:sp>
      <p:sp>
        <p:nvSpPr>
          <p:cNvPr id="21" name="Text 19"/>
          <p:cNvSpPr txBox="1"/>
          <p:nvPr/>
        </p:nvSpPr>
        <p:spPr>
          <a:xfrm>
            <a:off x="8371637" y="3840480"/>
            <a:ext cx="2905658" cy="868680"/>
          </a:xfrm>
          <a:prstGeom prst="rect">
            <a:avLst/>
          </a:prstGeom>
          <a:noFill/>
          <a:ln/>
        </p:spPr>
        <p:txBody>
          <a:bodyPr wrap="square" lIns="0" tIns="0" rIns="0" bIns="0" rtlCol="0" anchor="ctr"/>
          <a:lstStyle/>
          <a:p>
            <a:pPr marL="0" indent="0">
              <a:lnSpc>
                <a:spcPts val="1600"/>
              </a:lnSpc>
              <a:buNone/>
            </a:pPr>
            <a:r>
              <a:rPr lang="en-US" sz="1200" dirty="0">
                <a:solidFill>
                  <a:srgbClr val="5A6472"/>
                </a:solidFill>
                <a:latin typeface="Calibri" pitchFamily="34" charset="0"/>
                <a:ea typeface="Calibri" pitchFamily="34" charset="-122"/>
                <a:cs typeface="Calibri" pitchFamily="34" charset="-120"/>
              </a:rPr>
              <a:t>The only explicit agreement in the book is repudiated unilaterally, without notice, in front of the other party. Whatever else is owed, a maker who states terms is bound by them.</a:t>
            </a:r>
            <a:endParaRPr lang="en-US" sz="1200" dirty="0"/>
          </a:p>
        </p:txBody>
      </p:sp>
      <p:sp>
        <p:nvSpPr>
          <p:cNvPr id="22" name="Shape 20"/>
          <p:cNvSpPr/>
          <p:nvPr/>
        </p:nvSpPr>
        <p:spPr>
          <a:xfrm>
            <a:off x="640080" y="5029200"/>
            <a:ext cx="10911535" cy="1051560"/>
          </a:xfrm>
          <a:prstGeom prst="roundRect">
            <a:avLst>
              <a:gd name="adj" fmla="val 6957"/>
            </a:avLst>
          </a:prstGeom>
          <a:solidFill>
            <a:srgbClr val="101822"/>
          </a:solidFill>
          <a:ln w="12700">
            <a:solidFill>
              <a:srgbClr val="101822"/>
            </a:solidFill>
            <a:prstDash val="solid"/>
          </a:ln>
        </p:spPr>
        <p:txBody>
          <a:bodyPr/>
          <a:lstStyle/>
          <a:p>
            <a:endParaRPr lang="en-US"/>
          </a:p>
        </p:txBody>
      </p:sp>
      <p:sp>
        <p:nvSpPr>
          <p:cNvPr id="23" name="Text 21"/>
          <p:cNvSpPr txBox="1"/>
          <p:nvPr/>
        </p:nvSpPr>
        <p:spPr>
          <a:xfrm>
            <a:off x="1005840" y="5212080"/>
            <a:ext cx="10424160" cy="685800"/>
          </a:xfrm>
          <a:prstGeom prst="rect">
            <a:avLst/>
          </a:prstGeom>
          <a:noFill/>
          <a:ln/>
        </p:spPr>
        <p:txBody>
          <a:bodyPr wrap="square" lIns="0" tIns="0" rIns="0" bIns="0" rtlCol="0" anchor="ctr"/>
          <a:lstStyle/>
          <a:p>
            <a:pPr marL="0" indent="0">
              <a:lnSpc>
                <a:spcPts val="2100"/>
              </a:lnSpc>
              <a:buNone/>
            </a:pPr>
            <a:r>
              <a:rPr lang="en-US" sz="1550" dirty="0">
                <a:solidFill>
                  <a:srgbClr val="EDE5D8"/>
                </a:solidFill>
                <a:latin typeface="Cambria" pitchFamily="34" charset="0"/>
                <a:ea typeface="Cambria" pitchFamily="34" charset="-122"/>
                <a:cs typeface="Cambria" pitchFamily="34" charset="-120"/>
              </a:rPr>
              <a:t>None of the three requires the created thing to be conscious, sympathetic, or even safe. They are obligations that attach to the act of making, and they survive every objection students will raise about what the creature is.</a:t>
            </a:r>
            <a:endParaRPr lang="en-US" sz="15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6">
    <p:bg>
      <p:bgPr>
        <a:solidFill>
          <a:srgbClr val="101822"/>
        </a:solidFill>
        <a:effectLst/>
      </p:bgPr>
    </p:bg>
    <p:spTree>
      <p:nvGrpSpPr>
        <p:cNvPr id="1" name=""/>
        <p:cNvGrpSpPr/>
        <p:nvPr/>
      </p:nvGrpSpPr>
      <p:grpSpPr>
        <a:xfrm>
          <a:off x="0" y="0"/>
          <a:ext cx="0" cy="0"/>
          <a:chOff x="0" y="0"/>
          <a:chExt cx="0" cy="0"/>
        </a:xfrm>
      </p:grpSpPr>
      <p:sp>
        <p:nvSpPr>
          <p:cNvPr id="2" name="Shape 0"/>
          <p:cNvSpPr/>
          <p:nvPr/>
        </p:nvSpPr>
        <p:spPr>
          <a:xfrm>
            <a:off x="640080" y="502920"/>
            <a:ext cx="137160" cy="137160"/>
          </a:xfrm>
          <a:prstGeom prst="ellipse">
            <a:avLst/>
          </a:prstGeom>
          <a:solidFill>
            <a:srgbClr val="E08A6E"/>
          </a:solidFill>
          <a:ln/>
        </p:spPr>
        <p:txBody>
          <a:bodyPr/>
          <a:lstStyle/>
          <a:p>
            <a:endParaRPr lang="en-US"/>
          </a:p>
        </p:txBody>
      </p:sp>
      <p:sp>
        <p:nvSpPr>
          <p:cNvPr id="3" name="Text 1"/>
          <p:cNvSpPr txBox="1"/>
          <p:nvPr/>
        </p:nvSpPr>
        <p:spPr>
          <a:xfrm>
            <a:off x="886968" y="438912"/>
            <a:ext cx="10515600" cy="274320"/>
          </a:xfrm>
          <a:prstGeom prst="rect">
            <a:avLst/>
          </a:prstGeom>
          <a:noFill/>
          <a:ln/>
        </p:spPr>
        <p:txBody>
          <a:bodyPr wrap="square" lIns="0" tIns="0" rIns="0" bIns="0" rtlCol="0" anchor="ctr"/>
          <a:lstStyle/>
          <a:p>
            <a:pPr marL="0" indent="0">
              <a:buNone/>
            </a:pPr>
            <a:r>
              <a:rPr lang="en-US" sz="1100" b="1" kern="0" spc="160">
                <a:solidFill>
                  <a:srgbClr val="E08A6E"/>
                </a:solidFill>
                <a:latin typeface="Calibri" pitchFamily="34" charset="0"/>
                <a:ea typeface="Calibri" pitchFamily="34" charset="-122"/>
                <a:cs typeface="Calibri" pitchFamily="34" charset="-120"/>
              </a:rPr>
              <a:t>EXIT TICKET</a:t>
            </a:r>
            <a:endParaRPr lang="en-US" sz="1100" dirty="0"/>
          </a:p>
        </p:txBody>
      </p:sp>
      <p:sp>
        <p:nvSpPr>
          <p:cNvPr id="4" name="Text 2"/>
          <p:cNvSpPr txBox="1"/>
          <p:nvPr/>
        </p:nvSpPr>
        <p:spPr>
          <a:xfrm>
            <a:off x="640080" y="868680"/>
            <a:ext cx="10911535" cy="640080"/>
          </a:xfrm>
          <a:prstGeom prst="rect">
            <a:avLst/>
          </a:prstGeom>
          <a:noFill/>
          <a:ln/>
        </p:spPr>
        <p:txBody>
          <a:bodyPr wrap="square" lIns="0" tIns="0" rIns="0" bIns="0" rtlCol="0" anchor="ctr"/>
          <a:lstStyle/>
          <a:p>
            <a:pPr marL="0" indent="0">
              <a:buNone/>
            </a:pPr>
            <a:r>
              <a:rPr lang="en-US" sz="3300" b="1" dirty="0">
                <a:solidFill>
                  <a:srgbClr val="EDE5D8"/>
                </a:solidFill>
                <a:latin typeface="Cambria" pitchFamily="34" charset="0"/>
                <a:ea typeface="Cambria" pitchFamily="34" charset="-122"/>
                <a:cs typeface="Cambria" pitchFamily="34" charset="-120"/>
              </a:rPr>
              <a:t>One paragraph</a:t>
            </a:r>
            <a:endParaRPr lang="en-US" sz="3300" dirty="0"/>
          </a:p>
        </p:txBody>
      </p:sp>
      <p:sp>
        <p:nvSpPr>
          <p:cNvPr id="5" name="Shape 3"/>
          <p:cNvSpPr/>
          <p:nvPr/>
        </p:nvSpPr>
        <p:spPr>
          <a:xfrm>
            <a:off x="640080" y="1737360"/>
            <a:ext cx="6675120" cy="2377440"/>
          </a:xfrm>
          <a:prstGeom prst="roundRect">
            <a:avLst>
              <a:gd name="adj" fmla="val 3077"/>
            </a:avLst>
          </a:prstGeom>
          <a:solidFill>
            <a:srgbClr val="1E2836"/>
          </a:solidFill>
          <a:ln w="12700">
            <a:solidFill>
              <a:srgbClr val="1E2836"/>
            </a:solidFill>
            <a:prstDash val="solid"/>
          </a:ln>
        </p:spPr>
        <p:txBody>
          <a:bodyPr/>
          <a:lstStyle/>
          <a:p>
            <a:endParaRPr lang="en-US"/>
          </a:p>
        </p:txBody>
      </p:sp>
      <p:sp>
        <p:nvSpPr>
          <p:cNvPr id="6" name="Text 4"/>
          <p:cNvSpPr txBox="1"/>
          <p:nvPr/>
        </p:nvSpPr>
        <p:spPr>
          <a:xfrm>
            <a:off x="1024128" y="1965960"/>
            <a:ext cx="5897880" cy="1920240"/>
          </a:xfrm>
          <a:prstGeom prst="rect">
            <a:avLst/>
          </a:prstGeom>
          <a:noFill/>
          <a:ln/>
        </p:spPr>
        <p:txBody>
          <a:bodyPr wrap="square" lIns="0" tIns="0" rIns="0" bIns="0" rtlCol="0" anchor="ctr"/>
          <a:lstStyle/>
          <a:p>
            <a:pPr marL="0" indent="0">
              <a:lnSpc>
                <a:spcPts val="2600"/>
              </a:lnSpc>
              <a:buNone/>
            </a:pPr>
            <a:r>
              <a:rPr lang="en-US" sz="1700" dirty="0">
                <a:solidFill>
                  <a:srgbClr val="FFFFFF"/>
                </a:solidFill>
                <a:latin typeface="Cambria" pitchFamily="34" charset="0"/>
                <a:ea typeface="Cambria" pitchFamily="34" charset="-122"/>
                <a:cs typeface="Cambria" pitchFamily="34" charset="-120"/>
              </a:rPr>
              <a:t>Take out the sentence you wrote in the beginning about what a maker owed something they left. Rewrite it now, using one specific passage from Frankenstein as either your evidence or your counter-example — and say what changed.</a:t>
            </a:r>
            <a:endParaRPr lang="en-US" sz="1700" dirty="0"/>
          </a:p>
        </p:txBody>
      </p:sp>
      <p:sp>
        <p:nvSpPr>
          <p:cNvPr id="10" name="Text 8"/>
          <p:cNvSpPr txBox="1"/>
          <p:nvPr/>
        </p:nvSpPr>
        <p:spPr>
          <a:xfrm>
            <a:off x="640080" y="4407408"/>
            <a:ext cx="10881360" cy="274320"/>
          </a:xfrm>
          <a:prstGeom prst="rect">
            <a:avLst/>
          </a:prstGeom>
          <a:noFill/>
          <a:ln/>
        </p:spPr>
        <p:txBody>
          <a:bodyPr wrap="square" lIns="0" tIns="0" rIns="0" bIns="0" rtlCol="0" anchor="ctr"/>
          <a:lstStyle/>
          <a:p>
            <a:pPr marL="0" indent="0">
              <a:buNone/>
            </a:pPr>
            <a:r>
              <a:rPr lang="en-US" sz="1100" b="1" kern="0" spc="140" dirty="0">
                <a:solidFill>
                  <a:srgbClr val="E08A6E"/>
                </a:solidFill>
                <a:latin typeface="Calibri" pitchFamily="34" charset="0"/>
                <a:ea typeface="Calibri" pitchFamily="34" charset="-122"/>
                <a:cs typeface="Calibri" pitchFamily="34" charset="-120"/>
              </a:rPr>
              <a:t>Optional </a:t>
            </a:r>
            <a:r>
              <a:rPr lang="en-US" sz="1100" b="1" kern="0" spc="140">
                <a:solidFill>
                  <a:srgbClr val="E08A6E"/>
                </a:solidFill>
                <a:latin typeface="Calibri" pitchFamily="34" charset="0"/>
                <a:ea typeface="Calibri" pitchFamily="34" charset="-122"/>
                <a:cs typeface="Calibri" pitchFamily="34" charset="-120"/>
              </a:rPr>
              <a:t>Reading and Task</a:t>
            </a:r>
            <a:endParaRPr lang="en-US" sz="1100" dirty="0"/>
          </a:p>
        </p:txBody>
      </p:sp>
      <p:sp>
        <p:nvSpPr>
          <p:cNvPr id="11" name="Shape 9"/>
          <p:cNvSpPr/>
          <p:nvPr/>
        </p:nvSpPr>
        <p:spPr>
          <a:xfrm>
            <a:off x="685800" y="4837176"/>
            <a:ext cx="91440" cy="91440"/>
          </a:xfrm>
          <a:prstGeom prst="ellipse">
            <a:avLst/>
          </a:prstGeom>
          <a:solidFill>
            <a:srgbClr val="9CC5D6"/>
          </a:solidFill>
          <a:ln/>
        </p:spPr>
        <p:txBody>
          <a:bodyPr/>
          <a:lstStyle/>
          <a:p>
            <a:endParaRPr lang="en-US"/>
          </a:p>
        </p:txBody>
      </p:sp>
      <p:sp>
        <p:nvSpPr>
          <p:cNvPr id="12" name="Text 10"/>
          <p:cNvSpPr txBox="1"/>
          <p:nvPr/>
        </p:nvSpPr>
        <p:spPr>
          <a:xfrm>
            <a:off x="932688" y="4754880"/>
            <a:ext cx="10424160" cy="274320"/>
          </a:xfrm>
          <a:prstGeom prst="rect">
            <a:avLst/>
          </a:prstGeom>
          <a:noFill/>
          <a:ln/>
        </p:spPr>
        <p:txBody>
          <a:bodyPr wrap="square" lIns="0" tIns="0" rIns="0" bIns="0" rtlCol="0" anchor="ctr"/>
          <a:lstStyle/>
          <a:p>
            <a:pPr marL="0" indent="0">
              <a:buNone/>
            </a:pPr>
            <a:r>
              <a:rPr lang="en-US" sz="1300" dirty="0">
                <a:solidFill>
                  <a:srgbClr val="EDE5D8"/>
                </a:solidFill>
                <a:latin typeface="Calibri" pitchFamily="34" charset="0"/>
                <a:ea typeface="Calibri" pitchFamily="34" charset="-122"/>
                <a:cs typeface="Calibri" pitchFamily="34" charset="-120"/>
              </a:rPr>
              <a:t>Villiers de l’Isle-Adam, Tomorrow’s Eve — selections: the android as designed replacement</a:t>
            </a:r>
            <a:endParaRPr lang="en-US" sz="1300" dirty="0"/>
          </a:p>
        </p:txBody>
      </p:sp>
      <p:sp>
        <p:nvSpPr>
          <p:cNvPr id="13" name="Shape 11"/>
          <p:cNvSpPr/>
          <p:nvPr/>
        </p:nvSpPr>
        <p:spPr>
          <a:xfrm>
            <a:off x="685800" y="5202936"/>
            <a:ext cx="91440" cy="91440"/>
          </a:xfrm>
          <a:prstGeom prst="ellipse">
            <a:avLst/>
          </a:prstGeom>
          <a:solidFill>
            <a:srgbClr val="9CC5D6"/>
          </a:solidFill>
          <a:ln/>
        </p:spPr>
        <p:txBody>
          <a:bodyPr/>
          <a:lstStyle/>
          <a:p>
            <a:endParaRPr lang="en-US"/>
          </a:p>
        </p:txBody>
      </p:sp>
      <p:sp>
        <p:nvSpPr>
          <p:cNvPr id="14" name="Text 12"/>
          <p:cNvSpPr txBox="1"/>
          <p:nvPr/>
        </p:nvSpPr>
        <p:spPr>
          <a:xfrm>
            <a:off x="932688" y="5120640"/>
            <a:ext cx="10424160" cy="274320"/>
          </a:xfrm>
          <a:prstGeom prst="rect">
            <a:avLst/>
          </a:prstGeom>
          <a:noFill/>
          <a:ln/>
        </p:spPr>
        <p:txBody>
          <a:bodyPr wrap="square" lIns="0" tIns="0" rIns="0" bIns="0" rtlCol="0" anchor="ctr"/>
          <a:lstStyle/>
          <a:p>
            <a:pPr marL="0" indent="0">
              <a:buNone/>
            </a:pPr>
            <a:r>
              <a:rPr lang="en-US" sz="1300" dirty="0">
                <a:solidFill>
                  <a:srgbClr val="EDE5D8"/>
                </a:solidFill>
                <a:latin typeface="Calibri" pitchFamily="34" charset="0"/>
                <a:ea typeface="Calibri" pitchFamily="34" charset="-122"/>
                <a:cs typeface="Calibri" pitchFamily="34" charset="-120"/>
              </a:rPr>
              <a:t>Čapek, R.U.R. — the made thing acquires numbers, and then a politics</a:t>
            </a:r>
            <a:endParaRPr lang="en-US" sz="1300" dirty="0"/>
          </a:p>
        </p:txBody>
      </p:sp>
      <p:sp>
        <p:nvSpPr>
          <p:cNvPr id="15" name="Shape 13"/>
          <p:cNvSpPr/>
          <p:nvPr/>
        </p:nvSpPr>
        <p:spPr>
          <a:xfrm>
            <a:off x="685800" y="5568696"/>
            <a:ext cx="91440" cy="91440"/>
          </a:xfrm>
          <a:prstGeom prst="ellipse">
            <a:avLst/>
          </a:prstGeom>
          <a:solidFill>
            <a:srgbClr val="9CC5D6"/>
          </a:solidFill>
          <a:ln/>
        </p:spPr>
        <p:txBody>
          <a:bodyPr/>
          <a:lstStyle/>
          <a:p>
            <a:endParaRPr lang="en-US"/>
          </a:p>
        </p:txBody>
      </p:sp>
      <p:sp>
        <p:nvSpPr>
          <p:cNvPr id="16" name="Text 14"/>
          <p:cNvSpPr txBox="1"/>
          <p:nvPr/>
        </p:nvSpPr>
        <p:spPr>
          <a:xfrm>
            <a:off x="932688" y="5486400"/>
            <a:ext cx="10424160" cy="274320"/>
          </a:xfrm>
          <a:prstGeom prst="rect">
            <a:avLst/>
          </a:prstGeom>
          <a:noFill/>
          <a:ln/>
        </p:spPr>
        <p:txBody>
          <a:bodyPr wrap="square" lIns="0" tIns="0" rIns="0" bIns="0" rtlCol="0" anchor="ctr"/>
          <a:lstStyle/>
          <a:p>
            <a:pPr marL="0" indent="0">
              <a:buNone/>
            </a:pPr>
            <a:r>
              <a:rPr lang="en-US" sz="1300" dirty="0">
                <a:solidFill>
                  <a:srgbClr val="EDE5D8"/>
                </a:solidFill>
                <a:latin typeface="Calibri" pitchFamily="34" charset="0"/>
                <a:ea typeface="Calibri" pitchFamily="34" charset="-122"/>
                <a:cs typeface="Calibri" pitchFamily="34" charset="-120"/>
              </a:rPr>
              <a:t>Bring one paragraph of text generated by a system you use, and be ready to say what corpus it came from</a:t>
            </a:r>
            <a:endParaRPr lang="en-US" sz="1300" dirty="0"/>
          </a:p>
        </p:txBody>
      </p:sp>
      <p:sp>
        <p:nvSpPr>
          <p:cNvPr id="17" name="Text 15"/>
          <p:cNvSpPr txBox="1"/>
          <p:nvPr/>
        </p:nvSpPr>
        <p:spPr>
          <a:xfrm>
            <a:off x="640080" y="6291072"/>
            <a:ext cx="10881360" cy="274320"/>
          </a:xfrm>
          <a:prstGeom prst="rect">
            <a:avLst/>
          </a:prstGeom>
          <a:noFill/>
          <a:ln/>
        </p:spPr>
        <p:txBody>
          <a:bodyPr wrap="square" lIns="0" tIns="0" rIns="0" bIns="0" rtlCol="0" anchor="ctr"/>
          <a:lstStyle/>
          <a:p>
            <a:pPr marL="0" indent="0">
              <a:buNone/>
            </a:pPr>
            <a:r>
              <a:rPr lang="en-US" sz="1000" i="1" dirty="0">
                <a:solidFill>
                  <a:srgbClr val="5A6472"/>
                </a:solidFill>
                <a:latin typeface="Calibri" pitchFamily="34" charset="0"/>
                <a:ea typeface="Calibri" pitchFamily="34" charset="-122"/>
                <a:cs typeface="Calibri" pitchFamily="34" charset="-120"/>
              </a:rPr>
              <a:t>Text: Mary Shelley, Frankenstein: The 1818 Text, Contexts, Criticism, ed. J. Paul Hunter, 3rd ed. (New York: Norton, 2021).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169</TotalTime>
  <Words>7978</Words>
  <Application>Microsoft Macintosh PowerPoint</Application>
  <PresentationFormat>Widescreen</PresentationFormat>
  <Paragraphs>473</Paragraphs>
  <Slides>33</Slides>
  <Notes>33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a Maker Owes: Frankenstein (1818)</dc:title>
  <dc:subject>PptxGenJS Presentation</dc:subject>
  <dc:creator>Course materials</dc:creator>
  <cp:lastModifiedBy>Gao, Ashley</cp:lastModifiedBy>
  <cp:revision>4</cp:revision>
  <dcterms:created xsi:type="dcterms:W3CDTF">2026-09-02T06:53:33Z</dcterms:created>
  <dcterms:modified xsi:type="dcterms:W3CDTF">2026-09-08T16:08:03Z</dcterms:modified>
</cp:coreProperties>
</file>